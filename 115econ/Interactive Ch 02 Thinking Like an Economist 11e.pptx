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6.xml" ContentType="application/vnd.openxmlformats-officedocument.theme+xml"/>
  <Override PartName="/ppt/slideLayouts/slideLayout14.xml" ContentType="application/vnd.openxmlformats-officedocument.presentationml.slideLayout+xml"/>
  <Override PartName="/ppt/theme/theme7.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 id="2147483680" r:id="rId2"/>
    <p:sldMasterId id="2147483663" r:id="rId3"/>
    <p:sldMasterId id="2147483665" r:id="rId4"/>
    <p:sldMasterId id="2147483668" r:id="rId5"/>
    <p:sldMasterId id="2147483678" r:id="rId6"/>
    <p:sldMasterId id="2147483670" r:id="rId7"/>
    <p:sldMasterId id="2147483684" r:id="rId8"/>
    <p:sldMasterId id="2147483675" r:id="rId9"/>
    <p:sldMasterId id="2147483672" r:id="rId10"/>
  </p:sldMasterIdLst>
  <p:notesMasterIdLst>
    <p:notesMasterId r:id="rId51"/>
  </p:notesMasterIdLst>
  <p:handoutMasterIdLst>
    <p:handoutMasterId r:id="rId52"/>
  </p:handoutMasterIdLst>
  <p:sldIdLst>
    <p:sldId id="1494" r:id="rId11"/>
    <p:sldId id="374" r:id="rId12"/>
    <p:sldId id="1437" r:id="rId13"/>
    <p:sldId id="1438" r:id="rId14"/>
    <p:sldId id="1491" r:id="rId15"/>
    <p:sldId id="1440" r:id="rId16"/>
    <p:sldId id="1441" r:id="rId17"/>
    <p:sldId id="1471" r:id="rId18"/>
    <p:sldId id="1442" r:id="rId19"/>
    <p:sldId id="1478" r:id="rId20"/>
    <p:sldId id="1472" r:id="rId21"/>
    <p:sldId id="1444" r:id="rId22"/>
    <p:sldId id="1473" r:id="rId23"/>
    <p:sldId id="1446" r:id="rId24"/>
    <p:sldId id="1475" r:id="rId25"/>
    <p:sldId id="1449" r:id="rId26"/>
    <p:sldId id="1450" r:id="rId27"/>
    <p:sldId id="1479" r:id="rId28"/>
    <p:sldId id="1480" r:id="rId29"/>
    <p:sldId id="1481" r:id="rId30"/>
    <p:sldId id="1456" r:id="rId31"/>
    <p:sldId id="1458" r:id="rId32"/>
    <p:sldId id="1459" r:id="rId33"/>
    <p:sldId id="1460" r:id="rId34"/>
    <p:sldId id="1461" r:id="rId35"/>
    <p:sldId id="1492" r:id="rId36"/>
    <p:sldId id="1462" r:id="rId37"/>
    <p:sldId id="1482" r:id="rId38"/>
    <p:sldId id="1483" r:id="rId39"/>
    <p:sldId id="1484" r:id="rId40"/>
    <p:sldId id="1485" r:id="rId41"/>
    <p:sldId id="1465" r:id="rId42"/>
    <p:sldId id="1486" r:id="rId43"/>
    <p:sldId id="1493" r:id="rId44"/>
    <p:sldId id="1467" r:id="rId45"/>
    <p:sldId id="1468" r:id="rId46"/>
    <p:sldId id="1487" r:id="rId47"/>
    <p:sldId id="1488" r:id="rId48"/>
    <p:sldId id="1489" r:id="rId49"/>
    <p:sldId id="1490" r:id="rId5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AA5FE0-8063-E329-921A-B72A20B69E71}" name="Aucoin, Shannon" initials="SA" userId="S::shannon.aucoin@cengage.com::3f4e7fc1-6c2e-4059-b6c3-22af03bf749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519E"/>
    <a:srgbClr val="AE1221"/>
    <a:srgbClr val="404380"/>
    <a:srgbClr val="006600"/>
    <a:srgbClr val="A64F23"/>
    <a:srgbClr val="EAEAF4"/>
    <a:srgbClr val="EFD9C6"/>
    <a:srgbClr val="2557A3"/>
    <a:srgbClr val="CED7ED"/>
    <a:srgbClr val="446F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2548E7-F831-468C-B5C4-623C0885F000}" v="22" dt="2026-01-15T00:22:38.1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81114" autoAdjust="0"/>
  </p:normalViewPr>
  <p:slideViewPr>
    <p:cSldViewPr>
      <p:cViewPr varScale="1">
        <p:scale>
          <a:sx n="51" d="100"/>
          <a:sy n="51" d="100"/>
        </p:scale>
        <p:origin x="1860" y="44"/>
      </p:cViewPr>
      <p:guideLst>
        <p:guide orient="horz" pos="2160"/>
        <p:guide pos="2880"/>
      </p:guideLst>
    </p:cSldViewPr>
  </p:slideViewPr>
  <p:outlineViewPr>
    <p:cViewPr>
      <p:scale>
        <a:sx n="33" d="100"/>
        <a:sy n="33" d="100"/>
      </p:scale>
      <p:origin x="0" y="2958"/>
    </p:cViewPr>
  </p:outlineViewPr>
  <p:notesTextViewPr>
    <p:cViewPr>
      <p:scale>
        <a:sx n="125" d="100"/>
        <a:sy n="125" d="100"/>
      </p:scale>
      <p:origin x="0" y="0"/>
    </p:cViewPr>
  </p:notesTextViewPr>
  <p:sorterViewPr>
    <p:cViewPr varScale="1">
      <p:scale>
        <a:sx n="1" d="1"/>
        <a:sy n="1" d="1"/>
      </p:scale>
      <p:origin x="0" y="0"/>
    </p:cViewPr>
  </p:sorterViewPr>
  <p:notesViewPr>
    <p:cSldViewPr>
      <p:cViewPr>
        <p:scale>
          <a:sx n="60" d="100"/>
          <a:sy n="60" d="100"/>
        </p:scale>
        <p:origin x="4344" y="70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5.xml"/><Relationship Id="rId19" Type="http://schemas.openxmlformats.org/officeDocument/2006/relationships/slide" Target="slides/slide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microsoft.com/office/2018/10/relationships/authors" Target="author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microsoft.com/office/2016/11/relationships/changesInfo" Target="changesInfos/changesInfo1.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coin, Shannon" userId="3f4e7fc1-6c2e-4059-b6c3-22af03bf749a" providerId="ADAL" clId="{E0921B5F-CAE8-4497-A9EF-24510461A92C}"/>
    <pc:docChg chg="undo custSel addSld delSld modSld sldOrd addMainMaster delMainMaster modMainMaster">
      <pc:chgData name="Aucoin, Shannon" userId="3f4e7fc1-6c2e-4059-b6c3-22af03bf749a" providerId="ADAL" clId="{E0921B5F-CAE8-4497-A9EF-24510461A92C}" dt="2026-01-15T00:22:55.641" v="79" actId="1076"/>
      <pc:docMkLst>
        <pc:docMk/>
      </pc:docMkLst>
      <pc:sldChg chg="addSp delSp modSp del mod chgLayout">
        <pc:chgData name="Aucoin, Shannon" userId="3f4e7fc1-6c2e-4059-b6c3-22af03bf749a" providerId="ADAL" clId="{E0921B5F-CAE8-4497-A9EF-24510461A92C}" dt="2026-01-14T23:54:19.668" v="43" actId="47"/>
        <pc:sldMkLst>
          <pc:docMk/>
          <pc:sldMk cId="2962300543" sldId="256"/>
        </pc:sldMkLst>
        <pc:spChg chg="mod ord">
          <ac:chgData name="Aucoin, Shannon" userId="3f4e7fc1-6c2e-4059-b6c3-22af03bf749a" providerId="ADAL" clId="{E0921B5F-CAE8-4497-A9EF-24510461A92C}" dt="2026-01-14T23:49:43.668" v="19" actId="700"/>
          <ac:spMkLst>
            <pc:docMk/>
            <pc:sldMk cId="2962300543" sldId="256"/>
            <ac:spMk id="6" creationId="{00000000-0000-0000-0000-000000000000}"/>
          </ac:spMkLst>
        </pc:spChg>
        <pc:spChg chg="mod ord">
          <ac:chgData name="Aucoin, Shannon" userId="3f4e7fc1-6c2e-4059-b6c3-22af03bf749a" providerId="ADAL" clId="{E0921B5F-CAE8-4497-A9EF-24510461A92C}" dt="2026-01-14T23:49:43.668" v="19" actId="700"/>
          <ac:spMkLst>
            <pc:docMk/>
            <pc:sldMk cId="2962300543" sldId="256"/>
            <ac:spMk id="8" creationId="{00000000-0000-0000-0000-000000000000}"/>
          </ac:spMkLst>
        </pc:spChg>
        <pc:spChg chg="mod ord">
          <ac:chgData name="Aucoin, Shannon" userId="3f4e7fc1-6c2e-4059-b6c3-22af03bf749a" providerId="ADAL" clId="{E0921B5F-CAE8-4497-A9EF-24510461A92C}" dt="2026-01-14T23:49:43.668" v="19" actId="700"/>
          <ac:spMkLst>
            <pc:docMk/>
            <pc:sldMk cId="2962300543" sldId="256"/>
            <ac:spMk id="9" creationId="{00000000-0000-0000-0000-000000000000}"/>
          </ac:spMkLst>
        </pc:spChg>
        <pc:spChg chg="mod ord">
          <ac:chgData name="Aucoin, Shannon" userId="3f4e7fc1-6c2e-4059-b6c3-22af03bf749a" providerId="ADAL" clId="{E0921B5F-CAE8-4497-A9EF-24510461A92C}" dt="2026-01-14T23:49:43.668" v="19" actId="700"/>
          <ac:spMkLst>
            <pc:docMk/>
            <pc:sldMk cId="2962300543" sldId="256"/>
            <ac:spMk id="12" creationId="{00000000-0000-0000-0000-000000000000}"/>
          </ac:spMkLst>
        </pc:spChg>
        <pc:picChg chg="add del mod">
          <ac:chgData name="Aucoin, Shannon" userId="3f4e7fc1-6c2e-4059-b6c3-22af03bf749a" providerId="ADAL" clId="{E0921B5F-CAE8-4497-A9EF-24510461A92C}" dt="2026-01-14T23:53:22.066" v="34" actId="478"/>
          <ac:picMkLst>
            <pc:docMk/>
            <pc:sldMk cId="2962300543" sldId="256"/>
            <ac:picMk id="2" creationId="{4BBBD1AF-43DD-FE5C-DC19-0A4B66674B3D}"/>
          </ac:picMkLst>
        </pc:picChg>
      </pc:sldChg>
      <pc:sldChg chg="modSp add mod">
        <pc:chgData name="Aucoin, Shannon" userId="3f4e7fc1-6c2e-4059-b6c3-22af03bf749a" providerId="ADAL" clId="{E0921B5F-CAE8-4497-A9EF-24510461A92C}" dt="2026-01-15T00:20:29.516" v="74" actId="1076"/>
        <pc:sldMkLst>
          <pc:docMk/>
          <pc:sldMk cId="50100015" sldId="1494"/>
        </pc:sldMkLst>
        <pc:spChg chg="mod">
          <ac:chgData name="Aucoin, Shannon" userId="3f4e7fc1-6c2e-4059-b6c3-22af03bf749a" providerId="ADAL" clId="{E0921B5F-CAE8-4497-A9EF-24510461A92C}" dt="2026-01-15T00:20:09.872" v="71"/>
          <ac:spMkLst>
            <pc:docMk/>
            <pc:sldMk cId="50100015" sldId="1494"/>
            <ac:spMk id="6" creationId="{00000000-0000-0000-0000-000000000000}"/>
          </ac:spMkLst>
        </pc:spChg>
        <pc:spChg chg="mod">
          <ac:chgData name="Aucoin, Shannon" userId="3f4e7fc1-6c2e-4059-b6c3-22af03bf749a" providerId="ADAL" clId="{E0921B5F-CAE8-4497-A9EF-24510461A92C}" dt="2026-01-14T23:53:55.874" v="42" actId="255"/>
          <ac:spMkLst>
            <pc:docMk/>
            <pc:sldMk cId="50100015" sldId="1494"/>
            <ac:spMk id="8" creationId="{00000000-0000-0000-0000-000000000000}"/>
          </ac:spMkLst>
        </pc:spChg>
        <pc:spChg chg="mod">
          <ac:chgData name="Aucoin, Shannon" userId="3f4e7fc1-6c2e-4059-b6c3-22af03bf749a" providerId="ADAL" clId="{E0921B5F-CAE8-4497-A9EF-24510461A92C}" dt="2026-01-15T00:20:29.516" v="74" actId="1076"/>
          <ac:spMkLst>
            <pc:docMk/>
            <pc:sldMk cId="50100015" sldId="1494"/>
            <ac:spMk id="9" creationId="{00000000-0000-0000-0000-000000000000}"/>
          </ac:spMkLst>
        </pc:spChg>
        <pc:spChg chg="mod">
          <ac:chgData name="Aucoin, Shannon" userId="3f4e7fc1-6c2e-4059-b6c3-22af03bf749a" providerId="ADAL" clId="{E0921B5F-CAE8-4497-A9EF-24510461A92C}" dt="2026-01-14T23:59:01.673" v="55" actId="20577"/>
          <ac:spMkLst>
            <pc:docMk/>
            <pc:sldMk cId="50100015" sldId="1494"/>
            <ac:spMk id="12" creationId="{00000000-0000-0000-0000-000000000000}"/>
          </ac:spMkLst>
        </pc:spChg>
      </pc:sldChg>
      <pc:sldChg chg="modSp add del mod ord">
        <pc:chgData name="Aucoin, Shannon" userId="3f4e7fc1-6c2e-4059-b6c3-22af03bf749a" providerId="ADAL" clId="{E0921B5F-CAE8-4497-A9EF-24510461A92C}" dt="2026-01-14T23:53:10.857" v="31"/>
        <pc:sldMkLst>
          <pc:docMk/>
          <pc:sldMk cId="2831926002" sldId="1494"/>
        </pc:sldMkLst>
        <pc:spChg chg="mod">
          <ac:chgData name="Aucoin, Shannon" userId="3f4e7fc1-6c2e-4059-b6c3-22af03bf749a" providerId="ADAL" clId="{E0921B5F-CAE8-4497-A9EF-24510461A92C}" dt="2026-01-14T23:53:10.857" v="31"/>
          <ac:spMkLst>
            <pc:docMk/>
            <pc:sldMk cId="2831926002" sldId="1494"/>
            <ac:spMk id="8" creationId="{00000000-0000-0000-0000-000000000000}"/>
          </ac:spMkLst>
        </pc:spChg>
        <pc:spChg chg="mod">
          <ac:chgData name="Aucoin, Shannon" userId="3f4e7fc1-6c2e-4059-b6c3-22af03bf749a" providerId="ADAL" clId="{E0921B5F-CAE8-4497-A9EF-24510461A92C}" dt="2026-01-14T23:53:09.456" v="27" actId="5793"/>
          <ac:spMkLst>
            <pc:docMk/>
            <pc:sldMk cId="2831926002" sldId="1494"/>
            <ac:spMk id="9" creationId="{00000000-0000-0000-0000-000000000000}"/>
          </ac:spMkLst>
        </pc:spChg>
      </pc:sldChg>
      <pc:sldMasterChg chg="addSp delSp modSp mod modSldLayout">
        <pc:chgData name="Aucoin, Shannon" userId="3f4e7fc1-6c2e-4059-b6c3-22af03bf749a" providerId="ADAL" clId="{E0921B5F-CAE8-4497-A9EF-24510461A92C}" dt="2026-01-15T00:01:58.071" v="67" actId="478"/>
        <pc:sldMasterMkLst>
          <pc:docMk/>
          <pc:sldMasterMk cId="3130776066" sldId="2147483660"/>
        </pc:sldMasterMkLst>
        <pc:spChg chg="mod">
          <ac:chgData name="Aucoin, Shannon" userId="3f4e7fc1-6c2e-4059-b6c3-22af03bf749a" providerId="ADAL" clId="{E0921B5F-CAE8-4497-A9EF-24510461A92C}" dt="2026-01-14T23:46:12.429" v="12" actId="20577"/>
          <ac:spMkLst>
            <pc:docMk/>
            <pc:sldMasterMk cId="3130776066" sldId="2147483660"/>
            <ac:spMk id="3" creationId="{00000000-0000-0000-0000-000000000000}"/>
          </ac:spMkLst>
        </pc:spChg>
        <pc:spChg chg="mod">
          <ac:chgData name="Aucoin, Shannon" userId="3f4e7fc1-6c2e-4059-b6c3-22af03bf749a" providerId="ADAL" clId="{E0921B5F-CAE8-4497-A9EF-24510461A92C}" dt="2026-01-14T23:54:55.694" v="50" actId="1076"/>
          <ac:spMkLst>
            <pc:docMk/>
            <pc:sldMasterMk cId="3130776066" sldId="2147483660"/>
            <ac:spMk id="6" creationId="{00000000-0000-0000-0000-000000000000}"/>
          </ac:spMkLst>
        </pc:spChg>
        <pc:picChg chg="add mod">
          <ac:chgData name="Aucoin, Shannon" userId="3f4e7fc1-6c2e-4059-b6c3-22af03bf749a" providerId="ADAL" clId="{E0921B5F-CAE8-4497-A9EF-24510461A92C}" dt="2026-01-14T23:45:50.405" v="5" actId="14100"/>
          <ac:picMkLst>
            <pc:docMk/>
            <pc:sldMasterMk cId="3130776066" sldId="2147483660"/>
            <ac:picMk id="5" creationId="{20396A9F-B5E5-8A47-3377-E794EFA004A4}"/>
          </ac:picMkLst>
        </pc:picChg>
        <pc:picChg chg="mod">
          <ac:chgData name="Aucoin, Shannon" userId="3f4e7fc1-6c2e-4059-b6c3-22af03bf749a" providerId="ADAL" clId="{E0921B5F-CAE8-4497-A9EF-24510461A92C}" dt="2026-01-14T23:54:59.974" v="51" actId="1076"/>
          <ac:picMkLst>
            <pc:docMk/>
            <pc:sldMasterMk cId="3130776066" sldId="2147483660"/>
            <ac:picMk id="9" creationId="{620D8FBC-857E-BE90-7729-A8DBA01FD4E4}"/>
          </ac:picMkLst>
        </pc:picChg>
        <pc:picChg chg="del">
          <ac:chgData name="Aucoin, Shannon" userId="3f4e7fc1-6c2e-4059-b6c3-22af03bf749a" providerId="ADAL" clId="{E0921B5F-CAE8-4497-A9EF-24510461A92C}" dt="2026-01-14T23:45:39.354" v="2" actId="478"/>
          <ac:picMkLst>
            <pc:docMk/>
            <pc:sldMasterMk cId="3130776066" sldId="2147483660"/>
            <ac:picMk id="12" creationId="{A31D3A29-4F07-D01A-45D5-F6D53EFD4860}"/>
          </ac:picMkLst>
        </pc:picChg>
        <pc:picChg chg="del">
          <ac:chgData name="Aucoin, Shannon" userId="3f4e7fc1-6c2e-4059-b6c3-22af03bf749a" providerId="ADAL" clId="{E0921B5F-CAE8-4497-A9EF-24510461A92C}" dt="2026-01-14T23:45:36.128" v="0" actId="478"/>
          <ac:picMkLst>
            <pc:docMk/>
            <pc:sldMasterMk cId="3130776066" sldId="2147483660"/>
            <ac:picMk id="15" creationId="{2778B6F9-EDFF-9A3C-8523-54A146F82F38}"/>
          </ac:picMkLst>
        </pc:picChg>
        <pc:sldLayoutChg chg="delSp modSp mod">
          <pc:chgData name="Aucoin, Shannon" userId="3f4e7fc1-6c2e-4059-b6c3-22af03bf749a" providerId="ADAL" clId="{E0921B5F-CAE8-4497-A9EF-24510461A92C}" dt="2026-01-15T00:01:58.071" v="67" actId="478"/>
          <pc:sldLayoutMkLst>
            <pc:docMk/>
            <pc:sldMasterMk cId="3130776066" sldId="2147483660"/>
            <pc:sldLayoutMk cId="2757052415" sldId="2147483689"/>
          </pc:sldLayoutMkLst>
          <pc:spChg chg="del mod">
            <ac:chgData name="Aucoin, Shannon" userId="3f4e7fc1-6c2e-4059-b6c3-22af03bf749a" providerId="ADAL" clId="{E0921B5F-CAE8-4497-A9EF-24510461A92C}" dt="2026-01-15T00:01:58.071" v="67" actId="478"/>
            <ac:spMkLst>
              <pc:docMk/>
              <pc:sldMasterMk cId="3130776066" sldId="2147483660"/>
              <pc:sldLayoutMk cId="2757052415" sldId="2147483689"/>
              <ac:spMk id="4" creationId="{00000000-0000-0000-0000-000000000000}"/>
            </ac:spMkLst>
          </pc:spChg>
          <pc:spChg chg="mod">
            <ac:chgData name="Aucoin, Shannon" userId="3f4e7fc1-6c2e-4059-b6c3-22af03bf749a" providerId="ADAL" clId="{E0921B5F-CAE8-4497-A9EF-24510461A92C}" dt="2026-01-14T23:54:35.034" v="45" actId="1076"/>
            <ac:spMkLst>
              <pc:docMk/>
              <pc:sldMasterMk cId="3130776066" sldId="2147483660"/>
              <pc:sldLayoutMk cId="2757052415" sldId="2147483689"/>
              <ac:spMk id="6" creationId="{00000000-0000-0000-0000-000000000000}"/>
            </ac:spMkLst>
          </pc:spChg>
        </pc:sldLayoutChg>
      </pc:sldMasterChg>
      <pc:sldMasterChg chg="modSp">
        <pc:chgData name="Aucoin, Shannon" userId="3f4e7fc1-6c2e-4059-b6c3-22af03bf749a" providerId="ADAL" clId="{E0921B5F-CAE8-4497-A9EF-24510461A92C}" dt="2026-01-15T00:00:12.812" v="64"/>
        <pc:sldMasterMkLst>
          <pc:docMk/>
          <pc:sldMasterMk cId="2024080141" sldId="2147483663"/>
        </pc:sldMasterMkLst>
        <pc:spChg chg="mod">
          <ac:chgData name="Aucoin, Shannon" userId="3f4e7fc1-6c2e-4059-b6c3-22af03bf749a" providerId="ADAL" clId="{E0921B5F-CAE8-4497-A9EF-24510461A92C}" dt="2026-01-15T00:00:12.812" v="64"/>
          <ac:spMkLst>
            <pc:docMk/>
            <pc:sldMasterMk cId="2024080141" sldId="2147483663"/>
            <ac:spMk id="8" creationId="{00000000-0000-0000-0000-000000000000}"/>
          </ac:spMkLst>
        </pc:spChg>
      </pc:sldMasterChg>
      <pc:sldMasterChg chg="modSp modSldLayout">
        <pc:chgData name="Aucoin, Shannon" userId="3f4e7fc1-6c2e-4059-b6c3-22af03bf749a" providerId="ADAL" clId="{E0921B5F-CAE8-4497-A9EF-24510461A92C}" dt="2026-01-15T00:01:44.105" v="66" actId="478"/>
        <pc:sldMasterMkLst>
          <pc:docMk/>
          <pc:sldMasterMk cId="977070386" sldId="2147483680"/>
        </pc:sldMasterMkLst>
        <pc:spChg chg="mod">
          <ac:chgData name="Aucoin, Shannon" userId="3f4e7fc1-6c2e-4059-b6c3-22af03bf749a" providerId="ADAL" clId="{E0921B5F-CAE8-4497-A9EF-24510461A92C}" dt="2026-01-15T00:00:04.209" v="61"/>
          <ac:spMkLst>
            <pc:docMk/>
            <pc:sldMasterMk cId="977070386" sldId="2147483680"/>
            <ac:spMk id="12" creationId="{00000000-0000-0000-0000-000000000000}"/>
          </ac:spMkLst>
        </pc:spChg>
        <pc:sldLayoutChg chg="addSp delSp modSp mod">
          <pc:chgData name="Aucoin, Shannon" userId="3f4e7fc1-6c2e-4059-b6c3-22af03bf749a" providerId="ADAL" clId="{E0921B5F-CAE8-4497-A9EF-24510461A92C}" dt="2026-01-15T00:01:44.105" v="66" actId="478"/>
          <pc:sldLayoutMkLst>
            <pc:docMk/>
            <pc:sldMasterMk cId="977070386" sldId="2147483680"/>
            <pc:sldLayoutMk cId="1318641172" sldId="2147483681"/>
          </pc:sldLayoutMkLst>
          <pc:spChg chg="add del mod">
            <ac:chgData name="Aucoin, Shannon" userId="3f4e7fc1-6c2e-4059-b6c3-22af03bf749a" providerId="ADAL" clId="{E0921B5F-CAE8-4497-A9EF-24510461A92C}" dt="2026-01-15T00:01:44.105" v="66" actId="478"/>
            <ac:spMkLst>
              <pc:docMk/>
              <pc:sldMasterMk cId="977070386" sldId="2147483680"/>
              <pc:sldLayoutMk cId="1318641172" sldId="2147483681"/>
              <ac:spMk id="7" creationId="{00000000-0000-0000-0000-000000000000}"/>
            </ac:spMkLst>
          </pc:spChg>
        </pc:sldLayoutChg>
        <pc:sldLayoutChg chg="modSp">
          <pc:chgData name="Aucoin, Shannon" userId="3f4e7fc1-6c2e-4059-b6c3-22af03bf749a" providerId="ADAL" clId="{E0921B5F-CAE8-4497-A9EF-24510461A92C}" dt="2026-01-15T00:00:09.549" v="63"/>
          <pc:sldLayoutMkLst>
            <pc:docMk/>
            <pc:sldMasterMk cId="977070386" sldId="2147483680"/>
            <pc:sldLayoutMk cId="3560448305" sldId="2147483683"/>
          </pc:sldLayoutMkLst>
          <pc:spChg chg="mod">
            <ac:chgData name="Aucoin, Shannon" userId="3f4e7fc1-6c2e-4059-b6c3-22af03bf749a" providerId="ADAL" clId="{E0921B5F-CAE8-4497-A9EF-24510461A92C}" dt="2026-01-15T00:00:09.549" v="63"/>
            <ac:spMkLst>
              <pc:docMk/>
              <pc:sldMasterMk cId="977070386" sldId="2147483680"/>
              <pc:sldLayoutMk cId="3560448305" sldId="2147483683"/>
              <ac:spMk id="6" creationId="{00000000-0000-0000-0000-000000000000}"/>
            </ac:spMkLst>
          </pc:spChg>
        </pc:sldLayoutChg>
      </pc:sldMasterChg>
      <pc:sldMasterChg chg="mod modSldLayout">
        <pc:chgData name="Aucoin, Shannon" userId="3f4e7fc1-6c2e-4059-b6c3-22af03bf749a" providerId="ADAL" clId="{E0921B5F-CAE8-4497-A9EF-24510461A92C}" dt="2026-01-15T00:22:55.641" v="79" actId="1076"/>
        <pc:sldMasterMkLst>
          <pc:docMk/>
          <pc:sldMasterMk cId="1102133550" sldId="2147483694"/>
        </pc:sldMasterMkLst>
        <pc:sldLayoutChg chg="addSp modSp mod">
          <pc:chgData name="Aucoin, Shannon" userId="3f4e7fc1-6c2e-4059-b6c3-22af03bf749a" providerId="ADAL" clId="{E0921B5F-CAE8-4497-A9EF-24510461A92C}" dt="2026-01-15T00:22:55.641" v="79" actId="1076"/>
          <pc:sldLayoutMkLst>
            <pc:docMk/>
            <pc:sldMasterMk cId="1102133550" sldId="2147483694"/>
            <pc:sldLayoutMk cId="1524979513" sldId="2147483695"/>
          </pc:sldLayoutMkLst>
          <pc:spChg chg="add mod">
            <ac:chgData name="Aucoin, Shannon" userId="3f4e7fc1-6c2e-4059-b6c3-22af03bf749a" providerId="ADAL" clId="{E0921B5F-CAE8-4497-A9EF-24510461A92C}" dt="2026-01-15T00:22:41.775" v="76" actId="1076"/>
            <ac:spMkLst>
              <pc:docMk/>
              <pc:sldMasterMk cId="1102133550" sldId="2147483694"/>
              <pc:sldLayoutMk cId="1524979513" sldId="2147483695"/>
              <ac:spMk id="2" creationId="{8B2DB045-08BE-8775-66CE-6B4FCE4115AF}"/>
            </ac:spMkLst>
          </pc:spChg>
          <pc:spChg chg="mod">
            <ac:chgData name="Aucoin, Shannon" userId="3f4e7fc1-6c2e-4059-b6c3-22af03bf749a" providerId="ADAL" clId="{E0921B5F-CAE8-4497-A9EF-24510461A92C}" dt="2026-01-15T00:22:55.641" v="79" actId="1076"/>
            <ac:spMkLst>
              <pc:docMk/>
              <pc:sldMasterMk cId="1102133550" sldId="2147483694"/>
              <pc:sldLayoutMk cId="1524979513" sldId="2147483695"/>
              <ac:spMk id="6" creationId="{00000000-0000-0000-0000-000000000000}"/>
            </ac:spMkLst>
          </pc:spChg>
        </pc:sldLayoutChg>
      </pc:sldMasterChg>
      <pc:sldMasterChg chg="del">
        <pc:chgData name="Aucoin, Shannon" userId="3f4e7fc1-6c2e-4059-b6c3-22af03bf749a" providerId="ADAL" clId="{E0921B5F-CAE8-4497-A9EF-24510461A92C}" dt="2026-01-15T00:18:41.027" v="70" actId="2696"/>
        <pc:sldMasterMkLst>
          <pc:docMk/>
          <pc:sldMasterMk cId="2088242393" sldId="2147483694"/>
        </pc:sldMasterMkLst>
      </pc:sldMasterChg>
      <pc:sldMasterChg chg="new del mod addSldLayout delSldLayout">
        <pc:chgData name="Aucoin, Shannon" userId="3f4e7fc1-6c2e-4059-b6c3-22af03bf749a" providerId="ADAL" clId="{E0921B5F-CAE8-4497-A9EF-24510461A92C}" dt="2026-01-14T23:59:45.713" v="57" actId="6938"/>
        <pc:sldMasterMkLst>
          <pc:docMk/>
          <pc:sldMasterMk cId="4147618018" sldId="2147483694"/>
        </pc:sldMasterMkLst>
        <pc:sldLayoutChg chg="new del replId">
          <pc:chgData name="Aucoin, Shannon" userId="3f4e7fc1-6c2e-4059-b6c3-22af03bf749a" providerId="ADAL" clId="{E0921B5F-CAE8-4497-A9EF-24510461A92C}" dt="2026-01-14T23:59:45.713" v="57" actId="6938"/>
          <pc:sldLayoutMkLst>
            <pc:docMk/>
            <pc:sldMasterMk cId="4147618018" sldId="2147483694"/>
            <pc:sldLayoutMk cId="3237850687" sldId="2147483695"/>
          </pc:sldLayoutMkLst>
        </pc:sldLayoutChg>
        <pc:sldLayoutChg chg="new del replId">
          <pc:chgData name="Aucoin, Shannon" userId="3f4e7fc1-6c2e-4059-b6c3-22af03bf749a" providerId="ADAL" clId="{E0921B5F-CAE8-4497-A9EF-24510461A92C}" dt="2026-01-14T23:59:45.713" v="57" actId="6938"/>
          <pc:sldLayoutMkLst>
            <pc:docMk/>
            <pc:sldMasterMk cId="4147618018" sldId="2147483694"/>
            <pc:sldLayoutMk cId="3436454095" sldId="2147483696"/>
          </pc:sldLayoutMkLst>
        </pc:sldLayoutChg>
        <pc:sldLayoutChg chg="new del replId">
          <pc:chgData name="Aucoin, Shannon" userId="3f4e7fc1-6c2e-4059-b6c3-22af03bf749a" providerId="ADAL" clId="{E0921B5F-CAE8-4497-A9EF-24510461A92C}" dt="2026-01-14T23:59:45.713" v="57" actId="6938"/>
          <pc:sldLayoutMkLst>
            <pc:docMk/>
            <pc:sldMasterMk cId="4147618018" sldId="2147483694"/>
            <pc:sldLayoutMk cId="3954898744" sldId="2147483697"/>
          </pc:sldLayoutMkLst>
        </pc:sldLayoutChg>
        <pc:sldLayoutChg chg="new del replId">
          <pc:chgData name="Aucoin, Shannon" userId="3f4e7fc1-6c2e-4059-b6c3-22af03bf749a" providerId="ADAL" clId="{E0921B5F-CAE8-4497-A9EF-24510461A92C}" dt="2026-01-14T23:59:45.713" v="57" actId="6938"/>
          <pc:sldLayoutMkLst>
            <pc:docMk/>
            <pc:sldMasterMk cId="4147618018" sldId="2147483694"/>
            <pc:sldLayoutMk cId="293740798" sldId="2147483698"/>
          </pc:sldLayoutMkLst>
        </pc:sldLayoutChg>
        <pc:sldLayoutChg chg="new del replId">
          <pc:chgData name="Aucoin, Shannon" userId="3f4e7fc1-6c2e-4059-b6c3-22af03bf749a" providerId="ADAL" clId="{E0921B5F-CAE8-4497-A9EF-24510461A92C}" dt="2026-01-14T23:59:45.713" v="57" actId="6938"/>
          <pc:sldLayoutMkLst>
            <pc:docMk/>
            <pc:sldMasterMk cId="4147618018" sldId="2147483694"/>
            <pc:sldLayoutMk cId="26124863" sldId="2147483699"/>
          </pc:sldLayoutMkLst>
        </pc:sldLayoutChg>
        <pc:sldLayoutChg chg="new del replId">
          <pc:chgData name="Aucoin, Shannon" userId="3f4e7fc1-6c2e-4059-b6c3-22af03bf749a" providerId="ADAL" clId="{E0921B5F-CAE8-4497-A9EF-24510461A92C}" dt="2026-01-14T23:59:45.713" v="57" actId="6938"/>
          <pc:sldLayoutMkLst>
            <pc:docMk/>
            <pc:sldMasterMk cId="4147618018" sldId="2147483694"/>
            <pc:sldLayoutMk cId="2743148941" sldId="2147483700"/>
          </pc:sldLayoutMkLst>
        </pc:sldLayoutChg>
        <pc:sldLayoutChg chg="new del replId">
          <pc:chgData name="Aucoin, Shannon" userId="3f4e7fc1-6c2e-4059-b6c3-22af03bf749a" providerId="ADAL" clId="{E0921B5F-CAE8-4497-A9EF-24510461A92C}" dt="2026-01-14T23:59:45.713" v="57" actId="6938"/>
          <pc:sldLayoutMkLst>
            <pc:docMk/>
            <pc:sldMasterMk cId="4147618018" sldId="2147483694"/>
            <pc:sldLayoutMk cId="967599252" sldId="2147483701"/>
          </pc:sldLayoutMkLst>
        </pc:sldLayoutChg>
        <pc:sldLayoutChg chg="new del replId">
          <pc:chgData name="Aucoin, Shannon" userId="3f4e7fc1-6c2e-4059-b6c3-22af03bf749a" providerId="ADAL" clId="{E0921B5F-CAE8-4497-A9EF-24510461A92C}" dt="2026-01-14T23:59:45.713" v="57" actId="6938"/>
          <pc:sldLayoutMkLst>
            <pc:docMk/>
            <pc:sldMasterMk cId="4147618018" sldId="2147483694"/>
            <pc:sldLayoutMk cId="1882173338" sldId="2147483702"/>
          </pc:sldLayoutMkLst>
        </pc:sldLayoutChg>
        <pc:sldLayoutChg chg="new del replId">
          <pc:chgData name="Aucoin, Shannon" userId="3f4e7fc1-6c2e-4059-b6c3-22af03bf749a" providerId="ADAL" clId="{E0921B5F-CAE8-4497-A9EF-24510461A92C}" dt="2026-01-14T23:59:45.713" v="57" actId="6938"/>
          <pc:sldLayoutMkLst>
            <pc:docMk/>
            <pc:sldMasterMk cId="4147618018" sldId="2147483694"/>
            <pc:sldLayoutMk cId="798840672" sldId="2147483703"/>
          </pc:sldLayoutMkLst>
        </pc:sldLayoutChg>
        <pc:sldLayoutChg chg="new del replId">
          <pc:chgData name="Aucoin, Shannon" userId="3f4e7fc1-6c2e-4059-b6c3-22af03bf749a" providerId="ADAL" clId="{E0921B5F-CAE8-4497-A9EF-24510461A92C}" dt="2026-01-14T23:59:45.713" v="57" actId="6938"/>
          <pc:sldLayoutMkLst>
            <pc:docMk/>
            <pc:sldMasterMk cId="4147618018" sldId="2147483694"/>
            <pc:sldLayoutMk cId="2876711919" sldId="2147483704"/>
          </pc:sldLayoutMkLst>
        </pc:sldLayoutChg>
        <pc:sldLayoutChg chg="new del replId">
          <pc:chgData name="Aucoin, Shannon" userId="3f4e7fc1-6c2e-4059-b6c3-22af03bf749a" providerId="ADAL" clId="{E0921B5F-CAE8-4497-A9EF-24510461A92C}" dt="2026-01-14T23:59:45.713" v="57" actId="6938"/>
          <pc:sldLayoutMkLst>
            <pc:docMk/>
            <pc:sldMasterMk cId="4147618018" sldId="2147483694"/>
            <pc:sldLayoutMk cId="3474044451" sldId="214748370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53" tIns="48327" rIns="96653" bIns="48327" rtlCol="0"/>
          <a:lstStyle>
            <a:lvl1pPr algn="r">
              <a:defRPr sz="1200"/>
            </a:lvl1pPr>
          </a:lstStyle>
          <a:p>
            <a:fld id="{9CBA0846-EC1A-40DB-8F81-96AE9A64BBB3}" type="datetimeFigureOut">
              <a:rPr lang="en-US" smtClean="0"/>
              <a:t>1/20/2026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53" tIns="48327" rIns="96653" bIns="48327" rtlCol="0" anchor="b"/>
          <a:lstStyle>
            <a:lvl1pPr algn="r">
              <a:defRPr sz="1200"/>
            </a:lvl1pPr>
          </a:lstStyle>
          <a:p>
            <a:fld id="{C3CE0DA8-8A21-4DAB-8D09-F8325147C991}" type="slidenum">
              <a:rPr lang="en-US" smtClean="0"/>
              <a:t>‹#›</a:t>
            </a:fld>
            <a:endParaRPr lang="en-US"/>
          </a:p>
        </p:txBody>
      </p:sp>
    </p:spTree>
    <p:extLst>
      <p:ext uri="{BB962C8B-B14F-4D97-AF65-F5344CB8AC3E}">
        <p14:creationId xmlns:p14="http://schemas.microsoft.com/office/powerpoint/2010/main" val="40266894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53" tIns="48327" rIns="96653" bIns="48327"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53" tIns="48327" rIns="96653" bIns="48327" rtlCol="0"/>
          <a:lstStyle>
            <a:lvl1pPr algn="r">
              <a:defRPr sz="1200"/>
            </a:lvl1pPr>
          </a:lstStyle>
          <a:p>
            <a:fld id="{EF5DD168-A957-4784-9C8A-5438585B9AF9}" type="datetimeFigureOut">
              <a:rPr lang="en-US" smtClean="0"/>
              <a:t>1/20/2026</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6653" tIns="48327" rIns="96653" bIns="48327"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53" tIns="48327" rIns="96653" bIns="48327"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53" tIns="48327" rIns="96653" bIns="48327"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53" tIns="48327" rIns="96653" bIns="48327" rtlCol="0" anchor="b"/>
          <a:lstStyle>
            <a:lvl1pPr algn="r">
              <a:defRPr sz="1200"/>
            </a:lvl1pPr>
          </a:lstStyle>
          <a:p>
            <a:fld id="{2CAF6792-DBE1-4461-97FA-F85A7B48814E}" type="slidenum">
              <a:rPr lang="en-US" smtClean="0"/>
              <a:t>‹#›</a:t>
            </a:fld>
            <a:endParaRPr lang="en-US"/>
          </a:p>
        </p:txBody>
      </p:sp>
    </p:spTree>
    <p:extLst>
      <p:ext uri="{BB962C8B-B14F-4D97-AF65-F5344CB8AC3E}">
        <p14:creationId xmlns:p14="http://schemas.microsoft.com/office/powerpoint/2010/main" val="281579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560570"/>
            <a:ext cx="6177280" cy="4320540"/>
          </a:xfrm>
        </p:spPr>
        <p:txBody>
          <a:bodyPr/>
          <a:lstStyle/>
          <a:p>
            <a:pPr eaLnBrk="1" hangingPunct="1">
              <a:lnSpc>
                <a:spcPct val="90000"/>
              </a:lnSpc>
              <a:spcBef>
                <a:spcPct val="0"/>
              </a:spcBef>
            </a:pPr>
            <a:r>
              <a:rPr lang="en-US" sz="1200" dirty="0"/>
              <a:t>Dear</a:t>
            </a:r>
            <a:r>
              <a:rPr lang="en-US" sz="1200" baseline="0" dirty="0"/>
              <a:t> Instructor:</a:t>
            </a:r>
          </a:p>
          <a:p>
            <a:pPr eaLnBrk="1" hangingPunct="1">
              <a:lnSpc>
                <a:spcPct val="90000"/>
              </a:lnSpc>
              <a:spcBef>
                <a:spcPct val="0"/>
              </a:spcBef>
            </a:pPr>
            <a:endParaRPr lang="en-US" sz="1200" baseline="0" dirty="0"/>
          </a:p>
          <a:p>
            <a:pPr eaLnBrk="1" hangingPunct="1">
              <a:lnSpc>
                <a:spcPct val="90000"/>
              </a:lnSpc>
              <a:spcBef>
                <a:spcPct val="0"/>
              </a:spcBef>
            </a:pPr>
            <a:r>
              <a:rPr lang="en-US" sz="1200" baseline="0" dirty="0"/>
              <a:t>Thank you for using the </a:t>
            </a:r>
            <a:r>
              <a:rPr lang="en-US" altLang="en-US" sz="1200" dirty="0">
                <a:solidFill>
                  <a:srgbClr val="000000"/>
                </a:solidFill>
              </a:rPr>
              <a:t>Interactive </a:t>
            </a:r>
            <a:r>
              <a:rPr lang="en-US" sz="1200" baseline="0" dirty="0"/>
              <a:t>PowerPoints for Mankiw’s Principles of Economics textbooks.  </a:t>
            </a:r>
          </a:p>
          <a:p>
            <a:pPr eaLnBrk="1" hangingPunct="1">
              <a:lnSpc>
                <a:spcPct val="90000"/>
              </a:lnSpc>
              <a:spcBef>
                <a:spcPct val="0"/>
              </a:spcBef>
            </a:pPr>
            <a:endParaRPr lang="en-US" sz="1200" baseline="0" dirty="0"/>
          </a:p>
          <a:p>
            <a:pPr eaLnBrk="1" hangingPunct="1">
              <a:lnSpc>
                <a:spcPct val="90000"/>
              </a:lnSpc>
              <a:spcBef>
                <a:spcPct val="0"/>
              </a:spcBef>
            </a:pPr>
            <a:r>
              <a:rPr lang="en-US" sz="1200" dirty="0"/>
              <a:t>This area is the “notes” section.</a:t>
            </a:r>
            <a:r>
              <a:rPr lang="en-US" sz="1200" baseline="0" dirty="0"/>
              <a:t>  For many slides, it</a:t>
            </a:r>
            <a:r>
              <a:rPr lang="en-US" sz="1200" dirty="0"/>
              <a:t> includes notes that are visible only to you and will not display during your presentation in class.  In slides with data, tables, or charts, the notes area provides the source information (often a URL or web address to the original data).  In other slides, the notes area provides information that might be helpful when teaching this material, particularly for new instructors and graduate assistant teachers.  </a:t>
            </a:r>
          </a:p>
          <a:p>
            <a:pPr eaLnBrk="1" hangingPunct="1">
              <a:lnSpc>
                <a:spcPct val="90000"/>
              </a:lnSpc>
              <a:spcBef>
                <a:spcPct val="0"/>
              </a:spcBef>
            </a:pPr>
            <a:endParaRPr lang="en-US" sz="1200" dirty="0"/>
          </a:p>
          <a:p>
            <a:pPr eaLnBrk="1" hangingPunct="1">
              <a:lnSpc>
                <a:spcPct val="90000"/>
              </a:lnSpc>
              <a:spcBef>
                <a:spcPct val="0"/>
              </a:spcBef>
            </a:pPr>
            <a:r>
              <a:rPr lang="en-US" sz="1200" dirty="0"/>
              <a:t>Notes about Chapter 1:  </a:t>
            </a:r>
          </a:p>
          <a:p>
            <a:pPr eaLnBrk="1" hangingPunct="1">
              <a:lnSpc>
                <a:spcPct val="90000"/>
              </a:lnSpc>
              <a:spcBef>
                <a:spcPct val="0"/>
              </a:spcBef>
            </a:pPr>
            <a:r>
              <a:rPr lang="en-US" sz="1200" dirty="0"/>
              <a:t>Most instructors try to cover this chapter in a single class session (especially those that are teaching the second of a two-semester sequence).  If you are teaching principles of microeconomics, you might consider skipping Principles 8–10 (slides 28-33), which deal with macroeconomics.  </a:t>
            </a:r>
          </a:p>
          <a:p>
            <a:pPr eaLnBrk="1" hangingPunct="1"/>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a:t>
            </a:fld>
            <a:endParaRPr lang="en-US" dirty="0"/>
          </a:p>
        </p:txBody>
      </p:sp>
    </p:spTree>
    <p:extLst>
      <p:ext uri="{BB962C8B-B14F-4D97-AF65-F5344CB8AC3E}">
        <p14:creationId xmlns:p14="http://schemas.microsoft.com/office/powerpoint/2010/main" val="4088678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main sections in this chapter: </a:t>
            </a:r>
          </a:p>
          <a:p>
            <a:pPr marL="228600" indent="-228600">
              <a:buAutoNum type="arabicPeriod"/>
            </a:pPr>
            <a:r>
              <a:rPr lang="en-US" dirty="0"/>
              <a:t>The Economist as Scientist</a:t>
            </a:r>
          </a:p>
          <a:p>
            <a:pPr marL="228600" indent="-228600">
              <a:buAutoNum type="arabicPeriod"/>
            </a:pPr>
            <a:r>
              <a:rPr lang="en-US" dirty="0"/>
              <a:t>The Economist as Policy Adviser</a:t>
            </a:r>
          </a:p>
          <a:p>
            <a:pPr marL="228600" indent="-228600">
              <a:buAutoNum type="arabicPeriod"/>
            </a:pPr>
            <a:r>
              <a:rPr lang="en-US" dirty="0"/>
              <a:t>Why</a:t>
            </a:r>
            <a:r>
              <a:rPr lang="en-US" baseline="0" dirty="0"/>
              <a:t> Economists Disagree</a:t>
            </a:r>
          </a:p>
          <a:p>
            <a:pPr marL="228600" indent="-228600">
              <a:buAutoNum type="arabicPeriod"/>
            </a:pPr>
            <a:r>
              <a:rPr lang="en-US" baseline="0" dirty="0"/>
              <a:t>Let’s Get Going</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a:t>
            </a:fld>
            <a:endParaRPr lang="en-US" dirty="0"/>
          </a:p>
        </p:txBody>
      </p:sp>
    </p:spTree>
    <p:extLst>
      <p:ext uri="{BB962C8B-B14F-4D97-AF65-F5344CB8AC3E}">
        <p14:creationId xmlns:p14="http://schemas.microsoft.com/office/powerpoint/2010/main" val="136236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models we study are the Circular flow model and the Productions Possibilities Frontier. And we are using the scientific method to do so: observe data, develop the theory, then observe data again to see if the theory was correct. </a:t>
            </a:r>
          </a:p>
        </p:txBody>
      </p:sp>
      <p:sp>
        <p:nvSpPr>
          <p:cNvPr id="4" name="Slide Number Placeholder 3"/>
          <p:cNvSpPr>
            <a:spLocks noGrp="1"/>
          </p:cNvSpPr>
          <p:nvPr>
            <p:ph type="sldNum" sz="quarter" idx="10"/>
          </p:nvPr>
        </p:nvSpPr>
        <p:spPr/>
        <p:txBody>
          <a:bodyPr/>
          <a:lstStyle/>
          <a:p>
            <a:fld id="{2CAF6792-DBE1-4461-97FA-F85A7B48814E}" type="slidenum">
              <a:rPr lang="en-US" smtClean="0"/>
              <a:t>3</a:t>
            </a:fld>
            <a:endParaRPr lang="en-US"/>
          </a:p>
        </p:txBody>
      </p:sp>
    </p:spTree>
    <p:extLst>
      <p:ext uri="{BB962C8B-B14F-4D97-AF65-F5344CB8AC3E}">
        <p14:creationId xmlns:p14="http://schemas.microsoft.com/office/powerpoint/2010/main" val="3954904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Economists use theory and observation like other scientists. But, conducting experiments is often impractical, so economists usually have to make do with whatever data the world gives them. To find a substitute for laboratory experiments, economists pay close attention to the natural experiments offered by history.</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4</a:t>
            </a:fld>
            <a:endParaRPr lang="en-US"/>
          </a:p>
        </p:txBody>
      </p:sp>
    </p:spTree>
    <p:extLst>
      <p:ext uri="{BB962C8B-B14F-4D97-AF65-F5344CB8AC3E}">
        <p14:creationId xmlns:p14="http://schemas.microsoft.com/office/powerpoint/2010/main" val="1731675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Economic models can be diagrams and equations; they omit many details to allow us to see what’s truly important. As</a:t>
            </a:r>
            <a:r>
              <a:rPr lang="en-US" altLang="en-US" baseline="0" dirty="0"/>
              <a:t> any models, economic models are b</a:t>
            </a:r>
            <a:r>
              <a:rPr lang="en-US" altLang="en-US" dirty="0"/>
              <a:t>uilt with assumptions to simplify the reality to improve our understanding of it. </a:t>
            </a:r>
          </a:p>
          <a:p>
            <a:r>
              <a:rPr lang="en-US" altLang="en-US" dirty="0"/>
              <a:t>The key is to find the right model at the right time.  </a:t>
            </a:r>
          </a:p>
          <a:p>
            <a:endParaRPr lang="en-US" altLang="en-US" dirty="0"/>
          </a:p>
          <a:p>
            <a:r>
              <a:rPr lang="en-US" altLang="en-US" dirty="0"/>
              <a:t>Next, we develop two models: the circular flow model, and the PPF.</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5</a:t>
            </a:fld>
            <a:endParaRPr lang="en-US"/>
          </a:p>
        </p:txBody>
      </p:sp>
    </p:spTree>
    <p:extLst>
      <p:ext uri="{BB962C8B-B14F-4D97-AF65-F5344CB8AC3E}">
        <p14:creationId xmlns:p14="http://schemas.microsoft.com/office/powerpoint/2010/main" val="3482836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circular-flow model has simplifying assumptions: there are only 2 decision makers and only 2 markets.</a:t>
            </a:r>
          </a:p>
        </p:txBody>
      </p:sp>
      <p:sp>
        <p:nvSpPr>
          <p:cNvPr id="4" name="Slide Number Placeholder 3"/>
          <p:cNvSpPr>
            <a:spLocks noGrp="1"/>
          </p:cNvSpPr>
          <p:nvPr>
            <p:ph type="sldNum" sz="quarter" idx="10"/>
          </p:nvPr>
        </p:nvSpPr>
        <p:spPr/>
        <p:txBody>
          <a:bodyPr/>
          <a:lstStyle/>
          <a:p>
            <a:fld id="{2CAF6792-DBE1-4461-97FA-F85A7B48814E}" type="slidenum">
              <a:rPr lang="en-US" smtClean="0"/>
              <a:t>6</a:t>
            </a:fld>
            <a:endParaRPr lang="en-US"/>
          </a:p>
        </p:txBody>
      </p:sp>
    </p:spTree>
    <p:extLst>
      <p:ext uri="{BB962C8B-B14F-4D97-AF65-F5344CB8AC3E}">
        <p14:creationId xmlns:p14="http://schemas.microsoft.com/office/powerpoint/2010/main" val="12705619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This and the following slides build the Circular-Flow Diagram piece by piece.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7</a:t>
            </a:fld>
            <a:endParaRPr lang="en-US"/>
          </a:p>
        </p:txBody>
      </p:sp>
    </p:spTree>
    <p:extLst>
      <p:ext uri="{BB962C8B-B14F-4D97-AF65-F5344CB8AC3E}">
        <p14:creationId xmlns:p14="http://schemas.microsoft.com/office/powerpoint/2010/main" val="553300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This and the following slides build the Circular-Flow Diagram piece by piece.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8</a:t>
            </a:fld>
            <a:endParaRPr lang="en-US"/>
          </a:p>
        </p:txBody>
      </p:sp>
    </p:spTree>
    <p:extLst>
      <p:ext uri="{BB962C8B-B14F-4D97-AF65-F5344CB8AC3E}">
        <p14:creationId xmlns:p14="http://schemas.microsoft.com/office/powerpoint/2010/main" val="553300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In this diagram, the green arrows represent flows of income/payments.  The red arrows represent flows of goods and services (including services of the factors of production in the lower half of the diagram).  </a:t>
            </a:r>
          </a:p>
          <a:p>
            <a:pPr defTabSz="966612">
              <a:defRPr/>
            </a:pPr>
            <a:endParaRPr lang="en-US" dirty="0"/>
          </a:p>
          <a:p>
            <a:pPr defTabSz="966612">
              <a:defRPr/>
            </a:pPr>
            <a:r>
              <a:rPr lang="en-US" dirty="0"/>
              <a:t>To keep the graph simple, we have omitted the government, financial system, and foreign sector. </a:t>
            </a:r>
          </a:p>
          <a:p>
            <a:pPr eaLnBrk="1" hangingPunct="1"/>
            <a:endParaRPr lang="en-US" dirty="0"/>
          </a:p>
          <a:p>
            <a:pPr defTabSz="966612">
              <a:defRPr/>
            </a:pPr>
            <a:r>
              <a:rPr lang="en-US" dirty="0"/>
              <a:t>You may wish to change the order in which the elements appear.  To do so, look for “Custom Animation” in your version of PowerPoint.  </a:t>
            </a:r>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9</a:t>
            </a:fld>
            <a:endParaRPr lang="en-US"/>
          </a:p>
        </p:txBody>
      </p:sp>
    </p:spTree>
    <p:extLst>
      <p:ext uri="{BB962C8B-B14F-4D97-AF65-F5344CB8AC3E}">
        <p14:creationId xmlns:p14="http://schemas.microsoft.com/office/powerpoint/2010/main" val="553300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production possibilities frontier is another model used in economics. The assumptions here are that the quantity and quality of resources (factors of production) is constant. </a:t>
            </a:r>
          </a:p>
        </p:txBody>
      </p:sp>
      <p:sp>
        <p:nvSpPr>
          <p:cNvPr id="4" name="Slide Number Placeholder 3"/>
          <p:cNvSpPr>
            <a:spLocks noGrp="1"/>
          </p:cNvSpPr>
          <p:nvPr>
            <p:ph type="sldNum" sz="quarter" idx="10"/>
          </p:nvPr>
        </p:nvSpPr>
        <p:spPr/>
        <p:txBody>
          <a:bodyPr/>
          <a:lstStyle/>
          <a:p>
            <a:fld id="{2CAF6792-DBE1-4461-97FA-F85A7B48814E}" type="slidenum">
              <a:rPr lang="en-US" smtClean="0"/>
              <a:t>10</a:t>
            </a:fld>
            <a:endParaRPr lang="en-US"/>
          </a:p>
        </p:txBody>
      </p:sp>
    </p:spTree>
    <p:extLst>
      <p:ext uri="{BB962C8B-B14F-4D97-AF65-F5344CB8AC3E}">
        <p14:creationId xmlns:p14="http://schemas.microsoft.com/office/powerpoint/2010/main" val="3860672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use this as</a:t>
            </a:r>
            <a:r>
              <a:rPr lang="en-US" baseline="0" dirty="0"/>
              <a:t> a starting point for finding several points on the PPF, then building the PPF. </a:t>
            </a:r>
          </a:p>
          <a:p>
            <a:endParaRPr lang="en-US" baseline="0" dirty="0"/>
          </a:p>
          <a:p>
            <a:r>
              <a:rPr lang="en-US" baseline="0" dirty="0"/>
              <a:t>The textbook starts PPF with the bowed-out PPF (increasing opportunity costs), so here I’m using the constant-opportunity cost PPF (the straight line). Later, we’ll see the bowed-out PPF. </a:t>
            </a:r>
          </a:p>
          <a:p>
            <a:endParaRPr lang="en-US" baseline="0" dirty="0"/>
          </a:p>
          <a:p>
            <a:r>
              <a:rPr lang="en-US" baseline="0" dirty="0"/>
              <a:t>On the next slide I give several possible combinations (points A-E). While all points are given in the problem, it is worth it to go through the calculations of at least 3 of the points.  Point A: use all the resources to produce only airplanes, so it will have 0 soybeans and 100 airplanes. Point E: use all the resources to produce only soybeans, so it will have 5,000 tons of soybeans and 0 airplanes. Point C: is the mid point (using half of the resources to produce airplanes and the other half to produce soybeans), so it will have 50 airplanes and 2,500 tons of soybeans. </a:t>
            </a:r>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11</a:t>
            </a:fld>
            <a:endParaRPr lang="en-US"/>
          </a:p>
        </p:txBody>
      </p:sp>
    </p:spTree>
    <p:extLst>
      <p:ext uri="{BB962C8B-B14F-4D97-AF65-F5344CB8AC3E}">
        <p14:creationId xmlns:p14="http://schemas.microsoft.com/office/powerpoint/2010/main" val="326637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Notice that for this example, we are</a:t>
            </a:r>
            <a:r>
              <a:rPr lang="en-US" baseline="0" dirty="0"/>
              <a:t> assuming constant opportunity cost, while the textbook shows increasing opportunity cost PPF. We will show and explain increasing opportunity cost PPF a bit later.</a:t>
            </a:r>
          </a:p>
          <a:p>
            <a:pPr eaLnBrk="1" hangingPunct="1"/>
            <a:endParaRPr lang="en-US" baseline="0" dirty="0"/>
          </a:p>
          <a:p>
            <a:pPr eaLnBrk="1" hangingPunct="1"/>
            <a:r>
              <a:rPr lang="en-US" baseline="0" dirty="0"/>
              <a:t>Answers: to increase the production of airplanes by 20 (for example, from 0 to 20, moving from point A to point B), we give up 1,000 tons of soybeans (because the production of soybeans drops from 5,000 to 4,000).  So, the opportunity cost of producing 20 airplanes is 1,000 tons of soybeans. We get the same answer if we increase the production of airplanes from 80 to 100 (from point D to point E).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12</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point on or under the PPF is possible. The points on the PPF are efficient: there is no way to produce more of one good without producing less of the other. The points inside (or under) the PPF are inefficient: possible but not efficient because it is possible to produce more of one or both goods and reach a point of the PPF.  </a:t>
            </a:r>
          </a:p>
          <a:p>
            <a:endParaRPr lang="en-US" dirty="0"/>
          </a:p>
          <a:p>
            <a:r>
              <a:rPr lang="en-US" dirty="0"/>
              <a:t>Any point outside the PPF is not possible: we don’t have enough resources to produce that combination. (and the resources are assumed fixed).  </a:t>
            </a:r>
          </a:p>
          <a:p>
            <a:endParaRPr lang="en-US" dirty="0"/>
          </a:p>
          <a:p>
            <a:r>
              <a:rPr lang="en-US" dirty="0"/>
              <a:t>The production possibilities frontier shows one trade-off that society faces. Once an economy reaches an efficient point on the frontier, the only way to produce</a:t>
            </a:r>
          </a:p>
          <a:p>
            <a:r>
              <a:rPr lang="en-US" dirty="0"/>
              <a:t>more of one good is to produce less of the other. </a:t>
            </a:r>
          </a:p>
        </p:txBody>
      </p:sp>
      <p:sp>
        <p:nvSpPr>
          <p:cNvPr id="4" name="Slide Number Placeholder 3"/>
          <p:cNvSpPr>
            <a:spLocks noGrp="1"/>
          </p:cNvSpPr>
          <p:nvPr>
            <p:ph type="sldNum" sz="quarter" idx="10"/>
          </p:nvPr>
        </p:nvSpPr>
        <p:spPr/>
        <p:txBody>
          <a:bodyPr/>
          <a:lstStyle/>
          <a:p>
            <a:fld id="{2CAF6792-DBE1-4461-97FA-F85A7B48814E}" type="slidenum">
              <a:rPr lang="en-US" smtClean="0"/>
              <a:t>13</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66612" rtl="0" eaLnBrk="1" fontAlgn="auto" latinLnBrk="0" hangingPunct="1">
              <a:lnSpc>
                <a:spcPct val="100000"/>
              </a:lnSpc>
              <a:spcBef>
                <a:spcPts val="0"/>
              </a:spcBef>
              <a:spcAft>
                <a:spcPts val="0"/>
              </a:spcAft>
              <a:buClrTx/>
              <a:buSzTx/>
              <a:buFontTx/>
              <a:buNone/>
              <a:tabLst/>
              <a:defRPr/>
            </a:pPr>
            <a:r>
              <a:rPr lang="en-US" sz="1400" dirty="0"/>
              <a:t>Allow your students</a:t>
            </a:r>
            <a:r>
              <a:rPr lang="en-US" sz="1400" baseline="0" dirty="0"/>
              <a:t> 5 minutes to work by themselves or in groups before asking for volunteers to share their answers.  </a:t>
            </a:r>
            <a:endParaRPr lang="en-US" sz="1400" dirty="0"/>
          </a:p>
          <a:p>
            <a:pPr defTabSz="966612">
              <a:defRPr/>
            </a:pPr>
            <a:endParaRPr lang="en-US" sz="1300" dirty="0"/>
          </a:p>
          <a:p>
            <a:pPr defTabSz="966612">
              <a:defRPr/>
            </a:pPr>
            <a:r>
              <a:rPr lang="en-US" sz="1300" dirty="0"/>
              <a:t>This exercise leads students to discover for themselves that points under the PPF are possible but inefficient, while points above it are not possible.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14</a:t>
            </a:fld>
            <a:endParaRPr lang="en-US"/>
          </a:p>
        </p:txBody>
      </p:sp>
    </p:spTree>
    <p:extLst>
      <p:ext uri="{BB962C8B-B14F-4D97-AF65-F5344CB8AC3E}">
        <p14:creationId xmlns:p14="http://schemas.microsoft.com/office/powerpoint/2010/main" val="2056849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This exercise leads students to discover for themselves that points under the PPF are possible but inefficient, while points above it are not possible.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15</a:t>
            </a:fld>
            <a:endParaRPr lang="en-US"/>
          </a:p>
        </p:txBody>
      </p:sp>
    </p:spTree>
    <p:extLst>
      <p:ext uri="{BB962C8B-B14F-4D97-AF65-F5344CB8AC3E}">
        <p14:creationId xmlns:p14="http://schemas.microsoft.com/office/powerpoint/2010/main" val="20568493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16</a:t>
            </a:fld>
            <a:endParaRPr lang="en-US"/>
          </a:p>
        </p:txBody>
      </p:sp>
    </p:spTree>
    <p:extLst>
      <p:ext uri="{BB962C8B-B14F-4D97-AF65-F5344CB8AC3E}">
        <p14:creationId xmlns:p14="http://schemas.microsoft.com/office/powerpoint/2010/main" val="4136820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17</a:t>
            </a:fld>
            <a:endParaRPr lang="en-US"/>
          </a:p>
        </p:txBody>
      </p:sp>
    </p:spTree>
    <p:extLst>
      <p:ext uri="{BB962C8B-B14F-4D97-AF65-F5344CB8AC3E}">
        <p14:creationId xmlns:p14="http://schemas.microsoft.com/office/powerpoint/2010/main" val="29880166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You can also mention to your students that the opportunity cost of the variable on the x-axis</a:t>
            </a:r>
            <a:r>
              <a:rPr lang="en-US" sz="1200" baseline="0" dirty="0"/>
              <a:t> is the slope of the PPF. </a:t>
            </a:r>
            <a:r>
              <a:rPr lang="en-US" sz="1200" dirty="0"/>
              <a:t>The slope of a line equals the “</a:t>
            </a:r>
            <a:r>
              <a:rPr lang="en-US" sz="1200" b="1" dirty="0">
                <a:solidFill>
                  <a:srgbClr val="9900CC"/>
                </a:solidFill>
              </a:rPr>
              <a:t>rise</a:t>
            </a:r>
            <a:r>
              <a:rPr lang="en-US" sz="1200" dirty="0"/>
              <a:t> over the </a:t>
            </a:r>
            <a:r>
              <a:rPr lang="en-US" sz="1200" b="1" dirty="0">
                <a:solidFill>
                  <a:srgbClr val="339933"/>
                </a:solidFill>
              </a:rPr>
              <a:t>run.</a:t>
            </a:r>
            <a:r>
              <a:rPr lang="en-US" sz="1200" dirty="0"/>
              <a:t>” And the slope here is the opportunity cost of producing 1 ton of soybeans.</a:t>
            </a:r>
          </a:p>
          <a:p>
            <a:endParaRPr 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2060"/>
                </a:solidFill>
              </a:rPr>
              <a:t>To produce the first 1,000 tons of soybeans (moving from point E to point F along the PPF, increasing the production of soybeans from 0 to 1,000 tons): give up 20 airplanes (decrease the production of airplanes from 100 to 80).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solidFill>
                  <a:srgbClr val="002060"/>
                </a:solidFill>
              </a:rPr>
              <a:t>We can calculate the opportunity cost of producing 1 ton of soybeans = 0.02 airplanes (or 20/1,000).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a:solidFill>
                  <a:srgbClr val="002060"/>
                </a:solidFill>
              </a:rPr>
              <a:t>We can also calculate the opportunity cost of producing 1 airplane = 50 tons of soybeans</a:t>
            </a:r>
            <a:r>
              <a:rPr lang="en-US" sz="1200" baseline="0" dirty="0">
                <a:solidFill>
                  <a:srgbClr val="002060"/>
                </a:solidFill>
              </a:rPr>
              <a:t> (or </a:t>
            </a:r>
            <a:r>
              <a:rPr lang="en-US" sz="1200" dirty="0">
                <a:solidFill>
                  <a:srgbClr val="002060"/>
                </a:solidFill>
              </a:rPr>
              <a:t>1,000/20).</a:t>
            </a:r>
          </a:p>
          <a:p>
            <a:endParaRPr lang="en-US" dirty="0"/>
          </a:p>
          <a:p>
            <a:pPr eaLnBrk="1" hangingPunct="1"/>
            <a:r>
              <a:rPr lang="en-US" dirty="0"/>
              <a:t>Moving to the right involves shifting resources from the production of airplanes</a:t>
            </a:r>
            <a:r>
              <a:rPr lang="en-US" baseline="0" dirty="0"/>
              <a:t> </a:t>
            </a:r>
            <a:r>
              <a:rPr lang="en-US" dirty="0"/>
              <a:t>(which causes airplane production to fall) to the production of soybeans (which causes soybeans</a:t>
            </a:r>
            <a:r>
              <a:rPr lang="en-US" baseline="0" dirty="0"/>
              <a:t> output </a:t>
            </a:r>
            <a:r>
              <a:rPr lang="en-US" dirty="0"/>
              <a:t>to rise).  Producing an additional 1,000 tons of soybeans requires the resources that would otherwise produce 20 airplanes.  </a:t>
            </a:r>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18</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a:t>The PPF shows the trade-off between the outputs of different goods at a given time, but the tradeoff can change over time.  </a:t>
            </a:r>
          </a:p>
          <a:p>
            <a:pPr eaLnBrk="1" hangingPunct="1"/>
            <a:endParaRPr lang="en-US" sz="1200" dirty="0"/>
          </a:p>
          <a:p>
            <a:r>
              <a:rPr lang="en-US" sz="1200" dirty="0"/>
              <a:t>Remember, for one PPF we assume the quantity and quality of inputs and technology is fixed. But, if the assumption changes, the PPF changes as well. For example, over time, the economy might get more workers (or more factories or more land).  Or, a more efficient technology might be invented.  Both events—an increase in the economy’s resources or an improvement in technology—cause an expansion in the set of opportunities.  That is, both allow the economy to produce more of one or both goods.  </a:t>
            </a:r>
          </a:p>
          <a:p>
            <a:pPr eaLnBrk="1" hangingPunct="1"/>
            <a:endParaRPr lang="en-US" sz="1200" dirty="0"/>
          </a:p>
          <a:p>
            <a:pPr eaLnBrk="1" hangingPunct="1"/>
            <a:r>
              <a:rPr lang="en-US" sz="1200" dirty="0"/>
              <a:t>This is a simple example of economic growth, an important subject that gets its own chapter in the macroeconomics portion of the textbook.  </a:t>
            </a:r>
          </a:p>
          <a:p>
            <a:pPr eaLnBrk="1" hangingPunct="1"/>
            <a:endParaRPr lang="en-US" sz="1200" dirty="0"/>
          </a:p>
          <a:p>
            <a:pPr eaLnBrk="1" hangingPunct="1"/>
            <a:r>
              <a:rPr lang="en-US" sz="1200" dirty="0"/>
              <a:t>In this example, economic growth causes a parallel outward shift of the PPF.  Since the new PPF is parallel to the old one, the trade-off between the two goods is the same.  However, this need not always be the case.  For example, if a new technology had more impact on the airplane industry than on the soybeans</a:t>
            </a:r>
            <a:r>
              <a:rPr lang="en-US" sz="1200" baseline="0" dirty="0"/>
              <a:t> </a:t>
            </a:r>
            <a:r>
              <a:rPr lang="en-US" sz="1200" dirty="0"/>
              <a:t>industry, then the vertical (airplanes) intercept would increase more than the horizontal (soybeans) intercept, and the PPF would become steeper.</a:t>
            </a:r>
          </a:p>
          <a:p>
            <a:pPr eaLnBrk="1" hangingPunct="1"/>
            <a:endParaRPr lang="en-US" sz="1200" dirty="0"/>
          </a:p>
        </p:txBody>
      </p:sp>
      <p:sp>
        <p:nvSpPr>
          <p:cNvPr id="4" name="Slide Number Placeholder 3"/>
          <p:cNvSpPr>
            <a:spLocks noGrp="1"/>
          </p:cNvSpPr>
          <p:nvPr>
            <p:ph type="sldNum" sz="quarter" idx="10"/>
          </p:nvPr>
        </p:nvSpPr>
        <p:spPr/>
        <p:txBody>
          <a:bodyPr/>
          <a:lstStyle/>
          <a:p>
            <a:fld id="{2CAF6792-DBE1-4461-97FA-F85A7B48814E}" type="slidenum">
              <a:rPr lang="en-US" smtClean="0"/>
              <a:t>19</a:t>
            </a:fld>
            <a:endParaRPr lang="en-US"/>
          </a:p>
        </p:txBody>
      </p:sp>
    </p:spTree>
    <p:extLst>
      <p:ext uri="{BB962C8B-B14F-4D97-AF65-F5344CB8AC3E}">
        <p14:creationId xmlns:p14="http://schemas.microsoft.com/office/powerpoint/2010/main" val="11481732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20</a:t>
            </a:fld>
            <a:endParaRPr lang="en-US"/>
          </a:p>
        </p:txBody>
      </p:sp>
    </p:spTree>
    <p:extLst>
      <p:ext uri="{BB962C8B-B14F-4D97-AF65-F5344CB8AC3E}">
        <p14:creationId xmlns:p14="http://schemas.microsoft.com/office/powerpoint/2010/main" val="28951835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21</a:t>
            </a:fld>
            <a:endParaRPr lang="en-US"/>
          </a:p>
        </p:txBody>
      </p:sp>
    </p:spTree>
    <p:extLst>
      <p:ext uri="{BB962C8B-B14F-4D97-AF65-F5344CB8AC3E}">
        <p14:creationId xmlns:p14="http://schemas.microsoft.com/office/powerpoint/2010/main" val="41214105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Here, we are using “workers” for the more general “resources,” to keep things simple and consistent with the previous examples.  </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At point A: low opportunity cost of producing one more bike, s</a:t>
            </a:r>
            <a:r>
              <a:rPr lang="en-US" sz="1200" dirty="0"/>
              <a:t>o, do not have to give up much beer to get more bikes (measured by the vertical arrow).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At point B: high opportunity cost of producing one more bike,</a:t>
            </a:r>
            <a:r>
              <a:rPr lang="en-US" sz="1200" baseline="0" dirty="0"/>
              <a:t> so, p</a:t>
            </a:r>
            <a:r>
              <a:rPr lang="en-US" sz="1200" dirty="0"/>
              <a:t>roducing more bikes would require shifting some of the best brewers away from beer production and causing a big drop in beer output.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22</a:t>
            </a:fld>
            <a:endParaRPr lang="en-US"/>
          </a:p>
        </p:txBody>
      </p:sp>
    </p:spTree>
    <p:extLst>
      <p:ext uri="{BB962C8B-B14F-4D97-AF65-F5344CB8AC3E}">
        <p14:creationId xmlns:p14="http://schemas.microsoft.com/office/powerpoint/2010/main" val="1662175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The bowed outward PPF is more realistic.  However, the linear PPF is simpler to work with, and we can learn a lot about how the economy works using the linear PPF.  In Chapter 3, we will use a linear PPF to show how trade can make two countries (or two individuals) better off. </a:t>
            </a:r>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23</a:t>
            </a:fld>
            <a:endParaRPr lang="en-US"/>
          </a:p>
        </p:txBody>
      </p:sp>
    </p:spTree>
    <p:extLst>
      <p:ext uri="{BB962C8B-B14F-4D97-AF65-F5344CB8AC3E}">
        <p14:creationId xmlns:p14="http://schemas.microsoft.com/office/powerpoint/2010/main" val="39585565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a:t>These two branches of economics are closely intertwined, yet distinct—they address different questions. </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24</a:t>
            </a:fld>
            <a:endParaRPr lang="en-US"/>
          </a:p>
        </p:txBody>
      </p:sp>
    </p:spTree>
    <p:extLst>
      <p:ext uri="{BB962C8B-B14F-4D97-AF65-F5344CB8AC3E}">
        <p14:creationId xmlns:p14="http://schemas.microsoft.com/office/powerpoint/2010/main" val="3229543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t>
            </a:r>
          </a:p>
        </p:txBody>
      </p:sp>
      <p:sp>
        <p:nvSpPr>
          <p:cNvPr id="4" name="Slide Number Placeholder 3"/>
          <p:cNvSpPr>
            <a:spLocks noGrp="1"/>
          </p:cNvSpPr>
          <p:nvPr>
            <p:ph type="sldNum" sz="quarter" idx="10"/>
          </p:nvPr>
        </p:nvSpPr>
        <p:spPr/>
        <p:txBody>
          <a:bodyPr/>
          <a:lstStyle/>
          <a:p>
            <a:fld id="{2CAF6792-DBE1-4461-97FA-F85A7B48814E}" type="slidenum">
              <a:rPr lang="en-US" smtClean="0"/>
              <a:t>25</a:t>
            </a:fld>
            <a:endParaRPr lang="en-US"/>
          </a:p>
        </p:txBody>
      </p:sp>
    </p:spTree>
    <p:extLst>
      <p:ext uri="{BB962C8B-B14F-4D97-AF65-F5344CB8AC3E}">
        <p14:creationId xmlns:p14="http://schemas.microsoft.com/office/powerpoint/2010/main" val="2947895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dirty="0">
                <a:latin typeface="+mn-lt"/>
              </a:rPr>
              <a:t>When economists are trying to explain the world, they are scientists. When they are helping improve it, they are policy advisers. </a:t>
            </a:r>
          </a:p>
          <a:p>
            <a:pPr algn="l"/>
            <a:endParaRPr lang="en-US" sz="1200" dirty="0">
              <a:latin typeface="+mn-lt"/>
            </a:endParaRPr>
          </a:p>
          <a:p>
            <a:pPr algn="l"/>
            <a:r>
              <a:rPr lang="en-US" sz="1200" b="0" i="0" u="none" strike="noStrike" baseline="0" dirty="0">
                <a:latin typeface="+mn-lt"/>
              </a:rPr>
              <a:t>Positive and normative statements are different but often intertwined. </a:t>
            </a:r>
          </a:p>
          <a:p>
            <a:pPr marL="171450" indent="-171450" algn="l">
              <a:buFont typeface="Arial" panose="020B0604020202020204" pitchFamily="34" charset="0"/>
              <a:buChar char="•"/>
            </a:pPr>
            <a:r>
              <a:rPr lang="en-US" sz="1200" b="0" i="0" u="none" strike="noStrike" baseline="0" dirty="0">
                <a:latin typeface="+mn-lt"/>
              </a:rPr>
              <a:t>Positive findings about how the world works can easily affect normative judgments about what policies are desirable. </a:t>
            </a:r>
          </a:p>
          <a:p>
            <a:pPr marL="171450" indent="-171450" algn="l">
              <a:buFont typeface="Arial" panose="020B0604020202020204" pitchFamily="34" charset="0"/>
              <a:buChar char="•"/>
            </a:pPr>
            <a:r>
              <a:rPr lang="en-US" sz="1200" b="0" i="0" u="none" strike="noStrike" baseline="0" dirty="0">
                <a:latin typeface="+mn-lt"/>
              </a:rPr>
              <a:t>And normative judgments may also influence the positive claims that researchers choose to study. </a:t>
            </a:r>
          </a:p>
          <a:p>
            <a:pPr marL="171450" indent="-171450" algn="l">
              <a:buFont typeface="Arial" panose="020B0604020202020204" pitchFamily="34" charset="0"/>
              <a:buChar char="•"/>
            </a:pPr>
            <a:r>
              <a:rPr lang="en-US" sz="1200" b="0" i="0" u="none" strike="noStrike" baseline="0" dirty="0">
                <a:latin typeface="+mn-lt"/>
              </a:rPr>
              <a:t>At its best, positive economics proceeds as a science independent of the researcher’s personal values or policy agenda.</a:t>
            </a:r>
            <a:endParaRPr lang="en-US" sz="1200" dirty="0">
              <a:latin typeface="+mn-lt"/>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26</a:t>
            </a:fld>
            <a:endParaRPr lang="en-US"/>
          </a:p>
        </p:txBody>
      </p:sp>
    </p:spTree>
    <p:extLst>
      <p:ext uri="{BB962C8B-B14F-4D97-AF65-F5344CB8AC3E}">
        <p14:creationId xmlns:p14="http://schemas.microsoft.com/office/powerpoint/2010/main" val="31848010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Allow your students</a:t>
            </a:r>
            <a:r>
              <a:rPr lang="en-US" baseline="0" dirty="0"/>
              <a:t> a few minutes to work by themselves or in groups before asking for volunteers to share their answers.  </a:t>
            </a:r>
            <a:endParaRPr lang="en-US" dirty="0"/>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27</a:t>
            </a:fld>
            <a:endParaRPr lang="en-US"/>
          </a:p>
        </p:txBody>
      </p:sp>
    </p:spTree>
    <p:extLst>
      <p:ext uri="{BB962C8B-B14F-4D97-AF65-F5344CB8AC3E}">
        <p14:creationId xmlns:p14="http://schemas.microsoft.com/office/powerpoint/2010/main" val="20568493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28</a:t>
            </a:fld>
            <a:endParaRPr lang="en-US"/>
          </a:p>
        </p:txBody>
      </p:sp>
    </p:spTree>
    <p:extLst>
      <p:ext uri="{BB962C8B-B14F-4D97-AF65-F5344CB8AC3E}">
        <p14:creationId xmlns:p14="http://schemas.microsoft.com/office/powerpoint/2010/main" val="20568493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29</a:t>
            </a:fld>
            <a:endParaRPr lang="en-US"/>
          </a:p>
        </p:txBody>
      </p:sp>
    </p:spTree>
    <p:extLst>
      <p:ext uri="{BB962C8B-B14F-4D97-AF65-F5344CB8AC3E}">
        <p14:creationId xmlns:p14="http://schemas.microsoft.com/office/powerpoint/2010/main" val="2613068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30</a:t>
            </a:fld>
            <a:endParaRPr lang="en-US"/>
          </a:p>
        </p:txBody>
      </p:sp>
    </p:spTree>
    <p:extLst>
      <p:ext uri="{BB962C8B-B14F-4D97-AF65-F5344CB8AC3E}">
        <p14:creationId xmlns:p14="http://schemas.microsoft.com/office/powerpoint/2010/main" val="7706725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economic policy in a representative democracy is a messy affair, and there are often good reasons why presidents (and other politicians) do not advance the policies that economists advocate. </a:t>
            </a:r>
          </a:p>
          <a:p>
            <a:r>
              <a:rPr lang="en-US" dirty="0"/>
              <a:t>Economists offer crucial input to the policy process, but their advice is only one ingredient of a complex recipe.</a:t>
            </a:r>
          </a:p>
        </p:txBody>
      </p:sp>
      <p:sp>
        <p:nvSpPr>
          <p:cNvPr id="4" name="Slide Number Placeholder 3"/>
          <p:cNvSpPr>
            <a:spLocks noGrp="1"/>
          </p:cNvSpPr>
          <p:nvPr>
            <p:ph type="sldNum" sz="quarter" idx="10"/>
          </p:nvPr>
        </p:nvSpPr>
        <p:spPr/>
        <p:txBody>
          <a:bodyPr/>
          <a:lstStyle/>
          <a:p>
            <a:fld id="{2CAF6792-DBE1-4461-97FA-F85A7B48814E}" type="slidenum">
              <a:rPr lang="en-US" smtClean="0"/>
              <a:t>31</a:t>
            </a:fld>
            <a:endParaRPr lang="en-US"/>
          </a:p>
        </p:txBody>
      </p:sp>
    </p:spTree>
    <p:extLst>
      <p:ext uri="{BB962C8B-B14F-4D97-AF65-F5344CB8AC3E}">
        <p14:creationId xmlns:p14="http://schemas.microsoft.com/office/powerpoint/2010/main" val="12389728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32</a:t>
            </a:fld>
            <a:endParaRPr lang="en-US"/>
          </a:p>
        </p:txBody>
      </p:sp>
    </p:spTree>
    <p:extLst>
      <p:ext uri="{BB962C8B-B14F-4D97-AF65-F5344CB8AC3E}">
        <p14:creationId xmlns:p14="http://schemas.microsoft.com/office/powerpoint/2010/main" val="14500302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“Ask the Experts” feature provides the opportunity for class discussion. </a:t>
            </a:r>
          </a:p>
          <a:p>
            <a:r>
              <a:rPr lang="en-US" sz="1200" dirty="0"/>
              <a:t>After showing the statement, you can ask your students to choose one of the options: agree, disagree, or uncertain. You can collect their answers in a variety of ways: show of hands, ballot, clicker system, etc. If time permits, you can allow students to group and discuss some of the reasons they chose their answer. </a:t>
            </a:r>
          </a:p>
          <a:p>
            <a:r>
              <a:rPr lang="en-US" sz="1200" dirty="0"/>
              <a:t>Ask the students to share with the class their reasons. Their answers will vary.</a:t>
            </a:r>
          </a:p>
          <a:p>
            <a:endParaRPr lang="en-US" sz="1200" dirty="0"/>
          </a:p>
          <a:p>
            <a:r>
              <a:rPr lang="en-US" sz="1200" dirty="0"/>
              <a:t>You can revisit this Ticket Resale feature (scalping tickets) in Chapter 6, after discussing price controls, when the students will have more tools to analyze it (allowing for tickets resale or making scalping legal removes the binding price ceiling).</a:t>
            </a:r>
            <a:endParaRPr lang="en-US" dirty="0"/>
          </a:p>
          <a:p>
            <a:endParaRPr lang="en-US" dirty="0"/>
          </a:p>
        </p:txBody>
      </p:sp>
      <p:sp>
        <p:nvSpPr>
          <p:cNvPr id="4" name="Slide Number Placeholder 3"/>
          <p:cNvSpPr>
            <a:spLocks noGrp="1"/>
          </p:cNvSpPr>
          <p:nvPr>
            <p:ph type="sldNum" sz="quarter" idx="5"/>
          </p:nvPr>
        </p:nvSpPr>
        <p:spPr/>
        <p:txBody>
          <a:bodyPr/>
          <a:lstStyle/>
          <a:p>
            <a:fld id="{2CAF6792-DBE1-4461-97FA-F85A7B48814E}" type="slidenum">
              <a:rPr lang="en-US" smtClean="0"/>
              <a:t>33</a:t>
            </a:fld>
            <a:endParaRPr lang="en-US"/>
          </a:p>
        </p:txBody>
      </p:sp>
    </p:spTree>
    <p:extLst>
      <p:ext uri="{BB962C8B-B14F-4D97-AF65-F5344CB8AC3E}">
        <p14:creationId xmlns:p14="http://schemas.microsoft.com/office/powerpoint/2010/main" val="31039158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34</a:t>
            </a:fld>
            <a:endParaRPr lang="en-US"/>
          </a:p>
        </p:txBody>
      </p:sp>
    </p:spTree>
    <p:extLst>
      <p:ext uri="{BB962C8B-B14F-4D97-AF65-F5344CB8AC3E}">
        <p14:creationId xmlns:p14="http://schemas.microsoft.com/office/powerpoint/2010/main" val="12497334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a:t>Note:  Some of the terms appearing in these statements have not yet been defined, so you may wish to define them to students as they appear on the screen.  </a:t>
            </a:r>
          </a:p>
          <a:p>
            <a:pPr eaLnBrk="1" hangingPunct="1"/>
            <a:endParaRPr lang="en-US" dirty="0"/>
          </a:p>
          <a:p>
            <a:pPr eaLnBrk="1" hangingPunct="1"/>
            <a:r>
              <a:rPr lang="en-US" dirty="0"/>
              <a:t>If you’re pressed for time, delete the following slide.</a:t>
            </a:r>
          </a:p>
          <a:p>
            <a:endParaRPr lang="en-US" dirty="0"/>
          </a:p>
        </p:txBody>
      </p:sp>
      <p:sp>
        <p:nvSpPr>
          <p:cNvPr id="4" name="Slide Number Placeholder 3"/>
          <p:cNvSpPr>
            <a:spLocks noGrp="1"/>
          </p:cNvSpPr>
          <p:nvPr>
            <p:ph type="sldNum" sz="quarter" idx="10"/>
          </p:nvPr>
        </p:nvSpPr>
        <p:spPr/>
        <p:txBody>
          <a:bodyPr/>
          <a:lstStyle/>
          <a:p>
            <a:fld id="{2CAF6792-DBE1-4461-97FA-F85A7B48814E}" type="slidenum">
              <a:rPr lang="en-US" smtClean="0"/>
              <a:t>35</a:t>
            </a:fld>
            <a:endParaRPr lang="en-US"/>
          </a:p>
        </p:txBody>
      </p:sp>
    </p:spTree>
    <p:extLst>
      <p:ext uri="{BB962C8B-B14F-4D97-AF65-F5344CB8AC3E}">
        <p14:creationId xmlns:p14="http://schemas.microsoft.com/office/powerpoint/2010/main" val="10141708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CAF6792-DBE1-4461-97FA-F85A7B48814E}" type="slidenum">
              <a:rPr lang="en-US" smtClean="0"/>
              <a:t>36</a:t>
            </a:fld>
            <a:endParaRPr lang="en-US"/>
          </a:p>
        </p:txBody>
      </p:sp>
    </p:spTree>
    <p:extLst>
      <p:ext uri="{BB962C8B-B14F-4D97-AF65-F5344CB8AC3E}">
        <p14:creationId xmlns:p14="http://schemas.microsoft.com/office/powerpoint/2010/main" val="37554291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507"/>
            <a:r>
              <a:rPr lang="en-US" dirty="0"/>
              <a:t>Suggestion:</a:t>
            </a:r>
            <a:r>
              <a:rPr lang="en-US" baseline="0" dirty="0"/>
              <a:t> For the Think-Pair-Share activities, if time allows, have students work in small groups for 5–10 minutes. Then allow student groups to share with other groups or with the entire class</a:t>
            </a:r>
            <a:r>
              <a:rPr lang="en-US" dirty="0"/>
              <a:t>.  Or, you can treat the Think-Pair-Share activity</a:t>
            </a:r>
            <a:r>
              <a:rPr lang="en-US" baseline="0" dirty="0"/>
              <a:t> as an open-to-all in-class discussion.</a:t>
            </a:r>
          </a:p>
          <a:p>
            <a:pPr defTabSz="948507"/>
            <a:endParaRPr lang="en-US" baseline="0" dirty="0"/>
          </a:p>
          <a:p>
            <a:pPr defTabSz="948507"/>
            <a:r>
              <a:rPr lang="en-US" baseline="0" dirty="0"/>
              <a:t>Since this is an introductory chapter, you should explain your students that “free trade” here means “lack of obstruction to international trade,” so no tariffs, no import quotas. </a:t>
            </a:r>
          </a:p>
          <a:p>
            <a:pPr defTabSz="948507"/>
            <a:endParaRPr lang="en-US" sz="1200" kern="1200" baseline="0" dirty="0">
              <a:solidFill>
                <a:schemeClr val="tx1"/>
              </a:solidFill>
              <a:effectLst/>
              <a:latin typeface="+mn-lt"/>
              <a:ea typeface="+mn-ea"/>
              <a:cs typeface="+mn-cs"/>
            </a:endParaRPr>
          </a:p>
          <a:p>
            <a:pPr defTabSz="948507"/>
            <a:r>
              <a:rPr lang="en-US" sz="1200" kern="1200" baseline="0" dirty="0">
                <a:solidFill>
                  <a:schemeClr val="tx1"/>
                </a:solidFill>
                <a:effectLst/>
                <a:latin typeface="+mn-lt"/>
                <a:ea typeface="+mn-ea"/>
                <a:cs typeface="+mn-cs"/>
              </a:rPr>
              <a:t>The questions and discussion points are on the next slide.</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CAF6792-DBE1-4461-97FA-F85A7B48814E}" type="slidenum">
              <a:rPr lang="en-US" smtClean="0"/>
              <a:t>37</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02060"/>
                </a:solidFill>
              </a:rPr>
              <a:t>Discussion points: </a:t>
            </a:r>
          </a:p>
          <a:p>
            <a:r>
              <a:rPr lang="en-US" sz="1200" kern="1200" dirty="0">
                <a:solidFill>
                  <a:schemeClr val="tx1"/>
                </a:solidFill>
                <a:effectLst/>
                <a:latin typeface="+mn-lt"/>
                <a:ea typeface="+mn-ea"/>
                <a:cs typeface="+mn-cs"/>
              </a:rPr>
              <a:t>A. Economists may have different scientific judg­ments. Economists may have different values. There may not really be any real disagreement because the majority of economists may actu­ally agree.</a:t>
            </a:r>
          </a:p>
          <a:p>
            <a:r>
              <a:rPr lang="en-US" sz="1200" kern="1200" dirty="0">
                <a:solidFill>
                  <a:schemeClr val="tx1"/>
                </a:solidFill>
                <a:effectLst/>
                <a:latin typeface="+mn-lt"/>
                <a:ea typeface="+mn-ea"/>
                <a:cs typeface="+mn-cs"/>
              </a:rPr>
              <a:t>B. Those opposed to free trade are likely to have different values than the majority of economists. There is not much disagreement on this issue among the mainstream economics profession.</a:t>
            </a:r>
          </a:p>
          <a:p>
            <a:r>
              <a:rPr lang="en-US" sz="1200" kern="1200" dirty="0">
                <a:solidFill>
                  <a:schemeClr val="tx1"/>
                </a:solidFill>
                <a:effectLst/>
                <a:latin typeface="+mn-lt"/>
                <a:ea typeface="+mn-ea"/>
                <a:cs typeface="+mn-cs"/>
              </a:rPr>
              <a:t>C. Yes. It suggests that impediments to inter­national trade may benefit some groups (or­ganized labor) but these impediments are unlikely to benefit the public in general. Sup­porters of these policies are promoting their own interests.</a:t>
            </a:r>
          </a:p>
        </p:txBody>
      </p:sp>
      <p:sp>
        <p:nvSpPr>
          <p:cNvPr id="4" name="Slide Number Placeholder 3"/>
          <p:cNvSpPr>
            <a:spLocks noGrp="1"/>
          </p:cNvSpPr>
          <p:nvPr>
            <p:ph type="sldNum" sz="quarter" idx="10"/>
          </p:nvPr>
        </p:nvSpPr>
        <p:spPr/>
        <p:txBody>
          <a:bodyPr/>
          <a:lstStyle/>
          <a:p>
            <a:fld id="{2CAF6792-DBE1-4461-97FA-F85A7B48814E}" type="slidenum">
              <a:rPr lang="en-US" smtClean="0"/>
              <a:t>38</a:t>
            </a:fld>
            <a:endParaRPr lang="en-US"/>
          </a:p>
        </p:txBody>
      </p:sp>
    </p:spTree>
    <p:extLst>
      <p:ext uri="{BB962C8B-B14F-4D97-AF65-F5344CB8AC3E}">
        <p14:creationId xmlns:p14="http://schemas.microsoft.com/office/powerpoint/2010/main" val="2165005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39</a:t>
            </a:fld>
            <a:endParaRPr lang="en-US"/>
          </a:p>
        </p:txBody>
      </p:sp>
    </p:spTree>
    <p:extLst>
      <p:ext uri="{BB962C8B-B14F-4D97-AF65-F5344CB8AC3E}">
        <p14:creationId xmlns:p14="http://schemas.microsoft.com/office/powerpoint/2010/main" val="11967585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CAF6792-DBE1-4461-97FA-F85A7B48814E}" type="slidenum">
              <a:rPr lang="en-US" smtClean="0"/>
              <a:t>40</a:t>
            </a:fld>
            <a:endParaRPr lang="en-US"/>
          </a:p>
        </p:txBody>
      </p:sp>
    </p:spTree>
    <p:extLst>
      <p:ext uri="{BB962C8B-B14F-4D97-AF65-F5344CB8AC3E}">
        <p14:creationId xmlns:p14="http://schemas.microsoft.com/office/powerpoint/2010/main" val="41722657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fontAlgn="base">
              <a:spcBef>
                <a:spcPct val="20000"/>
              </a:spcBef>
              <a:spcAft>
                <a:spcPct val="0"/>
              </a:spcAft>
              <a:defRPr/>
            </a:pPr>
            <a:fld id="{C148E929-2C81-42BB-92FD-6CE3916FB07A}" type="slidenum">
              <a:rPr lang="en-US" smtClean="0">
                <a:solidFill>
                  <a:srgbClr val="FFFFFF"/>
                </a:solidFill>
              </a:rPr>
              <a:pPr fontAlgn="base">
                <a:spcBef>
                  <a:spcPct val="20000"/>
                </a:spcBef>
                <a:spcAft>
                  <a:spcPct val="0"/>
                </a:spcAft>
                <a:defRPr/>
              </a:pPr>
              <a:t>‹#›</a:t>
            </a:fld>
            <a:endParaRPr lang="en-US" dirty="0">
              <a:solidFill>
                <a:srgbClr val="FFFFFF"/>
              </a:solidFill>
            </a:endParaRPr>
          </a:p>
        </p:txBody>
      </p:sp>
      <p:sp>
        <p:nvSpPr>
          <p:cNvPr id="4" name="Footer Placeholder 3"/>
          <p:cNvSpPr>
            <a:spLocks noGrp="1"/>
          </p:cNvSpPr>
          <p:nvPr>
            <p:ph type="ftr" sz="quarter" idx="11"/>
          </p:nvPr>
        </p:nvSpPr>
        <p:spPr>
          <a:xfrm>
            <a:off x="76200" y="6400800"/>
            <a:ext cx="8610600" cy="457200"/>
          </a:xfrm>
        </p:spPr>
        <p:txBody>
          <a:bodyPr/>
          <a:lstStyle>
            <a:lvl1pPr>
              <a:defRPr>
                <a:solidFill>
                  <a:schemeClr val="tx1"/>
                </a:solidFill>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Content Placeholder 5"/>
          <p:cNvSpPr>
            <a:spLocks noGrp="1"/>
          </p:cNvSpPr>
          <p:nvPr>
            <p:ph sz="quarter" idx="12" hasCustomPrompt="1"/>
          </p:nvPr>
        </p:nvSpPr>
        <p:spPr>
          <a:xfrm>
            <a:off x="5360090" y="2696511"/>
            <a:ext cx="3335336" cy="2030599"/>
          </a:xfrm>
        </p:spPr>
        <p:txBody>
          <a:bodyPr/>
          <a:lstStyle>
            <a:lvl1pPr>
              <a:defRPr>
                <a:solidFill>
                  <a:srgbClr val="4E519E"/>
                </a:solidFill>
              </a:defRPr>
            </a:lvl1pPr>
          </a:lstStyle>
          <a:p>
            <a:pPr lvl="0"/>
            <a:r>
              <a:rPr lang="en-US" dirty="0"/>
              <a:t>Ch title</a:t>
            </a:r>
          </a:p>
        </p:txBody>
      </p:sp>
      <p:sp>
        <p:nvSpPr>
          <p:cNvPr id="13" name="Rectangle 11"/>
          <p:cNvSpPr>
            <a:spLocks noChangeArrowheads="1"/>
          </p:cNvSpPr>
          <p:nvPr userDrawn="1"/>
        </p:nvSpPr>
        <p:spPr bwMode="auto">
          <a:xfrm>
            <a:off x="5486400" y="5181600"/>
            <a:ext cx="308927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400">
                <a:solidFill>
                  <a:schemeClr val="tx1"/>
                </a:solidFill>
                <a:latin typeface="Arial" pitchFamily="34" charset="0"/>
              </a:defRPr>
            </a:lvl1pPr>
            <a:lvl2pPr marL="742950" indent="-285750" eaLnBrk="0" hangingPunct="0">
              <a:defRPr sz="3400">
                <a:solidFill>
                  <a:schemeClr val="tx1"/>
                </a:solidFill>
                <a:latin typeface="Arial" pitchFamily="34" charset="0"/>
              </a:defRPr>
            </a:lvl2pPr>
            <a:lvl3pPr marL="1143000" indent="-228600" eaLnBrk="0" hangingPunct="0">
              <a:defRPr sz="3400">
                <a:solidFill>
                  <a:schemeClr val="tx1"/>
                </a:solidFill>
                <a:latin typeface="Arial" pitchFamily="34" charset="0"/>
              </a:defRPr>
            </a:lvl3pPr>
            <a:lvl4pPr marL="1600200" indent="-228600" eaLnBrk="0" hangingPunct="0">
              <a:defRPr sz="3400">
                <a:solidFill>
                  <a:schemeClr val="tx1"/>
                </a:solidFill>
                <a:latin typeface="Arial" pitchFamily="34" charset="0"/>
              </a:defRPr>
            </a:lvl4pPr>
            <a:lvl5pPr marL="2057400" indent="-228600" eaLnBrk="0" hangingPunct="0">
              <a:defRPr sz="3400">
                <a:solidFill>
                  <a:schemeClr val="tx1"/>
                </a:solidFill>
                <a:latin typeface="Arial" pitchFamily="34" charset="0"/>
              </a:defRPr>
            </a:lvl5pPr>
            <a:lvl6pPr marL="2514600" indent="-228600" algn="ctr" eaLnBrk="0" fontAlgn="base" hangingPunct="0">
              <a:spcBef>
                <a:spcPct val="20000"/>
              </a:spcBef>
              <a:spcAft>
                <a:spcPct val="0"/>
              </a:spcAft>
              <a:buChar char="•"/>
              <a:defRPr sz="3400">
                <a:solidFill>
                  <a:schemeClr val="tx1"/>
                </a:solidFill>
                <a:latin typeface="Arial" pitchFamily="34" charset="0"/>
              </a:defRPr>
            </a:lvl6pPr>
            <a:lvl7pPr marL="2971800" indent="-228600" algn="ctr" eaLnBrk="0" fontAlgn="base" hangingPunct="0">
              <a:spcBef>
                <a:spcPct val="20000"/>
              </a:spcBef>
              <a:spcAft>
                <a:spcPct val="0"/>
              </a:spcAft>
              <a:buChar char="•"/>
              <a:defRPr sz="3400">
                <a:solidFill>
                  <a:schemeClr val="tx1"/>
                </a:solidFill>
                <a:latin typeface="Arial" pitchFamily="34" charset="0"/>
              </a:defRPr>
            </a:lvl7pPr>
            <a:lvl8pPr marL="3429000" indent="-228600" algn="ctr" eaLnBrk="0" fontAlgn="base" hangingPunct="0">
              <a:spcBef>
                <a:spcPct val="20000"/>
              </a:spcBef>
              <a:spcAft>
                <a:spcPct val="0"/>
              </a:spcAft>
              <a:buChar char="•"/>
              <a:defRPr sz="3400">
                <a:solidFill>
                  <a:schemeClr val="tx1"/>
                </a:solidFill>
                <a:latin typeface="Arial" pitchFamily="34" charset="0"/>
              </a:defRPr>
            </a:lvl8pPr>
            <a:lvl9pPr marL="3886200" indent="-228600" algn="ctr" eaLnBrk="0" fontAlgn="base" hangingPunct="0">
              <a:spcBef>
                <a:spcPct val="20000"/>
              </a:spcBef>
              <a:spcAft>
                <a:spcPct val="0"/>
              </a:spcAft>
              <a:buChar char="•"/>
              <a:defRPr sz="3400">
                <a:solidFill>
                  <a:schemeClr val="tx1"/>
                </a:solidFill>
                <a:latin typeface="Arial" pitchFamily="34" charset="0"/>
              </a:defRPr>
            </a:lvl9pPr>
          </a:lstStyle>
          <a:p>
            <a:pPr algn="ctr" eaLnBrk="1" fontAlgn="base" hangingPunct="1">
              <a:lnSpc>
                <a:spcPct val="80000"/>
              </a:lnSpc>
              <a:spcBef>
                <a:spcPct val="20000"/>
              </a:spcBef>
              <a:spcAft>
                <a:spcPct val="0"/>
              </a:spcAft>
              <a:defRPr/>
            </a:pPr>
            <a:r>
              <a:rPr lang="en-US" altLang="en-US" sz="1400" dirty="0">
                <a:solidFill>
                  <a:srgbClr val="000000"/>
                </a:solidFill>
              </a:rPr>
              <a:t>Interactive</a:t>
            </a:r>
            <a:r>
              <a:rPr lang="en-US" altLang="en-US" sz="1400" baseline="0" dirty="0">
                <a:solidFill>
                  <a:srgbClr val="000000"/>
                </a:solidFill>
              </a:rPr>
              <a:t> </a:t>
            </a:r>
            <a:r>
              <a:rPr lang="en-US" altLang="en-US" sz="1400" dirty="0">
                <a:solidFill>
                  <a:srgbClr val="000000"/>
                </a:solidFill>
              </a:rPr>
              <a:t>PowerPoint Slides by: </a:t>
            </a:r>
          </a:p>
          <a:p>
            <a:pPr algn="ctr" eaLnBrk="1" fontAlgn="base" hangingPunct="1">
              <a:lnSpc>
                <a:spcPct val="80000"/>
              </a:lnSpc>
              <a:spcBef>
                <a:spcPct val="20000"/>
              </a:spcBef>
              <a:spcAft>
                <a:spcPct val="0"/>
              </a:spcAft>
              <a:defRPr/>
            </a:pPr>
            <a:r>
              <a:rPr lang="en-US" altLang="en-US" sz="1400" dirty="0">
                <a:solidFill>
                  <a:srgbClr val="000000"/>
                </a:solidFill>
              </a:rPr>
              <a:t>V.  Andreea  Chiritescu</a:t>
            </a:r>
          </a:p>
          <a:p>
            <a:pPr algn="ctr" eaLnBrk="1" fontAlgn="base" hangingPunct="1">
              <a:lnSpc>
                <a:spcPct val="80000"/>
              </a:lnSpc>
              <a:spcBef>
                <a:spcPct val="20000"/>
              </a:spcBef>
              <a:spcAft>
                <a:spcPct val="0"/>
              </a:spcAft>
              <a:defRPr/>
            </a:pPr>
            <a:r>
              <a:rPr lang="en-US" altLang="en-US" sz="1400" dirty="0">
                <a:solidFill>
                  <a:srgbClr val="000000"/>
                </a:solidFill>
              </a:rPr>
              <a:t>Eastern Illinois University</a:t>
            </a:r>
          </a:p>
        </p:txBody>
      </p:sp>
      <p:sp>
        <p:nvSpPr>
          <p:cNvPr id="2" name="Content Placeholder 8">
            <a:extLst>
              <a:ext uri="{FF2B5EF4-FFF2-40B4-BE49-F238E27FC236}">
                <a16:creationId xmlns:a16="http://schemas.microsoft.com/office/drawing/2014/main" id="{8B2DB045-08BE-8775-66CE-6B4FCE4115AF}"/>
              </a:ext>
            </a:extLst>
          </p:cNvPr>
          <p:cNvSpPr>
            <a:spLocks noGrp="1"/>
          </p:cNvSpPr>
          <p:nvPr>
            <p:ph sz="quarter" idx="4294967295"/>
          </p:nvPr>
        </p:nvSpPr>
        <p:spPr>
          <a:xfrm>
            <a:off x="5627696" y="491145"/>
            <a:ext cx="2806682" cy="2019300"/>
          </a:xfrm>
          <a:blipFill>
            <a:blip r:embed="rId2"/>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1</a:t>
            </a:r>
          </a:p>
        </p:txBody>
      </p:sp>
    </p:spTree>
    <p:extLst>
      <p:ext uri="{BB962C8B-B14F-4D97-AF65-F5344CB8AC3E}">
        <p14:creationId xmlns:p14="http://schemas.microsoft.com/office/powerpoint/2010/main" val="1524979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34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457200" y="0"/>
            <a:ext cx="8382000" cy="889000"/>
          </a:xfrm>
        </p:spPr>
        <p:txBody>
          <a:bodyPr/>
          <a:lstStyle>
            <a:lvl1pPr algn="l">
              <a:defRPr sz="4800" b="1" baseline="0">
                <a:solidFill>
                  <a:srgbClr val="4E519E"/>
                </a:solidFill>
              </a:defRPr>
            </a:lvl1pPr>
          </a:lstStyle>
          <a:p>
            <a:r>
              <a:rPr lang="en-US" dirty="0"/>
              <a:t>IN THIS ****</a:t>
            </a:r>
          </a:p>
        </p:txBody>
      </p:sp>
      <p:sp>
        <p:nvSpPr>
          <p:cNvPr id="7"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131864117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2" name="Title 1"/>
          <p:cNvSpPr>
            <a:spLocks noGrp="1"/>
          </p:cNvSpPr>
          <p:nvPr>
            <p:ph type="title" hasCustomPrompt="1"/>
          </p:nvPr>
        </p:nvSpPr>
        <p:spPr>
          <a:xfrm>
            <a:off x="0" y="8744"/>
            <a:ext cx="9144000" cy="889000"/>
          </a:xfrm>
        </p:spPr>
        <p:txBody>
          <a:bodyPr/>
          <a:lstStyle>
            <a:lvl1pPr>
              <a:defRPr b="1">
                <a:solidFill>
                  <a:srgbClr val="4E519E"/>
                </a:solidFill>
              </a:defRPr>
            </a:lvl1pPr>
          </a:lstStyle>
          <a:p>
            <a:r>
              <a:rPr lang="en-US" dirty="0"/>
              <a:t>CHAPTER ****</a:t>
            </a:r>
          </a:p>
        </p:txBody>
      </p:sp>
      <p:sp>
        <p:nvSpPr>
          <p:cNvPr id="6"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356044830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3999" cy="961900"/>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467275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6656387" cy="54229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7" name="Text Placeholder 6"/>
          <p:cNvSpPr>
            <a:spLocks noGrp="1"/>
          </p:cNvSpPr>
          <p:nvPr>
            <p:ph type="body" sz="quarter" idx="12"/>
          </p:nvPr>
        </p:nvSpPr>
        <p:spPr>
          <a:xfrm>
            <a:off x="7010400" y="4191000"/>
            <a:ext cx="2133600" cy="1295400"/>
          </a:xfrm>
        </p:spPr>
        <p:txBody>
          <a:bodyPr/>
          <a:lstStyle>
            <a:lvl1pPr marL="0" indent="0">
              <a:buNone/>
              <a:defRPr sz="2000" i="1">
                <a:solidFill>
                  <a:srgbClr val="4E519E"/>
                </a:solidFill>
                <a:latin typeface="Cambria" panose="02040503050406030204" pitchFamily="18" charset="0"/>
                <a:sym typeface="Wingdings" panose="05000000000000000000" pitchFamily="2" charset="2"/>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edit Master text styles</a:t>
            </a:r>
          </a:p>
          <a:p>
            <a:pPr lvl="0"/>
            <a:r>
              <a:rPr lang="en-US" dirty="0"/>
              <a:t>Picture comment </a:t>
            </a:r>
          </a:p>
        </p:txBody>
      </p:sp>
    </p:spTree>
    <p:extLst>
      <p:ext uri="{BB962C8B-B14F-4D97-AF65-F5344CB8AC3E}">
        <p14:creationId xmlns:p14="http://schemas.microsoft.com/office/powerpoint/2010/main" val="260046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00939"/>
            <a:ext cx="9143999" cy="860961"/>
          </a:xfrm>
        </p:spPr>
        <p:txBody>
          <a:bodyPr/>
          <a:lstStyle>
            <a:lvl1pP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277813" y="1025525"/>
            <a:ext cx="8588375" cy="2479675"/>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359857"/>
            <a:ext cx="8763000" cy="498143"/>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7" name="Text Placeholder 6"/>
          <p:cNvSpPr>
            <a:spLocks noGrp="1"/>
          </p:cNvSpPr>
          <p:nvPr>
            <p:ph type="body" sz="quarter" idx="12"/>
          </p:nvPr>
        </p:nvSpPr>
        <p:spPr>
          <a:xfrm>
            <a:off x="304800" y="3581400"/>
            <a:ext cx="8686800" cy="2590800"/>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3470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wipe(left)">
                                      <p:cBhvr>
                                        <p:cTn id="32" dur="500"/>
                                        <p:tgtEl>
                                          <p:spTgt spid="7">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animEffect transition="in" filter="wipe(left)">
                                      <p:cBhvr>
                                        <p:cTn id="40" dur="500"/>
                                        <p:tgtEl>
                                          <p:spTgt spid="7">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7">
                                            <p:txEl>
                                              <p:pRg st="4" end="4"/>
                                            </p:txEl>
                                          </p:spTgt>
                                        </p:tgtEl>
                                        <p:attrNameLst>
                                          <p:attrName>style.visibility</p:attrName>
                                        </p:attrNameLst>
                                      </p:cBhvr>
                                      <p:to>
                                        <p:strVal val="visible"/>
                                      </p:to>
                                    </p:set>
                                    <p:animEffect transition="in" filter="wipe(left)">
                                      <p:cBhvr>
                                        <p:cTn id="4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7" grpId="0" uiExpand="1" build="p">
        <p:tmplLst>
          <p:tmpl lvl="1">
            <p:tnLst>
              <p:par>
                <p:cTn presetID="22" presetClass="entr" presetSubtype="8" fill="hold" nodeType="click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500"/>
                        <p:tgtEl>
                          <p:spTgt spid="7"/>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99757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solidFill>
              </a:defRPr>
            </a:lvl1pPr>
          </a:lstStyle>
          <a:p>
            <a:r>
              <a:rPr lang="en-US" dirty="0"/>
              <a:t>Click to edit Master title style</a:t>
            </a:r>
          </a:p>
        </p:txBody>
      </p:sp>
      <p:sp>
        <p:nvSpPr>
          <p:cNvPr id="6" name="Text Placeholder 5"/>
          <p:cNvSpPr>
            <a:spLocks noGrp="1"/>
          </p:cNvSpPr>
          <p:nvPr>
            <p:ph type="body" sz="quarter" idx="12"/>
          </p:nvPr>
        </p:nvSpPr>
        <p:spPr>
          <a:xfrm>
            <a:off x="5435600" y="901700"/>
            <a:ext cx="3365500" cy="4826000"/>
          </a:xfrm>
        </p:spPr>
        <p:txBody>
          <a:bodyPr/>
          <a:lstStyle>
            <a:lvl1pPr marL="0" indent="0" algn="l">
              <a:spcBef>
                <a:spcPts val="0"/>
              </a:spcBef>
              <a:defRPr sz="1600"/>
            </a:lvl1pPr>
          </a:lstStyle>
          <a:p>
            <a:pPr lvl="0"/>
            <a:r>
              <a:rPr lang="en-US" dirty="0"/>
              <a:t>Click to edit Master text styles</a:t>
            </a:r>
          </a:p>
        </p:txBody>
      </p:sp>
      <p:sp>
        <p:nvSpPr>
          <p:cNvPr id="4" name="Rectangle 13"/>
          <p:cNvSpPr>
            <a:spLocks noGrp="1" noChangeArrowheads="1"/>
          </p:cNvSpPr>
          <p:nvPr>
            <p:ph type="sldNum" sz="quarter" idx="13"/>
          </p:nvPr>
        </p:nvSpPr>
        <p:spPr>
          <a:ln/>
        </p:spPr>
        <p:txBody>
          <a:bodyPr/>
          <a:lstStyle>
            <a:lvl1pPr>
              <a:defRPr/>
            </a:lvl1pPr>
          </a:lstStyle>
          <a:p>
            <a:pPr>
              <a:defRPr/>
            </a:pPr>
            <a:fld id="{2F37425F-5E17-4209-B948-B5CE2119E408}" type="slidenum">
              <a:rPr lang="en-US"/>
              <a:pPr>
                <a:defRPr/>
              </a:pPr>
              <a:t>‹#›</a:t>
            </a:fld>
            <a:endParaRPr lang="en-US" dirty="0"/>
          </a:p>
        </p:txBody>
      </p:sp>
      <p:sp>
        <p:nvSpPr>
          <p:cNvPr id="5" name="Footer Placeholder 4"/>
          <p:cNvSpPr>
            <a:spLocks noGrp="1"/>
          </p:cNvSpPr>
          <p:nvPr>
            <p:ph type="ftr" sz="quarter" idx="14"/>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18884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Active Learning1">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0"/>
            <a:ext cx="8518947" cy="5534025"/>
          </a:xfrm>
          <a:prstGeom prst="rect">
            <a:avLst/>
          </a:prstGeom>
        </p:spPr>
        <p:txBody>
          <a:bodyPr/>
          <a:lstStyle>
            <a:lvl1pPr>
              <a:defRPr sz="3200">
                <a:solidFill>
                  <a:schemeClr val="tx2"/>
                </a:solidFill>
              </a:defRPr>
            </a:lvl1pPr>
            <a:lvl2pPr>
              <a:defRPr sz="28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7569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3" name="Content Placeholder 2"/>
          <p:cNvSpPr>
            <a:spLocks noGrp="1"/>
          </p:cNvSpPr>
          <p:nvPr>
            <p:ph idx="1"/>
          </p:nvPr>
        </p:nvSpPr>
        <p:spPr>
          <a:xfrm>
            <a:off x="347241" y="914401"/>
            <a:ext cx="8518947" cy="2362200"/>
          </a:xfrm>
          <a:prstGeom prst="rect">
            <a:avLst/>
          </a:prstGeom>
        </p:spPr>
        <p:txBody>
          <a:bodyPr/>
          <a:lstStyle>
            <a:lvl1pPr>
              <a:defRPr sz="3200">
                <a:solidFill>
                  <a:schemeClr val="tx2"/>
                </a:solidFill>
              </a:defRPr>
            </a:lvl1pPr>
            <a:lvl2pPr>
              <a:defRPr sz="3000">
                <a:solidFill>
                  <a:schemeClr val="tx2"/>
                </a:solidFill>
              </a:defRPr>
            </a:lvl2pPr>
            <a:lvl3pPr>
              <a:defRPr sz="2400">
                <a:solidFill>
                  <a:schemeClr val="tx2"/>
                </a:solidFill>
              </a:defRPr>
            </a:lvl3pPr>
            <a:lvl4pPr>
              <a:defRPr sz="2000">
                <a:solidFill>
                  <a:schemeClr val="tx2"/>
                </a:solidFill>
              </a:defRPr>
            </a:lvl4pPr>
            <a:lvl5pPr>
              <a:defRPr sz="18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rgbClr val="4E519E"/>
                </a:solidFill>
              </a:defRPr>
            </a:lvl1pPr>
            <a:lvl2pPr>
              <a:defRPr sz="3000">
                <a:solidFill>
                  <a:srgbClr val="4E519E"/>
                </a:solidFill>
              </a:defRPr>
            </a:lvl2pPr>
            <a:lvl3pPr>
              <a:defRPr sz="2400">
                <a:solidFill>
                  <a:srgbClr val="4E519E"/>
                </a:solidFill>
              </a:defRPr>
            </a:lvl3pPr>
            <a:lvl4pPr>
              <a:defRPr sz="2000">
                <a:solidFill>
                  <a:srgbClr val="4E519E"/>
                </a:solidFill>
              </a:defRPr>
            </a:lvl4pPr>
            <a:lvl5pPr>
              <a:defRPr sz="1800">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381000" y="6324601"/>
            <a:ext cx="83820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732733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2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3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3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AL and ANS">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457200" y="6324601"/>
            <a:ext cx="83058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9687485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AE1221"/>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p:nvPr>
        </p:nvSpPr>
        <p:spPr>
          <a:xfrm>
            <a:off x="381000" y="914400"/>
            <a:ext cx="8518947" cy="5257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p:cNvSpPr>
            <a:spLocks noGrp="1"/>
          </p:cNvSpPr>
          <p:nvPr>
            <p:ph type="ftr" sz="quarter" idx="11"/>
          </p:nvPr>
        </p:nvSpPr>
        <p:spPr>
          <a:xfrm>
            <a:off x="457200" y="6324601"/>
            <a:ext cx="8305800" cy="533400"/>
          </a:xfr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69027631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L no anim">
    <p:spTree>
      <p:nvGrpSpPr>
        <p:cNvPr id="1" name=""/>
        <p:cNvGrpSpPr/>
        <p:nvPr/>
      </p:nvGrpSpPr>
      <p:grpSpPr>
        <a:xfrm>
          <a:off x="0" y="0"/>
          <a:ext cx="0" cy="0"/>
          <a:chOff x="0" y="0"/>
          <a:chExt cx="0" cy="0"/>
        </a:xfrm>
      </p:grpSpPr>
      <p:sp>
        <p:nvSpPr>
          <p:cNvPr id="2" name="Title 1"/>
          <p:cNvSpPr>
            <a:spLocks noGrp="1"/>
          </p:cNvSpPr>
          <p:nvPr>
            <p:ph type="title"/>
          </p:nvPr>
        </p:nvSpPr>
        <p:spPr>
          <a:xfrm>
            <a:off x="76200" y="100939"/>
            <a:ext cx="8915400" cy="661061"/>
          </a:xfrm>
        </p:spPr>
        <p:txBody>
          <a:bodyPr/>
          <a:lstStyle>
            <a:lvl1pPr>
              <a:defRPr sz="3200">
                <a:solidFill>
                  <a:srgbClr val="002060"/>
                </a:solidFill>
              </a:defRPr>
            </a:lvl1pPr>
          </a:lstStyle>
          <a:p>
            <a:r>
              <a:rPr lang="en-US" dirty="0"/>
              <a:t>Click to edit Master title style</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6" name="Content Placeholder 2"/>
          <p:cNvSpPr>
            <a:spLocks noGrp="1"/>
          </p:cNvSpPr>
          <p:nvPr>
            <p:ph idx="12" hasCustomPrompt="1"/>
          </p:nvPr>
        </p:nvSpPr>
        <p:spPr>
          <a:xfrm>
            <a:off x="381000" y="3200400"/>
            <a:ext cx="8518947" cy="2971800"/>
          </a:xfrm>
          <a:prstGeom prst="rect">
            <a:avLst/>
          </a:prstGeom>
        </p:spPr>
        <p:txBody>
          <a:bodyPr/>
          <a:lstStyle>
            <a:lvl1pPr>
              <a:defRPr sz="3000">
                <a:solidFill>
                  <a:schemeClr val="tx1"/>
                </a:solidFill>
              </a:defRPr>
            </a:lvl1pPr>
            <a:lvl2pPr>
              <a:defRPr sz="3000">
                <a:solidFill>
                  <a:schemeClr val="tx1"/>
                </a:solidFill>
              </a:defRPr>
            </a:lvl2pPr>
            <a:lvl3pPr>
              <a:defRPr sz="2400">
                <a:solidFill>
                  <a:schemeClr val="tx1"/>
                </a:solidFill>
              </a:defRPr>
            </a:lvl3pPr>
            <a:lvl4pPr>
              <a:defRPr sz="2000">
                <a:solidFill>
                  <a:schemeClr val="tx1"/>
                </a:solidFill>
              </a:defRPr>
            </a:lvl4pPr>
            <a:lvl5pPr>
              <a:defRPr sz="1800">
                <a:solidFill>
                  <a:schemeClr val="tx1"/>
                </a:solidFill>
              </a:defRPr>
            </a:lvl5pPr>
          </a:lstStyle>
          <a:p>
            <a:pPr lvl="0"/>
            <a:r>
              <a:rPr lang="en-US" dirty="0"/>
              <a:t>Click to edit Master text styles NO ANIM</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7212337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solidFill>
                  <a:srgbClr val="4E519E"/>
                </a:solidFill>
              </a:defRPr>
            </a:lvl1pPr>
          </a:lstStyle>
          <a:p>
            <a:r>
              <a:rPr lang="en-US" dirty="0"/>
              <a:t>Click to edit Master title style</a:t>
            </a:r>
          </a:p>
        </p:txBody>
      </p:sp>
      <p:sp>
        <p:nvSpPr>
          <p:cNvPr id="3" name="Content Placeholder 2"/>
          <p:cNvSpPr>
            <a:spLocks noGrp="1"/>
          </p:cNvSpPr>
          <p:nvPr>
            <p:ph idx="1"/>
          </p:nvPr>
        </p:nvSpPr>
        <p:spPr>
          <a:xfrm>
            <a:off x="457200" y="688622"/>
            <a:ext cx="8458200" cy="5788378"/>
          </a:xfrm>
        </p:spPr>
        <p:txBody>
          <a:bodyPr/>
          <a:lstStyle>
            <a:lvl1pPr>
              <a:defRPr>
                <a:solidFill>
                  <a:srgbClr val="AE122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642464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57150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xfrm>
            <a:off x="8763000" y="6477000"/>
            <a:ext cx="381000" cy="381000"/>
          </a:xfrm>
          <a:ln/>
        </p:spPr>
        <p:txBody>
          <a:bodyPr/>
          <a:lstStyle>
            <a:lvl1pPr>
              <a:defRPr/>
            </a:lvl1pPr>
          </a:lstStyle>
          <a:p>
            <a:pPr>
              <a:defRPr/>
            </a:pPr>
            <a:fld id="{F9168CB8-64E8-4A17-9AA1-DC0C06686103}" type="slidenum">
              <a:rPr lang="en-US"/>
              <a:pPr>
                <a:defRPr/>
              </a:pPr>
              <a:t>‹#›</a:t>
            </a:fld>
            <a:endParaRPr lang="en-US" dirty="0"/>
          </a:p>
        </p:txBody>
      </p:sp>
    </p:spTree>
    <p:extLst>
      <p:ext uri="{BB962C8B-B14F-4D97-AF65-F5344CB8AC3E}">
        <p14:creationId xmlns:p14="http://schemas.microsoft.com/office/powerpoint/2010/main" val="242946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457200" y="762000"/>
            <a:ext cx="8458200" cy="2362200"/>
          </a:xfrm>
        </p:spPr>
        <p:txBody>
          <a:bodyPr/>
          <a:lstStyle>
            <a:lvl1pPr>
              <a:defRPr>
                <a:solidFill>
                  <a:srgbClr val="4E519E"/>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F9168CB8-64E8-4A17-9AA1-DC0C06686103}" type="slidenum">
              <a:rPr lang="en-US"/>
              <a:pPr>
                <a:defRPr/>
              </a:pPr>
              <a:t>‹#›</a:t>
            </a:fld>
            <a:endParaRPr lang="en-US" dirty="0"/>
          </a:p>
        </p:txBody>
      </p:sp>
      <p:sp>
        <p:nvSpPr>
          <p:cNvPr id="6" name="Content Placeholder 2"/>
          <p:cNvSpPr>
            <a:spLocks noGrp="1"/>
          </p:cNvSpPr>
          <p:nvPr>
            <p:ph idx="12"/>
          </p:nvPr>
        </p:nvSpPr>
        <p:spPr>
          <a:xfrm>
            <a:off x="457200" y="3124200"/>
            <a:ext cx="8458200" cy="3200400"/>
          </a:xfrm>
        </p:spPr>
        <p:txBody>
          <a:bodyPr/>
          <a:lstStyle>
            <a:lvl1pPr>
              <a:defRPr>
                <a:solidFill>
                  <a:srgbClr val="4E519E"/>
                </a:solidFill>
              </a:defRPr>
            </a:lvl1pPr>
            <a:lvl2pPr>
              <a:defRPr>
                <a:solidFill>
                  <a:srgbClr val="4E519E"/>
                </a:solidFill>
              </a:defRPr>
            </a:lvl2pPr>
            <a:lvl3pPr>
              <a:defRPr>
                <a:solidFill>
                  <a:srgbClr val="4E519E"/>
                </a:solidFill>
              </a:defRPr>
            </a:lvl3pPr>
            <a:lvl4pPr>
              <a:defRPr>
                <a:solidFill>
                  <a:srgbClr val="4E519E"/>
                </a:solidFill>
              </a:defRPr>
            </a:lvl4pPr>
            <a:lvl5pPr>
              <a:defRPr>
                <a:solidFill>
                  <a:srgbClr val="4E519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8548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wipe(left)">
                                      <p:cBhvr>
                                        <p:cTn id="28" dur="500"/>
                                        <p:tgtEl>
                                          <p:spTgt spid="6">
                                            <p:txEl>
                                              <p:pRg st="0" end="0"/>
                                            </p:txEl>
                                          </p:spTgt>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wipe(left)">
                                      <p:cBhvr>
                                        <p:cTn id="32" dur="500"/>
                                        <p:tgtEl>
                                          <p:spTgt spid="6">
                                            <p:txEl>
                                              <p:pRg st="1" end="1"/>
                                            </p:txEl>
                                          </p:spTgt>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Effect transition="in" filter="wipe(left)">
                                      <p:cBhvr>
                                        <p:cTn id="36" dur="500"/>
                                        <p:tgtEl>
                                          <p:spTgt spid="6">
                                            <p:txEl>
                                              <p:pRg st="2" end="2"/>
                                            </p:txEl>
                                          </p:spTgt>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6">
                                            <p:txEl>
                                              <p:pRg st="3" end="3"/>
                                            </p:txEl>
                                          </p:spTgt>
                                        </p:tgtEl>
                                        <p:attrNameLst>
                                          <p:attrName>style.visibility</p:attrName>
                                        </p:attrNameLst>
                                      </p:cBhvr>
                                      <p:to>
                                        <p:strVal val="visible"/>
                                      </p:to>
                                    </p:set>
                                    <p:animEffect transition="in" filter="wipe(left)">
                                      <p:cBhvr>
                                        <p:cTn id="40" dur="500"/>
                                        <p:tgtEl>
                                          <p:spTgt spid="6">
                                            <p:txEl>
                                              <p:pRg st="3" end="3"/>
                                            </p:txEl>
                                          </p:spTgt>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6">
                                            <p:txEl>
                                              <p:pRg st="4" end="4"/>
                                            </p:txEl>
                                          </p:spTgt>
                                        </p:tgtEl>
                                        <p:attrNameLst>
                                          <p:attrName>style.visibility</p:attrName>
                                        </p:attrNameLst>
                                      </p:cBhvr>
                                      <p:to>
                                        <p:strVal val="visible"/>
                                      </p:to>
                                    </p:set>
                                    <p:animEffect transition="in" filter="wipe(left)">
                                      <p:cBhvr>
                                        <p:cTn id="44"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P spid="6" grpId="0" uiExpand="1" build="p">
        <p:tmplLst>
          <p:tmpl lvl="1">
            <p:tnLst>
              <p:par>
                <p:cTn presetID="22" presetClass="entr" presetSubtype="8" fill="hold" nodeType="click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400801"/>
            <a:ext cx="8763000" cy="457200"/>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178631670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3"/>
          <p:cNvSpPr>
            <a:spLocks noGrp="1" noChangeArrowheads="1"/>
          </p:cNvSpPr>
          <p:nvPr>
            <p:ph type="sldNum" sz="quarter" idx="10"/>
          </p:nvPr>
        </p:nvSpPr>
        <p:spPr/>
        <p:txBody>
          <a:bodyPr/>
          <a:lstStyle>
            <a:lvl1pPr>
              <a:defRPr/>
            </a:lvl1pPr>
          </a:lstStyle>
          <a:p>
            <a:pPr>
              <a:defRPr/>
            </a:pPr>
            <a:fld id="{073C29DC-2178-4274-9150-45F8EBD31C2D}" type="slidenum">
              <a:rPr lang="en-US"/>
              <a:pPr>
                <a:defRPr/>
              </a:pPr>
              <a:t>‹#›</a:t>
            </a:fld>
            <a:endParaRPr lang="en-US"/>
          </a:p>
        </p:txBody>
      </p:sp>
      <p:sp>
        <p:nvSpPr>
          <p:cNvPr id="5" name="Footer Placeholder 4"/>
          <p:cNvSpPr>
            <a:spLocks noGrp="1"/>
          </p:cNvSpPr>
          <p:nvPr>
            <p:ph type="ftr" sz="quarter" idx="11"/>
          </p:nvPr>
        </p:nvSpPr>
        <p:spPr>
          <a:xfrm>
            <a:off x="0" y="6400801"/>
            <a:ext cx="8763000" cy="457200"/>
          </a:xfrm>
          <a:prstGeom prst="rect">
            <a:avLst/>
          </a:prstGeom>
        </p:spPr>
        <p:txBody>
          <a:bodyPr/>
          <a:lstStyle>
            <a:lvl1pPr>
              <a:defRPr/>
            </a:lvl1p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itle 1"/>
          <p:cNvSpPr>
            <a:spLocks noGrp="1"/>
          </p:cNvSpPr>
          <p:nvPr>
            <p:ph type="title" hasCustomPrompt="1"/>
          </p:nvPr>
        </p:nvSpPr>
        <p:spPr>
          <a:xfrm>
            <a:off x="0" y="8744"/>
            <a:ext cx="9144000" cy="889000"/>
          </a:xfrm>
        </p:spPr>
        <p:txBody>
          <a:bodyPr/>
          <a:lstStyle>
            <a:lvl1pPr>
              <a:defRPr b="1"/>
            </a:lvl1pPr>
          </a:lstStyle>
          <a:p>
            <a:r>
              <a:rPr lang="en-US" dirty="0"/>
              <a:t>CHAPTER ****</a:t>
            </a:r>
          </a:p>
        </p:txBody>
      </p:sp>
    </p:spTree>
    <p:extLst>
      <p:ext uri="{BB962C8B-B14F-4D97-AF65-F5344CB8AC3E}">
        <p14:creationId xmlns:p14="http://schemas.microsoft.com/office/powerpoint/2010/main" val="225963230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6" name="Text Placeholder 5"/>
          <p:cNvSpPr>
            <a:spLocks noGrp="1"/>
          </p:cNvSpPr>
          <p:nvPr>
            <p:ph type="body" sz="quarter" idx="12" hasCustomPrompt="1"/>
          </p:nvPr>
        </p:nvSpPr>
        <p:spPr>
          <a:xfrm>
            <a:off x="1600200" y="533400"/>
            <a:ext cx="7315200" cy="533400"/>
          </a:xfrm>
          <a:noFill/>
        </p:spPr>
        <p:txBody>
          <a:bodyPr/>
          <a:lstStyle>
            <a:lvl1pPr marL="0" indent="0">
              <a:buNone/>
              <a:defRPr sz="3200" i="0">
                <a:solidFill>
                  <a:schemeClr val="tx1"/>
                </a:solidFill>
                <a:latin typeface="+mn-lt"/>
              </a:defRPr>
            </a:lvl1pPr>
            <a:lvl2pPr marL="457200" indent="0">
              <a:buNone/>
              <a:defRPr sz="3600" i="0">
                <a:latin typeface="Georgia" panose="02040502050405020303" pitchFamily="18" charset="0"/>
              </a:defRPr>
            </a:lvl2pPr>
            <a:lvl3pPr marL="914400" indent="0">
              <a:buNone/>
              <a:defRPr/>
            </a:lvl3pPr>
            <a:lvl4pPr marL="1371600" indent="0">
              <a:buNone/>
              <a:defRPr/>
            </a:lvl4pPr>
            <a:lvl5pPr marL="1828800" indent="0">
              <a:buNone/>
              <a:defRPr/>
            </a:lvl5pPr>
          </a:lstStyle>
          <a:p>
            <a:pPr lvl="1"/>
            <a:r>
              <a:rPr lang="en-US" dirty="0"/>
              <a:t>Click to edit title (Georgia 36)</a:t>
            </a:r>
          </a:p>
        </p:txBody>
      </p:sp>
      <p:sp>
        <p:nvSpPr>
          <p:cNvPr id="9" name="Text Placeholder 5"/>
          <p:cNvSpPr>
            <a:spLocks noGrp="1"/>
          </p:cNvSpPr>
          <p:nvPr>
            <p:ph type="body" sz="quarter" idx="14"/>
          </p:nvPr>
        </p:nvSpPr>
        <p:spPr>
          <a:xfrm>
            <a:off x="228600" y="1600200"/>
            <a:ext cx="8686800" cy="4267200"/>
          </a:xfrm>
        </p:spPr>
        <p:txBody>
          <a:bodyPr/>
          <a:lstStyle>
            <a:lvl1pPr marL="0" indent="0">
              <a:buNone/>
              <a:defRPr sz="3200" i="1">
                <a:solidFill>
                  <a:srgbClr val="AE1221"/>
                </a:solidFill>
                <a:latin typeface="Cambria" panose="0204050305040603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a:p>
            <a:pPr lvl="0"/>
            <a:endParaRPr lang="en-US" dirty="0"/>
          </a:p>
        </p:txBody>
      </p:sp>
    </p:spTree>
    <p:extLst>
      <p:ext uri="{BB962C8B-B14F-4D97-AF65-F5344CB8AC3E}">
        <p14:creationId xmlns:p14="http://schemas.microsoft.com/office/powerpoint/2010/main" val="3695449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605119"/>
            <a:ext cx="8492836" cy="5836624"/>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7"/>
          <p:cNvSpPr>
            <a:spLocks noGrp="1" noChangeArrowheads="1"/>
          </p:cNvSpPr>
          <p:nvPr>
            <p:ph type="sldNum" sz="quarter" idx="10"/>
          </p:nvPr>
        </p:nvSpPr>
        <p:spPr>
          <a:ln/>
        </p:spPr>
        <p:txBody>
          <a:bodyPr/>
          <a:lstStyle>
            <a:lvl1pPr>
              <a:defRPr/>
            </a:lvl1pPr>
          </a:lstStyle>
          <a:p>
            <a:pPr>
              <a:defRPr/>
            </a:pPr>
            <a:fld id="{7FD95AB8-5D89-46A9-8508-FFECD7F10317}" type="slidenum">
              <a:rPr lang="en-US"/>
              <a:pPr>
                <a:defRPr/>
              </a:pPr>
              <a:t>‹#›</a:t>
            </a:fld>
            <a:endParaRPr lang="en-US" dirty="0"/>
          </a:p>
        </p:txBody>
      </p:sp>
    </p:spTree>
    <p:extLst>
      <p:ext uri="{BB962C8B-B14F-4D97-AF65-F5344CB8AC3E}">
        <p14:creationId xmlns:p14="http://schemas.microsoft.com/office/powerpoint/2010/main" val="503719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4.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5.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11.xml"/><Relationship Id="rId7" Type="http://schemas.openxmlformats.org/officeDocument/2006/relationships/image" Target="../media/image16.emf"/><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6.xml"/><Relationship Id="rId5" Type="http://schemas.openxmlformats.org/officeDocument/2006/relationships/slideLayout" Target="../slideLayouts/slideLayout13.xml"/><Relationship Id="rId10" Type="http://schemas.openxmlformats.org/officeDocument/2006/relationships/image" Target="../media/image18.png"/><Relationship Id="rId4" Type="http://schemas.openxmlformats.org/officeDocument/2006/relationships/slideLayout" Target="../slideLayouts/slideLayout12.xml"/><Relationship Id="rId9" Type="http://schemas.openxmlformats.org/officeDocument/2006/relationships/image" Target="../media/image17.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theme" Target="../theme/theme7.xml"/><Relationship Id="rId1" Type="http://schemas.openxmlformats.org/officeDocument/2006/relationships/slideLayout" Target="../slideLayouts/slideLayout14.xml"/><Relationship Id="rId4" Type="http://schemas.openxmlformats.org/officeDocument/2006/relationships/image" Target="../media/image20.png"/></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slideLayout" Target="../slideLayouts/slideLayout17.xml"/><Relationship Id="rId7" Type="http://schemas.openxmlformats.org/officeDocument/2006/relationships/image" Target="../media/image22.png"/><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image" Target="../media/image21.png"/><Relationship Id="rId5" Type="http://schemas.openxmlformats.org/officeDocument/2006/relationships/theme" Target="../theme/theme8.xml"/><Relationship Id="rId4"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theme" Target="../theme/theme9.xml"/><Relationship Id="rId1" Type="http://schemas.openxmlformats.org/officeDocument/2006/relationships/slideLayout" Target="../slideLayouts/slideLayout1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theme" Target="../theme/theme10.xml"/><Relationship Id="rId1" Type="http://schemas.openxmlformats.org/officeDocument/2006/relationships/slideLayout" Target="../slideLayouts/slideLayout20.xml"/><Relationship Id="rId5" Type="http://schemas.openxmlformats.org/officeDocument/2006/relationships/image" Target="../media/image31.png"/><Relationship Id="rId4" Type="http://schemas.openxmlformats.org/officeDocument/2006/relationships/image" Target="../media/image30.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Picture 7" descr="Graphical user interface, application, Word&#10;&#10;Description automatically generated">
            <a:extLst>
              <a:ext uri="{FF2B5EF4-FFF2-40B4-BE49-F238E27FC236}">
                <a16:creationId xmlns:a16="http://schemas.microsoft.com/office/drawing/2014/main" id="{E9B11B6E-9615-7F0C-3B0A-DB8437E05A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59640" y="76200"/>
            <a:ext cx="1708160" cy="1524000"/>
          </a:xfrm>
          <a:prstGeom prst="rect">
            <a:avLst/>
          </a:prstGeom>
        </p:spPr>
      </p:pic>
      <p:pic>
        <p:nvPicPr>
          <p:cNvPr id="9" name="Picture 8" descr="Graphical user interface, application, Word&#10;&#10;Description automatically generated">
            <a:extLst>
              <a:ext uri="{FF2B5EF4-FFF2-40B4-BE49-F238E27FC236}">
                <a16:creationId xmlns:a16="http://schemas.microsoft.com/office/drawing/2014/main" id="{620D8FBC-857E-BE90-7729-A8DBA01FD4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a:off x="5105400" y="4780472"/>
            <a:ext cx="1708160" cy="1524000"/>
          </a:xfrm>
          <a:prstGeom prst="rect">
            <a:avLst/>
          </a:prstGeom>
        </p:spPr>
      </p:pic>
      <p:sp>
        <p:nvSpPr>
          <p:cNvPr id="2" name="Slide Number Placeholder 1"/>
          <p:cNvSpPr>
            <a:spLocks noGrp="1"/>
          </p:cNvSpPr>
          <p:nvPr>
            <p:ph type="sldNum" sz="quarter" idx="4"/>
          </p:nvPr>
        </p:nvSpPr>
        <p:spPr>
          <a:xfrm>
            <a:off x="8521700" y="6484938"/>
            <a:ext cx="622300" cy="409575"/>
          </a:xfrm>
          <a:prstGeom prst="rect">
            <a:avLst/>
          </a:prstGeom>
          <a:noFill/>
        </p:spPr>
        <p:txBody>
          <a:bodyPr vert="horz" lIns="91440" tIns="45720" rIns="91440" bIns="45720" rtlCol="0" anchor="ctr"/>
          <a:lstStyle>
            <a:lvl1pPr algn="r">
              <a:buFontTx/>
              <a:buNone/>
              <a:defRPr sz="1200">
                <a:solidFill>
                  <a:schemeClr val="bg1"/>
                </a:solidFill>
              </a:defRPr>
            </a:lvl1pPr>
          </a:lstStyle>
          <a:p>
            <a:pPr fontAlgn="base">
              <a:spcBef>
                <a:spcPct val="20000"/>
              </a:spcBef>
              <a:spcAft>
                <a:spcPct val="0"/>
              </a:spcAft>
              <a:defRPr/>
            </a:pPr>
            <a:fld id="{C148E929-2C81-42BB-92FD-6CE3916FB07A}" type="slidenum">
              <a:rPr lang="en-US">
                <a:solidFill>
                  <a:srgbClr val="FFFFFF"/>
                </a:solidFill>
              </a:rPr>
              <a:pPr fontAlgn="base">
                <a:spcBef>
                  <a:spcPct val="20000"/>
                </a:spcBef>
                <a:spcAft>
                  <a:spcPct val="0"/>
                </a:spcAft>
                <a:defRPr/>
              </a:pPr>
              <a:t>‹#›</a:t>
            </a:fld>
            <a:endParaRPr lang="en-US" dirty="0">
              <a:solidFill>
                <a:srgbClr val="FFFFFF"/>
              </a:solidFill>
            </a:endParaRPr>
          </a:p>
        </p:txBody>
      </p:sp>
      <p:sp>
        <p:nvSpPr>
          <p:cNvPr id="3" name="Footer Placeholder 2"/>
          <p:cNvSpPr>
            <a:spLocks noGrp="1"/>
          </p:cNvSpPr>
          <p:nvPr>
            <p:ph type="ftr" sz="quarter" idx="3"/>
          </p:nvPr>
        </p:nvSpPr>
        <p:spPr>
          <a:xfrm>
            <a:off x="533400" y="6400800"/>
            <a:ext cx="81534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6" name="Text Placeholder 5"/>
          <p:cNvSpPr>
            <a:spLocks noGrp="1"/>
          </p:cNvSpPr>
          <p:nvPr>
            <p:ph type="body" idx="1"/>
          </p:nvPr>
        </p:nvSpPr>
        <p:spPr>
          <a:xfrm>
            <a:off x="5410200" y="3352801"/>
            <a:ext cx="3276600" cy="2438400"/>
          </a:xfrm>
          <a:prstGeom prst="rect">
            <a:avLst/>
          </a:prstGeom>
        </p:spPr>
        <p:txBody>
          <a:bodyPr vert="horz" lIns="91440" tIns="45720" rIns="91440" bIns="45720" rtlCol="0">
            <a:normAutofit/>
          </a:bodyPr>
          <a:lstStyle/>
          <a:p>
            <a:pPr lvl="0"/>
            <a:r>
              <a:rPr lang="en-US" dirty="0"/>
              <a:t>Chapter title</a:t>
            </a:r>
          </a:p>
        </p:txBody>
      </p:sp>
      <p:sp>
        <p:nvSpPr>
          <p:cNvPr id="13" name="Content Placeholder 10">
            <a:extLst>
              <a:ext uri="{FF2B5EF4-FFF2-40B4-BE49-F238E27FC236}">
                <a16:creationId xmlns:a16="http://schemas.microsoft.com/office/drawing/2014/main" id="{486EB530-E7B8-F66D-2025-07563BFAEE72}"/>
              </a:ext>
            </a:extLst>
          </p:cNvPr>
          <p:cNvSpPr txBox="1">
            <a:spLocks/>
          </p:cNvSpPr>
          <p:nvPr userDrawn="1"/>
        </p:nvSpPr>
        <p:spPr>
          <a:xfrm>
            <a:off x="0" y="6009870"/>
            <a:ext cx="4089260" cy="314730"/>
          </a:xfrm>
          <a:prstGeom prst="rect">
            <a:avLst/>
          </a:prstGeom>
        </p:spPr>
        <p:txBody>
          <a:bodyPr>
            <a:noAutofit/>
          </a:bodyPr>
          <a:lst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r"/>
            <a:r>
              <a:rPr lang="en-US" sz="1600" kern="0" dirty="0">
                <a:solidFill>
                  <a:schemeClr val="bg1"/>
                </a:solidFill>
              </a:rPr>
              <a:t>TENTH EDITION</a:t>
            </a:r>
          </a:p>
        </p:txBody>
      </p:sp>
      <p:pic>
        <p:nvPicPr>
          <p:cNvPr id="5" name="Picture 4">
            <a:extLst>
              <a:ext uri="{FF2B5EF4-FFF2-40B4-BE49-F238E27FC236}">
                <a16:creationId xmlns:a16="http://schemas.microsoft.com/office/drawing/2014/main" id="{BE55F61A-BD22-31EE-55B9-798DE9BBA8EE}"/>
              </a:ext>
            </a:extLst>
          </p:cNvPr>
          <p:cNvPicPr>
            <a:picLocks noChangeAspect="1"/>
          </p:cNvPicPr>
          <p:nvPr userDrawn="1"/>
        </p:nvPicPr>
        <p:blipFill>
          <a:blip r:embed="rId4"/>
          <a:stretch>
            <a:fillRect/>
          </a:stretch>
        </p:blipFill>
        <p:spPr>
          <a:xfrm>
            <a:off x="-1" y="1439"/>
            <a:ext cx="4953001" cy="6362582"/>
          </a:xfrm>
          <a:prstGeom prst="rect">
            <a:avLst/>
          </a:prstGeom>
        </p:spPr>
      </p:pic>
    </p:spTree>
    <p:extLst>
      <p:ext uri="{BB962C8B-B14F-4D97-AF65-F5344CB8AC3E}">
        <p14:creationId xmlns:p14="http://schemas.microsoft.com/office/powerpoint/2010/main" val="1102133550"/>
      </p:ext>
    </p:extLst>
  </p:cSld>
  <p:clrMap bg1="lt1" tx1="dk1" bg2="lt2" tx2="dk2" accent1="accent1" accent2="accent2" accent3="accent3" accent4="accent4" accent5="accent5" accent6="accent6" hlink="hlink" folHlink="folHlink"/>
  <p:sldLayoutIdLst>
    <p:sldLayoutId id="2147483695"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l" rtl="0" eaLnBrk="0" fontAlgn="base" hangingPunct="0">
        <a:spcBef>
          <a:spcPct val="0"/>
        </a:spcBef>
        <a:spcAft>
          <a:spcPct val="0"/>
        </a:spcAft>
        <a:defRPr sz="4400">
          <a:solidFill>
            <a:schemeClr val="accent2"/>
          </a:solidFill>
          <a:latin typeface="Sabon-Bold" charset="0"/>
        </a:defRPr>
      </a:lvl2pPr>
      <a:lvl3pPr algn="l" rtl="0" eaLnBrk="0" fontAlgn="base" hangingPunct="0">
        <a:spcBef>
          <a:spcPct val="0"/>
        </a:spcBef>
        <a:spcAft>
          <a:spcPct val="0"/>
        </a:spcAft>
        <a:defRPr sz="4400">
          <a:solidFill>
            <a:schemeClr val="accent2"/>
          </a:solidFill>
          <a:latin typeface="Sabon-Bold" charset="0"/>
        </a:defRPr>
      </a:lvl3pPr>
      <a:lvl4pPr algn="l" rtl="0" eaLnBrk="0" fontAlgn="base" hangingPunct="0">
        <a:spcBef>
          <a:spcPct val="0"/>
        </a:spcBef>
        <a:spcAft>
          <a:spcPct val="0"/>
        </a:spcAft>
        <a:defRPr sz="4400">
          <a:solidFill>
            <a:schemeClr val="accent2"/>
          </a:solidFill>
          <a:latin typeface="Sabon-Bold" charset="0"/>
        </a:defRPr>
      </a:lvl4pPr>
      <a:lvl5pPr algn="l" rtl="0" eaLnBrk="0" fontAlgn="base" hangingPunct="0">
        <a:spcBef>
          <a:spcPct val="0"/>
        </a:spcBef>
        <a:spcAft>
          <a:spcPct val="0"/>
        </a:spcAft>
        <a:defRPr sz="4400">
          <a:solidFill>
            <a:schemeClr val="accent2"/>
          </a:solidFill>
          <a:latin typeface="Sabon-Bold" charset="0"/>
        </a:defRPr>
      </a:lvl5pPr>
      <a:lvl6pPr marL="457200" algn="l" rtl="0" fontAlgn="base">
        <a:spcBef>
          <a:spcPct val="0"/>
        </a:spcBef>
        <a:spcAft>
          <a:spcPct val="0"/>
        </a:spcAft>
        <a:defRPr sz="4400">
          <a:solidFill>
            <a:schemeClr val="accent2"/>
          </a:solidFill>
          <a:latin typeface="Sabon-Bold" charset="0"/>
        </a:defRPr>
      </a:lvl6pPr>
      <a:lvl7pPr marL="914400" algn="l" rtl="0" fontAlgn="base">
        <a:spcBef>
          <a:spcPct val="0"/>
        </a:spcBef>
        <a:spcAft>
          <a:spcPct val="0"/>
        </a:spcAft>
        <a:defRPr sz="4400">
          <a:solidFill>
            <a:schemeClr val="accent2"/>
          </a:solidFill>
          <a:latin typeface="Sabon-Bold" charset="0"/>
        </a:defRPr>
      </a:lvl7pPr>
      <a:lvl8pPr marL="1371600" algn="l" rtl="0" fontAlgn="base">
        <a:spcBef>
          <a:spcPct val="0"/>
        </a:spcBef>
        <a:spcAft>
          <a:spcPct val="0"/>
        </a:spcAft>
        <a:defRPr sz="4400">
          <a:solidFill>
            <a:schemeClr val="accent2"/>
          </a:solidFill>
          <a:latin typeface="Sabon-Bold" charset="0"/>
        </a:defRPr>
      </a:lvl8pPr>
      <a:lvl9pPr marL="1828800" algn="l" rtl="0" fontAlgn="base">
        <a:spcBef>
          <a:spcPct val="0"/>
        </a:spcBef>
        <a:spcAft>
          <a:spcPct val="0"/>
        </a:spcAft>
        <a:defRPr sz="4400">
          <a:solidFill>
            <a:schemeClr val="accent2"/>
          </a:solidFill>
          <a:latin typeface="Sabon-Bold" charset="0"/>
        </a:defRPr>
      </a:lvl9pPr>
    </p:titleStyle>
    <p:bodyStyle>
      <a:lvl1pPr marL="0" indent="0" algn="l" rtl="0" eaLnBrk="0" fontAlgn="base" hangingPunct="0">
        <a:spcBef>
          <a:spcPct val="20000"/>
        </a:spcBef>
        <a:spcAft>
          <a:spcPct val="0"/>
        </a:spcAft>
        <a:buNone/>
        <a:defRPr sz="3200" baseline="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0AAF-20EA-4DB4-8DC2-C520C0BC20A4}"/>
              </a:ext>
            </a:extLst>
          </p:cNvPr>
          <p:cNvPicPr>
            <a:picLocks noChangeAspect="1"/>
          </p:cNvPicPr>
          <p:nvPr userDrawn="1"/>
        </p:nvPicPr>
        <p:blipFill>
          <a:blip r:embed="rId4"/>
          <a:stretch>
            <a:fillRect/>
          </a:stretch>
        </p:blipFill>
        <p:spPr>
          <a:xfrm>
            <a:off x="179694" y="990600"/>
            <a:ext cx="8964306" cy="5486400"/>
          </a:xfrm>
          <a:prstGeom prst="rect">
            <a:avLst/>
          </a:prstGeom>
        </p:spPr>
      </p:pic>
      <p:sp>
        <p:nvSpPr>
          <p:cNvPr id="2053" name="Rectangle 3"/>
          <p:cNvSpPr>
            <a:spLocks noGrp="1" noChangeAspect="1" noChangeArrowheads="1"/>
          </p:cNvSpPr>
          <p:nvPr>
            <p:ph type="title"/>
          </p:nvPr>
        </p:nvSpPr>
        <p:spPr bwMode="auto">
          <a:xfrm>
            <a:off x="258456" y="101600"/>
            <a:ext cx="8599794"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IN THIS CH OR NUTSHELL</a:t>
            </a:r>
          </a:p>
        </p:txBody>
      </p:sp>
      <p:sp>
        <p:nvSpPr>
          <p:cNvPr id="3078" name="Rectangle 8"/>
          <p:cNvSpPr>
            <a:spLocks noGrp="1" noChangeArrowheads="1"/>
          </p:cNvSpPr>
          <p:nvPr>
            <p:ph type="body" idx="1"/>
          </p:nvPr>
        </p:nvSpPr>
        <p:spPr bwMode="auto">
          <a:xfrm>
            <a:off x="292912" y="1054100"/>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This is the intro slide and the summary slide (chapter in a nutshell) design</a:t>
            </a:r>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12" name="Footer Placeholder 2"/>
          <p:cNvSpPr>
            <a:spLocks noGrp="1"/>
          </p:cNvSpPr>
          <p:nvPr>
            <p:ph type="ftr" sz="quarter" idx="3"/>
          </p:nvPr>
        </p:nvSpPr>
        <p:spPr>
          <a:xfrm>
            <a:off x="0" y="6477000"/>
            <a:ext cx="8686800" cy="3810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3" name="Picture 2">
            <a:extLst>
              <a:ext uri="{FF2B5EF4-FFF2-40B4-BE49-F238E27FC236}">
                <a16:creationId xmlns:a16="http://schemas.microsoft.com/office/drawing/2014/main" id="{2938E7E8-A8AC-338C-C902-7554EB445130}"/>
              </a:ext>
            </a:extLst>
          </p:cNvPr>
          <p:cNvPicPr>
            <a:picLocks noChangeAspect="1"/>
          </p:cNvPicPr>
          <p:nvPr userDrawn="1"/>
        </p:nvPicPr>
        <p:blipFill>
          <a:blip r:embed="rId5"/>
          <a:stretch>
            <a:fillRect/>
          </a:stretch>
        </p:blipFill>
        <p:spPr>
          <a:xfrm rot="5400000">
            <a:off x="-3107143" y="3107143"/>
            <a:ext cx="6477000" cy="262713"/>
          </a:xfrm>
          <a:prstGeom prst="rect">
            <a:avLst/>
          </a:prstGeom>
        </p:spPr>
      </p:pic>
    </p:spTree>
    <p:extLst>
      <p:ext uri="{BB962C8B-B14F-4D97-AF65-F5344CB8AC3E}">
        <p14:creationId xmlns:p14="http://schemas.microsoft.com/office/powerpoint/2010/main" val="977070386"/>
      </p:ext>
    </p:extLst>
  </p:cSld>
  <p:clrMap bg1="lt1" tx1="dk1" bg2="lt2" tx2="dk2" accent1="accent1" accent2="accent2" accent3="accent3" accent4="accent4" accent5="accent5" accent6="accent6" hlink="hlink" folHlink="folHlink"/>
  <p:sldLayoutIdLst>
    <p:sldLayoutId id="2147483681" r:id="rId1"/>
    <p:sldLayoutId id="2147483683" r:id="rId2"/>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078">
                                            <p:txEl>
                                              <p:pRg st="0" end="0"/>
                                            </p:txEl>
                                          </p:spTgt>
                                        </p:tgtEl>
                                        <p:attrNameLst>
                                          <p:attrName>style.visibility</p:attrName>
                                        </p:attrNameLst>
                                      </p:cBhvr>
                                      <p:to>
                                        <p:strVal val="visible"/>
                                      </p:to>
                                    </p:set>
                                    <p:animEffect transition="in" filter="wipe(left)">
                                      <p:cBhvr>
                                        <p:cTn id="7" dur="500"/>
                                        <p:tgtEl>
                                          <p:spTgt spid="3078">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78">
                                            <p:txEl>
                                              <p:pRg st="1" end="1"/>
                                            </p:txEl>
                                          </p:spTgt>
                                        </p:tgtEl>
                                        <p:attrNameLst>
                                          <p:attrName>style.visibility</p:attrName>
                                        </p:attrNameLst>
                                      </p:cBhvr>
                                      <p:to>
                                        <p:strVal val="visible"/>
                                      </p:to>
                                    </p:set>
                                    <p:animEffect transition="in" filter="wipe(left)">
                                      <p:cBhvr>
                                        <p:cTn id="11" dur="500"/>
                                        <p:tgtEl>
                                          <p:spTgt spid="3078">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078">
                                            <p:txEl>
                                              <p:pRg st="2" end="2"/>
                                            </p:txEl>
                                          </p:spTgt>
                                        </p:tgtEl>
                                        <p:attrNameLst>
                                          <p:attrName>style.visibility</p:attrName>
                                        </p:attrNameLst>
                                      </p:cBhvr>
                                      <p:to>
                                        <p:strVal val="visible"/>
                                      </p:to>
                                    </p:set>
                                    <p:animEffect transition="in" filter="wipe(left)">
                                      <p:cBhvr>
                                        <p:cTn id="15" dur="500"/>
                                        <p:tgtEl>
                                          <p:spTgt spid="3078">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078">
                                            <p:txEl>
                                              <p:pRg st="3" end="3"/>
                                            </p:txEl>
                                          </p:spTgt>
                                        </p:tgtEl>
                                        <p:attrNameLst>
                                          <p:attrName>style.visibility</p:attrName>
                                        </p:attrNameLst>
                                      </p:cBhvr>
                                      <p:to>
                                        <p:strVal val="visible"/>
                                      </p:to>
                                    </p:set>
                                    <p:animEffect transition="in" filter="wipe(left)">
                                      <p:cBhvr>
                                        <p:cTn id="19" dur="500"/>
                                        <p:tgtEl>
                                          <p:spTgt spid="3078">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078">
                                            <p:txEl>
                                              <p:pRg st="4" end="4"/>
                                            </p:txEl>
                                          </p:spTgt>
                                        </p:tgtEl>
                                        <p:attrNameLst>
                                          <p:attrName>style.visibility</p:attrName>
                                        </p:attrNameLst>
                                      </p:cBhvr>
                                      <p:to>
                                        <p:strVal val="visible"/>
                                      </p:to>
                                    </p:set>
                                    <p:animEffect transition="in" filter="wipe(left)">
                                      <p:cBhvr>
                                        <p:cTn id="23" dur="500"/>
                                        <p:tgtEl>
                                          <p:spTgt spid="30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uild="p">
        <p:tmplLst>
          <p:tmpl lvl="1">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078"/>
                        </p:tgtEl>
                        <p:attrNameLst>
                          <p:attrName>style.visibility</p:attrName>
                        </p:attrNameLst>
                      </p:cBhvr>
                      <p:to>
                        <p:strVal val="visible"/>
                      </p:to>
                    </p:set>
                    <p:animEffect transition="in" filter="wipe(left)">
                      <p:cBhvr>
                        <p:cTn dur="500"/>
                        <p:tgtEl>
                          <p:spTgt spid="3078"/>
                        </p:tgtEl>
                      </p:cBhvr>
                    </p:animEffect>
                  </p:childTnLst>
                </p:cTn>
              </p:par>
            </p:tnLst>
          </p:tmpl>
        </p:tmplLst>
      </p:bldP>
    </p:bldLst>
  </p:timing>
  <p:hf hdr="0" dt="0"/>
  <p:txStyles>
    <p:titleStyle>
      <a:lvl1pPr algn="ctr" rtl="0" eaLnBrk="0" fontAlgn="base" hangingPunct="0">
        <a:spcBef>
          <a:spcPct val="0"/>
        </a:spcBef>
        <a:spcAft>
          <a:spcPct val="0"/>
        </a:spcAft>
        <a:defRPr sz="4800" baseline="0">
          <a:solidFill>
            <a:srgbClr val="1C619A"/>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baseline="0">
          <a:solidFill>
            <a:schemeClr val="tx2"/>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2"/>
          </a:solidFill>
          <a:latin typeface="+mn-lt"/>
        </a:defRPr>
      </a:lvl2pPr>
      <a:lvl3pPr marL="1143000" indent="-228600" algn="l" rtl="0" eaLnBrk="0" fontAlgn="base" hangingPunct="0">
        <a:spcBef>
          <a:spcPct val="20000"/>
        </a:spcBef>
        <a:spcAft>
          <a:spcPct val="0"/>
        </a:spcAft>
        <a:buSzPct val="90000"/>
        <a:buChar char="•"/>
        <a:defRPr sz="2800">
          <a:solidFill>
            <a:schemeClr val="tx2"/>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2"/>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74B579F0-E89E-33CA-1756-CFC6F437DFEC}"/>
              </a:ext>
            </a:extLst>
          </p:cNvPr>
          <p:cNvGrpSpPr/>
          <p:nvPr userDrawn="1"/>
        </p:nvGrpSpPr>
        <p:grpSpPr>
          <a:xfrm>
            <a:off x="61522" y="129262"/>
            <a:ext cx="9020956" cy="785138"/>
            <a:chOff x="61522" y="53062"/>
            <a:chExt cx="9020956" cy="785138"/>
          </a:xfrm>
        </p:grpSpPr>
        <p:pic>
          <p:nvPicPr>
            <p:cNvPr id="28" name="Picture 27">
              <a:extLst>
                <a:ext uri="{FF2B5EF4-FFF2-40B4-BE49-F238E27FC236}">
                  <a16:creationId xmlns:a16="http://schemas.microsoft.com/office/drawing/2014/main" id="{0EA1A926-702E-834C-1A3D-07FD4552C8F6}"/>
                </a:ext>
              </a:extLst>
            </p:cNvPr>
            <p:cNvPicPr>
              <a:picLocks noChangeAspect="1"/>
            </p:cNvPicPr>
            <p:nvPr userDrawn="1"/>
          </p:nvPicPr>
          <p:blipFill>
            <a:blip r:embed="rId5"/>
            <a:stretch>
              <a:fillRect/>
            </a:stretch>
          </p:blipFill>
          <p:spPr>
            <a:xfrm>
              <a:off x="8153400" y="53063"/>
              <a:ext cx="929078" cy="785137"/>
            </a:xfrm>
            <a:prstGeom prst="rect">
              <a:avLst/>
            </a:prstGeom>
          </p:spPr>
        </p:pic>
        <p:pic>
          <p:nvPicPr>
            <p:cNvPr id="29" name="Picture 28">
              <a:extLst>
                <a:ext uri="{FF2B5EF4-FFF2-40B4-BE49-F238E27FC236}">
                  <a16:creationId xmlns:a16="http://schemas.microsoft.com/office/drawing/2014/main" id="{0CCCE13B-1BF1-FF9C-0315-A8F59C7FB0E7}"/>
                </a:ext>
              </a:extLst>
            </p:cNvPr>
            <p:cNvPicPr>
              <a:picLocks noChangeAspect="1"/>
            </p:cNvPicPr>
            <p:nvPr userDrawn="1"/>
          </p:nvPicPr>
          <p:blipFill>
            <a:blip r:embed="rId5"/>
            <a:stretch>
              <a:fillRect/>
            </a:stretch>
          </p:blipFill>
          <p:spPr>
            <a:xfrm rot="10800000">
              <a:off x="61522" y="53062"/>
              <a:ext cx="929078" cy="785137"/>
            </a:xfrm>
            <a:prstGeom prst="rect">
              <a:avLst/>
            </a:prstGeom>
          </p:spPr>
        </p:pic>
      </p:grpSp>
      <p:sp>
        <p:nvSpPr>
          <p:cNvPr id="2053" name="Rectangle 3"/>
          <p:cNvSpPr>
            <a:spLocks noGrp="1" noChangeAspect="1" noChangeArrowheads="1"/>
          </p:cNvSpPr>
          <p:nvPr>
            <p:ph type="title"/>
          </p:nvPr>
        </p:nvSpPr>
        <p:spPr bwMode="auto">
          <a:xfrm>
            <a:off x="1" y="77788"/>
            <a:ext cx="91440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Name </a:t>
            </a:r>
            <a:r>
              <a:rPr lang="en-US" altLang="en-US" dirty="0" err="1"/>
              <a:t>fgchmvb</a:t>
            </a:r>
            <a:r>
              <a:rPr lang="en-US" altLang="en-US" dirty="0"/>
              <a:t> </a:t>
            </a:r>
          </a:p>
        </p:txBody>
      </p:sp>
      <p:sp>
        <p:nvSpPr>
          <p:cNvPr id="3078" name="Rectangle 8"/>
          <p:cNvSpPr>
            <a:spLocks noGrp="1" noChangeArrowheads="1"/>
          </p:cNvSpPr>
          <p:nvPr>
            <p:ph type="body" idx="1"/>
          </p:nvPr>
        </p:nvSpPr>
        <p:spPr bwMode="auto">
          <a:xfrm>
            <a:off x="277813" y="1025525"/>
            <a:ext cx="8588375" cy="542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text </a:t>
            </a:r>
            <a:r>
              <a:rPr lang="en-US" altLang="en-US" dirty="0" err="1"/>
              <a:t>stClick</a:t>
            </a:r>
            <a:r>
              <a:rPr lang="en-US" altLang="en-US" dirty="0"/>
              <a:t> to edit Master </a:t>
            </a:r>
            <a:r>
              <a:rPr lang="en-US" altLang="en-US" dirty="0" err="1"/>
              <a:t>yles</a:t>
            </a:r>
            <a:endParaRPr lang="en-US" altLang="en-US" dirty="0"/>
          </a:p>
          <a:p>
            <a:pPr lvl="1"/>
            <a:r>
              <a:rPr lang="en-US" altLang="en-US" dirty="0"/>
              <a:t>Second level</a:t>
            </a:r>
          </a:p>
          <a:p>
            <a:pPr lvl="2"/>
            <a:r>
              <a:rPr lang="en-US" altLang="en-US" dirty="0" err="1"/>
              <a:t>Thirdlevel</a:t>
            </a:r>
            <a:endParaRPr lang="en-US" altLang="en-US" dirty="0"/>
          </a:p>
          <a:p>
            <a:pPr lvl="2"/>
            <a:r>
              <a:rPr lang="en-US" altLang="en-US" dirty="0"/>
              <a:t> Fourth level</a:t>
            </a:r>
          </a:p>
          <a:p>
            <a:pPr lvl="4"/>
            <a:r>
              <a:rPr lang="en-US" altLang="en-US" dirty="0"/>
              <a:t>Fifth level</a:t>
            </a:r>
          </a:p>
        </p:txBody>
      </p:sp>
      <p:sp>
        <p:nvSpPr>
          <p:cNvPr id="37898" name="Rectangle 10"/>
          <p:cNvSpPr>
            <a:spLocks noGrp="1" noChangeArrowheads="1"/>
          </p:cNvSpPr>
          <p:nvPr>
            <p:ph type="sldNum" sz="quarter" idx="4"/>
          </p:nvPr>
        </p:nvSpPr>
        <p:spPr bwMode="auto">
          <a:xfrm>
            <a:off x="8618538" y="6423025"/>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8" name="Footer Placeholder 2"/>
          <p:cNvSpPr>
            <a:spLocks noGrp="1"/>
          </p:cNvSpPr>
          <p:nvPr>
            <p:ph type="ftr" sz="quarter" idx="3"/>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pic>
        <p:nvPicPr>
          <p:cNvPr id="17" name="Picture 16">
            <a:extLst>
              <a:ext uri="{FF2B5EF4-FFF2-40B4-BE49-F238E27FC236}">
                <a16:creationId xmlns:a16="http://schemas.microsoft.com/office/drawing/2014/main" id="{4248DB47-1941-E4A0-DF66-72A55A5C1F36}"/>
              </a:ext>
            </a:extLst>
          </p:cNvPr>
          <p:cNvPicPr>
            <a:picLocks noChangeAspect="1"/>
          </p:cNvPicPr>
          <p:nvPr userDrawn="1"/>
        </p:nvPicPr>
        <p:blipFill>
          <a:blip r:embed="rId6"/>
          <a:stretch>
            <a:fillRect/>
          </a:stretch>
        </p:blipFill>
        <p:spPr>
          <a:xfrm rot="10800000">
            <a:off x="277809" y="6400800"/>
            <a:ext cx="8588373" cy="52388"/>
          </a:xfrm>
          <a:prstGeom prst="rect">
            <a:avLst/>
          </a:prstGeom>
        </p:spPr>
      </p:pic>
    </p:spTree>
    <p:extLst>
      <p:ext uri="{BB962C8B-B14F-4D97-AF65-F5344CB8AC3E}">
        <p14:creationId xmlns:p14="http://schemas.microsoft.com/office/powerpoint/2010/main" val="2024080141"/>
      </p:ext>
    </p:extLst>
  </p:cSld>
  <p:clrMap bg1="lt1" tx1="dk1" bg2="lt2" tx2="dk2" accent1="accent1" accent2="accent2" accent3="accent3" accent4="accent4" accent5="accent5" accent6="accent6" hlink="hlink" folHlink="folHlink"/>
  <p:sldLayoutIdLst>
    <p:sldLayoutId id="2147483664" r:id="rId1"/>
    <p:sldLayoutId id="2147483674" r:id="rId2"/>
    <p:sldLayoutId id="2147483682" r:id="rId3"/>
  </p:sldLayoutIdLst>
  <p:transition/>
  <p:hf hdr="0" dt="0"/>
  <p:txStyles>
    <p:titleStyle>
      <a:lvl1pPr algn="ctr"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76A9"/>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p:cNvGrpSpPr/>
          <p:nvPr/>
        </p:nvGrpSpPr>
        <p:grpSpPr>
          <a:xfrm>
            <a:off x="0" y="1"/>
            <a:ext cx="9144000" cy="6542704"/>
            <a:chOff x="0" y="1"/>
            <a:chExt cx="9144000" cy="6542704"/>
          </a:xfrm>
        </p:grpSpPr>
        <p:pic>
          <p:nvPicPr>
            <p:cNvPr id="3074" name="Picture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09550" y="487363"/>
              <a:ext cx="8591550" cy="5653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0" name="Picture 10"/>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801100" y="436563"/>
              <a:ext cx="342900" cy="6051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81"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6141067"/>
              <a:ext cx="9144000" cy="401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3075" name="Picture 1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1328" y="1"/>
              <a:ext cx="247650" cy="6542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grpSp>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Figure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0" y="6341886"/>
            <a:ext cx="8763000" cy="516114"/>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 name="Group 10"/>
          <p:cNvGrpSpPr/>
          <p:nvPr/>
        </p:nvGrpSpPr>
        <p:grpSpPr>
          <a:xfrm>
            <a:off x="90539" y="77773"/>
            <a:ext cx="8929618" cy="6297167"/>
            <a:chOff x="90539" y="77773"/>
            <a:chExt cx="8929618" cy="6297167"/>
          </a:xfrm>
        </p:grpSpPr>
        <p:grpSp>
          <p:nvGrpSpPr>
            <p:cNvPr id="12" name="Group 11"/>
            <p:cNvGrpSpPr/>
            <p:nvPr userDrawn="1"/>
          </p:nvGrpSpPr>
          <p:grpSpPr>
            <a:xfrm>
              <a:off x="90539" y="77773"/>
              <a:ext cx="2075718" cy="583326"/>
              <a:chOff x="90539" y="77773"/>
              <a:chExt cx="2075718" cy="583326"/>
            </a:xfrm>
          </p:grpSpPr>
          <p:cxnSp>
            <p:nvCxnSpPr>
              <p:cNvPr id="16" name="Straight Connector 15"/>
              <p:cNvCxnSpPr/>
              <p:nvPr userDrawn="1"/>
            </p:nvCxnSpPr>
            <p:spPr bwMode="auto">
              <a:xfrm>
                <a:off x="90539" y="536628"/>
                <a:ext cx="2075718" cy="0"/>
              </a:xfrm>
              <a:prstGeom prst="line">
                <a:avLst/>
              </a:prstGeom>
              <a:noFill/>
              <a:ln w="28575" cap="flat" cmpd="sng" algn="ctr">
                <a:solidFill>
                  <a:srgbClr val="074866"/>
                </a:solidFill>
                <a:prstDash val="solid"/>
                <a:round/>
                <a:headEnd type="none" w="med" len="med"/>
                <a:tailEnd type="none" w="med" len="med"/>
              </a:ln>
              <a:effectLst/>
            </p:spPr>
          </p:cxnSp>
          <p:cxnSp>
            <p:nvCxnSpPr>
              <p:cNvPr id="17" name="Straight Connector 16"/>
              <p:cNvCxnSpPr/>
              <p:nvPr userDrawn="1"/>
            </p:nvCxnSpPr>
            <p:spPr bwMode="auto">
              <a:xfrm flipV="1">
                <a:off x="202361" y="77773"/>
                <a:ext cx="0" cy="583326"/>
              </a:xfrm>
              <a:prstGeom prst="line">
                <a:avLst/>
              </a:prstGeom>
              <a:noFill/>
              <a:ln w="28575" cap="flat" cmpd="sng" algn="ctr">
                <a:solidFill>
                  <a:srgbClr val="074866"/>
                </a:solidFill>
                <a:prstDash val="solid"/>
                <a:round/>
                <a:headEnd type="none" w="med" len="med"/>
                <a:tailEnd type="none" w="med" len="med"/>
              </a:ln>
              <a:effectLst/>
            </p:spPr>
          </p:cxnSp>
        </p:grpSp>
        <p:grpSp>
          <p:nvGrpSpPr>
            <p:cNvPr id="13" name="Group 12"/>
            <p:cNvGrpSpPr/>
            <p:nvPr userDrawn="1"/>
          </p:nvGrpSpPr>
          <p:grpSpPr>
            <a:xfrm>
              <a:off x="8187163" y="6011640"/>
              <a:ext cx="832994" cy="363300"/>
              <a:chOff x="8187163" y="6011640"/>
              <a:chExt cx="832994" cy="363300"/>
            </a:xfrm>
          </p:grpSpPr>
          <p:cxnSp>
            <p:nvCxnSpPr>
              <p:cNvPr id="14" name="Straight Connector 13"/>
              <p:cNvCxnSpPr/>
              <p:nvPr userDrawn="1"/>
            </p:nvCxnSpPr>
            <p:spPr bwMode="auto">
              <a:xfrm>
                <a:off x="8187163" y="6292878"/>
                <a:ext cx="832994" cy="1"/>
              </a:xfrm>
              <a:prstGeom prst="line">
                <a:avLst/>
              </a:prstGeom>
              <a:noFill/>
              <a:ln w="28575" cap="flat" cmpd="sng" algn="ctr">
                <a:solidFill>
                  <a:srgbClr val="074866"/>
                </a:solidFill>
                <a:prstDash val="solid"/>
                <a:round/>
                <a:headEnd type="none" w="med" len="med"/>
                <a:tailEnd type="none" w="med" len="med"/>
              </a:ln>
              <a:effectLst/>
            </p:spPr>
          </p:cxnSp>
          <p:cxnSp>
            <p:nvCxnSpPr>
              <p:cNvPr id="15" name="Straight Connector 14"/>
              <p:cNvCxnSpPr/>
              <p:nvPr userDrawn="1"/>
            </p:nvCxnSpPr>
            <p:spPr bwMode="auto">
              <a:xfrm>
                <a:off x="8942003" y="6011640"/>
                <a:ext cx="0" cy="363300"/>
              </a:xfrm>
              <a:prstGeom prst="line">
                <a:avLst/>
              </a:prstGeom>
              <a:noFill/>
              <a:ln w="28575" cap="flat" cmpd="sng" algn="ctr">
                <a:solidFill>
                  <a:srgbClr val="074866"/>
                </a:solidFill>
                <a:prstDash val="solid"/>
                <a:round/>
                <a:headEnd type="none" w="med" len="med"/>
                <a:tailEnd type="none" w="med" len="med"/>
              </a:ln>
              <a:effectLst/>
            </p:spPr>
          </p:cxnSp>
        </p:grpSp>
      </p:grpSp>
    </p:spTree>
    <p:extLst>
      <p:ext uri="{BB962C8B-B14F-4D97-AF65-F5344CB8AC3E}">
        <p14:creationId xmlns:p14="http://schemas.microsoft.com/office/powerpoint/2010/main" val="3318089468"/>
      </p:ext>
    </p:extLst>
  </p:cSld>
  <p:clrMap bg1="lt1" tx1="dk1" bg2="lt2" tx2="dk2" accent1="accent1" accent2="accent2" accent3="accent3" accent4="accent4" accent5="accent5" accent6="accent6" hlink="hlink" folHlink="folHlink"/>
  <p:sldLayoutIdLst>
    <p:sldLayoutId id="2147483666"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6" name="Rectangle 2"/>
          <p:cNvSpPr>
            <a:spLocks noGrp="1" noChangeAspect="1" noChangeArrowheads="1"/>
          </p:cNvSpPr>
          <p:nvPr>
            <p:ph type="title"/>
          </p:nvPr>
        </p:nvSpPr>
        <p:spPr bwMode="auto">
          <a:xfrm>
            <a:off x="209550" y="0"/>
            <a:ext cx="877093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Table 1</a:t>
            </a:r>
          </a:p>
        </p:txBody>
      </p:sp>
      <p:sp>
        <p:nvSpPr>
          <p:cNvPr id="3077" name="Rectangle 3"/>
          <p:cNvSpPr>
            <a:spLocks noGrp="1" noChangeArrowheads="1"/>
          </p:cNvSpPr>
          <p:nvPr>
            <p:ph type="body" idx="1"/>
          </p:nvPr>
        </p:nvSpPr>
        <p:spPr bwMode="auto">
          <a:xfrm>
            <a:off x="414338" y="1600200"/>
            <a:ext cx="36576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Text</a:t>
            </a:r>
          </a:p>
        </p:txBody>
      </p:sp>
      <p:sp>
        <p:nvSpPr>
          <p:cNvPr id="185357" name="Rectangle 13"/>
          <p:cNvSpPr>
            <a:spLocks noGrp="1" noChangeArrowheads="1"/>
          </p:cNvSpPr>
          <p:nvPr>
            <p:ph type="sldNum" sz="quarter" idx="4"/>
          </p:nvPr>
        </p:nvSpPr>
        <p:spPr bwMode="auto">
          <a:xfrm>
            <a:off x="8618538" y="6473825"/>
            <a:ext cx="520700" cy="379413"/>
          </a:xfrm>
          <a:prstGeom prst="rect">
            <a:avLst/>
          </a:prstGeom>
          <a:noFill/>
          <a:ln w="19050">
            <a:noFill/>
            <a:prstDash val="sysDash"/>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5E12E99D-42F8-4B90-BC1F-2FD222301686}" type="slidenum">
              <a:rPr lang="en-US" smtClean="0"/>
              <a:pPr fontAlgn="base">
                <a:spcAft>
                  <a:spcPct val="0"/>
                </a:spcAft>
                <a:defRPr/>
              </a:pPr>
              <a:t>‹#›</a:t>
            </a:fld>
            <a:endParaRPr lang="en-US" dirty="0"/>
          </a:p>
        </p:txBody>
      </p:sp>
      <p:grpSp>
        <p:nvGrpSpPr>
          <p:cNvPr id="4" name="Group 3"/>
          <p:cNvGrpSpPr/>
          <p:nvPr/>
        </p:nvGrpSpPr>
        <p:grpSpPr>
          <a:xfrm>
            <a:off x="-1" y="0"/>
            <a:ext cx="9144001" cy="6568831"/>
            <a:chOff x="-1" y="0"/>
            <a:chExt cx="9144001" cy="6568831"/>
          </a:xfrm>
        </p:grpSpPr>
        <p:pic>
          <p:nvPicPr>
            <p:cNvPr id="23555"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915400" y="418246"/>
              <a:ext cx="228600" cy="6069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nvGrpSpPr>
            <p:cNvPr id="3" name="Group 2"/>
            <p:cNvGrpSpPr/>
            <p:nvPr userDrawn="1"/>
          </p:nvGrpSpPr>
          <p:grpSpPr>
            <a:xfrm>
              <a:off x="-1" y="0"/>
              <a:ext cx="9108746" cy="6568831"/>
              <a:chOff x="-1" y="0"/>
              <a:chExt cx="9108746" cy="6568831"/>
            </a:xfrm>
          </p:grpSpPr>
          <p:pic>
            <p:nvPicPr>
              <p:cNvPr id="23556" name="Picture 4"/>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310551" cy="6568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23557" name="Picture 5"/>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93785" y="6213232"/>
                <a:ext cx="9014960" cy="278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pic>
          <p:nvPicPr>
            <p:cNvPr id="23554"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209551" y="457975"/>
              <a:ext cx="8705849" cy="58606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17" name="Group 16"/>
          <p:cNvGrpSpPr/>
          <p:nvPr/>
        </p:nvGrpSpPr>
        <p:grpSpPr>
          <a:xfrm>
            <a:off x="124529" y="47182"/>
            <a:ext cx="8918525" cy="6330053"/>
            <a:chOff x="124529" y="47182"/>
            <a:chExt cx="8918525" cy="6330053"/>
          </a:xfrm>
        </p:grpSpPr>
        <p:grpSp>
          <p:nvGrpSpPr>
            <p:cNvPr id="16" name="Group 15"/>
            <p:cNvGrpSpPr/>
            <p:nvPr userDrawn="1"/>
          </p:nvGrpSpPr>
          <p:grpSpPr>
            <a:xfrm>
              <a:off x="124529" y="47182"/>
              <a:ext cx="1704271" cy="583326"/>
              <a:chOff x="124529" y="47182"/>
              <a:chExt cx="1704271" cy="583326"/>
            </a:xfrm>
          </p:grpSpPr>
          <p:cxnSp>
            <p:nvCxnSpPr>
              <p:cNvPr id="7" name="Straight Connector 6"/>
              <p:cNvCxnSpPr/>
              <p:nvPr userDrawn="1"/>
            </p:nvCxnSpPr>
            <p:spPr bwMode="auto">
              <a:xfrm>
                <a:off x="124529" y="506037"/>
                <a:ext cx="1704271" cy="0"/>
              </a:xfrm>
              <a:prstGeom prst="line">
                <a:avLst/>
              </a:prstGeom>
              <a:noFill/>
              <a:ln w="28575" cap="flat" cmpd="sng" algn="ctr">
                <a:solidFill>
                  <a:srgbClr val="E71303"/>
                </a:solidFill>
                <a:prstDash val="solid"/>
                <a:round/>
                <a:headEnd type="none" w="med" len="med"/>
                <a:tailEnd type="none" w="med" len="med"/>
              </a:ln>
              <a:effectLst/>
            </p:spPr>
          </p:cxnSp>
          <p:cxnSp>
            <p:nvCxnSpPr>
              <p:cNvPr id="24" name="Straight Connector 23"/>
              <p:cNvCxnSpPr/>
              <p:nvPr userDrawn="1"/>
            </p:nvCxnSpPr>
            <p:spPr bwMode="auto">
              <a:xfrm flipV="1">
                <a:off x="236351" y="47182"/>
                <a:ext cx="0" cy="583326"/>
              </a:xfrm>
              <a:prstGeom prst="line">
                <a:avLst/>
              </a:prstGeom>
              <a:noFill/>
              <a:ln w="28575" cap="flat" cmpd="sng" algn="ctr">
                <a:solidFill>
                  <a:srgbClr val="E71303"/>
                </a:solidFill>
                <a:prstDash val="solid"/>
                <a:round/>
                <a:headEnd type="none" w="med" len="med"/>
                <a:tailEnd type="none" w="med" len="med"/>
              </a:ln>
              <a:effectLst/>
            </p:spPr>
          </p:cxnSp>
        </p:grpSp>
        <p:grpSp>
          <p:nvGrpSpPr>
            <p:cNvPr id="15" name="Group 14"/>
            <p:cNvGrpSpPr/>
            <p:nvPr userDrawn="1"/>
          </p:nvGrpSpPr>
          <p:grpSpPr>
            <a:xfrm>
              <a:off x="8210060" y="6013935"/>
              <a:ext cx="832994" cy="363300"/>
              <a:chOff x="8210060" y="6013935"/>
              <a:chExt cx="832994" cy="363300"/>
            </a:xfrm>
          </p:grpSpPr>
          <p:cxnSp>
            <p:nvCxnSpPr>
              <p:cNvPr id="22" name="Straight Connector 21"/>
              <p:cNvCxnSpPr/>
              <p:nvPr userDrawn="1"/>
            </p:nvCxnSpPr>
            <p:spPr bwMode="auto">
              <a:xfrm>
                <a:off x="8210060" y="6295173"/>
                <a:ext cx="832994" cy="1"/>
              </a:xfrm>
              <a:prstGeom prst="line">
                <a:avLst/>
              </a:prstGeom>
              <a:noFill/>
              <a:ln w="28575" cap="flat" cmpd="sng" algn="ctr">
                <a:solidFill>
                  <a:srgbClr val="E71303"/>
                </a:solidFill>
                <a:prstDash val="solid"/>
                <a:round/>
                <a:headEnd type="none" w="med" len="med"/>
                <a:tailEnd type="none" w="med" len="med"/>
              </a:ln>
              <a:effectLst/>
            </p:spPr>
          </p:cxnSp>
          <p:cxnSp>
            <p:nvCxnSpPr>
              <p:cNvPr id="27" name="Straight Connector 26"/>
              <p:cNvCxnSpPr/>
              <p:nvPr userDrawn="1"/>
            </p:nvCxnSpPr>
            <p:spPr bwMode="auto">
              <a:xfrm>
                <a:off x="8964900" y="6013935"/>
                <a:ext cx="0" cy="363300"/>
              </a:xfrm>
              <a:prstGeom prst="line">
                <a:avLst/>
              </a:prstGeom>
              <a:noFill/>
              <a:ln w="28575" cap="flat" cmpd="sng" algn="ctr">
                <a:solidFill>
                  <a:srgbClr val="E71303"/>
                </a:solidFill>
                <a:prstDash val="solid"/>
                <a:round/>
                <a:headEnd type="none" w="med" len="med"/>
                <a:tailEnd type="none" w="med" len="med"/>
              </a:ln>
              <a:effectLst/>
            </p:spPr>
          </p:cxnSp>
        </p:grpSp>
      </p:grpSp>
      <p:sp>
        <p:nvSpPr>
          <p:cNvPr id="5" name="Footer Placeholder 4"/>
          <p:cNvSpPr>
            <a:spLocks noGrp="1"/>
          </p:cNvSpPr>
          <p:nvPr>
            <p:ph type="ftr" sz="quarter" idx="3"/>
          </p:nvPr>
        </p:nvSpPr>
        <p:spPr>
          <a:xfrm>
            <a:off x="0" y="6352697"/>
            <a:ext cx="8763000" cy="505303"/>
          </a:xfrm>
          <a:prstGeom prst="rect">
            <a:avLst/>
          </a:prstGeom>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38036896"/>
      </p:ext>
    </p:extLst>
  </p:cSld>
  <p:clrMap bg1="lt1" tx1="dk1" bg2="lt2" tx2="dk2" accent1="accent1" accent2="accent2" accent3="accent3" accent4="accent4" accent5="accent5" accent6="accent6" hlink="hlink" folHlink="folHlink"/>
  <p:sldLayoutIdLst>
    <p:sldLayoutId id="2147483669" r:id="rId1"/>
  </p:sldLayoutIdLst>
  <p:hf hdr="0" dt="0"/>
  <p:txStyles>
    <p:titleStyle>
      <a:lvl1pPr algn="ctr" rtl="0" eaLnBrk="0" fontAlgn="base" hangingPunct="0">
        <a:spcBef>
          <a:spcPct val="0"/>
        </a:spcBef>
        <a:spcAft>
          <a:spcPct val="0"/>
        </a:spcAft>
        <a:defRPr sz="3300">
          <a:solidFill>
            <a:srgbClr val="0D0D0D"/>
          </a:solidFill>
          <a:latin typeface="+mj-lt"/>
          <a:ea typeface="+mj-ea"/>
          <a:cs typeface="+mj-cs"/>
        </a:defRPr>
      </a:lvl1pPr>
      <a:lvl2pPr algn="ctr" rtl="0" eaLnBrk="0" fontAlgn="base" hangingPunct="0">
        <a:spcBef>
          <a:spcPct val="0"/>
        </a:spcBef>
        <a:spcAft>
          <a:spcPct val="0"/>
        </a:spcAft>
        <a:defRPr sz="3300">
          <a:solidFill>
            <a:srgbClr val="0D0D0D"/>
          </a:solidFill>
          <a:latin typeface="Arial" pitchFamily="34" charset="0"/>
        </a:defRPr>
      </a:lvl2pPr>
      <a:lvl3pPr algn="ctr" rtl="0" eaLnBrk="0" fontAlgn="base" hangingPunct="0">
        <a:spcBef>
          <a:spcPct val="0"/>
        </a:spcBef>
        <a:spcAft>
          <a:spcPct val="0"/>
        </a:spcAft>
        <a:defRPr sz="3300">
          <a:solidFill>
            <a:srgbClr val="0D0D0D"/>
          </a:solidFill>
          <a:latin typeface="Arial" pitchFamily="34" charset="0"/>
        </a:defRPr>
      </a:lvl3pPr>
      <a:lvl4pPr algn="ctr" rtl="0" eaLnBrk="0" fontAlgn="base" hangingPunct="0">
        <a:spcBef>
          <a:spcPct val="0"/>
        </a:spcBef>
        <a:spcAft>
          <a:spcPct val="0"/>
        </a:spcAft>
        <a:defRPr sz="3300">
          <a:solidFill>
            <a:srgbClr val="0D0D0D"/>
          </a:solidFill>
          <a:latin typeface="Arial" pitchFamily="34" charset="0"/>
        </a:defRPr>
      </a:lvl4pPr>
      <a:lvl5pPr algn="ctr" rtl="0" eaLnBrk="0" fontAlgn="base" hangingPunct="0">
        <a:spcBef>
          <a:spcPct val="0"/>
        </a:spcBef>
        <a:spcAft>
          <a:spcPct val="0"/>
        </a:spcAft>
        <a:defRPr sz="3300">
          <a:solidFill>
            <a:srgbClr val="0D0D0D"/>
          </a:solidFill>
          <a:latin typeface="Arial" pitchFamily="34" charset="0"/>
        </a:defRPr>
      </a:lvl5pPr>
      <a:lvl6pPr marL="457200" algn="l" rtl="0" fontAlgn="base">
        <a:spcBef>
          <a:spcPct val="0"/>
        </a:spcBef>
        <a:spcAft>
          <a:spcPct val="0"/>
        </a:spcAft>
        <a:defRPr sz="3400">
          <a:solidFill>
            <a:srgbClr val="660066"/>
          </a:solidFill>
          <a:latin typeface="Arial" pitchFamily="34" charset="0"/>
        </a:defRPr>
      </a:lvl6pPr>
      <a:lvl7pPr marL="914400" algn="l" rtl="0" fontAlgn="base">
        <a:spcBef>
          <a:spcPct val="0"/>
        </a:spcBef>
        <a:spcAft>
          <a:spcPct val="0"/>
        </a:spcAft>
        <a:defRPr sz="3400">
          <a:solidFill>
            <a:srgbClr val="660066"/>
          </a:solidFill>
          <a:latin typeface="Arial" pitchFamily="34" charset="0"/>
        </a:defRPr>
      </a:lvl7pPr>
      <a:lvl8pPr marL="1371600" algn="l" rtl="0" fontAlgn="base">
        <a:spcBef>
          <a:spcPct val="0"/>
        </a:spcBef>
        <a:spcAft>
          <a:spcPct val="0"/>
        </a:spcAft>
        <a:defRPr sz="3400">
          <a:solidFill>
            <a:srgbClr val="660066"/>
          </a:solidFill>
          <a:latin typeface="Arial" pitchFamily="34" charset="0"/>
        </a:defRPr>
      </a:lvl8pPr>
      <a:lvl9pPr marL="1828800" algn="l" rtl="0" fontAlgn="base">
        <a:spcBef>
          <a:spcPct val="0"/>
        </a:spcBef>
        <a:spcAft>
          <a:spcPct val="0"/>
        </a:spcAft>
        <a:defRPr sz="3400">
          <a:solidFill>
            <a:srgbClr val="660066"/>
          </a:solidFill>
          <a:latin typeface="Arial" pitchFamily="34"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defRPr>
          <a:solidFill>
            <a:schemeClr val="tx1"/>
          </a:solidFill>
          <a:latin typeface="+mn-lt"/>
        </a:defRPr>
      </a:lvl2pPr>
      <a:lvl3pPr marL="1143000" indent="-228600" algn="l" rtl="0" eaLnBrk="0" fontAlgn="base" hangingPunct="0">
        <a:spcBef>
          <a:spcPct val="20000"/>
        </a:spcBef>
        <a:spcAft>
          <a:spcPct val="0"/>
        </a:spcAft>
        <a:defRPr>
          <a:solidFill>
            <a:schemeClr val="tx1"/>
          </a:solidFill>
          <a:latin typeface="+mn-lt"/>
        </a:defRPr>
      </a:lvl3pPr>
      <a:lvl4pPr marL="1600200" indent="-228600" algn="l" rtl="0" eaLnBrk="0" fontAlgn="base" hangingPunct="0">
        <a:spcBef>
          <a:spcPct val="20000"/>
        </a:spcBef>
        <a:spcAft>
          <a:spcPct val="0"/>
        </a:spcAft>
        <a:defRPr>
          <a:solidFill>
            <a:schemeClr val="tx1"/>
          </a:solidFill>
          <a:latin typeface="+mn-lt"/>
        </a:defRPr>
      </a:lvl4pPr>
      <a:lvl5pPr marL="2057400" indent="-228600" algn="l" rtl="0" eaLnBrk="0" fontAlgn="base" hangingPunct="0">
        <a:spcBef>
          <a:spcPct val="20000"/>
        </a:spcBef>
        <a:spcAft>
          <a:spcPct val="0"/>
        </a:spcAft>
        <a:defRPr>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D7F4DFE-5B5A-0F39-64B6-B61C4321E799}"/>
              </a:ext>
            </a:extLst>
          </p:cNvPr>
          <p:cNvPicPr>
            <a:picLocks noChangeAspect="1"/>
          </p:cNvPicPr>
          <p:nvPr userDrawn="1"/>
        </p:nvPicPr>
        <p:blipFill>
          <a:blip r:embed="rId7"/>
          <a:stretch>
            <a:fillRect/>
          </a:stretch>
        </p:blipFill>
        <p:spPr>
          <a:xfrm>
            <a:off x="454616" y="6462712"/>
            <a:ext cx="8384583" cy="319088"/>
          </a:xfrm>
          <a:prstGeom prst="rect">
            <a:avLst/>
          </a:prstGeom>
        </p:spPr>
      </p:pic>
      <p:pic>
        <p:nvPicPr>
          <p:cNvPr id="4" name="Picture 3">
            <a:extLst>
              <a:ext uri="{FF2B5EF4-FFF2-40B4-BE49-F238E27FC236}">
                <a16:creationId xmlns:a16="http://schemas.microsoft.com/office/drawing/2014/main" id="{849DCBD9-D40B-6CAD-1A54-E203D88E57AC}"/>
              </a:ext>
            </a:extLst>
          </p:cNvPr>
          <p:cNvPicPr>
            <a:picLocks noChangeAspect="1"/>
          </p:cNvPicPr>
          <p:nvPr userDrawn="1"/>
        </p:nvPicPr>
        <p:blipFill>
          <a:blip r:embed="rId7"/>
          <a:stretch>
            <a:fillRect/>
          </a:stretch>
        </p:blipFill>
        <p:spPr>
          <a:xfrm>
            <a:off x="0" y="1327"/>
            <a:ext cx="9139238" cy="821138"/>
          </a:xfrm>
          <a:prstGeom prst="rect">
            <a:avLst/>
          </a:prstGeom>
        </p:spPr>
      </p:pic>
      <p:pic>
        <p:nvPicPr>
          <p:cNvPr id="17" name="Picture 16">
            <a:extLst>
              <a:ext uri="{FF2B5EF4-FFF2-40B4-BE49-F238E27FC236}">
                <a16:creationId xmlns:a16="http://schemas.microsoft.com/office/drawing/2014/main" id="{4AD3E7FE-6E54-466F-EC88-F05CE3993E20}"/>
              </a:ext>
            </a:extLst>
          </p:cNvPr>
          <p:cNvPicPr>
            <a:picLocks noChangeAspect="1"/>
          </p:cNvPicPr>
          <p:nvPr userDrawn="1"/>
        </p:nvPicPr>
        <p:blipFill>
          <a:blip r:embed="rId8"/>
          <a:stretch>
            <a:fillRect/>
          </a:stretch>
        </p:blipFill>
        <p:spPr>
          <a:xfrm rot="5400000">
            <a:off x="8734673" y="6444442"/>
            <a:ext cx="365685" cy="309030"/>
          </a:xfrm>
          <a:prstGeom prst="rect">
            <a:avLst/>
          </a:prstGeom>
        </p:spPr>
      </p:pic>
      <p:sp>
        <p:nvSpPr>
          <p:cNvPr id="2053" name="Rectangle 3"/>
          <p:cNvSpPr>
            <a:spLocks noGrp="1" noChangeAspect="1" noChangeArrowheads="1"/>
          </p:cNvSpPr>
          <p:nvPr>
            <p:ph type="title"/>
          </p:nvPr>
        </p:nvSpPr>
        <p:spPr bwMode="auto">
          <a:xfrm>
            <a:off x="76201" y="153987"/>
            <a:ext cx="9067800"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1440" tIns="45720" rIns="91440" bIns="45720" numCol="1" anchor="ctr" anchorCtr="0" compatLnSpc="1">
            <a:prstTxWarp prst="textNoShape">
              <a:avLst/>
            </a:prstTxWarp>
          </a:bodyPr>
          <a:lstStyle/>
          <a:p>
            <a:pPr lvl="0"/>
            <a:r>
              <a:rPr lang="en-US" altLang="en-US" dirty="0"/>
              <a:t>Example or Active Learning</a:t>
            </a:r>
          </a:p>
        </p:txBody>
      </p:sp>
      <p:sp>
        <p:nvSpPr>
          <p:cNvPr id="37898" name="Rectangle 10"/>
          <p:cNvSpPr>
            <a:spLocks noGrp="1" noChangeArrowheads="1"/>
          </p:cNvSpPr>
          <p:nvPr>
            <p:ph type="sldNum" sz="quarter" idx="4"/>
          </p:nvPr>
        </p:nvSpPr>
        <p:spPr bwMode="auto">
          <a:xfrm>
            <a:off x="8618538" y="6470650"/>
            <a:ext cx="520700" cy="379413"/>
          </a:xfrm>
          <a:prstGeom prst="rect">
            <a:avLst/>
          </a:prstGeom>
          <a:noFill/>
          <a:ln w="19050">
            <a:noFill/>
            <a:prstDash val="sysDot"/>
            <a:bevel/>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2378B25E-053D-4AA2-A71D-1D9F2F8C0927}" type="slidenum">
              <a:rPr lang="en-US" smtClean="0"/>
              <a:pPr fontAlgn="base">
                <a:spcAft>
                  <a:spcPct val="0"/>
                </a:spcAft>
                <a:defRPr/>
              </a:pPr>
              <a:t>‹#›</a:t>
            </a:fld>
            <a:endParaRPr lang="en-US" dirty="0"/>
          </a:p>
        </p:txBody>
      </p:sp>
      <p:sp>
        <p:nvSpPr>
          <p:cNvPr id="5" name="Footer Placeholder 4"/>
          <p:cNvSpPr>
            <a:spLocks noGrp="1"/>
          </p:cNvSpPr>
          <p:nvPr>
            <p:ph type="ftr" sz="quarter" idx="3"/>
          </p:nvPr>
        </p:nvSpPr>
        <p:spPr>
          <a:xfrm>
            <a:off x="454616" y="6324601"/>
            <a:ext cx="8308384" cy="533400"/>
          </a:xfrm>
          <a:prstGeom prst="rect">
            <a:avLst/>
          </a:prstGeom>
          <a:noFill/>
        </p:spPr>
        <p:txBody>
          <a:bodyPr vert="horz" lIns="91440" tIns="45720" rIns="91440" bIns="45720" rtlCol="0" anchor="ctr"/>
          <a:lstStyle>
            <a:lvl1pPr algn="l">
              <a:buFontTx/>
              <a:buNone/>
              <a:defRPr sz="900">
                <a:solidFill>
                  <a:schemeClr val="tx1"/>
                </a:solidFill>
                <a:cs typeface="Arial" pitchFamily="34" charset="0"/>
              </a:defRPr>
            </a:lvl1pPr>
          </a:lstStyle>
          <a:p>
            <a:pPr fontAlgn="base">
              <a:spcBef>
                <a:spcPct val="20000"/>
              </a:spcBef>
              <a:spcAft>
                <a:spcPct val="0"/>
              </a:spcAft>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
        <p:nvSpPr>
          <p:cNvPr id="2" name="Text Placeholder 1"/>
          <p:cNvSpPr>
            <a:spLocks noGrp="1"/>
          </p:cNvSpPr>
          <p:nvPr>
            <p:ph type="body" idx="1"/>
          </p:nvPr>
        </p:nvSpPr>
        <p:spPr>
          <a:xfrm>
            <a:off x="457200" y="838200"/>
            <a:ext cx="8229600" cy="5287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8" name="Group 17">
            <a:extLst>
              <a:ext uri="{FF2B5EF4-FFF2-40B4-BE49-F238E27FC236}">
                <a16:creationId xmlns:a16="http://schemas.microsoft.com/office/drawing/2014/main" id="{C58E302B-FABF-FA0C-348A-455077386DAF}"/>
              </a:ext>
            </a:extLst>
          </p:cNvPr>
          <p:cNvGrpSpPr/>
          <p:nvPr userDrawn="1"/>
        </p:nvGrpSpPr>
        <p:grpSpPr>
          <a:xfrm rot="10800000">
            <a:off x="76200" y="709251"/>
            <a:ext cx="8915400" cy="205149"/>
            <a:chOff x="173212" y="914401"/>
            <a:chExt cx="8751395" cy="205149"/>
          </a:xfrm>
        </p:grpSpPr>
        <p:grpSp>
          <p:nvGrpSpPr>
            <p:cNvPr id="19" name="Group 18">
              <a:extLst>
                <a:ext uri="{FF2B5EF4-FFF2-40B4-BE49-F238E27FC236}">
                  <a16:creationId xmlns:a16="http://schemas.microsoft.com/office/drawing/2014/main" id="{7B83ED49-5D52-1702-CFDA-08FF8A8D1285}"/>
                </a:ext>
              </a:extLst>
            </p:cNvPr>
            <p:cNvGrpSpPr/>
            <p:nvPr userDrawn="1"/>
          </p:nvGrpSpPr>
          <p:grpSpPr>
            <a:xfrm>
              <a:off x="182419" y="972231"/>
              <a:ext cx="8742188" cy="147319"/>
              <a:chOff x="182419" y="972231"/>
              <a:chExt cx="8742188" cy="147319"/>
            </a:xfrm>
          </p:grpSpPr>
          <p:pic>
            <p:nvPicPr>
              <p:cNvPr id="23" name="Picture 22">
                <a:extLst>
                  <a:ext uri="{FF2B5EF4-FFF2-40B4-BE49-F238E27FC236}">
                    <a16:creationId xmlns:a16="http://schemas.microsoft.com/office/drawing/2014/main" id="{EB7CBBFE-1FD8-6695-0855-7E26EDBDF26D}"/>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4" name="Picture 23">
                <a:extLst>
                  <a:ext uri="{FF2B5EF4-FFF2-40B4-BE49-F238E27FC236}">
                    <a16:creationId xmlns:a16="http://schemas.microsoft.com/office/drawing/2014/main" id="{7BF9B322-2E99-9E6E-6BA5-3ABDEE517647}"/>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nvGrpSpPr>
            <p:cNvPr id="20" name="Group 19">
              <a:extLst>
                <a:ext uri="{FF2B5EF4-FFF2-40B4-BE49-F238E27FC236}">
                  <a16:creationId xmlns:a16="http://schemas.microsoft.com/office/drawing/2014/main" id="{FC4DFDE6-0794-A6B7-7778-C4D905B9B37F}"/>
                </a:ext>
              </a:extLst>
            </p:cNvPr>
            <p:cNvGrpSpPr/>
            <p:nvPr userDrawn="1"/>
          </p:nvGrpSpPr>
          <p:grpSpPr>
            <a:xfrm rot="10800000">
              <a:off x="173212" y="914401"/>
              <a:ext cx="8742188" cy="147319"/>
              <a:chOff x="182419" y="972231"/>
              <a:chExt cx="8742188" cy="147319"/>
            </a:xfrm>
          </p:grpSpPr>
          <p:pic>
            <p:nvPicPr>
              <p:cNvPr id="21" name="Picture 20">
                <a:extLst>
                  <a:ext uri="{FF2B5EF4-FFF2-40B4-BE49-F238E27FC236}">
                    <a16:creationId xmlns:a16="http://schemas.microsoft.com/office/drawing/2014/main" id="{A0614DD3-6B35-A130-B108-3B73E013D137}"/>
                  </a:ext>
                </a:extLst>
              </p:cNvPr>
              <p:cNvPicPr>
                <a:picLocks noChangeAspect="1"/>
              </p:cNvPicPr>
              <p:nvPr userDrawn="1"/>
            </p:nvPicPr>
            <p:blipFill>
              <a:blip r:embed="rId9"/>
              <a:stretch>
                <a:fillRect/>
              </a:stretch>
            </p:blipFill>
            <p:spPr>
              <a:xfrm>
                <a:off x="182419" y="999349"/>
                <a:ext cx="8709024" cy="78106"/>
              </a:xfrm>
              <a:prstGeom prst="rect">
                <a:avLst/>
              </a:prstGeom>
            </p:spPr>
          </p:pic>
          <p:pic>
            <p:nvPicPr>
              <p:cNvPr id="22" name="Picture 21">
                <a:extLst>
                  <a:ext uri="{FF2B5EF4-FFF2-40B4-BE49-F238E27FC236}">
                    <a16:creationId xmlns:a16="http://schemas.microsoft.com/office/drawing/2014/main" id="{DBDB4FDD-2418-CF5A-0520-EF73D15AA112}"/>
                  </a:ext>
                </a:extLst>
              </p:cNvPr>
              <p:cNvPicPr>
                <a:picLocks noChangeAspect="1"/>
              </p:cNvPicPr>
              <p:nvPr userDrawn="1"/>
            </p:nvPicPr>
            <p:blipFill>
              <a:blip r:embed="rId10"/>
              <a:stretch>
                <a:fillRect/>
              </a:stretch>
            </p:blipFill>
            <p:spPr>
              <a:xfrm>
                <a:off x="8878888" y="972231"/>
                <a:ext cx="45719" cy="147319"/>
              </a:xfrm>
              <a:prstGeom prst="rect">
                <a:avLst/>
              </a:prstGeom>
            </p:spPr>
          </p:pic>
        </p:grpSp>
      </p:grpSp>
    </p:spTree>
    <p:extLst>
      <p:ext uri="{BB962C8B-B14F-4D97-AF65-F5344CB8AC3E}">
        <p14:creationId xmlns:p14="http://schemas.microsoft.com/office/powerpoint/2010/main" val="4257325678"/>
      </p:ext>
    </p:extLst>
  </p:cSld>
  <p:clrMap bg1="lt1" tx1="dk1" bg2="lt2" tx2="dk2" accent1="accent1" accent2="accent2" accent3="accent3" accent4="accent4" accent5="accent5" accent6="accent6" hlink="hlink" folHlink="folHlink"/>
  <p:sldLayoutIdLst>
    <p:sldLayoutId id="2147483679" r:id="rId1"/>
    <p:sldLayoutId id="2147483686" r:id="rId2"/>
    <p:sldLayoutId id="2147483688" r:id="rId3"/>
    <p:sldLayoutId id="2147483690" r:id="rId4"/>
    <p:sldLayoutId id="2147483691" r:id="rId5"/>
  </p:sldLayoutIdLst>
  <p:transition/>
  <p:hf hdr="0" dt="0"/>
  <p:txStyles>
    <p:titleStyle>
      <a:lvl1pPr algn="l" rtl="0" eaLnBrk="0" fontAlgn="base" hangingPunct="0">
        <a:spcBef>
          <a:spcPct val="0"/>
        </a:spcBef>
        <a:spcAft>
          <a:spcPct val="0"/>
        </a:spcAft>
        <a:defRPr sz="4000">
          <a:solidFill>
            <a:srgbClr val="AE1221"/>
          </a:solidFill>
          <a:latin typeface="+mj-lt"/>
          <a:ea typeface="+mj-ea"/>
          <a:cs typeface="+mj-cs"/>
        </a:defRPr>
      </a:lvl1pPr>
      <a:lvl2pPr algn="ctr" rtl="0" eaLnBrk="0" fontAlgn="base" hangingPunct="0">
        <a:spcBef>
          <a:spcPct val="0"/>
        </a:spcBef>
        <a:spcAft>
          <a:spcPct val="0"/>
        </a:spcAft>
        <a:defRPr sz="4000">
          <a:solidFill>
            <a:srgbClr val="AE1221"/>
          </a:solidFill>
          <a:latin typeface="Arial" pitchFamily="34" charset="0"/>
        </a:defRPr>
      </a:lvl2pPr>
      <a:lvl3pPr algn="ctr" rtl="0" eaLnBrk="0" fontAlgn="base" hangingPunct="0">
        <a:spcBef>
          <a:spcPct val="0"/>
        </a:spcBef>
        <a:spcAft>
          <a:spcPct val="0"/>
        </a:spcAft>
        <a:defRPr sz="4000">
          <a:solidFill>
            <a:srgbClr val="AE1221"/>
          </a:solidFill>
          <a:latin typeface="Arial" pitchFamily="34" charset="0"/>
        </a:defRPr>
      </a:lvl3pPr>
      <a:lvl4pPr algn="ctr" rtl="0" eaLnBrk="0" fontAlgn="base" hangingPunct="0">
        <a:spcBef>
          <a:spcPct val="0"/>
        </a:spcBef>
        <a:spcAft>
          <a:spcPct val="0"/>
        </a:spcAft>
        <a:defRPr sz="4000">
          <a:solidFill>
            <a:srgbClr val="AE1221"/>
          </a:solidFill>
          <a:latin typeface="Arial" pitchFamily="34" charset="0"/>
        </a:defRPr>
      </a:lvl4pPr>
      <a:lvl5pPr algn="ctr" rtl="0" eaLnBrk="0" fontAlgn="base" hangingPunct="0">
        <a:spcBef>
          <a:spcPct val="0"/>
        </a:spcBef>
        <a:spcAft>
          <a:spcPct val="0"/>
        </a:spcAft>
        <a:defRPr sz="4000">
          <a:solidFill>
            <a:srgbClr val="AE1221"/>
          </a:solidFill>
          <a:latin typeface="Arial" pitchFamily="34" charset="0"/>
        </a:defRPr>
      </a:lvl5pPr>
      <a:lvl6pPr marL="457200" algn="ctr" rtl="0" fontAlgn="base">
        <a:spcBef>
          <a:spcPct val="0"/>
        </a:spcBef>
        <a:spcAft>
          <a:spcPct val="0"/>
        </a:spcAft>
        <a:defRPr sz="4000">
          <a:solidFill>
            <a:schemeClr val="accent2"/>
          </a:solidFill>
          <a:latin typeface="Arial" pitchFamily="34" charset="0"/>
        </a:defRPr>
      </a:lvl6pPr>
      <a:lvl7pPr marL="914400" algn="ctr" rtl="0" fontAlgn="base">
        <a:spcBef>
          <a:spcPct val="0"/>
        </a:spcBef>
        <a:spcAft>
          <a:spcPct val="0"/>
        </a:spcAft>
        <a:defRPr sz="4000">
          <a:solidFill>
            <a:schemeClr val="accent2"/>
          </a:solidFill>
          <a:latin typeface="Arial" pitchFamily="34" charset="0"/>
        </a:defRPr>
      </a:lvl7pPr>
      <a:lvl8pPr marL="1371600" algn="ctr" rtl="0" fontAlgn="base">
        <a:spcBef>
          <a:spcPct val="0"/>
        </a:spcBef>
        <a:spcAft>
          <a:spcPct val="0"/>
        </a:spcAft>
        <a:defRPr sz="4000">
          <a:solidFill>
            <a:schemeClr val="accent2"/>
          </a:solidFill>
          <a:latin typeface="Arial" pitchFamily="34" charset="0"/>
        </a:defRPr>
      </a:lvl8pPr>
      <a:lvl9pPr marL="1828800" algn="ctr" rtl="0" fontAlgn="base">
        <a:spcBef>
          <a:spcPct val="0"/>
        </a:spcBef>
        <a:spcAft>
          <a:spcPct val="0"/>
        </a:spcAft>
        <a:defRPr sz="4000">
          <a:solidFill>
            <a:schemeClr val="accent2"/>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4E519E"/>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200">
          <a:solidFill>
            <a:schemeClr val="tx1"/>
          </a:solidFill>
          <a:latin typeface="+mn-lt"/>
        </a:defRPr>
      </a:lvl2pPr>
      <a:lvl3pPr marL="1143000" indent="-228600" algn="l" rtl="0" eaLnBrk="0" fontAlgn="base" hangingPunct="0">
        <a:spcBef>
          <a:spcPct val="20000"/>
        </a:spcBef>
        <a:spcAft>
          <a:spcPct val="0"/>
        </a:spcAft>
        <a:buSzPct val="90000"/>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966" y="6400800"/>
            <a:ext cx="492034"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2" name="Rectangle 2"/>
          <p:cNvSpPr>
            <a:spLocks noGrp="1" noChangeAspect="1" noChangeArrowheads="1"/>
          </p:cNvSpPr>
          <p:nvPr>
            <p:ph type="title"/>
          </p:nvPr>
        </p:nvSpPr>
        <p:spPr bwMode="auto">
          <a:xfrm>
            <a:off x="506413" y="0"/>
            <a:ext cx="84502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Master case-study #2</a:t>
            </a:r>
          </a:p>
        </p:txBody>
      </p:sp>
      <p:sp>
        <p:nvSpPr>
          <p:cNvPr id="6150" name="Rectangle 3"/>
          <p:cNvSpPr>
            <a:spLocks noGrp="1" noChangeAspect="1" noChangeArrowheads="1"/>
          </p:cNvSpPr>
          <p:nvPr>
            <p:ph type="body" idx="1"/>
          </p:nvPr>
        </p:nvSpPr>
        <p:spPr bwMode="auto">
          <a:xfrm>
            <a:off x="457200" y="700088"/>
            <a:ext cx="8458200" cy="577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pic>
        <p:nvPicPr>
          <p:cNvPr id="5126"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5" y="-9525"/>
            <a:ext cx="795338"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9" name="Footer Placeholder 4"/>
          <p:cNvSpPr txBox="1">
            <a:spLocks/>
          </p:cNvSpPr>
          <p:nvPr userDrawn="1"/>
        </p:nvSpPr>
        <p:spPr>
          <a:xfrm>
            <a:off x="0" y="6324601"/>
            <a:ext cx="8763000" cy="533400"/>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07448745"/>
      </p:ext>
    </p:extLst>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150">
                                            <p:txEl>
                                              <p:pRg st="0" end="0"/>
                                            </p:txEl>
                                          </p:spTgt>
                                        </p:tgtEl>
                                        <p:attrNameLst>
                                          <p:attrName>style.visibility</p:attrName>
                                        </p:attrNameLst>
                                      </p:cBhvr>
                                      <p:to>
                                        <p:strVal val="visible"/>
                                      </p:to>
                                    </p:set>
                                    <p:animEffect transition="in" filter="wipe(left)">
                                      <p:cBhvr>
                                        <p:cTn id="7" dur="500"/>
                                        <p:tgtEl>
                                          <p:spTgt spid="615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150">
                                            <p:txEl>
                                              <p:pRg st="1" end="1"/>
                                            </p:txEl>
                                          </p:spTgt>
                                        </p:tgtEl>
                                        <p:attrNameLst>
                                          <p:attrName>style.visibility</p:attrName>
                                        </p:attrNameLst>
                                      </p:cBhvr>
                                      <p:to>
                                        <p:strVal val="visible"/>
                                      </p:to>
                                    </p:set>
                                    <p:animEffect transition="in" filter="wipe(left)">
                                      <p:cBhvr>
                                        <p:cTn id="11" dur="500"/>
                                        <p:tgtEl>
                                          <p:spTgt spid="615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150">
                                            <p:txEl>
                                              <p:pRg st="2" end="2"/>
                                            </p:txEl>
                                          </p:spTgt>
                                        </p:tgtEl>
                                        <p:attrNameLst>
                                          <p:attrName>style.visibility</p:attrName>
                                        </p:attrNameLst>
                                      </p:cBhvr>
                                      <p:to>
                                        <p:strVal val="visible"/>
                                      </p:to>
                                    </p:set>
                                    <p:animEffect transition="in" filter="wipe(left)">
                                      <p:cBhvr>
                                        <p:cTn id="15" dur="500"/>
                                        <p:tgtEl>
                                          <p:spTgt spid="615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150">
                                            <p:txEl>
                                              <p:pRg st="3" end="3"/>
                                            </p:txEl>
                                          </p:spTgt>
                                        </p:tgtEl>
                                        <p:attrNameLst>
                                          <p:attrName>style.visibility</p:attrName>
                                        </p:attrNameLst>
                                      </p:cBhvr>
                                      <p:to>
                                        <p:strVal val="visible"/>
                                      </p:to>
                                    </p:set>
                                    <p:animEffect transition="in" filter="wipe(left)">
                                      <p:cBhvr>
                                        <p:cTn id="19" dur="500"/>
                                        <p:tgtEl>
                                          <p:spTgt spid="615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150">
                                            <p:txEl>
                                              <p:pRg st="4" end="4"/>
                                            </p:txEl>
                                          </p:spTgt>
                                        </p:tgtEl>
                                        <p:attrNameLst>
                                          <p:attrName>style.visibility</p:attrName>
                                        </p:attrNameLst>
                                      </p:cBhvr>
                                      <p:to>
                                        <p:strVal val="visible"/>
                                      </p:to>
                                    </p:set>
                                    <p:animEffect transition="in" filter="wipe(left)">
                                      <p:cBhvr>
                                        <p:cTn id="23" dur="500"/>
                                        <p:tgtEl>
                                          <p:spTgt spid="61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build="p">
        <p:tmplLst>
          <p:tmpl lvl="1">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150"/>
                        </p:tgtEl>
                        <p:attrNameLst>
                          <p:attrName>style.visibility</p:attrName>
                        </p:attrNameLst>
                      </p:cBhvr>
                      <p:to>
                        <p:strVal val="visible"/>
                      </p:to>
                    </p:set>
                    <p:animEffect transition="in" filter="wipe(left)">
                      <p:cBhvr>
                        <p:cTn dur="500"/>
                        <p:tgtEl>
                          <p:spTgt spid="6150"/>
                        </p:tgtEl>
                      </p:cBhvr>
                    </p:animEffect>
                  </p:childTnLst>
                </p:cTn>
              </p:par>
            </p:tnLst>
          </p:tmpl>
        </p:tmplLst>
      </p:bldP>
    </p:bldLst>
  </p:timing>
  <p:hf hdr="0" dt="0"/>
  <p:txStyles>
    <p:titleStyle>
      <a:lvl1pPr algn="ctr" rtl="0" eaLnBrk="0" fontAlgn="base" hangingPunct="0">
        <a:spcBef>
          <a:spcPct val="0"/>
        </a:spcBef>
        <a:spcAft>
          <a:spcPct val="0"/>
        </a:spcAft>
        <a:defRPr sz="3000">
          <a:solidFill>
            <a:srgbClr val="0D0D0D"/>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9440A22-8BFD-4B5B-3FE6-E3BF3CB45070}"/>
              </a:ext>
            </a:extLst>
          </p:cNvPr>
          <p:cNvPicPr>
            <a:picLocks noChangeAspect="1"/>
          </p:cNvPicPr>
          <p:nvPr userDrawn="1"/>
        </p:nvPicPr>
        <p:blipFill>
          <a:blip r:embed="rId6"/>
          <a:stretch>
            <a:fillRect/>
          </a:stretch>
        </p:blipFill>
        <p:spPr>
          <a:xfrm>
            <a:off x="8735581" y="6455228"/>
            <a:ext cx="408419" cy="402772"/>
          </a:xfrm>
          <a:prstGeom prst="rect">
            <a:avLst/>
          </a:prstGeom>
        </p:spPr>
      </p:pic>
      <p:grpSp>
        <p:nvGrpSpPr>
          <p:cNvPr id="14" name="Group 13">
            <a:extLst>
              <a:ext uri="{FF2B5EF4-FFF2-40B4-BE49-F238E27FC236}">
                <a16:creationId xmlns:a16="http://schemas.microsoft.com/office/drawing/2014/main" id="{E9160293-9784-8198-02AC-A2CE5BF52997}"/>
              </a:ext>
            </a:extLst>
          </p:cNvPr>
          <p:cNvGrpSpPr/>
          <p:nvPr userDrawn="1"/>
        </p:nvGrpSpPr>
        <p:grpSpPr>
          <a:xfrm>
            <a:off x="0" y="0"/>
            <a:ext cx="9143998" cy="783771"/>
            <a:chOff x="0" y="0"/>
            <a:chExt cx="9143998" cy="783771"/>
          </a:xfrm>
        </p:grpSpPr>
        <p:pic>
          <p:nvPicPr>
            <p:cNvPr id="13" name="Picture 12">
              <a:extLst>
                <a:ext uri="{FF2B5EF4-FFF2-40B4-BE49-F238E27FC236}">
                  <a16:creationId xmlns:a16="http://schemas.microsoft.com/office/drawing/2014/main" id="{CA342020-04AE-B9F5-ADE2-3A64EEF3308A}"/>
                </a:ext>
              </a:extLst>
            </p:cNvPr>
            <p:cNvPicPr>
              <a:picLocks noChangeAspect="1"/>
            </p:cNvPicPr>
            <p:nvPr userDrawn="1"/>
          </p:nvPicPr>
          <p:blipFill>
            <a:blip r:embed="rId7"/>
            <a:stretch>
              <a:fillRect/>
            </a:stretch>
          </p:blipFill>
          <p:spPr>
            <a:xfrm>
              <a:off x="990600" y="1"/>
              <a:ext cx="8153398" cy="783770"/>
            </a:xfrm>
            <a:prstGeom prst="rect">
              <a:avLst/>
            </a:prstGeom>
          </p:spPr>
        </p:pic>
        <p:pic>
          <p:nvPicPr>
            <p:cNvPr id="8" name="Picture 7">
              <a:extLst>
                <a:ext uri="{FF2B5EF4-FFF2-40B4-BE49-F238E27FC236}">
                  <a16:creationId xmlns:a16="http://schemas.microsoft.com/office/drawing/2014/main" id="{00E185A2-CC12-C835-B35E-A13F8B5EBDB4}"/>
                </a:ext>
              </a:extLst>
            </p:cNvPr>
            <p:cNvPicPr>
              <a:picLocks noChangeAspect="1"/>
            </p:cNvPicPr>
            <p:nvPr userDrawn="1"/>
          </p:nvPicPr>
          <p:blipFill>
            <a:blip r:embed="rId8"/>
            <a:stretch>
              <a:fillRect/>
            </a:stretch>
          </p:blipFill>
          <p:spPr>
            <a:xfrm>
              <a:off x="0" y="0"/>
              <a:ext cx="990599" cy="783771"/>
            </a:xfrm>
            <a:prstGeom prst="rect">
              <a:avLst/>
            </a:prstGeom>
          </p:spPr>
        </p:pic>
      </p:grpSp>
      <p:sp>
        <p:nvSpPr>
          <p:cNvPr id="5122" name="Rectangle 2"/>
          <p:cNvSpPr>
            <a:spLocks noGrp="1" noChangeAspect="1" noChangeArrowheads="1"/>
          </p:cNvSpPr>
          <p:nvPr>
            <p:ph type="title"/>
          </p:nvPr>
        </p:nvSpPr>
        <p:spPr bwMode="auto">
          <a:xfrm>
            <a:off x="152399" y="0"/>
            <a:ext cx="8991599"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THINK-PAIR-SHARE</a:t>
            </a:r>
          </a:p>
        </p:txBody>
      </p:sp>
      <p:sp>
        <p:nvSpPr>
          <p:cNvPr id="6150" name="Rectangle 3"/>
          <p:cNvSpPr>
            <a:spLocks noGrp="1" noChangeAspect="1" noChangeArrowheads="1"/>
          </p:cNvSpPr>
          <p:nvPr>
            <p:ph type="body" idx="1"/>
          </p:nvPr>
        </p:nvSpPr>
        <p:spPr bwMode="auto">
          <a:xfrm>
            <a:off x="457200" y="783770"/>
            <a:ext cx="8458200" cy="5693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735580" y="6498769"/>
            <a:ext cx="408420" cy="3592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chemeClr val="bg1"/>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686800" cy="381002"/>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28541375"/>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692" r:id="rId3"/>
    <p:sldLayoutId id="2147483693" r:id="rId4"/>
  </p:sldLayoutIdLst>
  <p:hf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43F128-001E-7656-E092-6EE95225596B}"/>
              </a:ext>
            </a:extLst>
          </p:cNvPr>
          <p:cNvPicPr>
            <a:picLocks noChangeAspect="1"/>
          </p:cNvPicPr>
          <p:nvPr userDrawn="1"/>
        </p:nvPicPr>
        <p:blipFill>
          <a:blip r:embed="rId3"/>
          <a:stretch>
            <a:fillRect/>
          </a:stretch>
        </p:blipFill>
        <p:spPr>
          <a:xfrm>
            <a:off x="8674028" y="6400800"/>
            <a:ext cx="469971" cy="457200"/>
          </a:xfrm>
          <a:prstGeom prst="rect">
            <a:avLst/>
          </a:prstGeom>
        </p:spPr>
      </p:pic>
      <p:sp>
        <p:nvSpPr>
          <p:cNvPr id="6150" name="Rectangle 3"/>
          <p:cNvSpPr>
            <a:spLocks noGrp="1" noChangeAspect="1" noChangeArrowheads="1"/>
          </p:cNvSpPr>
          <p:nvPr>
            <p:ph type="body" idx="1"/>
          </p:nvPr>
        </p:nvSpPr>
        <p:spPr bwMode="auto">
          <a:xfrm>
            <a:off x="304800" y="1602867"/>
            <a:ext cx="8610600" cy="4721733"/>
          </a:xfrm>
          <a:prstGeom prst="rect">
            <a:avLst/>
          </a:prstGeom>
          <a:solidFill>
            <a:srgbClr val="EAEAF4"/>
          </a:solidFill>
          <a:ln>
            <a:noFill/>
          </a:ln>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 </a:t>
            </a:r>
            <a:r>
              <a:rPr lang="en-US" altLang="en-US" dirty="0" err="1"/>
              <a:t>colorat</a:t>
            </a:r>
            <a:r>
              <a:rPr lang="en-US" altLang="en-US" dirty="0"/>
              <a:t> </a:t>
            </a:r>
            <a:r>
              <a:rPr lang="en-US" altLang="en-US" dirty="0" err="1"/>
              <a:t>diferit</a:t>
            </a:r>
            <a:endParaRPr lang="en-US" altLang="en-US" dirty="0"/>
          </a:p>
        </p:txBody>
      </p:sp>
      <p:sp>
        <p:nvSpPr>
          <p:cNvPr id="216071" name="Rectangle 7"/>
          <p:cNvSpPr>
            <a:spLocks noGrp="1" noChangeArrowheads="1"/>
          </p:cNvSpPr>
          <p:nvPr>
            <p:ph type="sldNum" sz="quarter" idx="4"/>
          </p:nvPr>
        </p:nvSpPr>
        <p:spPr bwMode="auto">
          <a:xfrm>
            <a:off x="8628063" y="6467475"/>
            <a:ext cx="515937" cy="390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CFA536BC-3ED5-4293-8323-16A4258B4A0B}" type="slidenum">
              <a:rPr lang="en-US" smtClean="0"/>
              <a:pPr fontAlgn="base">
                <a:spcAft>
                  <a:spcPct val="0"/>
                </a:spcAft>
                <a:defRPr/>
              </a:pPr>
              <a:t>‹#›</a:t>
            </a:fld>
            <a:endParaRPr lang="en-US" dirty="0"/>
          </a:p>
        </p:txBody>
      </p:sp>
      <p:sp>
        <p:nvSpPr>
          <p:cNvPr id="11" name="Footer Placeholder 4"/>
          <p:cNvSpPr txBox="1">
            <a:spLocks/>
          </p:cNvSpPr>
          <p:nvPr userDrawn="1"/>
        </p:nvSpPr>
        <p:spPr>
          <a:xfrm>
            <a:off x="0" y="6476999"/>
            <a:ext cx="8763000" cy="381001"/>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grpSp>
        <p:nvGrpSpPr>
          <p:cNvPr id="14" name="Group 13">
            <a:extLst>
              <a:ext uri="{FF2B5EF4-FFF2-40B4-BE49-F238E27FC236}">
                <a16:creationId xmlns:a16="http://schemas.microsoft.com/office/drawing/2014/main" id="{C835EDD8-042A-A0F3-75F7-909EAC7F38E6}"/>
              </a:ext>
            </a:extLst>
          </p:cNvPr>
          <p:cNvGrpSpPr/>
          <p:nvPr userDrawn="1"/>
        </p:nvGrpSpPr>
        <p:grpSpPr>
          <a:xfrm>
            <a:off x="1" y="0"/>
            <a:ext cx="9143999" cy="1541739"/>
            <a:chOff x="1" y="0"/>
            <a:chExt cx="9143999" cy="1541739"/>
          </a:xfrm>
        </p:grpSpPr>
        <p:grpSp>
          <p:nvGrpSpPr>
            <p:cNvPr id="10" name="Group 9">
              <a:extLst>
                <a:ext uri="{FF2B5EF4-FFF2-40B4-BE49-F238E27FC236}">
                  <a16:creationId xmlns:a16="http://schemas.microsoft.com/office/drawing/2014/main" id="{57574C9D-ED38-72ED-879E-F046CD7F6BD9}"/>
                </a:ext>
              </a:extLst>
            </p:cNvPr>
            <p:cNvGrpSpPr/>
            <p:nvPr userDrawn="1"/>
          </p:nvGrpSpPr>
          <p:grpSpPr>
            <a:xfrm>
              <a:off x="1" y="0"/>
              <a:ext cx="9143999" cy="1541739"/>
              <a:chOff x="1" y="0"/>
              <a:chExt cx="9143999" cy="1541739"/>
            </a:xfrm>
          </p:grpSpPr>
          <p:pic>
            <p:nvPicPr>
              <p:cNvPr id="5" name="Picture 4">
                <a:extLst>
                  <a:ext uri="{FF2B5EF4-FFF2-40B4-BE49-F238E27FC236}">
                    <a16:creationId xmlns:a16="http://schemas.microsoft.com/office/drawing/2014/main" id="{9F3AA3B5-A27E-5099-151F-DFF30B7FAE97}"/>
                  </a:ext>
                </a:extLst>
              </p:cNvPr>
              <p:cNvPicPr>
                <a:picLocks noChangeAspect="1"/>
              </p:cNvPicPr>
              <p:nvPr userDrawn="1"/>
            </p:nvPicPr>
            <p:blipFill>
              <a:blip r:embed="rId4"/>
              <a:stretch>
                <a:fillRect/>
              </a:stretch>
            </p:blipFill>
            <p:spPr>
              <a:xfrm>
                <a:off x="1" y="1"/>
                <a:ext cx="2514600" cy="1541738"/>
              </a:xfrm>
              <a:prstGeom prst="rect">
                <a:avLst/>
              </a:prstGeom>
            </p:spPr>
          </p:pic>
          <p:pic>
            <p:nvPicPr>
              <p:cNvPr id="7" name="Picture 6">
                <a:extLst>
                  <a:ext uri="{FF2B5EF4-FFF2-40B4-BE49-F238E27FC236}">
                    <a16:creationId xmlns:a16="http://schemas.microsoft.com/office/drawing/2014/main" id="{4F7CD589-4119-0ED3-C53A-837840172358}"/>
                  </a:ext>
                </a:extLst>
              </p:cNvPr>
              <p:cNvPicPr>
                <a:picLocks noChangeAspect="1"/>
              </p:cNvPicPr>
              <p:nvPr userDrawn="1"/>
            </p:nvPicPr>
            <p:blipFill>
              <a:blip r:embed="rId5"/>
              <a:stretch>
                <a:fillRect/>
              </a:stretch>
            </p:blipFill>
            <p:spPr>
              <a:xfrm>
                <a:off x="1600200" y="272353"/>
                <a:ext cx="7543800" cy="969264"/>
              </a:xfrm>
              <a:prstGeom prst="rect">
                <a:avLst/>
              </a:prstGeom>
            </p:spPr>
          </p:pic>
          <p:pic>
            <p:nvPicPr>
              <p:cNvPr id="9" name="Picture 8">
                <a:extLst>
                  <a:ext uri="{FF2B5EF4-FFF2-40B4-BE49-F238E27FC236}">
                    <a16:creationId xmlns:a16="http://schemas.microsoft.com/office/drawing/2014/main" id="{83666958-61BB-7105-6346-670E1D304595}"/>
                  </a:ext>
                </a:extLst>
              </p:cNvPr>
              <p:cNvPicPr>
                <a:picLocks noChangeAspect="1"/>
              </p:cNvPicPr>
              <p:nvPr userDrawn="1"/>
            </p:nvPicPr>
            <p:blipFill>
              <a:blip r:embed="rId6"/>
              <a:stretch>
                <a:fillRect/>
              </a:stretch>
            </p:blipFill>
            <p:spPr>
              <a:xfrm>
                <a:off x="1447799" y="0"/>
                <a:ext cx="7696199" cy="272353"/>
              </a:xfrm>
              <a:prstGeom prst="rect">
                <a:avLst/>
              </a:prstGeom>
            </p:spPr>
          </p:pic>
        </p:grpSp>
        <p:pic>
          <p:nvPicPr>
            <p:cNvPr id="13" name="Picture 12">
              <a:extLst>
                <a:ext uri="{FF2B5EF4-FFF2-40B4-BE49-F238E27FC236}">
                  <a16:creationId xmlns:a16="http://schemas.microsoft.com/office/drawing/2014/main" id="{7EA6DF6B-C553-3A68-E18A-F19AD7ADAE04}"/>
                </a:ext>
              </a:extLst>
            </p:cNvPr>
            <p:cNvPicPr>
              <a:picLocks noChangeAspect="1"/>
            </p:cNvPicPr>
            <p:nvPr userDrawn="1"/>
          </p:nvPicPr>
          <p:blipFill>
            <a:blip r:embed="rId7"/>
            <a:stretch>
              <a:fillRect/>
            </a:stretch>
          </p:blipFill>
          <p:spPr>
            <a:xfrm>
              <a:off x="1444752" y="1243584"/>
              <a:ext cx="7699246" cy="292608"/>
            </a:xfrm>
            <a:prstGeom prst="rect">
              <a:avLst/>
            </a:prstGeom>
          </p:spPr>
        </p:pic>
      </p:grpSp>
    </p:spTree>
    <p:extLst>
      <p:ext uri="{BB962C8B-B14F-4D97-AF65-F5344CB8AC3E}">
        <p14:creationId xmlns:p14="http://schemas.microsoft.com/office/powerpoint/2010/main" val="540183629"/>
      </p:ext>
    </p:extLst>
  </p:cSld>
  <p:clrMap bg1="lt1" tx1="dk1" bg2="lt2" tx2="dk2" accent1="accent1" accent2="accent2" accent3="accent3" accent4="accent4" accent5="accent5" accent6="accent6" hlink="hlink" folHlink="folHlink"/>
  <p:sldLayoutIdLst>
    <p:sldLayoutId id="2147483677" r:id="rId1"/>
  </p:sldLayoutIdLst>
  <p:hf hdr="0" dt="0"/>
  <p:txStyles>
    <p:titleStyle>
      <a:lvl1pPr algn="l"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000">
          <a:solidFill>
            <a:srgbClr val="0D0D0D"/>
          </a:solidFill>
          <a:latin typeface="Arial" pitchFamily="34" charset="0"/>
        </a:defRPr>
      </a:lvl2pPr>
      <a:lvl3pPr algn="ctr" rtl="0" eaLnBrk="0" fontAlgn="base" hangingPunct="0">
        <a:spcBef>
          <a:spcPct val="0"/>
        </a:spcBef>
        <a:spcAft>
          <a:spcPct val="0"/>
        </a:spcAft>
        <a:defRPr sz="3000">
          <a:solidFill>
            <a:srgbClr val="0D0D0D"/>
          </a:solidFill>
          <a:latin typeface="Arial" pitchFamily="34" charset="0"/>
        </a:defRPr>
      </a:lvl3pPr>
      <a:lvl4pPr algn="ctr" rtl="0" eaLnBrk="0" fontAlgn="base" hangingPunct="0">
        <a:spcBef>
          <a:spcPct val="0"/>
        </a:spcBef>
        <a:spcAft>
          <a:spcPct val="0"/>
        </a:spcAft>
        <a:defRPr sz="3000">
          <a:solidFill>
            <a:srgbClr val="0D0D0D"/>
          </a:solidFill>
          <a:latin typeface="Arial" pitchFamily="34" charset="0"/>
        </a:defRPr>
      </a:lvl4pPr>
      <a:lvl5pPr algn="ctr" rtl="0" eaLnBrk="0" fontAlgn="base" hangingPunct="0">
        <a:spcBef>
          <a:spcPct val="0"/>
        </a:spcBef>
        <a:spcAft>
          <a:spcPct val="0"/>
        </a:spcAft>
        <a:defRPr sz="3000">
          <a:solidFill>
            <a:srgbClr val="0D0D0D"/>
          </a:solidFill>
          <a:latin typeface="Arial" pitchFamily="34" charset="0"/>
        </a:defRPr>
      </a:lvl5pPr>
      <a:lvl6pPr marL="457200" algn="l" rtl="0" fontAlgn="base">
        <a:spcBef>
          <a:spcPct val="0"/>
        </a:spcBef>
        <a:spcAft>
          <a:spcPct val="0"/>
        </a:spcAft>
        <a:defRPr sz="3000">
          <a:solidFill>
            <a:srgbClr val="990000"/>
          </a:solidFill>
          <a:latin typeface="Arial" pitchFamily="34" charset="0"/>
        </a:defRPr>
      </a:lvl6pPr>
      <a:lvl7pPr marL="914400" algn="l" rtl="0" fontAlgn="base">
        <a:spcBef>
          <a:spcPct val="0"/>
        </a:spcBef>
        <a:spcAft>
          <a:spcPct val="0"/>
        </a:spcAft>
        <a:defRPr sz="3000">
          <a:solidFill>
            <a:srgbClr val="990000"/>
          </a:solidFill>
          <a:latin typeface="Arial" pitchFamily="34" charset="0"/>
        </a:defRPr>
      </a:lvl7pPr>
      <a:lvl8pPr marL="1371600" algn="l" rtl="0" fontAlgn="base">
        <a:spcBef>
          <a:spcPct val="0"/>
        </a:spcBef>
        <a:spcAft>
          <a:spcPct val="0"/>
        </a:spcAft>
        <a:defRPr sz="3000">
          <a:solidFill>
            <a:srgbClr val="990000"/>
          </a:solidFill>
          <a:latin typeface="Arial" pitchFamily="34" charset="0"/>
        </a:defRPr>
      </a:lvl8pPr>
      <a:lvl9pPr marL="1828800" algn="l" rtl="0" fontAlgn="base">
        <a:spcBef>
          <a:spcPct val="0"/>
        </a:spcBef>
        <a:spcAft>
          <a:spcPct val="0"/>
        </a:spcAft>
        <a:defRPr sz="30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AE1221"/>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spect="1" noChangeArrowheads="1"/>
          </p:cNvSpPr>
          <p:nvPr>
            <p:ph type="title"/>
          </p:nvPr>
        </p:nvSpPr>
        <p:spPr bwMode="auto">
          <a:xfrm>
            <a:off x="2008332" y="0"/>
            <a:ext cx="713566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Appendix master title</a:t>
            </a:r>
          </a:p>
        </p:txBody>
      </p:sp>
      <p:sp>
        <p:nvSpPr>
          <p:cNvPr id="206855" name="Rectangle 7"/>
          <p:cNvSpPr>
            <a:spLocks noGrp="1" noChangeArrowheads="1"/>
          </p:cNvSpPr>
          <p:nvPr>
            <p:ph type="sldNum" sz="quarter" idx="4"/>
          </p:nvPr>
        </p:nvSpPr>
        <p:spPr bwMode="auto">
          <a:xfrm>
            <a:off x="8658225" y="6488113"/>
            <a:ext cx="485775" cy="369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buFontTx/>
              <a:buNone/>
              <a:defRPr sz="1200">
                <a:solidFill>
                  <a:srgbClr val="4E519E"/>
                </a:solidFill>
              </a:defRPr>
            </a:lvl1pPr>
          </a:lstStyle>
          <a:p>
            <a:pPr fontAlgn="base">
              <a:spcAft>
                <a:spcPct val="0"/>
              </a:spcAft>
              <a:defRPr/>
            </a:pPr>
            <a:fld id="{FCD5D5FD-C24C-4EC1-877A-4A06FFD43F54}" type="slidenum">
              <a:rPr lang="en-US" smtClean="0"/>
              <a:pPr fontAlgn="base">
                <a:spcAft>
                  <a:spcPct val="0"/>
                </a:spcAft>
                <a:defRPr/>
              </a:pPr>
              <a:t>‹#›</a:t>
            </a:fld>
            <a:endParaRPr lang="en-US" dirty="0"/>
          </a:p>
        </p:txBody>
      </p:sp>
      <p:sp>
        <p:nvSpPr>
          <p:cNvPr id="10" name="Text Placeholder 9"/>
          <p:cNvSpPr>
            <a:spLocks noGrp="1"/>
          </p:cNvSpPr>
          <p:nvPr>
            <p:ph type="body" idx="1"/>
          </p:nvPr>
        </p:nvSpPr>
        <p:spPr bwMode="auto">
          <a:xfrm>
            <a:off x="457200" y="592138"/>
            <a:ext cx="8482013"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grpSp>
        <p:nvGrpSpPr>
          <p:cNvPr id="3" name="Group 2"/>
          <p:cNvGrpSpPr/>
          <p:nvPr/>
        </p:nvGrpSpPr>
        <p:grpSpPr>
          <a:xfrm>
            <a:off x="32017" y="72581"/>
            <a:ext cx="1976315" cy="6252019"/>
            <a:chOff x="26319" y="75430"/>
            <a:chExt cx="1976315" cy="6409508"/>
          </a:xfrm>
        </p:grpSpPr>
        <p:pic>
          <p:nvPicPr>
            <p:cNvPr id="6155" name="Picture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319" y="75430"/>
              <a:ext cx="1976315" cy="521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6"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6319" y="563034"/>
              <a:ext cx="391023" cy="5921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grpSp>
        <p:nvGrpSpPr>
          <p:cNvPr id="2" name="Group 1"/>
          <p:cNvGrpSpPr/>
          <p:nvPr/>
        </p:nvGrpSpPr>
        <p:grpSpPr>
          <a:xfrm>
            <a:off x="8218204" y="750888"/>
            <a:ext cx="893380" cy="5573712"/>
            <a:chOff x="8229600" y="750888"/>
            <a:chExt cx="893380" cy="5734050"/>
          </a:xfrm>
        </p:grpSpPr>
        <p:pic>
          <p:nvPicPr>
            <p:cNvPr id="13" name="Picture 1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32905" y="750888"/>
              <a:ext cx="90075"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6157" name="Picture 1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229600" y="6434982"/>
              <a:ext cx="893380" cy="499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grpSp>
      <p:sp>
        <p:nvSpPr>
          <p:cNvPr id="15" name="Footer Placeholder 4"/>
          <p:cNvSpPr txBox="1">
            <a:spLocks/>
          </p:cNvSpPr>
          <p:nvPr userDrawn="1"/>
        </p:nvSpPr>
        <p:spPr>
          <a:xfrm>
            <a:off x="0" y="6488113"/>
            <a:ext cx="8763000" cy="369888"/>
          </a:xfrm>
          <a:prstGeom prst="rect">
            <a:avLst/>
          </a:prstGeom>
          <a:noFill/>
        </p:spPr>
        <p:txBody>
          <a:bodyPr vert="horz" lIns="91440" tIns="45720" rIns="91440" bIns="45720" rtlCol="0" anchor="ctr"/>
          <a:lstStyle>
            <a:defPPr>
              <a:defRPr lang="en-US"/>
            </a:defPPr>
            <a:lvl1pPr marL="0" algn="l" defTabSz="914400" rtl="0" eaLnBrk="1" latinLnBrk="0" hangingPunct="1">
              <a:buFontTx/>
              <a:buNone/>
              <a:defRPr sz="900" kern="1200">
                <a:solidFill>
                  <a:schemeClr val="tx1"/>
                </a:solidFill>
                <a:latin typeface="+mn-lt"/>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Aft>
                <a:spcPct val="0"/>
              </a:spcAft>
              <a:defRPr/>
            </a:pPr>
            <a:r>
              <a:rPr lang="en-US" dirty="0"/>
              <a:t>Mankiw, </a:t>
            </a:r>
            <a:r>
              <a:rPr lang="en-US" i="1" dirty="0"/>
              <a:t>Principles of Economics</a:t>
            </a:r>
            <a:r>
              <a:rPr lang="en-US" dirty="0"/>
              <a:t>, 10th Edition. © 2024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78277993"/>
      </p:ext>
    </p:extLst>
  </p:cSld>
  <p:clrMap bg1="lt1" tx1="dk1" bg2="lt2" tx2="dk2" accent1="accent1" accent2="accent2" accent3="accent3" accent4="accent4" accent5="accent5" accent6="accent6" hlink="hlink" folHlink="folHlink"/>
  <p:sldLayoutIdLst>
    <p:sldLayoutId id="2147483673"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animEffect transition="in" filter="wipe(left)">
                                      <p:cBhvr>
                                        <p:cTn id="11" dur="500"/>
                                        <p:tgtEl>
                                          <p:spTgt spid="10">
                                            <p:txEl>
                                              <p:pRg st="1" end="1"/>
                                            </p:txEl>
                                          </p:spTgt>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wipe(left)">
                                      <p:cBhvr>
                                        <p:cTn id="15" dur="500"/>
                                        <p:tgtEl>
                                          <p:spTgt spid="10">
                                            <p:txEl>
                                              <p:pRg st="2" end="2"/>
                                            </p:txEl>
                                          </p:spTgt>
                                        </p:tgtEl>
                                      </p:cBhvr>
                                    </p:animEffect>
                                  </p:childTnLst>
                                </p:cTn>
                              </p:par>
                            </p:childTnLst>
                          </p:cTn>
                        </p:par>
                        <p:par>
                          <p:cTn id="16" fill="hold" nodeType="afterGroup">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Effect transition="in" filter="wipe(left)">
                                      <p:cBhvr>
                                        <p:cTn id="19" dur="500"/>
                                        <p:tgtEl>
                                          <p:spTgt spid="10">
                                            <p:txEl>
                                              <p:pRg st="3" end="3"/>
                                            </p:txEl>
                                          </p:spTgt>
                                        </p:tgtEl>
                                      </p:cBhvr>
                                    </p:animEffect>
                                  </p:childTnLst>
                                </p:cTn>
                              </p:par>
                            </p:childTnLst>
                          </p:cTn>
                        </p:par>
                        <p:par>
                          <p:cTn id="20" fill="hold" nodeType="afterGroup">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animEffect transition="in" filter="wipe(left)">
                                      <p:cBhvr>
                                        <p:cTn id="23"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left)">
                      <p:cBhvr>
                        <p:cTn dur="500"/>
                        <p:tgtEl>
                          <p:spTgt spid="10"/>
                        </p:tgtEl>
                      </p:cBhvr>
                    </p:animEffect>
                  </p:childTnLst>
                </p:cTn>
              </p:par>
            </p:tnLst>
          </p:tmpl>
        </p:tmplLst>
      </p:bldP>
    </p:bldLst>
  </p:timing>
  <p:hf hdr="0" dt="0"/>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Arial" pitchFamily="34" charset="0"/>
        </a:defRPr>
      </a:lvl2pPr>
      <a:lvl3pPr algn="l" rtl="0" eaLnBrk="0" fontAlgn="base" hangingPunct="0">
        <a:spcBef>
          <a:spcPct val="0"/>
        </a:spcBef>
        <a:spcAft>
          <a:spcPct val="0"/>
        </a:spcAft>
        <a:defRPr sz="3400">
          <a:solidFill>
            <a:schemeClr val="tx1"/>
          </a:solidFill>
          <a:latin typeface="Arial" pitchFamily="34" charset="0"/>
        </a:defRPr>
      </a:lvl3pPr>
      <a:lvl4pPr algn="l" rtl="0" eaLnBrk="0" fontAlgn="base" hangingPunct="0">
        <a:spcBef>
          <a:spcPct val="0"/>
        </a:spcBef>
        <a:spcAft>
          <a:spcPct val="0"/>
        </a:spcAft>
        <a:defRPr sz="3400">
          <a:solidFill>
            <a:schemeClr val="tx1"/>
          </a:solidFill>
          <a:latin typeface="Arial" pitchFamily="34" charset="0"/>
        </a:defRPr>
      </a:lvl4pPr>
      <a:lvl5pPr algn="l" rtl="0" eaLnBrk="0" fontAlgn="base" hangingPunct="0">
        <a:spcBef>
          <a:spcPct val="0"/>
        </a:spcBef>
        <a:spcAft>
          <a:spcPct val="0"/>
        </a:spcAft>
        <a:defRPr sz="3400">
          <a:solidFill>
            <a:schemeClr val="tx1"/>
          </a:solidFill>
          <a:latin typeface="Arial" pitchFamily="34" charset="0"/>
        </a:defRPr>
      </a:lvl5pPr>
      <a:lvl6pPr marL="457200" algn="l" rtl="0" fontAlgn="base">
        <a:spcBef>
          <a:spcPct val="0"/>
        </a:spcBef>
        <a:spcAft>
          <a:spcPct val="0"/>
        </a:spcAft>
        <a:defRPr sz="3400">
          <a:solidFill>
            <a:srgbClr val="990000"/>
          </a:solidFill>
          <a:latin typeface="Arial" pitchFamily="34" charset="0"/>
        </a:defRPr>
      </a:lvl6pPr>
      <a:lvl7pPr marL="914400" algn="l" rtl="0" fontAlgn="base">
        <a:spcBef>
          <a:spcPct val="0"/>
        </a:spcBef>
        <a:spcAft>
          <a:spcPct val="0"/>
        </a:spcAft>
        <a:defRPr sz="3400">
          <a:solidFill>
            <a:srgbClr val="990000"/>
          </a:solidFill>
          <a:latin typeface="Arial" pitchFamily="34" charset="0"/>
        </a:defRPr>
      </a:lvl7pPr>
      <a:lvl8pPr marL="1371600" algn="l" rtl="0" fontAlgn="base">
        <a:spcBef>
          <a:spcPct val="0"/>
        </a:spcBef>
        <a:spcAft>
          <a:spcPct val="0"/>
        </a:spcAft>
        <a:defRPr sz="3400">
          <a:solidFill>
            <a:srgbClr val="990000"/>
          </a:solidFill>
          <a:latin typeface="Arial" pitchFamily="34" charset="0"/>
        </a:defRPr>
      </a:lvl8pPr>
      <a:lvl9pPr marL="1828800" algn="l" rtl="0" fontAlgn="base">
        <a:spcBef>
          <a:spcPct val="0"/>
        </a:spcBef>
        <a:spcAft>
          <a:spcPct val="0"/>
        </a:spcAft>
        <a:defRPr sz="3400">
          <a:solidFill>
            <a:srgbClr val="990000"/>
          </a:solidFill>
          <a:latin typeface="Arial" pitchFamily="34" charset="0"/>
        </a:defRPr>
      </a:lvl9pPr>
    </p:titleStyle>
    <p:bodyStyle>
      <a:lvl1pPr marL="342900" indent="-342900" algn="l" rtl="0" eaLnBrk="0" fontAlgn="base" hangingPunct="0">
        <a:spcBef>
          <a:spcPct val="20000"/>
        </a:spcBef>
        <a:spcAft>
          <a:spcPct val="0"/>
        </a:spcAft>
        <a:buChar char="•"/>
        <a:defRPr sz="3400">
          <a:solidFill>
            <a:srgbClr val="005EA4"/>
          </a:solidFill>
          <a:latin typeface="+mn-lt"/>
          <a:ea typeface="+mn-ea"/>
          <a:cs typeface="+mn-cs"/>
        </a:defRPr>
      </a:lvl1pPr>
      <a:lvl2pPr marL="742950" indent="-285750" algn="l" rtl="0" eaLnBrk="0" fontAlgn="base" hangingPunct="0">
        <a:spcBef>
          <a:spcPct val="20000"/>
        </a:spcBef>
        <a:spcAft>
          <a:spcPct val="0"/>
        </a:spcAft>
        <a:buChar char="–"/>
        <a:defRPr sz="3200">
          <a:solidFill>
            <a:schemeClr val="tx1"/>
          </a:solidFill>
          <a:latin typeface="+mn-lt"/>
        </a:defRPr>
      </a:lvl2pPr>
      <a:lvl3pPr marL="1143000" indent="-228600" algn="l" rtl="0" eaLnBrk="0" fontAlgn="base" hangingPunct="0">
        <a:spcBef>
          <a:spcPct val="20000"/>
        </a:spcBef>
        <a:spcAft>
          <a:spcPct val="0"/>
        </a:spcAft>
        <a:buChar char="•"/>
        <a:defRPr sz="2800">
          <a:solidFill>
            <a:schemeClr val="tx1"/>
          </a:solidFill>
          <a:latin typeface="+mn-lt"/>
        </a:defRPr>
      </a:lvl3pPr>
      <a:lvl4pPr marL="1600200" indent="-228600" algn="l" rtl="0" eaLnBrk="0" fontAlgn="base" hangingPunct="0">
        <a:spcBef>
          <a:spcPct val="20000"/>
        </a:spcBef>
        <a:spcAft>
          <a:spcPct val="0"/>
        </a:spcAft>
        <a:buChar char="–"/>
        <a:defRPr sz="2400">
          <a:solidFill>
            <a:schemeClr val="tx1"/>
          </a:solidFill>
          <a:latin typeface="+mn-lt"/>
        </a:defRPr>
      </a:lvl4pPr>
      <a:lvl5pPr marL="2057400" indent="-228600" algn="l" rtl="0" eaLnBrk="0" fontAlgn="base" hangingPunct="0">
        <a:spcBef>
          <a:spcPct val="20000"/>
        </a:spcBef>
        <a:spcAft>
          <a:spcPct val="0"/>
        </a:spcAft>
        <a:buChar char="»"/>
        <a:defRPr sz="2400">
          <a:solidFill>
            <a:schemeClr val="tx1"/>
          </a:solidFill>
          <a:latin typeface="+mn-lt"/>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9.xml"/><Relationship Id="rId5" Type="http://schemas.openxmlformats.org/officeDocument/2006/relationships/image" Target="../media/image34.emf"/><Relationship Id="rId4" Type="http://schemas.openxmlformats.org/officeDocument/2006/relationships/image" Target="../media/image33.e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pPr>
              <a:defRPr/>
            </a:pPr>
            <a:fld id="{CABCAE2A-3771-4BE5-9C85-74C66AABFB75}" type="slidenum">
              <a:rPr lang="en-US" smtClean="0">
                <a:solidFill>
                  <a:srgbClr val="FFFFFF"/>
                </a:solidFill>
              </a:rPr>
              <a:pPr>
                <a:defRPr/>
              </a:pPr>
              <a:t>1</a:t>
            </a:fld>
            <a:endParaRPr lang="en-US" dirty="0">
              <a:solidFill>
                <a:srgbClr val="FFFFFF"/>
              </a:solidFill>
            </a:endParaRPr>
          </a:p>
        </p:txBody>
      </p:sp>
      <p:sp>
        <p:nvSpPr>
          <p:cNvPr id="12" name="Footer Placeholder 2"/>
          <p:cNvSpPr>
            <a:spLocks noGrp="1"/>
          </p:cNvSpPr>
          <p:nvPr>
            <p:ph type="ftr" sz="quarter" idx="11"/>
          </p:nvPr>
        </p:nvSpPr>
        <p:spPr>
          <a:xfrm>
            <a:off x="0" y="6400800"/>
            <a:ext cx="8686800" cy="457200"/>
          </a:xfrm>
          <a:prstGeom prst="rect">
            <a:avLst/>
          </a:prstGeom>
          <a:noFill/>
        </p:spPr>
        <p:txBody>
          <a:bodyPr vert="horz" lIns="91440" tIns="45720" rIns="91440" bIns="45720" rtlCol="0" anchor="ctr"/>
          <a:lstStyle>
            <a:lvl1pPr algn="l">
              <a:buNone/>
              <a:defRPr sz="900">
                <a:solidFill>
                  <a:schemeClr val="tx1"/>
                </a:solidFill>
                <a:cs typeface="Arial" pitchFamily="34" charset="0"/>
              </a:defRPr>
            </a:lvl1pPr>
          </a:lstStyle>
          <a:p>
            <a:pPr fontAlgn="base">
              <a:spcAft>
                <a:spcPct val="0"/>
              </a:spcAft>
              <a:defRPr/>
            </a:pPr>
            <a:r>
              <a:rPr lang="en-US" dirty="0"/>
              <a:t>Mankiw, </a:t>
            </a:r>
            <a:r>
              <a:rPr lang="en-US" i="1" dirty="0"/>
              <a:t>Principles of Economics</a:t>
            </a:r>
            <a:r>
              <a:rPr lang="en-US" dirty="0"/>
              <a:t>, 11th Edition. © 2027 Cengage. All Rights Reserved. May not be scanned, copied or duplicated, or posted to a publicly accessible website, in whole or in part.</a:t>
            </a:r>
          </a:p>
        </p:txBody>
      </p:sp>
      <p:sp>
        <p:nvSpPr>
          <p:cNvPr id="8" name="Text Placeholder 7"/>
          <p:cNvSpPr>
            <a:spLocks noGrp="1"/>
          </p:cNvSpPr>
          <p:nvPr>
            <p:ph sz="quarter" idx="12"/>
          </p:nvPr>
        </p:nvSpPr>
        <p:spPr>
          <a:xfrm>
            <a:off x="5759458" y="2781300"/>
            <a:ext cx="2806683" cy="2019300"/>
          </a:xfrm>
        </p:spPr>
        <p:txBody>
          <a:bodyPr anchor="ctr">
            <a:normAutofit/>
          </a:bodyPr>
          <a:lstStyle/>
          <a:p>
            <a:pPr algn="ctr">
              <a:defRPr/>
            </a:pPr>
            <a:r>
              <a:rPr lang="en-US" sz="3500" dirty="0"/>
              <a:t>Thinking Like an Economist</a:t>
            </a:r>
          </a:p>
        </p:txBody>
      </p:sp>
      <p:sp>
        <p:nvSpPr>
          <p:cNvPr id="9" name="Content Placeholder 8"/>
          <p:cNvSpPr>
            <a:spLocks noGrp="1"/>
          </p:cNvSpPr>
          <p:nvPr>
            <p:ph sz="quarter" idx="4294967295"/>
          </p:nvPr>
        </p:nvSpPr>
        <p:spPr>
          <a:xfrm>
            <a:off x="5759458" y="747491"/>
            <a:ext cx="2806700" cy="2019300"/>
          </a:xfrm>
          <a:blipFill>
            <a:blip r:embed="rId3"/>
            <a:stretch>
              <a:fillRect/>
            </a:stretch>
          </a:blipFill>
        </p:spPr>
        <p:txBody>
          <a:bodyPr>
            <a:normAutofit lnSpcReduction="10000"/>
          </a:bodyPr>
          <a:lstStyle/>
          <a:p>
            <a:pPr algn="ctr"/>
            <a:r>
              <a:rPr lang="en-US" dirty="0">
                <a:solidFill>
                  <a:srgbClr val="84CEF4"/>
                </a:solidFill>
              </a:rPr>
              <a:t>Chapter</a:t>
            </a:r>
            <a:r>
              <a:rPr lang="en-US" sz="3600" dirty="0">
                <a:solidFill>
                  <a:srgbClr val="84CEF4"/>
                </a:solidFill>
              </a:rPr>
              <a:t> </a:t>
            </a:r>
          </a:p>
          <a:p>
            <a:pPr algn="ctr"/>
            <a:r>
              <a:rPr lang="en-US" sz="8000" dirty="0">
                <a:solidFill>
                  <a:schemeClr val="bg1"/>
                </a:solidFill>
              </a:rPr>
              <a:t>2</a:t>
            </a:r>
          </a:p>
        </p:txBody>
      </p:sp>
      <p:sp>
        <p:nvSpPr>
          <p:cNvPr id="2" name="TextBox 1">
            <a:extLst>
              <a:ext uri="{FF2B5EF4-FFF2-40B4-BE49-F238E27FC236}">
                <a16:creationId xmlns:a16="http://schemas.microsoft.com/office/drawing/2014/main" id="{66FB50D3-56D8-31D7-4AC4-3C1AFD8571E7}"/>
              </a:ext>
            </a:extLst>
          </p:cNvPr>
          <p:cNvSpPr txBox="1">
            <a:spLocks noGrp="1" noRot="1" noMove="1" noResize="1" noEditPoints="1" noAdjustHandles="1" noChangeArrowheads="1" noChangeShapeType="1"/>
          </p:cNvSpPr>
          <p:nvPr/>
        </p:nvSpPr>
        <p:spPr>
          <a:xfrm>
            <a:off x="5683249" y="5029200"/>
            <a:ext cx="2959100" cy="803910"/>
          </a:xfrm>
          <a:prstGeom prst="rect">
            <a:avLst/>
          </a:prstGeom>
          <a:solidFill>
            <a:schemeClr val="bg1"/>
          </a:solid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Tree>
    <p:extLst>
      <p:ext uri="{BB962C8B-B14F-4D97-AF65-F5344CB8AC3E}">
        <p14:creationId xmlns:p14="http://schemas.microsoft.com/office/powerpoint/2010/main" val="501000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686800" cy="5486400"/>
          </a:xfrm>
        </p:spPr>
        <p:txBody>
          <a:bodyPr>
            <a:noAutofit/>
          </a:bodyPr>
          <a:lstStyle/>
          <a:p>
            <a:r>
              <a:rPr lang="en-US" sz="2800" dirty="0"/>
              <a:t>What are economists’ two roles? How do they differ? </a:t>
            </a:r>
          </a:p>
          <a:p>
            <a:r>
              <a:rPr lang="en-US" sz="2800" dirty="0"/>
              <a:t>What are models? How do economists use them?</a:t>
            </a:r>
          </a:p>
          <a:p>
            <a:r>
              <a:rPr lang="en-US" sz="2800" dirty="0"/>
              <a:t>What are the elements of the Circular-Flow Diagram? What concepts does the diagram illustrate?  </a:t>
            </a:r>
          </a:p>
          <a:p>
            <a:r>
              <a:rPr lang="en-US" sz="2800" dirty="0"/>
              <a:t>How is the Production Possibilities Frontier related to opportunity cost? What other concepts does it illustrate?</a:t>
            </a:r>
          </a:p>
          <a:p>
            <a:r>
              <a:rPr lang="en-US" sz="2800" dirty="0"/>
              <a:t>What is the difference between microeconomics and macroeconomics? Between positive and normative statements?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a:t>
            </a:fld>
            <a:endParaRPr lang="en-US" dirty="0"/>
          </a:p>
        </p:txBody>
      </p:sp>
      <p:sp>
        <p:nvSpPr>
          <p:cNvPr id="2" name="Title 1"/>
          <p:cNvSpPr>
            <a:spLocks noGrp="1"/>
          </p:cNvSpPr>
          <p:nvPr>
            <p:ph type="title"/>
          </p:nvPr>
        </p:nvSpPr>
        <p:spPr/>
        <p:txBody>
          <a:bodyPr/>
          <a:lstStyle/>
          <a:p>
            <a:r>
              <a:rPr lang="en-US" dirty="0"/>
              <a:t>IN THIS CHAPTER</a:t>
            </a:r>
          </a:p>
        </p:txBody>
      </p:sp>
      <p:sp>
        <p:nvSpPr>
          <p:cNvPr id="5" name="Footer Placeholder 4">
            <a:extLst>
              <a:ext uri="{FF2B5EF4-FFF2-40B4-BE49-F238E27FC236}">
                <a16:creationId xmlns:a16="http://schemas.microsoft.com/office/drawing/2014/main" id="{B49FC208-F8E3-6263-673C-53807826DF3C}"/>
              </a:ext>
            </a:extLst>
          </p:cNvPr>
          <p:cNvSpPr>
            <a:spLocks noGrp="1"/>
          </p:cNvSpPr>
          <p:nvPr>
            <p:ph type="ftr" sz="quarter" idx="3"/>
          </p:nvPr>
        </p:nvSpPr>
        <p:spPr>
          <a:xfrm>
            <a:off x="0" y="6477000"/>
            <a:ext cx="8686800" cy="381000"/>
          </a:xfrm>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73833117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wrap="square" anchor="ctr"/>
          <a:lstStyle/>
          <a:p>
            <a:pPr eaLnBrk="1" hangingPunct="1"/>
            <a:r>
              <a:rPr lang="en-US" altLang="en-US" dirty="0"/>
              <a:t>The Economist as a Scientist – 1 </a:t>
            </a:r>
          </a:p>
        </p:txBody>
      </p:sp>
      <p:sp>
        <p:nvSpPr>
          <p:cNvPr id="10243" name="Content Placeholder 2"/>
          <p:cNvSpPr>
            <a:spLocks noGrp="1"/>
          </p:cNvSpPr>
          <p:nvPr>
            <p:ph idx="1"/>
          </p:nvPr>
        </p:nvSpPr>
        <p:spPr/>
        <p:txBody>
          <a:bodyPr/>
          <a:lstStyle/>
          <a:p>
            <a:pPr eaLnBrk="1" hangingPunct="1"/>
            <a:r>
              <a:rPr lang="en-US" altLang="en-US" dirty="0"/>
              <a:t>Economists play two roles:</a:t>
            </a:r>
          </a:p>
          <a:p>
            <a:pPr marL="971550" lvl="1" indent="-514350" eaLnBrk="1" hangingPunct="1">
              <a:buFont typeface="+mj-lt"/>
              <a:buAutoNum type="arabicPeriod"/>
            </a:pPr>
            <a:r>
              <a:rPr lang="en-US" altLang="en-US" dirty="0"/>
              <a:t>Scientists:  try to explain the world</a:t>
            </a:r>
          </a:p>
          <a:p>
            <a:pPr marL="971550" lvl="1" indent="-514350" eaLnBrk="1" hangingPunct="1">
              <a:buFont typeface="+mj-lt"/>
              <a:buAutoNum type="arabicPeriod"/>
            </a:pPr>
            <a:r>
              <a:rPr lang="en-US" altLang="en-US" dirty="0"/>
              <a:t>Policy advisors:  try to improve it</a:t>
            </a:r>
          </a:p>
          <a:p>
            <a:pPr eaLnBrk="1" hangingPunct="1"/>
            <a:r>
              <a:rPr lang="en-US" altLang="en-US" dirty="0"/>
              <a:t>As scientists, economists employ the </a:t>
            </a:r>
            <a:br>
              <a:rPr lang="en-US" altLang="en-US" dirty="0"/>
            </a:br>
            <a:r>
              <a:rPr lang="en-US" altLang="en-US" dirty="0"/>
              <a:t>scientific method</a:t>
            </a:r>
          </a:p>
          <a:p>
            <a:pPr lvl="1" eaLnBrk="1" hangingPunct="1"/>
            <a:r>
              <a:rPr lang="en-US" altLang="en-US" dirty="0"/>
              <a:t>Dispassionate development and testing of theories about how the world works</a:t>
            </a:r>
          </a:p>
          <a:p>
            <a:pPr lvl="1" eaLnBrk="1" hangingPunct="1"/>
            <a:r>
              <a:rPr lang="en-US" altLang="en-US" dirty="0"/>
              <a:t>Devise theories, collect data, and analyze these data to verify or refute their theories</a:t>
            </a:r>
          </a:p>
        </p:txBody>
      </p:sp>
      <p:sp>
        <p:nvSpPr>
          <p:cNvPr id="1024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AE7CD5F2-C5FB-4AD9-8E42-4D84311E995E}" type="slidenum">
              <a:rPr lang="en-US" altLang="en-US" sz="1200" smtClean="0">
                <a:solidFill>
                  <a:srgbClr val="002060"/>
                </a:solidFill>
              </a:rPr>
              <a:pPr algn="ctr" eaLnBrk="1" hangingPunct="1"/>
              <a:t>3</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E05731AA-0DD4-4C12-4F5D-98699274BD7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589033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wrap="square" anchor="ctr"/>
          <a:lstStyle/>
          <a:p>
            <a:pPr eaLnBrk="1" hangingPunct="1"/>
            <a:r>
              <a:rPr lang="en-US" altLang="en-US" dirty="0"/>
              <a:t>The Economist as a Scientist – 2 </a:t>
            </a:r>
          </a:p>
        </p:txBody>
      </p:sp>
      <p:sp>
        <p:nvSpPr>
          <p:cNvPr id="12291" name="Content Placeholder 2"/>
          <p:cNvSpPr>
            <a:spLocks noGrp="1"/>
          </p:cNvSpPr>
          <p:nvPr>
            <p:ph idx="1"/>
          </p:nvPr>
        </p:nvSpPr>
        <p:spPr/>
        <p:txBody>
          <a:bodyPr/>
          <a:lstStyle/>
          <a:p>
            <a:r>
              <a:rPr lang="en-US" altLang="en-US" dirty="0"/>
              <a:t>The scientific method in economics: </a:t>
            </a:r>
          </a:p>
          <a:p>
            <a:pPr lvl="1"/>
            <a:r>
              <a:rPr lang="en-US" altLang="en-US" dirty="0"/>
              <a:t>Observation: collect and analyze data</a:t>
            </a:r>
          </a:p>
          <a:p>
            <a:pPr lvl="1"/>
            <a:r>
              <a:rPr lang="en-US" altLang="en-US" dirty="0"/>
              <a:t>Develop a theory based on the observed data </a:t>
            </a:r>
          </a:p>
          <a:p>
            <a:pPr lvl="1"/>
            <a:r>
              <a:rPr lang="en-US" altLang="en-US" dirty="0"/>
              <a:t>More observation: evaluate the theory</a:t>
            </a:r>
          </a:p>
          <a:p>
            <a:pPr lvl="1"/>
            <a:r>
              <a:rPr lang="en-US" altLang="en-US" dirty="0"/>
              <a:t>Cannot use laboratory experiments</a:t>
            </a:r>
          </a:p>
          <a:p>
            <a:pPr lvl="1"/>
            <a:r>
              <a:rPr lang="en-US" altLang="en-US" dirty="0"/>
              <a:t>Pay close attention to the natural experiments offered by history</a:t>
            </a:r>
          </a:p>
        </p:txBody>
      </p:sp>
      <p:sp>
        <p:nvSpPr>
          <p:cNvPr id="1229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CCF7F1E-CB53-4DBC-92FB-D6687189B98A}" type="slidenum">
              <a:rPr lang="en-US" altLang="en-US" sz="1200" smtClean="0">
                <a:solidFill>
                  <a:srgbClr val="002060"/>
                </a:solidFill>
              </a:rPr>
              <a:pPr algn="ctr" eaLnBrk="1" hangingPunct="1"/>
              <a:t>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5682A1C7-A6E5-52B4-2C91-BAB0A265F71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278671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wrap="square" anchor="ctr"/>
          <a:lstStyle/>
          <a:p>
            <a:pPr eaLnBrk="1" hangingPunct="1"/>
            <a:r>
              <a:rPr lang="en-US" altLang="en-US" dirty="0"/>
              <a:t>The Economist as a Scientist – 3 </a:t>
            </a:r>
          </a:p>
        </p:txBody>
      </p:sp>
      <p:sp>
        <p:nvSpPr>
          <p:cNvPr id="12291" name="Content Placeholder 2"/>
          <p:cNvSpPr>
            <a:spLocks noGrp="1"/>
          </p:cNvSpPr>
          <p:nvPr>
            <p:ph idx="1"/>
          </p:nvPr>
        </p:nvSpPr>
        <p:spPr>
          <a:xfrm>
            <a:off x="277813" y="1025525"/>
            <a:ext cx="8763001" cy="5422900"/>
          </a:xfrm>
        </p:spPr>
        <p:txBody>
          <a:bodyPr/>
          <a:lstStyle/>
          <a:p>
            <a:r>
              <a:rPr lang="en-US" altLang="en-US" dirty="0"/>
              <a:t>Economists make assumptions</a:t>
            </a:r>
          </a:p>
          <a:p>
            <a:pPr lvl="1"/>
            <a:r>
              <a:rPr lang="en-US" altLang="en-US" sz="3000" dirty="0"/>
              <a:t>Simplify the complex world and make it easier to understand</a:t>
            </a:r>
          </a:p>
          <a:p>
            <a:r>
              <a:rPr lang="en-US" altLang="en-US" dirty="0"/>
              <a:t>Economists use models  </a:t>
            </a:r>
          </a:p>
          <a:p>
            <a:pPr lvl="1"/>
            <a:r>
              <a:rPr lang="en-US" altLang="en-US" sz="3000" dirty="0"/>
              <a:t>Omit many details to allow us to see what is truly important and are built with assumptions</a:t>
            </a:r>
          </a:p>
          <a:p>
            <a:pPr lvl="1"/>
            <a:r>
              <a:rPr lang="en-US" altLang="en-US" sz="3000" dirty="0"/>
              <a:t>Simplify reality to improve our understanding of it</a:t>
            </a:r>
          </a:p>
          <a:p>
            <a:pPr lvl="1"/>
            <a:r>
              <a:rPr lang="en-US" altLang="en-US" sz="3000" dirty="0"/>
              <a:t>All models are subject to revision </a:t>
            </a:r>
          </a:p>
        </p:txBody>
      </p:sp>
      <p:sp>
        <p:nvSpPr>
          <p:cNvPr id="1229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CCF7F1E-CB53-4DBC-92FB-D6687189B98A}" type="slidenum">
              <a:rPr lang="en-US" altLang="en-US" sz="1200" smtClean="0">
                <a:solidFill>
                  <a:srgbClr val="002060"/>
                </a:solidFill>
              </a:rPr>
              <a:pPr algn="ctr" eaLnBrk="1" hangingPunct="1"/>
              <a:t>5</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5682A1C7-A6E5-52B4-2C91-BAB0A265F71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040528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wrap="square" anchor="ctr"/>
          <a:lstStyle/>
          <a:p>
            <a:pPr eaLnBrk="1" hangingPunct="1"/>
            <a:r>
              <a:rPr lang="en-US" altLang="en-US" dirty="0"/>
              <a:t>The Circular-Flow Diagram</a:t>
            </a:r>
          </a:p>
        </p:txBody>
      </p:sp>
      <p:sp>
        <p:nvSpPr>
          <p:cNvPr id="14339" name="Content Placeholder 2"/>
          <p:cNvSpPr>
            <a:spLocks noGrp="1"/>
          </p:cNvSpPr>
          <p:nvPr>
            <p:ph idx="1"/>
          </p:nvPr>
        </p:nvSpPr>
        <p:spPr/>
        <p:txBody>
          <a:bodyPr/>
          <a:lstStyle/>
          <a:p>
            <a:r>
              <a:rPr lang="en-US" altLang="en-US" dirty="0"/>
              <a:t>Circular-flow diagram</a:t>
            </a:r>
          </a:p>
          <a:p>
            <a:pPr lvl="1"/>
            <a:r>
              <a:rPr lang="en-US" altLang="en-US" dirty="0"/>
              <a:t>Visual model of the economy</a:t>
            </a:r>
          </a:p>
          <a:p>
            <a:pPr lvl="1"/>
            <a:r>
              <a:rPr lang="en-US" altLang="en-US" dirty="0"/>
              <a:t>Shows how dollars flow through markets among households and firms</a:t>
            </a:r>
          </a:p>
          <a:p>
            <a:r>
              <a:rPr lang="en-US" altLang="en-US" dirty="0"/>
              <a:t>Two decision makers </a:t>
            </a:r>
          </a:p>
          <a:p>
            <a:pPr lvl="1"/>
            <a:r>
              <a:rPr lang="en-US" altLang="en-US" dirty="0"/>
              <a:t>Firms and households </a:t>
            </a:r>
          </a:p>
          <a:p>
            <a:r>
              <a:rPr lang="en-US" altLang="en-US" dirty="0"/>
              <a:t>Interacting in two markets</a:t>
            </a:r>
          </a:p>
          <a:p>
            <a:pPr lvl="1"/>
            <a:r>
              <a:rPr lang="en-US" altLang="en-US" dirty="0"/>
              <a:t>Market for goods and services</a:t>
            </a:r>
          </a:p>
          <a:p>
            <a:pPr lvl="1"/>
            <a:r>
              <a:rPr lang="en-US" altLang="en-US" dirty="0"/>
              <a:t>Market for factors of production (inputs)</a:t>
            </a:r>
          </a:p>
        </p:txBody>
      </p:sp>
      <p:sp>
        <p:nvSpPr>
          <p:cNvPr id="14341"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4CCFF848-2177-41EA-AAA2-5EC53D6C7C0C}" type="slidenum">
              <a:rPr lang="en-US" altLang="en-US" sz="1200" smtClean="0">
                <a:solidFill>
                  <a:srgbClr val="002060"/>
                </a:solidFill>
              </a:rPr>
              <a:pPr algn="ctr" eaLnBrk="1" hangingPunct="1"/>
              <a:t>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0D63B08C-01D2-9927-19BE-7025D9168F6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415462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7"/>
          <p:cNvSpPr>
            <a:spLocks noGrp="1"/>
          </p:cNvSpPr>
          <p:nvPr>
            <p:ph type="title"/>
          </p:nvPr>
        </p:nvSpPr>
        <p:spPr/>
        <p:txBody>
          <a:bodyPr/>
          <a:lstStyle/>
          <a:p>
            <a:pPr algn="ctr"/>
            <a:r>
              <a:rPr lang="en-US" altLang="en-US" dirty="0"/>
              <a:t>The circular flow diagram – 1 </a:t>
            </a:r>
          </a:p>
        </p:txBody>
      </p:sp>
      <p:sp>
        <p:nvSpPr>
          <p:cNvPr id="17411" name="Slide Number Placeholder 1"/>
          <p:cNvSpPr>
            <a:spLocks noGrp="1"/>
          </p:cNvSpPr>
          <p:nvPr>
            <p:ph type="sldNum" sz="quarter" idx="10"/>
          </p:nvPr>
        </p:nvSpPr>
        <p:spPr>
          <a:prstGeom prst="rect">
            <a:avLst/>
          </a:prstGeom>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EF31E863-AF0C-48E5-9875-85C9A2B3C40E}" type="slidenum">
              <a:rPr lang="en-US" altLang="en-US" smtClean="0">
                <a:solidFill>
                  <a:srgbClr val="002060"/>
                </a:solidFill>
              </a:rPr>
              <a:pPr algn="ctr" eaLnBrk="1" hangingPunct="1"/>
              <a:t>7</a:t>
            </a:fld>
            <a:endParaRPr lang="en-US" altLang="en-US">
              <a:solidFill>
                <a:srgbClr val="002060"/>
              </a:solidFill>
            </a:endParaRPr>
          </a:p>
        </p:txBody>
      </p:sp>
      <p:sp>
        <p:nvSpPr>
          <p:cNvPr id="10" name="Text Box 4"/>
          <p:cNvSpPr txBox="1">
            <a:spLocks noChangeArrowheads="1"/>
          </p:cNvSpPr>
          <p:nvPr/>
        </p:nvSpPr>
        <p:spPr bwMode="auto">
          <a:xfrm>
            <a:off x="3916362" y="1523812"/>
            <a:ext cx="5075238" cy="1752788"/>
          </a:xfrm>
          <a:prstGeom prst="rect">
            <a:avLst/>
          </a:prstGeom>
          <a:noFill/>
          <a:ln w="9525">
            <a:solidFill>
              <a:srgbClr val="2557A3"/>
            </a:solidFill>
            <a:miter lim="800000"/>
            <a:headEnd/>
            <a:tailEnd/>
          </a:ln>
          <a:effectLst/>
        </p:spPr>
        <p:txBody>
          <a:bodyPr wrap="square">
            <a:spAutoFit/>
          </a:bodyPr>
          <a:lstStyle/>
          <a:p>
            <a:pPr marL="290513" indent="-231775">
              <a:spcBef>
                <a:spcPct val="15000"/>
              </a:spcBef>
              <a:buClr>
                <a:srgbClr val="CC0000"/>
              </a:buClr>
              <a:buFont typeface="Wingdings" pitchFamily="2" charset="2"/>
              <a:buChar char="§"/>
              <a:defRPr/>
            </a:pPr>
            <a:r>
              <a:rPr lang="en-US" sz="2600" dirty="0">
                <a:latin typeface="Arial" pitchFamily="34" charset="0"/>
                <a:cs typeface="Arial" pitchFamily="34" charset="0"/>
              </a:rPr>
              <a:t>Own and sell the factors of production </a:t>
            </a:r>
          </a:p>
          <a:p>
            <a:pPr marL="290513" indent="-231775">
              <a:spcBef>
                <a:spcPct val="15000"/>
              </a:spcBef>
              <a:buClr>
                <a:srgbClr val="CC0000"/>
              </a:buClr>
              <a:buFont typeface="Wingdings" pitchFamily="2" charset="2"/>
              <a:buChar char="§"/>
              <a:defRPr/>
            </a:pPr>
            <a:r>
              <a:rPr lang="en-US" sz="2600" dirty="0">
                <a:latin typeface="Arial" pitchFamily="34" charset="0"/>
                <a:cs typeface="Arial" pitchFamily="34" charset="0"/>
              </a:rPr>
              <a:t>Buy and consume goods and services</a:t>
            </a:r>
          </a:p>
        </p:txBody>
      </p:sp>
      <p:grpSp>
        <p:nvGrpSpPr>
          <p:cNvPr id="11" name="Group 5"/>
          <p:cNvGrpSpPr>
            <a:grpSpLocks/>
          </p:cNvGrpSpPr>
          <p:nvPr/>
        </p:nvGrpSpPr>
        <p:grpSpPr bwMode="auto">
          <a:xfrm>
            <a:off x="6640513" y="2935287"/>
            <a:ext cx="2162175" cy="893763"/>
            <a:chOff x="4173" y="1870"/>
            <a:chExt cx="1362" cy="563"/>
          </a:xfrm>
          <a:effectLst>
            <a:outerShdw blurRad="50800" dist="38100" dir="2700000" algn="tl" rotWithShape="0">
              <a:prstClr val="black">
                <a:alpha val="40000"/>
              </a:prstClr>
            </a:outerShdw>
          </a:effectLst>
        </p:grpSpPr>
        <p:sp>
          <p:nvSpPr>
            <p:cNvPr id="12" name="Rectangle 6"/>
            <p:cNvSpPr>
              <a:spLocks noChangeArrowheads="1"/>
            </p:cNvSpPr>
            <p:nvPr/>
          </p:nvSpPr>
          <p:spPr bwMode="auto">
            <a:xfrm>
              <a:off x="4173" y="1870"/>
              <a:ext cx="1362" cy="563"/>
            </a:xfrm>
            <a:prstGeom prst="rect">
              <a:avLst/>
            </a:prstGeom>
            <a:solidFill>
              <a:srgbClr val="CED7ED"/>
            </a:solidFill>
            <a:ln w="38100">
              <a:solidFill>
                <a:srgbClr val="2557A3"/>
              </a:solidFill>
              <a:miter lim="800000"/>
              <a:headEnd/>
              <a:tailEnd/>
            </a:ln>
          </p:spPr>
          <p:txBody>
            <a:bodyPr/>
            <a:lstStyle/>
            <a:p>
              <a:endParaRPr lang="en-US" dirty="0">
                <a:latin typeface="Arial" pitchFamily="34" charset="0"/>
                <a:cs typeface="Arial" pitchFamily="34" charset="0"/>
              </a:endParaRPr>
            </a:p>
          </p:txBody>
        </p:sp>
        <p:sp>
          <p:nvSpPr>
            <p:cNvPr id="13" name="Text Box 7"/>
            <p:cNvSpPr txBox="1">
              <a:spLocks noChangeArrowheads="1"/>
            </p:cNvSpPr>
            <p:nvPr/>
          </p:nvSpPr>
          <p:spPr bwMode="auto">
            <a:xfrm>
              <a:off x="4202" y="1998"/>
              <a:ext cx="1309" cy="317"/>
            </a:xfrm>
            <a:prstGeom prst="rect">
              <a:avLst/>
            </a:prstGeom>
            <a:noFill/>
            <a:ln w="38100">
              <a:noFill/>
              <a:miter lim="800000"/>
              <a:headEnd/>
              <a:tailEnd/>
            </a:ln>
          </p:spPr>
          <p:txBody>
            <a:bodyPr>
              <a:spAutoFit/>
            </a:bodyPr>
            <a:lstStyle/>
            <a:p>
              <a:pPr algn="ctr">
                <a:spcBef>
                  <a:spcPct val="50000"/>
                </a:spcBef>
              </a:pPr>
              <a:r>
                <a:rPr lang="en-US" sz="2700" dirty="0">
                  <a:latin typeface="Arial" pitchFamily="34" charset="0"/>
                  <a:cs typeface="Arial" pitchFamily="34" charset="0"/>
                </a:rPr>
                <a:t>Households</a:t>
              </a:r>
            </a:p>
          </p:txBody>
        </p:sp>
      </p:grpSp>
      <p:grpSp>
        <p:nvGrpSpPr>
          <p:cNvPr id="14" name="Group 8"/>
          <p:cNvGrpSpPr>
            <a:grpSpLocks/>
          </p:cNvGrpSpPr>
          <p:nvPr/>
        </p:nvGrpSpPr>
        <p:grpSpPr bwMode="auto">
          <a:xfrm>
            <a:off x="228600" y="2935287"/>
            <a:ext cx="1944688" cy="893763"/>
            <a:chOff x="131" y="1876"/>
            <a:chExt cx="1225" cy="563"/>
          </a:xfrm>
          <a:solidFill>
            <a:srgbClr val="CED7ED"/>
          </a:solidFill>
          <a:effectLst>
            <a:outerShdw blurRad="50800" dist="38100" dir="2700000" algn="tl" rotWithShape="0">
              <a:prstClr val="black">
                <a:alpha val="40000"/>
              </a:prstClr>
            </a:outerShdw>
          </a:effectLst>
        </p:grpSpPr>
        <p:sp>
          <p:nvSpPr>
            <p:cNvPr id="15" name="Rectangle 9"/>
            <p:cNvSpPr>
              <a:spLocks noChangeArrowheads="1"/>
            </p:cNvSpPr>
            <p:nvPr/>
          </p:nvSpPr>
          <p:spPr bwMode="auto">
            <a:xfrm>
              <a:off x="131" y="1876"/>
              <a:ext cx="1225" cy="563"/>
            </a:xfrm>
            <a:prstGeom prst="rect">
              <a:avLst/>
            </a:prstGeom>
            <a:solidFill>
              <a:srgbClr val="CED7ED"/>
            </a:solidFill>
            <a:ln w="38100">
              <a:solidFill>
                <a:srgbClr val="2557A3"/>
              </a:solidFill>
              <a:miter lim="800000"/>
              <a:headEnd/>
              <a:tailEnd/>
            </a:ln>
          </p:spPr>
          <p:txBody>
            <a:bodyPr/>
            <a:lstStyle/>
            <a:p>
              <a:endParaRPr lang="en-US">
                <a:latin typeface="Arial" pitchFamily="34" charset="0"/>
                <a:cs typeface="Arial" pitchFamily="34" charset="0"/>
              </a:endParaRPr>
            </a:p>
          </p:txBody>
        </p:sp>
        <p:sp>
          <p:nvSpPr>
            <p:cNvPr id="16" name="Text Box 10"/>
            <p:cNvSpPr txBox="1">
              <a:spLocks noChangeArrowheads="1"/>
            </p:cNvSpPr>
            <p:nvPr/>
          </p:nvSpPr>
          <p:spPr bwMode="auto">
            <a:xfrm>
              <a:off x="246" y="1989"/>
              <a:ext cx="1021" cy="317"/>
            </a:xfrm>
            <a:prstGeom prst="rect">
              <a:avLst/>
            </a:prstGeom>
            <a:grpFill/>
            <a:ln w="9525">
              <a:noFill/>
              <a:miter lim="800000"/>
              <a:headEnd/>
              <a:tailEnd/>
            </a:ln>
          </p:spPr>
          <p:txBody>
            <a:bodyPr>
              <a:spAutoFit/>
            </a:bodyPr>
            <a:lstStyle/>
            <a:p>
              <a:pPr algn="ctr">
                <a:spcBef>
                  <a:spcPct val="50000"/>
                </a:spcBef>
              </a:pPr>
              <a:r>
                <a:rPr lang="en-US" sz="2700" dirty="0">
                  <a:latin typeface="Arial" pitchFamily="34" charset="0"/>
                  <a:cs typeface="Arial" pitchFamily="34" charset="0"/>
                </a:rPr>
                <a:t>Firms</a:t>
              </a:r>
            </a:p>
          </p:txBody>
        </p:sp>
      </p:grpSp>
      <p:sp>
        <p:nvSpPr>
          <p:cNvPr id="17" name="Text Box 9"/>
          <p:cNvSpPr txBox="1">
            <a:spLocks noChangeArrowheads="1"/>
          </p:cNvSpPr>
          <p:nvPr/>
        </p:nvSpPr>
        <p:spPr bwMode="auto">
          <a:xfrm>
            <a:off x="228600" y="3809812"/>
            <a:ext cx="4038600" cy="1752788"/>
          </a:xfrm>
          <a:prstGeom prst="rect">
            <a:avLst/>
          </a:prstGeom>
          <a:noFill/>
          <a:ln w="9525">
            <a:solidFill>
              <a:srgbClr val="2557A3"/>
            </a:solidFill>
            <a:miter lim="800000"/>
            <a:headEnd/>
            <a:tailEnd/>
          </a:ln>
          <a:effectLst/>
        </p:spPr>
        <p:txBody>
          <a:bodyPr wrap="square">
            <a:spAutoFit/>
          </a:bodyPr>
          <a:lstStyle/>
          <a:p>
            <a:pPr marL="290513" indent="-231775">
              <a:spcBef>
                <a:spcPct val="15000"/>
              </a:spcBef>
              <a:buClr>
                <a:srgbClr val="CC0000"/>
              </a:buClr>
              <a:buFont typeface="Wingdings" pitchFamily="2" charset="2"/>
              <a:buChar char="§"/>
              <a:defRPr/>
            </a:pPr>
            <a:r>
              <a:rPr lang="en-US" sz="2600" dirty="0">
                <a:latin typeface="Arial" pitchFamily="34" charset="0"/>
                <a:cs typeface="Arial" pitchFamily="34" charset="0"/>
              </a:rPr>
              <a:t>Hire and use factors of production </a:t>
            </a:r>
          </a:p>
          <a:p>
            <a:pPr marL="290513" indent="-231775">
              <a:spcBef>
                <a:spcPct val="15000"/>
              </a:spcBef>
              <a:buClr>
                <a:srgbClr val="CC0000"/>
              </a:buClr>
              <a:buFont typeface="Wingdings" pitchFamily="2" charset="2"/>
              <a:buChar char="§"/>
              <a:defRPr/>
            </a:pPr>
            <a:r>
              <a:rPr lang="en-US" sz="2600" dirty="0">
                <a:latin typeface="Arial" pitchFamily="34" charset="0"/>
                <a:cs typeface="Arial" pitchFamily="34" charset="0"/>
              </a:rPr>
              <a:t>Produce and sell goods and services</a:t>
            </a:r>
          </a:p>
        </p:txBody>
      </p:sp>
      <p:sp>
        <p:nvSpPr>
          <p:cNvPr id="3" name="Footer Placeholder 2">
            <a:extLst>
              <a:ext uri="{FF2B5EF4-FFF2-40B4-BE49-F238E27FC236}">
                <a16:creationId xmlns:a16="http://schemas.microsoft.com/office/drawing/2014/main" id="{700C0AAA-698A-F204-6110-FA58C1BE8EDB}"/>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957475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7"/>
          <p:cNvSpPr>
            <a:spLocks noGrp="1"/>
          </p:cNvSpPr>
          <p:nvPr>
            <p:ph type="title"/>
          </p:nvPr>
        </p:nvSpPr>
        <p:spPr/>
        <p:txBody>
          <a:bodyPr/>
          <a:lstStyle/>
          <a:p>
            <a:pPr algn="ctr"/>
            <a:r>
              <a:rPr lang="en-US" altLang="en-US" dirty="0"/>
              <a:t>The circular flow diagram – 2 </a:t>
            </a:r>
            <a:endParaRPr lang="en-US" altLang="en-US" sz="2800" dirty="0"/>
          </a:p>
        </p:txBody>
      </p:sp>
      <p:sp>
        <p:nvSpPr>
          <p:cNvPr id="17411" name="Slide Number Placeholder 1"/>
          <p:cNvSpPr>
            <a:spLocks noGrp="1"/>
          </p:cNvSpPr>
          <p:nvPr>
            <p:ph type="sldNum" sz="quarter" idx="10"/>
          </p:nvPr>
        </p:nvSpPr>
        <p:spPr>
          <a:prstGeom prst="rect">
            <a:avLst/>
          </a:prstGeom>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EF31E863-AF0C-48E5-9875-85C9A2B3C40E}" type="slidenum">
              <a:rPr lang="en-US" altLang="en-US" smtClean="0">
                <a:solidFill>
                  <a:srgbClr val="002060"/>
                </a:solidFill>
              </a:rPr>
              <a:pPr algn="ctr" eaLnBrk="1" hangingPunct="1"/>
              <a:t>8</a:t>
            </a:fld>
            <a:endParaRPr lang="en-US" altLang="en-US">
              <a:solidFill>
                <a:srgbClr val="002060"/>
              </a:solidFill>
            </a:endParaRPr>
          </a:p>
        </p:txBody>
      </p:sp>
      <p:sp>
        <p:nvSpPr>
          <p:cNvPr id="10" name="Text Box 4"/>
          <p:cNvSpPr txBox="1">
            <a:spLocks noChangeArrowheads="1"/>
          </p:cNvSpPr>
          <p:nvPr/>
        </p:nvSpPr>
        <p:spPr bwMode="auto">
          <a:xfrm>
            <a:off x="4495800" y="2394380"/>
            <a:ext cx="4495799" cy="1872820"/>
          </a:xfrm>
          <a:prstGeom prst="rect">
            <a:avLst/>
          </a:prstGeom>
          <a:noFill/>
          <a:ln w="9525">
            <a:solidFill>
              <a:srgbClr val="A64F23"/>
            </a:solidFill>
            <a:miter lim="800000"/>
            <a:headEnd/>
            <a:tailEnd/>
          </a:ln>
          <a:effectLst/>
        </p:spPr>
        <p:txBody>
          <a:bodyPr wrap="square">
            <a:spAutoFit/>
          </a:bodyPr>
          <a:lstStyle/>
          <a:p>
            <a:pPr marL="290513" indent="-231775">
              <a:spcBef>
                <a:spcPct val="15000"/>
              </a:spcBef>
              <a:buClr>
                <a:srgbClr val="CC0000"/>
              </a:buClr>
              <a:buFont typeface="Wingdings" pitchFamily="2" charset="2"/>
              <a:buChar char="§"/>
              <a:defRPr/>
            </a:pPr>
            <a:r>
              <a:rPr lang="en-US" sz="2600" dirty="0">
                <a:latin typeface="Arial" pitchFamily="34" charset="0"/>
                <a:cs typeface="Arial" pitchFamily="34" charset="0"/>
              </a:rPr>
              <a:t>Goods and services </a:t>
            </a:r>
          </a:p>
          <a:p>
            <a:pPr marL="58738">
              <a:spcBef>
                <a:spcPct val="15000"/>
              </a:spcBef>
              <a:buClr>
                <a:srgbClr val="CC0000"/>
              </a:buClr>
              <a:defRPr/>
            </a:pPr>
            <a:r>
              <a:rPr lang="en-US" sz="2600" dirty="0">
                <a:latin typeface="Arial" pitchFamily="34" charset="0"/>
                <a:cs typeface="Arial" pitchFamily="34" charset="0"/>
              </a:rPr>
              <a:t>(G &amp; S) are bought and sold.</a:t>
            </a:r>
          </a:p>
          <a:p>
            <a:pPr marL="290513" indent="-231775">
              <a:spcBef>
                <a:spcPct val="15000"/>
              </a:spcBef>
              <a:buClr>
                <a:srgbClr val="CC0000"/>
              </a:buClr>
              <a:buFont typeface="Wingdings" pitchFamily="2" charset="2"/>
              <a:buChar char="§"/>
              <a:defRPr/>
            </a:pPr>
            <a:r>
              <a:rPr lang="en-US" sz="2600" dirty="0">
                <a:latin typeface="Arial" pitchFamily="34" charset="0"/>
                <a:cs typeface="Arial" pitchFamily="34" charset="0"/>
              </a:rPr>
              <a:t>Sellers: Firms</a:t>
            </a:r>
          </a:p>
          <a:p>
            <a:pPr marL="290513" indent="-231775">
              <a:spcBef>
                <a:spcPct val="15000"/>
              </a:spcBef>
              <a:buClr>
                <a:srgbClr val="CC0000"/>
              </a:buClr>
              <a:buFont typeface="Wingdings" pitchFamily="2" charset="2"/>
              <a:buChar char="§"/>
              <a:defRPr/>
            </a:pPr>
            <a:r>
              <a:rPr lang="en-US" sz="2600" dirty="0">
                <a:latin typeface="Arial" pitchFamily="34" charset="0"/>
                <a:cs typeface="Arial" pitchFamily="34" charset="0"/>
              </a:rPr>
              <a:t>Buyers: Households</a:t>
            </a:r>
          </a:p>
        </p:txBody>
      </p:sp>
      <p:sp>
        <p:nvSpPr>
          <p:cNvPr id="17" name="Text Box 9"/>
          <p:cNvSpPr txBox="1">
            <a:spLocks noChangeArrowheads="1"/>
          </p:cNvSpPr>
          <p:nvPr/>
        </p:nvSpPr>
        <p:spPr bwMode="auto">
          <a:xfrm>
            <a:off x="76200" y="3825996"/>
            <a:ext cx="3657600" cy="1812804"/>
          </a:xfrm>
          <a:prstGeom prst="rect">
            <a:avLst/>
          </a:prstGeom>
          <a:noFill/>
          <a:ln w="9525">
            <a:solidFill>
              <a:srgbClr val="A64F23"/>
            </a:solidFill>
            <a:miter lim="800000"/>
            <a:headEnd/>
            <a:tailEnd/>
          </a:ln>
          <a:effectLst/>
        </p:spPr>
        <p:txBody>
          <a:bodyPr wrap="square">
            <a:spAutoFit/>
          </a:bodyPr>
          <a:lstStyle/>
          <a:p>
            <a:pPr marL="290513" indent="-231775">
              <a:spcBef>
                <a:spcPct val="15000"/>
              </a:spcBef>
              <a:buClr>
                <a:srgbClr val="CC0000"/>
              </a:buClr>
              <a:buFont typeface="Wingdings" pitchFamily="2" charset="2"/>
              <a:buChar char="§"/>
              <a:defRPr/>
            </a:pPr>
            <a:r>
              <a:rPr lang="en-US" sz="2600" dirty="0">
                <a:latin typeface="Arial" pitchFamily="34" charset="0"/>
                <a:cs typeface="Arial" pitchFamily="34" charset="0"/>
              </a:rPr>
              <a:t>Inputs are bought and sold.</a:t>
            </a:r>
          </a:p>
          <a:p>
            <a:pPr marL="290513" indent="-231775">
              <a:spcBef>
                <a:spcPct val="15000"/>
              </a:spcBef>
              <a:buClr>
                <a:srgbClr val="CC0000"/>
              </a:buClr>
              <a:buFont typeface="Wingdings" pitchFamily="2" charset="2"/>
              <a:buChar char="§"/>
              <a:defRPr/>
            </a:pPr>
            <a:r>
              <a:rPr lang="en-US" sz="2600" dirty="0">
                <a:latin typeface="Arial" pitchFamily="34" charset="0"/>
                <a:cs typeface="Arial" pitchFamily="34" charset="0"/>
              </a:rPr>
              <a:t>Sellers: Households</a:t>
            </a:r>
          </a:p>
          <a:p>
            <a:pPr marL="290513" indent="-231775">
              <a:spcBef>
                <a:spcPct val="15000"/>
              </a:spcBef>
              <a:buClr>
                <a:srgbClr val="CC0000"/>
              </a:buClr>
              <a:buFont typeface="Wingdings" pitchFamily="2" charset="2"/>
              <a:buChar char="§"/>
              <a:defRPr/>
            </a:pPr>
            <a:r>
              <a:rPr lang="en-US" sz="2600" dirty="0">
                <a:latin typeface="Arial" pitchFamily="34" charset="0"/>
                <a:cs typeface="Arial" pitchFamily="34" charset="0"/>
              </a:rPr>
              <a:t>Buyers: Firms</a:t>
            </a:r>
          </a:p>
        </p:txBody>
      </p:sp>
      <p:grpSp>
        <p:nvGrpSpPr>
          <p:cNvPr id="21" name="Group 52"/>
          <p:cNvGrpSpPr>
            <a:grpSpLocks/>
          </p:cNvGrpSpPr>
          <p:nvPr/>
        </p:nvGrpSpPr>
        <p:grpSpPr bwMode="auto">
          <a:xfrm>
            <a:off x="3386138" y="815975"/>
            <a:ext cx="2320925" cy="1689100"/>
            <a:chOff x="2133" y="514"/>
            <a:chExt cx="1462" cy="1064"/>
          </a:xfrm>
          <a:effectLst>
            <a:outerShdw blurRad="50800" dist="38100" dir="2700000" algn="tl" rotWithShape="0">
              <a:prstClr val="black">
                <a:alpha val="40000"/>
              </a:prstClr>
            </a:outerShdw>
          </a:effectLst>
        </p:grpSpPr>
        <p:sp>
          <p:nvSpPr>
            <p:cNvPr id="22" name="Oval 53"/>
            <p:cNvSpPr>
              <a:spLocks noChangeArrowheads="1"/>
            </p:cNvSpPr>
            <p:nvPr/>
          </p:nvSpPr>
          <p:spPr bwMode="auto">
            <a:xfrm>
              <a:off x="2133" y="514"/>
              <a:ext cx="1462" cy="1064"/>
            </a:xfrm>
            <a:prstGeom prst="ellipse">
              <a:avLst/>
            </a:prstGeom>
            <a:solidFill>
              <a:srgbClr val="EFD9C6"/>
            </a:solidFill>
            <a:ln w="38100">
              <a:solidFill>
                <a:srgbClr val="A64F23"/>
              </a:solidFill>
              <a:round/>
              <a:headEnd/>
              <a:tailEnd/>
            </a:ln>
          </p:spPr>
          <p:txBody>
            <a:bodyPr/>
            <a:lstStyle/>
            <a:p>
              <a:endParaRPr lang="en-US">
                <a:latin typeface="Arial" pitchFamily="34" charset="0"/>
                <a:cs typeface="Arial" pitchFamily="34" charset="0"/>
              </a:endParaRPr>
            </a:p>
          </p:txBody>
        </p:sp>
        <p:sp>
          <p:nvSpPr>
            <p:cNvPr id="23" name="Text Box 54"/>
            <p:cNvSpPr txBox="1">
              <a:spLocks noChangeArrowheads="1"/>
            </p:cNvSpPr>
            <p:nvPr/>
          </p:nvSpPr>
          <p:spPr bwMode="auto">
            <a:xfrm>
              <a:off x="2190" y="671"/>
              <a:ext cx="1371" cy="808"/>
            </a:xfrm>
            <a:prstGeom prst="rect">
              <a:avLst/>
            </a:prstGeom>
            <a:noFill/>
            <a:ln w="9525">
              <a:noFill/>
              <a:miter lim="800000"/>
              <a:headEnd/>
              <a:tailEnd/>
            </a:ln>
          </p:spPr>
          <p:txBody>
            <a:bodyPr>
              <a:spAutoFit/>
            </a:bodyPr>
            <a:lstStyle/>
            <a:p>
              <a:pPr algn="ctr">
                <a:spcBef>
                  <a:spcPct val="50000"/>
                </a:spcBef>
              </a:pPr>
              <a:r>
                <a:rPr lang="en-US" sz="2600" dirty="0">
                  <a:latin typeface="Arial" pitchFamily="34" charset="0"/>
                  <a:cs typeface="Arial" pitchFamily="34" charset="0"/>
                </a:rPr>
                <a:t>Markets for Goods and Services</a:t>
              </a:r>
            </a:p>
          </p:txBody>
        </p:sp>
      </p:grpSp>
      <p:sp>
        <p:nvSpPr>
          <p:cNvPr id="3" name="Footer Placeholder 2">
            <a:extLst>
              <a:ext uri="{FF2B5EF4-FFF2-40B4-BE49-F238E27FC236}">
                <a16:creationId xmlns:a16="http://schemas.microsoft.com/office/drawing/2014/main" id="{E968134F-15D5-C428-C56D-7FE5E984E6D5}"/>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8" name="Group 3"/>
          <p:cNvGrpSpPr>
            <a:grpSpLocks/>
          </p:cNvGrpSpPr>
          <p:nvPr/>
        </p:nvGrpSpPr>
        <p:grpSpPr bwMode="auto">
          <a:xfrm>
            <a:off x="3357563" y="4435475"/>
            <a:ext cx="2422525" cy="1689100"/>
            <a:chOff x="2115" y="2794"/>
            <a:chExt cx="1526" cy="1064"/>
          </a:xfrm>
        </p:grpSpPr>
        <p:sp>
          <p:nvSpPr>
            <p:cNvPr id="19" name="Oval 4"/>
            <p:cNvSpPr>
              <a:spLocks noChangeArrowheads="1"/>
            </p:cNvSpPr>
            <p:nvPr/>
          </p:nvSpPr>
          <p:spPr bwMode="auto">
            <a:xfrm>
              <a:off x="2138" y="2794"/>
              <a:ext cx="1462" cy="1064"/>
            </a:xfrm>
            <a:prstGeom prst="ellipse">
              <a:avLst/>
            </a:prstGeom>
            <a:solidFill>
              <a:srgbClr val="EFD9C6"/>
            </a:solidFill>
            <a:ln w="38100">
              <a:solidFill>
                <a:srgbClr val="A64F23"/>
              </a:solidFill>
              <a:round/>
              <a:headEnd/>
              <a:tailEnd/>
            </a:ln>
            <a:effectLst>
              <a:outerShdw blurRad="50800" dist="38100" dir="2700000" algn="tl" rotWithShape="0">
                <a:prstClr val="black">
                  <a:alpha val="40000"/>
                </a:prstClr>
              </a:outerShdw>
            </a:effectLst>
          </p:spPr>
          <p:txBody>
            <a:bodyPr/>
            <a:lstStyle/>
            <a:p>
              <a:endParaRPr lang="en-US">
                <a:latin typeface="Arial" pitchFamily="34" charset="0"/>
                <a:cs typeface="Arial" pitchFamily="34" charset="0"/>
              </a:endParaRPr>
            </a:p>
          </p:txBody>
        </p:sp>
        <p:sp>
          <p:nvSpPr>
            <p:cNvPr id="20" name="Text Box 5"/>
            <p:cNvSpPr txBox="1">
              <a:spLocks noChangeArrowheads="1"/>
            </p:cNvSpPr>
            <p:nvPr/>
          </p:nvSpPr>
          <p:spPr bwMode="auto">
            <a:xfrm>
              <a:off x="2115" y="2930"/>
              <a:ext cx="1526" cy="808"/>
            </a:xfrm>
            <a:prstGeom prst="rect">
              <a:avLst/>
            </a:prstGeom>
            <a:noFill/>
            <a:ln w="9525">
              <a:noFill/>
              <a:miter lim="800000"/>
              <a:headEnd/>
              <a:tailEnd/>
            </a:ln>
          </p:spPr>
          <p:txBody>
            <a:bodyPr>
              <a:spAutoFit/>
            </a:bodyPr>
            <a:lstStyle/>
            <a:p>
              <a:pPr algn="ctr">
                <a:spcBef>
                  <a:spcPct val="50000"/>
                </a:spcBef>
              </a:pPr>
              <a:r>
                <a:rPr lang="en-US" sz="2600" dirty="0">
                  <a:latin typeface="Arial" pitchFamily="34" charset="0"/>
                  <a:cs typeface="Arial" pitchFamily="34" charset="0"/>
                </a:rPr>
                <a:t>Markets for Factors of Production</a:t>
              </a:r>
            </a:p>
          </p:txBody>
        </p:sp>
      </p:grpSp>
    </p:spTree>
    <p:extLst>
      <p:ext uri="{BB962C8B-B14F-4D97-AF65-F5344CB8AC3E}">
        <p14:creationId xmlns:p14="http://schemas.microsoft.com/office/powerpoint/2010/main" val="32936888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7"/>
          <p:cNvSpPr>
            <a:spLocks noGrp="1"/>
          </p:cNvSpPr>
          <p:nvPr>
            <p:ph type="title"/>
          </p:nvPr>
        </p:nvSpPr>
        <p:spPr/>
        <p:txBody>
          <a:bodyPr/>
          <a:lstStyle/>
          <a:p>
            <a:pPr algn="ctr"/>
            <a:r>
              <a:rPr lang="en-US" altLang="en-US" dirty="0"/>
              <a:t>The circular flow diagram – 3 </a:t>
            </a:r>
            <a:endParaRPr lang="en-US" altLang="en-US" sz="2800" dirty="0"/>
          </a:p>
        </p:txBody>
      </p:sp>
      <p:sp>
        <p:nvSpPr>
          <p:cNvPr id="17411" name="Slide Number Placeholder 1"/>
          <p:cNvSpPr>
            <a:spLocks noGrp="1"/>
          </p:cNvSpPr>
          <p:nvPr>
            <p:ph type="sldNum" sz="quarter" idx="10"/>
          </p:nvPr>
        </p:nvSpPr>
        <p:spPr>
          <a:prstGeom prst="rect">
            <a:avLst/>
          </a:prstGeom>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EF31E863-AF0C-48E5-9875-85C9A2B3C40E}" type="slidenum">
              <a:rPr lang="en-US" altLang="en-US" smtClean="0">
                <a:solidFill>
                  <a:srgbClr val="002060"/>
                </a:solidFill>
              </a:rPr>
              <a:pPr algn="ctr" eaLnBrk="1" hangingPunct="1"/>
              <a:t>9</a:t>
            </a:fld>
            <a:endParaRPr lang="en-US" altLang="en-US">
              <a:solidFill>
                <a:srgbClr val="002060"/>
              </a:solidFill>
            </a:endParaRPr>
          </a:p>
        </p:txBody>
      </p:sp>
      <p:grpSp>
        <p:nvGrpSpPr>
          <p:cNvPr id="18" name="Group 3"/>
          <p:cNvGrpSpPr>
            <a:grpSpLocks/>
          </p:cNvGrpSpPr>
          <p:nvPr/>
        </p:nvGrpSpPr>
        <p:grpSpPr bwMode="auto">
          <a:xfrm>
            <a:off x="3357563" y="4435475"/>
            <a:ext cx="2422525" cy="1689100"/>
            <a:chOff x="2115" y="2794"/>
            <a:chExt cx="1526" cy="1064"/>
          </a:xfrm>
        </p:grpSpPr>
        <p:sp>
          <p:nvSpPr>
            <p:cNvPr id="19" name="Oval 4"/>
            <p:cNvSpPr>
              <a:spLocks noChangeArrowheads="1"/>
            </p:cNvSpPr>
            <p:nvPr/>
          </p:nvSpPr>
          <p:spPr bwMode="auto">
            <a:xfrm>
              <a:off x="2138" y="2794"/>
              <a:ext cx="1462" cy="1064"/>
            </a:xfrm>
            <a:prstGeom prst="ellipse">
              <a:avLst/>
            </a:prstGeom>
            <a:solidFill>
              <a:srgbClr val="EFD9C6"/>
            </a:solidFill>
            <a:ln w="38100">
              <a:solidFill>
                <a:srgbClr val="A64F23"/>
              </a:solidFill>
              <a:round/>
              <a:headEnd/>
              <a:tailEnd/>
            </a:ln>
            <a:effectLst>
              <a:outerShdw blurRad="50800" dist="38100" dir="2700000" algn="tl" rotWithShape="0">
                <a:prstClr val="black">
                  <a:alpha val="40000"/>
                </a:prstClr>
              </a:outerShdw>
            </a:effectLst>
          </p:spPr>
          <p:txBody>
            <a:bodyPr/>
            <a:lstStyle/>
            <a:p>
              <a:endParaRPr lang="en-US">
                <a:latin typeface="Arial" pitchFamily="34" charset="0"/>
                <a:cs typeface="Arial" pitchFamily="34" charset="0"/>
              </a:endParaRPr>
            </a:p>
          </p:txBody>
        </p:sp>
        <p:sp>
          <p:nvSpPr>
            <p:cNvPr id="20" name="Text Box 5"/>
            <p:cNvSpPr txBox="1">
              <a:spLocks noChangeArrowheads="1"/>
            </p:cNvSpPr>
            <p:nvPr/>
          </p:nvSpPr>
          <p:spPr bwMode="auto">
            <a:xfrm>
              <a:off x="2115" y="2930"/>
              <a:ext cx="1526" cy="808"/>
            </a:xfrm>
            <a:prstGeom prst="rect">
              <a:avLst/>
            </a:prstGeom>
            <a:noFill/>
            <a:ln w="9525">
              <a:noFill/>
              <a:miter lim="800000"/>
              <a:headEnd/>
              <a:tailEnd/>
            </a:ln>
          </p:spPr>
          <p:txBody>
            <a:bodyPr>
              <a:spAutoFit/>
            </a:bodyPr>
            <a:lstStyle/>
            <a:p>
              <a:pPr algn="ctr">
                <a:spcBef>
                  <a:spcPct val="50000"/>
                </a:spcBef>
              </a:pPr>
              <a:r>
                <a:rPr lang="en-US" sz="2600" dirty="0">
                  <a:latin typeface="Arial" pitchFamily="34" charset="0"/>
                  <a:cs typeface="Arial" pitchFamily="34" charset="0"/>
                </a:rPr>
                <a:t>Markets for Factors of Production</a:t>
              </a:r>
            </a:p>
          </p:txBody>
        </p:sp>
      </p:grpSp>
      <p:grpSp>
        <p:nvGrpSpPr>
          <p:cNvPr id="21" name="Group 6"/>
          <p:cNvGrpSpPr>
            <a:grpSpLocks/>
          </p:cNvGrpSpPr>
          <p:nvPr/>
        </p:nvGrpSpPr>
        <p:grpSpPr bwMode="auto">
          <a:xfrm>
            <a:off x="6624638" y="2968625"/>
            <a:ext cx="2162175" cy="893763"/>
            <a:chOff x="4173" y="1870"/>
            <a:chExt cx="1362" cy="563"/>
          </a:xfrm>
          <a:effectLst>
            <a:outerShdw blurRad="50800" dist="38100" dir="2700000" algn="tl" rotWithShape="0">
              <a:prstClr val="black">
                <a:alpha val="40000"/>
              </a:prstClr>
            </a:outerShdw>
          </a:effectLst>
        </p:grpSpPr>
        <p:sp>
          <p:nvSpPr>
            <p:cNvPr id="22" name="Rectangle 7"/>
            <p:cNvSpPr>
              <a:spLocks noChangeArrowheads="1"/>
            </p:cNvSpPr>
            <p:nvPr/>
          </p:nvSpPr>
          <p:spPr bwMode="auto">
            <a:xfrm>
              <a:off x="4173" y="1870"/>
              <a:ext cx="1362" cy="563"/>
            </a:xfrm>
            <a:prstGeom prst="rect">
              <a:avLst/>
            </a:prstGeom>
            <a:solidFill>
              <a:srgbClr val="CED7ED"/>
            </a:solidFill>
            <a:ln w="38100">
              <a:solidFill>
                <a:srgbClr val="2557A3"/>
              </a:solidFill>
              <a:miter lim="800000"/>
              <a:headEnd/>
              <a:tailEnd/>
            </a:ln>
          </p:spPr>
          <p:txBody>
            <a:bodyPr/>
            <a:lstStyle/>
            <a:p>
              <a:endParaRPr lang="en-US">
                <a:latin typeface="Arial" pitchFamily="34" charset="0"/>
                <a:cs typeface="Arial" pitchFamily="34" charset="0"/>
              </a:endParaRPr>
            </a:p>
          </p:txBody>
        </p:sp>
        <p:sp>
          <p:nvSpPr>
            <p:cNvPr id="23" name="Text Box 8"/>
            <p:cNvSpPr txBox="1">
              <a:spLocks noChangeArrowheads="1"/>
            </p:cNvSpPr>
            <p:nvPr/>
          </p:nvSpPr>
          <p:spPr bwMode="auto">
            <a:xfrm>
              <a:off x="4202" y="1998"/>
              <a:ext cx="1309" cy="317"/>
            </a:xfrm>
            <a:prstGeom prst="rect">
              <a:avLst/>
            </a:prstGeom>
            <a:noFill/>
            <a:ln w="9525">
              <a:noFill/>
              <a:miter lim="800000"/>
              <a:headEnd/>
              <a:tailEnd/>
            </a:ln>
          </p:spPr>
          <p:txBody>
            <a:bodyPr>
              <a:spAutoFit/>
            </a:bodyPr>
            <a:lstStyle/>
            <a:p>
              <a:pPr algn="ctr">
                <a:spcBef>
                  <a:spcPct val="50000"/>
                </a:spcBef>
              </a:pPr>
              <a:r>
                <a:rPr lang="en-US" sz="2700">
                  <a:latin typeface="Arial" pitchFamily="34" charset="0"/>
                  <a:cs typeface="Arial" pitchFamily="34" charset="0"/>
                </a:rPr>
                <a:t>Households</a:t>
              </a:r>
            </a:p>
          </p:txBody>
        </p:sp>
      </p:grpSp>
      <p:grpSp>
        <p:nvGrpSpPr>
          <p:cNvPr id="24" name="Group 9"/>
          <p:cNvGrpSpPr>
            <a:grpSpLocks/>
          </p:cNvGrpSpPr>
          <p:nvPr/>
        </p:nvGrpSpPr>
        <p:grpSpPr bwMode="auto">
          <a:xfrm>
            <a:off x="241300" y="2978150"/>
            <a:ext cx="1944688" cy="893763"/>
            <a:chOff x="131" y="1876"/>
            <a:chExt cx="1225" cy="563"/>
          </a:xfrm>
          <a:solidFill>
            <a:srgbClr val="CED7ED"/>
          </a:solidFill>
          <a:effectLst>
            <a:outerShdw blurRad="50800" dist="38100" dir="2700000" algn="tl" rotWithShape="0">
              <a:prstClr val="black">
                <a:alpha val="40000"/>
              </a:prstClr>
            </a:outerShdw>
          </a:effectLst>
        </p:grpSpPr>
        <p:sp>
          <p:nvSpPr>
            <p:cNvPr id="25" name="Rectangle 10"/>
            <p:cNvSpPr>
              <a:spLocks noChangeArrowheads="1"/>
            </p:cNvSpPr>
            <p:nvPr/>
          </p:nvSpPr>
          <p:spPr bwMode="auto">
            <a:xfrm>
              <a:off x="131" y="1876"/>
              <a:ext cx="1225" cy="563"/>
            </a:xfrm>
            <a:prstGeom prst="rect">
              <a:avLst/>
            </a:prstGeom>
            <a:solidFill>
              <a:srgbClr val="CED7ED"/>
            </a:solidFill>
            <a:ln w="38100">
              <a:solidFill>
                <a:srgbClr val="2557A3"/>
              </a:solidFill>
              <a:miter lim="800000"/>
              <a:headEnd/>
              <a:tailEnd/>
            </a:ln>
          </p:spPr>
          <p:txBody>
            <a:bodyPr/>
            <a:lstStyle/>
            <a:p>
              <a:endParaRPr lang="en-US">
                <a:latin typeface="Arial" pitchFamily="34" charset="0"/>
                <a:cs typeface="Arial" pitchFamily="34" charset="0"/>
              </a:endParaRPr>
            </a:p>
          </p:txBody>
        </p:sp>
        <p:sp>
          <p:nvSpPr>
            <p:cNvPr id="26" name="Text Box 11"/>
            <p:cNvSpPr txBox="1">
              <a:spLocks noChangeArrowheads="1"/>
            </p:cNvSpPr>
            <p:nvPr/>
          </p:nvSpPr>
          <p:spPr bwMode="auto">
            <a:xfrm>
              <a:off x="246" y="1989"/>
              <a:ext cx="1021" cy="317"/>
            </a:xfrm>
            <a:prstGeom prst="rect">
              <a:avLst/>
            </a:prstGeom>
            <a:grpFill/>
            <a:ln w="9525">
              <a:noFill/>
              <a:miter lim="800000"/>
              <a:headEnd/>
              <a:tailEnd/>
            </a:ln>
          </p:spPr>
          <p:txBody>
            <a:bodyPr>
              <a:spAutoFit/>
            </a:bodyPr>
            <a:lstStyle/>
            <a:p>
              <a:pPr algn="ctr">
                <a:spcBef>
                  <a:spcPct val="50000"/>
                </a:spcBef>
              </a:pPr>
              <a:r>
                <a:rPr lang="en-US" sz="2700" dirty="0">
                  <a:latin typeface="Arial" pitchFamily="34" charset="0"/>
                  <a:cs typeface="Arial" pitchFamily="34" charset="0"/>
                </a:rPr>
                <a:t>Firms</a:t>
              </a:r>
            </a:p>
          </p:txBody>
        </p:sp>
      </p:grpSp>
      <p:grpSp>
        <p:nvGrpSpPr>
          <p:cNvPr id="27" name="Group 12"/>
          <p:cNvGrpSpPr>
            <a:grpSpLocks/>
          </p:cNvGrpSpPr>
          <p:nvPr/>
        </p:nvGrpSpPr>
        <p:grpSpPr bwMode="auto">
          <a:xfrm>
            <a:off x="5719763" y="3860800"/>
            <a:ext cx="2900362" cy="2098675"/>
            <a:chOff x="3603" y="2432"/>
            <a:chExt cx="1827" cy="1322"/>
          </a:xfrm>
        </p:grpSpPr>
        <p:grpSp>
          <p:nvGrpSpPr>
            <p:cNvPr id="28" name="Group 13"/>
            <p:cNvGrpSpPr>
              <a:grpSpLocks/>
            </p:cNvGrpSpPr>
            <p:nvPr/>
          </p:nvGrpSpPr>
          <p:grpSpPr bwMode="auto">
            <a:xfrm rot="5400000">
              <a:off x="3866" y="2169"/>
              <a:ext cx="1048" cy="1573"/>
              <a:chOff x="3840" y="1040"/>
              <a:chExt cx="1008" cy="752"/>
            </a:xfrm>
          </p:grpSpPr>
          <p:sp>
            <p:nvSpPr>
              <p:cNvPr id="30" name="Line 14"/>
              <p:cNvSpPr>
                <a:spLocks noChangeShapeType="1"/>
              </p:cNvSpPr>
              <p:nvPr/>
            </p:nvSpPr>
            <p:spPr bwMode="auto">
              <a:xfrm flipH="1">
                <a:off x="3840" y="1040"/>
                <a:ext cx="1008" cy="0"/>
              </a:xfrm>
              <a:prstGeom prst="line">
                <a:avLst/>
              </a:prstGeom>
              <a:noFill/>
              <a:ln w="57150">
                <a:solidFill>
                  <a:srgbClr val="009900"/>
                </a:solidFill>
                <a:round/>
                <a:headEnd/>
                <a:tailEnd type="stealth" w="lg" len="lg"/>
              </a:ln>
            </p:spPr>
            <p:txBody>
              <a:bodyPr/>
              <a:lstStyle/>
              <a:p>
                <a:endParaRPr lang="en-US">
                  <a:latin typeface="Arial" pitchFamily="34" charset="0"/>
                  <a:cs typeface="Arial" pitchFamily="34" charset="0"/>
                </a:endParaRPr>
              </a:p>
            </p:txBody>
          </p:sp>
          <p:sp>
            <p:nvSpPr>
              <p:cNvPr id="31" name="Line 15"/>
              <p:cNvSpPr>
                <a:spLocks noChangeShapeType="1"/>
              </p:cNvSpPr>
              <p:nvPr/>
            </p:nvSpPr>
            <p:spPr bwMode="auto">
              <a:xfrm>
                <a:off x="4830" y="1041"/>
                <a:ext cx="0" cy="751"/>
              </a:xfrm>
              <a:prstGeom prst="line">
                <a:avLst/>
              </a:prstGeom>
              <a:noFill/>
              <a:ln w="57150">
                <a:solidFill>
                  <a:srgbClr val="009900"/>
                </a:solidFill>
                <a:round/>
                <a:headEnd/>
                <a:tailEnd/>
              </a:ln>
            </p:spPr>
            <p:txBody>
              <a:bodyPr/>
              <a:lstStyle/>
              <a:p>
                <a:endParaRPr lang="en-US">
                  <a:latin typeface="Arial" pitchFamily="34" charset="0"/>
                  <a:cs typeface="Arial" pitchFamily="34" charset="0"/>
                </a:endParaRPr>
              </a:p>
            </p:txBody>
          </p:sp>
        </p:grpSp>
        <p:sp>
          <p:nvSpPr>
            <p:cNvPr id="29" name="Text Box 16"/>
            <p:cNvSpPr txBox="1">
              <a:spLocks noChangeArrowheads="1"/>
            </p:cNvSpPr>
            <p:nvPr/>
          </p:nvSpPr>
          <p:spPr bwMode="auto">
            <a:xfrm>
              <a:off x="3821" y="3456"/>
              <a:ext cx="1609" cy="298"/>
            </a:xfrm>
            <a:prstGeom prst="rect">
              <a:avLst/>
            </a:prstGeom>
            <a:noFill/>
            <a:ln w="9525">
              <a:noFill/>
              <a:miter lim="800000"/>
              <a:headEnd/>
              <a:tailEnd/>
            </a:ln>
          </p:spPr>
          <p:txBody>
            <a:bodyPr>
              <a:spAutoFit/>
            </a:bodyPr>
            <a:lstStyle/>
            <a:p>
              <a:pPr>
                <a:spcBef>
                  <a:spcPct val="50000"/>
                </a:spcBef>
              </a:pPr>
              <a:r>
                <a:rPr lang="en-US" sz="2500">
                  <a:latin typeface="Arial" pitchFamily="34" charset="0"/>
                  <a:cs typeface="Arial" pitchFamily="34" charset="0"/>
                </a:rPr>
                <a:t>            Income</a:t>
              </a:r>
            </a:p>
          </p:txBody>
        </p:sp>
      </p:grpSp>
      <p:grpSp>
        <p:nvGrpSpPr>
          <p:cNvPr id="32" name="Group 17"/>
          <p:cNvGrpSpPr>
            <a:grpSpLocks/>
          </p:cNvGrpSpPr>
          <p:nvPr/>
        </p:nvGrpSpPr>
        <p:grpSpPr bwMode="auto">
          <a:xfrm>
            <a:off x="484188" y="3890963"/>
            <a:ext cx="2947987" cy="2433637"/>
            <a:chOff x="305" y="2451"/>
            <a:chExt cx="1857" cy="1533"/>
          </a:xfrm>
        </p:grpSpPr>
        <p:grpSp>
          <p:nvGrpSpPr>
            <p:cNvPr id="33" name="Group 18"/>
            <p:cNvGrpSpPr>
              <a:grpSpLocks/>
            </p:cNvGrpSpPr>
            <p:nvPr/>
          </p:nvGrpSpPr>
          <p:grpSpPr bwMode="auto">
            <a:xfrm>
              <a:off x="454" y="2451"/>
              <a:ext cx="1708" cy="1029"/>
              <a:chOff x="454" y="2451"/>
              <a:chExt cx="1684" cy="1029"/>
            </a:xfrm>
          </p:grpSpPr>
          <p:sp>
            <p:nvSpPr>
              <p:cNvPr id="35" name="Line 19"/>
              <p:cNvSpPr>
                <a:spLocks noChangeShapeType="1"/>
              </p:cNvSpPr>
              <p:nvPr/>
            </p:nvSpPr>
            <p:spPr bwMode="auto">
              <a:xfrm rot="10800000" flipH="1">
                <a:off x="454" y="3480"/>
                <a:ext cx="1684" cy="0"/>
              </a:xfrm>
              <a:prstGeom prst="line">
                <a:avLst/>
              </a:prstGeom>
              <a:noFill/>
              <a:ln w="57150">
                <a:solidFill>
                  <a:srgbClr val="009900"/>
                </a:solidFill>
                <a:round/>
                <a:headEnd/>
                <a:tailEnd type="stealth" w="lg" len="lg"/>
              </a:ln>
            </p:spPr>
            <p:txBody>
              <a:bodyPr/>
              <a:lstStyle/>
              <a:p>
                <a:endParaRPr lang="en-US">
                  <a:latin typeface="Arial" pitchFamily="34" charset="0"/>
                  <a:cs typeface="Arial" pitchFamily="34" charset="0"/>
                </a:endParaRPr>
              </a:p>
            </p:txBody>
          </p:sp>
          <p:sp>
            <p:nvSpPr>
              <p:cNvPr id="36" name="Line 20"/>
              <p:cNvSpPr>
                <a:spLocks noChangeShapeType="1"/>
              </p:cNvSpPr>
              <p:nvPr/>
            </p:nvSpPr>
            <p:spPr bwMode="auto">
              <a:xfrm rot="10800000">
                <a:off x="472" y="2451"/>
                <a:ext cx="0" cy="1029"/>
              </a:xfrm>
              <a:prstGeom prst="line">
                <a:avLst/>
              </a:prstGeom>
              <a:noFill/>
              <a:ln w="57150">
                <a:solidFill>
                  <a:srgbClr val="009900"/>
                </a:solidFill>
                <a:round/>
                <a:headEnd/>
                <a:tailEnd/>
              </a:ln>
            </p:spPr>
            <p:txBody>
              <a:bodyPr/>
              <a:lstStyle/>
              <a:p>
                <a:endParaRPr lang="en-US">
                  <a:latin typeface="Arial" pitchFamily="34" charset="0"/>
                  <a:cs typeface="Arial" pitchFamily="34" charset="0"/>
                </a:endParaRPr>
              </a:p>
            </p:txBody>
          </p:sp>
        </p:grpSp>
        <p:sp>
          <p:nvSpPr>
            <p:cNvPr id="34" name="Text Box 21"/>
            <p:cNvSpPr txBox="1">
              <a:spLocks noChangeArrowheads="1"/>
            </p:cNvSpPr>
            <p:nvPr/>
          </p:nvSpPr>
          <p:spPr bwMode="auto">
            <a:xfrm>
              <a:off x="305" y="3470"/>
              <a:ext cx="1408" cy="514"/>
            </a:xfrm>
            <a:prstGeom prst="rect">
              <a:avLst/>
            </a:prstGeom>
            <a:noFill/>
            <a:ln w="9525">
              <a:noFill/>
              <a:miter lim="800000"/>
              <a:headEnd/>
              <a:tailEnd/>
            </a:ln>
          </p:spPr>
          <p:txBody>
            <a:bodyPr>
              <a:spAutoFit/>
            </a:bodyPr>
            <a:lstStyle/>
            <a:p>
              <a:pPr>
                <a:lnSpc>
                  <a:spcPct val="95000"/>
                </a:lnSpc>
                <a:spcBef>
                  <a:spcPct val="50000"/>
                </a:spcBef>
              </a:pPr>
              <a:r>
                <a:rPr lang="en-US" sz="2500" dirty="0">
                  <a:latin typeface="Arial" pitchFamily="34" charset="0"/>
                  <a:cs typeface="Arial" pitchFamily="34" charset="0"/>
                </a:rPr>
                <a:t>Wages, rent, profit</a:t>
              </a:r>
            </a:p>
          </p:txBody>
        </p:sp>
      </p:grpSp>
      <p:grpSp>
        <p:nvGrpSpPr>
          <p:cNvPr id="37" name="Group 22"/>
          <p:cNvGrpSpPr>
            <a:grpSpLocks/>
          </p:cNvGrpSpPr>
          <p:nvPr/>
        </p:nvGrpSpPr>
        <p:grpSpPr bwMode="auto">
          <a:xfrm>
            <a:off x="1158875" y="3876675"/>
            <a:ext cx="2222500" cy="1285875"/>
            <a:chOff x="730" y="2442"/>
            <a:chExt cx="1400" cy="810"/>
          </a:xfrm>
        </p:grpSpPr>
        <p:grpSp>
          <p:nvGrpSpPr>
            <p:cNvPr id="38" name="Group 23"/>
            <p:cNvGrpSpPr>
              <a:grpSpLocks/>
            </p:cNvGrpSpPr>
            <p:nvPr/>
          </p:nvGrpSpPr>
          <p:grpSpPr bwMode="auto">
            <a:xfrm>
              <a:off x="730" y="2442"/>
              <a:ext cx="1400" cy="810"/>
              <a:chOff x="986" y="2478"/>
              <a:chExt cx="879" cy="774"/>
            </a:xfrm>
          </p:grpSpPr>
          <p:sp>
            <p:nvSpPr>
              <p:cNvPr id="40" name="Line 24"/>
              <p:cNvSpPr>
                <a:spLocks noChangeShapeType="1"/>
              </p:cNvSpPr>
              <p:nvPr/>
            </p:nvSpPr>
            <p:spPr bwMode="auto">
              <a:xfrm rot="5400000" flipH="1" flipV="1">
                <a:off x="600" y="2865"/>
                <a:ext cx="774" cy="0"/>
              </a:xfrm>
              <a:prstGeom prst="line">
                <a:avLst/>
              </a:prstGeom>
              <a:noFill/>
              <a:ln w="57150">
                <a:solidFill>
                  <a:srgbClr val="CC0000"/>
                </a:solidFill>
                <a:round/>
                <a:headEnd/>
                <a:tailEnd type="stealth" w="lg" len="lg"/>
              </a:ln>
            </p:spPr>
            <p:txBody>
              <a:bodyPr/>
              <a:lstStyle/>
              <a:p>
                <a:endParaRPr lang="en-US">
                  <a:latin typeface="Arial" pitchFamily="34" charset="0"/>
                  <a:cs typeface="Arial" pitchFamily="34" charset="0"/>
                </a:endParaRPr>
              </a:p>
            </p:txBody>
          </p:sp>
          <p:sp>
            <p:nvSpPr>
              <p:cNvPr id="41" name="Line 25"/>
              <p:cNvSpPr>
                <a:spLocks noChangeShapeType="1"/>
              </p:cNvSpPr>
              <p:nvPr/>
            </p:nvSpPr>
            <p:spPr bwMode="auto">
              <a:xfrm rot="5400000" flipV="1">
                <a:off x="1426" y="2794"/>
                <a:ext cx="0" cy="879"/>
              </a:xfrm>
              <a:prstGeom prst="line">
                <a:avLst/>
              </a:prstGeom>
              <a:noFill/>
              <a:ln w="57150">
                <a:solidFill>
                  <a:srgbClr val="CC0000"/>
                </a:solidFill>
                <a:round/>
                <a:headEnd/>
                <a:tailEnd/>
              </a:ln>
            </p:spPr>
            <p:txBody>
              <a:bodyPr/>
              <a:lstStyle/>
              <a:p>
                <a:endParaRPr lang="en-US">
                  <a:latin typeface="Arial" pitchFamily="34" charset="0"/>
                  <a:cs typeface="Arial" pitchFamily="34" charset="0"/>
                </a:endParaRPr>
              </a:p>
            </p:txBody>
          </p:sp>
        </p:grpSp>
        <p:sp>
          <p:nvSpPr>
            <p:cNvPr id="39" name="Text Box 26"/>
            <p:cNvSpPr txBox="1">
              <a:spLocks noChangeArrowheads="1"/>
            </p:cNvSpPr>
            <p:nvPr/>
          </p:nvSpPr>
          <p:spPr bwMode="auto">
            <a:xfrm>
              <a:off x="758" y="2736"/>
              <a:ext cx="1262" cy="490"/>
            </a:xfrm>
            <a:prstGeom prst="rect">
              <a:avLst/>
            </a:prstGeom>
            <a:noFill/>
            <a:ln w="9525">
              <a:noFill/>
              <a:miter lim="800000"/>
              <a:headEnd/>
              <a:tailEnd/>
            </a:ln>
          </p:spPr>
          <p:txBody>
            <a:bodyPr>
              <a:spAutoFit/>
            </a:bodyPr>
            <a:lstStyle/>
            <a:p>
              <a:pPr>
                <a:lnSpc>
                  <a:spcPct val="90000"/>
                </a:lnSpc>
                <a:spcBef>
                  <a:spcPct val="50000"/>
                </a:spcBef>
              </a:pPr>
              <a:r>
                <a:rPr lang="en-US" sz="2500">
                  <a:latin typeface="Arial" pitchFamily="34" charset="0"/>
                  <a:cs typeface="Arial" pitchFamily="34" charset="0"/>
                </a:rPr>
                <a:t>Factors of production</a:t>
              </a:r>
            </a:p>
          </p:txBody>
        </p:sp>
      </p:grpSp>
      <p:grpSp>
        <p:nvGrpSpPr>
          <p:cNvPr id="42" name="Group 27"/>
          <p:cNvGrpSpPr>
            <a:grpSpLocks/>
          </p:cNvGrpSpPr>
          <p:nvPr/>
        </p:nvGrpSpPr>
        <p:grpSpPr bwMode="auto">
          <a:xfrm>
            <a:off x="5732463" y="3860800"/>
            <a:ext cx="2125662" cy="1301750"/>
            <a:chOff x="3611" y="2432"/>
            <a:chExt cx="1339" cy="820"/>
          </a:xfrm>
        </p:grpSpPr>
        <p:grpSp>
          <p:nvGrpSpPr>
            <p:cNvPr id="43" name="Group 28"/>
            <p:cNvGrpSpPr>
              <a:grpSpLocks/>
            </p:cNvGrpSpPr>
            <p:nvPr/>
          </p:nvGrpSpPr>
          <p:grpSpPr bwMode="auto">
            <a:xfrm>
              <a:off x="3611" y="2432"/>
              <a:ext cx="1339" cy="820"/>
              <a:chOff x="3611" y="2456"/>
              <a:chExt cx="1339" cy="796"/>
            </a:xfrm>
          </p:grpSpPr>
          <p:sp>
            <p:nvSpPr>
              <p:cNvPr id="45" name="Line 29"/>
              <p:cNvSpPr>
                <a:spLocks noChangeShapeType="1"/>
              </p:cNvSpPr>
              <p:nvPr/>
            </p:nvSpPr>
            <p:spPr bwMode="auto">
              <a:xfrm flipH="1" flipV="1">
                <a:off x="3611" y="3248"/>
                <a:ext cx="1339" cy="0"/>
              </a:xfrm>
              <a:prstGeom prst="line">
                <a:avLst/>
              </a:prstGeom>
              <a:noFill/>
              <a:ln w="57150">
                <a:solidFill>
                  <a:srgbClr val="CC0000"/>
                </a:solidFill>
                <a:round/>
                <a:headEnd/>
                <a:tailEnd type="stealth" w="lg" len="lg"/>
              </a:ln>
            </p:spPr>
            <p:txBody>
              <a:bodyPr/>
              <a:lstStyle/>
              <a:p>
                <a:endParaRPr lang="en-US">
                  <a:latin typeface="Arial" pitchFamily="34" charset="0"/>
                  <a:cs typeface="Arial" pitchFamily="34" charset="0"/>
                </a:endParaRPr>
              </a:p>
            </p:txBody>
          </p:sp>
          <p:sp>
            <p:nvSpPr>
              <p:cNvPr id="46" name="Line 30"/>
              <p:cNvSpPr>
                <a:spLocks noChangeShapeType="1"/>
              </p:cNvSpPr>
              <p:nvPr/>
            </p:nvSpPr>
            <p:spPr bwMode="auto">
              <a:xfrm flipV="1">
                <a:off x="4931" y="2456"/>
                <a:ext cx="0" cy="796"/>
              </a:xfrm>
              <a:prstGeom prst="line">
                <a:avLst/>
              </a:prstGeom>
              <a:noFill/>
              <a:ln w="57150">
                <a:solidFill>
                  <a:srgbClr val="CC0000"/>
                </a:solidFill>
                <a:round/>
                <a:headEnd/>
                <a:tailEnd/>
              </a:ln>
            </p:spPr>
            <p:txBody>
              <a:bodyPr/>
              <a:lstStyle/>
              <a:p>
                <a:endParaRPr lang="en-US">
                  <a:latin typeface="Arial" pitchFamily="34" charset="0"/>
                  <a:cs typeface="Arial" pitchFamily="34" charset="0"/>
                </a:endParaRPr>
              </a:p>
            </p:txBody>
          </p:sp>
        </p:grpSp>
        <p:sp>
          <p:nvSpPr>
            <p:cNvPr id="44" name="Text Box 31"/>
            <p:cNvSpPr txBox="1">
              <a:spLocks noChangeArrowheads="1"/>
            </p:cNvSpPr>
            <p:nvPr/>
          </p:nvSpPr>
          <p:spPr bwMode="auto">
            <a:xfrm>
              <a:off x="3682" y="2749"/>
              <a:ext cx="1262" cy="490"/>
            </a:xfrm>
            <a:prstGeom prst="rect">
              <a:avLst/>
            </a:prstGeom>
            <a:noFill/>
            <a:ln w="9525">
              <a:noFill/>
              <a:miter lim="800000"/>
              <a:headEnd/>
              <a:tailEnd/>
            </a:ln>
          </p:spPr>
          <p:txBody>
            <a:bodyPr>
              <a:spAutoFit/>
            </a:bodyPr>
            <a:lstStyle/>
            <a:p>
              <a:pPr algn="r">
                <a:lnSpc>
                  <a:spcPct val="90000"/>
                </a:lnSpc>
                <a:spcBef>
                  <a:spcPct val="50000"/>
                </a:spcBef>
              </a:pPr>
              <a:r>
                <a:rPr lang="en-US" sz="2500" dirty="0">
                  <a:latin typeface="Arial" pitchFamily="34" charset="0"/>
                  <a:cs typeface="Arial" pitchFamily="34" charset="0"/>
                </a:rPr>
                <a:t>Labor, land, capital</a:t>
              </a:r>
            </a:p>
          </p:txBody>
        </p:sp>
      </p:grpSp>
      <p:grpSp>
        <p:nvGrpSpPr>
          <p:cNvPr id="47" name="Group 32"/>
          <p:cNvGrpSpPr>
            <a:grpSpLocks/>
          </p:cNvGrpSpPr>
          <p:nvPr/>
        </p:nvGrpSpPr>
        <p:grpSpPr bwMode="auto">
          <a:xfrm>
            <a:off x="5662613" y="893763"/>
            <a:ext cx="3167062" cy="2068512"/>
            <a:chOff x="3567" y="563"/>
            <a:chExt cx="1995" cy="1303"/>
          </a:xfrm>
        </p:grpSpPr>
        <p:grpSp>
          <p:nvGrpSpPr>
            <p:cNvPr id="48" name="Group 33"/>
            <p:cNvGrpSpPr>
              <a:grpSpLocks/>
            </p:cNvGrpSpPr>
            <p:nvPr/>
          </p:nvGrpSpPr>
          <p:grpSpPr bwMode="auto">
            <a:xfrm>
              <a:off x="3567" y="852"/>
              <a:ext cx="1621" cy="1014"/>
              <a:chOff x="3527" y="852"/>
              <a:chExt cx="1661" cy="998"/>
            </a:xfrm>
          </p:grpSpPr>
          <p:sp>
            <p:nvSpPr>
              <p:cNvPr id="50" name="Line 34"/>
              <p:cNvSpPr>
                <a:spLocks noChangeShapeType="1"/>
              </p:cNvSpPr>
              <p:nvPr/>
            </p:nvSpPr>
            <p:spPr bwMode="auto">
              <a:xfrm flipH="1">
                <a:off x="3527" y="861"/>
                <a:ext cx="1661" cy="0"/>
              </a:xfrm>
              <a:prstGeom prst="line">
                <a:avLst/>
              </a:prstGeom>
              <a:noFill/>
              <a:ln w="57150">
                <a:solidFill>
                  <a:srgbClr val="009900"/>
                </a:solidFill>
                <a:round/>
                <a:headEnd/>
                <a:tailEnd type="stealth" w="lg" len="lg"/>
              </a:ln>
            </p:spPr>
            <p:txBody>
              <a:bodyPr/>
              <a:lstStyle/>
              <a:p>
                <a:endParaRPr lang="en-US">
                  <a:latin typeface="Arial" pitchFamily="34" charset="0"/>
                  <a:cs typeface="Arial" pitchFamily="34" charset="0"/>
                </a:endParaRPr>
              </a:p>
            </p:txBody>
          </p:sp>
          <p:sp>
            <p:nvSpPr>
              <p:cNvPr id="51" name="Line 35"/>
              <p:cNvSpPr>
                <a:spLocks noChangeShapeType="1"/>
              </p:cNvSpPr>
              <p:nvPr/>
            </p:nvSpPr>
            <p:spPr bwMode="auto">
              <a:xfrm>
                <a:off x="5168" y="852"/>
                <a:ext cx="0" cy="998"/>
              </a:xfrm>
              <a:prstGeom prst="line">
                <a:avLst/>
              </a:prstGeom>
              <a:noFill/>
              <a:ln w="57150">
                <a:solidFill>
                  <a:srgbClr val="009900"/>
                </a:solidFill>
                <a:round/>
                <a:headEnd/>
                <a:tailEnd/>
              </a:ln>
            </p:spPr>
            <p:txBody>
              <a:bodyPr/>
              <a:lstStyle/>
              <a:p>
                <a:endParaRPr lang="en-US">
                  <a:latin typeface="Arial" pitchFamily="34" charset="0"/>
                  <a:cs typeface="Arial" pitchFamily="34" charset="0"/>
                </a:endParaRPr>
              </a:p>
            </p:txBody>
          </p:sp>
        </p:grpSp>
        <p:sp>
          <p:nvSpPr>
            <p:cNvPr id="49" name="Text Box 36"/>
            <p:cNvSpPr txBox="1">
              <a:spLocks noChangeArrowheads="1"/>
            </p:cNvSpPr>
            <p:nvPr/>
          </p:nvSpPr>
          <p:spPr bwMode="auto">
            <a:xfrm>
              <a:off x="3743" y="563"/>
              <a:ext cx="1819" cy="298"/>
            </a:xfrm>
            <a:prstGeom prst="rect">
              <a:avLst/>
            </a:prstGeom>
            <a:noFill/>
            <a:ln w="9525">
              <a:noFill/>
              <a:miter lim="800000"/>
              <a:headEnd/>
              <a:tailEnd/>
            </a:ln>
          </p:spPr>
          <p:txBody>
            <a:bodyPr>
              <a:spAutoFit/>
            </a:bodyPr>
            <a:lstStyle/>
            <a:p>
              <a:pPr>
                <a:spcBef>
                  <a:spcPct val="50000"/>
                </a:spcBef>
              </a:pPr>
              <a:r>
                <a:rPr lang="en-US" sz="2500">
                  <a:latin typeface="Arial" pitchFamily="34" charset="0"/>
                  <a:cs typeface="Arial" pitchFamily="34" charset="0"/>
                </a:rPr>
                <a:t>          Spending</a:t>
              </a:r>
            </a:p>
          </p:txBody>
        </p:sp>
      </p:grpSp>
      <p:grpSp>
        <p:nvGrpSpPr>
          <p:cNvPr id="52" name="Group 37"/>
          <p:cNvGrpSpPr>
            <a:grpSpLocks/>
          </p:cNvGrpSpPr>
          <p:nvPr/>
        </p:nvGrpSpPr>
        <p:grpSpPr bwMode="auto">
          <a:xfrm>
            <a:off x="5708650" y="1662113"/>
            <a:ext cx="2128838" cy="1295400"/>
            <a:chOff x="3596" y="1047"/>
            <a:chExt cx="1341" cy="816"/>
          </a:xfrm>
        </p:grpSpPr>
        <p:grpSp>
          <p:nvGrpSpPr>
            <p:cNvPr id="53" name="Group 38"/>
            <p:cNvGrpSpPr>
              <a:grpSpLocks/>
            </p:cNvGrpSpPr>
            <p:nvPr/>
          </p:nvGrpSpPr>
          <p:grpSpPr bwMode="auto">
            <a:xfrm>
              <a:off x="3596" y="1047"/>
              <a:ext cx="1341" cy="816"/>
              <a:chOff x="3596" y="1047"/>
              <a:chExt cx="1341" cy="816"/>
            </a:xfrm>
          </p:grpSpPr>
          <p:sp>
            <p:nvSpPr>
              <p:cNvPr id="55" name="Line 39"/>
              <p:cNvSpPr>
                <a:spLocks noChangeShapeType="1"/>
              </p:cNvSpPr>
              <p:nvPr/>
            </p:nvSpPr>
            <p:spPr bwMode="auto">
              <a:xfrm rot="-5400000" flipH="1" flipV="1">
                <a:off x="4510" y="1455"/>
                <a:ext cx="816" cy="0"/>
              </a:xfrm>
              <a:prstGeom prst="line">
                <a:avLst/>
              </a:prstGeom>
              <a:noFill/>
              <a:ln w="57150">
                <a:solidFill>
                  <a:srgbClr val="CC0000"/>
                </a:solidFill>
                <a:round/>
                <a:headEnd/>
                <a:tailEnd type="stealth" w="lg" len="lg"/>
              </a:ln>
            </p:spPr>
            <p:txBody>
              <a:bodyPr/>
              <a:lstStyle/>
              <a:p>
                <a:endParaRPr lang="en-US">
                  <a:latin typeface="Arial" pitchFamily="34" charset="0"/>
                  <a:cs typeface="Arial" pitchFamily="34" charset="0"/>
                </a:endParaRPr>
              </a:p>
            </p:txBody>
          </p:sp>
          <p:sp>
            <p:nvSpPr>
              <p:cNvPr id="56" name="Line 40"/>
              <p:cNvSpPr>
                <a:spLocks noChangeShapeType="1"/>
              </p:cNvSpPr>
              <p:nvPr/>
            </p:nvSpPr>
            <p:spPr bwMode="auto">
              <a:xfrm rot="16200000" flipV="1">
                <a:off x="4267" y="388"/>
                <a:ext cx="0" cy="1341"/>
              </a:xfrm>
              <a:prstGeom prst="line">
                <a:avLst/>
              </a:prstGeom>
              <a:noFill/>
              <a:ln w="57150">
                <a:solidFill>
                  <a:srgbClr val="CC0000"/>
                </a:solidFill>
                <a:round/>
                <a:headEnd/>
                <a:tailEnd/>
              </a:ln>
            </p:spPr>
            <p:txBody>
              <a:bodyPr/>
              <a:lstStyle/>
              <a:p>
                <a:endParaRPr lang="en-US">
                  <a:latin typeface="Arial" pitchFamily="34" charset="0"/>
                  <a:cs typeface="Arial" pitchFamily="34" charset="0"/>
                </a:endParaRPr>
              </a:p>
            </p:txBody>
          </p:sp>
        </p:grpSp>
        <p:sp>
          <p:nvSpPr>
            <p:cNvPr id="54" name="Text Box 41"/>
            <p:cNvSpPr txBox="1">
              <a:spLocks noChangeArrowheads="1"/>
            </p:cNvSpPr>
            <p:nvPr/>
          </p:nvSpPr>
          <p:spPr bwMode="auto">
            <a:xfrm>
              <a:off x="4095" y="1064"/>
              <a:ext cx="825" cy="490"/>
            </a:xfrm>
            <a:prstGeom prst="rect">
              <a:avLst/>
            </a:prstGeom>
            <a:noFill/>
            <a:ln w="9525">
              <a:noFill/>
              <a:miter lim="800000"/>
              <a:headEnd/>
              <a:tailEnd/>
            </a:ln>
          </p:spPr>
          <p:txBody>
            <a:bodyPr>
              <a:spAutoFit/>
            </a:bodyPr>
            <a:lstStyle/>
            <a:p>
              <a:pPr algn="r">
                <a:lnSpc>
                  <a:spcPct val="90000"/>
                </a:lnSpc>
                <a:spcBef>
                  <a:spcPct val="50000"/>
                </a:spcBef>
              </a:pPr>
              <a:r>
                <a:rPr lang="en-US" sz="2500">
                  <a:latin typeface="Arial" pitchFamily="34" charset="0"/>
                  <a:cs typeface="Arial" pitchFamily="34" charset="0"/>
                </a:rPr>
                <a:t>G &amp; S bought</a:t>
              </a:r>
            </a:p>
          </p:txBody>
        </p:sp>
      </p:grpSp>
      <p:grpSp>
        <p:nvGrpSpPr>
          <p:cNvPr id="57" name="Group 42"/>
          <p:cNvGrpSpPr>
            <a:grpSpLocks/>
          </p:cNvGrpSpPr>
          <p:nvPr/>
        </p:nvGrpSpPr>
        <p:grpSpPr bwMode="auto">
          <a:xfrm>
            <a:off x="1117600" y="1606550"/>
            <a:ext cx="2259013" cy="1366838"/>
            <a:chOff x="704" y="1012"/>
            <a:chExt cx="1423" cy="861"/>
          </a:xfrm>
        </p:grpSpPr>
        <p:grpSp>
          <p:nvGrpSpPr>
            <p:cNvPr id="58" name="Group 43"/>
            <p:cNvGrpSpPr>
              <a:grpSpLocks/>
            </p:cNvGrpSpPr>
            <p:nvPr/>
          </p:nvGrpSpPr>
          <p:grpSpPr bwMode="auto">
            <a:xfrm>
              <a:off x="704" y="1012"/>
              <a:ext cx="1423" cy="861"/>
              <a:chOff x="704" y="1012"/>
              <a:chExt cx="1423" cy="885"/>
            </a:xfrm>
          </p:grpSpPr>
          <p:sp>
            <p:nvSpPr>
              <p:cNvPr id="60" name="Line 44"/>
              <p:cNvSpPr>
                <a:spLocks noChangeShapeType="1"/>
              </p:cNvSpPr>
              <p:nvPr/>
            </p:nvSpPr>
            <p:spPr bwMode="auto">
              <a:xfrm rot="10800000" flipH="1" flipV="1">
                <a:off x="704" y="1024"/>
                <a:ext cx="1423" cy="0"/>
              </a:xfrm>
              <a:prstGeom prst="line">
                <a:avLst/>
              </a:prstGeom>
              <a:noFill/>
              <a:ln w="57150">
                <a:solidFill>
                  <a:srgbClr val="CC0000"/>
                </a:solidFill>
                <a:round/>
                <a:headEnd/>
                <a:tailEnd type="stealth" w="lg" len="lg"/>
              </a:ln>
            </p:spPr>
            <p:txBody>
              <a:bodyPr/>
              <a:lstStyle/>
              <a:p>
                <a:endParaRPr lang="en-US">
                  <a:latin typeface="Arial" pitchFamily="34" charset="0"/>
                  <a:cs typeface="Arial" pitchFamily="34" charset="0"/>
                </a:endParaRPr>
              </a:p>
            </p:txBody>
          </p:sp>
          <p:sp>
            <p:nvSpPr>
              <p:cNvPr id="61" name="Line 45"/>
              <p:cNvSpPr>
                <a:spLocks noChangeShapeType="1"/>
              </p:cNvSpPr>
              <p:nvPr/>
            </p:nvSpPr>
            <p:spPr bwMode="auto">
              <a:xfrm rot="10800000" flipV="1">
                <a:off x="721" y="1012"/>
                <a:ext cx="0" cy="885"/>
              </a:xfrm>
              <a:prstGeom prst="line">
                <a:avLst/>
              </a:prstGeom>
              <a:noFill/>
              <a:ln w="57150">
                <a:solidFill>
                  <a:srgbClr val="CC0000"/>
                </a:solidFill>
                <a:round/>
                <a:headEnd/>
                <a:tailEnd/>
              </a:ln>
            </p:spPr>
            <p:txBody>
              <a:bodyPr/>
              <a:lstStyle/>
              <a:p>
                <a:endParaRPr lang="en-US">
                  <a:latin typeface="Arial" pitchFamily="34" charset="0"/>
                  <a:cs typeface="Arial" pitchFamily="34" charset="0"/>
                </a:endParaRPr>
              </a:p>
            </p:txBody>
          </p:sp>
        </p:grpSp>
        <p:sp>
          <p:nvSpPr>
            <p:cNvPr id="59" name="Text Box 46"/>
            <p:cNvSpPr txBox="1">
              <a:spLocks noChangeArrowheads="1"/>
            </p:cNvSpPr>
            <p:nvPr/>
          </p:nvSpPr>
          <p:spPr bwMode="auto">
            <a:xfrm>
              <a:off x="745" y="1023"/>
              <a:ext cx="825" cy="490"/>
            </a:xfrm>
            <a:prstGeom prst="rect">
              <a:avLst/>
            </a:prstGeom>
            <a:noFill/>
            <a:ln w="9525">
              <a:noFill/>
              <a:miter lim="800000"/>
              <a:headEnd/>
              <a:tailEnd/>
            </a:ln>
          </p:spPr>
          <p:txBody>
            <a:bodyPr>
              <a:spAutoFit/>
            </a:bodyPr>
            <a:lstStyle/>
            <a:p>
              <a:pPr>
                <a:lnSpc>
                  <a:spcPct val="90000"/>
                </a:lnSpc>
                <a:spcBef>
                  <a:spcPct val="50000"/>
                </a:spcBef>
              </a:pPr>
              <a:r>
                <a:rPr lang="en-US" sz="2500" dirty="0">
                  <a:latin typeface="Arial" pitchFamily="34" charset="0"/>
                  <a:cs typeface="Arial" pitchFamily="34" charset="0"/>
                </a:rPr>
                <a:t>G &amp; S sold</a:t>
              </a:r>
            </a:p>
          </p:txBody>
        </p:sp>
      </p:grpSp>
      <p:grpSp>
        <p:nvGrpSpPr>
          <p:cNvPr id="62" name="Group 47"/>
          <p:cNvGrpSpPr>
            <a:grpSpLocks/>
          </p:cNvGrpSpPr>
          <p:nvPr/>
        </p:nvGrpSpPr>
        <p:grpSpPr bwMode="auto">
          <a:xfrm>
            <a:off x="593725" y="869950"/>
            <a:ext cx="2887663" cy="2097088"/>
            <a:chOff x="374" y="548"/>
            <a:chExt cx="1819" cy="1321"/>
          </a:xfrm>
        </p:grpSpPr>
        <p:grpSp>
          <p:nvGrpSpPr>
            <p:cNvPr id="63" name="Group 48"/>
            <p:cNvGrpSpPr>
              <a:grpSpLocks/>
            </p:cNvGrpSpPr>
            <p:nvPr/>
          </p:nvGrpSpPr>
          <p:grpSpPr bwMode="auto">
            <a:xfrm rot="-5400000">
              <a:off x="796" y="500"/>
              <a:ext cx="1055" cy="1683"/>
              <a:chOff x="3840" y="1040"/>
              <a:chExt cx="1008" cy="752"/>
            </a:xfrm>
          </p:grpSpPr>
          <p:sp>
            <p:nvSpPr>
              <p:cNvPr id="65" name="Line 49"/>
              <p:cNvSpPr>
                <a:spLocks noChangeShapeType="1"/>
              </p:cNvSpPr>
              <p:nvPr/>
            </p:nvSpPr>
            <p:spPr bwMode="auto">
              <a:xfrm flipH="1">
                <a:off x="3840" y="1040"/>
                <a:ext cx="1008" cy="0"/>
              </a:xfrm>
              <a:prstGeom prst="line">
                <a:avLst/>
              </a:prstGeom>
              <a:noFill/>
              <a:ln w="57150">
                <a:solidFill>
                  <a:srgbClr val="009900"/>
                </a:solidFill>
                <a:round/>
                <a:headEnd/>
                <a:tailEnd type="stealth" w="lg" len="lg"/>
              </a:ln>
            </p:spPr>
            <p:txBody>
              <a:bodyPr/>
              <a:lstStyle/>
              <a:p>
                <a:endParaRPr lang="en-US">
                  <a:latin typeface="Arial" pitchFamily="34" charset="0"/>
                  <a:cs typeface="Arial" pitchFamily="34" charset="0"/>
                </a:endParaRPr>
              </a:p>
            </p:txBody>
          </p:sp>
          <p:sp>
            <p:nvSpPr>
              <p:cNvPr id="66" name="Line 50"/>
              <p:cNvSpPr>
                <a:spLocks noChangeShapeType="1"/>
              </p:cNvSpPr>
              <p:nvPr/>
            </p:nvSpPr>
            <p:spPr bwMode="auto">
              <a:xfrm>
                <a:off x="4830" y="1041"/>
                <a:ext cx="0" cy="751"/>
              </a:xfrm>
              <a:prstGeom prst="line">
                <a:avLst/>
              </a:prstGeom>
              <a:noFill/>
              <a:ln w="57150">
                <a:solidFill>
                  <a:srgbClr val="009900"/>
                </a:solidFill>
                <a:round/>
                <a:headEnd/>
                <a:tailEnd/>
              </a:ln>
            </p:spPr>
            <p:txBody>
              <a:bodyPr/>
              <a:lstStyle/>
              <a:p>
                <a:endParaRPr lang="en-US">
                  <a:latin typeface="Arial" pitchFamily="34" charset="0"/>
                  <a:cs typeface="Arial" pitchFamily="34" charset="0"/>
                </a:endParaRPr>
              </a:p>
            </p:txBody>
          </p:sp>
        </p:grpSp>
        <p:sp>
          <p:nvSpPr>
            <p:cNvPr id="64" name="Text Box 51"/>
            <p:cNvSpPr txBox="1">
              <a:spLocks noChangeArrowheads="1"/>
            </p:cNvSpPr>
            <p:nvPr/>
          </p:nvSpPr>
          <p:spPr bwMode="auto">
            <a:xfrm>
              <a:off x="374" y="548"/>
              <a:ext cx="1819" cy="298"/>
            </a:xfrm>
            <a:prstGeom prst="rect">
              <a:avLst/>
            </a:prstGeom>
            <a:noFill/>
            <a:ln w="9525">
              <a:noFill/>
              <a:miter lim="800000"/>
              <a:headEnd/>
              <a:tailEnd/>
            </a:ln>
          </p:spPr>
          <p:txBody>
            <a:bodyPr>
              <a:spAutoFit/>
            </a:bodyPr>
            <a:lstStyle/>
            <a:p>
              <a:pPr>
                <a:spcBef>
                  <a:spcPct val="50000"/>
                </a:spcBef>
              </a:pPr>
              <a:r>
                <a:rPr lang="en-US" sz="2500" dirty="0">
                  <a:latin typeface="Arial" pitchFamily="34" charset="0"/>
                  <a:cs typeface="Arial" pitchFamily="34" charset="0"/>
                </a:rPr>
                <a:t>Revenue</a:t>
              </a:r>
            </a:p>
          </p:txBody>
        </p:sp>
      </p:grpSp>
      <p:grpSp>
        <p:nvGrpSpPr>
          <p:cNvPr id="67" name="Group 52"/>
          <p:cNvGrpSpPr>
            <a:grpSpLocks/>
          </p:cNvGrpSpPr>
          <p:nvPr/>
        </p:nvGrpSpPr>
        <p:grpSpPr bwMode="auto">
          <a:xfrm>
            <a:off x="3386138" y="815975"/>
            <a:ext cx="2320925" cy="1689100"/>
            <a:chOff x="2133" y="514"/>
            <a:chExt cx="1462" cy="1064"/>
          </a:xfrm>
          <a:effectLst>
            <a:outerShdw blurRad="50800" dist="38100" dir="2700000" algn="tl" rotWithShape="0">
              <a:prstClr val="black">
                <a:alpha val="40000"/>
              </a:prstClr>
            </a:outerShdw>
          </a:effectLst>
        </p:grpSpPr>
        <p:sp>
          <p:nvSpPr>
            <p:cNvPr id="68" name="Oval 53"/>
            <p:cNvSpPr>
              <a:spLocks noChangeArrowheads="1"/>
            </p:cNvSpPr>
            <p:nvPr/>
          </p:nvSpPr>
          <p:spPr bwMode="auto">
            <a:xfrm>
              <a:off x="2133" y="514"/>
              <a:ext cx="1462" cy="1064"/>
            </a:xfrm>
            <a:prstGeom prst="ellipse">
              <a:avLst/>
            </a:prstGeom>
            <a:solidFill>
              <a:srgbClr val="EFD9C6"/>
            </a:solidFill>
            <a:ln w="38100">
              <a:solidFill>
                <a:srgbClr val="A64F23"/>
              </a:solidFill>
              <a:round/>
              <a:headEnd/>
              <a:tailEnd/>
            </a:ln>
          </p:spPr>
          <p:txBody>
            <a:bodyPr/>
            <a:lstStyle/>
            <a:p>
              <a:endParaRPr lang="en-US">
                <a:latin typeface="Arial" pitchFamily="34" charset="0"/>
                <a:cs typeface="Arial" pitchFamily="34" charset="0"/>
              </a:endParaRPr>
            </a:p>
          </p:txBody>
        </p:sp>
        <p:sp>
          <p:nvSpPr>
            <p:cNvPr id="69" name="Text Box 54"/>
            <p:cNvSpPr txBox="1">
              <a:spLocks noChangeArrowheads="1"/>
            </p:cNvSpPr>
            <p:nvPr/>
          </p:nvSpPr>
          <p:spPr bwMode="auto">
            <a:xfrm>
              <a:off x="2190" y="671"/>
              <a:ext cx="1371" cy="808"/>
            </a:xfrm>
            <a:prstGeom prst="rect">
              <a:avLst/>
            </a:prstGeom>
            <a:noFill/>
            <a:ln w="9525">
              <a:noFill/>
              <a:miter lim="800000"/>
              <a:headEnd/>
              <a:tailEnd/>
            </a:ln>
          </p:spPr>
          <p:txBody>
            <a:bodyPr>
              <a:spAutoFit/>
            </a:bodyPr>
            <a:lstStyle/>
            <a:p>
              <a:pPr algn="ctr">
                <a:spcBef>
                  <a:spcPct val="50000"/>
                </a:spcBef>
              </a:pPr>
              <a:r>
                <a:rPr lang="en-US" sz="2600" dirty="0">
                  <a:latin typeface="Arial" pitchFamily="34" charset="0"/>
                  <a:cs typeface="Arial" pitchFamily="34" charset="0"/>
                </a:rPr>
                <a:t>Markets for Goods &amp; Services</a:t>
              </a:r>
            </a:p>
          </p:txBody>
        </p:sp>
      </p:grpSp>
      <p:sp>
        <p:nvSpPr>
          <p:cNvPr id="3" name="Footer Placeholder 2">
            <a:extLst>
              <a:ext uri="{FF2B5EF4-FFF2-40B4-BE49-F238E27FC236}">
                <a16:creationId xmlns:a16="http://schemas.microsoft.com/office/drawing/2014/main" id="{61EFCCF5-CB29-F0C8-8036-5272E3776C8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3425246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strips(downLeft)">
                                      <p:cBhvr>
                                        <p:cTn id="11" dur="500"/>
                                        <p:tgtEl>
                                          <p:spTgt spid="42"/>
                                        </p:tgtEl>
                                      </p:cBhvr>
                                    </p:animEffect>
                                  </p:childTnLst>
                                </p:cTn>
                              </p:par>
                            </p:childTnLst>
                          </p:cTn>
                        </p:par>
                        <p:par>
                          <p:cTn id="12" fill="hold">
                            <p:stCondLst>
                              <p:cond delay="1000"/>
                            </p:stCondLst>
                            <p:childTnLst>
                              <p:par>
                                <p:cTn id="13" presetID="18" presetClass="entr" presetSubtype="9"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strips(upLeft)">
                                      <p:cBhvr>
                                        <p:cTn id="15" dur="500"/>
                                        <p:tgtEl>
                                          <p:spTgt spid="37"/>
                                        </p:tgtEl>
                                      </p:cBhvr>
                                    </p:animEffect>
                                  </p:childTnLst>
                                </p:cTn>
                              </p:par>
                            </p:childTnLst>
                          </p:cTn>
                        </p:par>
                        <p:par>
                          <p:cTn id="16" fill="hold">
                            <p:stCondLst>
                              <p:cond delay="1500"/>
                            </p:stCondLst>
                            <p:childTnLst>
                              <p:par>
                                <p:cTn id="17" presetID="18" presetClass="entr" presetSubtype="6" fill="hold" nodeType="afterEffect">
                                  <p:stCondLst>
                                    <p:cond delay="1000"/>
                                  </p:stCondLst>
                                  <p:childTnLst>
                                    <p:set>
                                      <p:cBhvr>
                                        <p:cTn id="18" dur="1" fill="hold">
                                          <p:stCondLst>
                                            <p:cond delay="0"/>
                                          </p:stCondLst>
                                        </p:cTn>
                                        <p:tgtEl>
                                          <p:spTgt spid="32"/>
                                        </p:tgtEl>
                                        <p:attrNameLst>
                                          <p:attrName>style.visibility</p:attrName>
                                        </p:attrNameLst>
                                      </p:cBhvr>
                                      <p:to>
                                        <p:strVal val="visible"/>
                                      </p:to>
                                    </p:set>
                                    <p:animEffect transition="in" filter="strips(downRight)">
                                      <p:cBhvr>
                                        <p:cTn id="19" dur="500"/>
                                        <p:tgtEl>
                                          <p:spTgt spid="32"/>
                                        </p:tgtEl>
                                      </p:cBhvr>
                                    </p:animEffect>
                                  </p:childTnLst>
                                </p:cTn>
                              </p:par>
                            </p:childTnLst>
                          </p:cTn>
                        </p:par>
                        <p:par>
                          <p:cTn id="20" fill="hold">
                            <p:stCondLst>
                              <p:cond delay="3000"/>
                            </p:stCondLst>
                            <p:childTnLst>
                              <p:par>
                                <p:cTn id="21" presetID="18" presetClass="entr" presetSubtype="3"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strips(upRight)">
                                      <p:cBhvr>
                                        <p:cTn id="23" dur="500"/>
                                        <p:tgtEl>
                                          <p:spTgt spid="27"/>
                                        </p:tgtEl>
                                      </p:cBhvr>
                                    </p:animEffect>
                                  </p:childTnLst>
                                </p:cTn>
                              </p:par>
                            </p:childTnLst>
                          </p:cTn>
                        </p:par>
                        <p:par>
                          <p:cTn id="24" fill="hold">
                            <p:stCondLst>
                              <p:cond delay="3500"/>
                            </p:stCondLst>
                            <p:childTnLst>
                              <p:par>
                                <p:cTn id="25" presetID="10" presetClass="entr" presetSubtype="0" fill="hold" nodeType="afterEffect">
                                  <p:stCondLst>
                                    <p:cond delay="1000"/>
                                  </p:stCondLst>
                                  <p:childTnLst>
                                    <p:set>
                                      <p:cBhvr>
                                        <p:cTn id="26" dur="1" fill="hold">
                                          <p:stCondLst>
                                            <p:cond delay="0"/>
                                          </p:stCondLst>
                                        </p:cTn>
                                        <p:tgtEl>
                                          <p:spTgt spid="67"/>
                                        </p:tgtEl>
                                        <p:attrNameLst>
                                          <p:attrName>style.visibility</p:attrName>
                                        </p:attrNameLst>
                                      </p:cBhvr>
                                      <p:to>
                                        <p:strVal val="visible"/>
                                      </p:to>
                                    </p:set>
                                    <p:animEffect transition="in" filter="fade">
                                      <p:cBhvr>
                                        <p:cTn id="27" dur="500"/>
                                        <p:tgtEl>
                                          <p:spTgt spid="67"/>
                                        </p:tgtEl>
                                      </p:cBhvr>
                                    </p:animEffect>
                                  </p:childTnLst>
                                </p:cTn>
                              </p:par>
                            </p:childTnLst>
                          </p:cTn>
                        </p:par>
                        <p:par>
                          <p:cTn id="28" fill="hold">
                            <p:stCondLst>
                              <p:cond delay="5000"/>
                            </p:stCondLst>
                            <p:childTnLst>
                              <p:par>
                                <p:cTn id="29" presetID="18" presetClass="entr" presetSubtype="9" fill="hold" nodeType="afterEffect">
                                  <p:stCondLst>
                                    <p:cond delay="0"/>
                                  </p:stCondLst>
                                  <p:childTnLst>
                                    <p:set>
                                      <p:cBhvr>
                                        <p:cTn id="30" dur="1" fill="hold">
                                          <p:stCondLst>
                                            <p:cond delay="0"/>
                                          </p:stCondLst>
                                        </p:cTn>
                                        <p:tgtEl>
                                          <p:spTgt spid="47"/>
                                        </p:tgtEl>
                                        <p:attrNameLst>
                                          <p:attrName>style.visibility</p:attrName>
                                        </p:attrNameLst>
                                      </p:cBhvr>
                                      <p:to>
                                        <p:strVal val="visible"/>
                                      </p:to>
                                    </p:set>
                                    <p:animEffect transition="in" filter="strips(upLeft)">
                                      <p:cBhvr>
                                        <p:cTn id="31" dur="500"/>
                                        <p:tgtEl>
                                          <p:spTgt spid="47"/>
                                        </p:tgtEl>
                                      </p:cBhvr>
                                    </p:animEffect>
                                  </p:childTnLst>
                                </p:cTn>
                              </p:par>
                            </p:childTnLst>
                          </p:cTn>
                        </p:par>
                        <p:par>
                          <p:cTn id="32" fill="hold">
                            <p:stCondLst>
                              <p:cond delay="5500"/>
                            </p:stCondLst>
                            <p:childTnLst>
                              <p:par>
                                <p:cTn id="33" presetID="18" presetClass="entr" presetSubtype="12" fill="hold" nodeType="afterEffect">
                                  <p:stCondLst>
                                    <p:cond delay="0"/>
                                  </p:stCondLst>
                                  <p:childTnLst>
                                    <p:set>
                                      <p:cBhvr>
                                        <p:cTn id="34" dur="1" fill="hold">
                                          <p:stCondLst>
                                            <p:cond delay="0"/>
                                          </p:stCondLst>
                                        </p:cTn>
                                        <p:tgtEl>
                                          <p:spTgt spid="62"/>
                                        </p:tgtEl>
                                        <p:attrNameLst>
                                          <p:attrName>style.visibility</p:attrName>
                                        </p:attrNameLst>
                                      </p:cBhvr>
                                      <p:to>
                                        <p:strVal val="visible"/>
                                      </p:to>
                                    </p:set>
                                    <p:animEffect transition="in" filter="strips(downLeft)">
                                      <p:cBhvr>
                                        <p:cTn id="35" dur="500"/>
                                        <p:tgtEl>
                                          <p:spTgt spid="62"/>
                                        </p:tgtEl>
                                      </p:cBhvr>
                                    </p:animEffect>
                                  </p:childTnLst>
                                </p:cTn>
                              </p:par>
                            </p:childTnLst>
                          </p:cTn>
                        </p:par>
                        <p:par>
                          <p:cTn id="36" fill="hold">
                            <p:stCondLst>
                              <p:cond delay="6000"/>
                            </p:stCondLst>
                            <p:childTnLst>
                              <p:par>
                                <p:cTn id="37" presetID="18" presetClass="entr" presetSubtype="3" fill="hold" nodeType="afterEffect">
                                  <p:stCondLst>
                                    <p:cond delay="1000"/>
                                  </p:stCondLst>
                                  <p:childTnLst>
                                    <p:set>
                                      <p:cBhvr>
                                        <p:cTn id="38" dur="1" fill="hold">
                                          <p:stCondLst>
                                            <p:cond delay="0"/>
                                          </p:stCondLst>
                                        </p:cTn>
                                        <p:tgtEl>
                                          <p:spTgt spid="57"/>
                                        </p:tgtEl>
                                        <p:attrNameLst>
                                          <p:attrName>style.visibility</p:attrName>
                                        </p:attrNameLst>
                                      </p:cBhvr>
                                      <p:to>
                                        <p:strVal val="visible"/>
                                      </p:to>
                                    </p:set>
                                    <p:animEffect transition="in" filter="strips(upRight)">
                                      <p:cBhvr>
                                        <p:cTn id="39" dur="500"/>
                                        <p:tgtEl>
                                          <p:spTgt spid="57"/>
                                        </p:tgtEl>
                                      </p:cBhvr>
                                    </p:animEffect>
                                  </p:childTnLst>
                                </p:cTn>
                              </p:par>
                            </p:childTnLst>
                          </p:cTn>
                        </p:par>
                        <p:par>
                          <p:cTn id="40" fill="hold">
                            <p:stCondLst>
                              <p:cond delay="7500"/>
                            </p:stCondLst>
                            <p:childTnLst>
                              <p:par>
                                <p:cTn id="41" presetID="18" presetClass="entr" presetSubtype="6" fill="hold" nodeType="after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strips(downRight)">
                                      <p:cBhvr>
                                        <p:cTn id="4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0" y="0"/>
            <a:ext cx="9143999" cy="1523999"/>
          </a:xfrm>
        </p:spPr>
        <p:txBody>
          <a:bodyPr wrap="square" anchor="ctr"/>
          <a:lstStyle/>
          <a:p>
            <a:pPr eaLnBrk="1" hangingPunct="1"/>
            <a:r>
              <a:rPr lang="en-US" altLang="en-US" dirty="0"/>
              <a:t>The Production Possibilities Frontier (The PPF)</a:t>
            </a:r>
          </a:p>
        </p:txBody>
      </p:sp>
      <p:sp>
        <p:nvSpPr>
          <p:cNvPr id="18435" name="Content Placeholder 2"/>
          <p:cNvSpPr>
            <a:spLocks noGrp="1"/>
          </p:cNvSpPr>
          <p:nvPr>
            <p:ph idx="1"/>
          </p:nvPr>
        </p:nvSpPr>
        <p:spPr>
          <a:xfrm>
            <a:off x="277813" y="1752599"/>
            <a:ext cx="8588375" cy="4695825"/>
          </a:xfrm>
        </p:spPr>
        <p:txBody>
          <a:bodyPr/>
          <a:lstStyle/>
          <a:p>
            <a:r>
              <a:rPr lang="en-US" altLang="en-US" dirty="0"/>
              <a:t>Production possibilities frontier (PPF)</a:t>
            </a:r>
          </a:p>
          <a:p>
            <a:pPr lvl="1"/>
            <a:r>
              <a:rPr lang="en-US" altLang="en-US" dirty="0"/>
              <a:t>A graph that shows various combinations of outputs </a:t>
            </a:r>
          </a:p>
          <a:p>
            <a:pPr lvl="1"/>
            <a:r>
              <a:rPr lang="en-US" altLang="en-US" dirty="0"/>
              <a:t>That the economy can possibly produce</a:t>
            </a:r>
          </a:p>
          <a:p>
            <a:pPr lvl="1"/>
            <a:r>
              <a:rPr lang="en-US" altLang="en-US" dirty="0"/>
              <a:t>Given the available factors of production and the available production technology</a:t>
            </a:r>
          </a:p>
          <a:p>
            <a:pPr marL="0" indent="0">
              <a:buNone/>
            </a:pPr>
            <a:endParaRPr lang="en-US" altLang="en-US" dirty="0"/>
          </a:p>
        </p:txBody>
      </p:sp>
      <p:sp>
        <p:nvSpPr>
          <p:cNvPr id="18437"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E873B2A1-42AF-4082-91D3-E8BC15B135CF}" type="slidenum">
              <a:rPr lang="en-US" altLang="en-US" sz="1200" smtClean="0">
                <a:solidFill>
                  <a:srgbClr val="002060"/>
                </a:solidFill>
              </a:rPr>
              <a:pPr algn="ctr" eaLnBrk="1" hangingPunct="1"/>
              <a:t>10</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92E6DAF3-14E0-7176-8955-3DBD5BC6895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19994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a:t>
            </a:r>
            <a:r>
              <a:rPr lang="en-US" dirty="0">
                <a:solidFill>
                  <a:schemeClr val="tx1"/>
                </a:solidFill>
              </a:rPr>
              <a:t>The PPF</a:t>
            </a:r>
          </a:p>
        </p:txBody>
      </p:sp>
      <p:sp>
        <p:nvSpPr>
          <p:cNvPr id="3" name="Content Placeholder 2"/>
          <p:cNvSpPr>
            <a:spLocks noGrp="1"/>
          </p:cNvSpPr>
          <p:nvPr>
            <p:ph idx="1"/>
          </p:nvPr>
        </p:nvSpPr>
        <p:spPr/>
        <p:txBody>
          <a:bodyPr>
            <a:normAutofit/>
          </a:bodyPr>
          <a:lstStyle/>
          <a:p>
            <a:r>
              <a:rPr lang="en-US" altLang="en-US" dirty="0"/>
              <a:t>Assume the following:</a:t>
            </a:r>
          </a:p>
          <a:p>
            <a:pPr lvl="1"/>
            <a:r>
              <a:rPr lang="en-US" altLang="en-US" dirty="0"/>
              <a:t>A country produces only two goods: airplanes and soybeans.</a:t>
            </a:r>
          </a:p>
          <a:p>
            <a:pPr lvl="1"/>
            <a:r>
              <a:rPr lang="en-US" altLang="en-US" dirty="0"/>
              <a:t>It has a fixed amount of resources (labor).</a:t>
            </a:r>
          </a:p>
          <a:p>
            <a:pPr lvl="1"/>
            <a:r>
              <a:rPr lang="en-US" altLang="en-US" dirty="0"/>
              <a:t>And it has a fixed amount and quality of technology.</a:t>
            </a:r>
          </a:p>
          <a:p>
            <a:pPr lvl="1"/>
            <a:r>
              <a:rPr lang="en-US" dirty="0"/>
              <a:t>The available resources and technology can be used to produce:</a:t>
            </a:r>
          </a:p>
          <a:p>
            <a:pPr lvl="2"/>
            <a:r>
              <a:rPr lang="en-US" sz="2800" dirty="0">
                <a:solidFill>
                  <a:srgbClr val="4E519E"/>
                </a:solidFill>
              </a:rPr>
              <a:t>Only soybeans (5,000 tons)</a:t>
            </a:r>
          </a:p>
          <a:p>
            <a:pPr lvl="2"/>
            <a:r>
              <a:rPr lang="en-US" sz="2800" dirty="0">
                <a:solidFill>
                  <a:srgbClr val="4E519E"/>
                </a:solidFill>
              </a:rPr>
              <a:t>Only airplanes (100 airplanes)</a:t>
            </a:r>
          </a:p>
          <a:p>
            <a:pPr lvl="2"/>
            <a:r>
              <a:rPr lang="en-US" sz="2800" dirty="0">
                <a:solidFill>
                  <a:srgbClr val="4E519E"/>
                </a:solidFill>
              </a:rPr>
              <a:t>Or a combination of soybeans and airplanes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11</a:t>
            </a:fld>
            <a:endParaRPr lang="en-US"/>
          </a:p>
        </p:txBody>
      </p:sp>
      <p:sp>
        <p:nvSpPr>
          <p:cNvPr id="5" name="Footer Placeholder 4">
            <a:extLst>
              <a:ext uri="{FF2B5EF4-FFF2-40B4-BE49-F238E27FC236}">
                <a16:creationId xmlns:a16="http://schemas.microsoft.com/office/drawing/2014/main" id="{C9CEBDC6-7BF4-66B4-F1B2-B9377EA74C71}"/>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45882423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1:</a:t>
            </a:r>
            <a:r>
              <a:rPr lang="en-US" dirty="0">
                <a:solidFill>
                  <a:schemeClr val="accent6">
                    <a:lumMod val="50000"/>
                  </a:schemeClr>
                </a:solidFill>
              </a:rPr>
              <a:t> </a:t>
            </a:r>
            <a:r>
              <a:rPr lang="en-US" dirty="0">
                <a:solidFill>
                  <a:schemeClr val="tx1"/>
                </a:solidFill>
              </a:rPr>
              <a:t>The PPF and output combinations</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12</a:t>
            </a:fld>
            <a:endParaRPr lang="en-US" dirty="0"/>
          </a:p>
        </p:txBody>
      </p:sp>
      <p:sp>
        <p:nvSpPr>
          <p:cNvPr id="8" name="Content Placeholder 7"/>
          <p:cNvSpPr>
            <a:spLocks noGrp="1"/>
          </p:cNvSpPr>
          <p:nvPr>
            <p:ph idx="12"/>
          </p:nvPr>
        </p:nvSpPr>
        <p:spPr>
          <a:xfrm>
            <a:off x="381000" y="4023360"/>
            <a:ext cx="8518947" cy="2447290"/>
          </a:xfrm>
        </p:spPr>
        <p:txBody>
          <a:bodyPr>
            <a:normAutofit/>
          </a:bodyPr>
          <a:lstStyle/>
          <a:p>
            <a:pPr marL="0" indent="0">
              <a:buNone/>
            </a:pPr>
            <a:r>
              <a:rPr lang="en-US" sz="2800" dirty="0"/>
              <a:t>These are just a few of the possible production combinations.</a:t>
            </a:r>
          </a:p>
          <a:p>
            <a:r>
              <a:rPr lang="en-US" sz="2800" dirty="0">
                <a:solidFill>
                  <a:srgbClr val="4E519E"/>
                </a:solidFill>
              </a:rPr>
              <a:t>To increase the production of airplanes from 0 to 20, how many tons of soybeans do we have to give up?</a:t>
            </a:r>
          </a:p>
        </p:txBody>
      </p:sp>
      <p:sp>
        <p:nvSpPr>
          <p:cNvPr id="3" name="Footer Placeholder 2">
            <a:extLst>
              <a:ext uri="{FF2B5EF4-FFF2-40B4-BE49-F238E27FC236}">
                <a16:creationId xmlns:a16="http://schemas.microsoft.com/office/drawing/2014/main" id="{D9BE1146-7E95-3A5A-3AA3-8A251DC69AD7}"/>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856001407"/>
              </p:ext>
            </p:extLst>
          </p:nvPr>
        </p:nvGraphicFramePr>
        <p:xfrm>
          <a:off x="609600" y="914400"/>
          <a:ext cx="7924799" cy="3108960"/>
        </p:xfrm>
        <a:graphic>
          <a:graphicData uri="http://schemas.openxmlformats.org/drawingml/2006/table">
            <a:tbl>
              <a:tblPr firstRow="1" bandRow="1">
                <a:tableStyleId>{5C22544A-7EE6-4342-B048-85BDC9FD1C3A}</a:tableStyleId>
              </a:tblPr>
              <a:tblGrid>
                <a:gridCol w="1499164">
                  <a:extLst>
                    <a:ext uri="{9D8B030D-6E8A-4147-A177-3AD203B41FA5}">
                      <a16:colId xmlns:a16="http://schemas.microsoft.com/office/drawing/2014/main" val="20000"/>
                    </a:ext>
                  </a:extLst>
                </a:gridCol>
                <a:gridCol w="2340882">
                  <a:extLst>
                    <a:ext uri="{9D8B030D-6E8A-4147-A177-3AD203B41FA5}">
                      <a16:colId xmlns:a16="http://schemas.microsoft.com/office/drawing/2014/main" val="20001"/>
                    </a:ext>
                  </a:extLst>
                </a:gridCol>
                <a:gridCol w="4084753">
                  <a:extLst>
                    <a:ext uri="{9D8B030D-6E8A-4147-A177-3AD203B41FA5}">
                      <a16:colId xmlns:a16="http://schemas.microsoft.com/office/drawing/2014/main" val="20002"/>
                    </a:ext>
                  </a:extLst>
                </a:gridCol>
              </a:tblGrid>
              <a:tr h="370840">
                <a:tc>
                  <a:txBody>
                    <a:bodyPr/>
                    <a:lstStyle/>
                    <a:p>
                      <a:pPr algn="ctr"/>
                      <a:endParaRPr lang="en-US" sz="2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dirty="0">
                          <a:solidFill>
                            <a:srgbClr val="006600"/>
                          </a:solidFill>
                        </a:rPr>
                        <a:t>Airplanes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dirty="0">
                          <a:solidFill>
                            <a:schemeClr val="tx1"/>
                          </a:solidFill>
                        </a:rPr>
                        <a:t>Tons</a:t>
                      </a:r>
                      <a:r>
                        <a:rPr lang="en-US" sz="2800" baseline="0" dirty="0">
                          <a:solidFill>
                            <a:schemeClr val="tx1"/>
                          </a:solidFill>
                        </a:rPr>
                        <a:t> of Soybeans</a:t>
                      </a:r>
                      <a:endParaRPr lang="en-US" sz="280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algn="ctr"/>
                      <a:r>
                        <a:rPr lang="en-US" sz="2800" dirty="0">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6600"/>
                          </a:solidFill>
                        </a:rPr>
                        <a:t>    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800" dirty="0">
                          <a:solidFill>
                            <a:schemeClr val="tx1"/>
                          </a:solidFill>
                        </a:rPr>
                        <a:t> </a:t>
                      </a:r>
                      <a:r>
                        <a:rPr lang="en-US" sz="2800" dirty="0">
                          <a:solidFill>
                            <a:srgbClr val="404380"/>
                          </a:solidFill>
                        </a:rPr>
                        <a:t>and</a:t>
                      </a:r>
                      <a:r>
                        <a:rPr lang="en-US" sz="2800" dirty="0">
                          <a:solidFill>
                            <a:schemeClr val="tx1"/>
                          </a:solidFill>
                        </a:rPr>
                        <a:t>   5,000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ctr"/>
                      <a:r>
                        <a:rPr lang="en-US" sz="2800"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006600"/>
                          </a:solidFill>
                        </a:rPr>
                        <a:t>  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l"/>
                      <a:r>
                        <a:rPr lang="en-US" sz="2800" dirty="0">
                          <a:solidFill>
                            <a:schemeClr val="tx1"/>
                          </a:solidFill>
                        </a:rPr>
                        <a:t> </a:t>
                      </a:r>
                      <a:r>
                        <a:rPr lang="en-US" sz="2800" dirty="0">
                          <a:solidFill>
                            <a:srgbClr val="404380"/>
                          </a:solidFill>
                        </a:rPr>
                        <a:t>and</a:t>
                      </a:r>
                      <a:r>
                        <a:rPr lang="en-US" sz="2800" dirty="0">
                          <a:solidFill>
                            <a:schemeClr val="tx1"/>
                          </a:solidFill>
                        </a:rPr>
                        <a:t>   4,000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370840">
                <a:tc>
                  <a:txBody>
                    <a:bodyPr/>
                    <a:lstStyle/>
                    <a:p>
                      <a:pPr algn="ctr"/>
                      <a:r>
                        <a:rPr lang="en-US" sz="2800" dirty="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6600"/>
                          </a:solidFill>
                        </a:rPr>
                        <a:t>  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800" dirty="0">
                          <a:solidFill>
                            <a:schemeClr val="tx1"/>
                          </a:solidFill>
                        </a:rPr>
                        <a:t> </a:t>
                      </a:r>
                      <a:r>
                        <a:rPr lang="en-US" sz="2800" dirty="0">
                          <a:solidFill>
                            <a:srgbClr val="404380"/>
                          </a:solidFill>
                        </a:rPr>
                        <a:t>and</a:t>
                      </a:r>
                      <a:r>
                        <a:rPr lang="en-US" sz="2800" dirty="0">
                          <a:solidFill>
                            <a:schemeClr val="tx1"/>
                          </a:solidFill>
                        </a:rPr>
                        <a:t>   2,500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ctr"/>
                      <a:r>
                        <a:rPr lang="en-US" sz="2800" dirty="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800" dirty="0">
                          <a:solidFill>
                            <a:srgbClr val="006600"/>
                          </a:solidFill>
                        </a:rPr>
                        <a:t>  80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l"/>
                      <a:r>
                        <a:rPr lang="en-US" sz="2800" dirty="0">
                          <a:solidFill>
                            <a:schemeClr val="tx1"/>
                          </a:solidFill>
                        </a:rPr>
                        <a:t> </a:t>
                      </a:r>
                      <a:r>
                        <a:rPr lang="en-US" sz="2800" dirty="0">
                          <a:solidFill>
                            <a:srgbClr val="404380"/>
                          </a:solidFill>
                        </a:rPr>
                        <a:t>and</a:t>
                      </a:r>
                      <a:r>
                        <a:rPr lang="en-US" sz="2800" dirty="0">
                          <a:solidFill>
                            <a:schemeClr val="tx1"/>
                          </a:solidFill>
                        </a:rPr>
                        <a:t>   1,000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r h="370840">
                <a:tc>
                  <a:txBody>
                    <a:bodyPr/>
                    <a:lstStyle/>
                    <a:p>
                      <a:pPr algn="ctr"/>
                      <a:r>
                        <a:rPr lang="en-US" sz="2800" dirty="0">
                          <a:solidFill>
                            <a:schemeClr val="tx1"/>
                          </a:solidFill>
                        </a:rPr>
                        <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800" dirty="0">
                          <a:solidFill>
                            <a:srgbClr val="006600"/>
                          </a:solidFill>
                        </a:rPr>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2800" dirty="0">
                          <a:solidFill>
                            <a:schemeClr val="tx1"/>
                          </a:solidFill>
                        </a:rPr>
                        <a:t> </a:t>
                      </a:r>
                      <a:r>
                        <a:rPr lang="en-US" sz="2800" dirty="0">
                          <a:solidFill>
                            <a:srgbClr val="404380"/>
                          </a:solidFill>
                        </a:rPr>
                        <a:t>and</a:t>
                      </a:r>
                      <a:r>
                        <a:rPr lang="en-US" sz="2800" dirty="0">
                          <a:solidFill>
                            <a:schemeClr val="tx1"/>
                          </a:solidFill>
                        </a:rPr>
                        <a:t>          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554369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left)">
                                      <p:cBhvr>
                                        <p:cTn id="11" dur="500"/>
                                        <p:tgtEl>
                                          <p:spTgt spid="8">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wipe(left)">
                                      <p:cBhvr>
                                        <p:cTn id="15"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EXAMPLE 1:</a:t>
            </a:r>
            <a:r>
              <a:rPr lang="en-US" dirty="0">
                <a:solidFill>
                  <a:schemeClr val="accent6">
                    <a:lumMod val="50000"/>
                  </a:schemeClr>
                </a:solidFill>
              </a:rPr>
              <a:t> </a:t>
            </a:r>
            <a:r>
              <a:rPr lang="en-US" dirty="0">
                <a:solidFill>
                  <a:schemeClr val="tx1"/>
                </a:solidFill>
              </a:rPr>
              <a:t>Drawing the PPF</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13</a:t>
            </a:fld>
            <a:endParaRPr lang="en-US" dirty="0"/>
          </a:p>
        </p:txBody>
      </p:sp>
      <p:sp>
        <p:nvSpPr>
          <p:cNvPr id="8" name="Content Placeholder 7"/>
          <p:cNvSpPr>
            <a:spLocks noGrp="1"/>
          </p:cNvSpPr>
          <p:nvPr>
            <p:ph idx="12"/>
          </p:nvPr>
        </p:nvSpPr>
        <p:spPr>
          <a:xfrm>
            <a:off x="235439" y="4724401"/>
            <a:ext cx="8756159" cy="1691639"/>
          </a:xfrm>
        </p:spPr>
        <p:txBody>
          <a:bodyPr>
            <a:noAutofit/>
          </a:bodyPr>
          <a:lstStyle/>
          <a:p>
            <a:r>
              <a:rPr lang="en-US" sz="2400" dirty="0">
                <a:solidFill>
                  <a:srgbClr val="C00000"/>
                </a:solidFill>
              </a:rPr>
              <a:t>Efficient: </a:t>
            </a:r>
            <a:r>
              <a:rPr lang="en-US" sz="2400" dirty="0"/>
              <a:t>the economy is getting all it can from the scarce resources available – points on the PPF (A, B, C, D, E)</a:t>
            </a:r>
          </a:p>
          <a:p>
            <a:r>
              <a:rPr lang="en-US" sz="2400" dirty="0">
                <a:solidFill>
                  <a:srgbClr val="C00000"/>
                </a:solidFill>
              </a:rPr>
              <a:t>Inefficient levels of production: </a:t>
            </a:r>
            <a:r>
              <a:rPr lang="en-US" sz="2400" dirty="0"/>
              <a:t>points inside the PPF</a:t>
            </a:r>
          </a:p>
          <a:p>
            <a:r>
              <a:rPr lang="en-US" sz="2400" dirty="0">
                <a:solidFill>
                  <a:srgbClr val="C00000"/>
                </a:solidFill>
              </a:rPr>
              <a:t>Not feasible: </a:t>
            </a:r>
            <a:r>
              <a:rPr lang="en-US" sz="2400" dirty="0"/>
              <a:t>points outside the PPF</a:t>
            </a:r>
          </a:p>
        </p:txBody>
      </p:sp>
      <p:sp>
        <p:nvSpPr>
          <p:cNvPr id="3" name="Footer Placeholder 2">
            <a:extLst>
              <a:ext uri="{FF2B5EF4-FFF2-40B4-BE49-F238E27FC236}">
                <a16:creationId xmlns:a16="http://schemas.microsoft.com/office/drawing/2014/main" id="{8931A598-5845-09E3-63CC-D39DFC81983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1318475590"/>
              </p:ext>
            </p:extLst>
          </p:nvPr>
        </p:nvGraphicFramePr>
        <p:xfrm>
          <a:off x="152400" y="1142999"/>
          <a:ext cx="3630219" cy="3380443"/>
        </p:xfrm>
        <a:graphic>
          <a:graphicData uri="http://schemas.openxmlformats.org/drawingml/2006/table">
            <a:tbl>
              <a:tblPr firstRow="1" bandRow="1">
                <a:tableStyleId>{5C22544A-7EE6-4342-B048-85BDC9FD1C3A}</a:tableStyleId>
              </a:tblPr>
              <a:tblGrid>
                <a:gridCol w="501723">
                  <a:extLst>
                    <a:ext uri="{9D8B030D-6E8A-4147-A177-3AD203B41FA5}">
                      <a16:colId xmlns:a16="http://schemas.microsoft.com/office/drawing/2014/main" val="20000"/>
                    </a:ext>
                  </a:extLst>
                </a:gridCol>
                <a:gridCol w="1540193">
                  <a:extLst>
                    <a:ext uri="{9D8B030D-6E8A-4147-A177-3AD203B41FA5}">
                      <a16:colId xmlns:a16="http://schemas.microsoft.com/office/drawing/2014/main" val="20001"/>
                    </a:ext>
                  </a:extLst>
                </a:gridCol>
                <a:gridCol w="1588303">
                  <a:extLst>
                    <a:ext uri="{9D8B030D-6E8A-4147-A177-3AD203B41FA5}">
                      <a16:colId xmlns:a16="http://schemas.microsoft.com/office/drawing/2014/main" val="20002"/>
                    </a:ext>
                  </a:extLst>
                </a:gridCol>
              </a:tblGrid>
              <a:tr h="894823">
                <a:tc>
                  <a:txBody>
                    <a:bodyPr/>
                    <a:lstStyle/>
                    <a:p>
                      <a:pPr algn="ctr"/>
                      <a:endParaRPr lang="en-US" sz="24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dirty="0">
                          <a:solidFill>
                            <a:srgbClr val="006600"/>
                          </a:solidFill>
                        </a:rPr>
                        <a:t>Airplanes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0" dirty="0">
                          <a:solidFill>
                            <a:schemeClr val="tx1"/>
                          </a:solidFill>
                        </a:rPr>
                        <a:t>Tons</a:t>
                      </a:r>
                      <a:r>
                        <a:rPr lang="en-US" sz="2400" b="0" baseline="0" dirty="0">
                          <a:solidFill>
                            <a:schemeClr val="tx1"/>
                          </a:solidFill>
                        </a:rPr>
                        <a:t> of</a:t>
                      </a:r>
                    </a:p>
                    <a:p>
                      <a:r>
                        <a:rPr lang="en-US" sz="2400" b="0" baseline="0" dirty="0">
                          <a:solidFill>
                            <a:schemeClr val="tx1"/>
                          </a:solidFill>
                        </a:rPr>
                        <a:t>Soybeans</a:t>
                      </a:r>
                      <a:endParaRPr lang="en-US" sz="24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97124">
                <a:tc>
                  <a:txBody>
                    <a:bodyPr/>
                    <a:lstStyle/>
                    <a:p>
                      <a:pPr algn="ctr"/>
                      <a:r>
                        <a:rPr lang="en-US" sz="2400" b="0" dirty="0">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rgbClr val="006600"/>
                          </a:solidFill>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5,000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97124">
                <a:tc>
                  <a:txBody>
                    <a:bodyPr/>
                    <a:lstStyle/>
                    <a:p>
                      <a:pPr algn="ctr"/>
                      <a:r>
                        <a:rPr lang="en-US" sz="2400" b="0" dirty="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0" dirty="0">
                          <a:solidFill>
                            <a:srgbClr val="006600"/>
                          </a:solidFill>
                        </a:rPr>
                        <a:t>20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0" dirty="0">
                          <a:solidFill>
                            <a:schemeClr val="tx1"/>
                          </a:solidFill>
                        </a:rPr>
                        <a:t>4,000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2"/>
                  </a:ext>
                </a:extLst>
              </a:tr>
              <a:tr h="497124">
                <a:tc>
                  <a:txBody>
                    <a:bodyPr/>
                    <a:lstStyle/>
                    <a:p>
                      <a:pPr algn="ctr"/>
                      <a:r>
                        <a:rPr lang="en-US" sz="2400" b="0" dirty="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rgbClr val="006600"/>
                          </a:solidFill>
                        </a:rPr>
                        <a:t>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2,500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97124">
                <a:tc>
                  <a:txBody>
                    <a:bodyPr/>
                    <a:lstStyle/>
                    <a:p>
                      <a:pPr algn="ctr"/>
                      <a:r>
                        <a:rPr lang="en-US" sz="2400" b="0" dirty="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0" dirty="0">
                          <a:solidFill>
                            <a:srgbClr val="006600"/>
                          </a:solidFill>
                        </a:rPr>
                        <a:t>80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tc>
                  <a:txBody>
                    <a:bodyPr/>
                    <a:lstStyle/>
                    <a:p>
                      <a:pPr algn="ctr"/>
                      <a:r>
                        <a:rPr lang="en-US" sz="2400" b="0" dirty="0">
                          <a:solidFill>
                            <a:schemeClr val="tx1"/>
                          </a:solidFill>
                        </a:rPr>
                        <a:t>1,000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3F0FA"/>
                    </a:solidFill>
                  </a:tcPr>
                </a:tc>
                <a:extLst>
                  <a:ext uri="{0D108BD9-81ED-4DB2-BD59-A6C34878D82A}">
                    <a16:rowId xmlns:a16="http://schemas.microsoft.com/office/drawing/2014/main" val="10004"/>
                  </a:ext>
                </a:extLst>
              </a:tr>
              <a:tr h="497124">
                <a:tc>
                  <a:txBody>
                    <a:bodyPr/>
                    <a:lstStyle/>
                    <a:p>
                      <a:pPr algn="ctr"/>
                      <a:r>
                        <a:rPr lang="en-US" sz="2400" b="0" dirty="0">
                          <a:solidFill>
                            <a:schemeClr val="tx1"/>
                          </a:solidFill>
                        </a:rPr>
                        <a:t>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rgbClr val="006600"/>
                          </a:solidFill>
                        </a:rPr>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b="0" dirty="0">
                          <a:solidFill>
                            <a:schemeClr val="tx1"/>
                          </a:solidFill>
                        </a:rPr>
                        <a:t>       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cxnSp>
        <p:nvCxnSpPr>
          <p:cNvPr id="20" name="Straight Connector 19"/>
          <p:cNvCxnSpPr/>
          <p:nvPr/>
        </p:nvCxnSpPr>
        <p:spPr bwMode="auto">
          <a:xfrm>
            <a:off x="4426439" y="1342605"/>
            <a:ext cx="4107961" cy="2753085"/>
          </a:xfrm>
          <a:prstGeom prst="line">
            <a:avLst/>
          </a:prstGeom>
          <a:noFill/>
          <a:ln w="28575" cap="flat" cmpd="sng" algn="ctr">
            <a:solidFill>
              <a:srgbClr val="0070C0"/>
            </a:solidFill>
            <a:prstDash val="solid"/>
            <a:round/>
            <a:headEnd type="none" w="med" len="med"/>
            <a:tailEnd type="none" w="med" len="med"/>
          </a:ln>
          <a:effectLst/>
        </p:spPr>
      </p:cxnSp>
      <p:grpSp>
        <p:nvGrpSpPr>
          <p:cNvPr id="89" name="Group 88"/>
          <p:cNvGrpSpPr/>
          <p:nvPr/>
        </p:nvGrpSpPr>
        <p:grpSpPr>
          <a:xfrm>
            <a:off x="3316528" y="876180"/>
            <a:ext cx="5592033" cy="3848220"/>
            <a:chOff x="3011728" y="1123890"/>
            <a:chExt cx="5592033" cy="3848220"/>
          </a:xfrm>
        </p:grpSpPr>
        <p:grpSp>
          <p:nvGrpSpPr>
            <p:cNvPr id="17" name="Group 16"/>
            <p:cNvGrpSpPr/>
            <p:nvPr/>
          </p:nvGrpSpPr>
          <p:grpSpPr>
            <a:xfrm>
              <a:off x="3011728" y="1123890"/>
              <a:ext cx="5592033" cy="3848220"/>
              <a:chOff x="3273876" y="926068"/>
              <a:chExt cx="5592033" cy="3848220"/>
            </a:xfrm>
          </p:grpSpPr>
          <p:cxnSp>
            <p:nvCxnSpPr>
              <p:cNvPr id="12" name="Straight Connector 11"/>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flipH="1">
                <a:off x="4383787" y="4126468"/>
                <a:ext cx="4343400" cy="0"/>
              </a:xfrm>
              <a:prstGeom prst="line">
                <a:avLst/>
              </a:prstGeom>
              <a:noFill/>
              <a:ln w="28575" cap="flat" cmpd="sng" algn="ctr">
                <a:solidFill>
                  <a:schemeClr val="tx1"/>
                </a:solidFill>
                <a:prstDash val="solid"/>
                <a:round/>
                <a:headEnd type="none" w="med" len="med"/>
                <a:tailEnd type="none" w="med" len="med"/>
              </a:ln>
              <a:effectLst/>
            </p:spPr>
          </p:cxnSp>
          <p:sp>
            <p:nvSpPr>
              <p:cNvPr id="15" name="TextBox 14"/>
              <p:cNvSpPr txBox="1"/>
              <p:nvPr/>
            </p:nvSpPr>
            <p:spPr>
              <a:xfrm>
                <a:off x="6815348" y="4374178"/>
                <a:ext cx="2050561" cy="400110"/>
              </a:xfrm>
              <a:prstGeom prst="rect">
                <a:avLst/>
              </a:prstGeom>
              <a:noFill/>
            </p:spPr>
            <p:txBody>
              <a:bodyPr wrap="none" rtlCol="0">
                <a:spAutoFit/>
              </a:bodyPr>
              <a:lstStyle/>
              <a:p>
                <a:r>
                  <a:rPr lang="en-US" sz="2000" dirty="0"/>
                  <a:t>Soybeans (tons)</a:t>
                </a:r>
              </a:p>
            </p:txBody>
          </p:sp>
          <p:sp>
            <p:nvSpPr>
              <p:cNvPr id="16" name="TextBox 15"/>
              <p:cNvSpPr txBox="1"/>
              <p:nvPr/>
            </p:nvSpPr>
            <p:spPr>
              <a:xfrm>
                <a:off x="3273876" y="926068"/>
                <a:ext cx="1255472" cy="400110"/>
              </a:xfrm>
              <a:prstGeom prst="rect">
                <a:avLst/>
              </a:prstGeom>
              <a:noFill/>
            </p:spPr>
            <p:txBody>
              <a:bodyPr wrap="none" rtlCol="0">
                <a:spAutoFit/>
              </a:bodyPr>
              <a:lstStyle/>
              <a:p>
                <a:r>
                  <a:rPr lang="en-US" sz="2000" dirty="0">
                    <a:solidFill>
                      <a:srgbClr val="006600"/>
                    </a:solidFill>
                  </a:rPr>
                  <a:t>Airplanes</a:t>
                </a:r>
              </a:p>
            </p:txBody>
          </p:sp>
        </p:grpSp>
        <p:sp>
          <p:nvSpPr>
            <p:cNvPr id="56" name="TextBox 55"/>
            <p:cNvSpPr txBox="1"/>
            <p:nvPr/>
          </p:nvSpPr>
          <p:spPr>
            <a:xfrm>
              <a:off x="3725694" y="4355068"/>
              <a:ext cx="312906" cy="369332"/>
            </a:xfrm>
            <a:prstGeom prst="rect">
              <a:avLst/>
            </a:prstGeom>
            <a:noFill/>
          </p:spPr>
          <p:txBody>
            <a:bodyPr wrap="none" rtlCol="0">
              <a:spAutoFit/>
            </a:bodyPr>
            <a:lstStyle/>
            <a:p>
              <a:r>
                <a:rPr lang="en-US" dirty="0"/>
                <a:t>0</a:t>
              </a:r>
            </a:p>
          </p:txBody>
        </p:sp>
      </p:grpSp>
      <p:grpSp>
        <p:nvGrpSpPr>
          <p:cNvPr id="99" name="Group 98"/>
          <p:cNvGrpSpPr/>
          <p:nvPr/>
        </p:nvGrpSpPr>
        <p:grpSpPr>
          <a:xfrm>
            <a:off x="3733800" y="1091624"/>
            <a:ext cx="1130611" cy="435647"/>
            <a:chOff x="3733800" y="958334"/>
            <a:chExt cx="1130611" cy="435647"/>
          </a:xfrm>
        </p:grpSpPr>
        <p:grpSp>
          <p:nvGrpSpPr>
            <p:cNvPr id="88" name="Group 87"/>
            <p:cNvGrpSpPr/>
            <p:nvPr/>
          </p:nvGrpSpPr>
          <p:grpSpPr>
            <a:xfrm>
              <a:off x="3733800" y="958334"/>
              <a:ext cx="1130611" cy="435647"/>
              <a:chOff x="3429000" y="1339334"/>
              <a:chExt cx="1130611" cy="435647"/>
            </a:xfrm>
          </p:grpSpPr>
          <p:sp>
            <p:nvSpPr>
              <p:cNvPr id="31" name="TextBox 30"/>
              <p:cNvSpPr txBox="1"/>
              <p:nvPr/>
            </p:nvSpPr>
            <p:spPr>
              <a:xfrm>
                <a:off x="4221057" y="1339334"/>
                <a:ext cx="338554" cy="369332"/>
              </a:xfrm>
              <a:prstGeom prst="rect">
                <a:avLst/>
              </a:prstGeom>
              <a:noFill/>
            </p:spPr>
            <p:txBody>
              <a:bodyPr wrap="none" rtlCol="0">
                <a:spAutoFit/>
              </a:bodyPr>
              <a:lstStyle/>
              <a:p>
                <a:r>
                  <a:rPr lang="en-US" dirty="0"/>
                  <a:t>E</a:t>
                </a:r>
              </a:p>
            </p:txBody>
          </p:sp>
          <p:sp>
            <p:nvSpPr>
              <p:cNvPr id="57" name="TextBox 56"/>
              <p:cNvSpPr txBox="1"/>
              <p:nvPr/>
            </p:nvSpPr>
            <p:spPr>
              <a:xfrm>
                <a:off x="3429000" y="1405649"/>
                <a:ext cx="569387" cy="369332"/>
              </a:xfrm>
              <a:prstGeom prst="rect">
                <a:avLst/>
              </a:prstGeom>
              <a:noFill/>
            </p:spPr>
            <p:txBody>
              <a:bodyPr wrap="none" rtlCol="0">
                <a:spAutoFit/>
              </a:bodyPr>
              <a:lstStyle/>
              <a:p>
                <a:r>
                  <a:rPr lang="en-US" dirty="0">
                    <a:solidFill>
                      <a:srgbClr val="006600"/>
                    </a:solidFill>
                  </a:rPr>
                  <a:t>100</a:t>
                </a:r>
              </a:p>
            </p:txBody>
          </p:sp>
        </p:grpSp>
        <p:sp>
          <p:nvSpPr>
            <p:cNvPr id="90" name="Flowchart: Connector 89"/>
            <p:cNvSpPr/>
            <p:nvPr/>
          </p:nvSpPr>
          <p:spPr bwMode="auto">
            <a:xfrm>
              <a:off x="4350239" y="113538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8" name="Group 97"/>
          <p:cNvGrpSpPr/>
          <p:nvPr/>
        </p:nvGrpSpPr>
        <p:grpSpPr>
          <a:xfrm>
            <a:off x="3862041" y="1428690"/>
            <a:ext cx="1852959" cy="3048000"/>
            <a:chOff x="3862041" y="1295400"/>
            <a:chExt cx="1852959" cy="3048000"/>
          </a:xfrm>
        </p:grpSpPr>
        <p:grpSp>
          <p:nvGrpSpPr>
            <p:cNvPr id="87" name="Group 86"/>
            <p:cNvGrpSpPr/>
            <p:nvPr/>
          </p:nvGrpSpPr>
          <p:grpSpPr>
            <a:xfrm>
              <a:off x="3862041" y="1295400"/>
              <a:ext cx="1852959" cy="3048000"/>
              <a:chOff x="3557241" y="1676400"/>
              <a:chExt cx="1852959" cy="3048000"/>
            </a:xfrm>
          </p:grpSpPr>
          <p:cxnSp>
            <p:nvCxnSpPr>
              <p:cNvPr id="79" name="Straight Connector 78"/>
              <p:cNvCxnSpPr/>
              <p:nvPr/>
            </p:nvCxnSpPr>
            <p:spPr bwMode="auto">
              <a:xfrm>
                <a:off x="4953000" y="2112822"/>
                <a:ext cx="0" cy="2211468"/>
              </a:xfrm>
              <a:prstGeom prst="line">
                <a:avLst/>
              </a:prstGeom>
              <a:noFill/>
              <a:ln w="9525" cap="flat" cmpd="sng" algn="ctr">
                <a:solidFill>
                  <a:schemeClr val="tx1"/>
                </a:solidFill>
                <a:prstDash val="lgDash"/>
                <a:round/>
                <a:headEnd type="none" w="med" len="med"/>
                <a:tailEnd type="none" w="med" len="med"/>
              </a:ln>
              <a:effectLst/>
            </p:spPr>
          </p:cxnSp>
          <p:cxnSp>
            <p:nvCxnSpPr>
              <p:cNvPr id="64" name="Straight Connector 63"/>
              <p:cNvCxnSpPr/>
              <p:nvPr/>
            </p:nvCxnSpPr>
            <p:spPr bwMode="auto">
              <a:xfrm>
                <a:off x="4121639" y="2133600"/>
                <a:ext cx="831361" cy="0"/>
              </a:xfrm>
              <a:prstGeom prst="line">
                <a:avLst/>
              </a:prstGeom>
              <a:noFill/>
              <a:ln w="9525" cap="flat" cmpd="sng" algn="ctr">
                <a:solidFill>
                  <a:schemeClr val="tx1"/>
                </a:solidFill>
                <a:prstDash val="lgDash"/>
                <a:round/>
                <a:headEnd type="none" w="med" len="med"/>
                <a:tailEnd type="none" w="med" len="med"/>
              </a:ln>
              <a:effectLst/>
            </p:spPr>
          </p:cxnSp>
          <p:sp>
            <p:nvSpPr>
              <p:cNvPr id="43" name="TextBox 42"/>
              <p:cNvSpPr txBox="1"/>
              <p:nvPr/>
            </p:nvSpPr>
            <p:spPr>
              <a:xfrm>
                <a:off x="3557241" y="1981200"/>
                <a:ext cx="441146" cy="369332"/>
              </a:xfrm>
              <a:prstGeom prst="rect">
                <a:avLst/>
              </a:prstGeom>
              <a:noFill/>
            </p:spPr>
            <p:txBody>
              <a:bodyPr wrap="none" rtlCol="0">
                <a:spAutoFit/>
              </a:bodyPr>
              <a:lstStyle/>
              <a:p>
                <a:r>
                  <a:rPr lang="en-US" dirty="0">
                    <a:solidFill>
                      <a:srgbClr val="006600"/>
                    </a:solidFill>
                  </a:rPr>
                  <a:t>80</a:t>
                </a:r>
              </a:p>
            </p:txBody>
          </p:sp>
          <p:sp>
            <p:nvSpPr>
              <p:cNvPr id="49" name="TextBox 48"/>
              <p:cNvSpPr txBox="1"/>
              <p:nvPr/>
            </p:nvSpPr>
            <p:spPr>
              <a:xfrm>
                <a:off x="5058822" y="1676400"/>
                <a:ext cx="351378" cy="369332"/>
              </a:xfrm>
              <a:prstGeom prst="rect">
                <a:avLst/>
              </a:prstGeom>
              <a:noFill/>
            </p:spPr>
            <p:txBody>
              <a:bodyPr wrap="none" rtlCol="0">
                <a:spAutoFit/>
              </a:bodyPr>
              <a:lstStyle/>
              <a:p>
                <a:r>
                  <a:rPr lang="en-US" dirty="0"/>
                  <a:t>D</a:t>
                </a:r>
              </a:p>
            </p:txBody>
          </p:sp>
          <p:sp>
            <p:nvSpPr>
              <p:cNvPr id="58" name="TextBox 57"/>
              <p:cNvSpPr txBox="1"/>
              <p:nvPr/>
            </p:nvSpPr>
            <p:spPr>
              <a:xfrm>
                <a:off x="4572253" y="4355068"/>
                <a:ext cx="761747" cy="369332"/>
              </a:xfrm>
              <a:prstGeom prst="rect">
                <a:avLst/>
              </a:prstGeom>
              <a:noFill/>
            </p:spPr>
            <p:txBody>
              <a:bodyPr wrap="none" rtlCol="0">
                <a:spAutoFit/>
              </a:bodyPr>
              <a:lstStyle/>
              <a:p>
                <a:r>
                  <a:rPr lang="en-US" dirty="0"/>
                  <a:t>1,000</a:t>
                </a:r>
              </a:p>
            </p:txBody>
          </p:sp>
        </p:grpSp>
        <p:sp>
          <p:nvSpPr>
            <p:cNvPr id="91" name="Flowchart: Connector 90"/>
            <p:cNvSpPr/>
            <p:nvPr/>
          </p:nvSpPr>
          <p:spPr bwMode="auto">
            <a:xfrm>
              <a:off x="5181600" y="167640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7" name="Group 96"/>
          <p:cNvGrpSpPr/>
          <p:nvPr/>
        </p:nvGrpSpPr>
        <p:grpSpPr>
          <a:xfrm>
            <a:off x="3862041" y="2266890"/>
            <a:ext cx="3072159" cy="2209800"/>
            <a:chOff x="3862041" y="2133600"/>
            <a:chExt cx="3072159" cy="2209800"/>
          </a:xfrm>
        </p:grpSpPr>
        <p:grpSp>
          <p:nvGrpSpPr>
            <p:cNvPr id="86" name="Group 85"/>
            <p:cNvGrpSpPr/>
            <p:nvPr/>
          </p:nvGrpSpPr>
          <p:grpSpPr>
            <a:xfrm>
              <a:off x="3862041" y="2133600"/>
              <a:ext cx="3072159" cy="2209800"/>
              <a:chOff x="3557241" y="2514600"/>
              <a:chExt cx="3072159" cy="2209800"/>
            </a:xfrm>
          </p:grpSpPr>
          <p:cxnSp>
            <p:nvCxnSpPr>
              <p:cNvPr id="80" name="Straight Connector 79"/>
              <p:cNvCxnSpPr/>
              <p:nvPr/>
            </p:nvCxnSpPr>
            <p:spPr bwMode="auto">
              <a:xfrm>
                <a:off x="6172200" y="2959537"/>
                <a:ext cx="0" cy="1383863"/>
              </a:xfrm>
              <a:prstGeom prst="line">
                <a:avLst/>
              </a:prstGeom>
              <a:noFill/>
              <a:ln w="9525" cap="flat" cmpd="sng" algn="ctr">
                <a:solidFill>
                  <a:schemeClr val="tx1"/>
                </a:solidFill>
                <a:prstDash val="lgDash"/>
                <a:round/>
                <a:headEnd type="none" w="med" len="med"/>
                <a:tailEnd type="none" w="med" len="med"/>
              </a:ln>
              <a:effectLst/>
            </p:spPr>
          </p:cxnSp>
          <p:cxnSp>
            <p:nvCxnSpPr>
              <p:cNvPr id="67" name="Straight Connector 66"/>
              <p:cNvCxnSpPr/>
              <p:nvPr/>
            </p:nvCxnSpPr>
            <p:spPr bwMode="auto">
              <a:xfrm>
                <a:off x="4121639" y="2959537"/>
                <a:ext cx="2053980" cy="0"/>
              </a:xfrm>
              <a:prstGeom prst="line">
                <a:avLst/>
              </a:prstGeom>
              <a:noFill/>
              <a:ln w="9525" cap="flat" cmpd="sng" algn="ctr">
                <a:solidFill>
                  <a:schemeClr val="tx1"/>
                </a:solidFill>
                <a:prstDash val="lgDash"/>
                <a:round/>
                <a:headEnd type="none" w="med" len="med"/>
                <a:tailEnd type="none" w="med" len="med"/>
              </a:ln>
              <a:effectLst/>
            </p:spPr>
          </p:cxnSp>
          <p:sp>
            <p:nvSpPr>
              <p:cNvPr id="46" name="TextBox 45"/>
              <p:cNvSpPr txBox="1"/>
              <p:nvPr/>
            </p:nvSpPr>
            <p:spPr>
              <a:xfrm>
                <a:off x="6278022" y="2514600"/>
                <a:ext cx="351378" cy="369332"/>
              </a:xfrm>
              <a:prstGeom prst="rect">
                <a:avLst/>
              </a:prstGeom>
              <a:noFill/>
            </p:spPr>
            <p:txBody>
              <a:bodyPr wrap="none" rtlCol="0">
                <a:spAutoFit/>
              </a:bodyPr>
              <a:lstStyle/>
              <a:p>
                <a:r>
                  <a:rPr lang="en-US" dirty="0"/>
                  <a:t>C</a:t>
                </a:r>
              </a:p>
            </p:txBody>
          </p:sp>
          <p:sp>
            <p:nvSpPr>
              <p:cNvPr id="54" name="TextBox 53"/>
              <p:cNvSpPr txBox="1"/>
              <p:nvPr/>
            </p:nvSpPr>
            <p:spPr>
              <a:xfrm>
                <a:off x="3557241" y="2743200"/>
                <a:ext cx="441146" cy="369332"/>
              </a:xfrm>
              <a:prstGeom prst="rect">
                <a:avLst/>
              </a:prstGeom>
              <a:noFill/>
            </p:spPr>
            <p:txBody>
              <a:bodyPr wrap="none" rtlCol="0">
                <a:spAutoFit/>
              </a:bodyPr>
              <a:lstStyle/>
              <a:p>
                <a:r>
                  <a:rPr lang="en-US" dirty="0">
                    <a:solidFill>
                      <a:srgbClr val="006600"/>
                    </a:solidFill>
                  </a:rPr>
                  <a:t>50</a:t>
                </a:r>
              </a:p>
            </p:txBody>
          </p:sp>
          <p:sp>
            <p:nvSpPr>
              <p:cNvPr id="59" name="TextBox 58"/>
              <p:cNvSpPr txBox="1"/>
              <p:nvPr/>
            </p:nvSpPr>
            <p:spPr>
              <a:xfrm>
                <a:off x="5791453" y="4355068"/>
                <a:ext cx="761747" cy="369332"/>
              </a:xfrm>
              <a:prstGeom prst="rect">
                <a:avLst/>
              </a:prstGeom>
              <a:noFill/>
            </p:spPr>
            <p:txBody>
              <a:bodyPr wrap="none" rtlCol="0">
                <a:spAutoFit/>
              </a:bodyPr>
              <a:lstStyle/>
              <a:p>
                <a:r>
                  <a:rPr lang="en-US" dirty="0"/>
                  <a:t>2,500</a:t>
                </a:r>
              </a:p>
            </p:txBody>
          </p:sp>
        </p:grpSp>
        <p:sp>
          <p:nvSpPr>
            <p:cNvPr id="92" name="Flowchart: Connector 91"/>
            <p:cNvSpPr/>
            <p:nvPr/>
          </p:nvSpPr>
          <p:spPr bwMode="auto">
            <a:xfrm>
              <a:off x="6400800" y="2491502"/>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6" name="Group 95"/>
          <p:cNvGrpSpPr/>
          <p:nvPr/>
        </p:nvGrpSpPr>
        <p:grpSpPr>
          <a:xfrm>
            <a:off x="3862041" y="3028890"/>
            <a:ext cx="4215159" cy="1447800"/>
            <a:chOff x="3862041" y="2895600"/>
            <a:chExt cx="4215159" cy="1447800"/>
          </a:xfrm>
        </p:grpSpPr>
        <p:grpSp>
          <p:nvGrpSpPr>
            <p:cNvPr id="85" name="Group 84"/>
            <p:cNvGrpSpPr/>
            <p:nvPr/>
          </p:nvGrpSpPr>
          <p:grpSpPr>
            <a:xfrm>
              <a:off x="3862041" y="2895600"/>
              <a:ext cx="4215159" cy="1447800"/>
              <a:chOff x="3557241" y="3276600"/>
              <a:chExt cx="4215159" cy="1447800"/>
            </a:xfrm>
          </p:grpSpPr>
          <p:cxnSp>
            <p:nvCxnSpPr>
              <p:cNvPr id="82" name="Straight Connector 81"/>
              <p:cNvCxnSpPr/>
              <p:nvPr/>
            </p:nvCxnSpPr>
            <p:spPr bwMode="auto">
              <a:xfrm>
                <a:off x="7315200" y="3733800"/>
                <a:ext cx="0" cy="609600"/>
              </a:xfrm>
              <a:prstGeom prst="line">
                <a:avLst/>
              </a:prstGeom>
              <a:noFill/>
              <a:ln w="9525" cap="flat" cmpd="sng" algn="ctr">
                <a:solidFill>
                  <a:schemeClr val="tx1"/>
                </a:solidFill>
                <a:prstDash val="lgDash"/>
                <a:round/>
                <a:headEnd type="none" w="med" len="med"/>
                <a:tailEnd type="none" w="med" len="med"/>
              </a:ln>
              <a:effectLst/>
            </p:spPr>
          </p:cxnSp>
          <p:cxnSp>
            <p:nvCxnSpPr>
              <p:cNvPr id="69" name="Straight Connector 68"/>
              <p:cNvCxnSpPr/>
              <p:nvPr/>
            </p:nvCxnSpPr>
            <p:spPr bwMode="auto">
              <a:xfrm>
                <a:off x="4121639" y="3733800"/>
                <a:ext cx="3239203" cy="0"/>
              </a:xfrm>
              <a:prstGeom prst="line">
                <a:avLst/>
              </a:prstGeom>
              <a:noFill/>
              <a:ln w="9525" cap="flat" cmpd="sng" algn="ctr">
                <a:solidFill>
                  <a:schemeClr val="tx1"/>
                </a:solidFill>
                <a:prstDash val="lgDash"/>
                <a:round/>
                <a:headEnd type="none" w="med" len="med"/>
                <a:tailEnd type="none" w="med" len="med"/>
              </a:ln>
              <a:effectLst/>
            </p:spPr>
          </p:cxnSp>
          <p:sp>
            <p:nvSpPr>
              <p:cNvPr id="40" name="TextBox 39"/>
              <p:cNvSpPr txBox="1"/>
              <p:nvPr/>
            </p:nvSpPr>
            <p:spPr>
              <a:xfrm>
                <a:off x="7433846" y="3276600"/>
                <a:ext cx="338554" cy="369332"/>
              </a:xfrm>
              <a:prstGeom prst="rect">
                <a:avLst/>
              </a:prstGeom>
              <a:noFill/>
            </p:spPr>
            <p:txBody>
              <a:bodyPr wrap="none" rtlCol="0">
                <a:spAutoFit/>
              </a:bodyPr>
              <a:lstStyle/>
              <a:p>
                <a:r>
                  <a:rPr lang="en-US" dirty="0"/>
                  <a:t>B</a:t>
                </a:r>
              </a:p>
            </p:txBody>
          </p:sp>
          <p:sp>
            <p:nvSpPr>
              <p:cNvPr id="55" name="TextBox 54"/>
              <p:cNvSpPr txBox="1"/>
              <p:nvPr/>
            </p:nvSpPr>
            <p:spPr>
              <a:xfrm>
                <a:off x="3557241" y="3581400"/>
                <a:ext cx="441146" cy="369332"/>
              </a:xfrm>
              <a:prstGeom prst="rect">
                <a:avLst/>
              </a:prstGeom>
              <a:noFill/>
            </p:spPr>
            <p:txBody>
              <a:bodyPr wrap="none" rtlCol="0">
                <a:spAutoFit/>
              </a:bodyPr>
              <a:lstStyle/>
              <a:p>
                <a:r>
                  <a:rPr lang="en-US" dirty="0">
                    <a:solidFill>
                      <a:srgbClr val="006600"/>
                    </a:solidFill>
                  </a:rPr>
                  <a:t>20</a:t>
                </a:r>
              </a:p>
            </p:txBody>
          </p:sp>
          <p:sp>
            <p:nvSpPr>
              <p:cNvPr id="61" name="TextBox 60"/>
              <p:cNvSpPr txBox="1"/>
              <p:nvPr/>
            </p:nvSpPr>
            <p:spPr>
              <a:xfrm>
                <a:off x="6934200" y="4355068"/>
                <a:ext cx="761747" cy="369332"/>
              </a:xfrm>
              <a:prstGeom prst="rect">
                <a:avLst/>
              </a:prstGeom>
              <a:noFill/>
            </p:spPr>
            <p:txBody>
              <a:bodyPr wrap="none" rtlCol="0">
                <a:spAutoFit/>
              </a:bodyPr>
              <a:lstStyle/>
              <a:p>
                <a:r>
                  <a:rPr lang="en-US" dirty="0"/>
                  <a:t>4,000</a:t>
                </a:r>
              </a:p>
            </p:txBody>
          </p:sp>
        </p:grpSp>
        <p:sp>
          <p:nvSpPr>
            <p:cNvPr id="93" name="Flowchart: Connector 92"/>
            <p:cNvSpPr/>
            <p:nvPr/>
          </p:nvSpPr>
          <p:spPr bwMode="auto">
            <a:xfrm>
              <a:off x="7543673" y="327660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5" name="Group 94"/>
          <p:cNvGrpSpPr/>
          <p:nvPr/>
        </p:nvGrpSpPr>
        <p:grpSpPr>
          <a:xfrm>
            <a:off x="8153400" y="3640273"/>
            <a:ext cx="790276" cy="836417"/>
            <a:chOff x="8153400" y="3506983"/>
            <a:chExt cx="790276" cy="836417"/>
          </a:xfrm>
        </p:grpSpPr>
        <p:grpSp>
          <p:nvGrpSpPr>
            <p:cNvPr id="84" name="Group 83"/>
            <p:cNvGrpSpPr/>
            <p:nvPr/>
          </p:nvGrpSpPr>
          <p:grpSpPr>
            <a:xfrm>
              <a:off x="8153400" y="3506983"/>
              <a:ext cx="790276" cy="836417"/>
              <a:chOff x="7848600" y="3887983"/>
              <a:chExt cx="790276" cy="836417"/>
            </a:xfrm>
          </p:grpSpPr>
          <p:sp>
            <p:nvSpPr>
              <p:cNvPr id="35" name="TextBox 34"/>
              <p:cNvSpPr txBox="1"/>
              <p:nvPr/>
            </p:nvSpPr>
            <p:spPr>
              <a:xfrm>
                <a:off x="8300322" y="3887983"/>
                <a:ext cx="338554" cy="369332"/>
              </a:xfrm>
              <a:prstGeom prst="rect">
                <a:avLst/>
              </a:prstGeom>
              <a:noFill/>
            </p:spPr>
            <p:txBody>
              <a:bodyPr wrap="none" rtlCol="0">
                <a:spAutoFit/>
              </a:bodyPr>
              <a:lstStyle/>
              <a:p>
                <a:r>
                  <a:rPr lang="en-US" dirty="0"/>
                  <a:t>A</a:t>
                </a:r>
              </a:p>
            </p:txBody>
          </p:sp>
          <p:sp>
            <p:nvSpPr>
              <p:cNvPr id="62" name="TextBox 61"/>
              <p:cNvSpPr txBox="1"/>
              <p:nvPr/>
            </p:nvSpPr>
            <p:spPr>
              <a:xfrm>
                <a:off x="7848600" y="4355068"/>
                <a:ext cx="761747" cy="369332"/>
              </a:xfrm>
              <a:prstGeom prst="rect">
                <a:avLst/>
              </a:prstGeom>
              <a:noFill/>
            </p:spPr>
            <p:txBody>
              <a:bodyPr wrap="none" rtlCol="0">
                <a:spAutoFit/>
              </a:bodyPr>
              <a:lstStyle/>
              <a:p>
                <a:r>
                  <a:rPr lang="en-US" dirty="0"/>
                  <a:t>5,000</a:t>
                </a:r>
              </a:p>
            </p:txBody>
          </p:sp>
        </p:grpSp>
        <p:sp>
          <p:nvSpPr>
            <p:cNvPr id="94" name="Flowchart: Connector 93"/>
            <p:cNvSpPr/>
            <p:nvPr/>
          </p:nvSpPr>
          <p:spPr bwMode="auto">
            <a:xfrm>
              <a:off x="8399043" y="386709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spTree>
    <p:extLst>
      <p:ext uri="{BB962C8B-B14F-4D97-AF65-F5344CB8AC3E}">
        <p14:creationId xmlns:p14="http://schemas.microsoft.com/office/powerpoint/2010/main" val="26732302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wipe(left)">
                                      <p:cBhvr>
                                        <p:cTn id="12" dur="500"/>
                                        <p:tgtEl>
                                          <p:spTgt spid="8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5"/>
                                        </p:tgtEl>
                                        <p:attrNameLst>
                                          <p:attrName>style.visibility</p:attrName>
                                        </p:attrNameLst>
                                      </p:cBhvr>
                                      <p:to>
                                        <p:strVal val="visible"/>
                                      </p:to>
                                    </p:set>
                                    <p:animEffect transition="in" filter="wipe(left)">
                                      <p:cBhvr>
                                        <p:cTn id="17" dur="500"/>
                                        <p:tgtEl>
                                          <p:spTgt spid="9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9"/>
                                        </p:tgtEl>
                                        <p:attrNameLst>
                                          <p:attrName>style.visibility</p:attrName>
                                        </p:attrNameLst>
                                      </p:cBhvr>
                                      <p:to>
                                        <p:strVal val="visible"/>
                                      </p:to>
                                    </p:set>
                                    <p:animEffect transition="in" filter="wipe(left)">
                                      <p:cBhvr>
                                        <p:cTn id="22" dur="500"/>
                                        <p:tgtEl>
                                          <p:spTgt spid="9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6"/>
                                        </p:tgtEl>
                                        <p:attrNameLst>
                                          <p:attrName>style.visibility</p:attrName>
                                        </p:attrNameLst>
                                      </p:cBhvr>
                                      <p:to>
                                        <p:strVal val="visible"/>
                                      </p:to>
                                    </p:set>
                                    <p:animEffect transition="in" filter="wipe(left)">
                                      <p:cBhvr>
                                        <p:cTn id="27" dur="500"/>
                                        <p:tgtEl>
                                          <p:spTgt spid="9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7"/>
                                        </p:tgtEl>
                                        <p:attrNameLst>
                                          <p:attrName>style.visibility</p:attrName>
                                        </p:attrNameLst>
                                      </p:cBhvr>
                                      <p:to>
                                        <p:strVal val="visible"/>
                                      </p:to>
                                    </p:set>
                                    <p:animEffect transition="in" filter="wipe(left)">
                                      <p:cBhvr>
                                        <p:cTn id="32" dur="500"/>
                                        <p:tgtEl>
                                          <p:spTgt spid="9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8"/>
                                        </p:tgtEl>
                                        <p:attrNameLst>
                                          <p:attrName>style.visibility</p:attrName>
                                        </p:attrNameLst>
                                      </p:cBhvr>
                                      <p:to>
                                        <p:strVal val="visible"/>
                                      </p:to>
                                    </p:set>
                                    <p:animEffect transition="in" filter="wipe(left)">
                                      <p:cBhvr>
                                        <p:cTn id="37" dur="500"/>
                                        <p:tgtEl>
                                          <p:spTgt spid="9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
                                            <p:txEl>
                                              <p:pRg st="0" end="0"/>
                                            </p:txEl>
                                          </p:spTgt>
                                        </p:tgtEl>
                                        <p:attrNameLst>
                                          <p:attrName>style.visibility</p:attrName>
                                        </p:attrNameLst>
                                      </p:cBhvr>
                                      <p:to>
                                        <p:strVal val="visible"/>
                                      </p:to>
                                    </p:set>
                                    <p:animEffect transition="in" filter="wipe(left)">
                                      <p:cBhvr>
                                        <p:cTn id="47" dur="500"/>
                                        <p:tgtEl>
                                          <p:spTgt spid="8">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
                                            <p:txEl>
                                              <p:pRg st="1" end="1"/>
                                            </p:txEl>
                                          </p:spTgt>
                                        </p:tgtEl>
                                        <p:attrNameLst>
                                          <p:attrName>style.visibility</p:attrName>
                                        </p:attrNameLst>
                                      </p:cBhvr>
                                      <p:to>
                                        <p:strVal val="visible"/>
                                      </p:to>
                                    </p:set>
                                    <p:animEffect transition="in" filter="wipe(left)">
                                      <p:cBhvr>
                                        <p:cTn id="52" dur="500"/>
                                        <p:tgtEl>
                                          <p:spTgt spid="8">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
                                            <p:txEl>
                                              <p:pRg st="2" end="2"/>
                                            </p:txEl>
                                          </p:spTgt>
                                        </p:tgtEl>
                                        <p:attrNameLst>
                                          <p:attrName>style.visibility</p:attrName>
                                        </p:attrNameLst>
                                      </p:cBhvr>
                                      <p:to>
                                        <p:strVal val="visible"/>
                                      </p:to>
                                    </p:set>
                                    <p:animEffect transition="in" filter="wipe(left)">
                                      <p:cBhvr>
                                        <p:cTn id="5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1: </a:t>
            </a:r>
            <a:r>
              <a:rPr lang="en-US" dirty="0">
                <a:solidFill>
                  <a:schemeClr val="tx1"/>
                </a:solidFill>
              </a:rPr>
              <a:t>Points off the PPF</a:t>
            </a:r>
          </a:p>
        </p:txBody>
      </p:sp>
      <p:sp>
        <p:nvSpPr>
          <p:cNvPr id="3" name="Content Placeholder 2"/>
          <p:cNvSpPr>
            <a:spLocks noGrp="1"/>
          </p:cNvSpPr>
          <p:nvPr>
            <p:ph idx="1"/>
          </p:nvPr>
        </p:nvSpPr>
        <p:spPr>
          <a:xfrm>
            <a:off x="228601" y="914400"/>
            <a:ext cx="8637588" cy="5534025"/>
          </a:xfrm>
        </p:spPr>
        <p:txBody>
          <a:bodyPr>
            <a:noAutofit/>
          </a:bodyPr>
          <a:lstStyle/>
          <a:p>
            <a:pPr marL="0" indent="0">
              <a:buNone/>
            </a:pPr>
            <a:r>
              <a:rPr lang="en-US" dirty="0">
                <a:solidFill>
                  <a:srgbClr val="4E519E"/>
                </a:solidFill>
              </a:rPr>
              <a:t>Use the graph from the previous example. </a:t>
            </a:r>
          </a:p>
          <a:p>
            <a:r>
              <a:rPr lang="en-US" dirty="0">
                <a:solidFill>
                  <a:schemeClr val="tx1"/>
                </a:solidFill>
              </a:rPr>
              <a:t>Would it be possible for the economy to produce the following combinations of the two goods?</a:t>
            </a:r>
          </a:p>
          <a:p>
            <a:pPr lvl="1"/>
            <a:r>
              <a:rPr lang="en-US" sz="3000" dirty="0">
                <a:solidFill>
                  <a:srgbClr val="4E519E"/>
                </a:solidFill>
              </a:rPr>
              <a:t>Point F: 80 airplanes and 4,000 tons of soybeans</a:t>
            </a:r>
          </a:p>
          <a:p>
            <a:pPr lvl="1"/>
            <a:r>
              <a:rPr lang="en-US" sz="3000" dirty="0">
                <a:solidFill>
                  <a:srgbClr val="4E519E"/>
                </a:solidFill>
              </a:rPr>
              <a:t>Point G: 30 airplanes and 2,500 tons of soybeans </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14</a:t>
            </a:fld>
            <a:endParaRPr lang="en-US"/>
          </a:p>
        </p:txBody>
      </p:sp>
      <p:sp>
        <p:nvSpPr>
          <p:cNvPr id="5" name="Footer Placeholder 4">
            <a:extLst>
              <a:ext uri="{FF2B5EF4-FFF2-40B4-BE49-F238E27FC236}">
                <a16:creationId xmlns:a16="http://schemas.microsoft.com/office/drawing/2014/main" id="{0CD3C8CF-D110-10E0-D9CB-35479E36514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02549831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AE1221"/>
                </a:solidFill>
              </a:rPr>
              <a:t>Active Learning 1: Answers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15</a:t>
            </a:fld>
            <a:endParaRPr lang="en-US"/>
          </a:p>
        </p:txBody>
      </p:sp>
      <p:sp>
        <p:nvSpPr>
          <p:cNvPr id="3" name="Content Placeholder 2"/>
          <p:cNvSpPr>
            <a:spLocks noGrp="1"/>
          </p:cNvSpPr>
          <p:nvPr>
            <p:ph idx="12"/>
          </p:nvPr>
        </p:nvSpPr>
        <p:spPr>
          <a:xfrm>
            <a:off x="381001" y="914400"/>
            <a:ext cx="3412946" cy="5257800"/>
          </a:xfrm>
        </p:spPr>
        <p:txBody>
          <a:bodyPr>
            <a:noAutofit/>
          </a:bodyPr>
          <a:lstStyle/>
          <a:p>
            <a:pPr marL="0" indent="0">
              <a:buNone/>
            </a:pPr>
            <a:r>
              <a:rPr lang="en-US" sz="2800" dirty="0">
                <a:solidFill>
                  <a:srgbClr val="4E519E"/>
                </a:solidFill>
              </a:rPr>
              <a:t>Point F (80 airplanes, 4,000 tons of soybeans): </a:t>
            </a:r>
            <a:r>
              <a:rPr lang="en-US" sz="2800" dirty="0">
                <a:solidFill>
                  <a:srgbClr val="C00000"/>
                </a:solidFill>
              </a:rPr>
              <a:t>Not possible  </a:t>
            </a:r>
          </a:p>
          <a:p>
            <a:pPr marL="0" indent="0">
              <a:buNone/>
            </a:pPr>
            <a:endParaRPr lang="en-US" sz="2800" dirty="0">
              <a:solidFill>
                <a:srgbClr val="002060"/>
              </a:solidFill>
            </a:endParaRPr>
          </a:p>
          <a:p>
            <a:pPr marL="0" indent="0">
              <a:buNone/>
            </a:pPr>
            <a:r>
              <a:rPr lang="en-US" sz="2800" dirty="0">
                <a:solidFill>
                  <a:srgbClr val="4E519E"/>
                </a:solidFill>
              </a:rPr>
              <a:t>Point G (30 airplanes, 2,500 tons of soybeans): </a:t>
            </a:r>
            <a:r>
              <a:rPr lang="en-US" sz="2800" dirty="0">
                <a:solidFill>
                  <a:srgbClr val="C00000"/>
                </a:solidFill>
              </a:rPr>
              <a:t>Possible but not efficient (can produce more)</a:t>
            </a:r>
            <a:endParaRPr lang="en-US" sz="2800" dirty="0">
              <a:solidFill>
                <a:srgbClr val="002060"/>
              </a:solidFill>
            </a:endParaRPr>
          </a:p>
        </p:txBody>
      </p:sp>
      <p:sp>
        <p:nvSpPr>
          <p:cNvPr id="5" name="Footer Placeholder 4">
            <a:extLst>
              <a:ext uri="{FF2B5EF4-FFF2-40B4-BE49-F238E27FC236}">
                <a16:creationId xmlns:a16="http://schemas.microsoft.com/office/drawing/2014/main" id="{6E914E4F-278B-96D6-4289-07C830A2C8B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10" name="Group 109"/>
          <p:cNvGrpSpPr/>
          <p:nvPr/>
        </p:nvGrpSpPr>
        <p:grpSpPr>
          <a:xfrm>
            <a:off x="3316528" y="914400"/>
            <a:ext cx="5627148" cy="4038600"/>
            <a:chOff x="3316528" y="685800"/>
            <a:chExt cx="5627148" cy="4038600"/>
          </a:xfrm>
        </p:grpSpPr>
        <p:cxnSp>
          <p:nvCxnSpPr>
            <p:cNvPr id="68" name="Straight Connector 67"/>
            <p:cNvCxnSpPr/>
            <p:nvPr/>
          </p:nvCxnSpPr>
          <p:spPr bwMode="auto">
            <a:xfrm>
              <a:off x="4426439" y="1209315"/>
              <a:ext cx="4107961" cy="2753085"/>
            </a:xfrm>
            <a:prstGeom prst="line">
              <a:avLst/>
            </a:prstGeom>
            <a:noFill/>
            <a:ln w="28575" cap="flat" cmpd="sng" algn="ctr">
              <a:solidFill>
                <a:srgbClr val="0070C0"/>
              </a:solidFill>
              <a:prstDash val="solid"/>
              <a:round/>
              <a:headEnd type="none" w="med" len="med"/>
              <a:tailEnd type="none" w="med" len="med"/>
            </a:ln>
            <a:effectLst/>
          </p:spPr>
        </p:cxnSp>
        <p:grpSp>
          <p:nvGrpSpPr>
            <p:cNvPr id="69" name="Group 68"/>
            <p:cNvGrpSpPr/>
            <p:nvPr/>
          </p:nvGrpSpPr>
          <p:grpSpPr>
            <a:xfrm>
              <a:off x="3316528" y="685800"/>
              <a:ext cx="5592033" cy="4038600"/>
              <a:chOff x="3011728" y="1066800"/>
              <a:chExt cx="5592033" cy="4038600"/>
            </a:xfrm>
          </p:grpSpPr>
          <p:grpSp>
            <p:nvGrpSpPr>
              <p:cNvPr id="70" name="Group 69"/>
              <p:cNvGrpSpPr/>
              <p:nvPr/>
            </p:nvGrpSpPr>
            <p:grpSpPr>
              <a:xfrm>
                <a:off x="3011728" y="1066800"/>
                <a:ext cx="5592033" cy="4038600"/>
                <a:chOff x="3273876" y="868978"/>
                <a:chExt cx="5592033" cy="4038600"/>
              </a:xfrm>
            </p:grpSpPr>
            <p:cxnSp>
              <p:nvCxnSpPr>
                <p:cNvPr id="72" name="Straight Connector 71"/>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73" name="Straight Connector 72"/>
                <p:cNvCxnSpPr/>
                <p:nvPr/>
              </p:nvCxnSpPr>
              <p:spPr bwMode="auto">
                <a:xfrm flipH="1">
                  <a:off x="4383787" y="4126468"/>
                  <a:ext cx="4343400" cy="0"/>
                </a:xfrm>
                <a:prstGeom prst="line">
                  <a:avLst/>
                </a:prstGeom>
                <a:noFill/>
                <a:ln w="28575" cap="flat" cmpd="sng" algn="ctr">
                  <a:solidFill>
                    <a:schemeClr val="tx1"/>
                  </a:solidFill>
                  <a:prstDash val="solid"/>
                  <a:round/>
                  <a:headEnd type="none" w="med" len="med"/>
                  <a:tailEnd type="none" w="med" len="med"/>
                </a:ln>
                <a:effectLst/>
              </p:spPr>
            </p:cxnSp>
            <p:sp>
              <p:nvSpPr>
                <p:cNvPr id="74" name="TextBox 73"/>
                <p:cNvSpPr txBox="1"/>
                <p:nvPr/>
              </p:nvSpPr>
              <p:spPr>
                <a:xfrm>
                  <a:off x="6815348" y="4507468"/>
                  <a:ext cx="2050561" cy="400110"/>
                </a:xfrm>
                <a:prstGeom prst="rect">
                  <a:avLst/>
                </a:prstGeom>
                <a:noFill/>
              </p:spPr>
              <p:txBody>
                <a:bodyPr wrap="none" rtlCol="0">
                  <a:spAutoFit/>
                </a:bodyPr>
                <a:lstStyle/>
                <a:p>
                  <a:r>
                    <a:rPr lang="en-US" sz="2000" dirty="0"/>
                    <a:t>Soybeans (tons)</a:t>
                  </a:r>
                </a:p>
              </p:txBody>
            </p:sp>
            <p:sp>
              <p:nvSpPr>
                <p:cNvPr id="75" name="TextBox 74"/>
                <p:cNvSpPr txBox="1"/>
                <p:nvPr/>
              </p:nvSpPr>
              <p:spPr>
                <a:xfrm>
                  <a:off x="3273876" y="868978"/>
                  <a:ext cx="1255472" cy="400110"/>
                </a:xfrm>
                <a:prstGeom prst="rect">
                  <a:avLst/>
                </a:prstGeom>
                <a:noFill/>
              </p:spPr>
              <p:txBody>
                <a:bodyPr wrap="none" rtlCol="0">
                  <a:spAutoFit/>
                </a:bodyPr>
                <a:lstStyle/>
                <a:p>
                  <a:r>
                    <a:rPr lang="en-US" sz="2000" dirty="0"/>
                    <a:t>Airplanes</a:t>
                  </a:r>
                </a:p>
              </p:txBody>
            </p:sp>
          </p:grpSp>
          <p:sp>
            <p:nvSpPr>
              <p:cNvPr id="71" name="TextBox 70"/>
              <p:cNvSpPr txBox="1"/>
              <p:nvPr/>
            </p:nvSpPr>
            <p:spPr>
              <a:xfrm>
                <a:off x="3725694" y="4355068"/>
                <a:ext cx="312906" cy="369332"/>
              </a:xfrm>
              <a:prstGeom prst="rect">
                <a:avLst/>
              </a:prstGeom>
              <a:noFill/>
            </p:spPr>
            <p:txBody>
              <a:bodyPr wrap="none" rtlCol="0">
                <a:spAutoFit/>
              </a:bodyPr>
              <a:lstStyle/>
              <a:p>
                <a:r>
                  <a:rPr lang="en-US" dirty="0"/>
                  <a:t>0</a:t>
                </a:r>
              </a:p>
            </p:txBody>
          </p:sp>
        </p:grpSp>
        <p:grpSp>
          <p:nvGrpSpPr>
            <p:cNvPr id="76" name="Group 75"/>
            <p:cNvGrpSpPr/>
            <p:nvPr/>
          </p:nvGrpSpPr>
          <p:grpSpPr>
            <a:xfrm>
              <a:off x="3733800" y="958334"/>
              <a:ext cx="1130611" cy="435647"/>
              <a:chOff x="3733800" y="958334"/>
              <a:chExt cx="1130611" cy="435647"/>
            </a:xfrm>
          </p:grpSpPr>
          <p:grpSp>
            <p:nvGrpSpPr>
              <p:cNvPr id="77" name="Group 76"/>
              <p:cNvGrpSpPr/>
              <p:nvPr/>
            </p:nvGrpSpPr>
            <p:grpSpPr>
              <a:xfrm>
                <a:off x="3733800" y="958334"/>
                <a:ext cx="1130611" cy="435647"/>
                <a:chOff x="3429000" y="1339334"/>
                <a:chExt cx="1130611" cy="435647"/>
              </a:xfrm>
            </p:grpSpPr>
            <p:sp>
              <p:nvSpPr>
                <p:cNvPr id="79" name="TextBox 78"/>
                <p:cNvSpPr txBox="1"/>
                <p:nvPr/>
              </p:nvSpPr>
              <p:spPr>
                <a:xfrm>
                  <a:off x="4221057" y="1339334"/>
                  <a:ext cx="338554" cy="369332"/>
                </a:xfrm>
                <a:prstGeom prst="rect">
                  <a:avLst/>
                </a:prstGeom>
                <a:noFill/>
              </p:spPr>
              <p:txBody>
                <a:bodyPr wrap="none" rtlCol="0">
                  <a:spAutoFit/>
                </a:bodyPr>
                <a:lstStyle/>
                <a:p>
                  <a:r>
                    <a:rPr lang="en-US" dirty="0"/>
                    <a:t>E</a:t>
                  </a:r>
                </a:p>
              </p:txBody>
            </p:sp>
            <p:sp>
              <p:nvSpPr>
                <p:cNvPr id="80" name="TextBox 79"/>
                <p:cNvSpPr txBox="1"/>
                <p:nvPr/>
              </p:nvSpPr>
              <p:spPr>
                <a:xfrm>
                  <a:off x="3429000" y="1405649"/>
                  <a:ext cx="569387" cy="369332"/>
                </a:xfrm>
                <a:prstGeom prst="rect">
                  <a:avLst/>
                </a:prstGeom>
                <a:noFill/>
              </p:spPr>
              <p:txBody>
                <a:bodyPr wrap="none" rtlCol="0">
                  <a:spAutoFit/>
                </a:bodyPr>
                <a:lstStyle/>
                <a:p>
                  <a:r>
                    <a:rPr lang="en-US" dirty="0"/>
                    <a:t>100</a:t>
                  </a:r>
                </a:p>
              </p:txBody>
            </p:sp>
          </p:grpSp>
          <p:sp>
            <p:nvSpPr>
              <p:cNvPr id="78" name="Flowchart: Connector 77"/>
              <p:cNvSpPr/>
              <p:nvPr/>
            </p:nvSpPr>
            <p:spPr bwMode="auto">
              <a:xfrm>
                <a:off x="4350239" y="113538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81" name="Group 80"/>
            <p:cNvGrpSpPr/>
            <p:nvPr/>
          </p:nvGrpSpPr>
          <p:grpSpPr>
            <a:xfrm>
              <a:off x="3862041" y="1295400"/>
              <a:ext cx="1852959" cy="3048000"/>
              <a:chOff x="3862041" y="1295400"/>
              <a:chExt cx="1852959" cy="3048000"/>
            </a:xfrm>
          </p:grpSpPr>
          <p:grpSp>
            <p:nvGrpSpPr>
              <p:cNvPr id="82" name="Group 81"/>
              <p:cNvGrpSpPr/>
              <p:nvPr/>
            </p:nvGrpSpPr>
            <p:grpSpPr>
              <a:xfrm>
                <a:off x="3862041" y="1295400"/>
                <a:ext cx="1852959" cy="3048000"/>
                <a:chOff x="3557241" y="1676400"/>
                <a:chExt cx="1852959" cy="3048000"/>
              </a:xfrm>
            </p:grpSpPr>
            <p:cxnSp>
              <p:nvCxnSpPr>
                <p:cNvPr id="84" name="Straight Connector 83"/>
                <p:cNvCxnSpPr/>
                <p:nvPr/>
              </p:nvCxnSpPr>
              <p:spPr bwMode="auto">
                <a:xfrm>
                  <a:off x="4953000" y="2112822"/>
                  <a:ext cx="0" cy="2211468"/>
                </a:xfrm>
                <a:prstGeom prst="line">
                  <a:avLst/>
                </a:prstGeom>
                <a:noFill/>
                <a:ln w="9525" cap="flat" cmpd="sng" algn="ctr">
                  <a:solidFill>
                    <a:schemeClr val="tx1"/>
                  </a:solidFill>
                  <a:prstDash val="lgDash"/>
                  <a:round/>
                  <a:headEnd type="none" w="med" len="med"/>
                  <a:tailEnd type="none" w="med" len="med"/>
                </a:ln>
                <a:effectLst/>
              </p:spPr>
            </p:cxnSp>
            <p:cxnSp>
              <p:nvCxnSpPr>
                <p:cNvPr id="85" name="Straight Connector 84"/>
                <p:cNvCxnSpPr/>
                <p:nvPr/>
              </p:nvCxnSpPr>
              <p:spPr bwMode="auto">
                <a:xfrm>
                  <a:off x="4121639" y="2133600"/>
                  <a:ext cx="831361" cy="0"/>
                </a:xfrm>
                <a:prstGeom prst="line">
                  <a:avLst/>
                </a:prstGeom>
                <a:noFill/>
                <a:ln w="9525" cap="flat" cmpd="sng" algn="ctr">
                  <a:solidFill>
                    <a:schemeClr val="tx1"/>
                  </a:solidFill>
                  <a:prstDash val="lgDash"/>
                  <a:round/>
                  <a:headEnd type="none" w="med" len="med"/>
                  <a:tailEnd type="none" w="med" len="med"/>
                </a:ln>
                <a:effectLst/>
              </p:spPr>
            </p:cxnSp>
            <p:sp>
              <p:nvSpPr>
                <p:cNvPr id="86" name="TextBox 85"/>
                <p:cNvSpPr txBox="1"/>
                <p:nvPr/>
              </p:nvSpPr>
              <p:spPr>
                <a:xfrm>
                  <a:off x="3557241" y="1981200"/>
                  <a:ext cx="441146" cy="369332"/>
                </a:xfrm>
                <a:prstGeom prst="rect">
                  <a:avLst/>
                </a:prstGeom>
                <a:noFill/>
              </p:spPr>
              <p:txBody>
                <a:bodyPr wrap="none" rtlCol="0">
                  <a:spAutoFit/>
                </a:bodyPr>
                <a:lstStyle/>
                <a:p>
                  <a:r>
                    <a:rPr lang="en-US" dirty="0"/>
                    <a:t>80</a:t>
                  </a:r>
                </a:p>
              </p:txBody>
            </p:sp>
            <p:sp>
              <p:nvSpPr>
                <p:cNvPr id="87" name="TextBox 86"/>
                <p:cNvSpPr txBox="1"/>
                <p:nvPr/>
              </p:nvSpPr>
              <p:spPr>
                <a:xfrm>
                  <a:off x="5058822" y="1676400"/>
                  <a:ext cx="351378" cy="369332"/>
                </a:xfrm>
                <a:prstGeom prst="rect">
                  <a:avLst/>
                </a:prstGeom>
                <a:noFill/>
              </p:spPr>
              <p:txBody>
                <a:bodyPr wrap="none" rtlCol="0">
                  <a:spAutoFit/>
                </a:bodyPr>
                <a:lstStyle/>
                <a:p>
                  <a:r>
                    <a:rPr lang="en-US" dirty="0"/>
                    <a:t>D</a:t>
                  </a:r>
                </a:p>
              </p:txBody>
            </p:sp>
            <p:sp>
              <p:nvSpPr>
                <p:cNvPr id="88" name="TextBox 87"/>
                <p:cNvSpPr txBox="1"/>
                <p:nvPr/>
              </p:nvSpPr>
              <p:spPr>
                <a:xfrm>
                  <a:off x="4572253" y="4355068"/>
                  <a:ext cx="761747" cy="369332"/>
                </a:xfrm>
                <a:prstGeom prst="rect">
                  <a:avLst/>
                </a:prstGeom>
                <a:noFill/>
              </p:spPr>
              <p:txBody>
                <a:bodyPr wrap="none" rtlCol="0">
                  <a:spAutoFit/>
                </a:bodyPr>
                <a:lstStyle/>
                <a:p>
                  <a:r>
                    <a:rPr lang="en-US" dirty="0"/>
                    <a:t>1,000</a:t>
                  </a:r>
                </a:p>
              </p:txBody>
            </p:sp>
          </p:grpSp>
          <p:sp>
            <p:nvSpPr>
              <p:cNvPr id="83" name="Flowchart: Connector 82"/>
              <p:cNvSpPr/>
              <p:nvPr/>
            </p:nvSpPr>
            <p:spPr bwMode="auto">
              <a:xfrm>
                <a:off x="5181600" y="167640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89" name="Group 88"/>
            <p:cNvGrpSpPr/>
            <p:nvPr/>
          </p:nvGrpSpPr>
          <p:grpSpPr>
            <a:xfrm>
              <a:off x="3862041" y="2133600"/>
              <a:ext cx="3072159" cy="2209800"/>
              <a:chOff x="3862041" y="2133600"/>
              <a:chExt cx="3072159" cy="2209800"/>
            </a:xfrm>
          </p:grpSpPr>
          <p:grpSp>
            <p:nvGrpSpPr>
              <p:cNvPr id="90" name="Group 89"/>
              <p:cNvGrpSpPr/>
              <p:nvPr/>
            </p:nvGrpSpPr>
            <p:grpSpPr>
              <a:xfrm>
                <a:off x="3862041" y="2133600"/>
                <a:ext cx="3072159" cy="2209800"/>
                <a:chOff x="3557241" y="2514600"/>
                <a:chExt cx="3072159" cy="2209800"/>
              </a:xfrm>
            </p:grpSpPr>
            <p:cxnSp>
              <p:nvCxnSpPr>
                <p:cNvPr id="92" name="Straight Connector 91"/>
                <p:cNvCxnSpPr/>
                <p:nvPr/>
              </p:nvCxnSpPr>
              <p:spPr bwMode="auto">
                <a:xfrm>
                  <a:off x="6172200" y="2959537"/>
                  <a:ext cx="0" cy="1383863"/>
                </a:xfrm>
                <a:prstGeom prst="line">
                  <a:avLst/>
                </a:prstGeom>
                <a:noFill/>
                <a:ln w="9525" cap="flat" cmpd="sng" algn="ctr">
                  <a:solidFill>
                    <a:schemeClr val="tx1"/>
                  </a:solidFill>
                  <a:prstDash val="lgDash"/>
                  <a:round/>
                  <a:headEnd type="none" w="med" len="med"/>
                  <a:tailEnd type="none" w="med" len="med"/>
                </a:ln>
                <a:effectLst/>
              </p:spPr>
            </p:cxnSp>
            <p:cxnSp>
              <p:nvCxnSpPr>
                <p:cNvPr id="93" name="Straight Connector 92"/>
                <p:cNvCxnSpPr/>
                <p:nvPr/>
              </p:nvCxnSpPr>
              <p:spPr bwMode="auto">
                <a:xfrm>
                  <a:off x="4121639" y="2959537"/>
                  <a:ext cx="2053980" cy="0"/>
                </a:xfrm>
                <a:prstGeom prst="line">
                  <a:avLst/>
                </a:prstGeom>
                <a:noFill/>
                <a:ln w="9525" cap="flat" cmpd="sng" algn="ctr">
                  <a:solidFill>
                    <a:schemeClr val="tx1"/>
                  </a:solidFill>
                  <a:prstDash val="lgDash"/>
                  <a:round/>
                  <a:headEnd type="none" w="med" len="med"/>
                  <a:tailEnd type="none" w="med" len="med"/>
                </a:ln>
                <a:effectLst/>
              </p:spPr>
            </p:cxnSp>
            <p:sp>
              <p:nvSpPr>
                <p:cNvPr id="94" name="TextBox 93"/>
                <p:cNvSpPr txBox="1"/>
                <p:nvPr/>
              </p:nvSpPr>
              <p:spPr>
                <a:xfrm>
                  <a:off x="6278022" y="2514600"/>
                  <a:ext cx="351378" cy="369332"/>
                </a:xfrm>
                <a:prstGeom prst="rect">
                  <a:avLst/>
                </a:prstGeom>
                <a:noFill/>
              </p:spPr>
              <p:txBody>
                <a:bodyPr wrap="none" rtlCol="0">
                  <a:spAutoFit/>
                </a:bodyPr>
                <a:lstStyle/>
                <a:p>
                  <a:r>
                    <a:rPr lang="en-US" dirty="0"/>
                    <a:t>C</a:t>
                  </a:r>
                </a:p>
              </p:txBody>
            </p:sp>
            <p:sp>
              <p:nvSpPr>
                <p:cNvPr id="95" name="TextBox 94"/>
                <p:cNvSpPr txBox="1"/>
                <p:nvPr/>
              </p:nvSpPr>
              <p:spPr>
                <a:xfrm>
                  <a:off x="3557241" y="2743200"/>
                  <a:ext cx="441146" cy="369332"/>
                </a:xfrm>
                <a:prstGeom prst="rect">
                  <a:avLst/>
                </a:prstGeom>
                <a:noFill/>
              </p:spPr>
              <p:txBody>
                <a:bodyPr wrap="none" rtlCol="0">
                  <a:spAutoFit/>
                </a:bodyPr>
                <a:lstStyle/>
                <a:p>
                  <a:r>
                    <a:rPr lang="en-US" dirty="0"/>
                    <a:t>50</a:t>
                  </a:r>
                </a:p>
              </p:txBody>
            </p:sp>
            <p:sp>
              <p:nvSpPr>
                <p:cNvPr id="96" name="TextBox 95"/>
                <p:cNvSpPr txBox="1"/>
                <p:nvPr/>
              </p:nvSpPr>
              <p:spPr>
                <a:xfrm>
                  <a:off x="5791453" y="4355068"/>
                  <a:ext cx="761747" cy="369332"/>
                </a:xfrm>
                <a:prstGeom prst="rect">
                  <a:avLst/>
                </a:prstGeom>
                <a:noFill/>
              </p:spPr>
              <p:txBody>
                <a:bodyPr wrap="none" rtlCol="0">
                  <a:spAutoFit/>
                </a:bodyPr>
                <a:lstStyle/>
                <a:p>
                  <a:r>
                    <a:rPr lang="en-US" dirty="0"/>
                    <a:t>2,500</a:t>
                  </a:r>
                </a:p>
              </p:txBody>
            </p:sp>
          </p:grpSp>
          <p:sp>
            <p:nvSpPr>
              <p:cNvPr id="91" name="Flowchart: Connector 90"/>
              <p:cNvSpPr/>
              <p:nvPr/>
            </p:nvSpPr>
            <p:spPr bwMode="auto">
              <a:xfrm>
                <a:off x="6400800" y="2491502"/>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7" name="Group 96"/>
            <p:cNvGrpSpPr/>
            <p:nvPr/>
          </p:nvGrpSpPr>
          <p:grpSpPr>
            <a:xfrm>
              <a:off x="3862041" y="2895600"/>
              <a:ext cx="4215159" cy="1447800"/>
              <a:chOff x="3862041" y="2895600"/>
              <a:chExt cx="4215159" cy="1447800"/>
            </a:xfrm>
          </p:grpSpPr>
          <p:grpSp>
            <p:nvGrpSpPr>
              <p:cNvPr id="98" name="Group 97"/>
              <p:cNvGrpSpPr/>
              <p:nvPr/>
            </p:nvGrpSpPr>
            <p:grpSpPr>
              <a:xfrm>
                <a:off x="3862041" y="2895600"/>
                <a:ext cx="4215159" cy="1447800"/>
                <a:chOff x="3557241" y="3276600"/>
                <a:chExt cx="4215159" cy="1447800"/>
              </a:xfrm>
            </p:grpSpPr>
            <p:cxnSp>
              <p:nvCxnSpPr>
                <p:cNvPr id="100" name="Straight Connector 99"/>
                <p:cNvCxnSpPr/>
                <p:nvPr/>
              </p:nvCxnSpPr>
              <p:spPr bwMode="auto">
                <a:xfrm>
                  <a:off x="7315200" y="3733800"/>
                  <a:ext cx="0" cy="609600"/>
                </a:xfrm>
                <a:prstGeom prst="line">
                  <a:avLst/>
                </a:prstGeom>
                <a:noFill/>
                <a:ln w="9525" cap="flat" cmpd="sng" algn="ctr">
                  <a:solidFill>
                    <a:schemeClr val="tx1"/>
                  </a:solidFill>
                  <a:prstDash val="lgDash"/>
                  <a:round/>
                  <a:headEnd type="none" w="med" len="med"/>
                  <a:tailEnd type="none" w="med" len="med"/>
                </a:ln>
                <a:effectLst/>
              </p:spPr>
            </p:cxnSp>
            <p:cxnSp>
              <p:nvCxnSpPr>
                <p:cNvPr id="101" name="Straight Connector 100"/>
                <p:cNvCxnSpPr/>
                <p:nvPr/>
              </p:nvCxnSpPr>
              <p:spPr bwMode="auto">
                <a:xfrm>
                  <a:off x="4121639" y="3733800"/>
                  <a:ext cx="3239203" cy="0"/>
                </a:xfrm>
                <a:prstGeom prst="line">
                  <a:avLst/>
                </a:prstGeom>
                <a:noFill/>
                <a:ln w="9525" cap="flat" cmpd="sng" algn="ctr">
                  <a:solidFill>
                    <a:schemeClr val="tx1"/>
                  </a:solidFill>
                  <a:prstDash val="lgDash"/>
                  <a:round/>
                  <a:headEnd type="none" w="med" len="med"/>
                  <a:tailEnd type="none" w="med" len="med"/>
                </a:ln>
                <a:effectLst/>
              </p:spPr>
            </p:cxnSp>
            <p:sp>
              <p:nvSpPr>
                <p:cNvPr id="102" name="TextBox 101"/>
                <p:cNvSpPr txBox="1"/>
                <p:nvPr/>
              </p:nvSpPr>
              <p:spPr>
                <a:xfrm>
                  <a:off x="7433846" y="3276600"/>
                  <a:ext cx="338554" cy="369332"/>
                </a:xfrm>
                <a:prstGeom prst="rect">
                  <a:avLst/>
                </a:prstGeom>
                <a:noFill/>
              </p:spPr>
              <p:txBody>
                <a:bodyPr wrap="none" rtlCol="0">
                  <a:spAutoFit/>
                </a:bodyPr>
                <a:lstStyle/>
                <a:p>
                  <a:r>
                    <a:rPr lang="en-US" dirty="0"/>
                    <a:t>B</a:t>
                  </a:r>
                </a:p>
              </p:txBody>
            </p:sp>
            <p:sp>
              <p:nvSpPr>
                <p:cNvPr id="103" name="TextBox 102"/>
                <p:cNvSpPr txBox="1"/>
                <p:nvPr/>
              </p:nvSpPr>
              <p:spPr>
                <a:xfrm>
                  <a:off x="3557241" y="3581400"/>
                  <a:ext cx="441146" cy="369332"/>
                </a:xfrm>
                <a:prstGeom prst="rect">
                  <a:avLst/>
                </a:prstGeom>
                <a:noFill/>
              </p:spPr>
              <p:txBody>
                <a:bodyPr wrap="none" rtlCol="0">
                  <a:spAutoFit/>
                </a:bodyPr>
                <a:lstStyle/>
                <a:p>
                  <a:r>
                    <a:rPr lang="en-US" dirty="0"/>
                    <a:t>20</a:t>
                  </a:r>
                </a:p>
              </p:txBody>
            </p:sp>
            <p:sp>
              <p:nvSpPr>
                <p:cNvPr id="104" name="TextBox 103"/>
                <p:cNvSpPr txBox="1"/>
                <p:nvPr/>
              </p:nvSpPr>
              <p:spPr>
                <a:xfrm>
                  <a:off x="6934200" y="4355068"/>
                  <a:ext cx="761747" cy="369332"/>
                </a:xfrm>
                <a:prstGeom prst="rect">
                  <a:avLst/>
                </a:prstGeom>
                <a:noFill/>
              </p:spPr>
              <p:txBody>
                <a:bodyPr wrap="none" rtlCol="0">
                  <a:spAutoFit/>
                </a:bodyPr>
                <a:lstStyle/>
                <a:p>
                  <a:r>
                    <a:rPr lang="en-US" dirty="0"/>
                    <a:t>4,000</a:t>
                  </a:r>
                </a:p>
              </p:txBody>
            </p:sp>
          </p:grpSp>
          <p:sp>
            <p:nvSpPr>
              <p:cNvPr id="99" name="Flowchart: Connector 98"/>
              <p:cNvSpPr/>
              <p:nvPr/>
            </p:nvSpPr>
            <p:spPr bwMode="auto">
              <a:xfrm>
                <a:off x="7543673" y="327660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105" name="Group 104"/>
            <p:cNvGrpSpPr/>
            <p:nvPr/>
          </p:nvGrpSpPr>
          <p:grpSpPr>
            <a:xfrm>
              <a:off x="8153400" y="3506983"/>
              <a:ext cx="790276" cy="836417"/>
              <a:chOff x="8153400" y="3506983"/>
              <a:chExt cx="790276" cy="836417"/>
            </a:xfrm>
          </p:grpSpPr>
          <p:grpSp>
            <p:nvGrpSpPr>
              <p:cNvPr id="106" name="Group 105"/>
              <p:cNvGrpSpPr/>
              <p:nvPr/>
            </p:nvGrpSpPr>
            <p:grpSpPr>
              <a:xfrm>
                <a:off x="8153400" y="3506983"/>
                <a:ext cx="790276" cy="836417"/>
                <a:chOff x="7848600" y="3887983"/>
                <a:chExt cx="790276" cy="836417"/>
              </a:xfrm>
            </p:grpSpPr>
            <p:sp>
              <p:nvSpPr>
                <p:cNvPr id="108" name="TextBox 107"/>
                <p:cNvSpPr txBox="1"/>
                <p:nvPr/>
              </p:nvSpPr>
              <p:spPr>
                <a:xfrm>
                  <a:off x="8300322" y="3887983"/>
                  <a:ext cx="338554" cy="369332"/>
                </a:xfrm>
                <a:prstGeom prst="rect">
                  <a:avLst/>
                </a:prstGeom>
                <a:noFill/>
              </p:spPr>
              <p:txBody>
                <a:bodyPr wrap="none" rtlCol="0">
                  <a:spAutoFit/>
                </a:bodyPr>
                <a:lstStyle/>
                <a:p>
                  <a:r>
                    <a:rPr lang="en-US" dirty="0"/>
                    <a:t>A</a:t>
                  </a:r>
                </a:p>
              </p:txBody>
            </p:sp>
            <p:sp>
              <p:nvSpPr>
                <p:cNvPr id="109" name="TextBox 108"/>
                <p:cNvSpPr txBox="1"/>
                <p:nvPr/>
              </p:nvSpPr>
              <p:spPr>
                <a:xfrm>
                  <a:off x="7848600" y="4355068"/>
                  <a:ext cx="761747" cy="369332"/>
                </a:xfrm>
                <a:prstGeom prst="rect">
                  <a:avLst/>
                </a:prstGeom>
                <a:noFill/>
              </p:spPr>
              <p:txBody>
                <a:bodyPr wrap="none" rtlCol="0">
                  <a:spAutoFit/>
                </a:bodyPr>
                <a:lstStyle/>
                <a:p>
                  <a:r>
                    <a:rPr lang="en-US" dirty="0"/>
                    <a:t>5,000</a:t>
                  </a:r>
                </a:p>
              </p:txBody>
            </p:sp>
          </p:grpSp>
          <p:sp>
            <p:nvSpPr>
              <p:cNvPr id="107" name="Flowchart: Connector 106"/>
              <p:cNvSpPr/>
              <p:nvPr/>
            </p:nvSpPr>
            <p:spPr bwMode="auto">
              <a:xfrm>
                <a:off x="8399043" y="386709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grpSp>
        <p:nvGrpSpPr>
          <p:cNvPr id="114" name="Group 113"/>
          <p:cNvGrpSpPr/>
          <p:nvPr/>
        </p:nvGrpSpPr>
        <p:grpSpPr>
          <a:xfrm>
            <a:off x="3886200" y="2960132"/>
            <a:ext cx="2667000" cy="609600"/>
            <a:chOff x="3886200" y="2960132"/>
            <a:chExt cx="2667000" cy="609600"/>
          </a:xfrm>
        </p:grpSpPr>
        <p:grpSp>
          <p:nvGrpSpPr>
            <p:cNvPr id="67" name="Group 66"/>
            <p:cNvGrpSpPr/>
            <p:nvPr/>
          </p:nvGrpSpPr>
          <p:grpSpPr>
            <a:xfrm>
              <a:off x="3886200" y="2960132"/>
              <a:ext cx="2594219" cy="609600"/>
              <a:chOff x="3886200" y="2731532"/>
              <a:chExt cx="2594219" cy="609600"/>
            </a:xfrm>
          </p:grpSpPr>
          <p:grpSp>
            <p:nvGrpSpPr>
              <p:cNvPr id="64" name="Group 63"/>
              <p:cNvGrpSpPr/>
              <p:nvPr/>
            </p:nvGrpSpPr>
            <p:grpSpPr>
              <a:xfrm>
                <a:off x="4419600" y="2731532"/>
                <a:ext cx="2060819" cy="392668"/>
                <a:chOff x="4419600" y="2731532"/>
                <a:chExt cx="2060819" cy="392668"/>
              </a:xfrm>
            </p:grpSpPr>
            <p:cxnSp>
              <p:nvCxnSpPr>
                <p:cNvPr id="59" name="Straight Connector 58"/>
                <p:cNvCxnSpPr/>
                <p:nvPr/>
              </p:nvCxnSpPr>
              <p:spPr bwMode="auto">
                <a:xfrm>
                  <a:off x="4419600" y="3124200"/>
                  <a:ext cx="2060819" cy="0"/>
                </a:xfrm>
                <a:prstGeom prst="line">
                  <a:avLst/>
                </a:prstGeom>
                <a:noFill/>
                <a:ln w="9525" cap="flat" cmpd="sng" algn="ctr">
                  <a:solidFill>
                    <a:schemeClr val="tx1"/>
                  </a:solidFill>
                  <a:prstDash val="lgDash"/>
                  <a:round/>
                  <a:headEnd type="none" w="med" len="med"/>
                  <a:tailEnd type="none" w="med" len="med"/>
                </a:ln>
                <a:effectLst/>
              </p:spPr>
            </p:cxnSp>
            <p:sp>
              <p:nvSpPr>
                <p:cNvPr id="62" name="TextBox 61"/>
                <p:cNvSpPr txBox="1"/>
                <p:nvPr/>
              </p:nvSpPr>
              <p:spPr>
                <a:xfrm>
                  <a:off x="6096253" y="2731532"/>
                  <a:ext cx="364202" cy="369332"/>
                </a:xfrm>
                <a:prstGeom prst="rect">
                  <a:avLst/>
                </a:prstGeom>
                <a:noFill/>
              </p:spPr>
              <p:txBody>
                <a:bodyPr wrap="none" rtlCol="0">
                  <a:spAutoFit/>
                </a:bodyPr>
                <a:lstStyle/>
                <a:p>
                  <a:r>
                    <a:rPr lang="en-US" dirty="0"/>
                    <a:t>G</a:t>
                  </a:r>
                </a:p>
              </p:txBody>
            </p:sp>
          </p:grpSp>
          <p:sp>
            <p:nvSpPr>
              <p:cNvPr id="66" name="TextBox 65"/>
              <p:cNvSpPr txBox="1"/>
              <p:nvPr/>
            </p:nvSpPr>
            <p:spPr>
              <a:xfrm>
                <a:off x="3886200" y="2971800"/>
                <a:ext cx="441146" cy="369332"/>
              </a:xfrm>
              <a:prstGeom prst="rect">
                <a:avLst/>
              </a:prstGeom>
              <a:noFill/>
            </p:spPr>
            <p:txBody>
              <a:bodyPr wrap="none" rtlCol="0">
                <a:spAutoFit/>
              </a:bodyPr>
              <a:lstStyle/>
              <a:p>
                <a:r>
                  <a:rPr lang="en-US" dirty="0"/>
                  <a:t>30</a:t>
                </a:r>
              </a:p>
            </p:txBody>
          </p:sp>
        </p:grpSp>
        <p:sp>
          <p:nvSpPr>
            <p:cNvPr id="111" name="Flowchart: Connector 110"/>
            <p:cNvSpPr/>
            <p:nvPr/>
          </p:nvSpPr>
          <p:spPr bwMode="auto">
            <a:xfrm>
              <a:off x="6400800" y="3262796"/>
              <a:ext cx="152400" cy="152400"/>
            </a:xfrm>
            <a:prstGeom prst="flowChartConnector">
              <a:avLst/>
            </a:prstGeom>
            <a:solidFill>
              <a:srgbClr val="C00000"/>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113" name="Group 112"/>
          <p:cNvGrpSpPr/>
          <p:nvPr/>
        </p:nvGrpSpPr>
        <p:grpSpPr>
          <a:xfrm>
            <a:off x="4426439" y="1489355"/>
            <a:ext cx="3519291" cy="2701645"/>
            <a:chOff x="4426439" y="1489355"/>
            <a:chExt cx="3519291" cy="2701645"/>
          </a:xfrm>
        </p:grpSpPr>
        <p:grpSp>
          <p:nvGrpSpPr>
            <p:cNvPr id="58" name="Group 57"/>
            <p:cNvGrpSpPr/>
            <p:nvPr/>
          </p:nvGrpSpPr>
          <p:grpSpPr>
            <a:xfrm>
              <a:off x="4426439" y="1489355"/>
              <a:ext cx="3519291" cy="2701645"/>
              <a:chOff x="4426439" y="1260755"/>
              <a:chExt cx="3519291" cy="2701645"/>
            </a:xfrm>
          </p:grpSpPr>
          <p:cxnSp>
            <p:nvCxnSpPr>
              <p:cNvPr id="49" name="Straight Connector 48"/>
              <p:cNvCxnSpPr/>
              <p:nvPr/>
            </p:nvCxnSpPr>
            <p:spPr bwMode="auto">
              <a:xfrm>
                <a:off x="4426439" y="1752600"/>
                <a:ext cx="3193561" cy="0"/>
              </a:xfrm>
              <a:prstGeom prst="line">
                <a:avLst/>
              </a:prstGeom>
              <a:noFill/>
              <a:ln w="9525" cap="flat" cmpd="sng" algn="ctr">
                <a:solidFill>
                  <a:schemeClr val="tx1"/>
                </a:solidFill>
                <a:prstDash val="lgDash"/>
                <a:round/>
                <a:headEnd type="none" w="med" len="med"/>
                <a:tailEnd type="none" w="med" len="med"/>
              </a:ln>
              <a:effectLst/>
            </p:spPr>
          </p:cxnSp>
          <p:cxnSp>
            <p:nvCxnSpPr>
              <p:cNvPr id="51" name="Straight Connector 50"/>
              <p:cNvCxnSpPr/>
              <p:nvPr/>
            </p:nvCxnSpPr>
            <p:spPr bwMode="auto">
              <a:xfrm>
                <a:off x="7620000" y="1731822"/>
                <a:ext cx="0" cy="2230578"/>
              </a:xfrm>
              <a:prstGeom prst="line">
                <a:avLst/>
              </a:prstGeom>
              <a:noFill/>
              <a:ln w="9525" cap="flat" cmpd="sng" algn="ctr">
                <a:solidFill>
                  <a:schemeClr val="tx1"/>
                </a:solidFill>
                <a:prstDash val="lgDash"/>
                <a:round/>
                <a:headEnd type="none" w="med" len="med"/>
                <a:tailEnd type="none" w="med" len="med"/>
              </a:ln>
              <a:effectLst/>
            </p:spPr>
          </p:cxnSp>
          <p:sp>
            <p:nvSpPr>
              <p:cNvPr id="54" name="TextBox 53"/>
              <p:cNvSpPr txBox="1"/>
              <p:nvPr/>
            </p:nvSpPr>
            <p:spPr>
              <a:xfrm>
                <a:off x="7620000" y="1260755"/>
                <a:ext cx="325730" cy="369332"/>
              </a:xfrm>
              <a:prstGeom prst="rect">
                <a:avLst/>
              </a:prstGeom>
              <a:noFill/>
            </p:spPr>
            <p:txBody>
              <a:bodyPr wrap="none" rtlCol="0">
                <a:spAutoFit/>
              </a:bodyPr>
              <a:lstStyle/>
              <a:p>
                <a:r>
                  <a:rPr lang="en-US" dirty="0"/>
                  <a:t>F</a:t>
                </a:r>
              </a:p>
            </p:txBody>
          </p:sp>
        </p:grpSp>
        <p:sp>
          <p:nvSpPr>
            <p:cNvPr id="112" name="Flowchart: Connector 111"/>
            <p:cNvSpPr/>
            <p:nvPr/>
          </p:nvSpPr>
          <p:spPr bwMode="auto">
            <a:xfrm>
              <a:off x="7534414" y="1893332"/>
              <a:ext cx="152400" cy="152400"/>
            </a:xfrm>
            <a:prstGeom prst="flowChartConnector">
              <a:avLst/>
            </a:prstGeom>
            <a:solidFill>
              <a:srgbClr val="C00000"/>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spTree>
    <p:extLst>
      <p:ext uri="{BB962C8B-B14F-4D97-AF65-F5344CB8AC3E}">
        <p14:creationId xmlns:p14="http://schemas.microsoft.com/office/powerpoint/2010/main" val="1363173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wipe(left)">
                                      <p:cBhvr>
                                        <p:cTn id="7" dur="500"/>
                                        <p:tgtEl>
                                          <p:spTgt spid="1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14"/>
                                        </p:tgtEl>
                                        <p:attrNameLst>
                                          <p:attrName>style.visibility</p:attrName>
                                        </p:attrNameLst>
                                      </p:cBhvr>
                                      <p:to>
                                        <p:strVal val="visible"/>
                                      </p:to>
                                    </p:set>
                                    <p:animEffect transition="in" filter="wipe(left)">
                                      <p:cBhvr>
                                        <p:cTn id="16" dur="500"/>
                                        <p:tgtEl>
                                          <p:spTgt spid="11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left)">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wrap="square" anchor="ctr"/>
          <a:lstStyle/>
          <a:p>
            <a:pPr eaLnBrk="1" hangingPunct="1"/>
            <a:r>
              <a:rPr lang="en-US" altLang="en-US" dirty="0"/>
              <a:t>The PPF: What We Know So Far</a:t>
            </a:r>
          </a:p>
        </p:txBody>
      </p:sp>
      <p:sp>
        <p:nvSpPr>
          <p:cNvPr id="21507" name="Content Placeholder 2"/>
          <p:cNvSpPr>
            <a:spLocks noGrp="1"/>
          </p:cNvSpPr>
          <p:nvPr>
            <p:ph idx="1"/>
          </p:nvPr>
        </p:nvSpPr>
        <p:spPr/>
        <p:txBody>
          <a:bodyPr/>
          <a:lstStyle/>
          <a:p>
            <a:r>
              <a:rPr lang="en-US" altLang="en-US" dirty="0"/>
              <a:t>All points on the PPF (like A – E): efficient</a:t>
            </a:r>
          </a:p>
          <a:p>
            <a:pPr lvl="1"/>
            <a:r>
              <a:rPr lang="en-US" altLang="en-US" dirty="0"/>
              <a:t>Efficient: all resources are fully utilized</a:t>
            </a:r>
          </a:p>
          <a:p>
            <a:r>
              <a:rPr lang="en-US" altLang="en-US" dirty="0"/>
              <a:t>Points under the PPF (like G): possible </a:t>
            </a:r>
          </a:p>
          <a:p>
            <a:pPr lvl="1"/>
            <a:r>
              <a:rPr lang="en-US" altLang="en-US" dirty="0"/>
              <a:t>Not efficient: some resources are underutilized (e.g., workers unemployed, factories idle) </a:t>
            </a:r>
          </a:p>
          <a:p>
            <a:r>
              <a:rPr lang="en-US" altLang="en-US" dirty="0"/>
              <a:t>Points above the PPF (like F) </a:t>
            </a:r>
          </a:p>
          <a:p>
            <a:pPr lvl="1"/>
            <a:r>
              <a:rPr lang="en-US" altLang="en-US" dirty="0"/>
              <a:t>Not possible</a:t>
            </a:r>
          </a:p>
        </p:txBody>
      </p:sp>
      <p:sp>
        <p:nvSpPr>
          <p:cNvPr id="2150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39AE0F80-5848-43B2-BFD8-A0D7D340C1BA}" type="slidenum">
              <a:rPr lang="en-US" altLang="en-US" sz="1200" smtClean="0">
                <a:solidFill>
                  <a:srgbClr val="002060"/>
                </a:solidFill>
              </a:rPr>
              <a:pPr algn="ctr" eaLnBrk="1" hangingPunct="1"/>
              <a:t>16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99A5895B-49A6-974E-8769-4C305BDB3414}"/>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563841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wrap="square" anchor="ctr"/>
          <a:lstStyle/>
          <a:p>
            <a:pPr eaLnBrk="1" hangingPunct="1"/>
            <a:r>
              <a:rPr lang="en-US" altLang="en-US" dirty="0"/>
              <a:t>Moving Along the PPF</a:t>
            </a:r>
          </a:p>
        </p:txBody>
      </p:sp>
      <p:sp>
        <p:nvSpPr>
          <p:cNvPr id="21507" name="Content Placeholder 2"/>
          <p:cNvSpPr>
            <a:spLocks noGrp="1"/>
          </p:cNvSpPr>
          <p:nvPr>
            <p:ph idx="1"/>
          </p:nvPr>
        </p:nvSpPr>
        <p:spPr/>
        <p:txBody>
          <a:bodyPr/>
          <a:lstStyle/>
          <a:p>
            <a:r>
              <a:rPr lang="en-US" altLang="en-US" dirty="0"/>
              <a:t>Moving along a PPF: </a:t>
            </a:r>
          </a:p>
          <a:p>
            <a:pPr lvl="1"/>
            <a:r>
              <a:rPr lang="en-US" altLang="en-US" dirty="0"/>
              <a:t>Involves shifting resources from the production of one good to the other </a:t>
            </a:r>
          </a:p>
          <a:p>
            <a:r>
              <a:rPr lang="en-US" altLang="en-US" dirty="0"/>
              <a:t>Society faces a tradeoff:</a:t>
            </a:r>
          </a:p>
          <a:p>
            <a:pPr lvl="1"/>
            <a:r>
              <a:rPr lang="en-US" altLang="en-US" dirty="0"/>
              <a:t>Getting more of one good requires sacrificing some of the other.  </a:t>
            </a:r>
          </a:p>
          <a:p>
            <a:r>
              <a:rPr lang="en-US" altLang="en-US" dirty="0"/>
              <a:t>The slope of the PPF: </a:t>
            </a:r>
          </a:p>
          <a:p>
            <a:pPr lvl="1"/>
            <a:r>
              <a:rPr lang="en-US" altLang="en-US" dirty="0"/>
              <a:t>Is the opportunity cost of one good in terms of the other</a:t>
            </a:r>
          </a:p>
          <a:p>
            <a:pPr lvl="1"/>
            <a:endParaRPr lang="en-US" altLang="en-US" dirty="0"/>
          </a:p>
        </p:txBody>
      </p:sp>
      <p:sp>
        <p:nvSpPr>
          <p:cNvPr id="2150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39AE0F80-5848-43B2-BFD8-A0D7D340C1BA}" type="slidenum">
              <a:rPr lang="en-US" altLang="en-US" sz="1200" smtClean="0">
                <a:solidFill>
                  <a:srgbClr val="002060"/>
                </a:solidFill>
              </a:rPr>
              <a:pPr algn="ctr" eaLnBrk="1" hangingPunct="1"/>
              <a:t>17</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5715AC94-EE39-9D33-986E-7EB8278254B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95550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r>
              <a:rPr lang="en-US" dirty="0">
                <a:solidFill>
                  <a:schemeClr val="accent6">
                    <a:lumMod val="50000"/>
                  </a:schemeClr>
                </a:solidFill>
              </a:rPr>
              <a:t> </a:t>
            </a:r>
            <a:r>
              <a:rPr lang="en-US" dirty="0">
                <a:solidFill>
                  <a:schemeClr val="tx1"/>
                </a:solidFill>
              </a:rPr>
              <a:t>The PPF and opportunity cost</a:t>
            </a:r>
          </a:p>
        </p:txBody>
      </p:sp>
      <p:sp>
        <p:nvSpPr>
          <p:cNvPr id="8" name="Content Placeholder 7"/>
          <p:cNvSpPr>
            <a:spLocks noGrp="1"/>
          </p:cNvSpPr>
          <p:nvPr>
            <p:ph idx="1"/>
          </p:nvPr>
        </p:nvSpPr>
        <p:spPr>
          <a:xfrm>
            <a:off x="5300118" y="914400"/>
            <a:ext cx="3566070" cy="5534025"/>
          </a:xfrm>
        </p:spPr>
        <p:txBody>
          <a:bodyPr>
            <a:noAutofit/>
          </a:bodyPr>
          <a:lstStyle/>
          <a:p>
            <a:pPr marL="0" indent="0">
              <a:buNone/>
            </a:pPr>
            <a:r>
              <a:rPr lang="en-US" sz="2800" dirty="0">
                <a:solidFill>
                  <a:schemeClr val="tx1"/>
                </a:solidFill>
              </a:rPr>
              <a:t>To produce the first 1,000 tons of soybeans: give up 20 airplanes</a:t>
            </a:r>
          </a:p>
          <a:p>
            <a:r>
              <a:rPr lang="en-US" sz="2800" dirty="0">
                <a:solidFill>
                  <a:srgbClr val="4E519E"/>
                </a:solidFill>
              </a:rPr>
              <a:t>Opportunity cost of 1 airplane = ______</a:t>
            </a:r>
          </a:p>
          <a:p>
            <a:endParaRPr lang="en-US" sz="2800" dirty="0">
              <a:solidFill>
                <a:srgbClr val="4E519E"/>
              </a:solidFill>
            </a:endParaRPr>
          </a:p>
          <a:p>
            <a:r>
              <a:rPr lang="en-US" sz="2800" dirty="0">
                <a:solidFill>
                  <a:srgbClr val="4E519E"/>
                </a:solidFill>
              </a:rPr>
              <a:t>Opportunity cost of 1 ton of soybeans = _______</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18</a:t>
            </a:fld>
            <a:endParaRPr lang="en-US" dirty="0"/>
          </a:p>
        </p:txBody>
      </p:sp>
      <p:sp>
        <p:nvSpPr>
          <p:cNvPr id="3" name="Footer Placeholder 2">
            <a:extLst>
              <a:ext uri="{FF2B5EF4-FFF2-40B4-BE49-F238E27FC236}">
                <a16:creationId xmlns:a16="http://schemas.microsoft.com/office/drawing/2014/main" id="{FAD8832D-E884-B4C8-3FA8-21B197BD9F4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10" name="Group 9"/>
          <p:cNvGrpSpPr/>
          <p:nvPr/>
        </p:nvGrpSpPr>
        <p:grpSpPr>
          <a:xfrm>
            <a:off x="76200" y="1143000"/>
            <a:ext cx="5209876" cy="4419600"/>
            <a:chOff x="200324" y="1143000"/>
            <a:chExt cx="5209876" cy="4419600"/>
          </a:xfrm>
        </p:grpSpPr>
        <p:cxnSp>
          <p:nvCxnSpPr>
            <p:cNvPr id="71" name="Straight Connector 70"/>
            <p:cNvCxnSpPr/>
            <p:nvPr/>
          </p:nvCxnSpPr>
          <p:spPr bwMode="auto">
            <a:xfrm>
              <a:off x="892963" y="2047515"/>
              <a:ext cx="4107961" cy="2753085"/>
            </a:xfrm>
            <a:prstGeom prst="line">
              <a:avLst/>
            </a:prstGeom>
            <a:noFill/>
            <a:ln w="28575" cap="flat" cmpd="sng" algn="ctr">
              <a:solidFill>
                <a:srgbClr val="0070C0"/>
              </a:solidFill>
              <a:prstDash val="solid"/>
              <a:round/>
              <a:headEnd type="none" w="med" len="med"/>
              <a:tailEnd type="none" w="med" len="med"/>
            </a:ln>
            <a:effectLst/>
          </p:spPr>
        </p:cxnSp>
        <p:grpSp>
          <p:nvGrpSpPr>
            <p:cNvPr id="72" name="Group 71"/>
            <p:cNvGrpSpPr/>
            <p:nvPr/>
          </p:nvGrpSpPr>
          <p:grpSpPr>
            <a:xfrm>
              <a:off x="328565" y="1143000"/>
              <a:ext cx="5046520" cy="4419600"/>
              <a:chOff x="3557241" y="685800"/>
              <a:chExt cx="5046520" cy="4419600"/>
            </a:xfrm>
          </p:grpSpPr>
          <p:grpSp>
            <p:nvGrpSpPr>
              <p:cNvPr id="73" name="Group 72"/>
              <p:cNvGrpSpPr/>
              <p:nvPr/>
            </p:nvGrpSpPr>
            <p:grpSpPr>
              <a:xfrm>
                <a:off x="3557241" y="685800"/>
                <a:ext cx="5046520" cy="4419600"/>
                <a:chOff x="3819389" y="487978"/>
                <a:chExt cx="5046520" cy="4419600"/>
              </a:xfrm>
            </p:grpSpPr>
            <p:cxnSp>
              <p:nvCxnSpPr>
                <p:cNvPr id="75" name="Straight Connector 74"/>
                <p:cNvCxnSpPr/>
                <p:nvPr/>
              </p:nvCxnSpPr>
              <p:spPr bwMode="auto">
                <a:xfrm>
                  <a:off x="4383787" y="1295400"/>
                  <a:ext cx="0" cy="2831068"/>
                </a:xfrm>
                <a:prstGeom prst="line">
                  <a:avLst/>
                </a:prstGeom>
                <a:noFill/>
                <a:ln w="28575" cap="flat" cmpd="sng" algn="ctr">
                  <a:solidFill>
                    <a:schemeClr val="tx1"/>
                  </a:solidFill>
                  <a:prstDash val="solid"/>
                  <a:round/>
                  <a:headEnd type="none" w="med" len="med"/>
                  <a:tailEnd type="none" w="med" len="med"/>
                </a:ln>
                <a:effectLst/>
              </p:spPr>
            </p:cxnSp>
            <p:cxnSp>
              <p:nvCxnSpPr>
                <p:cNvPr id="76" name="Straight Connector 75"/>
                <p:cNvCxnSpPr/>
                <p:nvPr/>
              </p:nvCxnSpPr>
              <p:spPr bwMode="auto">
                <a:xfrm flipH="1">
                  <a:off x="4383787" y="4126468"/>
                  <a:ext cx="4343400" cy="0"/>
                </a:xfrm>
                <a:prstGeom prst="line">
                  <a:avLst/>
                </a:prstGeom>
                <a:noFill/>
                <a:ln w="28575" cap="flat" cmpd="sng" algn="ctr">
                  <a:solidFill>
                    <a:schemeClr val="tx1"/>
                  </a:solidFill>
                  <a:prstDash val="solid"/>
                  <a:round/>
                  <a:headEnd type="none" w="med" len="med"/>
                  <a:tailEnd type="none" w="med" len="med"/>
                </a:ln>
                <a:effectLst/>
              </p:spPr>
            </p:cxnSp>
            <p:sp>
              <p:nvSpPr>
                <p:cNvPr id="77" name="TextBox 76"/>
                <p:cNvSpPr txBox="1"/>
                <p:nvPr/>
              </p:nvSpPr>
              <p:spPr>
                <a:xfrm>
                  <a:off x="6815348" y="4507468"/>
                  <a:ext cx="2050561" cy="400110"/>
                </a:xfrm>
                <a:prstGeom prst="rect">
                  <a:avLst/>
                </a:prstGeom>
                <a:noFill/>
              </p:spPr>
              <p:txBody>
                <a:bodyPr wrap="none" rtlCol="0">
                  <a:spAutoFit/>
                </a:bodyPr>
                <a:lstStyle/>
                <a:p>
                  <a:r>
                    <a:rPr lang="en-US" sz="2000" dirty="0"/>
                    <a:t>Soybeans (tons)</a:t>
                  </a:r>
                </a:p>
              </p:txBody>
            </p:sp>
            <p:sp>
              <p:nvSpPr>
                <p:cNvPr id="78" name="TextBox 77"/>
                <p:cNvSpPr txBox="1"/>
                <p:nvPr/>
              </p:nvSpPr>
              <p:spPr>
                <a:xfrm>
                  <a:off x="3819389" y="487978"/>
                  <a:ext cx="1255472" cy="400110"/>
                </a:xfrm>
                <a:prstGeom prst="rect">
                  <a:avLst/>
                </a:prstGeom>
                <a:noFill/>
              </p:spPr>
              <p:txBody>
                <a:bodyPr wrap="none" rtlCol="0">
                  <a:spAutoFit/>
                </a:bodyPr>
                <a:lstStyle/>
                <a:p>
                  <a:r>
                    <a:rPr lang="en-US" sz="2000" dirty="0"/>
                    <a:t>Airplanes</a:t>
                  </a:r>
                </a:p>
              </p:txBody>
            </p:sp>
          </p:grpSp>
          <p:sp>
            <p:nvSpPr>
              <p:cNvPr id="74" name="TextBox 73"/>
              <p:cNvSpPr txBox="1"/>
              <p:nvPr/>
            </p:nvSpPr>
            <p:spPr>
              <a:xfrm>
                <a:off x="3725694" y="4355068"/>
                <a:ext cx="312906" cy="369332"/>
              </a:xfrm>
              <a:prstGeom prst="rect">
                <a:avLst/>
              </a:prstGeom>
              <a:noFill/>
            </p:spPr>
            <p:txBody>
              <a:bodyPr wrap="none" rtlCol="0">
                <a:spAutoFit/>
              </a:bodyPr>
              <a:lstStyle/>
              <a:p>
                <a:r>
                  <a:rPr lang="en-US" dirty="0"/>
                  <a:t>0</a:t>
                </a:r>
              </a:p>
            </p:txBody>
          </p:sp>
        </p:grpSp>
        <p:grpSp>
          <p:nvGrpSpPr>
            <p:cNvPr id="81" name="Group 80"/>
            <p:cNvGrpSpPr/>
            <p:nvPr/>
          </p:nvGrpSpPr>
          <p:grpSpPr>
            <a:xfrm>
              <a:off x="200324" y="1600200"/>
              <a:ext cx="1024354" cy="631981"/>
              <a:chOff x="3733800" y="762000"/>
              <a:chExt cx="1024354" cy="631981"/>
            </a:xfrm>
          </p:grpSpPr>
          <p:grpSp>
            <p:nvGrpSpPr>
              <p:cNvPr id="83" name="Group 82"/>
              <p:cNvGrpSpPr/>
              <p:nvPr/>
            </p:nvGrpSpPr>
            <p:grpSpPr>
              <a:xfrm>
                <a:off x="3733800" y="762000"/>
                <a:ext cx="1024354" cy="631981"/>
                <a:chOff x="3429000" y="1143000"/>
                <a:chExt cx="1024354" cy="631981"/>
              </a:xfrm>
            </p:grpSpPr>
            <p:sp>
              <p:nvSpPr>
                <p:cNvPr id="91" name="TextBox 90"/>
                <p:cNvSpPr txBox="1"/>
                <p:nvPr/>
              </p:nvSpPr>
              <p:spPr>
                <a:xfrm>
                  <a:off x="4114800" y="1143000"/>
                  <a:ext cx="338554" cy="369332"/>
                </a:xfrm>
                <a:prstGeom prst="rect">
                  <a:avLst/>
                </a:prstGeom>
                <a:noFill/>
              </p:spPr>
              <p:txBody>
                <a:bodyPr wrap="none" rtlCol="0">
                  <a:spAutoFit/>
                </a:bodyPr>
                <a:lstStyle/>
                <a:p>
                  <a:r>
                    <a:rPr lang="en-US" dirty="0"/>
                    <a:t>E</a:t>
                  </a:r>
                </a:p>
              </p:txBody>
            </p:sp>
            <p:sp>
              <p:nvSpPr>
                <p:cNvPr id="92" name="TextBox 91"/>
                <p:cNvSpPr txBox="1"/>
                <p:nvPr/>
              </p:nvSpPr>
              <p:spPr>
                <a:xfrm>
                  <a:off x="3429000" y="1405649"/>
                  <a:ext cx="569387" cy="369332"/>
                </a:xfrm>
                <a:prstGeom prst="rect">
                  <a:avLst/>
                </a:prstGeom>
                <a:noFill/>
              </p:spPr>
              <p:txBody>
                <a:bodyPr wrap="none" rtlCol="0">
                  <a:spAutoFit/>
                </a:bodyPr>
                <a:lstStyle/>
                <a:p>
                  <a:r>
                    <a:rPr lang="en-US" dirty="0"/>
                    <a:t>100</a:t>
                  </a:r>
                </a:p>
              </p:txBody>
            </p:sp>
          </p:grpSp>
          <p:sp>
            <p:nvSpPr>
              <p:cNvPr id="90" name="Flowchart: Connector 89"/>
              <p:cNvSpPr/>
              <p:nvPr/>
            </p:nvSpPr>
            <p:spPr bwMode="auto">
              <a:xfrm>
                <a:off x="4350239" y="113538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93" name="Group 92"/>
            <p:cNvGrpSpPr/>
            <p:nvPr/>
          </p:nvGrpSpPr>
          <p:grpSpPr>
            <a:xfrm>
              <a:off x="328565" y="2133600"/>
              <a:ext cx="1852959" cy="3048000"/>
              <a:chOff x="3862041" y="1295400"/>
              <a:chExt cx="1852959" cy="3048000"/>
            </a:xfrm>
          </p:grpSpPr>
          <p:grpSp>
            <p:nvGrpSpPr>
              <p:cNvPr id="94" name="Group 93"/>
              <p:cNvGrpSpPr/>
              <p:nvPr/>
            </p:nvGrpSpPr>
            <p:grpSpPr>
              <a:xfrm>
                <a:off x="3862041" y="1295400"/>
                <a:ext cx="1852959" cy="3048000"/>
                <a:chOff x="3557241" y="1676400"/>
                <a:chExt cx="1852959" cy="3048000"/>
              </a:xfrm>
            </p:grpSpPr>
            <p:cxnSp>
              <p:nvCxnSpPr>
                <p:cNvPr id="96" name="Straight Connector 95"/>
                <p:cNvCxnSpPr/>
                <p:nvPr/>
              </p:nvCxnSpPr>
              <p:spPr bwMode="auto">
                <a:xfrm>
                  <a:off x="4953000" y="2112822"/>
                  <a:ext cx="0" cy="2211468"/>
                </a:xfrm>
                <a:prstGeom prst="line">
                  <a:avLst/>
                </a:prstGeom>
                <a:noFill/>
                <a:ln w="9525" cap="flat" cmpd="sng" algn="ctr">
                  <a:solidFill>
                    <a:schemeClr val="tx1"/>
                  </a:solidFill>
                  <a:prstDash val="lgDash"/>
                  <a:round/>
                  <a:headEnd type="none" w="med" len="med"/>
                  <a:tailEnd type="none" w="med" len="med"/>
                </a:ln>
                <a:effectLst/>
              </p:spPr>
            </p:cxnSp>
            <p:cxnSp>
              <p:nvCxnSpPr>
                <p:cNvPr id="97" name="Straight Connector 96"/>
                <p:cNvCxnSpPr/>
                <p:nvPr/>
              </p:nvCxnSpPr>
              <p:spPr bwMode="auto">
                <a:xfrm>
                  <a:off x="4121639" y="2133600"/>
                  <a:ext cx="831361" cy="0"/>
                </a:xfrm>
                <a:prstGeom prst="line">
                  <a:avLst/>
                </a:prstGeom>
                <a:noFill/>
                <a:ln w="9525" cap="flat" cmpd="sng" algn="ctr">
                  <a:solidFill>
                    <a:schemeClr val="tx1"/>
                  </a:solidFill>
                  <a:prstDash val="lgDash"/>
                  <a:round/>
                  <a:headEnd type="none" w="med" len="med"/>
                  <a:tailEnd type="none" w="med" len="med"/>
                </a:ln>
                <a:effectLst/>
              </p:spPr>
            </p:cxnSp>
            <p:sp>
              <p:nvSpPr>
                <p:cNvPr id="98" name="TextBox 97"/>
                <p:cNvSpPr txBox="1"/>
                <p:nvPr/>
              </p:nvSpPr>
              <p:spPr>
                <a:xfrm>
                  <a:off x="3557241" y="1981200"/>
                  <a:ext cx="441146" cy="369332"/>
                </a:xfrm>
                <a:prstGeom prst="rect">
                  <a:avLst/>
                </a:prstGeom>
                <a:noFill/>
              </p:spPr>
              <p:txBody>
                <a:bodyPr wrap="none" rtlCol="0">
                  <a:spAutoFit/>
                </a:bodyPr>
                <a:lstStyle/>
                <a:p>
                  <a:r>
                    <a:rPr lang="en-US" dirty="0"/>
                    <a:t>80</a:t>
                  </a:r>
                </a:p>
              </p:txBody>
            </p:sp>
            <p:sp>
              <p:nvSpPr>
                <p:cNvPr id="99" name="TextBox 98"/>
                <p:cNvSpPr txBox="1"/>
                <p:nvPr/>
              </p:nvSpPr>
              <p:spPr>
                <a:xfrm>
                  <a:off x="5058822" y="1676400"/>
                  <a:ext cx="351378" cy="369332"/>
                </a:xfrm>
                <a:prstGeom prst="rect">
                  <a:avLst/>
                </a:prstGeom>
                <a:noFill/>
              </p:spPr>
              <p:txBody>
                <a:bodyPr wrap="none" rtlCol="0">
                  <a:spAutoFit/>
                </a:bodyPr>
                <a:lstStyle/>
                <a:p>
                  <a:r>
                    <a:rPr lang="en-US" dirty="0"/>
                    <a:t>D</a:t>
                  </a:r>
                </a:p>
              </p:txBody>
            </p:sp>
            <p:sp>
              <p:nvSpPr>
                <p:cNvPr id="100" name="TextBox 99"/>
                <p:cNvSpPr txBox="1"/>
                <p:nvPr/>
              </p:nvSpPr>
              <p:spPr>
                <a:xfrm>
                  <a:off x="4572253" y="4355068"/>
                  <a:ext cx="761747" cy="369332"/>
                </a:xfrm>
                <a:prstGeom prst="rect">
                  <a:avLst/>
                </a:prstGeom>
                <a:noFill/>
              </p:spPr>
              <p:txBody>
                <a:bodyPr wrap="none" rtlCol="0">
                  <a:spAutoFit/>
                </a:bodyPr>
                <a:lstStyle/>
                <a:p>
                  <a:r>
                    <a:rPr lang="en-US" dirty="0"/>
                    <a:t>1,000</a:t>
                  </a:r>
                </a:p>
              </p:txBody>
            </p:sp>
          </p:grpSp>
          <p:sp>
            <p:nvSpPr>
              <p:cNvPr id="95" name="Flowchart: Connector 94"/>
              <p:cNvSpPr/>
              <p:nvPr/>
            </p:nvSpPr>
            <p:spPr bwMode="auto">
              <a:xfrm>
                <a:off x="5181600" y="167640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101" name="Group 100"/>
            <p:cNvGrpSpPr/>
            <p:nvPr/>
          </p:nvGrpSpPr>
          <p:grpSpPr>
            <a:xfrm>
              <a:off x="328565" y="2971800"/>
              <a:ext cx="3072159" cy="2209800"/>
              <a:chOff x="3862041" y="2133600"/>
              <a:chExt cx="3072159" cy="2209800"/>
            </a:xfrm>
          </p:grpSpPr>
          <p:grpSp>
            <p:nvGrpSpPr>
              <p:cNvPr id="102" name="Group 101"/>
              <p:cNvGrpSpPr/>
              <p:nvPr/>
            </p:nvGrpSpPr>
            <p:grpSpPr>
              <a:xfrm>
                <a:off x="3862041" y="2133600"/>
                <a:ext cx="3072159" cy="2209800"/>
                <a:chOff x="3557241" y="2514600"/>
                <a:chExt cx="3072159" cy="2209800"/>
              </a:xfrm>
            </p:grpSpPr>
            <p:cxnSp>
              <p:nvCxnSpPr>
                <p:cNvPr id="104" name="Straight Connector 103"/>
                <p:cNvCxnSpPr/>
                <p:nvPr/>
              </p:nvCxnSpPr>
              <p:spPr bwMode="auto">
                <a:xfrm>
                  <a:off x="6172200" y="2959537"/>
                  <a:ext cx="0" cy="1383863"/>
                </a:xfrm>
                <a:prstGeom prst="line">
                  <a:avLst/>
                </a:prstGeom>
                <a:noFill/>
                <a:ln w="9525" cap="flat" cmpd="sng" algn="ctr">
                  <a:solidFill>
                    <a:schemeClr val="tx1"/>
                  </a:solidFill>
                  <a:prstDash val="lgDash"/>
                  <a:round/>
                  <a:headEnd type="none" w="med" len="med"/>
                  <a:tailEnd type="none" w="med" len="med"/>
                </a:ln>
                <a:effectLst/>
              </p:spPr>
            </p:cxnSp>
            <p:cxnSp>
              <p:nvCxnSpPr>
                <p:cNvPr id="105" name="Straight Connector 104"/>
                <p:cNvCxnSpPr/>
                <p:nvPr/>
              </p:nvCxnSpPr>
              <p:spPr bwMode="auto">
                <a:xfrm>
                  <a:off x="4121639" y="2959537"/>
                  <a:ext cx="2053980" cy="0"/>
                </a:xfrm>
                <a:prstGeom prst="line">
                  <a:avLst/>
                </a:prstGeom>
                <a:noFill/>
                <a:ln w="9525" cap="flat" cmpd="sng" algn="ctr">
                  <a:solidFill>
                    <a:schemeClr val="tx1"/>
                  </a:solidFill>
                  <a:prstDash val="lgDash"/>
                  <a:round/>
                  <a:headEnd type="none" w="med" len="med"/>
                  <a:tailEnd type="none" w="med" len="med"/>
                </a:ln>
                <a:effectLst/>
              </p:spPr>
            </p:cxnSp>
            <p:sp>
              <p:nvSpPr>
                <p:cNvPr id="106" name="TextBox 105"/>
                <p:cNvSpPr txBox="1"/>
                <p:nvPr/>
              </p:nvSpPr>
              <p:spPr>
                <a:xfrm>
                  <a:off x="6278022" y="2514600"/>
                  <a:ext cx="351378" cy="369332"/>
                </a:xfrm>
                <a:prstGeom prst="rect">
                  <a:avLst/>
                </a:prstGeom>
                <a:noFill/>
              </p:spPr>
              <p:txBody>
                <a:bodyPr wrap="none" rtlCol="0">
                  <a:spAutoFit/>
                </a:bodyPr>
                <a:lstStyle/>
                <a:p>
                  <a:r>
                    <a:rPr lang="en-US" dirty="0"/>
                    <a:t>C</a:t>
                  </a:r>
                </a:p>
              </p:txBody>
            </p:sp>
            <p:sp>
              <p:nvSpPr>
                <p:cNvPr id="107" name="TextBox 106"/>
                <p:cNvSpPr txBox="1"/>
                <p:nvPr/>
              </p:nvSpPr>
              <p:spPr>
                <a:xfrm>
                  <a:off x="3557241" y="2743200"/>
                  <a:ext cx="441146" cy="369332"/>
                </a:xfrm>
                <a:prstGeom prst="rect">
                  <a:avLst/>
                </a:prstGeom>
                <a:noFill/>
              </p:spPr>
              <p:txBody>
                <a:bodyPr wrap="none" rtlCol="0">
                  <a:spAutoFit/>
                </a:bodyPr>
                <a:lstStyle/>
                <a:p>
                  <a:r>
                    <a:rPr lang="en-US" dirty="0"/>
                    <a:t>50</a:t>
                  </a:r>
                </a:p>
              </p:txBody>
            </p:sp>
            <p:sp>
              <p:nvSpPr>
                <p:cNvPr id="108" name="TextBox 107"/>
                <p:cNvSpPr txBox="1"/>
                <p:nvPr/>
              </p:nvSpPr>
              <p:spPr>
                <a:xfrm>
                  <a:off x="5791453" y="4355068"/>
                  <a:ext cx="761747" cy="369332"/>
                </a:xfrm>
                <a:prstGeom prst="rect">
                  <a:avLst/>
                </a:prstGeom>
                <a:noFill/>
              </p:spPr>
              <p:txBody>
                <a:bodyPr wrap="none" rtlCol="0">
                  <a:spAutoFit/>
                </a:bodyPr>
                <a:lstStyle/>
                <a:p>
                  <a:r>
                    <a:rPr lang="en-US" dirty="0"/>
                    <a:t>2,500</a:t>
                  </a:r>
                </a:p>
              </p:txBody>
            </p:sp>
          </p:grpSp>
          <p:sp>
            <p:nvSpPr>
              <p:cNvPr id="103" name="Flowchart: Connector 102"/>
              <p:cNvSpPr/>
              <p:nvPr/>
            </p:nvSpPr>
            <p:spPr bwMode="auto">
              <a:xfrm>
                <a:off x="6400800" y="2491502"/>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109" name="Group 108"/>
            <p:cNvGrpSpPr/>
            <p:nvPr/>
          </p:nvGrpSpPr>
          <p:grpSpPr>
            <a:xfrm>
              <a:off x="328565" y="3733800"/>
              <a:ext cx="4215159" cy="1447800"/>
              <a:chOff x="3862041" y="2895600"/>
              <a:chExt cx="4215159" cy="1447800"/>
            </a:xfrm>
          </p:grpSpPr>
          <p:grpSp>
            <p:nvGrpSpPr>
              <p:cNvPr id="110" name="Group 109"/>
              <p:cNvGrpSpPr/>
              <p:nvPr/>
            </p:nvGrpSpPr>
            <p:grpSpPr>
              <a:xfrm>
                <a:off x="3862041" y="2895600"/>
                <a:ext cx="4215159" cy="1447800"/>
                <a:chOff x="3557241" y="3276600"/>
                <a:chExt cx="4215159" cy="1447800"/>
              </a:xfrm>
            </p:grpSpPr>
            <p:cxnSp>
              <p:nvCxnSpPr>
                <p:cNvPr id="112" name="Straight Connector 111"/>
                <p:cNvCxnSpPr/>
                <p:nvPr/>
              </p:nvCxnSpPr>
              <p:spPr bwMode="auto">
                <a:xfrm>
                  <a:off x="7315200" y="3733800"/>
                  <a:ext cx="0" cy="609600"/>
                </a:xfrm>
                <a:prstGeom prst="line">
                  <a:avLst/>
                </a:prstGeom>
                <a:noFill/>
                <a:ln w="9525" cap="flat" cmpd="sng" algn="ctr">
                  <a:solidFill>
                    <a:schemeClr val="tx1"/>
                  </a:solidFill>
                  <a:prstDash val="lgDash"/>
                  <a:round/>
                  <a:headEnd type="none" w="med" len="med"/>
                  <a:tailEnd type="none" w="med" len="med"/>
                </a:ln>
                <a:effectLst/>
              </p:spPr>
            </p:cxnSp>
            <p:cxnSp>
              <p:nvCxnSpPr>
                <p:cNvPr id="113" name="Straight Connector 112"/>
                <p:cNvCxnSpPr/>
                <p:nvPr/>
              </p:nvCxnSpPr>
              <p:spPr bwMode="auto">
                <a:xfrm>
                  <a:off x="4121639" y="3733800"/>
                  <a:ext cx="3239203" cy="0"/>
                </a:xfrm>
                <a:prstGeom prst="line">
                  <a:avLst/>
                </a:prstGeom>
                <a:noFill/>
                <a:ln w="9525" cap="flat" cmpd="sng" algn="ctr">
                  <a:solidFill>
                    <a:schemeClr val="tx1"/>
                  </a:solidFill>
                  <a:prstDash val="lgDash"/>
                  <a:round/>
                  <a:headEnd type="none" w="med" len="med"/>
                  <a:tailEnd type="none" w="med" len="med"/>
                </a:ln>
                <a:effectLst/>
              </p:spPr>
            </p:cxnSp>
            <p:sp>
              <p:nvSpPr>
                <p:cNvPr id="114" name="TextBox 113"/>
                <p:cNvSpPr txBox="1"/>
                <p:nvPr/>
              </p:nvSpPr>
              <p:spPr>
                <a:xfrm>
                  <a:off x="7433846" y="3276600"/>
                  <a:ext cx="338554" cy="369332"/>
                </a:xfrm>
                <a:prstGeom prst="rect">
                  <a:avLst/>
                </a:prstGeom>
                <a:noFill/>
              </p:spPr>
              <p:txBody>
                <a:bodyPr wrap="none" rtlCol="0">
                  <a:spAutoFit/>
                </a:bodyPr>
                <a:lstStyle/>
                <a:p>
                  <a:r>
                    <a:rPr lang="en-US" dirty="0"/>
                    <a:t>B</a:t>
                  </a:r>
                </a:p>
              </p:txBody>
            </p:sp>
            <p:sp>
              <p:nvSpPr>
                <p:cNvPr id="115" name="TextBox 114"/>
                <p:cNvSpPr txBox="1"/>
                <p:nvPr/>
              </p:nvSpPr>
              <p:spPr>
                <a:xfrm>
                  <a:off x="3557241" y="3581400"/>
                  <a:ext cx="441146" cy="369332"/>
                </a:xfrm>
                <a:prstGeom prst="rect">
                  <a:avLst/>
                </a:prstGeom>
                <a:noFill/>
              </p:spPr>
              <p:txBody>
                <a:bodyPr wrap="none" rtlCol="0">
                  <a:spAutoFit/>
                </a:bodyPr>
                <a:lstStyle/>
                <a:p>
                  <a:r>
                    <a:rPr lang="en-US" dirty="0"/>
                    <a:t>20</a:t>
                  </a:r>
                </a:p>
              </p:txBody>
            </p:sp>
            <p:sp>
              <p:nvSpPr>
                <p:cNvPr id="116" name="TextBox 115"/>
                <p:cNvSpPr txBox="1"/>
                <p:nvPr/>
              </p:nvSpPr>
              <p:spPr>
                <a:xfrm>
                  <a:off x="6934200" y="4355068"/>
                  <a:ext cx="761747" cy="369332"/>
                </a:xfrm>
                <a:prstGeom prst="rect">
                  <a:avLst/>
                </a:prstGeom>
                <a:noFill/>
              </p:spPr>
              <p:txBody>
                <a:bodyPr wrap="none" rtlCol="0">
                  <a:spAutoFit/>
                </a:bodyPr>
                <a:lstStyle/>
                <a:p>
                  <a:r>
                    <a:rPr lang="en-US" dirty="0"/>
                    <a:t>4,000</a:t>
                  </a:r>
                </a:p>
              </p:txBody>
            </p:sp>
          </p:grpSp>
          <p:sp>
            <p:nvSpPr>
              <p:cNvPr id="111" name="Flowchart: Connector 110"/>
              <p:cNvSpPr/>
              <p:nvPr/>
            </p:nvSpPr>
            <p:spPr bwMode="auto">
              <a:xfrm>
                <a:off x="7543673" y="327660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nvGrpSpPr>
            <p:cNvPr id="117" name="Group 116"/>
            <p:cNvGrpSpPr/>
            <p:nvPr/>
          </p:nvGrpSpPr>
          <p:grpSpPr>
            <a:xfrm>
              <a:off x="4619924" y="4345183"/>
              <a:ext cx="790276" cy="836417"/>
              <a:chOff x="8153400" y="3506983"/>
              <a:chExt cx="790276" cy="836417"/>
            </a:xfrm>
          </p:grpSpPr>
          <p:grpSp>
            <p:nvGrpSpPr>
              <p:cNvPr id="118" name="Group 117"/>
              <p:cNvGrpSpPr/>
              <p:nvPr/>
            </p:nvGrpSpPr>
            <p:grpSpPr>
              <a:xfrm>
                <a:off x="8153400" y="3506983"/>
                <a:ext cx="790276" cy="836417"/>
                <a:chOff x="7848600" y="3887983"/>
                <a:chExt cx="790276" cy="836417"/>
              </a:xfrm>
            </p:grpSpPr>
            <p:sp>
              <p:nvSpPr>
                <p:cNvPr id="120" name="TextBox 119"/>
                <p:cNvSpPr txBox="1"/>
                <p:nvPr/>
              </p:nvSpPr>
              <p:spPr>
                <a:xfrm>
                  <a:off x="8300322" y="3887983"/>
                  <a:ext cx="338554" cy="369332"/>
                </a:xfrm>
                <a:prstGeom prst="rect">
                  <a:avLst/>
                </a:prstGeom>
                <a:noFill/>
              </p:spPr>
              <p:txBody>
                <a:bodyPr wrap="none" rtlCol="0">
                  <a:spAutoFit/>
                </a:bodyPr>
                <a:lstStyle/>
                <a:p>
                  <a:r>
                    <a:rPr lang="en-US" dirty="0"/>
                    <a:t>A</a:t>
                  </a:r>
                </a:p>
              </p:txBody>
            </p:sp>
            <p:sp>
              <p:nvSpPr>
                <p:cNvPr id="121" name="TextBox 120"/>
                <p:cNvSpPr txBox="1"/>
                <p:nvPr/>
              </p:nvSpPr>
              <p:spPr>
                <a:xfrm>
                  <a:off x="7848600" y="4355068"/>
                  <a:ext cx="761747" cy="369332"/>
                </a:xfrm>
                <a:prstGeom prst="rect">
                  <a:avLst/>
                </a:prstGeom>
                <a:noFill/>
              </p:spPr>
              <p:txBody>
                <a:bodyPr wrap="none" rtlCol="0">
                  <a:spAutoFit/>
                </a:bodyPr>
                <a:lstStyle/>
                <a:p>
                  <a:r>
                    <a:rPr lang="en-US" dirty="0"/>
                    <a:t>5,000</a:t>
                  </a:r>
                </a:p>
              </p:txBody>
            </p:sp>
          </p:grpSp>
          <p:sp>
            <p:nvSpPr>
              <p:cNvPr id="119" name="Flowchart: Connector 118"/>
              <p:cNvSpPr/>
              <p:nvPr/>
            </p:nvSpPr>
            <p:spPr bwMode="auto">
              <a:xfrm>
                <a:off x="8399043" y="3867090"/>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grpSp>
      <p:grpSp>
        <p:nvGrpSpPr>
          <p:cNvPr id="25" name="Group 24"/>
          <p:cNvGrpSpPr/>
          <p:nvPr/>
        </p:nvGrpSpPr>
        <p:grpSpPr>
          <a:xfrm>
            <a:off x="768839" y="2047516"/>
            <a:ext cx="831487" cy="543284"/>
            <a:chOff x="768839" y="2047516"/>
            <a:chExt cx="831487" cy="543284"/>
          </a:xfrm>
        </p:grpSpPr>
        <p:cxnSp>
          <p:nvCxnSpPr>
            <p:cNvPr id="14" name="Straight Arrow Connector 13"/>
            <p:cNvCxnSpPr/>
            <p:nvPr/>
          </p:nvCxnSpPr>
          <p:spPr bwMode="auto">
            <a:xfrm flipV="1">
              <a:off x="768839" y="2047516"/>
              <a:ext cx="831361" cy="2264"/>
            </a:xfrm>
            <a:prstGeom prst="straightConnector1">
              <a:avLst/>
            </a:prstGeom>
            <a:noFill/>
            <a:ln w="38100" cap="flat" cmpd="sng" algn="ctr">
              <a:solidFill>
                <a:srgbClr val="006600"/>
              </a:solidFill>
              <a:prstDash val="solid"/>
              <a:round/>
              <a:headEnd type="none" w="med" len="med"/>
              <a:tailEnd type="triangle" w="med" len="med"/>
            </a:ln>
            <a:effectLst/>
          </p:spPr>
        </p:cxnSp>
        <p:cxnSp>
          <p:nvCxnSpPr>
            <p:cNvPr id="122" name="Straight Arrow Connector 121"/>
            <p:cNvCxnSpPr/>
            <p:nvPr/>
          </p:nvCxnSpPr>
          <p:spPr bwMode="auto">
            <a:xfrm>
              <a:off x="1600326" y="2065020"/>
              <a:ext cx="0" cy="525780"/>
            </a:xfrm>
            <a:prstGeom prst="straightConnector1">
              <a:avLst/>
            </a:prstGeom>
            <a:noFill/>
            <a:ln w="38100" cap="flat" cmpd="sng" algn="ctr">
              <a:solidFill>
                <a:srgbClr val="C00000"/>
              </a:solidFill>
              <a:prstDash val="solid"/>
              <a:round/>
              <a:headEnd type="none" w="med" len="med"/>
              <a:tailEnd type="triangle" w="med" len="med"/>
            </a:ln>
            <a:effectLst/>
          </p:spPr>
        </p:cxnSp>
      </p:grpSp>
    </p:spTree>
    <p:extLst>
      <p:ext uri="{BB962C8B-B14F-4D97-AF65-F5344CB8AC3E}">
        <p14:creationId xmlns:p14="http://schemas.microsoft.com/office/powerpoint/2010/main" val="16832612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p:cNvGrpSpPr/>
          <p:nvPr/>
        </p:nvGrpSpPr>
        <p:grpSpPr>
          <a:xfrm>
            <a:off x="152400" y="1143000"/>
            <a:ext cx="5715000" cy="5029200"/>
            <a:chOff x="152400" y="1143000"/>
            <a:chExt cx="5715000" cy="5029200"/>
          </a:xfrm>
        </p:grpSpPr>
        <p:grpSp>
          <p:nvGrpSpPr>
            <p:cNvPr id="3" name="Group 2"/>
            <p:cNvGrpSpPr/>
            <p:nvPr/>
          </p:nvGrpSpPr>
          <p:grpSpPr>
            <a:xfrm>
              <a:off x="152400" y="1143000"/>
              <a:ext cx="5715000" cy="5029200"/>
              <a:chOff x="3733800" y="-228600"/>
              <a:chExt cx="5715000" cy="5029200"/>
            </a:xfrm>
          </p:grpSpPr>
          <p:cxnSp>
            <p:nvCxnSpPr>
              <p:cNvPr id="20" name="Straight Connector 19"/>
              <p:cNvCxnSpPr/>
              <p:nvPr/>
            </p:nvCxnSpPr>
            <p:spPr bwMode="auto">
              <a:xfrm>
                <a:off x="4426439" y="1209315"/>
                <a:ext cx="4107961" cy="2753085"/>
              </a:xfrm>
              <a:prstGeom prst="line">
                <a:avLst/>
              </a:prstGeom>
              <a:noFill/>
              <a:ln w="28575" cap="flat" cmpd="sng" algn="ctr">
                <a:solidFill>
                  <a:srgbClr val="0070C0"/>
                </a:solidFill>
                <a:prstDash val="solid"/>
                <a:round/>
                <a:headEnd type="none" w="med" len="med"/>
                <a:tailEnd type="none" w="med" len="med"/>
              </a:ln>
              <a:effectLst/>
            </p:spPr>
          </p:cxnSp>
          <p:grpSp>
            <p:nvGrpSpPr>
              <p:cNvPr id="89" name="Group 88"/>
              <p:cNvGrpSpPr/>
              <p:nvPr/>
            </p:nvGrpSpPr>
            <p:grpSpPr>
              <a:xfrm>
                <a:off x="3813656" y="-228600"/>
                <a:ext cx="5635144" cy="5029200"/>
                <a:chOff x="3508856" y="152400"/>
                <a:chExt cx="5635144" cy="5029200"/>
              </a:xfrm>
            </p:grpSpPr>
            <p:grpSp>
              <p:nvGrpSpPr>
                <p:cNvPr id="17" name="Group 16"/>
                <p:cNvGrpSpPr/>
                <p:nvPr/>
              </p:nvGrpSpPr>
              <p:grpSpPr>
                <a:xfrm>
                  <a:off x="3508856" y="152400"/>
                  <a:ext cx="5635144" cy="5029200"/>
                  <a:chOff x="3771004" y="-45422"/>
                  <a:chExt cx="5635144" cy="5029200"/>
                </a:xfrm>
              </p:grpSpPr>
              <p:cxnSp>
                <p:nvCxnSpPr>
                  <p:cNvPr id="12" name="Straight Connector 11"/>
                  <p:cNvCxnSpPr/>
                  <p:nvPr/>
                </p:nvCxnSpPr>
                <p:spPr bwMode="auto">
                  <a:xfrm>
                    <a:off x="4383787" y="487978"/>
                    <a:ext cx="0" cy="3638490"/>
                  </a:xfrm>
                  <a:prstGeom prst="line">
                    <a:avLst/>
                  </a:prstGeom>
                  <a:noFill/>
                  <a:ln w="2857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flipH="1">
                    <a:off x="4383787" y="4126467"/>
                    <a:ext cx="5022361" cy="1"/>
                  </a:xfrm>
                  <a:prstGeom prst="line">
                    <a:avLst/>
                  </a:prstGeom>
                  <a:noFill/>
                  <a:ln w="28575" cap="flat" cmpd="sng" algn="ctr">
                    <a:solidFill>
                      <a:schemeClr val="tx1"/>
                    </a:solidFill>
                    <a:prstDash val="solid"/>
                    <a:round/>
                    <a:headEnd type="none" w="med" len="med"/>
                    <a:tailEnd type="none" w="med" len="med"/>
                  </a:ln>
                  <a:effectLst/>
                </p:spPr>
              </p:cxnSp>
              <p:sp>
                <p:nvSpPr>
                  <p:cNvPr id="15" name="TextBox 14"/>
                  <p:cNvSpPr txBox="1"/>
                  <p:nvPr/>
                </p:nvSpPr>
                <p:spPr>
                  <a:xfrm>
                    <a:off x="6815348" y="4583668"/>
                    <a:ext cx="2050561" cy="400110"/>
                  </a:xfrm>
                  <a:prstGeom prst="rect">
                    <a:avLst/>
                  </a:prstGeom>
                  <a:noFill/>
                </p:spPr>
                <p:txBody>
                  <a:bodyPr wrap="none" rtlCol="0">
                    <a:spAutoFit/>
                  </a:bodyPr>
                  <a:lstStyle/>
                  <a:p>
                    <a:r>
                      <a:rPr lang="en-US" sz="2000" dirty="0"/>
                      <a:t>Soybeans (tons)</a:t>
                    </a:r>
                  </a:p>
                </p:txBody>
              </p:sp>
              <p:sp>
                <p:nvSpPr>
                  <p:cNvPr id="16" name="TextBox 15"/>
                  <p:cNvSpPr txBox="1"/>
                  <p:nvPr/>
                </p:nvSpPr>
                <p:spPr>
                  <a:xfrm>
                    <a:off x="3771004" y="-45422"/>
                    <a:ext cx="1255472" cy="400110"/>
                  </a:xfrm>
                  <a:prstGeom prst="rect">
                    <a:avLst/>
                  </a:prstGeom>
                  <a:noFill/>
                </p:spPr>
                <p:txBody>
                  <a:bodyPr wrap="none" rtlCol="0">
                    <a:spAutoFit/>
                  </a:bodyPr>
                  <a:lstStyle/>
                  <a:p>
                    <a:r>
                      <a:rPr lang="en-US" sz="2000" dirty="0"/>
                      <a:t>Airplanes</a:t>
                    </a:r>
                  </a:p>
                </p:txBody>
              </p:sp>
            </p:grpSp>
            <p:sp>
              <p:nvSpPr>
                <p:cNvPr id="56" name="TextBox 55"/>
                <p:cNvSpPr txBox="1"/>
                <p:nvPr/>
              </p:nvSpPr>
              <p:spPr>
                <a:xfrm>
                  <a:off x="3725694" y="4355068"/>
                  <a:ext cx="312906" cy="369332"/>
                </a:xfrm>
                <a:prstGeom prst="rect">
                  <a:avLst/>
                </a:prstGeom>
                <a:noFill/>
              </p:spPr>
              <p:txBody>
                <a:bodyPr wrap="none" rtlCol="0">
                  <a:spAutoFit/>
                </a:bodyPr>
                <a:lstStyle/>
                <a:p>
                  <a:r>
                    <a:rPr lang="en-US" dirty="0"/>
                    <a:t>0</a:t>
                  </a:r>
                </a:p>
              </p:txBody>
            </p:sp>
          </p:grpSp>
          <p:sp>
            <p:nvSpPr>
              <p:cNvPr id="57" name="TextBox 56"/>
              <p:cNvSpPr txBox="1"/>
              <p:nvPr/>
            </p:nvSpPr>
            <p:spPr>
              <a:xfrm>
                <a:off x="3733800" y="1024649"/>
                <a:ext cx="569387" cy="369332"/>
              </a:xfrm>
              <a:prstGeom prst="rect">
                <a:avLst/>
              </a:prstGeom>
              <a:noFill/>
            </p:spPr>
            <p:txBody>
              <a:bodyPr wrap="none" rtlCol="0">
                <a:spAutoFit/>
              </a:bodyPr>
              <a:lstStyle/>
              <a:p>
                <a:r>
                  <a:rPr lang="en-US" dirty="0"/>
                  <a:t>100</a:t>
                </a:r>
              </a:p>
            </p:txBody>
          </p:sp>
          <p:sp>
            <p:nvSpPr>
              <p:cNvPr id="62" name="TextBox 61"/>
              <p:cNvSpPr txBox="1"/>
              <p:nvPr/>
            </p:nvSpPr>
            <p:spPr>
              <a:xfrm>
                <a:off x="8153400" y="3974068"/>
                <a:ext cx="761747" cy="369332"/>
              </a:xfrm>
              <a:prstGeom prst="rect">
                <a:avLst/>
              </a:prstGeom>
              <a:noFill/>
            </p:spPr>
            <p:txBody>
              <a:bodyPr wrap="none" rtlCol="0">
                <a:spAutoFit/>
              </a:bodyPr>
              <a:lstStyle/>
              <a:p>
                <a:r>
                  <a:rPr lang="en-US" dirty="0"/>
                  <a:t>5,000</a:t>
                </a:r>
              </a:p>
            </p:txBody>
          </p:sp>
          <p:grpSp>
            <p:nvGrpSpPr>
              <p:cNvPr id="87" name="Group 86"/>
              <p:cNvGrpSpPr/>
              <p:nvPr/>
            </p:nvGrpSpPr>
            <p:grpSpPr>
              <a:xfrm>
                <a:off x="3862041" y="1600200"/>
                <a:ext cx="1776759" cy="2743200"/>
                <a:chOff x="3557241" y="1981200"/>
                <a:chExt cx="1776759" cy="2743200"/>
              </a:xfrm>
            </p:grpSpPr>
            <p:sp>
              <p:nvSpPr>
                <p:cNvPr id="43" name="TextBox 42"/>
                <p:cNvSpPr txBox="1"/>
                <p:nvPr/>
              </p:nvSpPr>
              <p:spPr>
                <a:xfrm>
                  <a:off x="3557241" y="1981200"/>
                  <a:ext cx="441146" cy="369332"/>
                </a:xfrm>
                <a:prstGeom prst="rect">
                  <a:avLst/>
                </a:prstGeom>
                <a:noFill/>
              </p:spPr>
              <p:txBody>
                <a:bodyPr wrap="none" rtlCol="0">
                  <a:spAutoFit/>
                </a:bodyPr>
                <a:lstStyle/>
                <a:p>
                  <a:r>
                    <a:rPr lang="en-US" dirty="0"/>
                    <a:t>80</a:t>
                  </a:r>
                </a:p>
              </p:txBody>
            </p:sp>
            <p:sp>
              <p:nvSpPr>
                <p:cNvPr id="58" name="TextBox 57"/>
                <p:cNvSpPr txBox="1"/>
                <p:nvPr/>
              </p:nvSpPr>
              <p:spPr>
                <a:xfrm>
                  <a:off x="4572253" y="4355068"/>
                  <a:ext cx="761747" cy="369332"/>
                </a:xfrm>
                <a:prstGeom prst="rect">
                  <a:avLst/>
                </a:prstGeom>
                <a:noFill/>
              </p:spPr>
              <p:txBody>
                <a:bodyPr wrap="none" rtlCol="0">
                  <a:spAutoFit/>
                </a:bodyPr>
                <a:lstStyle/>
                <a:p>
                  <a:r>
                    <a:rPr lang="en-US" dirty="0"/>
                    <a:t>1,000</a:t>
                  </a:r>
                </a:p>
              </p:txBody>
            </p:sp>
          </p:grpSp>
          <p:grpSp>
            <p:nvGrpSpPr>
              <p:cNvPr id="86" name="Group 85"/>
              <p:cNvGrpSpPr/>
              <p:nvPr/>
            </p:nvGrpSpPr>
            <p:grpSpPr>
              <a:xfrm>
                <a:off x="3862041" y="2362200"/>
                <a:ext cx="2995959" cy="1981200"/>
                <a:chOff x="3557241" y="2743200"/>
                <a:chExt cx="2995959" cy="1981200"/>
              </a:xfrm>
            </p:grpSpPr>
            <p:sp>
              <p:nvSpPr>
                <p:cNvPr id="54" name="TextBox 53"/>
                <p:cNvSpPr txBox="1"/>
                <p:nvPr/>
              </p:nvSpPr>
              <p:spPr>
                <a:xfrm>
                  <a:off x="3557241" y="2743200"/>
                  <a:ext cx="441146" cy="369332"/>
                </a:xfrm>
                <a:prstGeom prst="rect">
                  <a:avLst/>
                </a:prstGeom>
                <a:noFill/>
              </p:spPr>
              <p:txBody>
                <a:bodyPr wrap="none" rtlCol="0">
                  <a:spAutoFit/>
                </a:bodyPr>
                <a:lstStyle/>
                <a:p>
                  <a:r>
                    <a:rPr lang="en-US" dirty="0"/>
                    <a:t>50</a:t>
                  </a:r>
                </a:p>
              </p:txBody>
            </p:sp>
            <p:sp>
              <p:nvSpPr>
                <p:cNvPr id="59" name="TextBox 58"/>
                <p:cNvSpPr txBox="1"/>
                <p:nvPr/>
              </p:nvSpPr>
              <p:spPr>
                <a:xfrm>
                  <a:off x="5791453" y="4355068"/>
                  <a:ext cx="761747" cy="369332"/>
                </a:xfrm>
                <a:prstGeom prst="rect">
                  <a:avLst/>
                </a:prstGeom>
                <a:noFill/>
              </p:spPr>
              <p:txBody>
                <a:bodyPr wrap="none" rtlCol="0">
                  <a:spAutoFit/>
                </a:bodyPr>
                <a:lstStyle/>
                <a:p>
                  <a:r>
                    <a:rPr lang="en-US" dirty="0"/>
                    <a:t>2,500</a:t>
                  </a:r>
                </a:p>
              </p:txBody>
            </p:sp>
          </p:grpSp>
          <p:grpSp>
            <p:nvGrpSpPr>
              <p:cNvPr id="85" name="Group 84"/>
              <p:cNvGrpSpPr/>
              <p:nvPr/>
            </p:nvGrpSpPr>
            <p:grpSpPr>
              <a:xfrm>
                <a:off x="3862041" y="3200400"/>
                <a:ext cx="4138706" cy="1143000"/>
                <a:chOff x="3557241" y="3581400"/>
                <a:chExt cx="4138706" cy="1143000"/>
              </a:xfrm>
            </p:grpSpPr>
            <p:sp>
              <p:nvSpPr>
                <p:cNvPr id="55" name="TextBox 54"/>
                <p:cNvSpPr txBox="1"/>
                <p:nvPr/>
              </p:nvSpPr>
              <p:spPr>
                <a:xfrm>
                  <a:off x="3557241" y="3581400"/>
                  <a:ext cx="441146" cy="369332"/>
                </a:xfrm>
                <a:prstGeom prst="rect">
                  <a:avLst/>
                </a:prstGeom>
                <a:noFill/>
              </p:spPr>
              <p:txBody>
                <a:bodyPr wrap="none" rtlCol="0">
                  <a:spAutoFit/>
                </a:bodyPr>
                <a:lstStyle/>
                <a:p>
                  <a:r>
                    <a:rPr lang="en-US" dirty="0"/>
                    <a:t>20</a:t>
                  </a:r>
                </a:p>
              </p:txBody>
            </p:sp>
            <p:sp>
              <p:nvSpPr>
                <p:cNvPr id="61" name="TextBox 60"/>
                <p:cNvSpPr txBox="1"/>
                <p:nvPr/>
              </p:nvSpPr>
              <p:spPr>
                <a:xfrm>
                  <a:off x="6934200" y="4355068"/>
                  <a:ext cx="761747" cy="369332"/>
                </a:xfrm>
                <a:prstGeom prst="rect">
                  <a:avLst/>
                </a:prstGeom>
                <a:noFill/>
              </p:spPr>
              <p:txBody>
                <a:bodyPr wrap="none" rtlCol="0">
                  <a:spAutoFit/>
                </a:bodyPr>
                <a:lstStyle/>
                <a:p>
                  <a:r>
                    <a:rPr lang="en-US" dirty="0"/>
                    <a:t>4,000</a:t>
                  </a:r>
                </a:p>
              </p:txBody>
            </p:sp>
          </p:grpSp>
        </p:grpSp>
        <p:sp>
          <p:nvSpPr>
            <p:cNvPr id="68" name="Flowchart: Connector 67"/>
            <p:cNvSpPr/>
            <p:nvPr/>
          </p:nvSpPr>
          <p:spPr bwMode="auto">
            <a:xfrm>
              <a:off x="773430" y="2504715"/>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70" name="Flowchart: Connector 69"/>
            <p:cNvSpPr/>
            <p:nvPr/>
          </p:nvSpPr>
          <p:spPr bwMode="auto">
            <a:xfrm>
              <a:off x="4800600" y="5238689"/>
              <a:ext cx="152400" cy="152400"/>
            </a:xfrm>
            <a:prstGeom prst="flowChartConnector">
              <a:avLst/>
            </a:prstGeom>
            <a:solidFill>
              <a:srgbClr val="002060"/>
            </a:solidFill>
            <a:ln w="9525" cap="flat" cmpd="sng" algn="ctr">
              <a:solidFill>
                <a:srgbClr val="00206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grpSp>
      <p:sp>
        <p:nvSpPr>
          <p:cNvPr id="2" name="Title 1"/>
          <p:cNvSpPr>
            <a:spLocks noGrp="1"/>
          </p:cNvSpPr>
          <p:nvPr>
            <p:ph type="title"/>
          </p:nvPr>
        </p:nvSpPr>
        <p:spPr/>
        <p:txBody>
          <a:bodyPr/>
          <a:lstStyle/>
          <a:p>
            <a:pPr algn="ctr"/>
            <a:r>
              <a:rPr lang="en-US" dirty="0"/>
              <a:t>Economic growth and the PPF</a:t>
            </a:r>
          </a:p>
        </p:txBody>
      </p:sp>
      <p:sp>
        <p:nvSpPr>
          <p:cNvPr id="6" name="Text Placeholder 5"/>
          <p:cNvSpPr>
            <a:spLocks noGrp="1"/>
          </p:cNvSpPr>
          <p:nvPr>
            <p:ph idx="1"/>
          </p:nvPr>
        </p:nvSpPr>
        <p:spPr>
          <a:xfrm>
            <a:off x="4724655" y="914401"/>
            <a:ext cx="4141533" cy="5534024"/>
          </a:xfrm>
        </p:spPr>
        <p:txBody>
          <a:bodyPr>
            <a:normAutofit/>
          </a:bodyPr>
          <a:lstStyle/>
          <a:p>
            <a:pPr marL="0" indent="0">
              <a:buNone/>
            </a:pPr>
            <a:r>
              <a:rPr lang="en-US" sz="2700" i="0" dirty="0">
                <a:solidFill>
                  <a:schemeClr val="tx1"/>
                </a:solidFill>
                <a:latin typeface="+mn-lt"/>
              </a:rPr>
              <a:t>With additional resources or an improvement in technology, the economy can produce: </a:t>
            </a:r>
            <a:endParaRPr lang="en-US" sz="2700" i="0" dirty="0">
              <a:latin typeface="+mn-lt"/>
            </a:endParaRPr>
          </a:p>
          <a:p>
            <a:endParaRPr lang="en-US" sz="2700" i="0" dirty="0">
              <a:latin typeface="+mn-lt"/>
            </a:endParaRP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19</a:t>
            </a:fld>
            <a:endParaRPr lang="en-US" dirty="0"/>
          </a:p>
        </p:txBody>
      </p:sp>
      <p:sp>
        <p:nvSpPr>
          <p:cNvPr id="7" name="Footer Placeholder 6">
            <a:extLst>
              <a:ext uri="{FF2B5EF4-FFF2-40B4-BE49-F238E27FC236}">
                <a16:creationId xmlns:a16="http://schemas.microsoft.com/office/drawing/2014/main" id="{2665A826-2F86-5A17-FCEA-783690C9EBDF}"/>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33" name="Group 32"/>
          <p:cNvGrpSpPr/>
          <p:nvPr/>
        </p:nvGrpSpPr>
        <p:grpSpPr>
          <a:xfrm>
            <a:off x="845039" y="1752600"/>
            <a:ext cx="4793887" cy="3562289"/>
            <a:chOff x="845039" y="1752600"/>
            <a:chExt cx="4793887" cy="3562289"/>
          </a:xfrm>
        </p:grpSpPr>
        <p:cxnSp>
          <p:nvCxnSpPr>
            <p:cNvPr id="47" name="Straight Connector 46"/>
            <p:cNvCxnSpPr/>
            <p:nvPr/>
          </p:nvCxnSpPr>
          <p:spPr bwMode="auto">
            <a:xfrm>
              <a:off x="845039" y="2133600"/>
              <a:ext cx="4793887" cy="3181289"/>
            </a:xfrm>
            <a:prstGeom prst="line">
              <a:avLst/>
            </a:prstGeom>
            <a:noFill/>
            <a:ln w="28575" cap="flat" cmpd="sng" algn="ctr">
              <a:solidFill>
                <a:srgbClr val="C00000"/>
              </a:solidFill>
              <a:prstDash val="solid"/>
              <a:round/>
              <a:headEnd type="none" w="med" len="med"/>
              <a:tailEnd type="none" w="med" len="med"/>
            </a:ln>
            <a:effectLst/>
          </p:spPr>
        </p:cxnSp>
        <p:sp>
          <p:nvSpPr>
            <p:cNvPr id="71" name="Text Box 18"/>
            <p:cNvSpPr txBox="1">
              <a:spLocks noChangeArrowheads="1"/>
            </p:cNvSpPr>
            <p:nvPr/>
          </p:nvSpPr>
          <p:spPr bwMode="auto">
            <a:xfrm>
              <a:off x="1981200" y="1752600"/>
              <a:ext cx="2238703" cy="1015663"/>
            </a:xfrm>
            <a:prstGeom prst="rect">
              <a:avLst/>
            </a:prstGeom>
            <a:noFill/>
            <a:ln w="9525">
              <a:solidFill>
                <a:srgbClr val="C00000"/>
              </a:solidFill>
              <a:miter lim="800000"/>
              <a:headEnd/>
              <a:tailEnd/>
            </a:ln>
            <a:effectLst/>
          </p:spPr>
          <p:txBody>
            <a:bodyPr wrap="square">
              <a:spAutoFit/>
            </a:bodyPr>
            <a:lstStyle/>
            <a:p>
              <a:pPr>
                <a:spcBef>
                  <a:spcPct val="50000"/>
                </a:spcBef>
                <a:defRPr/>
              </a:pPr>
              <a:r>
                <a:rPr lang="en-US" sz="2000" dirty="0">
                  <a:solidFill>
                    <a:srgbClr val="4E519E"/>
                  </a:solidFill>
                  <a:latin typeface="Arial" pitchFamily="34" charset="0"/>
                  <a:cs typeface="Arial" pitchFamily="34" charset="0"/>
                </a:rPr>
                <a:t>Economic growth shifts the PPF outward.</a:t>
              </a:r>
            </a:p>
          </p:txBody>
        </p:sp>
      </p:grpSp>
      <p:grpSp>
        <p:nvGrpSpPr>
          <p:cNvPr id="31" name="Group 30"/>
          <p:cNvGrpSpPr/>
          <p:nvPr/>
        </p:nvGrpSpPr>
        <p:grpSpPr>
          <a:xfrm>
            <a:off x="4953000" y="5238689"/>
            <a:ext cx="1143000" cy="464643"/>
            <a:chOff x="4953000" y="5238689"/>
            <a:chExt cx="1143000" cy="464643"/>
          </a:xfrm>
        </p:grpSpPr>
        <p:grpSp>
          <p:nvGrpSpPr>
            <p:cNvPr id="24" name="Group 23"/>
            <p:cNvGrpSpPr/>
            <p:nvPr/>
          </p:nvGrpSpPr>
          <p:grpSpPr>
            <a:xfrm>
              <a:off x="5334253" y="5238689"/>
              <a:ext cx="761747" cy="464643"/>
              <a:chOff x="5334253" y="5238689"/>
              <a:chExt cx="761747" cy="464643"/>
            </a:xfrm>
          </p:grpSpPr>
          <p:sp>
            <p:nvSpPr>
              <p:cNvPr id="73" name="Flowchart: Connector 72"/>
              <p:cNvSpPr/>
              <p:nvPr/>
            </p:nvSpPr>
            <p:spPr bwMode="auto">
              <a:xfrm>
                <a:off x="5562600" y="5238689"/>
                <a:ext cx="152400" cy="152400"/>
              </a:xfrm>
              <a:prstGeom prst="flowChartConnector">
                <a:avLst/>
              </a:prstGeom>
              <a:solidFill>
                <a:srgbClr val="C00000"/>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74" name="TextBox 73"/>
              <p:cNvSpPr txBox="1"/>
              <p:nvPr/>
            </p:nvSpPr>
            <p:spPr>
              <a:xfrm>
                <a:off x="5334253" y="5334000"/>
                <a:ext cx="761747" cy="369332"/>
              </a:xfrm>
              <a:prstGeom prst="rect">
                <a:avLst/>
              </a:prstGeom>
              <a:noFill/>
            </p:spPr>
            <p:txBody>
              <a:bodyPr wrap="none" rtlCol="0">
                <a:spAutoFit/>
              </a:bodyPr>
              <a:lstStyle/>
              <a:p>
                <a:r>
                  <a:rPr lang="en-US" dirty="0"/>
                  <a:t>6,000</a:t>
                </a:r>
              </a:p>
            </p:txBody>
          </p:sp>
        </p:grpSp>
        <p:cxnSp>
          <p:nvCxnSpPr>
            <p:cNvPr id="27" name="Straight Arrow Connector 26"/>
            <p:cNvCxnSpPr/>
            <p:nvPr/>
          </p:nvCxnSpPr>
          <p:spPr bwMode="auto">
            <a:xfrm flipV="1">
              <a:off x="4953000" y="5334000"/>
              <a:ext cx="609726" cy="11668"/>
            </a:xfrm>
            <a:prstGeom prst="straightConnector1">
              <a:avLst/>
            </a:prstGeom>
            <a:noFill/>
            <a:ln w="76200" cap="flat" cmpd="sng" algn="ctr">
              <a:solidFill>
                <a:srgbClr val="C00000"/>
              </a:solidFill>
              <a:prstDash val="solid"/>
              <a:round/>
              <a:headEnd type="none" w="med" len="med"/>
              <a:tailEnd type="triangle" w="med" len="med"/>
            </a:ln>
            <a:effectLst/>
          </p:spPr>
        </p:cxnSp>
      </p:grpSp>
      <p:grpSp>
        <p:nvGrpSpPr>
          <p:cNvPr id="32" name="Group 31"/>
          <p:cNvGrpSpPr/>
          <p:nvPr/>
        </p:nvGrpSpPr>
        <p:grpSpPr>
          <a:xfrm>
            <a:off x="152400" y="1905000"/>
            <a:ext cx="773430" cy="675915"/>
            <a:chOff x="152400" y="1905000"/>
            <a:chExt cx="773430" cy="675915"/>
          </a:xfrm>
        </p:grpSpPr>
        <p:grpSp>
          <p:nvGrpSpPr>
            <p:cNvPr id="25" name="Group 24"/>
            <p:cNvGrpSpPr/>
            <p:nvPr/>
          </p:nvGrpSpPr>
          <p:grpSpPr>
            <a:xfrm>
              <a:off x="152400" y="1905000"/>
              <a:ext cx="773430" cy="369332"/>
              <a:chOff x="152400" y="1905000"/>
              <a:chExt cx="773430" cy="369332"/>
            </a:xfrm>
          </p:grpSpPr>
          <p:sp>
            <p:nvSpPr>
              <p:cNvPr id="72" name="Flowchart: Connector 71"/>
              <p:cNvSpPr/>
              <p:nvPr/>
            </p:nvSpPr>
            <p:spPr bwMode="auto">
              <a:xfrm>
                <a:off x="773430" y="2057400"/>
                <a:ext cx="152400" cy="152400"/>
              </a:xfrm>
              <a:prstGeom prst="flowChartConnector">
                <a:avLst/>
              </a:prstGeom>
              <a:solidFill>
                <a:srgbClr val="C00000"/>
              </a:solidFill>
              <a:ln w="9525" cap="flat" cmpd="sng" algn="ctr">
                <a:solidFill>
                  <a:srgbClr val="C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342900" marR="0" indent="-342900" algn="ctr" defTabSz="914400" rtl="0" eaLnBrk="1" fontAlgn="base" latinLnBrk="0" hangingPunct="1">
                  <a:lnSpc>
                    <a:spcPct val="100000"/>
                  </a:lnSpc>
                  <a:spcBef>
                    <a:spcPct val="20000"/>
                  </a:spcBef>
                  <a:spcAft>
                    <a:spcPct val="0"/>
                  </a:spcAft>
                  <a:buClrTx/>
                  <a:buSzTx/>
                  <a:buFontTx/>
                  <a:buChar char="•"/>
                  <a:tabLst/>
                </a:pPr>
                <a:endParaRPr kumimoji="0" lang="en-US" sz="3400" b="0" i="0" u="none" strike="noStrike" cap="none" normalizeH="0" baseline="0">
                  <a:ln>
                    <a:noFill/>
                  </a:ln>
                  <a:solidFill>
                    <a:schemeClr val="tx1"/>
                  </a:solidFill>
                  <a:effectLst/>
                  <a:latin typeface="Arial" pitchFamily="34" charset="0"/>
                </a:endParaRPr>
              </a:p>
            </p:txBody>
          </p:sp>
          <p:sp>
            <p:nvSpPr>
              <p:cNvPr id="75" name="TextBox 74"/>
              <p:cNvSpPr txBox="1"/>
              <p:nvPr/>
            </p:nvSpPr>
            <p:spPr>
              <a:xfrm>
                <a:off x="152400" y="1905000"/>
                <a:ext cx="569387" cy="369332"/>
              </a:xfrm>
              <a:prstGeom prst="rect">
                <a:avLst/>
              </a:prstGeom>
              <a:noFill/>
            </p:spPr>
            <p:txBody>
              <a:bodyPr wrap="none" rtlCol="0">
                <a:spAutoFit/>
              </a:bodyPr>
              <a:lstStyle/>
              <a:p>
                <a:r>
                  <a:rPr lang="en-US" dirty="0"/>
                  <a:t>120</a:t>
                </a:r>
              </a:p>
            </p:txBody>
          </p:sp>
        </p:grpSp>
        <p:cxnSp>
          <p:nvCxnSpPr>
            <p:cNvPr id="76" name="Straight Arrow Connector 75"/>
            <p:cNvCxnSpPr/>
            <p:nvPr/>
          </p:nvCxnSpPr>
          <p:spPr bwMode="auto">
            <a:xfrm flipH="1" flipV="1">
              <a:off x="838200" y="2164219"/>
              <a:ext cx="17505" cy="416696"/>
            </a:xfrm>
            <a:prstGeom prst="straightConnector1">
              <a:avLst/>
            </a:prstGeom>
            <a:noFill/>
            <a:ln w="76200" cap="flat" cmpd="sng" algn="ctr">
              <a:solidFill>
                <a:srgbClr val="006600"/>
              </a:solidFill>
              <a:prstDash val="solid"/>
              <a:round/>
              <a:headEnd type="none" w="med" len="med"/>
              <a:tailEnd type="triangle" w="med" len="med"/>
            </a:ln>
            <a:effectLst/>
          </p:spPr>
        </p:cxnSp>
      </p:grpSp>
      <p:sp>
        <p:nvSpPr>
          <p:cNvPr id="41" name="Text Placeholder 5">
            <a:extLst>
              <a:ext uri="{FF2B5EF4-FFF2-40B4-BE49-F238E27FC236}">
                <a16:creationId xmlns:a16="http://schemas.microsoft.com/office/drawing/2014/main" id="{9CD6B80E-81B8-2442-9E3C-0BEAACE85922}"/>
              </a:ext>
            </a:extLst>
          </p:cNvPr>
          <p:cNvSpPr txBox="1">
            <a:spLocks/>
          </p:cNvSpPr>
          <p:nvPr/>
        </p:nvSpPr>
        <p:spPr>
          <a:xfrm>
            <a:off x="5257800" y="2743200"/>
            <a:ext cx="3581400" cy="1948934"/>
          </a:xfrm>
          <a:prstGeom prst="rect">
            <a:avLst/>
          </a:prstGeom>
        </p:spPr>
        <p:txBody>
          <a:bodyPr vert="horz" lIns="91440" tIns="45720" rIns="91440" bIns="45720" rtlCol="0">
            <a:normAutofit fontScale="92500" lnSpcReduction="20000"/>
          </a:bodyPr>
          <a:lstStyle>
            <a:lvl1pPr marL="342900" indent="-342900" algn="l" rtl="0" eaLnBrk="0" fontAlgn="base" hangingPunct="0">
              <a:spcBef>
                <a:spcPct val="20000"/>
              </a:spcBef>
              <a:spcAft>
                <a:spcPct val="0"/>
              </a:spcAft>
              <a:buChar char="•"/>
              <a:defRPr sz="30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000">
                <a:solidFill>
                  <a:schemeClr val="tx1"/>
                </a:solidFill>
                <a:latin typeface="+mn-lt"/>
              </a:defRPr>
            </a:lvl2pPr>
            <a:lvl3pPr marL="1143000" indent="-228600" algn="l" rtl="0" eaLnBrk="0" fontAlgn="base" hangingPunct="0">
              <a:spcBef>
                <a:spcPct val="20000"/>
              </a:spcBef>
              <a:spcAft>
                <a:spcPct val="0"/>
              </a:spcAft>
              <a:buSzPct val="90000"/>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8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700" kern="0" dirty="0">
                <a:solidFill>
                  <a:srgbClr val="C00000"/>
                </a:solidFill>
              </a:rPr>
              <a:t>more soybeans,</a:t>
            </a:r>
            <a:r>
              <a:rPr lang="en-US" sz="2700" kern="0" dirty="0"/>
              <a:t> </a:t>
            </a:r>
          </a:p>
          <a:p>
            <a:r>
              <a:rPr lang="en-US" sz="2700" kern="0" dirty="0">
                <a:solidFill>
                  <a:srgbClr val="006600"/>
                </a:solidFill>
                <a:cs typeface="Arial" pitchFamily="34" charset="0"/>
              </a:rPr>
              <a:t>more airplanes, </a:t>
            </a:r>
          </a:p>
          <a:p>
            <a:r>
              <a:rPr lang="en-US" sz="2700" kern="0" dirty="0">
                <a:solidFill>
                  <a:srgbClr val="4E519E"/>
                </a:solidFill>
                <a:cs typeface="Arial" pitchFamily="34" charset="0"/>
              </a:rPr>
              <a:t>or any combination in between (points on the new, red PPF). </a:t>
            </a:r>
          </a:p>
          <a:p>
            <a:endParaRPr lang="en-US" sz="2700" kern="0" dirty="0"/>
          </a:p>
          <a:p>
            <a:endParaRPr lang="en-US" sz="2700" kern="0" dirty="0"/>
          </a:p>
        </p:txBody>
      </p:sp>
    </p:spTree>
    <p:extLst>
      <p:ext uri="{BB962C8B-B14F-4D97-AF65-F5344CB8AC3E}">
        <p14:creationId xmlns:p14="http://schemas.microsoft.com/office/powerpoint/2010/main" val="2851161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1">
                                            <p:txEl>
                                              <p:pRg st="0" end="0"/>
                                            </p:txEl>
                                          </p:spTgt>
                                        </p:tgtEl>
                                        <p:attrNameLst>
                                          <p:attrName>style.visibility</p:attrName>
                                        </p:attrNameLst>
                                      </p:cBhvr>
                                      <p:to>
                                        <p:strVal val="visible"/>
                                      </p:to>
                                    </p:set>
                                    <p:animEffect transition="in" filter="wipe(left)">
                                      <p:cBhvr>
                                        <p:cTn id="11" dur="500"/>
                                        <p:tgtEl>
                                          <p:spTgt spid="41">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down)">
                                      <p:cBhvr>
                                        <p:cTn id="16" dur="500"/>
                                        <p:tgtEl>
                                          <p:spTgt spid="32"/>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41">
                                            <p:txEl>
                                              <p:pRg st="1" end="1"/>
                                            </p:txEl>
                                          </p:spTgt>
                                        </p:tgtEl>
                                        <p:attrNameLst>
                                          <p:attrName>style.visibility</p:attrName>
                                        </p:attrNameLst>
                                      </p:cBhvr>
                                      <p:to>
                                        <p:strVal val="visible"/>
                                      </p:to>
                                    </p:set>
                                    <p:animEffect transition="in" filter="wipe(left)">
                                      <p:cBhvr>
                                        <p:cTn id="20" dur="500"/>
                                        <p:tgtEl>
                                          <p:spTgt spid="41">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left)">
                                      <p:cBhvr>
                                        <p:cTn id="25" dur="500"/>
                                        <p:tgtEl>
                                          <p:spTgt spid="33"/>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41">
                                            <p:txEl>
                                              <p:pRg st="2" end="2"/>
                                            </p:txEl>
                                          </p:spTgt>
                                        </p:tgtEl>
                                        <p:attrNameLst>
                                          <p:attrName>style.visibility</p:attrName>
                                        </p:attrNameLst>
                                      </p:cBhvr>
                                      <p:to>
                                        <p:strVal val="visible"/>
                                      </p:to>
                                    </p:set>
                                    <p:animEffect transition="in" filter="wipe(left)">
                                      <p:cBhvr>
                                        <p:cTn id="29" dur="500"/>
                                        <p:tgtEl>
                                          <p:spTgt spid="4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wrap="square" anchor="ctr"/>
          <a:lstStyle/>
          <a:p>
            <a:pPr eaLnBrk="1" hangingPunct="1"/>
            <a:r>
              <a:rPr lang="en-US" altLang="en-US" dirty="0"/>
              <a:t>The Shape of the PPF</a:t>
            </a:r>
          </a:p>
        </p:txBody>
      </p:sp>
      <p:sp>
        <p:nvSpPr>
          <p:cNvPr id="22531" name="Content Placeholder 2"/>
          <p:cNvSpPr>
            <a:spLocks noGrp="1"/>
          </p:cNvSpPr>
          <p:nvPr>
            <p:ph idx="1"/>
          </p:nvPr>
        </p:nvSpPr>
        <p:spPr/>
        <p:txBody>
          <a:bodyPr/>
          <a:lstStyle/>
          <a:p>
            <a:r>
              <a:rPr lang="en-US" altLang="en-US" dirty="0"/>
              <a:t>Straight line PPF: constant opportunity cost </a:t>
            </a:r>
          </a:p>
          <a:p>
            <a:pPr lvl="1"/>
            <a:r>
              <a:rPr lang="en-US" altLang="en-US" dirty="0"/>
              <a:t>Previous example: the opportunity cost of 1 airplane is 50 tons of soybeans</a:t>
            </a:r>
          </a:p>
          <a:p>
            <a:r>
              <a:rPr lang="en-US" altLang="en-US" dirty="0"/>
              <a:t>Bowed outward PPF: increasing opportunity cost</a:t>
            </a:r>
          </a:p>
          <a:p>
            <a:pPr lvl="1"/>
            <a:r>
              <a:rPr lang="en-US" altLang="en-US" dirty="0"/>
              <a:t>As more units of a good are produced, we need to give up increasing amounts of the other good produced. </a:t>
            </a:r>
          </a:p>
          <a:p>
            <a:endParaRPr lang="en-US" altLang="en-US" dirty="0"/>
          </a:p>
        </p:txBody>
      </p:sp>
      <p:sp>
        <p:nvSpPr>
          <p:cNvPr id="22533"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9F7807B4-97EA-48FA-9F98-DF170A7C1F30}" type="slidenum">
              <a:rPr lang="en-US" altLang="en-US" sz="1200" smtClean="0">
                <a:solidFill>
                  <a:srgbClr val="002060"/>
                </a:solidFill>
              </a:rPr>
              <a:pPr algn="ctr" eaLnBrk="1" hangingPunct="1"/>
              <a:t>20</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FB691EED-A86C-75B7-32EF-7579F526F9D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78194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Why the PPF might be bowed outward – 1 </a:t>
            </a:r>
          </a:p>
        </p:txBody>
      </p:sp>
      <p:sp>
        <p:nvSpPr>
          <p:cNvPr id="3" name="Text Placeholder 2"/>
          <p:cNvSpPr>
            <a:spLocks noGrp="1"/>
          </p:cNvSpPr>
          <p:nvPr>
            <p:ph idx="1"/>
          </p:nvPr>
        </p:nvSpPr>
        <p:spPr>
          <a:xfrm>
            <a:off x="4123159" y="914400"/>
            <a:ext cx="4743029" cy="5534025"/>
          </a:xfrm>
          <a:prstGeom prst="rect">
            <a:avLst/>
          </a:prstGeom>
        </p:spPr>
        <p:txBody>
          <a:bodyPr>
            <a:normAutofit/>
          </a:bodyPr>
          <a:lstStyle/>
          <a:p>
            <a:r>
              <a:rPr lang="en-US" sz="2800" dirty="0"/>
              <a:t>As the economy shifts resources from beer to mountain bikes:</a:t>
            </a:r>
          </a:p>
          <a:p>
            <a:endParaRPr lang="en-US" sz="2800" dirty="0"/>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21</a:t>
            </a:fld>
            <a:endParaRPr lang="en-US" dirty="0"/>
          </a:p>
        </p:txBody>
      </p:sp>
      <p:grpSp>
        <p:nvGrpSpPr>
          <p:cNvPr id="6" name="Group 4"/>
          <p:cNvGrpSpPr>
            <a:grpSpLocks/>
          </p:cNvGrpSpPr>
          <p:nvPr/>
        </p:nvGrpSpPr>
        <p:grpSpPr bwMode="auto">
          <a:xfrm>
            <a:off x="381000" y="1162049"/>
            <a:ext cx="4719638" cy="4781551"/>
            <a:chOff x="2332" y="906"/>
            <a:chExt cx="2973" cy="3012"/>
          </a:xfrm>
        </p:grpSpPr>
        <p:grpSp>
          <p:nvGrpSpPr>
            <p:cNvPr id="7" name="Group 5"/>
            <p:cNvGrpSpPr>
              <a:grpSpLocks/>
            </p:cNvGrpSpPr>
            <p:nvPr/>
          </p:nvGrpSpPr>
          <p:grpSpPr bwMode="auto">
            <a:xfrm>
              <a:off x="2675" y="919"/>
              <a:ext cx="2593" cy="2491"/>
              <a:chOff x="2462" y="910"/>
              <a:chExt cx="2871" cy="2379"/>
            </a:xfrm>
          </p:grpSpPr>
          <p:sp>
            <p:nvSpPr>
              <p:cNvPr id="11" name="Line 6"/>
              <p:cNvSpPr>
                <a:spLocks noChangeShapeType="1"/>
              </p:cNvSpPr>
              <p:nvPr/>
            </p:nvSpPr>
            <p:spPr bwMode="auto">
              <a:xfrm>
                <a:off x="2462" y="910"/>
                <a:ext cx="0" cy="2379"/>
              </a:xfrm>
              <a:prstGeom prst="line">
                <a:avLst/>
              </a:prstGeom>
              <a:noFill/>
              <a:ln w="28575">
                <a:solidFill>
                  <a:schemeClr val="tx1"/>
                </a:solidFill>
                <a:round/>
                <a:headEnd/>
                <a:tailEnd/>
              </a:ln>
            </p:spPr>
            <p:txBody>
              <a:bodyPr/>
              <a:lstStyle/>
              <a:p>
                <a:endParaRPr lang="en-US">
                  <a:latin typeface="Arial" pitchFamily="34" charset="0"/>
                  <a:cs typeface="Arial" pitchFamily="34" charset="0"/>
                </a:endParaRPr>
              </a:p>
            </p:txBody>
          </p:sp>
          <p:sp>
            <p:nvSpPr>
              <p:cNvPr id="12" name="Line 7"/>
              <p:cNvSpPr>
                <a:spLocks noChangeShapeType="1"/>
              </p:cNvSpPr>
              <p:nvPr/>
            </p:nvSpPr>
            <p:spPr bwMode="auto">
              <a:xfrm>
                <a:off x="2462" y="3289"/>
                <a:ext cx="2871" cy="0"/>
              </a:xfrm>
              <a:prstGeom prst="line">
                <a:avLst/>
              </a:prstGeom>
              <a:noFill/>
              <a:ln w="28575">
                <a:solidFill>
                  <a:schemeClr val="tx1"/>
                </a:solidFill>
                <a:round/>
                <a:headEnd/>
                <a:tailEnd/>
              </a:ln>
            </p:spPr>
            <p:txBody>
              <a:bodyPr/>
              <a:lstStyle/>
              <a:p>
                <a:endParaRPr lang="en-US">
                  <a:latin typeface="Arial" pitchFamily="34" charset="0"/>
                  <a:cs typeface="Arial" pitchFamily="34" charset="0"/>
                </a:endParaRPr>
              </a:p>
            </p:txBody>
          </p:sp>
        </p:grpSp>
        <p:sp>
          <p:nvSpPr>
            <p:cNvPr id="8" name="Text Box 8"/>
            <p:cNvSpPr txBox="1">
              <a:spLocks noChangeArrowheads="1"/>
            </p:cNvSpPr>
            <p:nvPr/>
          </p:nvSpPr>
          <p:spPr bwMode="auto">
            <a:xfrm>
              <a:off x="4236" y="3395"/>
              <a:ext cx="1069" cy="523"/>
            </a:xfrm>
            <a:prstGeom prst="rect">
              <a:avLst/>
            </a:prstGeom>
            <a:noFill/>
            <a:ln w="9525">
              <a:noFill/>
              <a:miter lim="800000"/>
              <a:headEnd/>
              <a:tailEnd/>
            </a:ln>
          </p:spPr>
          <p:txBody>
            <a:bodyPr>
              <a:spAutoFit/>
            </a:bodyPr>
            <a:lstStyle/>
            <a:p>
              <a:pPr algn="r">
                <a:spcBef>
                  <a:spcPct val="50000"/>
                </a:spcBef>
              </a:pPr>
              <a:r>
                <a:rPr lang="en-US" sz="2400" b="1">
                  <a:latin typeface="Arial" pitchFamily="34" charset="0"/>
                  <a:cs typeface="Arial" pitchFamily="34" charset="0"/>
                </a:rPr>
                <a:t>Mountain Bikes</a:t>
              </a:r>
            </a:p>
          </p:txBody>
        </p:sp>
        <p:sp>
          <p:nvSpPr>
            <p:cNvPr id="9" name="Text Box 9"/>
            <p:cNvSpPr txBox="1">
              <a:spLocks noChangeArrowheads="1"/>
            </p:cNvSpPr>
            <p:nvPr/>
          </p:nvSpPr>
          <p:spPr bwMode="auto">
            <a:xfrm rot="-5400000">
              <a:off x="2020" y="1218"/>
              <a:ext cx="911" cy="288"/>
            </a:xfrm>
            <a:prstGeom prst="rect">
              <a:avLst/>
            </a:prstGeom>
            <a:noFill/>
            <a:ln w="9525">
              <a:noFill/>
              <a:miter lim="800000"/>
              <a:headEnd/>
              <a:tailEnd/>
            </a:ln>
          </p:spPr>
          <p:txBody>
            <a:bodyPr>
              <a:spAutoFit/>
            </a:bodyPr>
            <a:lstStyle/>
            <a:p>
              <a:pPr algn="r">
                <a:spcBef>
                  <a:spcPct val="50000"/>
                </a:spcBef>
              </a:pPr>
              <a:r>
                <a:rPr lang="en-US" sz="2400" b="1" dirty="0">
                  <a:latin typeface="Arial" pitchFamily="34" charset="0"/>
                  <a:cs typeface="Arial" pitchFamily="34" charset="0"/>
                </a:rPr>
                <a:t>Beer</a:t>
              </a:r>
            </a:p>
          </p:txBody>
        </p:sp>
        <p:sp>
          <p:nvSpPr>
            <p:cNvPr id="10" name="Arc 10"/>
            <p:cNvSpPr>
              <a:spLocks/>
            </p:cNvSpPr>
            <p:nvPr/>
          </p:nvSpPr>
          <p:spPr bwMode="auto">
            <a:xfrm>
              <a:off x="2525" y="1250"/>
              <a:ext cx="2273" cy="2486"/>
            </a:xfrm>
            <a:custGeom>
              <a:avLst/>
              <a:gdLst>
                <a:gd name="T0" fmla="*/ 0 w 21415"/>
                <a:gd name="T1" fmla="*/ 0 h 21559"/>
                <a:gd name="T2" fmla="*/ 0 w 21415"/>
                <a:gd name="T3" fmla="*/ 0 h 21559"/>
                <a:gd name="T4" fmla="*/ 0 w 21415"/>
                <a:gd name="T5" fmla="*/ 0 h 21559"/>
                <a:gd name="T6" fmla="*/ 0 60000 65536"/>
                <a:gd name="T7" fmla="*/ 0 60000 65536"/>
                <a:gd name="T8" fmla="*/ 0 60000 65536"/>
                <a:gd name="T9" fmla="*/ 0 w 21415"/>
                <a:gd name="T10" fmla="*/ 0 h 21559"/>
                <a:gd name="T11" fmla="*/ 21415 w 21415"/>
                <a:gd name="T12" fmla="*/ 21559 h 21559"/>
              </a:gdLst>
              <a:ahLst/>
              <a:cxnLst>
                <a:cxn ang="T6">
                  <a:pos x="T0" y="T1"/>
                </a:cxn>
                <a:cxn ang="T7">
                  <a:pos x="T2" y="T3"/>
                </a:cxn>
                <a:cxn ang="T8">
                  <a:pos x="T4" y="T5"/>
                </a:cxn>
              </a:cxnLst>
              <a:rect l="T9" t="T10" r="T11" b="T12"/>
              <a:pathLst>
                <a:path w="21415" h="21559" fill="none" extrusionOk="0">
                  <a:moveTo>
                    <a:pt x="1324" y="-1"/>
                  </a:moveTo>
                  <a:cubicBezTo>
                    <a:pt x="11642" y="633"/>
                    <a:pt x="20064" y="8488"/>
                    <a:pt x="21414" y="18738"/>
                  </a:cubicBezTo>
                </a:path>
                <a:path w="21415" h="21559" stroke="0" extrusionOk="0">
                  <a:moveTo>
                    <a:pt x="1324" y="-1"/>
                  </a:moveTo>
                  <a:cubicBezTo>
                    <a:pt x="11642" y="633"/>
                    <a:pt x="20064" y="8488"/>
                    <a:pt x="21414" y="18738"/>
                  </a:cubicBezTo>
                  <a:lnTo>
                    <a:pt x="0" y="21559"/>
                  </a:lnTo>
                  <a:close/>
                </a:path>
              </a:pathLst>
            </a:custGeom>
            <a:noFill/>
            <a:ln w="38100">
              <a:solidFill>
                <a:srgbClr val="003366"/>
              </a:solidFill>
              <a:round/>
              <a:headEnd/>
              <a:tailEnd/>
            </a:ln>
          </p:spPr>
          <p:txBody>
            <a:bodyPr wrap="none" anchor="ctr"/>
            <a:lstStyle/>
            <a:p>
              <a:endParaRPr lang="en-US">
                <a:latin typeface="Arial" pitchFamily="34" charset="0"/>
                <a:cs typeface="Arial" pitchFamily="34" charset="0"/>
              </a:endParaRPr>
            </a:p>
          </p:txBody>
        </p:sp>
      </p:grpSp>
      <p:grpSp>
        <p:nvGrpSpPr>
          <p:cNvPr id="13" name="Group 11"/>
          <p:cNvGrpSpPr>
            <a:grpSpLocks/>
          </p:cNvGrpSpPr>
          <p:nvPr/>
        </p:nvGrpSpPr>
        <p:grpSpPr bwMode="auto">
          <a:xfrm>
            <a:off x="754063" y="1665287"/>
            <a:ext cx="3556000" cy="3908425"/>
            <a:chOff x="2802" y="935"/>
            <a:chExt cx="2301" cy="2435"/>
          </a:xfrm>
        </p:grpSpPr>
        <p:sp>
          <p:nvSpPr>
            <p:cNvPr id="14" name="Arc 12"/>
            <p:cNvSpPr>
              <a:spLocks/>
            </p:cNvSpPr>
            <p:nvPr/>
          </p:nvSpPr>
          <p:spPr bwMode="auto">
            <a:xfrm>
              <a:off x="2802" y="935"/>
              <a:ext cx="2301" cy="2435"/>
            </a:xfrm>
            <a:custGeom>
              <a:avLst/>
              <a:gdLst>
                <a:gd name="T0" fmla="*/ 0 w 20462"/>
                <a:gd name="T1" fmla="*/ 0 h 21118"/>
                <a:gd name="T2" fmla="*/ 0 w 20462"/>
                <a:gd name="T3" fmla="*/ 0 h 21118"/>
                <a:gd name="T4" fmla="*/ 0 w 20462"/>
                <a:gd name="T5" fmla="*/ 0 h 21118"/>
                <a:gd name="T6" fmla="*/ 0 60000 65536"/>
                <a:gd name="T7" fmla="*/ 0 60000 65536"/>
                <a:gd name="T8" fmla="*/ 0 60000 65536"/>
                <a:gd name="T9" fmla="*/ 0 w 20462"/>
                <a:gd name="T10" fmla="*/ 0 h 21118"/>
                <a:gd name="T11" fmla="*/ 20462 w 20462"/>
                <a:gd name="T12" fmla="*/ 21118 h 21118"/>
              </a:gdLst>
              <a:ahLst/>
              <a:cxnLst>
                <a:cxn ang="T6">
                  <a:pos x="T0" y="T1"/>
                </a:cxn>
                <a:cxn ang="T7">
                  <a:pos x="T2" y="T3"/>
                </a:cxn>
                <a:cxn ang="T8">
                  <a:pos x="T4" y="T5"/>
                </a:cxn>
              </a:cxnLst>
              <a:rect l="T9" t="T10" r="T11" b="T12"/>
              <a:pathLst>
                <a:path w="20462" h="21118" fill="none" extrusionOk="0">
                  <a:moveTo>
                    <a:pt x="4536" y="-1"/>
                  </a:moveTo>
                  <a:cubicBezTo>
                    <a:pt x="11975" y="1597"/>
                    <a:pt x="18024" y="6991"/>
                    <a:pt x="20461" y="14199"/>
                  </a:cubicBezTo>
                </a:path>
                <a:path w="20462" h="21118" stroke="0" extrusionOk="0">
                  <a:moveTo>
                    <a:pt x="4536" y="-1"/>
                  </a:moveTo>
                  <a:cubicBezTo>
                    <a:pt x="11975" y="1597"/>
                    <a:pt x="18024" y="6991"/>
                    <a:pt x="20461" y="14199"/>
                  </a:cubicBezTo>
                  <a:lnTo>
                    <a:pt x="0" y="21118"/>
                  </a:lnTo>
                  <a:close/>
                </a:path>
              </a:pathLst>
            </a:custGeom>
            <a:noFill/>
            <a:ln w="38100">
              <a:solidFill>
                <a:srgbClr val="CC0000"/>
              </a:solidFill>
              <a:round/>
              <a:headEnd/>
              <a:tailEnd/>
            </a:ln>
          </p:spPr>
          <p:txBody>
            <a:bodyPr wrap="none" anchor="ctr"/>
            <a:lstStyle/>
            <a:p>
              <a:endParaRPr lang="en-US"/>
            </a:p>
          </p:txBody>
        </p:sp>
        <p:sp>
          <p:nvSpPr>
            <p:cNvPr id="15" name="Line 13"/>
            <p:cNvSpPr>
              <a:spLocks noChangeShapeType="1"/>
            </p:cNvSpPr>
            <p:nvPr/>
          </p:nvSpPr>
          <p:spPr bwMode="auto">
            <a:xfrm rot="1980000">
              <a:off x="4045" y="1266"/>
              <a:ext cx="120" cy="0"/>
            </a:xfrm>
            <a:prstGeom prst="line">
              <a:avLst/>
            </a:prstGeom>
            <a:noFill/>
            <a:ln w="44450">
              <a:solidFill>
                <a:srgbClr val="CC0000"/>
              </a:solidFill>
              <a:round/>
              <a:headEnd/>
              <a:tailEnd type="triangle" w="lg" len="lg"/>
            </a:ln>
          </p:spPr>
          <p:txBody>
            <a:bodyPr/>
            <a:lstStyle/>
            <a:p>
              <a:endParaRPr lang="en-US"/>
            </a:p>
          </p:txBody>
        </p:sp>
        <p:sp>
          <p:nvSpPr>
            <p:cNvPr id="16" name="Line 14"/>
            <p:cNvSpPr>
              <a:spLocks noChangeShapeType="1"/>
            </p:cNvSpPr>
            <p:nvPr/>
          </p:nvSpPr>
          <p:spPr bwMode="auto">
            <a:xfrm rot="3300000">
              <a:off x="4657" y="1837"/>
              <a:ext cx="120" cy="0"/>
            </a:xfrm>
            <a:prstGeom prst="line">
              <a:avLst/>
            </a:prstGeom>
            <a:noFill/>
            <a:ln w="44450">
              <a:solidFill>
                <a:srgbClr val="CC0000"/>
              </a:solidFill>
              <a:round/>
              <a:headEnd/>
              <a:tailEnd type="triangle" w="lg" len="lg"/>
            </a:ln>
          </p:spPr>
          <p:txBody>
            <a:bodyPr/>
            <a:lstStyle/>
            <a:p>
              <a:endParaRPr lang="en-US"/>
            </a:p>
          </p:txBody>
        </p:sp>
        <p:sp>
          <p:nvSpPr>
            <p:cNvPr id="17" name="Line 15"/>
            <p:cNvSpPr>
              <a:spLocks noChangeShapeType="1"/>
            </p:cNvSpPr>
            <p:nvPr/>
          </p:nvSpPr>
          <p:spPr bwMode="auto">
            <a:xfrm rot="4260000">
              <a:off x="5031" y="2536"/>
              <a:ext cx="120" cy="0"/>
            </a:xfrm>
            <a:prstGeom prst="line">
              <a:avLst/>
            </a:prstGeom>
            <a:noFill/>
            <a:ln w="44450">
              <a:solidFill>
                <a:srgbClr val="CC0000"/>
              </a:solidFill>
              <a:round/>
              <a:headEnd/>
              <a:tailEnd type="triangle" w="lg" len="lg"/>
            </a:ln>
          </p:spPr>
          <p:txBody>
            <a:bodyPr/>
            <a:lstStyle/>
            <a:p>
              <a:endParaRPr lang="en-US"/>
            </a:p>
          </p:txBody>
        </p:sp>
      </p:grpSp>
      <p:sp>
        <p:nvSpPr>
          <p:cNvPr id="18" name="Text Placeholder 2">
            <a:extLst>
              <a:ext uri="{FF2B5EF4-FFF2-40B4-BE49-F238E27FC236}">
                <a16:creationId xmlns:a16="http://schemas.microsoft.com/office/drawing/2014/main" id="{FC0A7982-4119-C344-A713-F02CC3A1E0EE}"/>
              </a:ext>
            </a:extLst>
          </p:cNvPr>
          <p:cNvSpPr txBox="1">
            <a:spLocks/>
          </p:cNvSpPr>
          <p:nvPr/>
        </p:nvSpPr>
        <p:spPr>
          <a:xfrm>
            <a:off x="5020842" y="2487615"/>
            <a:ext cx="3858046" cy="2465385"/>
          </a:xfrm>
          <a:prstGeom prst="rect">
            <a:avLst/>
          </a:prstGeom>
        </p:spPr>
        <p:txBody>
          <a:bodyPr vert="horz" lIns="91440" tIns="45720" rIns="91440" bIns="45720" rtlCol="0">
            <a:normAutofit/>
          </a:bodyPr>
          <a:lstStyle>
            <a:lvl1pPr marL="342900" indent="-342900" algn="l" rtl="0" eaLnBrk="0" fontAlgn="base" hangingPunct="0">
              <a:spcBef>
                <a:spcPct val="20000"/>
              </a:spcBef>
              <a:spcAft>
                <a:spcPct val="0"/>
              </a:spcAft>
              <a:buChar char="•"/>
              <a:defRPr sz="30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3000">
                <a:solidFill>
                  <a:schemeClr val="tx1"/>
                </a:solidFill>
                <a:latin typeface="+mn-lt"/>
              </a:defRPr>
            </a:lvl2pPr>
            <a:lvl3pPr marL="1143000" indent="-228600" algn="l" rtl="0" eaLnBrk="0" fontAlgn="base" hangingPunct="0">
              <a:spcBef>
                <a:spcPct val="20000"/>
              </a:spcBef>
              <a:spcAft>
                <a:spcPct val="0"/>
              </a:spcAft>
              <a:buSzPct val="90000"/>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18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800" kern="0" dirty="0">
                <a:solidFill>
                  <a:srgbClr val="4E519E"/>
                </a:solidFill>
              </a:rPr>
              <a:t>PPF becomes steeper </a:t>
            </a:r>
          </a:p>
          <a:p>
            <a:r>
              <a:rPr lang="en-US" sz="2800" kern="0" dirty="0">
                <a:solidFill>
                  <a:srgbClr val="4E519E"/>
                </a:solidFill>
              </a:rPr>
              <a:t>and the opportunity cost of mountain bikes increases.</a:t>
            </a:r>
          </a:p>
          <a:p>
            <a:endParaRPr lang="en-US" sz="2800" kern="0" dirty="0"/>
          </a:p>
        </p:txBody>
      </p:sp>
      <p:sp>
        <p:nvSpPr>
          <p:cNvPr id="5" name="Footer Placeholder 4">
            <a:extLst>
              <a:ext uri="{FF2B5EF4-FFF2-40B4-BE49-F238E27FC236}">
                <a16:creationId xmlns:a16="http://schemas.microsoft.com/office/drawing/2014/main" id="{C3D8A4FF-D25C-61DF-AEB8-042F5A4344D8}"/>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1661413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1000"/>
                                        <p:tgtEl>
                                          <p:spTgt spid="13"/>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8">
                                            <p:txEl>
                                              <p:pRg st="0" end="0"/>
                                            </p:txEl>
                                          </p:spTgt>
                                        </p:tgtEl>
                                        <p:attrNameLst>
                                          <p:attrName>style.visibility</p:attrName>
                                        </p:attrNameLst>
                                      </p:cBhvr>
                                      <p:to>
                                        <p:strVal val="visible"/>
                                      </p:to>
                                    </p:set>
                                    <p:animEffect transition="in" filter="wipe(left)">
                                      <p:cBhvr>
                                        <p:cTn id="11" dur="500"/>
                                        <p:tgtEl>
                                          <p:spTgt spid="18">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18">
                                            <p:txEl>
                                              <p:pRg st="1" end="1"/>
                                            </p:txEl>
                                          </p:spTgt>
                                        </p:tgtEl>
                                        <p:attrNameLst>
                                          <p:attrName>style.visibility</p:attrName>
                                        </p:attrNameLst>
                                      </p:cBhvr>
                                      <p:to>
                                        <p:strVal val="visible"/>
                                      </p:to>
                                    </p:set>
                                    <p:animEffect transition="in" filter="wipe(left)">
                                      <p:cBhvr>
                                        <p:cTn id="15"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AE1221"/>
                </a:solidFill>
              </a:rPr>
              <a:t>Why the PPF might be bowed outward – 2 </a:t>
            </a:r>
          </a:p>
        </p:txBody>
      </p:sp>
      <p:sp>
        <p:nvSpPr>
          <p:cNvPr id="4" name="Slide Number Placeholder 3"/>
          <p:cNvSpPr>
            <a:spLocks noGrp="1"/>
          </p:cNvSpPr>
          <p:nvPr>
            <p:ph type="sldNum" sz="quarter" idx="10"/>
          </p:nvPr>
        </p:nvSpPr>
        <p:spPr>
          <a:prstGeom prst="rect">
            <a:avLst/>
          </a:prstGeom>
        </p:spPr>
        <p:txBody>
          <a:bodyPr/>
          <a:lstStyle/>
          <a:p>
            <a:pPr>
              <a:defRPr/>
            </a:pPr>
            <a:fld id="{2F37425F-5E17-4209-B948-B5CE2119E408}" type="slidenum">
              <a:rPr lang="en-US" smtClean="0"/>
              <a:pPr>
                <a:defRPr/>
              </a:pPr>
              <a:t>22</a:t>
            </a:fld>
            <a:endParaRPr lang="en-US" dirty="0"/>
          </a:p>
        </p:txBody>
      </p:sp>
      <p:sp>
        <p:nvSpPr>
          <p:cNvPr id="3" name="Text Placeholder 2"/>
          <p:cNvSpPr>
            <a:spLocks noGrp="1"/>
          </p:cNvSpPr>
          <p:nvPr>
            <p:ph idx="12"/>
          </p:nvPr>
        </p:nvSpPr>
        <p:spPr>
          <a:xfrm>
            <a:off x="4813301" y="908050"/>
            <a:ext cx="4086646" cy="5264150"/>
          </a:xfrm>
          <a:prstGeom prst="rect">
            <a:avLst/>
          </a:prstGeom>
        </p:spPr>
        <p:txBody>
          <a:bodyPr>
            <a:normAutofit/>
          </a:bodyPr>
          <a:lstStyle/>
          <a:p>
            <a:r>
              <a:rPr lang="en-US" sz="2800" dirty="0"/>
              <a:t>At point A, most workers are producing beer, </a:t>
            </a:r>
            <a:r>
              <a:rPr lang="en-US" sz="2800" dirty="0">
                <a:solidFill>
                  <a:srgbClr val="4E519E"/>
                </a:solidFill>
              </a:rPr>
              <a:t>even those who are better suited to building bikes.</a:t>
            </a:r>
          </a:p>
          <a:p>
            <a:endParaRPr lang="en-US" sz="2800" dirty="0"/>
          </a:p>
          <a:p>
            <a:r>
              <a:rPr lang="en-US" sz="2800" dirty="0"/>
              <a:t>At B, most workers are producing bikes.  </a:t>
            </a:r>
            <a:br>
              <a:rPr lang="en-US" sz="2800" dirty="0"/>
            </a:br>
            <a:r>
              <a:rPr lang="en-US" sz="2800" dirty="0">
                <a:solidFill>
                  <a:srgbClr val="4E519E"/>
                </a:solidFill>
              </a:rPr>
              <a:t>The few left in beer production are the best brewers.</a:t>
            </a:r>
          </a:p>
        </p:txBody>
      </p:sp>
      <p:sp>
        <p:nvSpPr>
          <p:cNvPr id="5" name="Footer Placeholder 4">
            <a:extLst>
              <a:ext uri="{FF2B5EF4-FFF2-40B4-BE49-F238E27FC236}">
                <a16:creationId xmlns:a16="http://schemas.microsoft.com/office/drawing/2014/main" id="{CE448245-BF19-0757-CD5E-9C8DB4D8ECCE}"/>
              </a:ext>
            </a:extLst>
          </p:cNvPr>
          <p:cNvSpPr>
            <a:spLocks noGrp="1"/>
          </p:cNvSpPr>
          <p:nvPr>
            <p:ph type="ftr" sz="quarter" idx="4294967295"/>
          </p:nvPr>
        </p:nvSpPr>
        <p:spPr>
          <a:xfrm>
            <a:off x="458789" y="6324600"/>
            <a:ext cx="8304211" cy="533400"/>
          </a:xfrm>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grpSp>
        <p:nvGrpSpPr>
          <p:cNvPr id="6" name="Group 4"/>
          <p:cNvGrpSpPr>
            <a:grpSpLocks/>
          </p:cNvGrpSpPr>
          <p:nvPr/>
        </p:nvGrpSpPr>
        <p:grpSpPr bwMode="auto">
          <a:xfrm>
            <a:off x="152400" y="1314449"/>
            <a:ext cx="4719638" cy="4781551"/>
            <a:chOff x="2332" y="906"/>
            <a:chExt cx="2973" cy="3012"/>
          </a:xfrm>
        </p:grpSpPr>
        <p:grpSp>
          <p:nvGrpSpPr>
            <p:cNvPr id="7" name="Group 5"/>
            <p:cNvGrpSpPr>
              <a:grpSpLocks/>
            </p:cNvGrpSpPr>
            <p:nvPr/>
          </p:nvGrpSpPr>
          <p:grpSpPr bwMode="auto">
            <a:xfrm>
              <a:off x="2675" y="919"/>
              <a:ext cx="2593" cy="2491"/>
              <a:chOff x="2462" y="910"/>
              <a:chExt cx="2871" cy="2379"/>
            </a:xfrm>
          </p:grpSpPr>
          <p:sp>
            <p:nvSpPr>
              <p:cNvPr id="11" name="Line 6"/>
              <p:cNvSpPr>
                <a:spLocks noChangeShapeType="1"/>
              </p:cNvSpPr>
              <p:nvPr/>
            </p:nvSpPr>
            <p:spPr bwMode="auto">
              <a:xfrm>
                <a:off x="2462" y="910"/>
                <a:ext cx="0" cy="2379"/>
              </a:xfrm>
              <a:prstGeom prst="line">
                <a:avLst/>
              </a:prstGeom>
              <a:noFill/>
              <a:ln w="28575">
                <a:solidFill>
                  <a:schemeClr val="tx1"/>
                </a:solidFill>
                <a:round/>
                <a:headEnd/>
                <a:tailEnd/>
              </a:ln>
            </p:spPr>
            <p:txBody>
              <a:bodyPr/>
              <a:lstStyle/>
              <a:p>
                <a:endParaRPr lang="en-US">
                  <a:latin typeface="Arial" pitchFamily="34" charset="0"/>
                  <a:cs typeface="Arial" pitchFamily="34" charset="0"/>
                </a:endParaRPr>
              </a:p>
            </p:txBody>
          </p:sp>
          <p:sp>
            <p:nvSpPr>
              <p:cNvPr id="12" name="Line 7"/>
              <p:cNvSpPr>
                <a:spLocks noChangeShapeType="1"/>
              </p:cNvSpPr>
              <p:nvPr/>
            </p:nvSpPr>
            <p:spPr bwMode="auto">
              <a:xfrm>
                <a:off x="2462" y="3289"/>
                <a:ext cx="2871" cy="0"/>
              </a:xfrm>
              <a:prstGeom prst="line">
                <a:avLst/>
              </a:prstGeom>
              <a:noFill/>
              <a:ln w="28575">
                <a:solidFill>
                  <a:schemeClr val="tx1"/>
                </a:solidFill>
                <a:round/>
                <a:headEnd/>
                <a:tailEnd/>
              </a:ln>
            </p:spPr>
            <p:txBody>
              <a:bodyPr/>
              <a:lstStyle/>
              <a:p>
                <a:endParaRPr lang="en-US">
                  <a:latin typeface="Arial" pitchFamily="34" charset="0"/>
                  <a:cs typeface="Arial" pitchFamily="34" charset="0"/>
                </a:endParaRPr>
              </a:p>
            </p:txBody>
          </p:sp>
        </p:grpSp>
        <p:sp>
          <p:nvSpPr>
            <p:cNvPr id="8" name="Text Box 8"/>
            <p:cNvSpPr txBox="1">
              <a:spLocks noChangeArrowheads="1"/>
            </p:cNvSpPr>
            <p:nvPr/>
          </p:nvSpPr>
          <p:spPr bwMode="auto">
            <a:xfrm>
              <a:off x="4236" y="3395"/>
              <a:ext cx="1069" cy="523"/>
            </a:xfrm>
            <a:prstGeom prst="rect">
              <a:avLst/>
            </a:prstGeom>
            <a:noFill/>
            <a:ln w="9525">
              <a:noFill/>
              <a:miter lim="800000"/>
              <a:headEnd/>
              <a:tailEnd/>
            </a:ln>
          </p:spPr>
          <p:txBody>
            <a:bodyPr>
              <a:spAutoFit/>
            </a:bodyPr>
            <a:lstStyle/>
            <a:p>
              <a:pPr algn="r">
                <a:spcBef>
                  <a:spcPct val="50000"/>
                </a:spcBef>
              </a:pPr>
              <a:r>
                <a:rPr lang="en-US" sz="2400" b="1">
                  <a:latin typeface="Arial" pitchFamily="34" charset="0"/>
                  <a:cs typeface="Arial" pitchFamily="34" charset="0"/>
                </a:rPr>
                <a:t>Mountain Bikes</a:t>
              </a:r>
            </a:p>
          </p:txBody>
        </p:sp>
        <p:sp>
          <p:nvSpPr>
            <p:cNvPr id="9" name="Text Box 9"/>
            <p:cNvSpPr txBox="1">
              <a:spLocks noChangeArrowheads="1"/>
            </p:cNvSpPr>
            <p:nvPr/>
          </p:nvSpPr>
          <p:spPr bwMode="auto">
            <a:xfrm rot="-5400000">
              <a:off x="2020" y="1218"/>
              <a:ext cx="911" cy="288"/>
            </a:xfrm>
            <a:prstGeom prst="rect">
              <a:avLst/>
            </a:prstGeom>
            <a:noFill/>
            <a:ln w="9525">
              <a:noFill/>
              <a:miter lim="800000"/>
              <a:headEnd/>
              <a:tailEnd/>
            </a:ln>
          </p:spPr>
          <p:txBody>
            <a:bodyPr>
              <a:spAutoFit/>
            </a:bodyPr>
            <a:lstStyle/>
            <a:p>
              <a:pPr algn="r">
                <a:spcBef>
                  <a:spcPct val="50000"/>
                </a:spcBef>
              </a:pPr>
              <a:r>
                <a:rPr lang="en-US" sz="2400" b="1" dirty="0">
                  <a:latin typeface="Arial" pitchFamily="34" charset="0"/>
                  <a:cs typeface="Arial" pitchFamily="34" charset="0"/>
                </a:rPr>
                <a:t>Beer</a:t>
              </a:r>
            </a:p>
          </p:txBody>
        </p:sp>
        <p:sp>
          <p:nvSpPr>
            <p:cNvPr id="10" name="Arc 10"/>
            <p:cNvSpPr>
              <a:spLocks/>
            </p:cNvSpPr>
            <p:nvPr/>
          </p:nvSpPr>
          <p:spPr bwMode="auto">
            <a:xfrm>
              <a:off x="2525" y="1250"/>
              <a:ext cx="2273" cy="2486"/>
            </a:xfrm>
            <a:custGeom>
              <a:avLst/>
              <a:gdLst>
                <a:gd name="T0" fmla="*/ 0 w 21415"/>
                <a:gd name="T1" fmla="*/ 0 h 21559"/>
                <a:gd name="T2" fmla="*/ 0 w 21415"/>
                <a:gd name="T3" fmla="*/ 0 h 21559"/>
                <a:gd name="T4" fmla="*/ 0 w 21415"/>
                <a:gd name="T5" fmla="*/ 0 h 21559"/>
                <a:gd name="T6" fmla="*/ 0 60000 65536"/>
                <a:gd name="T7" fmla="*/ 0 60000 65536"/>
                <a:gd name="T8" fmla="*/ 0 60000 65536"/>
                <a:gd name="T9" fmla="*/ 0 w 21415"/>
                <a:gd name="T10" fmla="*/ 0 h 21559"/>
                <a:gd name="T11" fmla="*/ 21415 w 21415"/>
                <a:gd name="T12" fmla="*/ 21559 h 21559"/>
              </a:gdLst>
              <a:ahLst/>
              <a:cxnLst>
                <a:cxn ang="T6">
                  <a:pos x="T0" y="T1"/>
                </a:cxn>
                <a:cxn ang="T7">
                  <a:pos x="T2" y="T3"/>
                </a:cxn>
                <a:cxn ang="T8">
                  <a:pos x="T4" y="T5"/>
                </a:cxn>
              </a:cxnLst>
              <a:rect l="T9" t="T10" r="T11" b="T12"/>
              <a:pathLst>
                <a:path w="21415" h="21559" fill="none" extrusionOk="0">
                  <a:moveTo>
                    <a:pt x="1324" y="-1"/>
                  </a:moveTo>
                  <a:cubicBezTo>
                    <a:pt x="11642" y="633"/>
                    <a:pt x="20064" y="8488"/>
                    <a:pt x="21414" y="18738"/>
                  </a:cubicBezTo>
                </a:path>
                <a:path w="21415" h="21559" stroke="0" extrusionOk="0">
                  <a:moveTo>
                    <a:pt x="1324" y="-1"/>
                  </a:moveTo>
                  <a:cubicBezTo>
                    <a:pt x="11642" y="633"/>
                    <a:pt x="20064" y="8488"/>
                    <a:pt x="21414" y="18738"/>
                  </a:cubicBezTo>
                  <a:lnTo>
                    <a:pt x="0" y="21559"/>
                  </a:lnTo>
                  <a:close/>
                </a:path>
              </a:pathLst>
            </a:custGeom>
            <a:noFill/>
            <a:ln w="38100">
              <a:solidFill>
                <a:srgbClr val="003366"/>
              </a:solidFill>
              <a:round/>
              <a:headEnd/>
              <a:tailEnd/>
            </a:ln>
          </p:spPr>
          <p:txBody>
            <a:bodyPr wrap="none" anchor="ctr"/>
            <a:lstStyle/>
            <a:p>
              <a:endParaRPr lang="en-US">
                <a:latin typeface="Arial" pitchFamily="34" charset="0"/>
                <a:cs typeface="Arial" pitchFamily="34" charset="0"/>
              </a:endParaRPr>
            </a:p>
          </p:txBody>
        </p:sp>
      </p:grpSp>
      <p:grpSp>
        <p:nvGrpSpPr>
          <p:cNvPr id="13" name="Group 12"/>
          <p:cNvGrpSpPr/>
          <p:nvPr/>
        </p:nvGrpSpPr>
        <p:grpSpPr>
          <a:xfrm>
            <a:off x="936187" y="1403349"/>
            <a:ext cx="971550" cy="825500"/>
            <a:chOff x="936187" y="1403349"/>
            <a:chExt cx="971550" cy="825500"/>
          </a:xfrm>
        </p:grpSpPr>
        <p:sp>
          <p:nvSpPr>
            <p:cNvPr id="18" name="Text Box 2"/>
            <p:cNvSpPr txBox="1">
              <a:spLocks noChangeArrowheads="1"/>
            </p:cNvSpPr>
            <p:nvPr/>
          </p:nvSpPr>
          <p:spPr bwMode="auto">
            <a:xfrm>
              <a:off x="936187" y="1403349"/>
              <a:ext cx="379413" cy="457200"/>
            </a:xfrm>
            <a:prstGeom prst="rect">
              <a:avLst/>
            </a:prstGeom>
            <a:noFill/>
            <a:ln w="9525">
              <a:noFill/>
              <a:miter lim="800000"/>
              <a:headEnd/>
              <a:tailEnd/>
            </a:ln>
          </p:spPr>
          <p:txBody>
            <a:bodyPr anchor="ctr" anchorCtr="1">
              <a:spAutoFit/>
            </a:bodyPr>
            <a:lstStyle/>
            <a:p>
              <a:pPr>
                <a:spcBef>
                  <a:spcPct val="50000"/>
                </a:spcBef>
              </a:pPr>
              <a:r>
                <a:rPr lang="en-US" sz="2400" b="1" dirty="0">
                  <a:latin typeface="Arial" pitchFamily="34" charset="0"/>
                  <a:cs typeface="Arial" pitchFamily="34" charset="0"/>
                </a:rPr>
                <a:t>A</a:t>
              </a:r>
            </a:p>
          </p:txBody>
        </p:sp>
        <p:sp>
          <p:nvSpPr>
            <p:cNvPr id="19" name="Oval 11"/>
            <p:cNvSpPr>
              <a:spLocks noChangeArrowheads="1"/>
            </p:cNvSpPr>
            <p:nvPr/>
          </p:nvSpPr>
          <p:spPr bwMode="auto">
            <a:xfrm>
              <a:off x="1052075" y="1836736"/>
              <a:ext cx="141287" cy="138113"/>
            </a:xfrm>
            <a:prstGeom prst="ellipse">
              <a:avLst/>
            </a:prstGeom>
            <a:solidFill>
              <a:srgbClr val="CC0000"/>
            </a:solidFill>
            <a:ln w="9525">
              <a:noFill/>
              <a:round/>
              <a:headEnd/>
              <a:tailEnd/>
            </a:ln>
          </p:spPr>
          <p:txBody>
            <a:bodyPr wrap="none" anchor="ctr"/>
            <a:lstStyle/>
            <a:p>
              <a:endParaRPr lang="en-US">
                <a:cs typeface="Arial" charset="0"/>
              </a:endParaRPr>
            </a:p>
          </p:txBody>
        </p:sp>
        <p:sp>
          <p:nvSpPr>
            <p:cNvPr id="20" name="Line 13"/>
            <p:cNvSpPr>
              <a:spLocks noChangeShapeType="1"/>
            </p:cNvSpPr>
            <p:nvPr/>
          </p:nvSpPr>
          <p:spPr bwMode="auto">
            <a:xfrm>
              <a:off x="1191775" y="1901824"/>
              <a:ext cx="669925" cy="0"/>
            </a:xfrm>
            <a:prstGeom prst="line">
              <a:avLst/>
            </a:prstGeom>
            <a:noFill/>
            <a:ln w="38100">
              <a:solidFill>
                <a:srgbClr val="00CC00"/>
              </a:solidFill>
              <a:round/>
              <a:headEnd/>
              <a:tailEnd type="triangle" w="lg" len="med"/>
            </a:ln>
          </p:spPr>
          <p:txBody>
            <a:bodyPr/>
            <a:lstStyle/>
            <a:p>
              <a:endParaRPr lang="en-US"/>
            </a:p>
          </p:txBody>
        </p:sp>
        <p:grpSp>
          <p:nvGrpSpPr>
            <p:cNvPr id="21" name="Group 14"/>
            <p:cNvGrpSpPr>
              <a:grpSpLocks/>
            </p:cNvGrpSpPr>
            <p:nvPr/>
          </p:nvGrpSpPr>
          <p:grpSpPr bwMode="auto">
            <a:xfrm>
              <a:off x="1766450" y="1895474"/>
              <a:ext cx="141287" cy="333375"/>
              <a:chOff x="3365" y="1285"/>
              <a:chExt cx="89" cy="210"/>
            </a:xfrm>
          </p:grpSpPr>
          <p:sp>
            <p:nvSpPr>
              <p:cNvPr id="22" name="Oval 15"/>
              <p:cNvSpPr>
                <a:spLocks noChangeArrowheads="1"/>
              </p:cNvSpPr>
              <p:nvPr/>
            </p:nvSpPr>
            <p:spPr bwMode="auto">
              <a:xfrm>
                <a:off x="3365" y="1408"/>
                <a:ext cx="89" cy="87"/>
              </a:xfrm>
              <a:prstGeom prst="ellipse">
                <a:avLst/>
              </a:prstGeom>
              <a:solidFill>
                <a:srgbClr val="CC0000"/>
              </a:solidFill>
              <a:ln w="9525">
                <a:noFill/>
                <a:round/>
                <a:headEnd/>
                <a:tailEnd/>
              </a:ln>
            </p:spPr>
            <p:txBody>
              <a:bodyPr wrap="none" anchor="ctr"/>
              <a:lstStyle/>
              <a:p>
                <a:endParaRPr lang="en-US">
                  <a:cs typeface="Arial" charset="0"/>
                </a:endParaRPr>
              </a:p>
            </p:txBody>
          </p:sp>
          <p:sp>
            <p:nvSpPr>
              <p:cNvPr id="23" name="Line 16"/>
              <p:cNvSpPr>
                <a:spLocks noChangeShapeType="1"/>
              </p:cNvSpPr>
              <p:nvPr/>
            </p:nvSpPr>
            <p:spPr bwMode="auto">
              <a:xfrm>
                <a:off x="3407" y="1285"/>
                <a:ext cx="1" cy="167"/>
              </a:xfrm>
              <a:prstGeom prst="line">
                <a:avLst/>
              </a:prstGeom>
              <a:noFill/>
              <a:ln w="38100">
                <a:solidFill>
                  <a:srgbClr val="00CC00"/>
                </a:solidFill>
                <a:round/>
                <a:headEnd/>
                <a:tailEnd type="triangle" w="lg" len="med"/>
              </a:ln>
            </p:spPr>
            <p:txBody>
              <a:bodyPr/>
              <a:lstStyle/>
              <a:p>
                <a:endParaRPr lang="en-US"/>
              </a:p>
            </p:txBody>
          </p:sp>
        </p:grpSp>
      </p:grpSp>
      <p:grpSp>
        <p:nvGrpSpPr>
          <p:cNvPr id="14" name="Group 13"/>
          <p:cNvGrpSpPr/>
          <p:nvPr/>
        </p:nvGrpSpPr>
        <p:grpSpPr>
          <a:xfrm>
            <a:off x="3241675" y="2909399"/>
            <a:ext cx="720725" cy="1641475"/>
            <a:chOff x="3241675" y="2909399"/>
            <a:chExt cx="720725" cy="1641475"/>
          </a:xfrm>
        </p:grpSpPr>
        <p:sp>
          <p:nvSpPr>
            <p:cNvPr id="25" name="Text Box 2"/>
            <p:cNvSpPr txBox="1">
              <a:spLocks noChangeArrowheads="1"/>
            </p:cNvSpPr>
            <p:nvPr/>
          </p:nvSpPr>
          <p:spPr bwMode="auto">
            <a:xfrm>
              <a:off x="3241675" y="2909399"/>
              <a:ext cx="379412" cy="457200"/>
            </a:xfrm>
            <a:prstGeom prst="rect">
              <a:avLst/>
            </a:prstGeom>
            <a:noFill/>
            <a:ln w="9525">
              <a:noFill/>
              <a:miter lim="800000"/>
              <a:headEnd/>
              <a:tailEnd/>
            </a:ln>
          </p:spPr>
          <p:txBody>
            <a:bodyPr anchor="ctr" anchorCtr="1">
              <a:spAutoFit/>
            </a:bodyPr>
            <a:lstStyle/>
            <a:p>
              <a:pPr>
                <a:spcBef>
                  <a:spcPct val="50000"/>
                </a:spcBef>
              </a:pPr>
              <a:r>
                <a:rPr lang="en-US" sz="2400" b="1">
                  <a:latin typeface="Arial" pitchFamily="34" charset="0"/>
                  <a:cs typeface="Arial" pitchFamily="34" charset="0"/>
                </a:rPr>
                <a:t>B</a:t>
              </a:r>
            </a:p>
          </p:txBody>
        </p:sp>
        <p:sp>
          <p:nvSpPr>
            <p:cNvPr id="26" name="Oval 11"/>
            <p:cNvSpPr>
              <a:spLocks noChangeArrowheads="1"/>
            </p:cNvSpPr>
            <p:nvPr/>
          </p:nvSpPr>
          <p:spPr bwMode="auto">
            <a:xfrm>
              <a:off x="3257550" y="3304686"/>
              <a:ext cx="141287" cy="138113"/>
            </a:xfrm>
            <a:prstGeom prst="ellipse">
              <a:avLst/>
            </a:prstGeom>
            <a:solidFill>
              <a:srgbClr val="CC0000"/>
            </a:solidFill>
            <a:ln w="9525">
              <a:noFill/>
              <a:round/>
              <a:headEnd/>
              <a:tailEnd/>
            </a:ln>
          </p:spPr>
          <p:txBody>
            <a:bodyPr wrap="none" anchor="ctr"/>
            <a:lstStyle/>
            <a:p>
              <a:endParaRPr lang="en-US">
                <a:cs typeface="Arial" charset="0"/>
              </a:endParaRPr>
            </a:p>
          </p:txBody>
        </p:sp>
        <p:sp>
          <p:nvSpPr>
            <p:cNvPr id="27" name="Line 13"/>
            <p:cNvSpPr>
              <a:spLocks noChangeShapeType="1"/>
            </p:cNvSpPr>
            <p:nvPr/>
          </p:nvSpPr>
          <p:spPr bwMode="auto">
            <a:xfrm>
              <a:off x="3370262" y="3369774"/>
              <a:ext cx="546100" cy="0"/>
            </a:xfrm>
            <a:prstGeom prst="line">
              <a:avLst/>
            </a:prstGeom>
            <a:noFill/>
            <a:ln w="38100">
              <a:solidFill>
                <a:srgbClr val="00CC00"/>
              </a:solidFill>
              <a:round/>
              <a:headEnd/>
              <a:tailEnd type="triangle" w="lg" len="med"/>
            </a:ln>
          </p:spPr>
          <p:txBody>
            <a:bodyPr/>
            <a:lstStyle/>
            <a:p>
              <a:endParaRPr lang="en-US"/>
            </a:p>
          </p:txBody>
        </p:sp>
        <p:grpSp>
          <p:nvGrpSpPr>
            <p:cNvPr id="28" name="Group 14"/>
            <p:cNvGrpSpPr>
              <a:grpSpLocks/>
            </p:cNvGrpSpPr>
            <p:nvPr/>
          </p:nvGrpSpPr>
          <p:grpSpPr bwMode="auto">
            <a:xfrm>
              <a:off x="3821112" y="3368186"/>
              <a:ext cx="141288" cy="1182688"/>
              <a:chOff x="4648" y="2212"/>
              <a:chExt cx="89" cy="745"/>
            </a:xfrm>
          </p:grpSpPr>
          <p:sp>
            <p:nvSpPr>
              <p:cNvPr id="29" name="Oval 15"/>
              <p:cNvSpPr>
                <a:spLocks noChangeArrowheads="1"/>
              </p:cNvSpPr>
              <p:nvPr/>
            </p:nvSpPr>
            <p:spPr bwMode="auto">
              <a:xfrm>
                <a:off x="4648" y="2870"/>
                <a:ext cx="89" cy="87"/>
              </a:xfrm>
              <a:prstGeom prst="ellipse">
                <a:avLst/>
              </a:prstGeom>
              <a:solidFill>
                <a:srgbClr val="CC0000"/>
              </a:solidFill>
              <a:ln w="9525">
                <a:noFill/>
                <a:round/>
                <a:headEnd/>
                <a:tailEnd/>
              </a:ln>
            </p:spPr>
            <p:txBody>
              <a:bodyPr wrap="none" anchor="ctr"/>
              <a:lstStyle/>
              <a:p>
                <a:endParaRPr lang="en-US">
                  <a:cs typeface="Arial" charset="0"/>
                </a:endParaRPr>
              </a:p>
            </p:txBody>
          </p:sp>
          <p:sp>
            <p:nvSpPr>
              <p:cNvPr id="30" name="Line 16"/>
              <p:cNvSpPr>
                <a:spLocks noChangeShapeType="1"/>
              </p:cNvSpPr>
              <p:nvPr/>
            </p:nvSpPr>
            <p:spPr bwMode="auto">
              <a:xfrm flipH="1">
                <a:off x="4693" y="2212"/>
                <a:ext cx="0" cy="662"/>
              </a:xfrm>
              <a:prstGeom prst="line">
                <a:avLst/>
              </a:prstGeom>
              <a:noFill/>
              <a:ln w="38100">
                <a:solidFill>
                  <a:srgbClr val="00CC00"/>
                </a:solidFill>
                <a:round/>
                <a:headEnd/>
                <a:tailEnd type="triangle" w="lg" len="med"/>
              </a:ln>
            </p:spPr>
            <p:txBody>
              <a:bodyPr/>
              <a:lstStyle/>
              <a:p>
                <a:endParaRPr lang="en-US"/>
              </a:p>
            </p:txBody>
          </p:sp>
        </p:grpSp>
      </p:grpSp>
      <p:sp>
        <p:nvSpPr>
          <p:cNvPr id="31" name="Text Box 17"/>
          <p:cNvSpPr txBox="1">
            <a:spLocks noChangeArrowheads="1"/>
          </p:cNvSpPr>
          <p:nvPr/>
        </p:nvSpPr>
        <p:spPr bwMode="auto">
          <a:xfrm>
            <a:off x="1069975" y="3833812"/>
            <a:ext cx="2359025" cy="1015663"/>
          </a:xfrm>
          <a:prstGeom prst="rect">
            <a:avLst/>
          </a:prstGeom>
          <a:noFill/>
          <a:ln w="9525">
            <a:solidFill>
              <a:srgbClr val="C00000"/>
            </a:solidFill>
            <a:miter lim="800000"/>
            <a:headEnd/>
            <a:tailEnd/>
          </a:ln>
          <a:effectLst/>
        </p:spPr>
        <p:txBody>
          <a:bodyPr>
            <a:spAutoFit/>
          </a:bodyPr>
          <a:lstStyle/>
          <a:p>
            <a:pPr>
              <a:spcBef>
                <a:spcPct val="50000"/>
              </a:spcBef>
              <a:defRPr/>
            </a:pPr>
            <a:r>
              <a:rPr lang="en-US" sz="2000" dirty="0">
                <a:solidFill>
                  <a:srgbClr val="4E519E"/>
                </a:solidFill>
                <a:latin typeface="Arial" pitchFamily="34" charset="0"/>
                <a:cs typeface="Arial" pitchFamily="34" charset="0"/>
              </a:rPr>
              <a:t>At </a:t>
            </a:r>
            <a:r>
              <a:rPr lang="en-US" sz="2000" b="1" dirty="0">
                <a:solidFill>
                  <a:srgbClr val="4E519E"/>
                </a:solidFill>
                <a:latin typeface="Arial" pitchFamily="34" charset="0"/>
                <a:cs typeface="Arial" pitchFamily="34" charset="0"/>
              </a:rPr>
              <a:t>B</a:t>
            </a:r>
            <a:r>
              <a:rPr lang="en-US" sz="2000" dirty="0">
                <a:solidFill>
                  <a:srgbClr val="4E519E"/>
                </a:solidFill>
                <a:latin typeface="Arial" pitchFamily="34" charset="0"/>
                <a:cs typeface="Arial" pitchFamily="34" charset="0"/>
              </a:rPr>
              <a:t>, opportunity cost of mountain bikes is high.</a:t>
            </a:r>
          </a:p>
        </p:txBody>
      </p:sp>
      <p:sp>
        <p:nvSpPr>
          <p:cNvPr id="32" name="Text Box 17"/>
          <p:cNvSpPr txBox="1">
            <a:spLocks noChangeArrowheads="1"/>
          </p:cNvSpPr>
          <p:nvPr/>
        </p:nvSpPr>
        <p:spPr bwMode="auto">
          <a:xfrm>
            <a:off x="1315600" y="1049406"/>
            <a:ext cx="2983379" cy="707886"/>
          </a:xfrm>
          <a:prstGeom prst="rect">
            <a:avLst/>
          </a:prstGeom>
          <a:noFill/>
          <a:ln w="9525">
            <a:solidFill>
              <a:srgbClr val="C00000"/>
            </a:solidFill>
            <a:miter lim="800000"/>
            <a:headEnd/>
            <a:tailEnd/>
          </a:ln>
          <a:effectLst/>
        </p:spPr>
        <p:txBody>
          <a:bodyPr wrap="square">
            <a:spAutoFit/>
          </a:bodyPr>
          <a:lstStyle/>
          <a:p>
            <a:pPr>
              <a:spcBef>
                <a:spcPct val="50000"/>
              </a:spcBef>
              <a:defRPr/>
            </a:pPr>
            <a:r>
              <a:rPr lang="en-US" sz="2000" dirty="0">
                <a:solidFill>
                  <a:srgbClr val="4E519E"/>
                </a:solidFill>
                <a:latin typeface="Arial" pitchFamily="34" charset="0"/>
                <a:cs typeface="Arial" pitchFamily="34" charset="0"/>
              </a:rPr>
              <a:t>At </a:t>
            </a:r>
            <a:r>
              <a:rPr lang="en-US" sz="2000" b="1" dirty="0">
                <a:solidFill>
                  <a:srgbClr val="4E519E"/>
                </a:solidFill>
                <a:latin typeface="Arial" pitchFamily="34" charset="0"/>
                <a:cs typeface="Arial" pitchFamily="34" charset="0"/>
              </a:rPr>
              <a:t>A</a:t>
            </a:r>
            <a:r>
              <a:rPr lang="en-US" sz="2000" dirty="0">
                <a:solidFill>
                  <a:srgbClr val="4E519E"/>
                </a:solidFill>
                <a:latin typeface="Arial" pitchFamily="34" charset="0"/>
                <a:cs typeface="Arial" pitchFamily="34" charset="0"/>
              </a:rPr>
              <a:t>, opportunity cost of mountain bikes is low.</a:t>
            </a:r>
          </a:p>
        </p:txBody>
      </p:sp>
    </p:spTree>
    <p:extLst>
      <p:ext uri="{BB962C8B-B14F-4D97-AF65-F5344CB8AC3E}">
        <p14:creationId xmlns:p14="http://schemas.microsoft.com/office/powerpoint/2010/main" val="521303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wipe(left)">
                                      <p:cBhvr>
                                        <p:cTn id="15" dur="500"/>
                                        <p:tgtEl>
                                          <p:spTgt spid="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left)">
                                      <p:cBhvr>
                                        <p:cTn id="20" dur="500"/>
                                        <p:tgtEl>
                                          <p:spTgt spid="14"/>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wipe(left)">
                                      <p:cBhvr>
                                        <p:cTn id="24" dur="500"/>
                                        <p:tgtEl>
                                          <p:spTgt spid="31"/>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wipe(left)">
                                      <p:cBhvr>
                                        <p:cTn id="2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1" grpId="0" animBg="1"/>
      <p:bldP spid="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400" dirty="0"/>
              <a:t>Why the PPF Might Be Bowed Outward</a:t>
            </a:r>
          </a:p>
        </p:txBody>
      </p:sp>
      <p:sp>
        <p:nvSpPr>
          <p:cNvPr id="3" name="Content Placeholder 2"/>
          <p:cNvSpPr>
            <a:spLocks noGrp="1"/>
          </p:cNvSpPr>
          <p:nvPr>
            <p:ph idx="1"/>
          </p:nvPr>
        </p:nvSpPr>
        <p:spPr/>
        <p:txBody>
          <a:bodyPr/>
          <a:lstStyle/>
          <a:p>
            <a:r>
              <a:rPr lang="en-US" dirty="0"/>
              <a:t>The PPF is bowed outward when:</a:t>
            </a:r>
          </a:p>
          <a:p>
            <a:pPr lvl="1"/>
            <a:r>
              <a:rPr lang="en-US" dirty="0"/>
              <a:t>Different workers have different skills</a:t>
            </a:r>
          </a:p>
          <a:p>
            <a:pPr lvl="1"/>
            <a:r>
              <a:rPr lang="en-US" dirty="0"/>
              <a:t>There are different opportunity costs of producing one good in terms of the other</a:t>
            </a:r>
          </a:p>
          <a:p>
            <a:pPr lvl="1"/>
            <a:r>
              <a:rPr lang="en-US" dirty="0"/>
              <a:t>There is some other resource, or mix of resources, with varying opportunity costs</a:t>
            </a:r>
          </a:p>
          <a:p>
            <a:pPr lvl="2"/>
            <a:r>
              <a:rPr lang="en-US" dirty="0"/>
              <a:t>E.g., different types of land suited for different uses</a:t>
            </a:r>
          </a:p>
          <a:p>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23</a:t>
            </a:fld>
            <a:endParaRPr lang="en-US"/>
          </a:p>
        </p:txBody>
      </p:sp>
      <p:sp>
        <p:nvSpPr>
          <p:cNvPr id="5" name="Footer Placeholder 4">
            <a:extLst>
              <a:ext uri="{FF2B5EF4-FFF2-40B4-BE49-F238E27FC236}">
                <a16:creationId xmlns:a16="http://schemas.microsoft.com/office/drawing/2014/main" id="{A325A3BD-5C75-3DE3-931F-CA0807D1BB49}"/>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93837749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wrap="square" anchor="ctr"/>
          <a:lstStyle/>
          <a:p>
            <a:pPr eaLnBrk="1" hangingPunct="1"/>
            <a:r>
              <a:rPr lang="en-US" altLang="en-US" dirty="0"/>
              <a:t>Micro- and Macroeconomics</a:t>
            </a:r>
          </a:p>
        </p:txBody>
      </p:sp>
      <p:sp>
        <p:nvSpPr>
          <p:cNvPr id="25603" name="Content Placeholder 2"/>
          <p:cNvSpPr>
            <a:spLocks noGrp="1"/>
          </p:cNvSpPr>
          <p:nvPr>
            <p:ph idx="1"/>
          </p:nvPr>
        </p:nvSpPr>
        <p:spPr/>
        <p:txBody>
          <a:bodyPr/>
          <a:lstStyle/>
          <a:p>
            <a:r>
              <a:rPr lang="en-US" altLang="en-US" dirty="0"/>
              <a:t>Microeconomics</a:t>
            </a:r>
          </a:p>
          <a:p>
            <a:pPr lvl="1"/>
            <a:r>
              <a:rPr lang="en-US" altLang="en-US" dirty="0"/>
              <a:t>The study of how households and firms make decisions and how they interact in markets</a:t>
            </a:r>
          </a:p>
          <a:p>
            <a:r>
              <a:rPr lang="en-US" altLang="en-US" dirty="0"/>
              <a:t>Macroeconomics</a:t>
            </a:r>
          </a:p>
          <a:p>
            <a:pPr lvl="1"/>
            <a:r>
              <a:rPr lang="en-US" altLang="en-US" dirty="0"/>
              <a:t>The study of economy-wide phenomena, including inflation, unemployment, and economic growth</a:t>
            </a:r>
          </a:p>
        </p:txBody>
      </p:sp>
      <p:sp>
        <p:nvSpPr>
          <p:cNvPr id="2560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38F44925-B67B-47B3-86BE-BD70E00B735D}" type="slidenum">
              <a:rPr lang="en-US" altLang="en-US" sz="1200" smtClean="0">
                <a:solidFill>
                  <a:srgbClr val="002060"/>
                </a:solidFill>
              </a:rPr>
              <a:pPr algn="ctr" eaLnBrk="1" hangingPunct="1"/>
              <a:t>24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372AA784-DAD9-2684-02A9-A3555B05F8CE}"/>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272868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wrap="square" anchor="ctr"/>
          <a:lstStyle/>
          <a:p>
            <a:pPr eaLnBrk="1" hangingPunct="1"/>
            <a:r>
              <a:rPr lang="en-US" altLang="en-US" dirty="0"/>
              <a:t>The Economist as Policy Adviser</a:t>
            </a:r>
          </a:p>
        </p:txBody>
      </p:sp>
      <p:sp>
        <p:nvSpPr>
          <p:cNvPr id="26627" name="Content Placeholder 2"/>
          <p:cNvSpPr>
            <a:spLocks noGrp="1"/>
          </p:cNvSpPr>
          <p:nvPr>
            <p:ph idx="1"/>
          </p:nvPr>
        </p:nvSpPr>
        <p:spPr/>
        <p:txBody>
          <a:bodyPr/>
          <a:lstStyle/>
          <a:p>
            <a:r>
              <a:rPr lang="en-US" altLang="en-US" dirty="0"/>
              <a:t>Economists are scientists </a:t>
            </a:r>
          </a:p>
          <a:p>
            <a:pPr lvl="1"/>
            <a:r>
              <a:rPr lang="en-US" altLang="en-US" dirty="0"/>
              <a:t>Explain the causes of economic events </a:t>
            </a:r>
          </a:p>
          <a:p>
            <a:pPr lvl="1"/>
            <a:r>
              <a:rPr lang="en-US" altLang="en-US" dirty="0"/>
              <a:t>Use positive statements </a:t>
            </a:r>
          </a:p>
          <a:p>
            <a:r>
              <a:rPr lang="en-US" altLang="en-US" dirty="0"/>
              <a:t>Economists are policy advisers</a:t>
            </a:r>
          </a:p>
          <a:p>
            <a:pPr lvl="1"/>
            <a:r>
              <a:rPr lang="en-US" altLang="en-US" dirty="0"/>
              <a:t>Recommend policies to improve economic outcomes  </a:t>
            </a:r>
          </a:p>
          <a:p>
            <a:pPr lvl="2"/>
            <a:r>
              <a:rPr lang="en-US" altLang="en-US" dirty="0"/>
              <a:t>Understanding of what’s happening </a:t>
            </a:r>
          </a:p>
          <a:p>
            <a:pPr lvl="2"/>
            <a:r>
              <a:rPr lang="en-US" altLang="en-US" dirty="0"/>
              <a:t>Value judgments about what ought to be done (use normative statements)</a:t>
            </a:r>
          </a:p>
        </p:txBody>
      </p:sp>
      <p:sp>
        <p:nvSpPr>
          <p:cNvPr id="2662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B639FC9-B438-42E9-9B7E-4529763DCBB5}" type="slidenum">
              <a:rPr lang="en-US" altLang="en-US" sz="1200" smtClean="0">
                <a:solidFill>
                  <a:srgbClr val="002060"/>
                </a:solidFill>
              </a:rPr>
              <a:pPr algn="ctr" eaLnBrk="1" hangingPunct="1"/>
              <a:t>25</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4E0A0E61-DBD1-8518-B710-3AA9BC04C95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495581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wrap="square" anchor="ctr"/>
          <a:lstStyle/>
          <a:p>
            <a:pPr eaLnBrk="1" hangingPunct="1"/>
            <a:r>
              <a:rPr lang="en-US" altLang="en-US" dirty="0"/>
              <a:t>Positive vs. Normative Statements</a:t>
            </a:r>
          </a:p>
        </p:txBody>
      </p:sp>
      <p:sp>
        <p:nvSpPr>
          <p:cNvPr id="26627" name="Content Placeholder 2"/>
          <p:cNvSpPr>
            <a:spLocks noGrp="1"/>
          </p:cNvSpPr>
          <p:nvPr>
            <p:ph idx="1"/>
          </p:nvPr>
        </p:nvSpPr>
        <p:spPr/>
        <p:txBody>
          <a:bodyPr/>
          <a:lstStyle/>
          <a:p>
            <a:r>
              <a:rPr lang="en-US" altLang="en-US" dirty="0"/>
              <a:t>Positive statements: descriptive</a:t>
            </a:r>
          </a:p>
          <a:p>
            <a:pPr lvl="1"/>
            <a:r>
              <a:rPr lang="en-US" altLang="en-US" dirty="0"/>
              <a:t>Attempt to describe the world as it is</a:t>
            </a:r>
          </a:p>
          <a:p>
            <a:pPr lvl="1"/>
            <a:r>
              <a:rPr lang="en-US" altLang="en-US" dirty="0"/>
              <a:t>Confirm or refute by examining evidence:</a:t>
            </a:r>
          </a:p>
          <a:p>
            <a:pPr lvl="2"/>
            <a:r>
              <a:rPr lang="en-US" altLang="en-US" dirty="0"/>
              <a:t> </a:t>
            </a:r>
            <a:r>
              <a:rPr lang="en-US" altLang="en-US" dirty="0">
                <a:solidFill>
                  <a:srgbClr val="4E519E"/>
                </a:solidFill>
              </a:rPr>
              <a:t>“Minimum-wage laws cause unemployment.”</a:t>
            </a:r>
          </a:p>
          <a:p>
            <a:r>
              <a:rPr lang="en-US" altLang="en-US" dirty="0"/>
              <a:t>Normative statements: prescriptive</a:t>
            </a:r>
          </a:p>
          <a:p>
            <a:pPr lvl="1"/>
            <a:r>
              <a:rPr lang="en-US" altLang="en-US" dirty="0"/>
              <a:t>Attempt to prescribe how the world should be: </a:t>
            </a:r>
          </a:p>
          <a:p>
            <a:pPr lvl="2"/>
            <a:r>
              <a:rPr lang="en-US" altLang="en-US" dirty="0">
                <a:solidFill>
                  <a:srgbClr val="4E519E"/>
                </a:solidFill>
              </a:rPr>
              <a:t>“The government should raise the minimum wage.”</a:t>
            </a:r>
          </a:p>
        </p:txBody>
      </p:sp>
      <p:sp>
        <p:nvSpPr>
          <p:cNvPr id="26629"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FB639FC9-B438-42E9-9B7E-4529763DCBB5}" type="slidenum">
              <a:rPr lang="en-US" altLang="en-US" sz="1200" smtClean="0">
                <a:solidFill>
                  <a:srgbClr val="002060"/>
                </a:solidFill>
              </a:rPr>
              <a:pPr algn="ctr" eaLnBrk="1" hangingPunct="1"/>
              <a:t>26</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4E0A0E61-DBD1-8518-B710-3AA9BC04C95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268172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2: </a:t>
            </a:r>
            <a:r>
              <a:rPr lang="en-US" dirty="0">
                <a:solidFill>
                  <a:schemeClr val="tx1"/>
                </a:solidFill>
              </a:rPr>
              <a:t>Positive or normative?</a:t>
            </a:r>
          </a:p>
        </p:txBody>
      </p:sp>
      <p:sp>
        <p:nvSpPr>
          <p:cNvPr id="3" name="Content Placeholder 2"/>
          <p:cNvSpPr>
            <a:spLocks noGrp="1"/>
          </p:cNvSpPr>
          <p:nvPr>
            <p:ph idx="1"/>
          </p:nvPr>
        </p:nvSpPr>
        <p:spPr/>
        <p:txBody>
          <a:bodyPr>
            <a:noAutofit/>
          </a:bodyPr>
          <a:lstStyle/>
          <a:p>
            <a:pPr marL="0" indent="0">
              <a:buNone/>
            </a:pPr>
            <a:r>
              <a:rPr lang="en-US" dirty="0">
                <a:solidFill>
                  <a:srgbClr val="4E519E"/>
                </a:solidFill>
              </a:rPr>
              <a:t>Which of these statements are “positive” and which are “normative”?  How can you tell the difference?</a:t>
            </a:r>
          </a:p>
          <a:p>
            <a:pPr marL="971550" lvl="1" indent="-514350">
              <a:buClr>
                <a:srgbClr val="C00000"/>
              </a:buClr>
              <a:buFont typeface="+mj-lt"/>
              <a:buAutoNum type="alphaUcPeriod"/>
            </a:pPr>
            <a:r>
              <a:rPr lang="en-US" dirty="0">
                <a:solidFill>
                  <a:schemeClr val="tx1"/>
                </a:solidFill>
              </a:rPr>
              <a:t>Prices rise when the government increases the quantity of money.  </a:t>
            </a:r>
          </a:p>
          <a:p>
            <a:pPr marL="971550" lvl="1" indent="-514350">
              <a:buClr>
                <a:srgbClr val="C00000"/>
              </a:buClr>
              <a:buFont typeface="+mj-lt"/>
              <a:buAutoNum type="alphaUcPeriod"/>
            </a:pPr>
            <a:r>
              <a:rPr lang="en-US" dirty="0">
                <a:solidFill>
                  <a:schemeClr val="tx1"/>
                </a:solidFill>
              </a:rPr>
              <a:t>The government should print less money.  </a:t>
            </a:r>
          </a:p>
          <a:p>
            <a:pPr marL="971550" lvl="1" indent="-514350">
              <a:buClr>
                <a:srgbClr val="C00000"/>
              </a:buClr>
              <a:buFont typeface="+mj-lt"/>
              <a:buAutoNum type="alphaUcPeriod"/>
            </a:pPr>
            <a:r>
              <a:rPr lang="en-US" dirty="0">
                <a:solidFill>
                  <a:schemeClr val="tx1"/>
                </a:solidFill>
              </a:rPr>
              <a:t>A tax cut is needed to stimulate the economy. </a:t>
            </a:r>
          </a:p>
          <a:p>
            <a:pPr marL="971550" lvl="1" indent="-514350">
              <a:buClr>
                <a:srgbClr val="C00000"/>
              </a:buClr>
              <a:buFont typeface="+mj-lt"/>
              <a:buAutoNum type="alphaUcPeriod"/>
            </a:pPr>
            <a:r>
              <a:rPr lang="en-US" dirty="0">
                <a:solidFill>
                  <a:schemeClr val="tx1"/>
                </a:solidFill>
              </a:rPr>
              <a:t>An increase in the price of burritos will cause an increase in consumer demand for movie streaming.</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27</a:t>
            </a:fld>
            <a:endParaRPr lang="en-US"/>
          </a:p>
        </p:txBody>
      </p:sp>
      <p:sp>
        <p:nvSpPr>
          <p:cNvPr id="5" name="Footer Placeholder 4">
            <a:extLst>
              <a:ext uri="{FF2B5EF4-FFF2-40B4-BE49-F238E27FC236}">
                <a16:creationId xmlns:a16="http://schemas.microsoft.com/office/drawing/2014/main" id="{15D24722-4A8A-6B9D-0183-CA2F904954EA}"/>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30944511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Active Learning 2: Answers</a:t>
            </a:r>
          </a:p>
        </p:txBody>
      </p:sp>
      <p:sp>
        <p:nvSpPr>
          <p:cNvPr id="3" name="Content Placeholder 2"/>
          <p:cNvSpPr>
            <a:spLocks noGrp="1"/>
          </p:cNvSpPr>
          <p:nvPr>
            <p:ph idx="1"/>
          </p:nvPr>
        </p:nvSpPr>
        <p:spPr>
          <a:xfrm>
            <a:off x="347241" y="914400"/>
            <a:ext cx="8644359" cy="5534025"/>
          </a:xfrm>
        </p:spPr>
        <p:txBody>
          <a:bodyPr>
            <a:noAutofit/>
          </a:bodyPr>
          <a:lstStyle/>
          <a:p>
            <a:pPr marL="571500" indent="-514350">
              <a:buClr>
                <a:srgbClr val="C00000"/>
              </a:buClr>
              <a:buFont typeface="+mj-lt"/>
              <a:buAutoNum type="alphaUcPeriod"/>
            </a:pPr>
            <a:r>
              <a:rPr lang="en-US" sz="2700" dirty="0">
                <a:solidFill>
                  <a:schemeClr val="tx1"/>
                </a:solidFill>
              </a:rPr>
              <a:t>Prices rise when the government increases the quantity of money. </a:t>
            </a:r>
            <a:r>
              <a:rPr lang="en-US" sz="2700" i="1" dirty="0">
                <a:solidFill>
                  <a:srgbClr val="4E519E"/>
                </a:solidFill>
              </a:rPr>
              <a:t>Positive—describes a relationship, could use data to confirm or refute.</a:t>
            </a:r>
            <a:endParaRPr lang="en-US" sz="2700" dirty="0">
              <a:solidFill>
                <a:srgbClr val="4E519E"/>
              </a:solidFill>
            </a:endParaRPr>
          </a:p>
          <a:p>
            <a:pPr marL="571500" indent="-514350">
              <a:buClr>
                <a:srgbClr val="C00000"/>
              </a:buClr>
              <a:buFont typeface="+mj-lt"/>
              <a:buAutoNum type="alphaUcPeriod"/>
            </a:pPr>
            <a:r>
              <a:rPr lang="en-US" sz="2700" dirty="0">
                <a:solidFill>
                  <a:schemeClr val="tx1"/>
                </a:solidFill>
              </a:rPr>
              <a:t>The government </a:t>
            </a:r>
            <a:r>
              <a:rPr lang="en-US" sz="2700" u="sng" dirty="0">
                <a:solidFill>
                  <a:schemeClr val="tx1"/>
                </a:solidFill>
              </a:rPr>
              <a:t>should</a:t>
            </a:r>
            <a:r>
              <a:rPr lang="en-US" sz="2700" dirty="0">
                <a:solidFill>
                  <a:schemeClr val="tx1"/>
                </a:solidFill>
              </a:rPr>
              <a:t> print less money. </a:t>
            </a:r>
            <a:r>
              <a:rPr lang="en-US" sz="2700" i="1" dirty="0">
                <a:solidFill>
                  <a:srgbClr val="4E519E"/>
                </a:solidFill>
              </a:rPr>
              <a:t>Normative—this is a value judgment; cannot be confirmed or refuted.</a:t>
            </a:r>
            <a:r>
              <a:rPr lang="en-US" sz="2700" dirty="0">
                <a:solidFill>
                  <a:srgbClr val="4E519E"/>
                </a:solidFill>
              </a:rPr>
              <a:t> </a:t>
            </a:r>
          </a:p>
          <a:p>
            <a:pPr marL="571500" indent="-514350">
              <a:buClr>
                <a:srgbClr val="C00000"/>
              </a:buClr>
              <a:buFont typeface="+mj-lt"/>
              <a:buAutoNum type="alphaUcPeriod"/>
            </a:pPr>
            <a:r>
              <a:rPr lang="en-US" sz="2700" dirty="0">
                <a:solidFill>
                  <a:schemeClr val="tx1"/>
                </a:solidFill>
              </a:rPr>
              <a:t>A tax cut is </a:t>
            </a:r>
            <a:r>
              <a:rPr lang="en-US" sz="2700" u="sng" dirty="0">
                <a:solidFill>
                  <a:schemeClr val="tx1"/>
                </a:solidFill>
              </a:rPr>
              <a:t>needed</a:t>
            </a:r>
            <a:r>
              <a:rPr lang="en-US" sz="2700" dirty="0">
                <a:solidFill>
                  <a:schemeClr val="tx1"/>
                </a:solidFill>
              </a:rPr>
              <a:t> to stimulate the economy. </a:t>
            </a:r>
            <a:r>
              <a:rPr lang="en-US" sz="2700" i="1" dirty="0">
                <a:solidFill>
                  <a:srgbClr val="4E519E"/>
                </a:solidFill>
              </a:rPr>
              <a:t>Normative—another value judgment.</a:t>
            </a:r>
            <a:endParaRPr lang="en-US" sz="2700" dirty="0">
              <a:solidFill>
                <a:srgbClr val="4E519E"/>
              </a:solidFill>
            </a:endParaRPr>
          </a:p>
          <a:p>
            <a:pPr marL="571500" indent="-514350">
              <a:buClr>
                <a:srgbClr val="C00000"/>
              </a:buClr>
              <a:buFont typeface="+mj-lt"/>
              <a:buAutoNum type="alphaUcPeriod"/>
            </a:pPr>
            <a:r>
              <a:rPr lang="en-US" sz="2700" dirty="0">
                <a:solidFill>
                  <a:schemeClr val="tx1"/>
                </a:solidFill>
              </a:rPr>
              <a:t>An increase in the price of burritos will cause an increase in consumer demand for movie streaming. </a:t>
            </a:r>
            <a:r>
              <a:rPr lang="en-US" sz="2700" i="1" dirty="0">
                <a:solidFill>
                  <a:srgbClr val="4E519E"/>
                </a:solidFill>
              </a:rPr>
              <a:t>Positive—describes a relationship.    </a:t>
            </a:r>
          </a:p>
          <a:p>
            <a:pPr marL="57150" indent="0">
              <a:buNone/>
            </a:pPr>
            <a:r>
              <a:rPr lang="en-US" sz="2700" dirty="0">
                <a:solidFill>
                  <a:srgbClr val="C00000"/>
                </a:solidFill>
              </a:rPr>
              <a:t>Note: A statement </a:t>
            </a:r>
            <a:r>
              <a:rPr lang="en-US" sz="2700" u="sng" dirty="0">
                <a:solidFill>
                  <a:srgbClr val="C00000"/>
                </a:solidFill>
              </a:rPr>
              <a:t>need not be true </a:t>
            </a:r>
            <a:r>
              <a:rPr lang="en-US" sz="2700" dirty="0">
                <a:solidFill>
                  <a:srgbClr val="C00000"/>
                </a:solidFill>
              </a:rPr>
              <a:t>to be positive.</a:t>
            </a:r>
          </a:p>
          <a:p>
            <a:pPr marL="457200" lvl="1" indent="0">
              <a:buNone/>
            </a:pPr>
            <a:endParaRPr lang="en-US" sz="2700" dirty="0">
              <a:solidFill>
                <a:srgbClr val="002060"/>
              </a:solidFill>
            </a:endParaRP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28</a:t>
            </a:fld>
            <a:endParaRPr lang="en-US"/>
          </a:p>
        </p:txBody>
      </p:sp>
      <p:sp>
        <p:nvSpPr>
          <p:cNvPr id="5" name="Footer Placeholder 4">
            <a:extLst>
              <a:ext uri="{FF2B5EF4-FFF2-40B4-BE49-F238E27FC236}">
                <a16:creationId xmlns:a16="http://schemas.microsoft.com/office/drawing/2014/main" id="{1AA097AB-4490-9396-088C-A04906787C16}"/>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23315134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Economists in Washington – 1 </a:t>
            </a:r>
          </a:p>
        </p:txBody>
      </p:sp>
      <p:sp>
        <p:nvSpPr>
          <p:cNvPr id="3" name="Content Placeholder 2"/>
          <p:cNvSpPr>
            <a:spLocks noGrp="1"/>
          </p:cNvSpPr>
          <p:nvPr>
            <p:ph idx="1"/>
          </p:nvPr>
        </p:nvSpPr>
        <p:spPr>
          <a:xfrm>
            <a:off x="277813" y="1025525"/>
            <a:ext cx="8866187" cy="5422900"/>
          </a:xfrm>
        </p:spPr>
        <p:txBody>
          <a:bodyPr/>
          <a:lstStyle/>
          <a:p>
            <a:r>
              <a:rPr lang="en-US" sz="3200" dirty="0"/>
              <a:t>Council of Economic Advisers</a:t>
            </a:r>
          </a:p>
          <a:p>
            <a:pPr lvl="1"/>
            <a:r>
              <a:rPr lang="en-US" sz="2800" dirty="0"/>
              <a:t>Advises the president </a:t>
            </a:r>
          </a:p>
          <a:p>
            <a:pPr lvl="1"/>
            <a:r>
              <a:rPr lang="en-US" sz="2800" dirty="0"/>
              <a:t>Writes the annual </a:t>
            </a:r>
            <a:r>
              <a:rPr lang="en-US" sz="2800" i="1" dirty="0"/>
              <a:t>Economic Report of the President</a:t>
            </a:r>
          </a:p>
          <a:p>
            <a:r>
              <a:rPr lang="en-US" sz="3200" dirty="0"/>
              <a:t>Economists at the Office of Management and Budget</a:t>
            </a:r>
          </a:p>
          <a:p>
            <a:pPr lvl="1"/>
            <a:r>
              <a:rPr lang="en-US" sz="2800" dirty="0"/>
              <a:t>Helps formulate spending plans and regulatory policies </a:t>
            </a:r>
          </a:p>
          <a:p>
            <a:r>
              <a:rPr lang="en-US" sz="3200" dirty="0"/>
              <a:t>Economists at the Department of the Treasury</a:t>
            </a:r>
          </a:p>
          <a:p>
            <a:pPr lvl="1"/>
            <a:r>
              <a:rPr lang="en-US" sz="2800" dirty="0"/>
              <a:t>Helps design tax policy</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29</a:t>
            </a:fld>
            <a:endParaRPr lang="en-US"/>
          </a:p>
        </p:txBody>
      </p:sp>
      <p:sp>
        <p:nvSpPr>
          <p:cNvPr id="5" name="Footer Placeholder 4">
            <a:extLst>
              <a:ext uri="{FF2B5EF4-FFF2-40B4-BE49-F238E27FC236}">
                <a16:creationId xmlns:a16="http://schemas.microsoft.com/office/drawing/2014/main" id="{601DB950-B79F-8185-D689-8628EE7AFFB3}"/>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48971346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Economists in Washington – 2 </a:t>
            </a:r>
          </a:p>
        </p:txBody>
      </p:sp>
      <p:sp>
        <p:nvSpPr>
          <p:cNvPr id="3" name="Content Placeholder 2"/>
          <p:cNvSpPr>
            <a:spLocks noGrp="1"/>
          </p:cNvSpPr>
          <p:nvPr>
            <p:ph idx="1"/>
          </p:nvPr>
        </p:nvSpPr>
        <p:spPr/>
        <p:txBody>
          <a:bodyPr/>
          <a:lstStyle/>
          <a:p>
            <a:r>
              <a:rPr lang="en-US" sz="3000" dirty="0"/>
              <a:t>Economists at the Department of Labor</a:t>
            </a:r>
          </a:p>
          <a:p>
            <a:pPr lvl="1"/>
            <a:r>
              <a:rPr lang="en-US" sz="2800" dirty="0"/>
              <a:t>Analyzes data on workers and those looking for work </a:t>
            </a:r>
          </a:p>
          <a:p>
            <a:pPr lvl="1"/>
            <a:r>
              <a:rPr lang="en-US" sz="2800" dirty="0"/>
              <a:t>Formulates labor-market policies</a:t>
            </a:r>
          </a:p>
          <a:p>
            <a:r>
              <a:rPr lang="en-US" sz="3000" dirty="0"/>
              <a:t>Economists at the Department of Justice</a:t>
            </a:r>
          </a:p>
          <a:p>
            <a:pPr lvl="1"/>
            <a:r>
              <a:rPr lang="en-US" sz="2800" dirty="0"/>
              <a:t>Enforce the nation’s antitrust laws</a:t>
            </a:r>
          </a:p>
          <a:p>
            <a:r>
              <a:rPr lang="en-US" sz="3000" dirty="0"/>
              <a:t>Congressional Budget Office</a:t>
            </a:r>
          </a:p>
          <a:p>
            <a:pPr lvl="1"/>
            <a:r>
              <a:rPr lang="en-US" sz="2800" dirty="0"/>
              <a:t>Advises the Congress</a:t>
            </a:r>
          </a:p>
          <a:p>
            <a:r>
              <a:rPr lang="en-US" sz="3000" dirty="0"/>
              <a:t>The Federal Reserve</a:t>
            </a:r>
          </a:p>
          <a:p>
            <a:pPr lvl="1"/>
            <a:r>
              <a:rPr lang="en-US" sz="2800" dirty="0"/>
              <a:t>Sets monetary policy</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30</a:t>
            </a:fld>
            <a:endParaRPr lang="en-US"/>
          </a:p>
        </p:txBody>
      </p:sp>
      <p:sp>
        <p:nvSpPr>
          <p:cNvPr id="5" name="Footer Placeholder 4">
            <a:extLst>
              <a:ext uri="{FF2B5EF4-FFF2-40B4-BE49-F238E27FC236}">
                <a16:creationId xmlns:a16="http://schemas.microsoft.com/office/drawing/2014/main" id="{6CA63281-DEB6-400E-E616-2E636DFCA75D}"/>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68761677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Why Economists’ Advice Is Often Not Followed</a:t>
            </a:r>
          </a:p>
        </p:txBody>
      </p:sp>
      <p:sp>
        <p:nvSpPr>
          <p:cNvPr id="3" name="Content Placeholder 2"/>
          <p:cNvSpPr>
            <a:spLocks noGrp="1"/>
          </p:cNvSpPr>
          <p:nvPr>
            <p:ph idx="1"/>
          </p:nvPr>
        </p:nvSpPr>
        <p:spPr/>
        <p:txBody>
          <a:bodyPr/>
          <a:lstStyle/>
          <a:p>
            <a:r>
              <a:rPr lang="en-US" dirty="0"/>
              <a:t>The president receives advice from:</a:t>
            </a:r>
          </a:p>
          <a:p>
            <a:pPr lvl="1"/>
            <a:r>
              <a:rPr lang="en-US" dirty="0"/>
              <a:t>Economists</a:t>
            </a:r>
          </a:p>
          <a:p>
            <a:pPr lvl="1"/>
            <a:r>
              <a:rPr lang="en-US" dirty="0"/>
              <a:t>Communication advisers</a:t>
            </a:r>
          </a:p>
          <a:p>
            <a:pPr lvl="1"/>
            <a:r>
              <a:rPr lang="en-US" dirty="0"/>
              <a:t>Press advisers</a:t>
            </a:r>
          </a:p>
          <a:p>
            <a:pPr lvl="1"/>
            <a:r>
              <a:rPr lang="en-US" dirty="0"/>
              <a:t>Legislative affairs advisers</a:t>
            </a:r>
          </a:p>
          <a:p>
            <a:pPr lvl="1"/>
            <a:r>
              <a:rPr lang="en-US" dirty="0"/>
              <a:t>Political advisers </a:t>
            </a:r>
          </a:p>
          <a:p>
            <a:r>
              <a:rPr lang="en-US" dirty="0"/>
              <a:t>The president makes the decision. </a:t>
            </a:r>
          </a:p>
          <a:p>
            <a:pPr lvl="1"/>
            <a:endParaRPr lang="en-US" dirty="0"/>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31</a:t>
            </a:fld>
            <a:endParaRPr lang="en-US"/>
          </a:p>
        </p:txBody>
      </p:sp>
      <p:sp>
        <p:nvSpPr>
          <p:cNvPr id="5" name="Footer Placeholder 4">
            <a:extLst>
              <a:ext uri="{FF2B5EF4-FFF2-40B4-BE49-F238E27FC236}">
                <a16:creationId xmlns:a16="http://schemas.microsoft.com/office/drawing/2014/main" id="{161A42CB-279C-2192-F3F8-88FD7C04672C}"/>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289645681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wrap="square" anchor="ctr"/>
          <a:lstStyle/>
          <a:p>
            <a:pPr eaLnBrk="1" hangingPunct="1"/>
            <a:r>
              <a:rPr lang="en-US" altLang="en-US" dirty="0"/>
              <a:t>Why Economists Disagree – 1 </a:t>
            </a:r>
          </a:p>
        </p:txBody>
      </p:sp>
      <p:sp>
        <p:nvSpPr>
          <p:cNvPr id="30723" name="Content Placeholder 2"/>
          <p:cNvSpPr>
            <a:spLocks noGrp="1"/>
          </p:cNvSpPr>
          <p:nvPr>
            <p:ph idx="1"/>
          </p:nvPr>
        </p:nvSpPr>
        <p:spPr>
          <a:xfrm>
            <a:off x="277813" y="1025525"/>
            <a:ext cx="8713787" cy="5422900"/>
          </a:xfrm>
        </p:spPr>
        <p:txBody>
          <a:bodyPr/>
          <a:lstStyle/>
          <a:p>
            <a:r>
              <a:rPr lang="en-US" altLang="en-US" dirty="0"/>
              <a:t>Economists often give conflicting policy advice:</a:t>
            </a:r>
          </a:p>
          <a:p>
            <a:pPr lvl="1"/>
            <a:r>
              <a:rPr lang="en-US" altLang="en-US" sz="3100" dirty="0"/>
              <a:t>May disagree about the validity of alternative positive theories about the world </a:t>
            </a:r>
          </a:p>
          <a:p>
            <a:pPr lvl="1"/>
            <a:r>
              <a:rPr lang="en-US" altLang="en-US" sz="3100" dirty="0"/>
              <a:t>May have different values and, therefore, different normative views about what policy should try to accomplish  </a:t>
            </a:r>
          </a:p>
          <a:p>
            <a:pPr marL="0" indent="0">
              <a:buNone/>
            </a:pPr>
            <a:r>
              <a:rPr lang="en-US" altLang="en-US" dirty="0"/>
              <a:t>Yet, there are many propositions about which most economists agree.</a:t>
            </a:r>
          </a:p>
        </p:txBody>
      </p:sp>
      <p:sp>
        <p:nvSpPr>
          <p:cNvPr id="3072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02D89629-B7EE-41CE-BDB1-20C18644E240}" type="slidenum">
              <a:rPr lang="en-US" altLang="en-US" sz="1200" smtClean="0">
                <a:solidFill>
                  <a:srgbClr val="002060"/>
                </a:solidFill>
              </a:rPr>
              <a:pPr algn="ctr" eaLnBrk="1" hangingPunct="1"/>
              <a:t>32</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49ABF605-7FF4-E0A1-AC88-08ABA2DC6F52}"/>
              </a:ext>
            </a:extLst>
          </p:cNvPr>
          <p:cNvSpPr>
            <a:spLocks noGrp="1"/>
          </p:cNvSpPr>
          <p:nvPr>
            <p:ph type="ftr" sz="quarter" idx="11"/>
          </p:nvPr>
        </p:nvSpPr>
        <p:spPr/>
        <p:txBody>
          <a:bodyPr/>
          <a:lstStyle/>
          <a:p>
            <a:pPr>
              <a:defRPr/>
            </a:pPr>
            <a:r>
              <a:rPr lang="en-US"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3209332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5157DD-597A-B4A6-066C-41AFFA0ADDD1}"/>
              </a:ext>
            </a:extLst>
          </p:cNvPr>
          <p:cNvSpPr>
            <a:spLocks noGrp="1"/>
          </p:cNvSpPr>
          <p:nvPr>
            <p:ph type="sldNum" sz="quarter" idx="10"/>
          </p:nvPr>
        </p:nvSpPr>
        <p:spPr/>
        <p:txBody>
          <a:bodyPr/>
          <a:lstStyle/>
          <a:p>
            <a:pPr fontAlgn="base">
              <a:spcAft>
                <a:spcPct val="0"/>
              </a:spcAft>
              <a:defRPr/>
            </a:pPr>
            <a:fld id="{CFA536BC-3ED5-4293-8323-16A4258B4A0B}" type="slidenum">
              <a:rPr lang="en-US" smtClean="0"/>
              <a:pPr fontAlgn="base">
                <a:spcAft>
                  <a:spcPct val="0"/>
                </a:spcAft>
                <a:defRPr/>
              </a:pPr>
              <a:t>33</a:t>
            </a:fld>
            <a:endParaRPr lang="en-US" dirty="0"/>
          </a:p>
        </p:txBody>
      </p:sp>
      <p:sp>
        <p:nvSpPr>
          <p:cNvPr id="3" name="Text Placeholder 2">
            <a:extLst>
              <a:ext uri="{FF2B5EF4-FFF2-40B4-BE49-F238E27FC236}">
                <a16:creationId xmlns:a16="http://schemas.microsoft.com/office/drawing/2014/main" id="{46ED3F61-32BB-87E1-9792-EF9786FE94E4}"/>
              </a:ext>
            </a:extLst>
          </p:cNvPr>
          <p:cNvSpPr>
            <a:spLocks noGrp="1"/>
          </p:cNvSpPr>
          <p:nvPr>
            <p:ph type="body" sz="quarter" idx="12"/>
          </p:nvPr>
        </p:nvSpPr>
        <p:spPr>
          <a:noFill/>
        </p:spPr>
        <p:txBody>
          <a:bodyPr/>
          <a:lstStyle/>
          <a:p>
            <a:r>
              <a:rPr lang="en-US" dirty="0">
                <a:latin typeface="Georgia" panose="02040502050405020303" pitchFamily="18" charset="0"/>
              </a:rPr>
              <a:t>Ticket Resale</a:t>
            </a:r>
          </a:p>
        </p:txBody>
      </p:sp>
      <p:sp>
        <p:nvSpPr>
          <p:cNvPr id="4" name="Text Placeholder 3">
            <a:extLst>
              <a:ext uri="{FF2B5EF4-FFF2-40B4-BE49-F238E27FC236}">
                <a16:creationId xmlns:a16="http://schemas.microsoft.com/office/drawing/2014/main" id="{809F6B87-B3F8-8250-8E53-0F5BB5ADAED4}"/>
              </a:ext>
            </a:extLst>
          </p:cNvPr>
          <p:cNvSpPr>
            <a:spLocks noGrp="1"/>
          </p:cNvSpPr>
          <p:nvPr>
            <p:ph type="body" sz="quarter" idx="14"/>
          </p:nvPr>
        </p:nvSpPr>
        <p:spPr>
          <a:xfrm>
            <a:off x="228600" y="1600200"/>
            <a:ext cx="8686800" cy="4572000"/>
          </a:xfrm>
        </p:spPr>
        <p:txBody>
          <a:bodyPr/>
          <a:lstStyle/>
          <a:p>
            <a:r>
              <a:rPr lang="en-US" sz="3000" dirty="0">
                <a:solidFill>
                  <a:srgbClr val="404380"/>
                </a:solidFill>
                <a:latin typeface="Georgia" panose="02040502050405020303" pitchFamily="18" charset="0"/>
              </a:rPr>
              <a:t>“Laws that limit the resale of tickets for entertainment and sports events make potential audience members for those events worse off on average.”</a:t>
            </a:r>
          </a:p>
        </p:txBody>
      </p:sp>
      <p:grpSp>
        <p:nvGrpSpPr>
          <p:cNvPr id="16" name="Group 15" descr="The data from the chart in percent are as follows. Agree: 80 percent. Disagree: 8 percent. Uncertain: 12 percent.">
            <a:extLst>
              <a:ext uri="{FF2B5EF4-FFF2-40B4-BE49-F238E27FC236}">
                <a16:creationId xmlns:a16="http://schemas.microsoft.com/office/drawing/2014/main" id="{C9355048-86F9-8D75-E312-578F762D73B6}"/>
              </a:ext>
            </a:extLst>
          </p:cNvPr>
          <p:cNvGrpSpPr/>
          <p:nvPr/>
        </p:nvGrpSpPr>
        <p:grpSpPr>
          <a:xfrm>
            <a:off x="2088405" y="3200400"/>
            <a:ext cx="6338789" cy="2916358"/>
            <a:chOff x="2209800" y="3484443"/>
            <a:chExt cx="6338789" cy="2916358"/>
          </a:xfrm>
        </p:grpSpPr>
        <p:grpSp>
          <p:nvGrpSpPr>
            <p:cNvPr id="13" name="Group 12">
              <a:extLst>
                <a:ext uri="{FF2B5EF4-FFF2-40B4-BE49-F238E27FC236}">
                  <a16:creationId xmlns:a16="http://schemas.microsoft.com/office/drawing/2014/main" id="{867525AD-1679-7F4F-E47B-5FE376C6346F}"/>
                </a:ext>
              </a:extLst>
            </p:cNvPr>
            <p:cNvGrpSpPr/>
            <p:nvPr/>
          </p:nvGrpSpPr>
          <p:grpSpPr>
            <a:xfrm>
              <a:off x="2209800" y="3484443"/>
              <a:ext cx="4648200" cy="2916358"/>
              <a:chOff x="2209800" y="3484443"/>
              <a:chExt cx="4648200" cy="2916358"/>
            </a:xfrm>
          </p:grpSpPr>
          <p:pic>
            <p:nvPicPr>
              <p:cNvPr id="10" name="Picture 9">
                <a:extLst>
                  <a:ext uri="{FF2B5EF4-FFF2-40B4-BE49-F238E27FC236}">
                    <a16:creationId xmlns:a16="http://schemas.microsoft.com/office/drawing/2014/main" id="{12E2559B-C431-291E-CC59-EE09C1B81457}"/>
                  </a:ext>
                </a:extLst>
              </p:cNvPr>
              <p:cNvPicPr>
                <a:picLocks noChangeAspect="1"/>
              </p:cNvPicPr>
              <p:nvPr/>
            </p:nvPicPr>
            <p:blipFill rotWithShape="1">
              <a:blip r:embed="rId3"/>
              <a:srcRect l="1744" t="5735" r="3301" b="2509"/>
              <a:stretch/>
            </p:blipFill>
            <p:spPr>
              <a:xfrm>
                <a:off x="2209800" y="3962401"/>
                <a:ext cx="4648200" cy="2438400"/>
              </a:xfrm>
              <a:prstGeom prst="rect">
                <a:avLst/>
              </a:prstGeom>
              <a:effectLst/>
            </p:spPr>
          </p:pic>
          <p:pic>
            <p:nvPicPr>
              <p:cNvPr id="12" name="Picture 11">
                <a:extLst>
                  <a:ext uri="{FF2B5EF4-FFF2-40B4-BE49-F238E27FC236}">
                    <a16:creationId xmlns:a16="http://schemas.microsoft.com/office/drawing/2014/main" id="{EA3946B1-AAE7-4A8A-CF69-65B7C97D750C}"/>
                  </a:ext>
                </a:extLst>
              </p:cNvPr>
              <p:cNvPicPr>
                <a:picLocks noChangeAspect="1"/>
              </p:cNvPicPr>
              <p:nvPr/>
            </p:nvPicPr>
            <p:blipFill>
              <a:blip r:embed="rId4"/>
              <a:stretch>
                <a:fillRect/>
              </a:stretch>
            </p:blipFill>
            <p:spPr>
              <a:xfrm>
                <a:off x="3352800" y="3484443"/>
                <a:ext cx="2497258" cy="422516"/>
              </a:xfrm>
              <a:prstGeom prst="rect">
                <a:avLst/>
              </a:prstGeom>
            </p:spPr>
          </p:pic>
        </p:grpSp>
        <p:pic>
          <p:nvPicPr>
            <p:cNvPr id="15" name="Picture 14">
              <a:extLst>
                <a:ext uri="{FF2B5EF4-FFF2-40B4-BE49-F238E27FC236}">
                  <a16:creationId xmlns:a16="http://schemas.microsoft.com/office/drawing/2014/main" id="{21DC5C7D-1FBD-51E7-67A3-D1258391789D}"/>
                </a:ext>
              </a:extLst>
            </p:cNvPr>
            <p:cNvPicPr>
              <a:picLocks noChangeAspect="1"/>
            </p:cNvPicPr>
            <p:nvPr/>
          </p:nvPicPr>
          <p:blipFill>
            <a:blip r:embed="rId5"/>
            <a:stretch>
              <a:fillRect/>
            </a:stretch>
          </p:blipFill>
          <p:spPr>
            <a:xfrm>
              <a:off x="5319811" y="5966671"/>
              <a:ext cx="3228778" cy="315310"/>
            </a:xfrm>
            <a:prstGeom prst="rect">
              <a:avLst/>
            </a:prstGeom>
          </p:spPr>
        </p:pic>
      </p:grpSp>
      <p:sp>
        <p:nvSpPr>
          <p:cNvPr id="6" name="TextBox 5">
            <a:extLst>
              <a:ext uri="{FF2B5EF4-FFF2-40B4-BE49-F238E27FC236}">
                <a16:creationId xmlns:a16="http://schemas.microsoft.com/office/drawing/2014/main" id="{6B31FA9E-12EE-6A31-1501-532D3B80C719}"/>
              </a:ext>
            </a:extLst>
          </p:cNvPr>
          <p:cNvSpPr txBox="1"/>
          <p:nvPr/>
        </p:nvSpPr>
        <p:spPr>
          <a:xfrm>
            <a:off x="0" y="6467475"/>
            <a:ext cx="8534400" cy="369332"/>
          </a:xfrm>
          <a:prstGeom prst="rect">
            <a:avLst/>
          </a:prstGeom>
          <a:solidFill>
            <a:schemeClr val="bg1"/>
          </a:solidFill>
        </p:spPr>
        <p:txBody>
          <a:bodyPr wrap="square" rtlCol="0">
            <a:spAutoFit/>
          </a:bodyPr>
          <a:lstStyle/>
          <a:p>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214282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wrap="square" anchor="ctr"/>
          <a:lstStyle/>
          <a:p>
            <a:pPr eaLnBrk="1" hangingPunct="1"/>
            <a:r>
              <a:rPr lang="en-US" altLang="en-US" dirty="0"/>
              <a:t>Why Economists Disagree – 2 </a:t>
            </a:r>
          </a:p>
        </p:txBody>
      </p:sp>
      <p:sp>
        <p:nvSpPr>
          <p:cNvPr id="30723" name="Content Placeholder 2"/>
          <p:cNvSpPr>
            <a:spLocks noGrp="1"/>
          </p:cNvSpPr>
          <p:nvPr>
            <p:ph idx="1"/>
          </p:nvPr>
        </p:nvSpPr>
        <p:spPr>
          <a:xfrm>
            <a:off x="277813" y="1025525"/>
            <a:ext cx="8713787" cy="5422900"/>
          </a:xfrm>
        </p:spPr>
        <p:txBody>
          <a:bodyPr/>
          <a:lstStyle/>
          <a:p>
            <a:r>
              <a:rPr lang="en-US" altLang="en-US" dirty="0"/>
              <a:t>Differences in scientific judgments</a:t>
            </a:r>
          </a:p>
          <a:p>
            <a:pPr lvl="1"/>
            <a:r>
              <a:rPr lang="en-US" altLang="en-US" dirty="0"/>
              <a:t>Different hunches about the validity of alternative theories</a:t>
            </a:r>
          </a:p>
          <a:p>
            <a:pPr lvl="1"/>
            <a:r>
              <a:rPr lang="en-US" altLang="en-US" dirty="0"/>
              <a:t>Different judgments about the size of the parameters that measure how economic variables are related</a:t>
            </a:r>
          </a:p>
          <a:p>
            <a:r>
              <a:rPr lang="en-US" altLang="en-US" dirty="0"/>
              <a:t>Differences in values or political philosophies</a:t>
            </a:r>
          </a:p>
          <a:p>
            <a:pPr lvl="1"/>
            <a:endParaRPr lang="en-US" altLang="en-US" dirty="0"/>
          </a:p>
          <a:p>
            <a:endParaRPr lang="en-US" altLang="en-US" dirty="0">
              <a:solidFill>
                <a:srgbClr val="C00000"/>
              </a:solidFill>
            </a:endParaRPr>
          </a:p>
        </p:txBody>
      </p:sp>
      <p:sp>
        <p:nvSpPr>
          <p:cNvPr id="30725" name="Slide Number Placeholder 1"/>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Lst>
        </p:spPr>
        <p:txBody>
          <a:bodyPr/>
          <a:lstStyle>
            <a:lvl1pPr algn="l" eaLnBrk="0" hangingPunct="0">
              <a:defRPr sz="3400">
                <a:solidFill>
                  <a:srgbClr val="005EA4"/>
                </a:solidFill>
                <a:latin typeface="Arial" charset="0"/>
              </a:defRPr>
            </a:lvl1pPr>
            <a:lvl2pPr marL="742950" indent="-285750" algn="l" eaLnBrk="0" hangingPunct="0">
              <a:buFont typeface="Arial" charset="0"/>
              <a:buChar char="–"/>
              <a:defRPr sz="3200">
                <a:solidFill>
                  <a:schemeClr val="tx1"/>
                </a:solidFill>
                <a:latin typeface="Arial" charset="0"/>
              </a:defRPr>
            </a:lvl2pPr>
            <a:lvl3pPr marL="1143000" indent="-228600" algn="l" eaLnBrk="0" hangingPunct="0">
              <a:buSzPct val="90000"/>
              <a:defRPr sz="2800">
                <a:solidFill>
                  <a:schemeClr val="tx1"/>
                </a:solidFill>
                <a:latin typeface="Arial" charset="0"/>
              </a:defRPr>
            </a:lvl3pPr>
            <a:lvl4pPr marL="1600200" indent="-228600" algn="l" eaLnBrk="0" hangingPunct="0">
              <a:buChar char="–"/>
              <a:defRPr sz="2400">
                <a:solidFill>
                  <a:schemeClr val="tx1"/>
                </a:solidFill>
                <a:latin typeface="Arial" charset="0"/>
              </a:defRPr>
            </a:lvl4pPr>
            <a:lvl5pPr marL="2057400" indent="-228600" algn="l" eaLnBrk="0" hangingPunct="0">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fld id="{02D89629-B7EE-41CE-BDB1-20C18644E240}" type="slidenum">
              <a:rPr lang="en-US" altLang="en-US" sz="1200" smtClean="0">
                <a:solidFill>
                  <a:srgbClr val="002060"/>
                </a:solidFill>
              </a:rPr>
              <a:pPr algn="ctr" eaLnBrk="1" hangingPunct="1"/>
              <a:t>34</a:t>
            </a:fld>
            <a:endParaRPr lang="en-US" altLang="en-US" sz="1200">
              <a:solidFill>
                <a:srgbClr val="002060"/>
              </a:solidFill>
            </a:endParaRPr>
          </a:p>
        </p:txBody>
      </p:sp>
      <p:sp>
        <p:nvSpPr>
          <p:cNvPr id="2" name="Footer Placeholder 1">
            <a:extLst>
              <a:ext uri="{FF2B5EF4-FFF2-40B4-BE49-F238E27FC236}">
                <a16:creationId xmlns:a16="http://schemas.microsoft.com/office/drawing/2014/main" id="{49ABF605-7FF4-E0A1-AC88-08ABA2DC6F5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1177558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algn="ctr"/>
            <a:r>
              <a:rPr lang="en-US" altLang="en-US" sz="2800" dirty="0">
                <a:solidFill>
                  <a:srgbClr val="AE1221"/>
                </a:solidFill>
              </a:rPr>
              <a:t>Propositions about which most economists agree – 1 </a:t>
            </a:r>
          </a:p>
        </p:txBody>
      </p:sp>
      <p:sp>
        <p:nvSpPr>
          <p:cNvPr id="34819" name="Slide Number Placeholder 1"/>
          <p:cNvSpPr>
            <a:spLocks noGrp="1"/>
          </p:cNvSpPr>
          <p:nvPr>
            <p:ph type="sldNum" sz="quarter" idx="10"/>
          </p:nvPr>
        </p:nvSpPr>
        <p:spPr>
          <a:prstGeom prst="rect">
            <a:avLst/>
          </a:prstGeom>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92051F12-2F1E-4F44-864F-5FD0E83E8309}" type="slidenum">
              <a:rPr lang="en-US" altLang="en-US" smtClean="0">
                <a:solidFill>
                  <a:srgbClr val="002060"/>
                </a:solidFill>
              </a:rPr>
              <a:pPr algn="ctr" eaLnBrk="1" hangingPunct="1"/>
              <a:t>35</a:t>
            </a:fld>
            <a:endParaRPr lang="en-US" altLang="en-US">
              <a:solidFill>
                <a:srgbClr val="002060"/>
              </a:solidFill>
            </a:endParaRPr>
          </a:p>
        </p:txBody>
      </p:sp>
      <p:sp>
        <p:nvSpPr>
          <p:cNvPr id="2" name="Text Placeholder 1"/>
          <p:cNvSpPr>
            <a:spLocks noGrp="1"/>
          </p:cNvSpPr>
          <p:nvPr>
            <p:ph idx="12"/>
          </p:nvPr>
        </p:nvSpPr>
        <p:spPr>
          <a:xfrm>
            <a:off x="223838" y="914400"/>
            <a:ext cx="8915400" cy="5257800"/>
          </a:xfrm>
          <a:prstGeom prst="rect">
            <a:avLst/>
          </a:prstGeom>
        </p:spPr>
        <p:txBody>
          <a:bodyPr>
            <a:noAutofit/>
          </a:bodyPr>
          <a:lstStyle/>
          <a:p>
            <a:pPr marL="457200" indent="-457200">
              <a:buFont typeface="Arial" panose="020B0604020202020204" pitchFamily="34" charset="0"/>
              <a:buChar char="•"/>
            </a:pPr>
            <a:r>
              <a:rPr lang="en-US" sz="2900" dirty="0"/>
              <a:t>A ceiling on rents reduces the quantity and quality of housing available. (93%)</a:t>
            </a:r>
          </a:p>
          <a:p>
            <a:pPr marL="457200" indent="-457200">
              <a:buFont typeface="Arial" panose="020B0604020202020204" pitchFamily="34" charset="0"/>
              <a:buChar char="•"/>
            </a:pPr>
            <a:r>
              <a:rPr lang="en-US" sz="2900" dirty="0">
                <a:solidFill>
                  <a:srgbClr val="4E519E"/>
                </a:solidFill>
              </a:rPr>
              <a:t>Tariffs and import quotas usually reduce general economic welfare. (93%)</a:t>
            </a:r>
          </a:p>
          <a:p>
            <a:pPr marL="457200" indent="-457200">
              <a:buFont typeface="Arial" panose="020B0604020202020204" pitchFamily="34" charset="0"/>
              <a:buChar char="•"/>
            </a:pPr>
            <a:r>
              <a:rPr lang="en-US" sz="2900" dirty="0"/>
              <a:t>The United States should not restrict employers from outsourcing work to foreign countries. (90%)</a:t>
            </a:r>
          </a:p>
          <a:p>
            <a:pPr marL="457200" indent="-457200">
              <a:buFont typeface="Arial" panose="020B0604020202020204" pitchFamily="34" charset="0"/>
              <a:buChar char="•"/>
            </a:pPr>
            <a:r>
              <a:rPr lang="en-US" sz="2900" dirty="0">
                <a:solidFill>
                  <a:srgbClr val="4E519E"/>
                </a:solidFill>
              </a:rPr>
              <a:t>The United States should eliminate agricultural subsidies. (85%)</a:t>
            </a:r>
          </a:p>
          <a:p>
            <a:pPr marL="457200" indent="-457200">
              <a:buFont typeface="Arial" panose="020B0604020202020204" pitchFamily="34" charset="0"/>
              <a:buChar char="•"/>
            </a:pPr>
            <a:r>
              <a:rPr lang="en-US" sz="2900" dirty="0"/>
              <a:t>Local and state governments should eliminate subsidies to professional sports franchises. (85%)</a:t>
            </a:r>
          </a:p>
        </p:txBody>
      </p:sp>
      <p:sp>
        <p:nvSpPr>
          <p:cNvPr id="3" name="Footer Placeholder 2">
            <a:extLst>
              <a:ext uri="{FF2B5EF4-FFF2-40B4-BE49-F238E27FC236}">
                <a16:creationId xmlns:a16="http://schemas.microsoft.com/office/drawing/2014/main" id="{D8457EF4-BC6C-B617-E2EF-1D516CD894B0}"/>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0627309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algn="ctr"/>
            <a:r>
              <a:rPr lang="en-US" altLang="en-US" sz="2800" dirty="0">
                <a:solidFill>
                  <a:srgbClr val="AE1221"/>
                </a:solidFill>
              </a:rPr>
              <a:t>Propositions about which most economists agree – 2 </a:t>
            </a:r>
          </a:p>
        </p:txBody>
      </p:sp>
      <p:sp>
        <p:nvSpPr>
          <p:cNvPr id="34819" name="Slide Number Placeholder 1"/>
          <p:cNvSpPr>
            <a:spLocks noGrp="1"/>
          </p:cNvSpPr>
          <p:nvPr>
            <p:ph type="sldNum" sz="quarter" idx="10"/>
          </p:nvPr>
        </p:nvSpPr>
        <p:spPr>
          <a:prstGeom prst="rect">
            <a:avLst/>
          </a:prstGeom>
          <a:noFill/>
          <a:ln w="9525">
            <a:prstDash val="soli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prstDash val="sysDash"/>
                <a:miter lim="800000"/>
                <a:headEnd/>
                <a:tailEnd/>
              </a14:hiddenLine>
            </a:ext>
          </a:extLst>
        </p:spPr>
        <p:txBody>
          <a:bodyPr/>
          <a:lstStyle>
            <a:lvl1pPr algn="l" eaLnBrk="0" hangingPunct="0">
              <a:defRPr>
                <a:solidFill>
                  <a:schemeClr val="tx1"/>
                </a:solidFill>
                <a:latin typeface="Arial" charset="0"/>
              </a:defRPr>
            </a:lvl1pPr>
            <a:lvl2pPr marL="742950" indent="-285750" algn="l" eaLnBrk="0" hangingPunct="0">
              <a:defRPr>
                <a:solidFill>
                  <a:schemeClr val="tx1"/>
                </a:solidFill>
                <a:latin typeface="Arial" charset="0"/>
              </a:defRPr>
            </a:lvl2pPr>
            <a:lvl3pPr marL="1143000" indent="-228600" algn="l" eaLnBrk="0" hangingPunct="0">
              <a:defRPr>
                <a:solidFill>
                  <a:schemeClr val="tx1"/>
                </a:solidFill>
                <a:latin typeface="Arial" charset="0"/>
              </a:defRPr>
            </a:lvl3pPr>
            <a:lvl4pPr marL="1600200" indent="-228600" algn="l" eaLnBrk="0" hangingPunct="0">
              <a:defRPr>
                <a:solidFill>
                  <a:schemeClr val="tx1"/>
                </a:solidFill>
                <a:latin typeface="Arial" charset="0"/>
              </a:defRPr>
            </a:lvl4pPr>
            <a:lvl5pPr marL="2057400" indent="-228600" algn="l" eaLnBrk="0" hangingPunct="0">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algn="ctr" eaLnBrk="1" hangingPunct="1"/>
            <a:fld id="{92051F12-2F1E-4F44-864F-5FD0E83E8309}" type="slidenum">
              <a:rPr lang="en-US" altLang="en-US" smtClean="0">
                <a:solidFill>
                  <a:srgbClr val="002060"/>
                </a:solidFill>
              </a:rPr>
              <a:pPr algn="ctr" eaLnBrk="1" hangingPunct="1"/>
              <a:t>36</a:t>
            </a:fld>
            <a:endParaRPr lang="en-US" altLang="en-US">
              <a:solidFill>
                <a:srgbClr val="002060"/>
              </a:solidFill>
            </a:endParaRPr>
          </a:p>
        </p:txBody>
      </p:sp>
      <p:sp>
        <p:nvSpPr>
          <p:cNvPr id="2" name="Text Placeholder 1"/>
          <p:cNvSpPr>
            <a:spLocks noGrp="1"/>
          </p:cNvSpPr>
          <p:nvPr>
            <p:ph idx="12"/>
          </p:nvPr>
        </p:nvSpPr>
        <p:spPr>
          <a:prstGeom prst="rect">
            <a:avLst/>
          </a:prstGeom>
        </p:spPr>
        <p:txBody>
          <a:bodyPr>
            <a:noAutofit/>
          </a:bodyPr>
          <a:lstStyle/>
          <a:p>
            <a:pPr marL="457200" indent="-457200">
              <a:buFont typeface="Arial" panose="020B0604020202020204" pitchFamily="34" charset="0"/>
              <a:buChar char="•"/>
            </a:pPr>
            <a:r>
              <a:rPr lang="en-US" sz="2800" dirty="0"/>
              <a:t>Cash payments increase the welfare of recipients to a greater degree than do transfers in-kind of equal cash value. (84%)</a:t>
            </a:r>
          </a:p>
          <a:p>
            <a:pPr marL="457200" indent="-457200">
              <a:buFont typeface="Arial" panose="020B0604020202020204" pitchFamily="34" charset="0"/>
              <a:buChar char="•"/>
            </a:pPr>
            <a:r>
              <a:rPr lang="en-US" sz="2800" dirty="0">
                <a:solidFill>
                  <a:srgbClr val="4E519E"/>
                </a:solidFill>
              </a:rPr>
              <a:t>A large federal budget deficit has an adverse effect on the economy. (83%)</a:t>
            </a:r>
          </a:p>
          <a:p>
            <a:pPr marL="457200" indent="-457200">
              <a:buFont typeface="Arial" panose="020B0604020202020204" pitchFamily="34" charset="0"/>
              <a:buChar char="•"/>
            </a:pPr>
            <a:r>
              <a:rPr lang="en-US" sz="2800" dirty="0"/>
              <a:t>The United States should not ban genetically modified crops. (82%)</a:t>
            </a:r>
          </a:p>
          <a:p>
            <a:pPr marL="457200" indent="-457200">
              <a:buFont typeface="Arial" panose="020B0604020202020204" pitchFamily="34" charset="0"/>
              <a:buChar char="•"/>
            </a:pPr>
            <a:r>
              <a:rPr lang="en-US" sz="2800" dirty="0">
                <a:solidFill>
                  <a:srgbClr val="4E519E"/>
                </a:solidFill>
              </a:rPr>
              <a:t>A minimum wage increases unemployment among young and unskilled workers. (79%)</a:t>
            </a:r>
          </a:p>
          <a:p>
            <a:pPr marL="457200" indent="-457200">
              <a:buFont typeface="Arial" panose="020B0604020202020204" pitchFamily="34" charset="0"/>
              <a:buChar char="•"/>
            </a:pPr>
            <a:r>
              <a:rPr lang="en-US" sz="2800" dirty="0"/>
              <a:t>Government subsidies on ethanol in the United States should be reduced or eliminated. (78%)</a:t>
            </a:r>
          </a:p>
        </p:txBody>
      </p:sp>
      <p:sp>
        <p:nvSpPr>
          <p:cNvPr id="3" name="Footer Placeholder 2">
            <a:extLst>
              <a:ext uri="{FF2B5EF4-FFF2-40B4-BE49-F238E27FC236}">
                <a16:creationId xmlns:a16="http://schemas.microsoft.com/office/drawing/2014/main" id="{BA2D158F-0BEB-AEA6-0F1D-77940E8DCE52}"/>
              </a:ext>
            </a:extLst>
          </p:cNvPr>
          <p:cNvSpPr>
            <a:spLocks noGrp="1"/>
          </p:cNvSpPr>
          <p:nvPr>
            <p:ph type="ftr" sz="quarter" idx="11"/>
          </p:nvPr>
        </p:nvSpPr>
        <p:spPr/>
        <p:txBody>
          <a:bodyPr/>
          <a:lstStyle/>
          <a:p>
            <a:pPr>
              <a:defRPr/>
            </a:pPr>
            <a:r>
              <a:rPr lang="en-US">
                <a:solidFill>
                  <a:srgbClr val="000000"/>
                </a:solidFill>
              </a:rPr>
              <a:t>Mankiw, Principles of Economics, 11th Edition. © 2027 Cengage. All Rights Reserved. May not be scanned, copied or duplicated, or posted to a publicly accessible website, in whole or in part.</a:t>
            </a:r>
            <a:endParaRPr lang="en-US" dirty="0">
              <a:solidFill>
                <a:srgbClr val="000000"/>
              </a:solidFill>
            </a:endParaRPr>
          </a:p>
        </p:txBody>
      </p:sp>
    </p:spTree>
    <p:extLst>
      <p:ext uri="{BB962C8B-B14F-4D97-AF65-F5344CB8AC3E}">
        <p14:creationId xmlns:p14="http://schemas.microsoft.com/office/powerpoint/2010/main" val="3829205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 – 1 </a:t>
            </a:r>
            <a:endParaRPr lang="en-US" dirty="0"/>
          </a:p>
        </p:txBody>
      </p:sp>
      <p:sp>
        <p:nvSpPr>
          <p:cNvPr id="6" name="Content Placeholder 5"/>
          <p:cNvSpPr>
            <a:spLocks noGrp="1"/>
          </p:cNvSpPr>
          <p:nvPr>
            <p:ph idx="1"/>
          </p:nvPr>
        </p:nvSpPr>
        <p:spPr>
          <a:xfrm>
            <a:off x="228600" y="688622"/>
            <a:ext cx="8763000" cy="5788378"/>
          </a:xfrm>
        </p:spPr>
        <p:txBody>
          <a:bodyPr/>
          <a:lstStyle/>
          <a:p>
            <a:pPr marL="0" indent="0">
              <a:buNone/>
            </a:pPr>
            <a:r>
              <a:rPr lang="en-US" sz="3100" dirty="0"/>
              <a:t>	You are watching PBS </a:t>
            </a:r>
            <a:r>
              <a:rPr lang="en-US" sz="3100" dirty="0" err="1"/>
              <a:t>NewsHour</a:t>
            </a:r>
            <a:r>
              <a:rPr lang="en-US" sz="3100" dirty="0"/>
              <a:t>. The first focus segment is a discussion of the pros and cons of free trade. For balance, there are two economists present—one in support of free trade and one opposed. </a:t>
            </a:r>
          </a:p>
          <a:p>
            <a:pPr marL="0" indent="0">
              <a:buNone/>
            </a:pPr>
            <a:r>
              <a:rPr lang="en-US" sz="3100" dirty="0"/>
              <a:t>Your roommate says, “Those economists have no idea what’s going on. They can’t agree on anything. One says free trade makes us rich. The other says it will drive us into poverty. If the experts don’t know, how is the average person ever going to know whether free trade is best?”</a:t>
            </a:r>
          </a:p>
        </p:txBody>
      </p:sp>
      <p:sp>
        <p:nvSpPr>
          <p:cNvPr id="4" name="Slide Number Placeholder 3"/>
          <p:cNvSpPr>
            <a:spLocks noGrp="1"/>
          </p:cNvSpPr>
          <p:nvPr>
            <p:ph type="sldNum" sz="quarter" idx="10"/>
          </p:nvPr>
        </p:nvSpPr>
        <p:spPr>
          <a:xfrm>
            <a:off x="8763000" y="6477000"/>
            <a:ext cx="381000" cy="381000"/>
          </a:xfrm>
        </p:spPr>
        <p:txBody>
          <a:bodyPr/>
          <a:lstStyle/>
          <a:p>
            <a:pPr>
              <a:defRPr/>
            </a:pPr>
            <a:fld id="{F9168CB8-64E8-4A17-9AA1-DC0C06686103}" type="slidenum">
              <a:rPr lang="en-US" smtClean="0"/>
              <a:pPr>
                <a:defRPr/>
              </a:pPr>
              <a:t>37</a:t>
            </a:fld>
            <a:endParaRPr lang="en-US" dirty="0"/>
          </a:p>
        </p:txBody>
      </p:sp>
      <p:sp>
        <p:nvSpPr>
          <p:cNvPr id="5" name="TextBox 4">
            <a:extLst>
              <a:ext uri="{FF2B5EF4-FFF2-40B4-BE49-F238E27FC236}">
                <a16:creationId xmlns:a16="http://schemas.microsoft.com/office/drawing/2014/main" id="{6FC8EFCB-83C3-E4FE-3F7C-16DF56CE0849}"/>
              </a:ext>
            </a:extLst>
          </p:cNvPr>
          <p:cNvSpPr txBox="1"/>
          <p:nvPr/>
        </p:nvSpPr>
        <p:spPr>
          <a:xfrm>
            <a:off x="63795" y="6482834"/>
            <a:ext cx="8382000" cy="369332"/>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3568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THINK-PAIR-SHARE – 2 </a:t>
            </a:r>
            <a:endParaRPr lang="en-US" dirty="0"/>
          </a:p>
        </p:txBody>
      </p:sp>
      <p:sp>
        <p:nvSpPr>
          <p:cNvPr id="6" name="Content Placeholder 5"/>
          <p:cNvSpPr>
            <a:spLocks noGrp="1"/>
          </p:cNvSpPr>
          <p:nvPr>
            <p:ph idx="1"/>
          </p:nvPr>
        </p:nvSpPr>
        <p:spPr>
          <a:xfrm>
            <a:off x="228600" y="838200"/>
            <a:ext cx="8763000" cy="5638800"/>
          </a:xfrm>
        </p:spPr>
        <p:txBody>
          <a:bodyPr/>
          <a:lstStyle/>
          <a:p>
            <a:pPr marL="514350" indent="-514350">
              <a:buFont typeface="+mj-lt"/>
              <a:buAutoNum type="alphaUcPeriod"/>
            </a:pPr>
            <a:r>
              <a:rPr lang="en-US" sz="2800" dirty="0">
                <a:solidFill>
                  <a:schemeClr val="tx1"/>
                </a:solidFill>
              </a:rPr>
              <a:t>Can you give your roommate any insight into why economists might disagree on this issue?</a:t>
            </a:r>
          </a:p>
          <a:p>
            <a:pPr marL="514350" indent="-514350">
              <a:buFont typeface="+mj-lt"/>
              <a:buAutoNum type="alphaUcPeriod"/>
            </a:pPr>
            <a:r>
              <a:rPr lang="en-US" sz="2800" dirty="0">
                <a:solidFill>
                  <a:schemeClr val="tx1"/>
                </a:solidFill>
              </a:rPr>
              <a:t>Suppose you discover that 93 percent of economists believe that free trade is generally best (which is the greatest agreement on any single issue). Could you now give a more precise answer as to why economists might disagree on this issue?  </a:t>
            </a:r>
          </a:p>
          <a:p>
            <a:pPr marL="514350" indent="-514350">
              <a:buFont typeface="+mj-lt"/>
              <a:buAutoNum type="alphaUcPeriod"/>
            </a:pPr>
            <a:r>
              <a:rPr lang="en-US" sz="2800" dirty="0">
                <a:solidFill>
                  <a:schemeClr val="tx1"/>
                </a:solidFill>
              </a:rPr>
              <a:t>What if you later discovered that the economist opposed to free trade worked for a labor union. Would that help you explain why there appears to be a difference of opinion on this issue? </a:t>
            </a:r>
          </a:p>
        </p:txBody>
      </p:sp>
      <p:sp>
        <p:nvSpPr>
          <p:cNvPr id="4" name="Slide Number Placeholder 3"/>
          <p:cNvSpPr>
            <a:spLocks noGrp="1"/>
          </p:cNvSpPr>
          <p:nvPr>
            <p:ph type="sldNum" sz="quarter" idx="10"/>
          </p:nvPr>
        </p:nvSpPr>
        <p:spPr/>
        <p:txBody>
          <a:bodyPr/>
          <a:lstStyle/>
          <a:p>
            <a:pPr>
              <a:defRPr/>
            </a:pPr>
            <a:fld id="{F9168CB8-64E8-4A17-9AA1-DC0C06686103}" type="slidenum">
              <a:rPr lang="en-US" smtClean="0"/>
              <a:pPr>
                <a:defRPr/>
              </a:pPr>
              <a:t>38</a:t>
            </a:fld>
            <a:endParaRPr lang="en-US" dirty="0"/>
          </a:p>
        </p:txBody>
      </p:sp>
      <p:sp>
        <p:nvSpPr>
          <p:cNvPr id="5" name="TextBox 4">
            <a:extLst>
              <a:ext uri="{FF2B5EF4-FFF2-40B4-BE49-F238E27FC236}">
                <a16:creationId xmlns:a16="http://schemas.microsoft.com/office/drawing/2014/main" id="{A74DF1A2-7DB9-989D-038F-224F3559264A}"/>
              </a:ext>
            </a:extLst>
          </p:cNvPr>
          <p:cNvSpPr txBox="1"/>
          <p:nvPr/>
        </p:nvSpPr>
        <p:spPr>
          <a:xfrm>
            <a:off x="76200" y="6475229"/>
            <a:ext cx="8359848" cy="381000"/>
          </a:xfrm>
          <a:prstGeom prst="rect">
            <a:avLst/>
          </a:prstGeom>
          <a:solidFill>
            <a:schemeClr val="bg1"/>
          </a:solidFill>
        </p:spPr>
        <p:txBody>
          <a:bodyPr wrap="square">
            <a:spAutoFit/>
          </a:bodyPr>
          <a:lstStyle/>
          <a:p>
            <a:pPr>
              <a:defRPr/>
            </a:pPr>
            <a:r>
              <a:rPr lang="en-US" sz="900" dirty="0">
                <a:solidFill>
                  <a:srgbClr val="000000"/>
                </a:solidFill>
              </a:rPr>
              <a:t>Mankiw, Principles of Economics, 11th Edition. © 2027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496760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2912" y="990600"/>
            <a:ext cx="8851088" cy="5486400"/>
          </a:xfrm>
        </p:spPr>
        <p:txBody>
          <a:bodyPr/>
          <a:lstStyle/>
          <a:p>
            <a:r>
              <a:rPr lang="en-US" sz="2800" dirty="0">
                <a:solidFill>
                  <a:srgbClr val="AE1221"/>
                </a:solidFill>
              </a:rPr>
              <a:t>Economists are scientists </a:t>
            </a:r>
            <a:r>
              <a:rPr lang="en-US" sz="2800" dirty="0"/>
              <a:t>make appropriate assumptions and build simplified models</a:t>
            </a:r>
          </a:p>
          <a:p>
            <a:pPr lvl="1"/>
            <a:r>
              <a:rPr lang="en-US" sz="2800" dirty="0"/>
              <a:t>Use the circular-flow diagram and the production possibilities frontier</a:t>
            </a:r>
          </a:p>
          <a:p>
            <a:r>
              <a:rPr lang="en-US" sz="2800" dirty="0">
                <a:solidFill>
                  <a:srgbClr val="AE1221"/>
                </a:solidFill>
              </a:rPr>
              <a:t>Microeconomists</a:t>
            </a:r>
            <a:r>
              <a:rPr lang="en-US" sz="2800" dirty="0"/>
              <a:t> study decision making by households and firms and their interactions in the marketplace. </a:t>
            </a:r>
          </a:p>
          <a:p>
            <a:r>
              <a:rPr lang="en-US" sz="2800" dirty="0">
                <a:solidFill>
                  <a:srgbClr val="AE1221"/>
                </a:solidFill>
              </a:rPr>
              <a:t>Macroeconomists</a:t>
            </a:r>
            <a:r>
              <a:rPr lang="en-US" sz="2800" dirty="0"/>
              <a:t> study the forces and trends that affect the economy as a whole.</a:t>
            </a:r>
          </a:p>
          <a:p>
            <a:r>
              <a:rPr lang="en-US" sz="2800" dirty="0">
                <a:solidFill>
                  <a:srgbClr val="AE1221"/>
                </a:solidFill>
              </a:rPr>
              <a:t>A positive statement </a:t>
            </a:r>
            <a:r>
              <a:rPr lang="en-US" sz="2800" dirty="0"/>
              <a:t>is an assertion about how the world is. (economists are scientists)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39</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4713B89B-C5E2-3B1A-AC9F-5FB5E2256C21}"/>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408109113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000" dirty="0">
                <a:solidFill>
                  <a:srgbClr val="AE1221"/>
                </a:solidFill>
              </a:rPr>
              <a:t>A normative statement </a:t>
            </a:r>
            <a:r>
              <a:rPr lang="en-US" sz="3000" dirty="0"/>
              <a:t>is an assertion about how the world ought to be. (policy advisers)</a:t>
            </a:r>
          </a:p>
          <a:p>
            <a:r>
              <a:rPr lang="en-US" sz="3000" dirty="0"/>
              <a:t>Economists sometimes offer </a:t>
            </a:r>
            <a:r>
              <a:rPr lang="en-US" sz="3000" dirty="0">
                <a:solidFill>
                  <a:srgbClr val="AE1221"/>
                </a:solidFill>
              </a:rPr>
              <a:t>conflicting advice</a:t>
            </a:r>
            <a:r>
              <a:rPr lang="en-US" sz="3000" dirty="0"/>
              <a:t>.</a:t>
            </a:r>
          </a:p>
          <a:p>
            <a:pPr lvl="1"/>
            <a:r>
              <a:rPr lang="en-US" sz="2800" dirty="0"/>
              <a:t>Differences in scientific judgments</a:t>
            </a:r>
          </a:p>
          <a:p>
            <a:pPr lvl="1"/>
            <a:r>
              <a:rPr lang="en-US" sz="2800" dirty="0"/>
              <a:t>Differences in values</a:t>
            </a:r>
          </a:p>
          <a:p>
            <a:r>
              <a:rPr lang="en-US" sz="3000" dirty="0"/>
              <a:t>Sometimes, economists are </a:t>
            </a:r>
            <a:r>
              <a:rPr lang="en-US" sz="3000" dirty="0">
                <a:solidFill>
                  <a:srgbClr val="AE1221"/>
                </a:solidFill>
              </a:rPr>
              <a:t>united in the advice </a:t>
            </a:r>
            <a:r>
              <a:rPr lang="en-US" sz="2800" dirty="0">
                <a:solidFill>
                  <a:srgbClr val="AE1221"/>
                </a:solidFill>
              </a:rPr>
              <a:t>they offer</a:t>
            </a:r>
            <a:r>
              <a:rPr lang="en-US" sz="2800" dirty="0"/>
              <a:t>, but policymakers may choose to ignore the advice because of the many forces and constraints imposed on them by the political process.</a:t>
            </a:r>
          </a:p>
        </p:txBody>
      </p:sp>
      <p:sp>
        <p:nvSpPr>
          <p:cNvPr id="4" name="Slide Number Placeholder 3"/>
          <p:cNvSpPr>
            <a:spLocks noGrp="1"/>
          </p:cNvSpPr>
          <p:nvPr>
            <p:ph type="sldNum" sz="quarter" idx="10"/>
          </p:nvPr>
        </p:nvSpPr>
        <p:spPr/>
        <p:txBody>
          <a:bodyPr/>
          <a:lstStyle/>
          <a:p>
            <a:pPr>
              <a:defRPr/>
            </a:pPr>
            <a:fld id="{073C29DC-2178-4274-9150-45F8EBD31C2D}" type="slidenum">
              <a:rPr lang="en-US" smtClean="0"/>
              <a:pPr>
                <a:defRPr/>
              </a:pPr>
              <a:t>40</a:t>
            </a:fld>
            <a:endParaRPr lang="en-US"/>
          </a:p>
        </p:txBody>
      </p:sp>
      <p:sp>
        <p:nvSpPr>
          <p:cNvPr id="2" name="Title 1"/>
          <p:cNvSpPr>
            <a:spLocks noGrp="1"/>
          </p:cNvSpPr>
          <p:nvPr>
            <p:ph type="title"/>
          </p:nvPr>
        </p:nvSpPr>
        <p:spPr/>
        <p:txBody>
          <a:bodyPr/>
          <a:lstStyle/>
          <a:p>
            <a:r>
              <a:rPr lang="en-US" dirty="0"/>
              <a:t>CHAPTER IN A NUTSHELL</a:t>
            </a:r>
          </a:p>
        </p:txBody>
      </p:sp>
      <p:sp>
        <p:nvSpPr>
          <p:cNvPr id="5" name="Footer Placeholder 4">
            <a:extLst>
              <a:ext uri="{FF2B5EF4-FFF2-40B4-BE49-F238E27FC236}">
                <a16:creationId xmlns:a16="http://schemas.microsoft.com/office/drawing/2014/main" id="{38DF53C6-51EC-84C1-2634-758F3B21119C}"/>
              </a:ext>
            </a:extLst>
          </p:cNvPr>
          <p:cNvSpPr>
            <a:spLocks noGrp="1"/>
          </p:cNvSpPr>
          <p:nvPr>
            <p:ph type="ftr" sz="quarter" idx="3"/>
          </p:nvPr>
        </p:nvSpPr>
        <p:spPr/>
        <p:txBody>
          <a:bodyPr/>
          <a:lstStyle/>
          <a:p>
            <a:pPr fontAlgn="base">
              <a:spcAft>
                <a:spcPct val="0"/>
              </a:spcAft>
              <a:defRPr/>
            </a:pPr>
            <a:r>
              <a:rPr lang="en-US"/>
              <a:t>Mankiw, Principles of Economics, 11th Edition. © 2027 Cengage. All Rights Reserved. May not be scanned, copied or duplicated, or posted to a publicly accessible website, in whole or in part.</a:t>
            </a:r>
            <a:endParaRPr lang="en-US" dirty="0"/>
          </a:p>
        </p:txBody>
      </p:sp>
    </p:spTree>
    <p:extLst>
      <p:ext uri="{BB962C8B-B14F-4D97-AF65-F5344CB8AC3E}">
        <p14:creationId xmlns:p14="http://schemas.microsoft.com/office/powerpoint/2010/main" val="2695672354"/>
      </p:ext>
    </p:extLst>
  </p:cSld>
  <p:clrMapOvr>
    <a:masterClrMapping/>
  </p:clrMapOvr>
  <p:transition/>
</p:sld>
</file>

<file path=ppt/theme/theme1.xml><?xml version="1.0" encoding="utf-8"?>
<a:theme xmlns:a="http://schemas.openxmlformats.org/drawingml/2006/main" name="1_Chapter title">
  <a:themeElements>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penSlide">
      <a:majorFont>
        <a:latin typeface="Sabon-Bol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Open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pen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pen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pen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pen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pen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pen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pen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pen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pen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pen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pen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tro / Summary">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Chapter content">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Figur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able">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ActiveLearning or Ex">
  <a:themeElements>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hapterSlid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Chapter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hapterSlid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hapterSlid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hapterSlid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hapterSlid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hapterSlid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hapterSlid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hapterSlid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hapterSlid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hapterSlid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hapterSlid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hapterSlid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Case study">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Think-Pair-Share">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Ask Experts">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Appendix">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34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30151</TotalTime>
  <Words>6195</Words>
  <Application>Microsoft Office PowerPoint</Application>
  <PresentationFormat>On-screen Show (4:3)</PresentationFormat>
  <Paragraphs>566</Paragraphs>
  <Slides>40</Slides>
  <Notes>40</Notes>
  <HiddenSlides>0</HiddenSlides>
  <MMClips>0</MMClips>
  <ScaleCrop>false</ScaleCrop>
  <HeadingPairs>
    <vt:vector size="6" baseType="variant">
      <vt:variant>
        <vt:lpstr>Fonts Used</vt:lpstr>
      </vt:variant>
      <vt:variant>
        <vt:i4>6</vt:i4>
      </vt:variant>
      <vt:variant>
        <vt:lpstr>Theme</vt:lpstr>
      </vt:variant>
      <vt:variant>
        <vt:i4>10</vt:i4>
      </vt:variant>
      <vt:variant>
        <vt:lpstr>Slide Titles</vt:lpstr>
      </vt:variant>
      <vt:variant>
        <vt:i4>40</vt:i4>
      </vt:variant>
    </vt:vector>
  </HeadingPairs>
  <TitlesOfParts>
    <vt:vector size="56" baseType="lpstr">
      <vt:lpstr>Arial</vt:lpstr>
      <vt:lpstr>Calibri</vt:lpstr>
      <vt:lpstr>Cambria</vt:lpstr>
      <vt:lpstr>Georgia</vt:lpstr>
      <vt:lpstr>Sabon-Bold</vt:lpstr>
      <vt:lpstr>Wingdings</vt:lpstr>
      <vt:lpstr>1_Chapter title</vt:lpstr>
      <vt:lpstr>Intro / Summary</vt:lpstr>
      <vt:lpstr>Chapter content</vt:lpstr>
      <vt:lpstr>Figure</vt:lpstr>
      <vt:lpstr>Table</vt:lpstr>
      <vt:lpstr>ActiveLearning or Ex</vt:lpstr>
      <vt:lpstr>Case study</vt:lpstr>
      <vt:lpstr>Think-Pair-Share</vt:lpstr>
      <vt:lpstr>Ask Experts</vt:lpstr>
      <vt:lpstr>Appendix</vt:lpstr>
      <vt:lpstr>PowerPoint Presentation</vt:lpstr>
      <vt:lpstr>IN THIS CHAPTER</vt:lpstr>
      <vt:lpstr>The Economist as a Scientist – 1 </vt:lpstr>
      <vt:lpstr>The Economist as a Scientist – 2 </vt:lpstr>
      <vt:lpstr>The Economist as a Scientist – 3 </vt:lpstr>
      <vt:lpstr>The Circular-Flow Diagram</vt:lpstr>
      <vt:lpstr>The circular flow diagram – 1 </vt:lpstr>
      <vt:lpstr>The circular flow diagram – 2 </vt:lpstr>
      <vt:lpstr>The circular flow diagram – 3 </vt:lpstr>
      <vt:lpstr>The Production Possibilities Frontier (The PPF)</vt:lpstr>
      <vt:lpstr>EXAMPLE 1: The PPF</vt:lpstr>
      <vt:lpstr>EXAMPLE 1: The PPF and output combinations</vt:lpstr>
      <vt:lpstr>EXAMPLE 1: Drawing the PPF</vt:lpstr>
      <vt:lpstr>Active Learning 1: Points off the PPF</vt:lpstr>
      <vt:lpstr>Active Learning 1: Answers</vt:lpstr>
      <vt:lpstr>The PPF: What We Know So Far</vt:lpstr>
      <vt:lpstr>Moving Along the PPF</vt:lpstr>
      <vt:lpstr>EXAMPLE 2: The PPF and opportunity cost</vt:lpstr>
      <vt:lpstr>Economic growth and the PPF</vt:lpstr>
      <vt:lpstr>The Shape of the PPF</vt:lpstr>
      <vt:lpstr>Why the PPF might be bowed outward – 1 </vt:lpstr>
      <vt:lpstr>Why the PPF might be bowed outward – 2 </vt:lpstr>
      <vt:lpstr>Why the PPF Might Be Bowed Outward</vt:lpstr>
      <vt:lpstr>Micro- and Macroeconomics</vt:lpstr>
      <vt:lpstr>The Economist as Policy Adviser</vt:lpstr>
      <vt:lpstr>Positive vs. Normative Statements</vt:lpstr>
      <vt:lpstr>Active Learning 2: Positive or normative?</vt:lpstr>
      <vt:lpstr>Active Learning 2: Answers</vt:lpstr>
      <vt:lpstr>Economists in Washington – 1 </vt:lpstr>
      <vt:lpstr>Economists in Washington – 2 </vt:lpstr>
      <vt:lpstr>Why Economists’ Advice Is Often Not Followed</vt:lpstr>
      <vt:lpstr>Why Economists Disagree – 1 </vt:lpstr>
      <vt:lpstr>PowerPoint Presentation</vt:lpstr>
      <vt:lpstr>Why Economists Disagree – 2 </vt:lpstr>
      <vt:lpstr>Propositions about which most economists agree – 1 </vt:lpstr>
      <vt:lpstr>Propositions about which most economists agree – 2 </vt:lpstr>
      <vt:lpstr>THINK-PAIR-SHARE – 1 </vt:lpstr>
      <vt:lpstr>THINK-PAIR-SHARE – 2 </vt:lpstr>
      <vt:lpstr>CHAPTER IN A NUTSHELL</vt:lpstr>
      <vt:lpstr>CHAPTER IN A NUTSHELL</vt:lpstr>
    </vt:vector>
  </TitlesOfParts>
  <Company>Eastern Illinois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Vaithianathan, Pranitha</cp:lastModifiedBy>
  <cp:revision>1279</cp:revision>
  <cp:lastPrinted>2019-05-14T19:06:14Z</cp:lastPrinted>
  <dcterms:created xsi:type="dcterms:W3CDTF">2016-03-16T19:41:09Z</dcterms:created>
  <dcterms:modified xsi:type="dcterms:W3CDTF">2026-01-20T15:00:09Z</dcterms:modified>
</cp:coreProperties>
</file>
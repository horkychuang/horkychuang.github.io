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theme/theme7.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8.xml" ContentType="application/vnd.openxmlformats-officedocument.theme+xml"/>
  <Override PartName="/ppt/slideLayouts/slideLayout18.xml" ContentType="application/vnd.openxmlformats-officedocument.presentationml.slideLayout+xml"/>
  <Override PartName="/ppt/theme/theme9.xml" ContentType="application/vnd.openxmlformats-officedocument.theme+xml"/>
  <Override PartName="/ppt/slideLayouts/slideLayout19.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59"/>
  </p:notesMasterIdLst>
  <p:handoutMasterIdLst>
    <p:handoutMasterId r:id="rId60"/>
  </p:handoutMasterIdLst>
  <p:sldIdLst>
    <p:sldId id="256" r:id="rId11"/>
    <p:sldId id="374" r:id="rId12"/>
    <p:sldId id="1520" r:id="rId13"/>
    <p:sldId id="1521" r:id="rId14"/>
    <p:sldId id="1500" r:id="rId15"/>
    <p:sldId id="1540" r:id="rId16"/>
    <p:sldId id="1541" r:id="rId17"/>
    <p:sldId id="1542" r:id="rId18"/>
    <p:sldId id="1503" r:id="rId19"/>
    <p:sldId id="1545" r:id="rId20"/>
    <p:sldId id="1543" r:id="rId21"/>
    <p:sldId id="1506" r:id="rId22"/>
    <p:sldId id="1544" r:id="rId23"/>
    <p:sldId id="1546" r:id="rId24"/>
    <p:sldId id="1509" r:id="rId25"/>
    <p:sldId id="1511" r:id="rId26"/>
    <p:sldId id="1512" r:id="rId27"/>
    <p:sldId id="1585" r:id="rId28"/>
    <p:sldId id="1514" r:id="rId29"/>
    <p:sldId id="1515" r:id="rId30"/>
    <p:sldId id="1516" r:id="rId31"/>
    <p:sldId id="1517" r:id="rId32"/>
    <p:sldId id="1518" r:id="rId33"/>
    <p:sldId id="1519" r:id="rId34"/>
    <p:sldId id="1522" r:id="rId35"/>
    <p:sldId id="1523" r:id="rId36"/>
    <p:sldId id="1524" r:id="rId37"/>
    <p:sldId id="1547" r:id="rId38"/>
    <p:sldId id="1548" r:id="rId39"/>
    <p:sldId id="1525" r:id="rId40"/>
    <p:sldId id="1526" r:id="rId41"/>
    <p:sldId id="1527" r:id="rId42"/>
    <p:sldId id="1528" r:id="rId43"/>
    <p:sldId id="1529" r:id="rId44"/>
    <p:sldId id="1587" r:id="rId45"/>
    <p:sldId id="1530" r:id="rId46"/>
    <p:sldId id="1588" r:id="rId47"/>
    <p:sldId id="1591" r:id="rId48"/>
    <p:sldId id="1592" r:id="rId49"/>
    <p:sldId id="1589" r:id="rId50"/>
    <p:sldId id="1595" r:id="rId51"/>
    <p:sldId id="1594" r:id="rId52"/>
    <p:sldId id="1533" r:id="rId53"/>
    <p:sldId id="1534" r:id="rId54"/>
    <p:sldId id="1590" r:id="rId55"/>
    <p:sldId id="1435" r:id="rId56"/>
    <p:sldId id="1593" r:id="rId57"/>
    <p:sldId id="1549" r:id="rId58"/>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1221"/>
    <a:srgbClr val="4E519E"/>
    <a:srgbClr val="D8EEC0"/>
    <a:srgbClr val="FFCCCC"/>
    <a:srgbClr val="E3F0FA"/>
    <a:srgbClr val="9BB3FF"/>
    <a:srgbClr val="F45006"/>
    <a:srgbClr val="CCFFCC"/>
    <a:srgbClr val="0000FF"/>
    <a:srgbClr val="D0D1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5386FA-DFB9-4EA4-8378-863F74E6775E}" v="7" dt="2026-01-15T21:50:42.9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77729" autoAdjust="0"/>
  </p:normalViewPr>
  <p:slideViewPr>
    <p:cSldViewPr>
      <p:cViewPr varScale="1">
        <p:scale>
          <a:sx n="49" d="100"/>
          <a:sy n="49" d="100"/>
        </p:scale>
        <p:origin x="1792" y="44"/>
      </p:cViewPr>
      <p:guideLst>
        <p:guide orient="horz" pos="2160"/>
        <p:guide pos="2880"/>
      </p:guideLst>
    </p:cSldViewPr>
  </p:slideViewPr>
  <p:outlineViewPr>
    <p:cViewPr>
      <p:scale>
        <a:sx n="33" d="100"/>
        <a:sy n="33" d="100"/>
      </p:scale>
      <p:origin x="0" y="-42888"/>
    </p:cViewPr>
  </p:outlineViewPr>
  <p:notesTextViewPr>
    <p:cViewPr>
      <p:scale>
        <a:sx n="125" d="100"/>
        <a:sy n="125" d="100"/>
      </p:scale>
      <p:origin x="0" y="0"/>
    </p:cViewPr>
  </p:notesTextViewPr>
  <p:sorterViewPr>
    <p:cViewPr>
      <p:scale>
        <a:sx n="130" d="100"/>
        <a:sy n="130" d="100"/>
      </p:scale>
      <p:origin x="0" y="-12931"/>
    </p:cViewPr>
  </p:sorterViewPr>
  <p:notesViewPr>
    <p:cSldViewPr>
      <p:cViewPr>
        <p:scale>
          <a:sx n="60" d="100"/>
          <a:sy n="60" d="100"/>
        </p:scale>
        <p:origin x="4216" y="121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microsoft.com/office/2015/10/relationships/revisionInfo" Target="revisionInfo.xml"/><Relationship Id="rId5" Type="http://schemas.openxmlformats.org/officeDocument/2006/relationships/slideMaster" Target="slideMasters/slideMaster5.xml"/><Relationship Id="rId61" Type="http://schemas.openxmlformats.org/officeDocument/2006/relationships/presProps" Target="presProps.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notesMaster" Target="notesMasters/notesMaster1.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undo custSel modSld modMainMaster">
      <pc:chgData name="Aucoin, Shannon" userId="3f4e7fc1-6c2e-4059-b6c3-22af03bf749a" providerId="ADAL" clId="{E0921B5F-CAE8-4497-A9EF-24510461A92C}" dt="2026-01-15T21:51:09.021" v="12" actId="1076"/>
      <pc:docMkLst>
        <pc:docMk/>
      </pc:docMkLst>
      <pc:sldChg chg="modSp mod">
        <pc:chgData name="Aucoin, Shannon" userId="3f4e7fc1-6c2e-4059-b6c3-22af03bf749a" providerId="ADAL" clId="{E0921B5F-CAE8-4497-A9EF-24510461A92C}" dt="2026-01-15T21:51:09.021" v="12" actId="1076"/>
        <pc:sldMkLst>
          <pc:docMk/>
          <pc:sldMk cId="2962300543" sldId="256"/>
        </pc:sldMkLst>
        <pc:spChg chg="mod">
          <ac:chgData name="Aucoin, Shannon" userId="3f4e7fc1-6c2e-4059-b6c3-22af03bf749a" providerId="ADAL" clId="{E0921B5F-CAE8-4497-A9EF-24510461A92C}" dt="2026-01-15T21:50:17.814" v="4"/>
          <ac:spMkLst>
            <pc:docMk/>
            <pc:sldMk cId="2962300543" sldId="256"/>
            <ac:spMk id="6" creationId="{00000000-0000-0000-0000-000000000000}"/>
          </ac:spMkLst>
        </pc:spChg>
        <pc:spChg chg="mod">
          <ac:chgData name="Aucoin, Shannon" userId="3f4e7fc1-6c2e-4059-b6c3-22af03bf749a" providerId="ADAL" clId="{E0921B5F-CAE8-4497-A9EF-24510461A92C}" dt="2026-01-15T21:51:06.132" v="11" actId="1076"/>
          <ac:spMkLst>
            <pc:docMk/>
            <pc:sldMk cId="2962300543" sldId="256"/>
            <ac:spMk id="8" creationId="{00000000-0000-0000-0000-000000000000}"/>
          </ac:spMkLst>
        </pc:spChg>
        <pc:spChg chg="mod">
          <ac:chgData name="Aucoin, Shannon" userId="3f4e7fc1-6c2e-4059-b6c3-22af03bf749a" providerId="ADAL" clId="{E0921B5F-CAE8-4497-A9EF-24510461A92C}" dt="2026-01-15T21:51:09.021" v="12" actId="1076"/>
          <ac:spMkLst>
            <pc:docMk/>
            <pc:sldMk cId="2962300543" sldId="256"/>
            <ac:spMk id="9" creationId="{00000000-0000-0000-0000-000000000000}"/>
          </ac:spMkLst>
        </pc:spChg>
      </pc:sldChg>
      <pc:sldMasterChg chg="addSp delSp mod modSldLayout">
        <pc:chgData name="Aucoin, Shannon" userId="3f4e7fc1-6c2e-4059-b6c3-22af03bf749a" providerId="ADAL" clId="{E0921B5F-CAE8-4497-A9EF-24510461A92C}" dt="2026-01-15T21:50:11.016" v="3" actId="22"/>
        <pc:sldMasterMkLst>
          <pc:docMk/>
          <pc:sldMasterMk cId="3130776066" sldId="2147483660"/>
        </pc:sldMasterMkLst>
        <pc:spChg chg="add del">
          <ac:chgData name="Aucoin, Shannon" userId="3f4e7fc1-6c2e-4059-b6c3-22af03bf749a" providerId="ADAL" clId="{E0921B5F-CAE8-4497-A9EF-24510461A92C}" dt="2026-01-15T21:50:11.016" v="3" actId="22"/>
          <ac:spMkLst>
            <pc:docMk/>
            <pc:sldMasterMk cId="3130776066" sldId="2147483660"/>
            <ac:spMk id="5" creationId="{E5BD7193-6A4E-5C60-7E2C-7E692A54241D}"/>
          </ac:spMkLst>
        </pc:spChg>
        <pc:sldLayoutChg chg="addSp delSp mod">
          <pc:chgData name="Aucoin, Shannon" userId="3f4e7fc1-6c2e-4059-b6c3-22af03bf749a" providerId="ADAL" clId="{E0921B5F-CAE8-4497-A9EF-24510461A92C}" dt="2026-01-15T21:50:06.975" v="1" actId="22"/>
          <pc:sldLayoutMkLst>
            <pc:docMk/>
            <pc:sldMasterMk cId="3130776066" sldId="2147483660"/>
            <pc:sldLayoutMk cId="2757052415" sldId="2147483689"/>
          </pc:sldLayoutMkLst>
          <pc:spChg chg="add del">
            <ac:chgData name="Aucoin, Shannon" userId="3f4e7fc1-6c2e-4059-b6c3-22af03bf749a" providerId="ADAL" clId="{E0921B5F-CAE8-4497-A9EF-24510461A92C}" dt="2026-01-15T21:50:06.975" v="1" actId="22"/>
            <ac:spMkLst>
              <pc:docMk/>
              <pc:sldMasterMk cId="3130776066" sldId="2147483660"/>
              <pc:sldLayoutMk cId="2757052415" sldId="2147483689"/>
              <ac:spMk id="5" creationId="{647F408B-F5DB-AC75-43BC-58E55CDDD7CB}"/>
            </ac:spMkLst>
          </pc:spChg>
        </pc:sldLayoutChg>
      </pc:sldMasterChg>
      <pc:sldMasterChg chg="modSp">
        <pc:chgData name="Aucoin, Shannon" userId="3f4e7fc1-6c2e-4059-b6c3-22af03bf749a" providerId="ADAL" clId="{E0921B5F-CAE8-4497-A9EF-24510461A92C}" dt="2026-01-15T21:50:33.258" v="5"/>
        <pc:sldMasterMkLst>
          <pc:docMk/>
          <pc:sldMasterMk cId="1007448745" sldId="2147483670"/>
        </pc:sldMasterMkLst>
        <pc:spChg chg="mod">
          <ac:chgData name="Aucoin, Shannon" userId="3f4e7fc1-6c2e-4059-b6c3-22af03bf749a" providerId="ADAL" clId="{E0921B5F-CAE8-4497-A9EF-24510461A92C}" dt="2026-01-15T21:50:33.258" v="5"/>
          <ac:spMkLst>
            <pc:docMk/>
            <pc:sldMasterMk cId="1007448745" sldId="2147483670"/>
            <ac:spMk id="9" creationId="{00000000-0000-0000-0000-000000000000}"/>
          </ac:spMkLst>
        </pc:spChg>
      </pc:sldMasterChg>
      <pc:sldMasterChg chg="modSp">
        <pc:chgData name="Aucoin, Shannon" userId="3f4e7fc1-6c2e-4059-b6c3-22af03bf749a" providerId="ADAL" clId="{E0921B5F-CAE8-4497-A9EF-24510461A92C}" dt="2026-01-15T21:50:42.934" v="8"/>
        <pc:sldMasterMkLst>
          <pc:docMk/>
          <pc:sldMasterMk cId="3578277993" sldId="2147483672"/>
        </pc:sldMasterMkLst>
        <pc:spChg chg="mod">
          <ac:chgData name="Aucoin, Shannon" userId="3f4e7fc1-6c2e-4059-b6c3-22af03bf749a" providerId="ADAL" clId="{E0921B5F-CAE8-4497-A9EF-24510461A92C}" dt="2026-01-15T21:50:42.934" v="8"/>
          <ac:spMkLst>
            <pc:docMk/>
            <pc:sldMasterMk cId="3578277993" sldId="2147483672"/>
            <ac:spMk id="15" creationId="{00000000-0000-0000-0000-000000000000}"/>
          </ac:spMkLst>
        </pc:spChg>
      </pc:sldMasterChg>
      <pc:sldMasterChg chg="modSp">
        <pc:chgData name="Aucoin, Shannon" userId="3f4e7fc1-6c2e-4059-b6c3-22af03bf749a" providerId="ADAL" clId="{E0921B5F-CAE8-4497-A9EF-24510461A92C}" dt="2026-01-15T21:50:39.941" v="7"/>
        <pc:sldMasterMkLst>
          <pc:docMk/>
          <pc:sldMasterMk cId="540183629" sldId="2147483675"/>
        </pc:sldMasterMkLst>
        <pc:spChg chg="mod">
          <ac:chgData name="Aucoin, Shannon" userId="3f4e7fc1-6c2e-4059-b6c3-22af03bf749a" providerId="ADAL" clId="{E0921B5F-CAE8-4497-A9EF-24510461A92C}" dt="2026-01-15T21:50:39.941" v="7"/>
          <ac:spMkLst>
            <pc:docMk/>
            <pc:sldMasterMk cId="540183629" sldId="2147483675"/>
            <ac:spMk id="11" creationId="{00000000-0000-0000-0000-000000000000}"/>
          </ac:spMkLst>
        </pc:spChg>
      </pc:sldMasterChg>
      <pc:sldMasterChg chg="modSp">
        <pc:chgData name="Aucoin, Shannon" userId="3f4e7fc1-6c2e-4059-b6c3-22af03bf749a" providerId="ADAL" clId="{E0921B5F-CAE8-4497-A9EF-24510461A92C}" dt="2026-01-15T21:50:36.148" v="6"/>
        <pc:sldMasterMkLst>
          <pc:docMk/>
          <pc:sldMasterMk cId="3728541375" sldId="2147483684"/>
        </pc:sldMasterMkLst>
        <pc:spChg chg="mod">
          <ac:chgData name="Aucoin, Shannon" userId="3f4e7fc1-6c2e-4059-b6c3-22af03bf749a" providerId="ADAL" clId="{E0921B5F-CAE8-4497-A9EF-24510461A92C}" dt="2026-01-15T21:50:36.148" v="6"/>
          <ac:spMkLst>
            <pc:docMk/>
            <pc:sldMasterMk cId="3728541375" sldId="2147483684"/>
            <ac:spMk id="1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eaLnBrk="1" hangingPunct="1"/>
            <a:r>
              <a:rPr lang="en-US" sz="1200" dirty="0"/>
              <a:t>The first two slides are from </a:t>
            </a:r>
            <a:r>
              <a:rPr lang="en-US" sz="1200"/>
              <a:t>the preceding chapter </a:t>
            </a:r>
            <a:r>
              <a:rPr lang="en-US" sz="1200" dirty="0"/>
              <a:t>(Monopolistic Competition): concentration ratio and </a:t>
            </a:r>
            <a:r>
              <a:rPr lang="en-US" sz="1200" baseline="0" dirty="0"/>
              <a:t>the four main market structures.  </a:t>
            </a:r>
            <a:endParaRPr lang="en-US" sz="1200" dirty="0"/>
          </a:p>
          <a:p>
            <a:pPr eaLnBrk="1" hangingPunct="1"/>
            <a:endParaRPr lang="en-US" sz="1200" dirty="0"/>
          </a:p>
          <a:p>
            <a:pPr eaLnBrk="1" hangingPunct="1"/>
            <a:r>
              <a:rPr lang="en-US" sz="1200" dirty="0"/>
              <a:t>Students find this chapter to be of average difficulty.  Some students, however, have a little extra trouble with the simple game theory concepts introduced in the chapter, such as understanding how to read a payoff matrix.  I’ve included extra examples and an Active Learning exercise on this material, and there are more good exercises among the end-of-chapter problems and study guide.  </a:t>
            </a:r>
          </a:p>
          <a:p>
            <a:pPr eaLnBrk="1" hangingPunct="1"/>
            <a:endParaRPr lang="en-US" sz="1200" dirty="0"/>
          </a:p>
          <a:p>
            <a:pPr eaLnBrk="1" hangingPunct="1"/>
            <a:r>
              <a:rPr lang="en-US" sz="1200" dirty="0"/>
              <a:t>One of the extra examples in this PowerPoint chapter is a prisoners’ dilemma example in which two candidates agree not to run TV ads attacking each other (the best outcome for society).  Self-interest leads to a Nash equilibrium in which each candidate reneges (the worst outcome for society).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Here are the main sections in this chapter: </a:t>
            </a:r>
          </a:p>
          <a:p>
            <a:pPr marL="228600" indent="-228600">
              <a:buAutoNum type="arabicPeriod"/>
            </a:pPr>
            <a:r>
              <a:rPr lang="en-US" dirty="0"/>
              <a:t>Markets with Only a Few Sellers</a:t>
            </a:r>
          </a:p>
          <a:p>
            <a:pPr marL="228600" indent="-228600">
              <a:buAutoNum type="arabicPeriod"/>
            </a:pPr>
            <a:r>
              <a:rPr lang="en-US" dirty="0"/>
              <a:t>The Economics of Cooperation</a:t>
            </a:r>
          </a:p>
          <a:p>
            <a:pPr marL="228600" indent="-228600">
              <a:buAutoNum type="arabicPeriod"/>
            </a:pPr>
            <a:r>
              <a:rPr lang="en-US" dirty="0"/>
              <a:t>Public Policy toward Oligopolies</a:t>
            </a:r>
          </a:p>
          <a:p>
            <a:pPr marL="228600" indent="-228600">
              <a:buAutoNum type="arabicPeriod"/>
            </a:pPr>
            <a:r>
              <a:rPr lang="en-US" dirty="0"/>
              <a:t>Conclusion</a:t>
            </a:r>
          </a:p>
          <a:p>
            <a:pPr marL="228600" indent="-228600">
              <a:buAutoNum type="arabicPeriod"/>
            </a:pPr>
            <a:endParaRPr lang="en-US" dirty="0"/>
          </a:p>
          <a:p>
            <a:pPr marL="228600" indent="-228600">
              <a:buAutoNum type="arabicPeriod"/>
            </a:pPr>
            <a:endParaRPr lang="en-US" dirty="0"/>
          </a:p>
          <a:p>
            <a:pPr marL="0" indent="0">
              <a:buNone/>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dirty="0"/>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industries with a 4-firm concentration ratio grater than 90% are best described as oligopolies.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2911107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1 from the previous chapter. It helps students better</a:t>
            </a:r>
            <a:r>
              <a:rPr lang="en-US" baseline="0" dirty="0"/>
              <a:t> understand why not only the number of firms in a market is important, but also the type of goods produced. </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F6792-DBE1-4461-97FA-F85A7B4881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07940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an oligopoly market, because there are only a few sellers, the actions of any one seller in the market can have a large impact on the profits of all the other sellers: interdependence. Game theory helps explain the strategies that people choose.</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1431632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feature in oligopoly</a:t>
            </a:r>
            <a:r>
              <a:rPr lang="en-US" baseline="0" dirty="0"/>
              <a:t> markets: the tension between cooperation and self-interest.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4193981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Here we have the demand schedule for gasoline in </a:t>
            </a:r>
            <a:r>
              <a:rPr lang="en-US" dirty="0" err="1"/>
              <a:t>Smallville</a:t>
            </a:r>
            <a:r>
              <a:rPr lang="en-US" dirty="0"/>
              <a:t>,</a:t>
            </a:r>
            <a:r>
              <a:rPr lang="en-US" baseline="0" dirty="0"/>
              <a:t> a town with only 2 gas stations and far away from other towns. </a:t>
            </a:r>
            <a:endParaRPr lang="en-US" dirty="0"/>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a:t>
            </a:r>
            <a:r>
              <a:rPr lang="en-US" b="1" i="1" dirty="0"/>
              <a:t>FC</a:t>
            </a:r>
            <a:r>
              <a:rPr lang="en-US" dirty="0"/>
              <a:t> = 0 assumption:  it makes the math easier.  (Also, fixed costs are sunk costs and do not affect decisions or outcomes).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i="1" dirty="0"/>
              <a:t>MC</a:t>
            </a:r>
            <a:r>
              <a:rPr lang="en-US" dirty="0"/>
              <a:t> = $1 per gallon,</a:t>
            </a:r>
            <a:r>
              <a:rPr lang="en-US" baseline="0" dirty="0"/>
              <a:t> provides a more complicated example than the one in the textbook (water, and </a:t>
            </a:r>
            <a:r>
              <a:rPr lang="en-US" b="1" i="1" baseline="0" dirty="0"/>
              <a:t>MC</a:t>
            </a:r>
            <a:r>
              <a:rPr lang="en-US" baseline="0" dirty="0"/>
              <a:t> = 0)</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We will use this example to figure out the competitive outcome, the monopoly outcome, then later on the colluding outcome and the duopoly outcome. </a:t>
            </a:r>
            <a:endParaRPr lang="en-US" dirty="0"/>
          </a:p>
          <a:p>
            <a:pPr eaLnBrk="1" hangingPunct="1"/>
            <a:r>
              <a:rPr lang="en-US" dirty="0"/>
              <a: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736802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Give your students a few minutes to try and figure out how fill in the revenue, cost, and profit columns. Then,</a:t>
            </a:r>
            <a:r>
              <a:rPr lang="en-US" baseline="0" dirty="0"/>
              <a:t> remind them of the following: </a:t>
            </a:r>
          </a:p>
          <a:p>
            <a:pPr marL="171450" indent="-171450" eaLnBrk="1" hangingPunct="1">
              <a:buFont typeface="Arial" panose="020B0604020202020204" pitchFamily="34" charset="0"/>
              <a:buChar char="•"/>
            </a:pPr>
            <a:r>
              <a:rPr lang="en-US" dirty="0"/>
              <a:t>Revenue </a:t>
            </a:r>
            <a:r>
              <a:rPr lang="en-US" b="1" i="1" dirty="0"/>
              <a:t>TR</a:t>
            </a:r>
            <a:r>
              <a:rPr lang="en-US" dirty="0"/>
              <a:t> = </a:t>
            </a:r>
            <a:r>
              <a:rPr lang="en-US" b="1" i="1" dirty="0"/>
              <a:t>P</a:t>
            </a:r>
            <a:r>
              <a:rPr lang="en-US" dirty="0"/>
              <a:t>×</a:t>
            </a:r>
            <a:r>
              <a:rPr lang="en-US" b="1" i="1" dirty="0"/>
              <a:t>Q</a:t>
            </a:r>
            <a:r>
              <a:rPr lang="en-US" dirty="0"/>
              <a:t>; </a:t>
            </a:r>
          </a:p>
          <a:p>
            <a:pPr marL="181240" indent="-181240">
              <a:buFont typeface="Arial" panose="020B0604020202020204" pitchFamily="34" charset="0"/>
              <a:buChar char="•"/>
            </a:pPr>
            <a:r>
              <a:rPr lang="en-US" dirty="0"/>
              <a:t>Cost </a:t>
            </a:r>
            <a:r>
              <a:rPr lang="en-US" b="1" i="1" dirty="0"/>
              <a:t>TC</a:t>
            </a:r>
            <a:r>
              <a:rPr lang="en-US" dirty="0"/>
              <a:t> =</a:t>
            </a:r>
            <a:r>
              <a:rPr lang="en-US" baseline="0" dirty="0"/>
              <a:t> </a:t>
            </a:r>
            <a:r>
              <a:rPr lang="en-US" b="1" i="1" baseline="0" dirty="0"/>
              <a:t>FC</a:t>
            </a:r>
            <a:r>
              <a:rPr lang="en-US" baseline="0" dirty="0"/>
              <a:t> + </a:t>
            </a:r>
            <a:r>
              <a:rPr lang="en-US" b="1" i="1" baseline="0" dirty="0"/>
              <a:t>VC</a:t>
            </a:r>
            <a:r>
              <a:rPr lang="en-US" baseline="0" dirty="0"/>
              <a:t>, but </a:t>
            </a:r>
            <a:r>
              <a:rPr lang="en-US" b="1" i="1" baseline="0" dirty="0"/>
              <a:t>FC</a:t>
            </a:r>
            <a:r>
              <a:rPr lang="en-US" baseline="0" dirty="0"/>
              <a:t> = 0 and </a:t>
            </a:r>
            <a:r>
              <a:rPr lang="en-US" b="1" i="1" baseline="0" dirty="0"/>
              <a:t>MC</a:t>
            </a:r>
            <a:r>
              <a:rPr lang="en-US" baseline="0" dirty="0"/>
              <a:t> = $1, so  </a:t>
            </a:r>
            <a:r>
              <a:rPr lang="en-US" b="1" i="1" baseline="0" dirty="0"/>
              <a:t>AVC</a:t>
            </a:r>
            <a:r>
              <a:rPr lang="en-US" baseline="0" dirty="0"/>
              <a:t> = $1 and constant, therefore </a:t>
            </a:r>
            <a:r>
              <a:rPr lang="en-US" b="1" i="1" baseline="0" dirty="0"/>
              <a:t>TC</a:t>
            </a:r>
            <a:r>
              <a:rPr lang="en-US" baseline="0" dirty="0"/>
              <a:t> = </a:t>
            </a:r>
            <a:r>
              <a:rPr lang="en-US" b="1" i="1" baseline="0" dirty="0"/>
              <a:t>Q</a:t>
            </a:r>
            <a:r>
              <a:rPr lang="en-US" baseline="0" dirty="0"/>
              <a:t>×</a:t>
            </a:r>
            <a:r>
              <a:rPr lang="en-US" b="1" i="1" baseline="0" dirty="0"/>
              <a:t>AVC</a:t>
            </a:r>
            <a:r>
              <a:rPr lang="en-US" baseline="0" dirty="0"/>
              <a:t> = </a:t>
            </a:r>
            <a:r>
              <a:rPr lang="en-US" b="1" i="1" baseline="0" dirty="0"/>
              <a:t>Q</a:t>
            </a:r>
            <a:r>
              <a:rPr lang="en-US" baseline="0" dirty="0"/>
              <a:t>×$1. </a:t>
            </a:r>
          </a:p>
          <a:p>
            <a:pPr marL="181240" indent="-181240">
              <a:buFont typeface="Arial" panose="020B0604020202020204" pitchFamily="34" charset="0"/>
              <a:buChar char="•"/>
            </a:pPr>
            <a:r>
              <a:rPr lang="en-US" baseline="0" dirty="0"/>
              <a:t>Profit = </a:t>
            </a:r>
            <a:r>
              <a:rPr lang="en-US" b="1" i="1" baseline="0" dirty="0"/>
              <a:t>TR</a:t>
            </a:r>
            <a:r>
              <a:rPr lang="en-US" baseline="0" dirty="0"/>
              <a:t> – </a:t>
            </a:r>
            <a:r>
              <a:rPr lang="en-US" b="1" i="1" baseline="0" dirty="0"/>
              <a:t>TC</a:t>
            </a:r>
            <a:r>
              <a:rPr lang="en-US" baseline="0" dirty="0"/>
              <a:t>.</a:t>
            </a:r>
            <a:endParaRPr lang="en-US" dirty="0"/>
          </a:p>
          <a:p>
            <a:pPr eaLnBrk="1" hangingPunct="1"/>
            <a:endParaRPr lang="en-US" dirty="0"/>
          </a:p>
          <a:p>
            <a:pPr eaLnBrk="1" hangingPunct="1"/>
            <a:r>
              <a:rPr lang="en-US" dirty="0"/>
              <a:t>Before considering possible duopoly outcomes, we first review the competitive and monopoly outcomes.</a:t>
            </a:r>
          </a:p>
          <a:p>
            <a:pPr eaLnBrk="1" hangingPunct="1"/>
            <a:endParaRPr lang="en-US" dirty="0"/>
          </a:p>
          <a:p>
            <a:pPr eaLnBrk="1" hangingPunct="1"/>
            <a:r>
              <a:rPr lang="en-US" dirty="0"/>
              <a:t>Competitive outcome:  </a:t>
            </a:r>
            <a:r>
              <a:rPr lang="en-US" b="1" i="1" dirty="0"/>
              <a:t>P</a:t>
            </a:r>
            <a:r>
              <a:rPr lang="en-US" dirty="0"/>
              <a:t> = </a:t>
            </a:r>
            <a:r>
              <a:rPr lang="en-US" b="1" i="1" dirty="0"/>
              <a:t>MC</a:t>
            </a:r>
            <a:r>
              <a:rPr lang="en-US" dirty="0"/>
              <a:t> = $1 (from previous</a:t>
            </a:r>
            <a:r>
              <a:rPr lang="en-US" baseline="0" dirty="0"/>
              <a:t> slide: </a:t>
            </a:r>
            <a:r>
              <a:rPr lang="en-US" dirty="0"/>
              <a:t>we are assuming </a:t>
            </a:r>
            <a:r>
              <a:rPr lang="en-US" b="1" i="1" dirty="0"/>
              <a:t>MC</a:t>
            </a:r>
            <a:r>
              <a:rPr lang="en-US" dirty="0"/>
              <a:t> is constant at $1/gallon).  At </a:t>
            </a:r>
            <a:r>
              <a:rPr lang="en-US" b="1" i="1" dirty="0"/>
              <a:t>P</a:t>
            </a:r>
            <a:r>
              <a:rPr lang="en-US" dirty="0"/>
              <a:t> = $1, market demand equals 9,200 gallons, which the two firms split.  Economic profit is zero in perfect competition.</a:t>
            </a:r>
          </a:p>
          <a:p>
            <a:pPr eaLnBrk="1" hangingPunct="1"/>
            <a:endParaRPr lang="en-US" dirty="0"/>
          </a:p>
          <a:p>
            <a:pPr eaLnBrk="1" hangingPunct="1"/>
            <a:r>
              <a:rPr lang="en-US" dirty="0"/>
              <a:t>Monopoly outcome:  A single firm would produce the quantity where economic profit is maximized.  In this example, max profit is $26,400 when </a:t>
            </a:r>
            <a:r>
              <a:rPr lang="en-US" b="1" i="1" dirty="0"/>
              <a:t>Q</a:t>
            </a:r>
            <a:r>
              <a:rPr lang="en-US" dirty="0"/>
              <a:t> = 4,400.  The firm would set </a:t>
            </a:r>
            <a:r>
              <a:rPr lang="en-US" b="1" i="1" dirty="0"/>
              <a:t>P</a:t>
            </a:r>
            <a:r>
              <a:rPr lang="en-US" dirty="0"/>
              <a:t> = $7, from the demand curve, and the firm will maximize profit = $26,400.  </a:t>
            </a:r>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736802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cartel must agree not only on total production but also on the amount produced by each member. Each wants a larger share of the market because that means more individual profit…. Each cartel member has an incentive to cheat on cooperation agreements.</a:t>
            </a:r>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3344471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You can replace “cheat” with “renege.” Give your students a few minutes to formulate</a:t>
            </a:r>
            <a:r>
              <a:rPr lang="en-US" sz="1200" baseline="0" dirty="0"/>
              <a:t> their answers. Remind them that the two firms still face the market demand given in the table, </a:t>
            </a:r>
            <a:r>
              <a:rPr lang="en-US" sz="1200" b="1" i="1" baseline="0" dirty="0"/>
              <a:t>FC</a:t>
            </a:r>
            <a:r>
              <a:rPr lang="en-US" sz="1200" baseline="0" dirty="0"/>
              <a:t> = 0 and </a:t>
            </a:r>
            <a:r>
              <a:rPr lang="en-US" sz="1200" b="1" i="1" baseline="0" dirty="0"/>
              <a:t>MC</a:t>
            </a:r>
            <a:r>
              <a:rPr lang="en-US" sz="1200" baseline="0" dirty="0"/>
              <a:t> = $1.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u="sng" baseline="0" dirty="0"/>
              <a:t>Duopoly outcome with collusion</a:t>
            </a:r>
            <a:r>
              <a:rPr lang="en-US" sz="1200" baseline="0" dirty="0"/>
              <a:t>: the two firms act as a monopoly, selling a total </a:t>
            </a:r>
            <a:r>
              <a:rPr lang="en-US" sz="1200" b="1" i="1" baseline="0" dirty="0"/>
              <a:t>Q</a:t>
            </a:r>
            <a:r>
              <a:rPr lang="en-US" sz="1200" baseline="0" dirty="0"/>
              <a:t> = 4,400 at </a:t>
            </a:r>
            <a:r>
              <a:rPr lang="en-US" sz="1200" b="1" i="1" baseline="0" dirty="0"/>
              <a:t>P</a:t>
            </a:r>
            <a:r>
              <a:rPr lang="en-US" sz="1200" baseline="0" dirty="0"/>
              <a:t> = $7, making $26,400 overall in profit (we reached this conclusion in Example 1). Successful collusion means the two firms agree to act as a monopoly to maximize their profits. They equally split the market so </a:t>
            </a:r>
            <a:r>
              <a:rPr lang="en-US" sz="1200" b="1" i="1" baseline="0" dirty="0"/>
              <a:t>Q</a:t>
            </a:r>
            <a:r>
              <a:rPr lang="en-US" sz="1200" b="1" i="0" baseline="-25000" dirty="0"/>
              <a:t>1</a:t>
            </a:r>
            <a:r>
              <a:rPr lang="en-US" sz="1200" baseline="0" dirty="0"/>
              <a:t> = </a:t>
            </a:r>
            <a:r>
              <a:rPr lang="en-US" sz="1200" b="1" i="1" baseline="0" dirty="0"/>
              <a:t>Q</a:t>
            </a:r>
            <a:r>
              <a:rPr lang="en-US" sz="1200" b="1" baseline="-25000" dirty="0"/>
              <a:t>2</a:t>
            </a:r>
            <a:r>
              <a:rPr lang="en-US" sz="1200" baseline="0" dirty="0"/>
              <a:t> = 2,200, P = $7, and they split profits Profit</a:t>
            </a:r>
            <a:r>
              <a:rPr lang="en-US" sz="1200" baseline="-25000" dirty="0"/>
              <a:t>1</a:t>
            </a:r>
            <a:r>
              <a:rPr lang="en-US" sz="1200" baseline="0" dirty="0"/>
              <a:t> = Profit</a:t>
            </a:r>
            <a:r>
              <a:rPr lang="en-US" sz="1200" baseline="-25000" dirty="0"/>
              <a:t>2</a:t>
            </a:r>
            <a:r>
              <a:rPr lang="en-US" sz="1200" baseline="0" dirty="0"/>
              <a:t> = 26400/2 = $13,200 .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This exercise leads students to discover that each firm has an incentive to cheat on the agreement, causing a breakdown of the profit-maximizing cartel outcome.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“Cheat on the agreement” means cheat on the agreement to collude</a:t>
            </a:r>
            <a:r>
              <a:rPr lang="en-US" sz="1200" baseline="0" dirty="0"/>
              <a:t> to restrict the </a:t>
            </a:r>
            <a:r>
              <a:rPr lang="en-US" sz="1200" b="1" i="1" baseline="0" dirty="0"/>
              <a:t>Q</a:t>
            </a:r>
            <a:r>
              <a:rPr lang="en-US" sz="1200" baseline="0" dirty="0"/>
              <a:t> and receive higher </a:t>
            </a:r>
            <a:r>
              <a:rPr lang="en-US" sz="1200" b="1" i="1" baseline="0" dirty="0"/>
              <a:t>P</a:t>
            </a:r>
            <a:r>
              <a:rPr lang="en-US" sz="1200" baseline="0" dirty="0"/>
              <a:t> (act as a monopoly).</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2603188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Duopoly colluding: </a:t>
            </a:r>
            <a:r>
              <a:rPr lang="en-US" sz="1200" b="1" i="1" baseline="0" dirty="0"/>
              <a:t>Q</a:t>
            </a:r>
            <a:r>
              <a:rPr lang="en-US" sz="1200" b="1" baseline="-25000" dirty="0"/>
              <a:t>1</a:t>
            </a:r>
            <a:r>
              <a:rPr lang="en-US" sz="1200" baseline="0" dirty="0"/>
              <a:t> = </a:t>
            </a:r>
            <a:r>
              <a:rPr lang="en-US" sz="1200" b="1" i="1" baseline="0" dirty="0"/>
              <a:t>Q</a:t>
            </a:r>
            <a:r>
              <a:rPr lang="en-US" sz="1200" b="1" baseline="-25000" dirty="0"/>
              <a:t>2</a:t>
            </a:r>
            <a:r>
              <a:rPr lang="en-US" sz="1200" baseline="0" dirty="0"/>
              <a:t> = 2,200, </a:t>
            </a:r>
            <a:r>
              <a:rPr lang="en-US" sz="1200" b="1" i="1" baseline="0" dirty="0"/>
              <a:t>P</a:t>
            </a:r>
            <a:r>
              <a:rPr lang="en-US" sz="1200" baseline="0" dirty="0"/>
              <a:t> = $7, Profit </a:t>
            </a:r>
            <a:r>
              <a:rPr lang="en-US" sz="1200" baseline="-25000" dirty="0"/>
              <a:t>1</a:t>
            </a:r>
            <a:r>
              <a:rPr lang="en-US" sz="1200" baseline="0" dirty="0"/>
              <a:t> = Profit </a:t>
            </a:r>
            <a:r>
              <a:rPr lang="en-US" sz="1200" baseline="-25000" dirty="0"/>
              <a:t>2</a:t>
            </a:r>
            <a:r>
              <a:rPr lang="en-US" sz="1200" baseline="0" dirty="0"/>
              <a:t> = $13,200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Remember that we have the demand schedule for </a:t>
            </a:r>
            <a:r>
              <a:rPr lang="en-US" sz="1200" baseline="0" dirty="0" err="1"/>
              <a:t>Smallville</a:t>
            </a:r>
            <a:r>
              <a:rPr lang="en-US" sz="1200" baseline="0" dirty="0"/>
              <a:t>, so if we know the </a:t>
            </a:r>
            <a:r>
              <a:rPr lang="en-US" sz="1200" b="1" i="1" baseline="0" dirty="0"/>
              <a:t>Q,</a:t>
            </a:r>
            <a:r>
              <a:rPr lang="en-US" sz="1200" baseline="0" dirty="0"/>
              <a:t> the price will be determined by the demand schedule.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228600" marR="0" indent="-228600" algn="l" defTabSz="914400" rtl="0" eaLnBrk="1" fontAlgn="auto" latinLnBrk="0" hangingPunct="1">
              <a:lnSpc>
                <a:spcPct val="100000"/>
              </a:lnSpc>
              <a:spcBef>
                <a:spcPts val="0"/>
              </a:spcBef>
              <a:spcAft>
                <a:spcPts val="0"/>
              </a:spcAft>
              <a:buClrTx/>
              <a:buSzTx/>
              <a:buFontTx/>
              <a:buAutoNum type="alphaUcPeriod"/>
              <a:tabLst/>
              <a:defRPr/>
            </a:pPr>
            <a:r>
              <a:rPr lang="en-US" sz="1200" baseline="0" dirty="0"/>
              <a:t>Remember that because </a:t>
            </a:r>
            <a:r>
              <a:rPr lang="en-US" sz="1200" b="1" i="1" baseline="0" dirty="0"/>
              <a:t>FC</a:t>
            </a:r>
            <a:r>
              <a:rPr lang="en-US" sz="1200" baseline="0" dirty="0"/>
              <a:t> = 0, </a:t>
            </a:r>
            <a:r>
              <a:rPr lang="en-US" sz="1200" b="1" i="1" baseline="0" dirty="0"/>
              <a:t>TC</a:t>
            </a:r>
            <a:r>
              <a:rPr lang="en-US" sz="1200" baseline="0" dirty="0"/>
              <a:t> = </a:t>
            </a:r>
            <a:r>
              <a:rPr lang="en-US" sz="1200" b="1" i="1" baseline="0" dirty="0"/>
              <a:t>AVC</a:t>
            </a:r>
            <a:r>
              <a:rPr lang="en-US" sz="1200" baseline="0" dirty="0"/>
              <a:t>*</a:t>
            </a:r>
            <a:r>
              <a:rPr lang="en-US" sz="1200" b="1" i="1" baseline="0" dirty="0"/>
              <a:t>Q</a:t>
            </a:r>
            <a:r>
              <a:rPr lang="en-US" sz="1200" baseline="0" dirty="0"/>
              <a:t>. And because </a:t>
            </a:r>
            <a:r>
              <a:rPr lang="en-US" sz="1200" b="1" i="1" baseline="0" dirty="0"/>
              <a:t>MC</a:t>
            </a:r>
            <a:r>
              <a:rPr lang="en-US" sz="1200" baseline="0" dirty="0"/>
              <a:t> = 1, then </a:t>
            </a:r>
            <a:r>
              <a:rPr lang="en-US" sz="1200" b="1" i="1" baseline="0" dirty="0"/>
              <a:t>AVC</a:t>
            </a:r>
            <a:r>
              <a:rPr lang="en-US" sz="1200" baseline="0" dirty="0"/>
              <a:t> = 1.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Calculating Casey’s profit = </a:t>
            </a:r>
            <a:r>
              <a:rPr lang="en-US" sz="1200" b="1" i="1" baseline="0" dirty="0"/>
              <a:t>TR</a:t>
            </a:r>
            <a:r>
              <a:rPr lang="en-US" sz="1200" baseline="0" dirty="0"/>
              <a:t> – </a:t>
            </a:r>
            <a:r>
              <a:rPr lang="en-US" sz="1200" b="1" i="1" baseline="0" dirty="0"/>
              <a:t>TC</a:t>
            </a:r>
            <a:r>
              <a:rPr lang="en-US" sz="1200" baseline="0" dirty="0"/>
              <a:t> = </a:t>
            </a:r>
            <a:r>
              <a:rPr lang="en-US" sz="1200" b="1" i="1" baseline="0" dirty="0"/>
              <a:t>P</a:t>
            </a:r>
            <a:r>
              <a:rPr lang="en-US" sz="1200" baseline="0" dirty="0"/>
              <a:t>*</a:t>
            </a:r>
            <a:r>
              <a:rPr lang="en-US" sz="1200" b="1" i="1" baseline="0" dirty="0"/>
              <a:t>Q</a:t>
            </a:r>
            <a:r>
              <a:rPr lang="en-US" sz="1200" baseline="0" dirty="0"/>
              <a:t> – </a:t>
            </a:r>
            <a:r>
              <a:rPr lang="en-US" sz="1200" b="1" i="1" baseline="0" dirty="0"/>
              <a:t>AVC</a:t>
            </a:r>
            <a:r>
              <a:rPr lang="en-US" sz="1200" baseline="0" dirty="0"/>
              <a:t>*</a:t>
            </a:r>
            <a:r>
              <a:rPr lang="en-US" sz="1200" b="1" i="1" baseline="0" dirty="0"/>
              <a:t>Q</a:t>
            </a:r>
            <a:r>
              <a:rPr lang="en-US" sz="1200" baseline="0" dirty="0"/>
              <a:t> = </a:t>
            </a:r>
            <a:r>
              <a:rPr lang="en-US" sz="1200" b="1" i="1" baseline="0" dirty="0"/>
              <a:t>Q</a:t>
            </a:r>
            <a:r>
              <a:rPr lang="en-US" sz="1200" baseline="0" dirty="0"/>
              <a:t>*(</a:t>
            </a:r>
            <a:r>
              <a:rPr lang="en-US" sz="1200" b="1" i="1" baseline="0" dirty="0"/>
              <a:t>P</a:t>
            </a:r>
            <a:r>
              <a:rPr lang="en-US" sz="1200" baseline="0" dirty="0"/>
              <a:t> – </a:t>
            </a:r>
            <a:r>
              <a:rPr lang="en-US" sz="1200" b="1" i="1" baseline="0" dirty="0"/>
              <a:t>MC</a:t>
            </a:r>
            <a:r>
              <a:rPr lang="en-US" sz="1200" baseline="0" dirty="0"/>
              <a:t>) = 15,000</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solidFill>
                  <a:srgbClr val="C00000"/>
                </a:solidFill>
              </a:rPr>
              <a:t>You could take this a step further and calculate 7-eleven’s profit when only Casey’s cheats on the agreement (since we’ll need it for the Prisoners’ dilemma later on Example 3) = 2,200*(6-1) = $11,000</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solidFill>
                <a:srgbClr val="C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solidFill>
                  <a:srgbClr val="C00000"/>
                </a:solidFill>
              </a:rPr>
              <a:t>Note that profit for Casey’s + profit for 7-eleven = 15,000 + 11,000 = 26,000 = the market profit for a total </a:t>
            </a:r>
            <a:r>
              <a:rPr lang="en-US" sz="1200" b="1" i="1" baseline="0" dirty="0">
                <a:solidFill>
                  <a:srgbClr val="C00000"/>
                </a:solidFill>
              </a:rPr>
              <a:t>Q</a:t>
            </a:r>
            <a:r>
              <a:rPr lang="en-US" sz="1200" baseline="0" dirty="0">
                <a:solidFill>
                  <a:srgbClr val="C00000"/>
                </a:solidFill>
              </a:rPr>
              <a:t> = 5,200 (we calculated the profit in Example 1B)</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solidFill>
                <a:srgbClr val="C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B. Casey’s earns $13,200 if they stick to the agreement, but earns $15,000 if they cheat.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C. Because the total market quantity is 6,000, we look at the demand schedule to find </a:t>
            </a:r>
            <a:r>
              <a:rPr lang="en-US" sz="1200" b="1" i="1" baseline="0" dirty="0"/>
              <a:t>P</a:t>
            </a:r>
            <a:r>
              <a:rPr lang="en-US" sz="1200" baseline="0" dirty="0"/>
              <a:t> = $5. Another way to calculate each firm’s profit is half of market profit from Example 1B (since both produce the same quantity and have the same costs).  </a:t>
            </a:r>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2603188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3947410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Give your students a few minutes to figure out the answers. This exercise shows students that each firm selling </a:t>
            </a:r>
            <a:r>
              <a:rPr lang="en-US" sz="1200" b="1" i="1" dirty="0"/>
              <a:t>Q </a:t>
            </a:r>
            <a:r>
              <a:rPr lang="en-US" sz="1200" dirty="0"/>
              <a:t>= 3000 is the equilibrium.  </a:t>
            </a:r>
          </a:p>
          <a:p>
            <a:pPr eaLnBrk="1" hangingPunct="1"/>
            <a:endParaRPr lang="en-US" sz="1200" dirty="0"/>
          </a:p>
          <a:p>
            <a:pPr eaLnBrk="1" hangingPunct="1"/>
            <a:r>
              <a:rPr lang="en-US" sz="1200" dirty="0"/>
              <a:t>In the previous exercise (Active learning 1), students were instructed to find the new market price—an important intermediate step—before determining the effect on profit.  In this exercise, the instructions do not ask students to determine the effect on market price.  The intention is to see if they will remember to do this critical intermediate step themselves.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4046785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Aha! Each firm producing </a:t>
            </a:r>
            <a:r>
              <a:rPr lang="en-US" b="1" i="1" dirty="0"/>
              <a:t>Q</a:t>
            </a:r>
            <a:r>
              <a:rPr lang="en-US" dirty="0"/>
              <a:t> = 3,000 (cheating on the agreement to collude) is the equilibrium for this duopoly! This is the Nash</a:t>
            </a:r>
            <a:r>
              <a:rPr lang="en-US" baseline="0" dirty="0"/>
              <a:t> equilibrium defined on the next slide.</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40467859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Our duopoly example (Smallville)  has one Nash equilibrium: </a:t>
            </a:r>
          </a:p>
          <a:p>
            <a:pPr marL="171450" indent="-171450">
              <a:buFontTx/>
              <a:buChar char="-"/>
            </a:pPr>
            <a:r>
              <a:rPr lang="en-US" altLang="en-US" dirty="0"/>
              <a:t>Given that Casey’s sells </a:t>
            </a:r>
            <a:r>
              <a:rPr lang="en-US" altLang="en-US" b="1" i="1" dirty="0"/>
              <a:t>Q</a:t>
            </a:r>
            <a:r>
              <a:rPr lang="en-US" altLang="en-US" dirty="0"/>
              <a:t> = 3,000, 7-eleven’s best</a:t>
            </a:r>
            <a:r>
              <a:rPr lang="en-US" altLang="en-US" baseline="0" dirty="0"/>
              <a:t> move </a:t>
            </a:r>
            <a:r>
              <a:rPr lang="en-US" altLang="en-US" dirty="0"/>
              <a:t>is to sell </a:t>
            </a:r>
            <a:r>
              <a:rPr lang="en-US" altLang="en-US" b="1" i="1" dirty="0"/>
              <a:t>Q</a:t>
            </a:r>
            <a:r>
              <a:rPr lang="en-US" altLang="en-US" dirty="0"/>
              <a:t> = 3,000</a:t>
            </a:r>
          </a:p>
          <a:p>
            <a:pPr marL="171450" indent="-171450">
              <a:buFontTx/>
              <a:buChar char="-"/>
            </a:pPr>
            <a:r>
              <a:rPr lang="en-US" altLang="en-US" dirty="0"/>
              <a:t>Given that 7-eleven’s sells </a:t>
            </a:r>
            <a:r>
              <a:rPr lang="en-US" altLang="en-US" b="1" i="1" dirty="0"/>
              <a:t>Q</a:t>
            </a:r>
            <a:r>
              <a:rPr lang="en-US" altLang="en-US" dirty="0"/>
              <a:t> = 3,000, Casey’s best</a:t>
            </a:r>
            <a:r>
              <a:rPr lang="en-US" altLang="en-US" baseline="0" dirty="0"/>
              <a:t> move </a:t>
            </a:r>
            <a:r>
              <a:rPr lang="en-US" altLang="en-US" dirty="0"/>
              <a:t>is to sell </a:t>
            </a:r>
            <a:r>
              <a:rPr lang="en-US" altLang="en-US" b="1" i="1" dirty="0"/>
              <a:t>Q</a:t>
            </a:r>
            <a:r>
              <a:rPr lang="en-US" altLang="en-US" dirty="0"/>
              <a:t> = 3,000</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Demonstrates that the non-cooperative oligopoly outcome falls in between the monopoly and competitive outcomes. </a:t>
            </a:r>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2596123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If output effect &gt; price effect, the firm increases production.  </a:t>
            </a:r>
          </a:p>
          <a:p>
            <a:pPr marL="171450" indent="-171450">
              <a:buFont typeface="Arial" panose="020B0604020202020204" pitchFamily="34" charset="0"/>
              <a:buChar char="•"/>
            </a:pPr>
            <a:r>
              <a:rPr lang="en-US" dirty="0"/>
              <a:t>If price effect &gt; output effect, the firm reduces production. </a:t>
            </a:r>
          </a:p>
          <a:p>
            <a:pPr marL="171450" indent="-171450">
              <a:buFont typeface="Arial" panose="020B0604020202020204" pitchFamily="34" charset="0"/>
              <a:buChar char="•"/>
            </a:pPr>
            <a:r>
              <a:rPr lang="en-US" dirty="0"/>
              <a:t>Each oligopolist increases production until these two marginal effects exactly balance, taking the other firms’ production as given.</a:t>
            </a:r>
          </a:p>
          <a:p>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12434360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Suppose the U.S., Germany, and Japan each have two automakers:</a:t>
            </a:r>
          </a:p>
          <a:p>
            <a:pPr eaLnBrk="1" hangingPunct="1"/>
            <a:endParaRPr lang="en-US" dirty="0"/>
          </a:p>
          <a:p>
            <a:pPr eaLnBrk="1" hangingPunct="1"/>
            <a:r>
              <a:rPr lang="en-US" dirty="0"/>
              <a:t>* Ford and GM in the U.S.</a:t>
            </a:r>
          </a:p>
          <a:p>
            <a:pPr eaLnBrk="1" hangingPunct="1"/>
            <a:endParaRPr lang="en-US" dirty="0"/>
          </a:p>
          <a:p>
            <a:pPr eaLnBrk="1" hangingPunct="1"/>
            <a:r>
              <a:rPr lang="en-US" dirty="0"/>
              <a:t>* BMW and Mercedes in Germany</a:t>
            </a:r>
          </a:p>
          <a:p>
            <a:pPr eaLnBrk="1" hangingPunct="1"/>
            <a:endParaRPr lang="en-US" dirty="0"/>
          </a:p>
          <a:p>
            <a:pPr eaLnBrk="1" hangingPunct="1"/>
            <a:r>
              <a:rPr lang="en-US" dirty="0"/>
              <a:t>* Honda and Toyota in Japan</a:t>
            </a:r>
          </a:p>
          <a:p>
            <a:pPr eaLnBrk="1" hangingPunct="1"/>
            <a:endParaRPr lang="en-US" dirty="0"/>
          </a:p>
          <a:p>
            <a:pPr eaLnBrk="1" hangingPunct="1"/>
            <a:r>
              <a:rPr lang="en-US" dirty="0"/>
              <a:t>Without international trade in autos, each country has a duopoly.  </a:t>
            </a:r>
          </a:p>
          <a:p>
            <a:pPr eaLnBrk="1" hangingPunct="1"/>
            <a:endParaRPr lang="en-US" dirty="0"/>
          </a:p>
          <a:p>
            <a:pPr eaLnBrk="1" hangingPunct="1"/>
            <a:r>
              <a:rPr lang="en-US" dirty="0"/>
              <a:t>With international trade, the number of sellers competing with each other increases to six, which drives prices down toward marginal cost and increases the market quantity toward the socially efficient quantity.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40455196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“Ask the Experts” feature provides the opportunity for class discussion.</a:t>
            </a:r>
          </a:p>
          <a:p>
            <a:endParaRPr lang="en-US" dirty="0"/>
          </a:p>
          <a:p>
            <a:r>
              <a:rPr lang="en-US"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a:t>Ask the students to share with the class their reasons. Their answers will vary.</a:t>
            </a:r>
          </a:p>
          <a:p>
            <a:endParaRPr 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9208232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Game theory helps us understand oligopoly and other situations where “players” interact and behave strategically. </a:t>
            </a:r>
          </a:p>
          <a:p>
            <a:pPr defTabSz="966612">
              <a:defRPr/>
            </a:pPr>
            <a:r>
              <a:rPr lang="en-US" dirty="0"/>
              <a:t>A “game” is a situation in which players interact.  </a:t>
            </a:r>
          </a:p>
          <a:p>
            <a:pPr defTabSz="966612">
              <a:defRPr/>
            </a:pPr>
            <a:endParaRPr lang="en-US" dirty="0"/>
          </a:p>
          <a:p>
            <a:pPr defTabSz="966612">
              <a:defRPr/>
            </a:pPr>
            <a:r>
              <a:rPr lang="en-US" dirty="0"/>
              <a:t>The term “payoff matrix” is fairly standard in microeconomics, so it may be worth mentioning to your students. However, the textbook only uses this term in the problems and application section.  </a:t>
            </a:r>
          </a:p>
          <a:p>
            <a:pPr defTabSz="966612">
              <a:defRPr/>
            </a:pPr>
            <a:endParaRPr lang="en-US" dirty="0"/>
          </a:p>
          <a:p>
            <a:r>
              <a:rPr lang="en-US" dirty="0"/>
              <a:t>There are three elements to a game; and all of these elements are represented in the payoff matrix: </a:t>
            </a:r>
          </a:p>
          <a:p>
            <a:pPr marL="171450" indent="-171450">
              <a:buFont typeface="Arial" panose="020B0604020202020204" pitchFamily="34" charset="0"/>
              <a:buChar char="•"/>
            </a:pPr>
            <a:r>
              <a:rPr lang="en-US" dirty="0"/>
              <a:t>“Players” can be people, firms, countries, or other entities.  </a:t>
            </a:r>
          </a:p>
          <a:p>
            <a:pPr marL="171450" indent="-171450">
              <a:buFont typeface="Arial" panose="020B0604020202020204" pitchFamily="34" charset="0"/>
              <a:buChar char="•"/>
            </a:pPr>
            <a:r>
              <a:rPr lang="en-US" dirty="0"/>
              <a:t>A “strategy” is a decision or decision-plan chosen by a player, which takes into account the behavior and likely reactions of other players. </a:t>
            </a:r>
          </a:p>
          <a:p>
            <a:pPr marL="171450" indent="-171450">
              <a:buFont typeface="Arial" panose="020B0604020202020204" pitchFamily="34" charset="0"/>
              <a:buChar char="•"/>
            </a:pPr>
            <a:r>
              <a:rPr lang="en-US" dirty="0"/>
              <a:t>Payoffs</a:t>
            </a:r>
            <a:r>
              <a:rPr lang="en-US" baseline="0" dirty="0"/>
              <a:t> are the reward (profit, revenue, winning) or punishment (years in jail) for choosing a specific strategy. The payoffs for a player depend not only on the strategy chosen, but also on what the other player does (strategic interaction). </a:t>
            </a:r>
          </a:p>
          <a:p>
            <a:pPr marL="181240" indent="-181240">
              <a:buFontTx/>
              <a:buChar char="-"/>
            </a:pPr>
            <a:endParaRPr lang="en-US" baseline="0" dirty="0"/>
          </a:p>
          <a:p>
            <a:pPr eaLnBrk="1" hangingPunct="1"/>
            <a:r>
              <a:rPr lang="en-US" dirty="0"/>
              <a:t> </a:t>
            </a:r>
          </a:p>
          <a:p>
            <a:pPr eaLnBrk="1" hangingPunct="1"/>
            <a:endParaRPr lang="en-US" dirty="0"/>
          </a:p>
          <a:p>
            <a:pPr marL="181240" indent="-181240">
              <a:buFontTx/>
              <a:buChar char="-"/>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4343201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6400" y="4400550"/>
            <a:ext cx="6502400" cy="4960620"/>
          </a:xfrm>
        </p:spPr>
        <p:txBody>
          <a:bodyPr/>
          <a:lstStyle/>
          <a:p>
            <a:pPr eaLnBrk="1" hangingPunct="1"/>
            <a:r>
              <a:rPr lang="en-US" dirty="0"/>
              <a:t>This is the example discussed in the textbook. </a:t>
            </a:r>
          </a:p>
          <a:p>
            <a:pPr eaLnBrk="1" hangingPunct="1"/>
            <a:r>
              <a:rPr lang="en-US" b="1" u="sng" dirty="0"/>
              <a:t>SUGGESTION</a:t>
            </a:r>
            <a:r>
              <a:rPr lang="en-US" u="sng" dirty="0"/>
              <a:t>:</a:t>
            </a:r>
            <a:r>
              <a:rPr lang="en-US" dirty="0"/>
              <a:t>  Instead of showing this slide, ask for two volunteers to be your prisoners.  You should pick two students that sit in different parts of the classroom, who are less likely to know each other. Tell them they will be playing bank robbers who have been caught.  You are going to interrogate each one separately, like they do on police dramas.  </a:t>
            </a:r>
          </a:p>
          <a:p>
            <a:pPr eaLnBrk="1" hangingPunct="1"/>
            <a:endParaRPr lang="en-US" dirty="0"/>
          </a:p>
          <a:p>
            <a:pPr eaLnBrk="1" hangingPunct="1"/>
            <a:r>
              <a:rPr lang="en-US" dirty="0"/>
              <a:t>Ask Student #2 to step out of the room for a few moments.  Offer to Student #1 the deal described on this slide.  Make a note of his or her choice, but do not write it on the board. (Remind all the other students that they are witnesses on the other side of the one-way mirror.)  </a:t>
            </a:r>
          </a:p>
          <a:p>
            <a:pPr eaLnBrk="1" hangingPunct="1"/>
            <a:endParaRPr lang="en-US" dirty="0"/>
          </a:p>
          <a:p>
            <a:pPr eaLnBrk="1" hangingPunct="1"/>
            <a:r>
              <a:rPr lang="en-US" dirty="0"/>
              <a:t>Have Student #2 step into the room, and ask Student #1 to wait outside.  Offer to Student #2 the deal described on this slide.  Ask the class not to give any hints about the decision that Student #1 made. Make a note of Student #2’s choice.  </a:t>
            </a:r>
          </a:p>
          <a:p>
            <a:pPr eaLnBrk="1" hangingPunct="1"/>
            <a:endParaRPr lang="en-US" dirty="0"/>
          </a:p>
          <a:p>
            <a:pPr eaLnBrk="1" hangingPunct="1"/>
            <a:r>
              <a:rPr lang="en-US" dirty="0"/>
              <a:t>Invite Student #1 back into the room.  Write down both of their choices on the board and reveal to each of them their fate.  </a:t>
            </a:r>
          </a:p>
          <a:p>
            <a:pPr eaLnBrk="1" hangingPunct="1"/>
            <a:endParaRPr lang="en-US" dirty="0"/>
          </a:p>
          <a:p>
            <a:pPr eaLnBrk="1" hangingPunct="1"/>
            <a:r>
              <a:rPr lang="en-US" dirty="0"/>
              <a:t>Hopefully, each student plays the “confess” strategy, so that the outcome of this role-play is the classic Prisoner’s Dilemma Nash Equilibrium.  But even if the outcome is different, that’s okay.  Ask each student to give the reasons for the strategy they chose.  Explain why you would have expected both to play the “confess” strategy, and show the payoff matrix on the next slide.  </a:t>
            </a:r>
          </a:p>
          <a:p>
            <a:pPr eaLnBrk="1" hangingPunct="1"/>
            <a:endParaRPr lang="en-US" dirty="0"/>
          </a:p>
          <a:p>
            <a:pPr eaLnBrk="1" hangingPunct="1"/>
            <a:r>
              <a:rPr lang="en-US" dirty="0"/>
              <a:t>I’m telling you, students LOVE this.  It takes a little longer to get through the material, but the material has much more impact then merely lecturing on the Bonnie and Clyde example. </a:t>
            </a:r>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32952243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E2ADDE9-7253-4CBD-91FC-093637BEA864}" type="slidenum">
              <a:rPr lang="en-US" smtClean="0"/>
              <a:pPr/>
              <a:t>21</a:t>
            </a:fld>
            <a:endParaRPr lang="en-US"/>
          </a:p>
        </p:txBody>
      </p:sp>
      <p:sp>
        <p:nvSpPr>
          <p:cNvPr id="6758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654A61D5-663A-4DF0-962C-0C5C649A35C8}" type="slidenum">
              <a:rPr lang="en-US" sz="1300">
                <a:cs typeface="Arial" charset="0"/>
              </a:rPr>
              <a:pPr algn="r"/>
              <a:t>21</a:t>
            </a:fld>
            <a:endParaRPr lang="en-US" sz="1300">
              <a:cs typeface="Arial" charset="0"/>
            </a:endParaRPr>
          </a:p>
        </p:txBody>
      </p:sp>
      <p:sp>
        <p:nvSpPr>
          <p:cNvPr id="67588" name="Rectangle 2"/>
          <p:cNvSpPr>
            <a:spLocks noGrp="1" noRot="1" noChangeAspect="1" noChangeArrowheads="1" noTextEdit="1"/>
          </p:cNvSpPr>
          <p:nvPr>
            <p:ph type="sldImg"/>
          </p:nvPr>
        </p:nvSpPr>
        <p:spPr>
          <a:xfrm>
            <a:off x="1257300" y="561975"/>
            <a:ext cx="4800600" cy="3600450"/>
          </a:xfrm>
          <a:ln/>
        </p:spPr>
      </p:sp>
      <p:sp>
        <p:nvSpPr>
          <p:cNvPr id="67589" name="Rectangle 3"/>
          <p:cNvSpPr>
            <a:spLocks noGrp="1" noChangeArrowheads="1"/>
          </p:cNvSpPr>
          <p:nvPr>
            <p:ph type="body" idx="1"/>
          </p:nvPr>
        </p:nvSpPr>
        <p:spPr>
          <a:xfrm>
            <a:off x="731520" y="4460557"/>
            <a:ext cx="5852160" cy="4420553"/>
          </a:xfrm>
          <a:noFill/>
          <a:ln/>
        </p:spPr>
        <p:txBody>
          <a:bodyPr/>
          <a:lstStyle/>
          <a:p>
            <a:pPr eaLnBrk="1" hangingPunct="1"/>
            <a:r>
              <a:rPr lang="en-US" sz="1300" dirty="0"/>
              <a:t>Game theory reminders: in</a:t>
            </a:r>
            <a:r>
              <a:rPr lang="en-US" sz="1300" baseline="0" dirty="0"/>
              <a:t> any cell, the payoff/number on the left belongs to the player on the left (and the payoff/number on the right belongs to the other player)</a:t>
            </a:r>
          </a:p>
          <a:p>
            <a:pPr eaLnBrk="1" hangingPunct="1"/>
            <a:r>
              <a:rPr lang="en-US" sz="1300" dirty="0"/>
              <a:t>This slide is animated carefully as follows:</a:t>
            </a:r>
          </a:p>
          <a:p>
            <a:pPr eaLnBrk="1" hangingPunct="1"/>
            <a:endParaRPr lang="en-US" sz="1300" dirty="0"/>
          </a:p>
          <a:p>
            <a:pPr eaLnBrk="1" hangingPunct="1"/>
            <a:r>
              <a:rPr lang="en-US" sz="1300" dirty="0"/>
              <a:t>1) What should Bonnie do?  If Clyde confesses, then Bonnie gets 8 years if she confesses or 20 years if she does not.  </a:t>
            </a:r>
          </a:p>
          <a:p>
            <a:pPr eaLnBrk="1" hangingPunct="1"/>
            <a:endParaRPr lang="en-US" sz="1300" dirty="0"/>
          </a:p>
          <a:p>
            <a:pPr eaLnBrk="1" hangingPunct="1"/>
            <a:r>
              <a:rPr lang="en-US" sz="1300" dirty="0"/>
              <a:t>2) What should Bonnie do?  If Clyde remains silent, Bonnie goes free if she confesses or gets 1 year if she does not.  </a:t>
            </a:r>
          </a:p>
          <a:p>
            <a:pPr eaLnBrk="1" hangingPunct="1"/>
            <a:endParaRPr lang="en-US" sz="1300" dirty="0"/>
          </a:p>
          <a:p>
            <a:pPr eaLnBrk="1" hangingPunct="1"/>
            <a:r>
              <a:rPr lang="en-US" sz="1300" dirty="0"/>
              <a:t>At this point, it may be worth mentioning that Bonnie’s best move is to confess, regardless of Clyde’s decision—hence, “confess” is Bonnie’s </a:t>
            </a:r>
            <a:r>
              <a:rPr lang="en-US" sz="1300" i="1" dirty="0"/>
              <a:t>dominant strategy</a:t>
            </a:r>
            <a:r>
              <a:rPr lang="en-US" sz="1300" dirty="0"/>
              <a:t>.  </a:t>
            </a:r>
          </a:p>
          <a:p>
            <a:pPr eaLnBrk="1" hangingPunct="1"/>
            <a:endParaRPr lang="en-US" sz="1300" dirty="0"/>
          </a:p>
          <a:p>
            <a:pPr eaLnBrk="1" hangingPunct="1"/>
            <a:r>
              <a:rPr lang="en-US" sz="1300" dirty="0"/>
              <a:t>3)  What should Clyde do? If Bonnie confesses, Clyde gets 8 years if he confesses or 20 years if he does not. </a:t>
            </a:r>
          </a:p>
          <a:p>
            <a:pPr eaLnBrk="1" hangingPunct="1"/>
            <a:endParaRPr lang="en-US" sz="1300" dirty="0"/>
          </a:p>
          <a:p>
            <a:pPr eaLnBrk="1" hangingPunct="1"/>
            <a:r>
              <a:rPr lang="en-US" sz="1300" dirty="0"/>
              <a:t>4) What should Clyde do?  If Bonnie remains silent, Clyde goes free if he confesses or gets 1 year if he does not.  </a:t>
            </a:r>
          </a:p>
          <a:p>
            <a:pPr eaLnBrk="1" hangingPunct="1"/>
            <a:endParaRPr lang="en-US" sz="1300" dirty="0"/>
          </a:p>
          <a:p>
            <a:pPr eaLnBrk="1" hangingPunct="1"/>
            <a:r>
              <a:rPr lang="en-US" sz="1300" dirty="0"/>
              <a:t>Regardless of Bonnie’s decision, Clyde’s best move is to confess.  Both players have a dominant strategy of confessing.  </a:t>
            </a:r>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3ABA921A-2074-49A0-BA2C-F87AF111AE1B}" type="slidenum">
              <a:rPr lang="en-US" smtClean="0"/>
              <a:pPr/>
              <a:t>22</a:t>
            </a:fld>
            <a:endParaRPr lang="en-US"/>
          </a:p>
        </p:txBody>
      </p:sp>
      <p:sp>
        <p:nvSpPr>
          <p:cNvPr id="6861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17660CF4-EC2B-49CC-B471-6BF0B8FD0532}" type="slidenum">
              <a:rPr lang="en-US" sz="1300">
                <a:cs typeface="Arial" charset="0"/>
              </a:rPr>
              <a:pPr algn="r"/>
              <a:t>22</a:t>
            </a:fld>
            <a:endParaRPr lang="en-US" sz="1300">
              <a:cs typeface="Arial" charset="0"/>
            </a:endParaRPr>
          </a:p>
        </p:txBody>
      </p:sp>
      <p:sp>
        <p:nvSpPr>
          <p:cNvPr id="68612" name="Rectangle 2"/>
          <p:cNvSpPr>
            <a:spLocks noGrp="1" noRot="1" noChangeAspect="1" noChangeArrowheads="1" noTextEdit="1"/>
          </p:cNvSpPr>
          <p:nvPr>
            <p:ph type="sldImg"/>
          </p:nvPr>
        </p:nvSpPr>
        <p:spPr>
          <a:xfrm>
            <a:off x="1257300" y="561975"/>
            <a:ext cx="4800600" cy="3600450"/>
          </a:xfrm>
          <a:ln/>
        </p:spPr>
      </p:sp>
      <p:sp>
        <p:nvSpPr>
          <p:cNvPr id="68613" name="Rectangle 3"/>
          <p:cNvSpPr>
            <a:spLocks noGrp="1" noChangeArrowheads="1"/>
          </p:cNvSpPr>
          <p:nvPr>
            <p:ph type="body" idx="1"/>
          </p:nvPr>
        </p:nvSpPr>
        <p:spPr>
          <a:xfrm>
            <a:off x="731520" y="4460557"/>
            <a:ext cx="5852160" cy="4420553"/>
          </a:xfrm>
          <a:noFill/>
          <a:ln/>
        </p:spPr>
        <p:txBody>
          <a:bodyPr/>
          <a:lstStyle/>
          <a:p>
            <a:pPr eaLnBrk="1" hangingPunct="1"/>
            <a:r>
              <a:rPr lang="en-US"/>
              <a:t>The prisoners’ dilemma illustrates why cooperation is so difficult even when it is in both players’ mutual interest.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earlier duopoly example (collusion in </a:t>
            </a:r>
            <a:r>
              <a:rPr lang="en-US" dirty="0" err="1"/>
              <a:t>Smallville</a:t>
            </a:r>
            <a:r>
              <a:rPr lang="en-US" dirty="0"/>
              <a:t>, Active Learning 1):</a:t>
            </a:r>
          </a:p>
          <a:p>
            <a:pPr marL="171450" indent="-171450">
              <a:buFont typeface="Arial" panose="020B0604020202020204" pitchFamily="34" charset="0"/>
              <a:buChar char="•"/>
            </a:pPr>
            <a:r>
              <a:rPr lang="en-US" dirty="0"/>
              <a:t>Casey’s and 7-eleven are duopolists in </a:t>
            </a:r>
            <a:r>
              <a:rPr lang="en-US" dirty="0" err="1"/>
              <a:t>Smallville</a:t>
            </a:r>
            <a:endParaRPr lang="en-US" dirty="0"/>
          </a:p>
          <a:p>
            <a:pPr marL="171450" indent="-171450">
              <a:buFont typeface="Arial" panose="020B0604020202020204" pitchFamily="34" charset="0"/>
              <a:buChar char="•"/>
            </a:pPr>
            <a:r>
              <a:rPr lang="en-US" dirty="0"/>
              <a:t>The cartel outcome (collusion) maximizes profits: each firm agrees to sell </a:t>
            </a:r>
            <a:r>
              <a:rPr lang="en-US" b="1" i="1" dirty="0"/>
              <a:t>Q</a:t>
            </a:r>
            <a:r>
              <a:rPr lang="en-US" dirty="0"/>
              <a:t> = 2,200 gallons of gasoline, each makes $13,200 in profit</a:t>
            </a:r>
          </a:p>
          <a:p>
            <a:pPr marL="171450" indent="-171450">
              <a:buFont typeface="Arial" panose="020B0604020202020204" pitchFamily="34" charset="0"/>
              <a:buChar char="•"/>
            </a:pPr>
            <a:r>
              <a:rPr lang="en-US" dirty="0"/>
              <a:t>But both have an incentive to cheat on that agreement and we end up with a Nash equilibrium where each sells </a:t>
            </a:r>
            <a:r>
              <a:rPr lang="en-US" b="1" i="1" dirty="0"/>
              <a:t>Q</a:t>
            </a:r>
            <a:r>
              <a:rPr lang="en-US" dirty="0"/>
              <a:t> = 3,000 gallons, and each makes only $12,000 in profit.</a:t>
            </a:r>
          </a:p>
          <a:p>
            <a:pPr marL="171450" indent="-171450">
              <a:buFont typeface="Arial" panose="020B0604020202020204" pitchFamily="34" charset="0"/>
              <a:buChar char="•"/>
            </a:pPr>
            <a:r>
              <a:rPr lang="en-US" dirty="0"/>
              <a:t>(If one sold</a:t>
            </a:r>
            <a:r>
              <a:rPr lang="en-US" baseline="0" dirty="0"/>
              <a:t> </a:t>
            </a:r>
            <a:r>
              <a:rPr lang="en-US" b="1" i="1" baseline="0" dirty="0"/>
              <a:t>Q</a:t>
            </a:r>
            <a:r>
              <a:rPr lang="en-US" b="1" baseline="-25000" dirty="0"/>
              <a:t>1</a:t>
            </a:r>
            <a:r>
              <a:rPr lang="en-US" baseline="0" dirty="0"/>
              <a:t> = 2,200 and the other </a:t>
            </a:r>
            <a:r>
              <a:rPr lang="en-US" b="1" i="1" baseline="0" dirty="0"/>
              <a:t>Q</a:t>
            </a:r>
            <a:r>
              <a:rPr lang="en-US" b="1" baseline="-25000" dirty="0"/>
              <a:t>2</a:t>
            </a:r>
            <a:r>
              <a:rPr lang="en-US" baseline="0" dirty="0"/>
              <a:t> = 3,000, the one cheating and selling 3,000 gallons would make $15,000 in profit, while the one selling the 2, 200 gallons would make only $11,000)</a:t>
            </a:r>
          </a:p>
          <a:p>
            <a:pPr marL="0" indent="0">
              <a:buFontTx/>
              <a:buNone/>
            </a:pPr>
            <a:endParaRPr lang="en-US" baseline="0" dirty="0"/>
          </a:p>
          <a:p>
            <a:pPr marL="0" indent="0">
              <a:buFontTx/>
              <a:buNone/>
            </a:pPr>
            <a:r>
              <a:rPr lang="en-US" baseline="0" dirty="0"/>
              <a:t>Since the Smallville example we solved so far has every information your students need, you can break the lecture and ask them to work in pairs and build the payoff matrix, fill it in with the profits, and find the Nash equilibrium (of course, it will be the same as the duopoly outcome: both cheat on the agreement to collude!)</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38122793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7CE8B327-5A95-4316-86CF-6D8F448F928C}" type="slidenum">
              <a:rPr lang="en-US" smtClean="0"/>
              <a:pPr/>
              <a:t>24</a:t>
            </a:fld>
            <a:endParaRPr lang="en-US"/>
          </a:p>
        </p:txBody>
      </p:sp>
      <p:sp>
        <p:nvSpPr>
          <p:cNvPr id="70659"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957AEDCF-F085-4A7B-84C4-3C0CE5AEE1EF}" type="slidenum">
              <a:rPr lang="en-US" sz="1300">
                <a:cs typeface="Arial" charset="0"/>
              </a:rPr>
              <a:pPr algn="r"/>
              <a:t>24</a:t>
            </a:fld>
            <a:endParaRPr lang="en-US" sz="1300">
              <a:cs typeface="Arial" charset="0"/>
            </a:endParaRPr>
          </a:p>
        </p:txBody>
      </p:sp>
      <p:sp>
        <p:nvSpPr>
          <p:cNvPr id="70660" name="Rectangle 2"/>
          <p:cNvSpPr>
            <a:spLocks noGrp="1" noRot="1" noChangeAspect="1" noChangeArrowheads="1" noTextEdit="1"/>
          </p:cNvSpPr>
          <p:nvPr>
            <p:ph type="sldImg"/>
          </p:nvPr>
        </p:nvSpPr>
        <p:spPr>
          <a:xfrm>
            <a:off x="1257300" y="561975"/>
            <a:ext cx="4800600" cy="3600450"/>
          </a:xfrm>
          <a:ln/>
        </p:spPr>
      </p:sp>
      <p:sp>
        <p:nvSpPr>
          <p:cNvPr id="70661" name="Rectangle 3"/>
          <p:cNvSpPr>
            <a:spLocks noGrp="1" noChangeArrowheads="1"/>
          </p:cNvSpPr>
          <p:nvPr>
            <p:ph type="body" idx="1"/>
          </p:nvPr>
        </p:nvSpPr>
        <p:spPr>
          <a:xfrm>
            <a:off x="731520" y="4460557"/>
            <a:ext cx="5852160" cy="4420553"/>
          </a:xfrm>
          <a:noFill/>
          <a:ln/>
        </p:spPr>
        <p:txBody>
          <a:bodyPr/>
          <a:lstStyle/>
          <a:p>
            <a:pPr eaLnBrk="1" hangingPunct="1"/>
            <a:r>
              <a:rPr lang="en-US" dirty="0"/>
              <a:t>In this exercise, students have to identify dominant</a:t>
            </a:r>
            <a:r>
              <a:rPr lang="en-US" baseline="0" dirty="0"/>
              <a:t> strategies and the Nash equilibrium.</a:t>
            </a:r>
            <a:endParaRPr lang="en-US" dirty="0"/>
          </a:p>
          <a:p>
            <a:pPr eaLnBrk="1" hangingPunct="1"/>
            <a:r>
              <a:rPr lang="en-US" dirty="0"/>
              <a:t>The payoff matrix is already filled. </a:t>
            </a:r>
          </a:p>
          <a:p>
            <a:pPr eaLnBrk="1" hangingPunct="1"/>
            <a:endParaRPr lang="en-US" dirty="0"/>
          </a:p>
          <a:p>
            <a:pPr eaLnBrk="1" hangingPunct="1"/>
            <a:r>
              <a:rPr lang="en-US" dirty="0"/>
              <a:t>Remind your students that we stuck a player in a decision</a:t>
            </a:r>
            <a:r>
              <a:rPr lang="en-US" baseline="0" dirty="0"/>
              <a:t> to see what’s the best response for the other player.</a:t>
            </a:r>
          </a:p>
          <a:p>
            <a:pPr marL="171450" indent="-171450" eaLnBrk="1" hangingPunct="1">
              <a:buFont typeface="Arial" panose="020B0604020202020204" pitchFamily="34" charset="0"/>
              <a:buChar char="•"/>
            </a:pPr>
            <a:r>
              <a:rPr lang="en-US" baseline="0" dirty="0"/>
              <a:t>For example, if 7-eleven produces the small quantity (stick to the agreement to collude), then Casey’s will earn $13,200 profit if agree to collude, but earn $15,000 profit if they cheat. So, Casey’s will be better off selling 3,000.</a:t>
            </a:r>
          </a:p>
          <a:p>
            <a:pPr marL="171450" indent="-171450" eaLnBrk="1" hangingPunct="1">
              <a:buFont typeface="Arial" panose="020B0604020202020204" pitchFamily="34" charset="0"/>
              <a:buChar char="•"/>
            </a:pPr>
            <a:r>
              <a:rPr lang="en-US" baseline="0" dirty="0"/>
              <a:t>If 7-eleven cheats and produces 3,000, then Casey’s will earn $11,000 profit if collude, but earn $12,000 if they cheat. So, Casey’s will be better off selling 3,000, regardless of how much gasoline 70eleven is selling.</a:t>
            </a:r>
          </a:p>
          <a:p>
            <a:pPr eaLnBrk="1" hangingPunct="1"/>
            <a:endParaRPr lang="en-US" baseline="0" dirty="0"/>
          </a:p>
          <a:p>
            <a:pPr eaLnBrk="1" hangingPunct="1"/>
            <a:r>
              <a:rPr lang="en-US" baseline="0" dirty="0"/>
              <a:t>The analysis is similar for 7-eleven. (If Casey’s chooses one strategy, what should 7-eleven do?)</a:t>
            </a:r>
          </a:p>
          <a:p>
            <a:pPr eaLnBrk="1" hangingPunct="1"/>
            <a:r>
              <a:rPr lang="en-US" baseline="0" dirty="0"/>
              <a:t>Each player has a dominant strategy: cheat on the agreement and produce 3,000; and both producing 3,000 gallons is the Nash equilibrium. </a:t>
            </a:r>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The first example, “ad wars,” is not mentioned in the textbook. </a:t>
            </a:r>
          </a:p>
          <a:p>
            <a:pPr eaLnBrk="1" hangingPunct="1"/>
            <a:endParaRPr lang="en-US" dirty="0"/>
          </a:p>
          <a:p>
            <a:pPr eaLnBrk="1" hangingPunct="1"/>
            <a:r>
              <a:rPr lang="en-US" dirty="0"/>
              <a:t>An interesting note about ad wars:  When Congress banned cigarette advertising on television in 1971, cigarette manufacturers’ profits rose.  Prior to the ban, cigarette companies were stuck in a Nash equilibrium (with lower profits) in which all were spending heavily on TV ads to steal business from each other.  The ban, in effect, forced cigarette manufacturers to switch to the cooperative outcome in which none advertises on TV and earn high profits. </a:t>
            </a:r>
          </a:p>
          <a:p>
            <a:pPr eaLnBrk="1" hangingPunct="1"/>
            <a:endParaRPr lang="en-US" dirty="0"/>
          </a:p>
          <a:p>
            <a:pPr eaLnBrk="1" hangingPunct="1"/>
            <a:r>
              <a:rPr lang="en-US" dirty="0"/>
              <a:t>The OPEC example is discussed in</a:t>
            </a:r>
            <a:r>
              <a:rPr lang="en-US" baseline="0" dirty="0"/>
              <a:t> more details in the textbook, in the Case Study: “OPEC and the World Oil Market.”</a:t>
            </a:r>
          </a:p>
          <a:p>
            <a:pPr eaLnBrk="1" hangingPunct="1"/>
            <a:endParaRPr lang="en-US" baseline="0" dirty="0"/>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23581358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The Arms-race example is discussed in more details in</a:t>
            </a:r>
            <a:r>
              <a:rPr lang="en-US" baseline="0" dirty="0"/>
              <a:t> the textbook, and is accompanied by the payoff matrix in Figure 3. The Common resources </a:t>
            </a:r>
            <a:r>
              <a:rPr lang="en-US" dirty="0"/>
              <a:t>example is discussed in much more detail in the textbook, and the Active Learning 3 exercise</a:t>
            </a:r>
            <a:r>
              <a:rPr lang="en-US" baseline="0" dirty="0"/>
              <a:t> coming up</a:t>
            </a:r>
            <a:r>
              <a:rPr lang="en-US" dirty="0"/>
              <a:t> .  </a:t>
            </a:r>
          </a:p>
          <a:p>
            <a:pPr eaLnBrk="1" hangingPunct="1"/>
            <a:r>
              <a:rPr lang="en-US" dirty="0"/>
              <a:t>Instead of covering these same examples in detail in this PowerPoint, we look at different examples, so that students who read the book still have a reason to attend class (and vice versa).  However, it’s still useful to mention the book’s examples here, and briefly discuss them if you wish, so they will be familiar to students when students read the chapter.  </a:t>
            </a:r>
          </a:p>
          <a:p>
            <a:endParaRPr lang="en-US" dirty="0"/>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23581358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arms race “game,” each of the superpowers would be better off if they could cooperate and sign an agreement to disarm.  But the logic of self-interest dictates that each country will arm itself to the teeth.  As a result, both countries are worse off for two reasons:</a:t>
            </a:r>
          </a:p>
          <a:p>
            <a:endParaRPr lang="en-US" dirty="0"/>
          </a:p>
          <a:p>
            <a:r>
              <a:rPr lang="en-US" dirty="0"/>
              <a:t>1) The risk of nuclear annihilation is higher.</a:t>
            </a:r>
          </a:p>
          <a:p>
            <a:endParaRPr lang="en-US" dirty="0"/>
          </a:p>
          <a:p>
            <a:r>
              <a:rPr lang="en-US" dirty="0"/>
              <a:t>2) Resources consumed in the arms race could have been used elsewhere.</a:t>
            </a:r>
          </a:p>
          <a:p>
            <a:endParaRPr lang="en-US" dirty="0"/>
          </a:p>
          <a:p>
            <a:r>
              <a:rPr lang="en-US" dirty="0"/>
              <a:t>The following slide presents another example in which the inability to cooperate reduces social welfare. </a:t>
            </a:r>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4265123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company can catch a small quantity if they are sending out the fleet to fish once a year (or just a few vessels). A company can catch a large quantity if they are repeatedly sending out the fleet</a:t>
            </a:r>
            <a:r>
              <a:rPr lang="en-US" baseline="0" dirty="0"/>
              <a:t> (or send all the vessels). </a:t>
            </a:r>
          </a:p>
          <a:p>
            <a:r>
              <a:rPr lang="en-US" baseline="0" dirty="0"/>
              <a:t>When both choose the small quantity, the price will he higher than when both choose the large quantity (downward sloping market demand).</a:t>
            </a:r>
            <a:r>
              <a:rPr lang="en-US" dirty="0"/>
              <a:t> </a:t>
            </a:r>
          </a:p>
          <a:p>
            <a:endParaRPr lang="en-US" dirty="0"/>
          </a:p>
          <a:p>
            <a:r>
              <a:rPr lang="en-US" dirty="0"/>
              <a:t>Give your students a few minutes to build the payoff matrix and</a:t>
            </a:r>
            <a:r>
              <a:rPr lang="en-US" baseline="0" dirty="0"/>
              <a:t> solve the problem. The answers are on the next slide.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17059163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company’s dominant strategy:</a:t>
            </a:r>
            <a:r>
              <a:rPr lang="en-US" baseline="0" dirty="0"/>
              <a:t> catch the large quantity of fish.</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following slide presents another example in which the inability to cooperate reduces social welfare. </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21872290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7EF12131-E09C-4439-92D9-B05160D5B04F}" type="slidenum">
              <a:rPr lang="en-US" smtClean="0"/>
              <a:pPr/>
              <a:t>30</a:t>
            </a:fld>
            <a:endParaRPr lang="en-US"/>
          </a:p>
        </p:txBody>
      </p:sp>
      <p:sp>
        <p:nvSpPr>
          <p:cNvPr id="76803"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C4395212-96D0-4447-A95D-3923C901344A}" type="slidenum">
              <a:rPr lang="en-US" sz="1300">
                <a:cs typeface="Arial" charset="0"/>
              </a:rPr>
              <a:pPr algn="r"/>
              <a:t>30</a:t>
            </a:fld>
            <a:endParaRPr lang="en-US" sz="1300">
              <a:cs typeface="Arial" charset="0"/>
            </a:endParaRPr>
          </a:p>
        </p:txBody>
      </p:sp>
      <p:sp>
        <p:nvSpPr>
          <p:cNvPr id="76804" name="Rectangle 2"/>
          <p:cNvSpPr>
            <a:spLocks noGrp="1" noRot="1" noChangeAspect="1" noChangeArrowheads="1" noTextEdit="1"/>
          </p:cNvSpPr>
          <p:nvPr>
            <p:ph type="sldImg"/>
          </p:nvPr>
        </p:nvSpPr>
        <p:spPr>
          <a:xfrm>
            <a:off x="1257300" y="561975"/>
            <a:ext cx="4800600" cy="3600450"/>
          </a:xfrm>
          <a:ln/>
        </p:spPr>
      </p:sp>
      <p:sp>
        <p:nvSpPr>
          <p:cNvPr id="76805" name="Rectangle 3"/>
          <p:cNvSpPr>
            <a:spLocks noGrp="1" noChangeArrowheads="1"/>
          </p:cNvSpPr>
          <p:nvPr>
            <p:ph type="body" idx="1"/>
          </p:nvPr>
        </p:nvSpPr>
        <p:spPr>
          <a:xfrm>
            <a:off x="731520" y="4460557"/>
            <a:ext cx="5852160" cy="4420553"/>
          </a:xfrm>
          <a:noFill/>
          <a:ln/>
        </p:spPr>
        <p:txBody>
          <a:bodyPr/>
          <a:lstStyle/>
          <a:p>
            <a:pPr eaLnBrk="1" hangingPunct="1"/>
            <a:r>
              <a:rPr lang="en-US" dirty="0"/>
              <a:t>Example 4 (this slide and the two that follow) works through an example that is especially topical during election years.  It does not appear in the textbook, so it is not supported with Test Bank questions or Study Guide questions.  Please feel free to omit it from your presentation. </a:t>
            </a:r>
          </a:p>
          <a:p>
            <a:pPr eaLnBrk="1" hangingPunct="1"/>
            <a:endParaRPr lang="en-US" dirty="0"/>
          </a:p>
          <a:p>
            <a:pPr eaLnBrk="1" hangingPunct="1"/>
            <a:r>
              <a:rPr lang="en-US" dirty="0"/>
              <a:t>Yet, I encourage you to consider keeping this example.  Students find it interesting:  it explains why negative ads flood the airwaves prior to elections, and it explains the effects of these ads on society.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20EE0CD1-C53A-49DB-B6EC-23C49A9A245B}" type="slidenum">
              <a:rPr lang="en-US" smtClean="0"/>
              <a:pPr/>
              <a:t>31</a:t>
            </a:fld>
            <a:endParaRPr lang="en-US"/>
          </a:p>
        </p:txBody>
      </p:sp>
      <p:sp>
        <p:nvSpPr>
          <p:cNvPr id="7782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A125F347-3C11-4E10-9162-FA2C14B942E0}" type="slidenum">
              <a:rPr lang="en-US" sz="1300">
                <a:cs typeface="Arial" charset="0"/>
              </a:rPr>
              <a:pPr algn="r"/>
              <a:t>31</a:t>
            </a:fld>
            <a:endParaRPr lang="en-US" sz="1300">
              <a:cs typeface="Arial" charset="0"/>
            </a:endParaRPr>
          </a:p>
        </p:txBody>
      </p:sp>
      <p:sp>
        <p:nvSpPr>
          <p:cNvPr id="77828" name="Rectangle 2"/>
          <p:cNvSpPr>
            <a:spLocks noGrp="1" noRot="1" noChangeAspect="1" noChangeArrowheads="1" noTextEdit="1"/>
          </p:cNvSpPr>
          <p:nvPr>
            <p:ph type="sldImg"/>
          </p:nvPr>
        </p:nvSpPr>
        <p:spPr>
          <a:xfrm>
            <a:off x="1257300" y="561975"/>
            <a:ext cx="4800600" cy="3600450"/>
          </a:xfrm>
          <a:ln/>
        </p:spPr>
      </p:sp>
      <p:sp>
        <p:nvSpPr>
          <p:cNvPr id="77829" name="Rectangle 3"/>
          <p:cNvSpPr>
            <a:spLocks noGrp="1" noChangeArrowheads="1"/>
          </p:cNvSpPr>
          <p:nvPr>
            <p:ph type="body" idx="1"/>
          </p:nvPr>
        </p:nvSpPr>
        <p:spPr>
          <a:xfrm>
            <a:off x="731520" y="4460557"/>
            <a:ext cx="5852160" cy="4420553"/>
          </a:xfrm>
          <a:noFill/>
          <a:ln/>
        </p:spPr>
        <p:txBody>
          <a:bodyPr/>
          <a:lstStyle/>
          <a:p>
            <a:pPr eaLnBrk="1" hangingPunct="1"/>
            <a:r>
              <a:rPr lang="en-US" b="1" dirty="0"/>
              <a:t>Understanding the payoffs:</a:t>
            </a:r>
          </a:p>
          <a:p>
            <a:pPr eaLnBrk="1" hangingPunct="1"/>
            <a:r>
              <a:rPr lang="en-US" dirty="0"/>
              <a:t>Mutual cooperation is the benchmark outcome:  Payoffs in other cells are differences in votes received relative to the mutual cooperation outcome.  (This does not mean that there is a tie in the mutual cooperation outcome or the mutual defection outcome.  It means that the winner will be decided by factors other than whether attack ads run or not.)</a:t>
            </a:r>
          </a:p>
          <a:p>
            <a:pPr eaLnBrk="1" hangingPunct="1"/>
            <a:endParaRPr lang="en-US" dirty="0"/>
          </a:p>
          <a:p>
            <a:pPr eaLnBrk="1" hangingPunct="1"/>
            <a:r>
              <a:rPr lang="en-US" dirty="0"/>
              <a:t>Consider R’s decision.  R is better off defecting (running ads attacking D) whether D cooperates or defects.  If D cooperates, R’s attack ads result in 1,000 more votes for R and 3,000 fewer votes for D.  If D defects, R loses fewer votes if he runs the attack ad than if he cooperates. Hence, running attack ads is a dominant strategy for R.  </a:t>
            </a:r>
          </a:p>
          <a:p>
            <a:pPr eaLnBrk="1" hangingPunct="1"/>
            <a:endParaRPr lang="en-US" dirty="0"/>
          </a:p>
          <a:p>
            <a:pPr eaLnBrk="1" hangingPunct="1"/>
            <a:r>
              <a:rPr lang="en-US" dirty="0"/>
              <a:t>The payoffs here are symmetric, so defecting is also D’s dominant strategy.  This game has a Nash equilibrium in which both candidates defect.  This is one reason why, in the real world, we see so many attack ads in the weeks leading up to an election.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D127B104-DB59-41DD-A473-74B310203237}" type="slidenum">
              <a:rPr lang="en-US" smtClean="0"/>
              <a:pPr/>
              <a:t>32</a:t>
            </a:fld>
            <a:endParaRPr lang="en-US"/>
          </a:p>
        </p:txBody>
      </p:sp>
      <p:sp>
        <p:nvSpPr>
          <p:cNvPr id="7885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B46C3FB6-51A5-4410-8A23-462A10813102}" type="slidenum">
              <a:rPr lang="en-US" sz="1300">
                <a:cs typeface="Arial" charset="0"/>
              </a:rPr>
              <a:pPr algn="r"/>
              <a:t>32</a:t>
            </a:fld>
            <a:endParaRPr lang="en-US" sz="1300">
              <a:cs typeface="Arial" charset="0"/>
            </a:endParaRPr>
          </a:p>
        </p:txBody>
      </p:sp>
      <p:sp>
        <p:nvSpPr>
          <p:cNvPr id="78852" name="Rectangle 2"/>
          <p:cNvSpPr>
            <a:spLocks noGrp="1" noRot="1" noChangeAspect="1" noChangeArrowheads="1" noTextEdit="1"/>
          </p:cNvSpPr>
          <p:nvPr>
            <p:ph type="sldImg"/>
          </p:nvPr>
        </p:nvSpPr>
        <p:spPr>
          <a:xfrm>
            <a:off x="1257300" y="561975"/>
            <a:ext cx="4800600" cy="3600450"/>
          </a:xfrm>
          <a:ln/>
        </p:spPr>
      </p:sp>
      <p:sp>
        <p:nvSpPr>
          <p:cNvPr id="78853" name="Rectangle 3"/>
          <p:cNvSpPr>
            <a:spLocks noGrp="1" noChangeArrowheads="1"/>
          </p:cNvSpPr>
          <p:nvPr>
            <p:ph type="body" idx="1"/>
          </p:nvPr>
        </p:nvSpPr>
        <p:spPr>
          <a:xfrm>
            <a:off x="731520" y="4460557"/>
            <a:ext cx="5852160" cy="4420553"/>
          </a:xfrm>
          <a:noFill/>
          <a:ln/>
        </p:spPr>
        <p:txBody>
          <a:bodyPr/>
          <a:lstStyle/>
          <a:p>
            <a:pPr eaLnBrk="1" hangingPunct="1"/>
            <a:r>
              <a:rPr lang="en-US" dirty="0"/>
              <a:t>This slide considers the effects of the attack ads on election outcomes and on social well-being.  The negative impact on social well-being is like a negative externality:  the “bystanders” are voters who are worse off as a result of the candidates’ actions.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study from the textbook: “The Prisoners” Dilemma Tournament” offers a more detailed analysis</a:t>
            </a:r>
            <a:r>
              <a:rPr lang="en-US" baseline="0" dirty="0"/>
              <a:t>.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18707008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bullet point is one of the 10 principles we studied in Chapter 1.</a:t>
            </a:r>
          </a:p>
          <a:p>
            <a:r>
              <a:rPr lang="en-US" dirty="0"/>
              <a:t>Because in oligopolies production is too low and prices are too high relative to the social optimum,</a:t>
            </a:r>
            <a:r>
              <a:rPr lang="en-US" baseline="0" dirty="0"/>
              <a:t> we need government interference to improve the outcome. </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41722735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“Ask the Experts” feature provides the opportunity for class discussion. (there are 4 questions about the Antitrust in the Digital Economy. This is only the first one).</a:t>
            </a:r>
          </a:p>
          <a:p>
            <a:endParaRPr lang="en-US" dirty="0"/>
          </a:p>
          <a:p>
            <a:r>
              <a:rPr lang="en-US"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a:t>Ask the students to share with the class their reasons. Their answers will vary.</a:t>
            </a:r>
          </a:p>
          <a:p>
            <a:endParaRPr 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427720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If you’re so inclined, this might be a good place to mention the infamous phone call in which Robert Crandall, CEO of American Airlines, tried to convince </a:t>
            </a:r>
            <a:r>
              <a:rPr lang="en-US" dirty="0" err="1"/>
              <a:t>Braniff’s</a:t>
            </a:r>
            <a:r>
              <a:rPr lang="en-US" dirty="0"/>
              <a:t> CEO Howard Putnam to raise fares 20%.  The</a:t>
            </a:r>
            <a:r>
              <a:rPr lang="en-US" baseline="0" dirty="0"/>
              <a:t> transcript is in the case study “An Illegal Phone Call.”</a:t>
            </a:r>
            <a:r>
              <a:rPr lang="en-US" dirty="0"/>
              <a:t> Students will find it interesting:  it has curse words.  The Active Learning 4</a:t>
            </a:r>
            <a:r>
              <a:rPr lang="en-US" baseline="0" dirty="0"/>
              <a:t> on the next slide is using the same airline companies. </a:t>
            </a:r>
            <a:endParaRPr lang="en-US" dirty="0"/>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36</a:t>
            </a:fld>
            <a:endParaRPr lang="en-US"/>
          </a:p>
        </p:txBody>
      </p:sp>
    </p:spTree>
    <p:extLst>
      <p:ext uri="{BB962C8B-B14F-4D97-AF65-F5344CB8AC3E}">
        <p14:creationId xmlns:p14="http://schemas.microsoft.com/office/powerpoint/2010/main" val="38838713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“Ask the Experts” feature provides the opportunity for class discussion. (there are 4 questions about the Antitrust in the Digital Economy. This is the second one).</a:t>
            </a:r>
          </a:p>
          <a:p>
            <a:endParaRPr lang="en-US" dirty="0"/>
          </a:p>
          <a:p>
            <a:r>
              <a:rPr lang="en-US"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a:t>Ask the students to share with the class their reasons. Their answers will vary.</a:t>
            </a:r>
          </a:p>
          <a:p>
            <a:endParaRPr 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37</a:t>
            </a:fld>
            <a:endParaRPr lang="en-US"/>
          </a:p>
        </p:txBody>
      </p:sp>
    </p:spTree>
    <p:extLst>
      <p:ext uri="{BB962C8B-B14F-4D97-AF65-F5344CB8AC3E}">
        <p14:creationId xmlns:p14="http://schemas.microsoft.com/office/powerpoint/2010/main" val="25064252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lnSpc>
                <a:spcPct val="105000"/>
              </a:lnSpc>
              <a:defRPr/>
            </a:pPr>
            <a:r>
              <a:rPr lang="en-US" sz="1300" dirty="0"/>
              <a:t>The title I have given this game (the “fare wars” game) might be too much of a hint about what happens in the Nash equilibrium.  Feel free to change it to something like “airfare pricing strategies.”</a:t>
            </a:r>
          </a:p>
          <a:p>
            <a:pPr defTabSz="966612">
              <a:lnSpc>
                <a:spcPct val="105000"/>
              </a:lnSpc>
              <a:defRPr/>
            </a:pPr>
            <a:r>
              <a:rPr lang="en-US" sz="1300" dirty="0" err="1"/>
              <a:t>Braniff</a:t>
            </a:r>
            <a:r>
              <a:rPr lang="en-US" sz="1300" dirty="0"/>
              <a:t> Airways was</a:t>
            </a:r>
            <a:r>
              <a:rPr lang="en-US" sz="1300" baseline="0" dirty="0"/>
              <a:t> a major airline in the early 1980’s. </a:t>
            </a:r>
            <a:r>
              <a:rPr lang="en-US" sz="1300" dirty="0"/>
              <a:t> </a:t>
            </a:r>
          </a:p>
        </p:txBody>
      </p:sp>
      <p:sp>
        <p:nvSpPr>
          <p:cNvPr id="4" name="Slide Number Placeholder 3"/>
          <p:cNvSpPr>
            <a:spLocks noGrp="1"/>
          </p:cNvSpPr>
          <p:nvPr>
            <p:ph type="sldNum" sz="quarter" idx="10"/>
          </p:nvPr>
        </p:nvSpPr>
        <p:spPr/>
        <p:txBody>
          <a:bodyPr/>
          <a:lstStyle/>
          <a:p>
            <a:fld id="{2CAF6792-DBE1-4461-97FA-F85A7B48814E}" type="slidenum">
              <a:rPr lang="en-US" smtClean="0"/>
              <a:t>38</a:t>
            </a:fld>
            <a:endParaRPr lang="en-US"/>
          </a:p>
        </p:txBody>
      </p:sp>
    </p:spTree>
    <p:extLst>
      <p:ext uri="{BB962C8B-B14F-4D97-AF65-F5344CB8AC3E}">
        <p14:creationId xmlns:p14="http://schemas.microsoft.com/office/powerpoint/2010/main" val="27967146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lnSpc>
                <a:spcPct val="105000"/>
              </a:lnSpc>
              <a:defRPr/>
            </a:pPr>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39</a:t>
            </a:fld>
            <a:endParaRPr lang="en-US"/>
          </a:p>
        </p:txBody>
      </p:sp>
    </p:spTree>
    <p:extLst>
      <p:ext uri="{BB962C8B-B14F-4D97-AF65-F5344CB8AC3E}">
        <p14:creationId xmlns:p14="http://schemas.microsoft.com/office/powerpoint/2010/main" val="27967146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“Ask the Experts” feature provides the opportunity for class discussion. (there are 4 questions about the Antitrust in the Digital Economy. This is the third one).</a:t>
            </a:r>
          </a:p>
          <a:p>
            <a:endParaRPr lang="en-US" dirty="0"/>
          </a:p>
          <a:p>
            <a:r>
              <a:rPr lang="en-US"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a:t>Ask the students to share with the class their reasons. Their answers will vary.</a:t>
            </a:r>
          </a:p>
          <a:p>
            <a:endParaRPr 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40</a:t>
            </a:fld>
            <a:endParaRPr lang="en-US"/>
          </a:p>
        </p:txBody>
      </p:sp>
    </p:spTree>
    <p:extLst>
      <p:ext uri="{BB962C8B-B14F-4D97-AF65-F5344CB8AC3E}">
        <p14:creationId xmlns:p14="http://schemas.microsoft.com/office/powerpoint/2010/main" val="41042190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41</a:t>
            </a:fld>
            <a:endParaRPr lang="en-US"/>
          </a:p>
        </p:txBody>
      </p:sp>
    </p:spTree>
    <p:extLst>
      <p:ext uri="{BB962C8B-B14F-4D97-AF65-F5344CB8AC3E}">
        <p14:creationId xmlns:p14="http://schemas.microsoft.com/office/powerpoint/2010/main" val="10878237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Resale price maintenance is a controversial business practice, yet it has legitimate goals. </a:t>
            </a:r>
          </a:p>
        </p:txBody>
      </p:sp>
      <p:sp>
        <p:nvSpPr>
          <p:cNvPr id="4" name="Slide Number Placeholder 3"/>
          <p:cNvSpPr>
            <a:spLocks noGrp="1"/>
          </p:cNvSpPr>
          <p:nvPr>
            <p:ph type="sldNum" sz="quarter" idx="5"/>
          </p:nvPr>
        </p:nvSpPr>
        <p:spPr/>
        <p:txBody>
          <a:bodyPr/>
          <a:lstStyle/>
          <a:p>
            <a:fld id="{2CAF6792-DBE1-4461-97FA-F85A7B48814E}" type="slidenum">
              <a:rPr lang="en-US" smtClean="0"/>
              <a:t>42</a:t>
            </a:fld>
            <a:endParaRPr lang="en-US"/>
          </a:p>
        </p:txBody>
      </p:sp>
    </p:spTree>
    <p:extLst>
      <p:ext uri="{BB962C8B-B14F-4D97-AF65-F5344CB8AC3E}">
        <p14:creationId xmlns:p14="http://schemas.microsoft.com/office/powerpoint/2010/main" val="21916347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Regarding the last two points: </a:t>
            </a:r>
          </a:p>
          <a:p>
            <a:pPr eaLnBrk="1" hangingPunct="1"/>
            <a:endParaRPr lang="en-US" dirty="0"/>
          </a:p>
          <a:p>
            <a:pPr eaLnBrk="1" hangingPunct="1"/>
            <a:r>
              <a:rPr lang="en-US" dirty="0"/>
              <a:t>Predatory pricing requires selling products below cost, generating losses.  The firm must have deep pockets to sustain such losses and survive until its competitor leaves the market.  Afterward, there is no guarantee that the economic profits from charging the monopoly price will make up for the losses sustained during the period of predatory pricing.  </a:t>
            </a:r>
          </a:p>
          <a:p>
            <a:pPr eaLnBrk="1" hangingPunct="1"/>
            <a:endParaRPr lang="en-US" dirty="0"/>
          </a:p>
          <a:p>
            <a:pPr eaLnBrk="1" hangingPunct="1"/>
            <a:r>
              <a:rPr lang="en-US" dirty="0"/>
              <a:t>Suppose a firm engages in predatory pricing and sustains deep losses for a period of time, but succeeds in driving its competitor out of business.  Even then, the pressure is not off—a potential entrant may be standing by, ready to jump into the market to take a share of the monopoly profits the firm would otherwise enjoy all to itself.  If so, then the firm is less likely to recover the losses it endures while it is engaging in predatory pricing.  </a:t>
            </a:r>
          </a:p>
          <a:p>
            <a:pPr eaLnBrk="1" hangingPunct="1"/>
            <a:endParaRPr lang="en-US" dirty="0"/>
          </a:p>
          <a:p>
            <a:pPr eaLnBrk="1" hangingPunct="1"/>
            <a:r>
              <a:rPr lang="en-US" dirty="0"/>
              <a:t>Economists have done a fair amount of research on predatory pricing, and there is not yet any consensus.  Until there is, it might not be a good idea to prosecute predatory pricing under the antitrust laws.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43</a:t>
            </a:fld>
            <a:endParaRPr lang="en-US"/>
          </a:p>
        </p:txBody>
      </p:sp>
    </p:spTree>
    <p:extLst>
      <p:ext uri="{BB962C8B-B14F-4D97-AF65-F5344CB8AC3E}">
        <p14:creationId xmlns:p14="http://schemas.microsoft.com/office/powerpoint/2010/main" val="30542720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of tying: Microsoft including Internet</a:t>
            </a:r>
            <a:r>
              <a:rPr lang="en-US" baseline="0" dirty="0"/>
              <a:t> Explorer within Windows (include a </a:t>
            </a:r>
            <a:r>
              <a:rPr lang="en-US" dirty="0"/>
              <a:t>browser with its operating system).</a:t>
            </a:r>
            <a:r>
              <a:rPr lang="en-US" baseline="0" dirty="0"/>
              <a:t> The details of the Microsoft case are in the last case study in the text.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44</a:t>
            </a:fld>
            <a:endParaRPr lang="en-US"/>
          </a:p>
        </p:txBody>
      </p:sp>
    </p:spTree>
    <p:extLst>
      <p:ext uri="{BB962C8B-B14F-4D97-AF65-F5344CB8AC3E}">
        <p14:creationId xmlns:p14="http://schemas.microsoft.com/office/powerpoint/2010/main" val="24551487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“Ask the Experts” feature provides the opportunity for class discussion. (there are 4 questions about the Antitrust in the Digital Economy. This is the last one).</a:t>
            </a:r>
          </a:p>
          <a:p>
            <a:endParaRPr lang="en-US" dirty="0"/>
          </a:p>
          <a:p>
            <a:r>
              <a:rPr lang="en-US"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a:t>Ask the students to share with the class their reasons. Their answers will vary.</a:t>
            </a:r>
          </a:p>
          <a:p>
            <a:endParaRPr 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45</a:t>
            </a:fld>
            <a:endParaRPr lang="en-US"/>
          </a:p>
        </p:txBody>
      </p:sp>
    </p:spTree>
    <p:extLst>
      <p:ext uri="{BB962C8B-B14F-4D97-AF65-F5344CB8AC3E}">
        <p14:creationId xmlns:p14="http://schemas.microsoft.com/office/powerpoint/2010/main" val="19087707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allow students to work in small groups for 5-10 minutes. Then allow student groups to share with other groups or with the entire class</a:t>
            </a:r>
            <a:r>
              <a:rPr lang="en-US" dirty="0"/>
              <a:t>.  Or, you can treat the Think-Pair-Share activity</a:t>
            </a:r>
            <a:r>
              <a:rPr lang="en-US" baseline="0" dirty="0"/>
              <a:t> as an open-to-all in–class discussion.</a:t>
            </a:r>
          </a:p>
          <a:p>
            <a:pPr defTabSz="948507"/>
            <a:endParaRPr lang="en-US" baseline="0" dirty="0"/>
          </a:p>
          <a:p>
            <a:pPr defTabSz="948507"/>
            <a:endParaRPr lang="en-US" sz="1200" kern="1200" baseline="0" dirty="0">
              <a:solidFill>
                <a:schemeClr val="tx1"/>
              </a:solidFill>
              <a:effectLst/>
              <a:latin typeface="+mn-lt"/>
              <a:ea typeface="+mn-ea"/>
              <a:cs typeface="+mn-cs"/>
            </a:endParaRPr>
          </a:p>
          <a:p>
            <a:r>
              <a:rPr lang="en-US" dirty="0">
                <a:solidFill>
                  <a:srgbClr val="002060"/>
                </a:solidFill>
              </a:rPr>
              <a:t>Discussion points:  </a:t>
            </a:r>
          </a:p>
          <a:p>
            <a:r>
              <a:rPr lang="en-US" sz="1200" kern="1200" dirty="0">
                <a:solidFill>
                  <a:schemeClr val="tx1"/>
                </a:solidFill>
                <a:effectLst/>
                <a:latin typeface="+mn-lt"/>
                <a:ea typeface="+mn-ea"/>
                <a:cs typeface="+mn-cs"/>
              </a:rPr>
              <a:t>A. No. It</a:t>
            </a:r>
            <a:r>
              <a:rPr lang="en-US" sz="1200" kern="1200" baseline="0" dirty="0">
                <a:solidFill>
                  <a:schemeClr val="tx1"/>
                </a:solidFill>
                <a:effectLst/>
                <a:latin typeface="+mn-lt"/>
                <a:ea typeface="+mn-ea"/>
                <a:cs typeface="+mn-cs"/>
              </a:rPr>
              <a:t> is more likely that both stores (the only ones in town; so, it’s a duopoly) are worse off by staying open 24 hours a day</a:t>
            </a:r>
            <a:r>
              <a:rPr lang="en-US" sz="1200" kern="1200" dirty="0">
                <a:solidFill>
                  <a:schemeClr val="tx1"/>
                </a:solidFill>
                <a:effectLst/>
                <a:latin typeface="+mn-lt"/>
                <a:ea typeface="+mn-ea"/>
                <a:cs typeface="+mn-cs"/>
              </a:rPr>
              <a:t>. Even in a college town, the revenue from the few extra customers shopping outside</a:t>
            </a:r>
            <a:r>
              <a:rPr lang="en-US" sz="1200" kern="1200" baseline="0" dirty="0">
                <a:solidFill>
                  <a:schemeClr val="tx1"/>
                </a:solidFill>
                <a:effectLst/>
                <a:latin typeface="+mn-lt"/>
                <a:ea typeface="+mn-ea"/>
                <a:cs typeface="+mn-cs"/>
              </a:rPr>
              <a:t> the “usual business hours” is probably lower than the variable cost of keeping the store open (additional security, cashiers, electricity, and so 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 The two stores are stuck in a prisoners’ dilemma game where the Nash equilibrium is to stay open 24 hours. They would both be better off (higher profits) if they stay open only during the day (this would be the collusion). But if only one stays open overnight when the other closes overnight,</a:t>
            </a:r>
            <a:r>
              <a:rPr lang="en-US" sz="1200" kern="1200" baseline="0" dirty="0">
                <a:solidFill>
                  <a:schemeClr val="tx1"/>
                </a:solidFill>
                <a:effectLst/>
                <a:latin typeface="+mn-lt"/>
                <a:ea typeface="+mn-ea"/>
                <a:cs typeface="+mn-cs"/>
              </a:rPr>
              <a:t> the one staying open will gain all overnight shoppers and that may lead to an increase in profits. So, while each would be better off staying open only during day-time, self-interest dictates that both stay open overnight, a Nash equilibrium that is not what’s best for the group</a:t>
            </a:r>
            <a:r>
              <a:rPr lang="en-US" sz="1200" kern="1200" dirty="0">
                <a:solidFill>
                  <a:schemeClr val="tx1"/>
                </a:solidFill>
                <a:effectLst/>
                <a:latin typeface="+mn-lt"/>
                <a:ea typeface="+mn-ea"/>
                <a:cs typeface="+mn-cs"/>
              </a:rPr>
              <a:t>.</a:t>
            </a:r>
          </a:p>
          <a:p>
            <a:pPr defTabSz="948507"/>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46</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47</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48</a:t>
            </a:fld>
            <a:endParaRPr lang="en-US"/>
          </a:p>
        </p:txBody>
      </p:sp>
    </p:spTree>
    <p:extLst>
      <p:ext uri="{BB962C8B-B14F-4D97-AF65-F5344CB8AC3E}">
        <p14:creationId xmlns:p14="http://schemas.microsoft.com/office/powerpoint/2010/main" val="3706611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Content Placeholder 5"/>
          <p:cNvSpPr>
            <a:spLocks noGrp="1"/>
          </p:cNvSpPr>
          <p:nvPr>
            <p:ph sz="quarter" idx="12" hasCustomPrompt="1"/>
          </p:nvPr>
        </p:nvSpPr>
        <p:spPr>
          <a:xfrm>
            <a:off x="5364404" y="1850232"/>
            <a:ext cx="3335336" cy="2667000"/>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486400"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Tree>
    <p:extLst>
      <p:ext uri="{BB962C8B-B14F-4D97-AF65-F5344CB8AC3E}">
        <p14:creationId xmlns:p14="http://schemas.microsoft.com/office/powerpoint/2010/main" val="1430035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 this chapter">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304800" y="0"/>
            <a:ext cx="8686800" cy="889000"/>
          </a:xfrm>
        </p:spPr>
        <p:txBody>
          <a:bodyPr/>
          <a:lstStyle>
            <a:lvl1pPr algn="l">
              <a:defRPr sz="4800" b="1" baseline="0">
                <a:solidFill>
                  <a:srgbClr val="4E519E"/>
                </a:solidFill>
              </a:defRPr>
            </a:lvl1pPr>
          </a:lstStyle>
          <a:p>
            <a:r>
              <a:rPr lang="en-US" dirty="0"/>
              <a:t>IN THIS ****</a:t>
            </a:r>
          </a:p>
        </p:txBody>
      </p:sp>
    </p:spTree>
    <p:extLst>
      <p:ext uri="{BB962C8B-B14F-4D97-AF65-F5344CB8AC3E}">
        <p14:creationId xmlns:p14="http://schemas.microsoft.com/office/powerpoint/2010/main" val="273159307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h in a nutshell">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290362407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MM Layou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CADFF2DC-AB6C-9C87-CB47-B613743F2B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CADFF2DC-AB6C-9C87-CB47-B613743F2B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397755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
        <p:nvSpPr>
          <p:cNvPr id="6" name="Footer Placeholder 5">
            <a:extLst>
              <a:ext uri="{FF2B5EF4-FFF2-40B4-BE49-F238E27FC236}">
                <a16:creationId xmlns:a16="http://schemas.microsoft.com/office/drawing/2014/main" id="{D6CC48C9-2DF5-86B2-52F6-3553FB63E4E3}"/>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5B1924E0-10F3-9B23-4A6D-B7A794FC706B}"/>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a:extLst>
              <a:ext uri="{FF2B5EF4-FFF2-40B4-BE49-F238E27FC236}">
                <a16:creationId xmlns:a16="http://schemas.microsoft.com/office/drawing/2014/main" id="{17B77F17-B778-0463-4050-5A3EDA879F7A}"/>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9B7DD5BC-6889-55B8-E161-048CBF284B93}"/>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28C9FCF9-4C2A-8540-818D-BA23E2ACC0B6}"/>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828EFF68-0D13-3713-8BC9-76BE687BDC06}"/>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L or EX BT no animation">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2"/>
          <p:cNvSpPr>
            <a:spLocks noGrp="1"/>
          </p:cNvSpPr>
          <p:nvPr>
            <p:ph idx="12" hasCustomPrompt="1"/>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 NO ANIM</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8861536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5" name="Title 4">
            <a:extLst>
              <a:ext uri="{FF2B5EF4-FFF2-40B4-BE49-F238E27FC236}">
                <a16:creationId xmlns:a16="http://schemas.microsoft.com/office/drawing/2014/main" id="{702A7941-629B-80AB-3C95-443682B8FE1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2464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a:noFill/>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4E519E"/>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6.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theme" Target="../theme/theme3.xml"/><Relationship Id="rId4"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5.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2.xml"/><Relationship Id="rId7" Type="http://schemas.openxmlformats.org/officeDocument/2006/relationships/image" Target="../media/image15.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6.xml"/><Relationship Id="rId5" Type="http://schemas.openxmlformats.org/officeDocument/2006/relationships/slideLayout" Target="../slideLayouts/slideLayout14.xml"/><Relationship Id="rId10" Type="http://schemas.openxmlformats.org/officeDocument/2006/relationships/image" Target="../media/image17.png"/><Relationship Id="rId4" Type="http://schemas.openxmlformats.org/officeDocument/2006/relationships/slideLayout" Target="../slideLayouts/slideLayout13.xml"/><Relationship Id="rId9" Type="http://schemas.openxmlformats.org/officeDocument/2006/relationships/image" Target="../media/image16.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7.xml"/><Relationship Id="rId1" Type="http://schemas.openxmlformats.org/officeDocument/2006/relationships/slideLayout" Target="../slideLayouts/slideLayout15.xml"/><Relationship Id="rId4" Type="http://schemas.openxmlformats.org/officeDocument/2006/relationships/image" Target="../media/image19.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theme" Target="../theme/theme9.xml"/><Relationship Id="rId1" Type="http://schemas.openxmlformats.org/officeDocument/2006/relationships/slideLayout" Target="../slideLayouts/slideLayout1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theme" Target="../theme/theme10.xml"/><Relationship Id="rId1" Type="http://schemas.openxmlformats.org/officeDocument/2006/relationships/slideLayout" Target="../slideLayouts/slideLayout19.xml"/><Relationship Id="rId5" Type="http://schemas.openxmlformats.org/officeDocument/2006/relationships/image" Target="../media/image30.png"/><Relationship Id="rId4" Type="http://schemas.openxmlformats.org/officeDocument/2006/relationships/image" Target="../media/image2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4"/>
          <a:stretch>
            <a:fillRect/>
          </a:stretch>
        </p:blipFill>
        <p:spPr>
          <a:xfrm>
            <a:off x="-1" y="1439"/>
            <a:ext cx="4953001" cy="6362582"/>
          </a:xfrm>
          <a:prstGeom prst="rect">
            <a:avLst/>
          </a:prstGeom>
        </p:spPr>
      </p:pic>
    </p:spTree>
    <p:extLst>
      <p:ext uri="{BB962C8B-B14F-4D97-AF65-F5344CB8AC3E}">
        <p14:creationId xmlns:p14="http://schemas.microsoft.com/office/powerpoint/2010/main" val="1698949580"/>
      </p:ext>
    </p:extLst>
  </p:cSld>
  <p:clrMap bg1="lt1" tx1="dk1" bg2="lt2" tx2="dk2" accent1="accent1" accent2="accent2" accent3="accent3" accent4="accent4" accent5="accent5" accent6="accent6" hlink="hlink" folHlink="folHlink"/>
  <p:sldLayoutIdLst>
    <p:sldLayoutId id="2147483702"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4"/>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5"/>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91" r:id="rId1"/>
    <p:sldLayoutId id="2147483695"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6"/>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6"/>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7"/>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99" r:id="rId2"/>
    <p:sldLayoutId id="2147483674" r:id="rId3"/>
    <p:sldLayoutId id="2147483682" r:id="rId4"/>
  </p:sldLayoutIdLst>
  <p:transition/>
  <p:hf hdr="0" dt="0"/>
  <p:txStyles>
    <p:titleStyle>
      <a:lvl1pPr algn="ctr" rtl="0" eaLnBrk="0" fontAlgn="base" hangingPunct="0">
        <a:spcBef>
          <a:spcPct val="0"/>
        </a:spcBef>
        <a:spcAft>
          <a:spcPct val="0"/>
        </a:spcAft>
        <a:defRPr sz="400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7F4DFE-5B5A-0F39-64B6-B61C4321E799}"/>
              </a:ext>
            </a:extLst>
          </p:cNvPr>
          <p:cNvPicPr>
            <a:picLocks noChangeAspect="1"/>
          </p:cNvPicPr>
          <p:nvPr userDrawn="1"/>
        </p:nvPicPr>
        <p:blipFill>
          <a:blip r:embed="rId7"/>
          <a:stretch>
            <a:fillRect/>
          </a:stretch>
        </p:blipFill>
        <p:spPr>
          <a:xfrm>
            <a:off x="454616" y="6462712"/>
            <a:ext cx="8384583" cy="319088"/>
          </a:xfrm>
          <a:prstGeom prst="rect">
            <a:avLst/>
          </a:prstGeom>
        </p:spPr>
      </p:pic>
      <p:pic>
        <p:nvPicPr>
          <p:cNvPr id="4" name="Picture 3">
            <a:extLst>
              <a:ext uri="{FF2B5EF4-FFF2-40B4-BE49-F238E27FC236}">
                <a16:creationId xmlns:a16="http://schemas.microsoft.com/office/drawing/2014/main" id="{849DCBD9-D40B-6CAD-1A54-E203D88E57AC}"/>
              </a:ext>
            </a:extLst>
          </p:cNvPr>
          <p:cNvPicPr>
            <a:picLocks noChangeAspect="1"/>
          </p:cNvPicPr>
          <p:nvPr userDrawn="1"/>
        </p:nvPicPr>
        <p:blipFill>
          <a:blip r:embed="rId7"/>
          <a:stretch>
            <a:fillRect/>
          </a:stretch>
        </p:blipFill>
        <p:spPr>
          <a:xfrm>
            <a:off x="0" y="1327"/>
            <a:ext cx="9139238" cy="821138"/>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8"/>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76201" y="153987"/>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454616" y="6324601"/>
            <a:ext cx="8308384"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 id="2147483700" r:id="rId5"/>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4"/>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5"/>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6"/>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304800" y="1602867"/>
            <a:ext cx="8610600" cy="4721733"/>
          </a:xfrm>
          <a:prstGeom prst="rect">
            <a:avLst/>
          </a:prstGeom>
          <a:solidFill>
            <a:srgbClr val="EAEAF4"/>
          </a:solidFill>
          <a:ln>
            <a:noFill/>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28598"/>
                <a:ext cx="7543800" cy="102213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18.xml"/><Relationship Id="rId4" Type="http://schemas.openxmlformats.org/officeDocument/2006/relationships/image" Target="../media/image34.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18.xml"/><Relationship Id="rId4" Type="http://schemas.openxmlformats.org/officeDocument/2006/relationships/image" Target="../media/image34.e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40.xml"/><Relationship Id="rId1" Type="http://schemas.openxmlformats.org/officeDocument/2006/relationships/slideLayout" Target="../slideLayouts/slideLayout18.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8.xml"/><Relationship Id="rId4" Type="http://schemas.openxmlformats.org/officeDocument/2006/relationships/image" Target="../media/image34.e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12" name="Footer Placeholder 2"/>
          <p:cNvSpPr>
            <a:spLocks noGrp="1"/>
          </p:cNvSpPr>
          <p:nvPr>
            <p:ph type="ftr" sz="quarter" idx="11"/>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8" name="Text Placeholder 7"/>
          <p:cNvSpPr>
            <a:spLocks noGrp="1"/>
          </p:cNvSpPr>
          <p:nvPr>
            <p:ph sz="quarter" idx="12"/>
          </p:nvPr>
        </p:nvSpPr>
        <p:spPr>
          <a:xfrm>
            <a:off x="4572000" y="2785946"/>
            <a:ext cx="4876800" cy="2667000"/>
          </a:xfrm>
        </p:spPr>
        <p:txBody>
          <a:bodyPr anchor="ctr">
            <a:normAutofit/>
          </a:bodyPr>
          <a:lstStyle/>
          <a:p>
            <a:pPr algn="ctr">
              <a:defRPr/>
            </a:pPr>
            <a:r>
              <a:rPr lang="en-US" sz="3500" dirty="0">
                <a:latin typeface="+mj-lt"/>
              </a:rPr>
              <a:t>Oligopoly</a:t>
            </a:r>
          </a:p>
        </p:txBody>
      </p:sp>
      <p:sp>
        <p:nvSpPr>
          <p:cNvPr id="9" name="Content Placeholder 8"/>
          <p:cNvSpPr>
            <a:spLocks noGrp="1"/>
          </p:cNvSpPr>
          <p:nvPr>
            <p:ph sz="quarter" idx="4294967295"/>
          </p:nvPr>
        </p:nvSpPr>
        <p:spPr>
          <a:xfrm>
            <a:off x="5607050" y="766646"/>
            <a:ext cx="2806700" cy="2019300"/>
          </a:xfrm>
          <a:blipFill>
            <a:blip r:embed="rId3"/>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18</a:t>
            </a:r>
          </a:p>
        </p:txBody>
      </p:sp>
      <p:sp>
        <p:nvSpPr>
          <p:cNvPr id="2" name="TextBox 1">
            <a:extLst>
              <a:ext uri="{FF2B5EF4-FFF2-40B4-BE49-F238E27FC236}">
                <a16:creationId xmlns:a16="http://schemas.microsoft.com/office/drawing/2014/main" id="{0B5A449B-BAD6-9B89-7C0B-1EFCA42EE241}"/>
              </a:ext>
            </a:extLst>
          </p:cNvPr>
          <p:cNvSpPr txBox="1">
            <a:spLocks noGrp="1" noRot="1" noMove="1" noResize="1" noEditPoints="1" noAdjustHandles="1" noChangeArrowheads="1" noChangeShapeType="1"/>
          </p:cNvSpPr>
          <p:nvPr/>
        </p:nvSpPr>
        <p:spPr>
          <a:xfrm>
            <a:off x="5607050" y="5105400"/>
            <a:ext cx="2914650" cy="838200"/>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962300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200" dirty="0"/>
              <a:t>What outcomes are possible under oligopoly? </a:t>
            </a:r>
          </a:p>
          <a:p>
            <a:r>
              <a:rPr lang="en-US" sz="3200" dirty="0"/>
              <a:t>Why is it difficult for oligopoly firms to cooperate? </a:t>
            </a:r>
          </a:p>
          <a:p>
            <a:r>
              <a:rPr lang="en-US" sz="3200" dirty="0"/>
              <a:t>How can we use game theory to analyze the economics of cooperation?</a:t>
            </a:r>
          </a:p>
          <a:p>
            <a:r>
              <a:rPr lang="en-US" sz="3200" dirty="0"/>
              <a:t>How are antitrust laws used to foster competition?</a:t>
            </a:r>
          </a:p>
          <a:p>
            <a:endParaRPr lang="en-US" sz="3200" dirty="0"/>
          </a:p>
          <a:p>
            <a:endParaRPr lang="en-US" sz="32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dirty="0"/>
          </a:p>
        </p:txBody>
      </p:sp>
      <p:sp>
        <p:nvSpPr>
          <p:cNvPr id="5" name="Footer Placeholder 4">
            <a:extLst>
              <a:ext uri="{FF2B5EF4-FFF2-40B4-BE49-F238E27FC236}">
                <a16:creationId xmlns:a16="http://schemas.microsoft.com/office/drawing/2014/main" id="{27E57AAB-6BFA-88D4-671C-09588D0D0EE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p:nvPr>
        </p:nvSpPr>
        <p:spPr/>
        <p:txBody>
          <a:bodyPr/>
          <a:lstStyle/>
          <a:p>
            <a:r>
              <a:rPr lang="en-US" dirty="0"/>
              <a:t>IN THIS CHAPTER</a:t>
            </a:r>
          </a:p>
        </p:txBody>
      </p:sp>
    </p:spTree>
    <p:extLst>
      <p:ext uri="{BB962C8B-B14F-4D97-AF65-F5344CB8AC3E}">
        <p14:creationId xmlns:p14="http://schemas.microsoft.com/office/powerpoint/2010/main" val="7383311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a:t>
            </a:r>
          </a:p>
        </p:txBody>
      </p:sp>
      <p:sp>
        <p:nvSpPr>
          <p:cNvPr id="3" name="Content Placeholder 2"/>
          <p:cNvSpPr>
            <a:spLocks noGrp="1"/>
          </p:cNvSpPr>
          <p:nvPr>
            <p:ph idx="1"/>
          </p:nvPr>
        </p:nvSpPr>
        <p:spPr/>
        <p:txBody>
          <a:bodyPr/>
          <a:lstStyle/>
          <a:p>
            <a:r>
              <a:rPr lang="en-US" dirty="0"/>
              <a:t>Concentration ratio</a:t>
            </a:r>
          </a:p>
          <a:p>
            <a:pPr lvl="1"/>
            <a:r>
              <a:rPr lang="en-US" dirty="0"/>
              <a:t>Measure a market’s domination by a small number of firms</a:t>
            </a:r>
          </a:p>
          <a:p>
            <a:pPr lvl="1"/>
            <a:r>
              <a:rPr lang="en-US" dirty="0"/>
              <a:t>The percentage of total output in the market supplied by the four largest firms</a:t>
            </a:r>
          </a:p>
          <a:p>
            <a:pPr lvl="1"/>
            <a:r>
              <a:rPr lang="en-US" dirty="0"/>
              <a:t>Less than 50% for most industries</a:t>
            </a:r>
          </a:p>
          <a:p>
            <a:pPr lvl="1"/>
            <a:r>
              <a:rPr lang="en-US" dirty="0">
                <a:solidFill>
                  <a:srgbClr val="4E519E"/>
                </a:solidFill>
              </a:rPr>
              <a:t>Greater than 90% in: aircraft manufacturing, tobacco, passenger car rentals, and express delivery services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a:t>
            </a:fld>
            <a:endParaRPr lang="en-US"/>
          </a:p>
        </p:txBody>
      </p:sp>
      <p:sp>
        <p:nvSpPr>
          <p:cNvPr id="5" name="Footer Placeholder 4">
            <a:extLst>
              <a:ext uri="{FF2B5EF4-FFF2-40B4-BE49-F238E27FC236}">
                <a16:creationId xmlns:a16="http://schemas.microsoft.com/office/drawing/2014/main" id="{2BDAEBEA-D873-51D6-23F5-FAB4D5879D1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49983426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Review: the Four Types of Market Structure</a:t>
            </a:r>
          </a:p>
        </p:txBody>
      </p:sp>
      <p:sp>
        <p:nvSpPr>
          <p:cNvPr id="4" name="Slide Number Placeholder 3"/>
          <p:cNvSpPr>
            <a:spLocks noGrp="1"/>
          </p:cNvSpPr>
          <p:nvPr>
            <p:ph type="sldNum" sz="quarter" idx="10"/>
          </p:nvPr>
        </p:nvSpPr>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fld id="{073C29DC-2178-4274-9150-45F8EBD31C2D}" type="slidenum">
              <a:rPr kumimoji="0" lang="en-US" sz="1200" b="0" i="0" u="none" strike="noStrike" kern="1200" cap="none" spc="0" normalizeH="0" baseline="0" noProof="0" smtClean="0">
                <a:ln>
                  <a:noFill/>
                </a:ln>
                <a:solidFill>
                  <a:srgbClr val="4E519E"/>
                </a:solidFill>
                <a:effectLst/>
                <a:uLnTx/>
                <a:uFillTx/>
                <a:latin typeface="Arial"/>
                <a:ea typeface="+mn-ea"/>
                <a:cs typeface="+mn-cs"/>
              </a:rPr>
              <a:pPr marL="0" marR="0" lvl="0" indent="0" algn="ctr" defTabSz="914400" rtl="0" eaLnBrk="1" fontAlgn="auto" latinLnBrk="0" hangingPunct="1">
                <a:lnSpc>
                  <a:spcPct val="100000"/>
                </a:lnSpc>
                <a:spcBef>
                  <a:spcPct val="0"/>
                </a:spcBef>
                <a:spcAft>
                  <a:spcPts val="0"/>
                </a:spcAft>
                <a:buClrTx/>
                <a:buSzTx/>
                <a:buFontTx/>
                <a:buNone/>
                <a:tabLst/>
                <a:defRPr/>
              </a:pPr>
              <a:t>4</a:t>
            </a:fld>
            <a:endParaRPr kumimoji="0" lang="en-US" sz="1200" b="0" i="0" u="none" strike="noStrike" kern="1200" cap="none" spc="0" normalizeH="0" baseline="0" noProof="0">
              <a:ln>
                <a:noFill/>
              </a:ln>
              <a:solidFill>
                <a:srgbClr val="4E519E"/>
              </a:solidFill>
              <a:effectLst/>
              <a:uLnTx/>
              <a:uFillTx/>
              <a:latin typeface="Arial"/>
              <a:ea typeface="+mn-ea"/>
              <a:cs typeface="+mn-cs"/>
            </a:endParaRPr>
          </a:p>
        </p:txBody>
      </p:sp>
      <p:sp>
        <p:nvSpPr>
          <p:cNvPr id="6" name="TextBox 5"/>
          <p:cNvSpPr txBox="1"/>
          <p:nvPr/>
        </p:nvSpPr>
        <p:spPr>
          <a:xfrm>
            <a:off x="2209800" y="903890"/>
            <a:ext cx="2943434" cy="523220"/>
          </a:xfrm>
          <a:prstGeom prst="rect">
            <a:avLst/>
          </a:prstGeom>
          <a:solidFill>
            <a:srgbClr val="E3F0FA"/>
          </a:solidFill>
          <a:ln>
            <a:solidFill>
              <a:srgbClr val="00206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a:ea typeface="+mn-ea"/>
                <a:cs typeface="+mn-cs"/>
              </a:rPr>
              <a:t>Number of firms?</a:t>
            </a:r>
          </a:p>
        </p:txBody>
      </p:sp>
      <p:sp>
        <p:nvSpPr>
          <p:cNvPr id="10" name="TextBox 9"/>
          <p:cNvSpPr txBox="1"/>
          <p:nvPr/>
        </p:nvSpPr>
        <p:spPr>
          <a:xfrm>
            <a:off x="174855" y="4590411"/>
            <a:ext cx="1856598" cy="1692771"/>
          </a:xfrm>
          <a:prstGeom prst="rect">
            <a:avLst/>
          </a:prstGeom>
          <a:solidFill>
            <a:srgbClr val="E3F0FA"/>
          </a:solidFill>
          <a:ln>
            <a:solidFill>
              <a:srgbClr val="002060"/>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4E519E"/>
                </a:solidFill>
                <a:effectLst/>
                <a:uLnTx/>
                <a:uFillTx/>
                <a:latin typeface="Arial"/>
                <a:ea typeface="+mn-ea"/>
                <a:cs typeface="+mn-cs"/>
              </a:rPr>
              <a:t>Monopoly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000000"/>
                </a:solidFill>
                <a:effectLst/>
                <a:uLnTx/>
                <a:uFillTx/>
                <a:latin typeface="Arial"/>
                <a:ea typeface="+mn-ea"/>
                <a:cs typeface="+mn-cs"/>
              </a:rPr>
              <a:t>Tap water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000000"/>
                </a:solidFill>
                <a:effectLst/>
                <a:uLnTx/>
                <a:uFillTx/>
                <a:latin typeface="Arial"/>
                <a:ea typeface="+mn-ea"/>
                <a:cs typeface="+mn-cs"/>
              </a:rPr>
              <a:t>Cable TV</a:t>
            </a:r>
          </a:p>
        </p:txBody>
      </p:sp>
      <p:sp>
        <p:nvSpPr>
          <p:cNvPr id="11" name="TextBox 10"/>
          <p:cNvSpPr txBox="1"/>
          <p:nvPr/>
        </p:nvSpPr>
        <p:spPr>
          <a:xfrm>
            <a:off x="2133600" y="4590411"/>
            <a:ext cx="2002471" cy="1692771"/>
          </a:xfrm>
          <a:prstGeom prst="rect">
            <a:avLst/>
          </a:prstGeom>
          <a:solidFill>
            <a:srgbClr val="E3F0FA"/>
          </a:solidFill>
          <a:ln>
            <a:solidFill>
              <a:srgbClr val="002060"/>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4E519E"/>
                </a:solidFill>
                <a:effectLst/>
                <a:uLnTx/>
                <a:uFillTx/>
                <a:latin typeface="Arial"/>
                <a:ea typeface="+mn-ea"/>
                <a:cs typeface="+mn-cs"/>
              </a:rPr>
              <a:t>Oligopoly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000000"/>
                </a:solidFill>
                <a:effectLst/>
                <a:uLnTx/>
                <a:uFillTx/>
                <a:latin typeface="Arial"/>
                <a:ea typeface="+mn-ea"/>
                <a:cs typeface="+mn-cs"/>
              </a:rPr>
              <a:t>Tennis balls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000000"/>
                </a:solidFill>
                <a:effectLst/>
                <a:uLnTx/>
                <a:uFillTx/>
                <a:latin typeface="Arial"/>
                <a:ea typeface="+mn-ea"/>
                <a:cs typeface="+mn-cs"/>
              </a:rPr>
              <a:t>Cigarettes </a:t>
            </a:r>
          </a:p>
        </p:txBody>
      </p:sp>
      <p:sp>
        <p:nvSpPr>
          <p:cNvPr id="12" name="TextBox 11"/>
          <p:cNvSpPr txBox="1"/>
          <p:nvPr/>
        </p:nvSpPr>
        <p:spPr>
          <a:xfrm>
            <a:off x="4876800" y="2286000"/>
            <a:ext cx="3143233" cy="523220"/>
          </a:xfrm>
          <a:prstGeom prst="rect">
            <a:avLst/>
          </a:prstGeom>
          <a:solidFill>
            <a:srgbClr val="E3F0FA"/>
          </a:solidFill>
          <a:ln>
            <a:solidFill>
              <a:srgbClr val="00206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a:ea typeface="+mn-ea"/>
                <a:cs typeface="+mn-cs"/>
              </a:rPr>
              <a:t>Type of products?</a:t>
            </a:r>
          </a:p>
        </p:txBody>
      </p:sp>
      <p:sp>
        <p:nvSpPr>
          <p:cNvPr id="15" name="TextBox 14"/>
          <p:cNvSpPr txBox="1"/>
          <p:nvPr/>
        </p:nvSpPr>
        <p:spPr>
          <a:xfrm>
            <a:off x="4267200" y="4190301"/>
            <a:ext cx="2345642" cy="2092881"/>
          </a:xfrm>
          <a:prstGeom prst="rect">
            <a:avLst/>
          </a:prstGeom>
          <a:solidFill>
            <a:srgbClr val="E3F0FA"/>
          </a:solidFill>
          <a:ln>
            <a:solidFill>
              <a:srgbClr val="002060"/>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4E519E"/>
                </a:solidFill>
                <a:effectLst/>
                <a:uLnTx/>
                <a:uFillTx/>
                <a:latin typeface="Arial"/>
                <a:ea typeface="+mn-ea"/>
                <a:cs typeface="+mn-cs"/>
              </a:rPr>
              <a:t>Monopolistic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4E519E"/>
                </a:solidFill>
                <a:effectLst/>
                <a:uLnTx/>
                <a:uFillTx/>
                <a:latin typeface="Arial"/>
                <a:ea typeface="+mn-ea"/>
                <a:cs typeface="+mn-cs"/>
              </a:rPr>
              <a:t>Competition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000000"/>
                </a:solidFill>
                <a:effectLst/>
                <a:uLnTx/>
                <a:uFillTx/>
                <a:latin typeface="Arial"/>
                <a:ea typeface="+mn-ea"/>
                <a:cs typeface="+mn-cs"/>
              </a:rPr>
              <a:t>Novels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000000"/>
                </a:solidFill>
                <a:effectLst/>
                <a:uLnTx/>
                <a:uFillTx/>
                <a:latin typeface="Arial"/>
                <a:ea typeface="+mn-ea"/>
                <a:cs typeface="+mn-cs"/>
              </a:rPr>
              <a:t>Movies</a:t>
            </a:r>
          </a:p>
        </p:txBody>
      </p:sp>
      <p:sp>
        <p:nvSpPr>
          <p:cNvPr id="16" name="TextBox 15"/>
          <p:cNvSpPr txBox="1"/>
          <p:nvPr/>
        </p:nvSpPr>
        <p:spPr>
          <a:xfrm>
            <a:off x="6781800" y="4190301"/>
            <a:ext cx="2138855" cy="2092881"/>
          </a:xfrm>
          <a:prstGeom prst="rect">
            <a:avLst/>
          </a:prstGeom>
          <a:solidFill>
            <a:srgbClr val="E3F0FA"/>
          </a:solidFill>
          <a:ln>
            <a:solidFill>
              <a:srgbClr val="002060"/>
            </a:solid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4E519E"/>
                </a:solidFill>
                <a:effectLst/>
                <a:uLnTx/>
                <a:uFillTx/>
                <a:latin typeface="Arial"/>
                <a:ea typeface="+mn-ea"/>
                <a:cs typeface="+mn-cs"/>
              </a:rPr>
              <a:t>Perfect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4E519E"/>
                </a:solidFill>
                <a:effectLst/>
                <a:uLnTx/>
                <a:uFillTx/>
                <a:latin typeface="Arial"/>
                <a:ea typeface="+mn-ea"/>
                <a:cs typeface="+mn-cs"/>
              </a:rPr>
              <a:t>Competition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000000"/>
                </a:solidFill>
                <a:effectLst/>
                <a:uLnTx/>
                <a:uFillTx/>
                <a:latin typeface="Arial"/>
                <a:ea typeface="+mn-ea"/>
                <a:cs typeface="+mn-cs"/>
              </a:rPr>
              <a:t>Wheat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000000"/>
                </a:solidFill>
                <a:effectLst/>
                <a:uLnTx/>
                <a:uFillTx/>
                <a:latin typeface="Arial"/>
                <a:ea typeface="+mn-ea"/>
                <a:cs typeface="+mn-cs"/>
              </a:rPr>
              <a:t>Milk</a:t>
            </a:r>
          </a:p>
        </p:txBody>
      </p:sp>
      <p:grpSp>
        <p:nvGrpSpPr>
          <p:cNvPr id="31" name="Group 30"/>
          <p:cNvGrpSpPr/>
          <p:nvPr/>
        </p:nvGrpSpPr>
        <p:grpSpPr>
          <a:xfrm>
            <a:off x="1103154" y="1427110"/>
            <a:ext cx="2578363" cy="3163301"/>
            <a:chOff x="1103154" y="1427110"/>
            <a:chExt cx="2578363" cy="3163301"/>
          </a:xfrm>
        </p:grpSpPr>
        <p:sp>
          <p:nvSpPr>
            <p:cNvPr id="7" name="TextBox 6"/>
            <p:cNvSpPr txBox="1"/>
            <p:nvPr/>
          </p:nvSpPr>
          <p:spPr>
            <a:xfrm>
              <a:off x="1903438" y="1851997"/>
              <a:ext cx="766555"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One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firm</a:t>
              </a:r>
            </a:p>
          </p:txBody>
        </p:sp>
        <p:cxnSp>
          <p:nvCxnSpPr>
            <p:cNvPr id="18" name="Straight Connector 17"/>
            <p:cNvCxnSpPr>
              <a:stCxn id="6" idx="2"/>
              <a:endCxn id="10" idx="0"/>
            </p:cNvCxnSpPr>
            <p:nvPr/>
          </p:nvCxnSpPr>
          <p:spPr bwMode="auto">
            <a:xfrm flipH="1">
              <a:off x="1103154" y="1427110"/>
              <a:ext cx="2578363" cy="3163301"/>
            </a:xfrm>
            <a:prstGeom prst="line">
              <a:avLst/>
            </a:prstGeom>
            <a:noFill/>
            <a:ln w="9525" cap="flat" cmpd="sng" algn="ctr">
              <a:solidFill>
                <a:schemeClr val="tx1"/>
              </a:solidFill>
              <a:prstDash val="solid"/>
              <a:round/>
              <a:headEnd type="none" w="med" len="med"/>
              <a:tailEnd type="none" w="med" len="med"/>
            </a:ln>
            <a:effectLst/>
          </p:spPr>
        </p:cxnSp>
      </p:grpSp>
      <p:grpSp>
        <p:nvGrpSpPr>
          <p:cNvPr id="32" name="Group 31"/>
          <p:cNvGrpSpPr/>
          <p:nvPr/>
        </p:nvGrpSpPr>
        <p:grpSpPr>
          <a:xfrm>
            <a:off x="2312991" y="1427110"/>
            <a:ext cx="1368526" cy="3163301"/>
            <a:chOff x="2312991" y="1427110"/>
            <a:chExt cx="1368526" cy="3163301"/>
          </a:xfrm>
        </p:grpSpPr>
        <p:sp>
          <p:nvSpPr>
            <p:cNvPr id="8" name="TextBox 7"/>
            <p:cNvSpPr txBox="1"/>
            <p:nvPr/>
          </p:nvSpPr>
          <p:spPr>
            <a:xfrm>
              <a:off x="2312991" y="3489615"/>
              <a:ext cx="851515"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Few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firms</a:t>
              </a:r>
            </a:p>
          </p:txBody>
        </p:sp>
        <p:cxnSp>
          <p:nvCxnSpPr>
            <p:cNvPr id="22" name="Straight Connector 21"/>
            <p:cNvCxnSpPr>
              <a:stCxn id="6" idx="2"/>
              <a:endCxn id="11" idx="0"/>
            </p:cNvCxnSpPr>
            <p:nvPr/>
          </p:nvCxnSpPr>
          <p:spPr bwMode="auto">
            <a:xfrm flipH="1">
              <a:off x="3134836" y="1427110"/>
              <a:ext cx="546681" cy="3163301"/>
            </a:xfrm>
            <a:prstGeom prst="line">
              <a:avLst/>
            </a:prstGeom>
            <a:noFill/>
            <a:ln w="9525" cap="flat" cmpd="sng" algn="ctr">
              <a:solidFill>
                <a:schemeClr val="tx1"/>
              </a:solidFill>
              <a:prstDash val="solid"/>
              <a:round/>
              <a:headEnd type="none" w="med" len="med"/>
              <a:tailEnd type="none" w="med" len="med"/>
            </a:ln>
            <a:effectLst/>
          </p:spPr>
        </p:cxnSp>
      </p:grpSp>
      <p:grpSp>
        <p:nvGrpSpPr>
          <p:cNvPr id="33" name="Group 32"/>
          <p:cNvGrpSpPr/>
          <p:nvPr/>
        </p:nvGrpSpPr>
        <p:grpSpPr>
          <a:xfrm>
            <a:off x="3681517" y="1427110"/>
            <a:ext cx="3252683" cy="858890"/>
            <a:chOff x="3681517" y="1427110"/>
            <a:chExt cx="3252683" cy="858890"/>
          </a:xfrm>
        </p:grpSpPr>
        <p:sp>
          <p:nvSpPr>
            <p:cNvPr id="9" name="TextBox 8"/>
            <p:cNvSpPr txBox="1"/>
            <p:nvPr/>
          </p:nvSpPr>
          <p:spPr>
            <a:xfrm>
              <a:off x="5244314" y="1524000"/>
              <a:ext cx="1689886"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Many firms</a:t>
              </a:r>
            </a:p>
          </p:txBody>
        </p:sp>
        <p:cxnSp>
          <p:nvCxnSpPr>
            <p:cNvPr id="25" name="Straight Connector 24"/>
            <p:cNvCxnSpPr>
              <a:stCxn id="6" idx="2"/>
              <a:endCxn id="12" idx="0"/>
            </p:cNvCxnSpPr>
            <p:nvPr/>
          </p:nvCxnSpPr>
          <p:spPr bwMode="auto">
            <a:xfrm>
              <a:off x="3681517" y="1427110"/>
              <a:ext cx="2766900" cy="858890"/>
            </a:xfrm>
            <a:prstGeom prst="line">
              <a:avLst/>
            </a:prstGeom>
            <a:noFill/>
            <a:ln w="9525" cap="flat" cmpd="sng" algn="ctr">
              <a:solidFill>
                <a:schemeClr val="tx1"/>
              </a:solidFill>
              <a:prstDash val="solid"/>
              <a:round/>
              <a:headEnd type="none" w="med" len="med"/>
              <a:tailEnd type="none" w="med" len="med"/>
            </a:ln>
            <a:effectLst/>
          </p:spPr>
        </p:cxnSp>
      </p:grpSp>
      <p:grpSp>
        <p:nvGrpSpPr>
          <p:cNvPr id="34" name="Group 33"/>
          <p:cNvGrpSpPr/>
          <p:nvPr/>
        </p:nvGrpSpPr>
        <p:grpSpPr>
          <a:xfrm>
            <a:off x="4008480" y="2809220"/>
            <a:ext cx="2439937" cy="1381081"/>
            <a:chOff x="4008480" y="2809220"/>
            <a:chExt cx="2439937" cy="1381081"/>
          </a:xfrm>
        </p:grpSpPr>
        <p:sp>
          <p:nvSpPr>
            <p:cNvPr id="13" name="TextBox 12"/>
            <p:cNvSpPr txBox="1"/>
            <p:nvPr/>
          </p:nvSpPr>
          <p:spPr>
            <a:xfrm>
              <a:off x="4008480" y="3207603"/>
              <a:ext cx="2011320"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Differentiated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products</a:t>
              </a:r>
            </a:p>
          </p:txBody>
        </p:sp>
        <p:cxnSp>
          <p:nvCxnSpPr>
            <p:cNvPr id="27" name="Straight Connector 26"/>
            <p:cNvCxnSpPr>
              <a:stCxn id="12" idx="2"/>
              <a:endCxn id="15" idx="0"/>
            </p:cNvCxnSpPr>
            <p:nvPr/>
          </p:nvCxnSpPr>
          <p:spPr bwMode="auto">
            <a:xfrm flipH="1">
              <a:off x="5440021" y="2809220"/>
              <a:ext cx="1008396" cy="1381081"/>
            </a:xfrm>
            <a:prstGeom prst="line">
              <a:avLst/>
            </a:prstGeom>
            <a:noFill/>
            <a:ln w="9525" cap="flat" cmpd="sng" algn="ctr">
              <a:solidFill>
                <a:schemeClr val="tx1"/>
              </a:solidFill>
              <a:prstDash val="solid"/>
              <a:round/>
              <a:headEnd type="none" w="med" len="med"/>
              <a:tailEnd type="none" w="med" len="med"/>
            </a:ln>
            <a:effectLst/>
          </p:spPr>
        </p:cxnSp>
      </p:grpSp>
      <p:grpSp>
        <p:nvGrpSpPr>
          <p:cNvPr id="35" name="Group 34"/>
          <p:cNvGrpSpPr/>
          <p:nvPr/>
        </p:nvGrpSpPr>
        <p:grpSpPr>
          <a:xfrm>
            <a:off x="6448417" y="2809220"/>
            <a:ext cx="2232862" cy="1381081"/>
            <a:chOff x="6448417" y="2809220"/>
            <a:chExt cx="2232862" cy="1381081"/>
          </a:xfrm>
        </p:grpSpPr>
        <p:sp>
          <p:nvSpPr>
            <p:cNvPr id="14" name="TextBox 13"/>
            <p:cNvSpPr txBox="1"/>
            <p:nvPr/>
          </p:nvSpPr>
          <p:spPr>
            <a:xfrm>
              <a:off x="7315200" y="2971800"/>
              <a:ext cx="1366079"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Identical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products</a:t>
              </a:r>
            </a:p>
          </p:txBody>
        </p:sp>
        <p:cxnSp>
          <p:nvCxnSpPr>
            <p:cNvPr id="29" name="Straight Connector 28"/>
            <p:cNvCxnSpPr>
              <a:stCxn id="12" idx="2"/>
              <a:endCxn id="16" idx="0"/>
            </p:cNvCxnSpPr>
            <p:nvPr/>
          </p:nvCxnSpPr>
          <p:spPr bwMode="auto">
            <a:xfrm>
              <a:off x="6448417" y="2809220"/>
              <a:ext cx="1402811" cy="1381081"/>
            </a:xfrm>
            <a:prstGeom prst="line">
              <a:avLst/>
            </a:prstGeom>
            <a:noFill/>
            <a:ln w="9525" cap="flat" cmpd="sng" algn="ctr">
              <a:solidFill>
                <a:schemeClr val="tx1"/>
              </a:solidFill>
              <a:prstDash val="solid"/>
              <a:round/>
              <a:headEnd type="none" w="med" len="med"/>
              <a:tailEnd type="none" w="med" len="med"/>
            </a:ln>
            <a:effectLst/>
          </p:spPr>
        </p:cxnSp>
      </p:grpSp>
      <p:sp>
        <p:nvSpPr>
          <p:cNvPr id="3" name="Footer Placeholder 2">
            <a:extLst>
              <a:ext uri="{FF2B5EF4-FFF2-40B4-BE49-F238E27FC236}">
                <a16:creationId xmlns:a16="http://schemas.microsoft.com/office/drawing/2014/main" id="{3134D1DB-878B-319C-81E3-3DA72EC8659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itchFamily="34" charset="0"/>
              </a:rPr>
              <a:t>Mankiw, Principles of Economics, 11th Edition. © 2027 Cengage. All Rights Reserved. May not be scanned, copied or duplicated, or posted to a publicly accessible website, in whole or in part.</a:t>
            </a:r>
            <a:endParaRPr kumimoji="0" lang="en-US" sz="900" b="0" i="0" u="none" strike="noStrike" kern="1200" cap="none" spc="0" normalizeH="0" baseline="0" noProof="0" dirty="0">
              <a:ln>
                <a:noFill/>
              </a:ln>
              <a:solidFill>
                <a:srgbClr val="000000"/>
              </a:solidFill>
              <a:effectLst/>
              <a:uLnTx/>
              <a:uFillTx/>
              <a:latin typeface="Arial"/>
              <a:ea typeface="+mn-ea"/>
              <a:cs typeface="Arial" pitchFamily="34" charset="0"/>
            </a:endParaRPr>
          </a:p>
        </p:txBody>
      </p:sp>
    </p:spTree>
    <p:extLst>
      <p:ext uri="{BB962C8B-B14F-4D97-AF65-F5344CB8AC3E}">
        <p14:creationId xmlns:p14="http://schemas.microsoft.com/office/powerpoint/2010/main" val="8803172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up)">
                                      <p:cBhvr>
                                        <p:cTn id="12" dur="500"/>
                                        <p:tgtEl>
                                          <p:spTgt spid="31"/>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up)">
                                      <p:cBhvr>
                                        <p:cTn id="21" dur="500"/>
                                        <p:tgtEl>
                                          <p:spTgt spid="3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up)">
                                      <p:cBhvr>
                                        <p:cTn id="30"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up)">
                                      <p:cBhvr>
                                        <p:cTn id="40" dur="500"/>
                                        <p:tgtEl>
                                          <p:spTgt spid="34"/>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wipe(up)">
                                      <p:cBhvr>
                                        <p:cTn id="49" dur="500"/>
                                        <p:tgtEl>
                                          <p:spTgt spid="35"/>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Oligopoly</a:t>
            </a:r>
          </a:p>
        </p:txBody>
      </p:sp>
      <p:sp>
        <p:nvSpPr>
          <p:cNvPr id="3" name="Content Placeholder 2"/>
          <p:cNvSpPr>
            <a:spLocks noGrp="1"/>
          </p:cNvSpPr>
          <p:nvPr>
            <p:ph idx="1"/>
          </p:nvPr>
        </p:nvSpPr>
        <p:spPr>
          <a:prstGeom prst="rect">
            <a:avLst/>
          </a:prstGeom>
        </p:spPr>
        <p:txBody>
          <a:bodyPr/>
          <a:lstStyle/>
          <a:p>
            <a:r>
              <a:rPr lang="en-US" sz="3200" dirty="0"/>
              <a:t>Oligopoly</a:t>
            </a:r>
          </a:p>
          <a:p>
            <a:pPr lvl="1"/>
            <a:r>
              <a:rPr lang="en-US" sz="2800" dirty="0"/>
              <a:t>Market structure in which only a few sellers offer similar or identical products </a:t>
            </a:r>
          </a:p>
          <a:p>
            <a:r>
              <a:rPr lang="en-US" sz="3200" dirty="0"/>
              <a:t>Strategic behavior in oligopoly:  </a:t>
            </a:r>
          </a:p>
          <a:p>
            <a:pPr lvl="1"/>
            <a:r>
              <a:rPr lang="en-US" sz="2800" dirty="0"/>
              <a:t>A firm’s decisions about </a:t>
            </a:r>
            <a:r>
              <a:rPr lang="en-US" sz="2800" b="1" i="1" dirty="0"/>
              <a:t>P</a:t>
            </a:r>
            <a:r>
              <a:rPr lang="en-US" sz="2800" dirty="0"/>
              <a:t> or </a:t>
            </a:r>
            <a:r>
              <a:rPr lang="en-US" sz="2800" b="1" i="1" dirty="0"/>
              <a:t>Q</a:t>
            </a:r>
            <a:r>
              <a:rPr lang="en-US" sz="2800" dirty="0"/>
              <a:t> can affect other firms and cause them to react  </a:t>
            </a:r>
          </a:p>
          <a:p>
            <a:pPr lvl="1"/>
            <a:r>
              <a:rPr lang="en-US" sz="2800" dirty="0"/>
              <a:t>The firm will consider these reactions when making decisions</a:t>
            </a:r>
          </a:p>
          <a:p>
            <a:r>
              <a:rPr lang="en-US" sz="3200" dirty="0"/>
              <a:t>Game theory:</a:t>
            </a:r>
            <a:r>
              <a:rPr lang="en-US" sz="2800" dirty="0">
                <a:solidFill>
                  <a:schemeClr val="tx1"/>
                </a:solidFill>
              </a:rPr>
              <a:t> the study of how people behave in strategic situations</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5</a:t>
            </a:fld>
            <a:endParaRPr lang="en-US"/>
          </a:p>
        </p:txBody>
      </p:sp>
      <p:sp>
        <p:nvSpPr>
          <p:cNvPr id="5" name="Footer Placeholder 4">
            <a:extLst>
              <a:ext uri="{FF2B5EF4-FFF2-40B4-BE49-F238E27FC236}">
                <a16:creationId xmlns:a16="http://schemas.microsoft.com/office/drawing/2014/main" id="{8913DE38-EDE4-8A17-B3D4-155304CD0514}"/>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4159776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Markets with Only a Few Sellers</a:t>
            </a:r>
          </a:p>
        </p:txBody>
      </p:sp>
      <p:sp>
        <p:nvSpPr>
          <p:cNvPr id="3" name="Content Placeholder 2"/>
          <p:cNvSpPr>
            <a:spLocks noGrp="1"/>
          </p:cNvSpPr>
          <p:nvPr>
            <p:ph idx="1"/>
          </p:nvPr>
        </p:nvSpPr>
        <p:spPr/>
        <p:txBody>
          <a:bodyPr/>
          <a:lstStyle/>
          <a:p>
            <a:r>
              <a:rPr lang="en-US" dirty="0"/>
              <a:t>Oligopolists </a:t>
            </a:r>
          </a:p>
          <a:p>
            <a:pPr lvl="1"/>
            <a:r>
              <a:rPr lang="en-US" dirty="0"/>
              <a:t>Make the most profit when they cooperate and together act like one big monopolist</a:t>
            </a:r>
          </a:p>
          <a:p>
            <a:pPr lvl="1"/>
            <a:r>
              <a:rPr lang="en-US" dirty="0"/>
              <a:t>Strong incentives hinder a group of firms from maintaining the cooperative outcome</a:t>
            </a:r>
          </a:p>
          <a:p>
            <a:r>
              <a:rPr lang="en-US" dirty="0"/>
              <a:t>Duopoly</a:t>
            </a:r>
          </a:p>
          <a:p>
            <a:pPr lvl="1"/>
            <a:r>
              <a:rPr lang="en-US" dirty="0"/>
              <a:t>A market with only two sellers </a:t>
            </a:r>
          </a:p>
          <a:p>
            <a:pPr lvl="1"/>
            <a:r>
              <a:rPr lang="en-US" dirty="0"/>
              <a:t>Simplest type of oligopoly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a:t>
            </a:fld>
            <a:endParaRPr lang="en-US"/>
          </a:p>
        </p:txBody>
      </p:sp>
      <p:sp>
        <p:nvSpPr>
          <p:cNvPr id="5" name="Footer Placeholder 4">
            <a:extLst>
              <a:ext uri="{FF2B5EF4-FFF2-40B4-BE49-F238E27FC236}">
                <a16:creationId xmlns:a16="http://schemas.microsoft.com/office/drawing/2014/main" id="{2D7E7443-1739-6682-8108-0A290DC4260C}"/>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44348121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solidFill>
                  <a:srgbClr val="AE1221"/>
                </a:solidFill>
              </a:rPr>
              <a:t>EXAMPLE 1: </a:t>
            </a:r>
            <a:r>
              <a:rPr lang="en-US" sz="3000" dirty="0">
                <a:solidFill>
                  <a:schemeClr val="tx1"/>
                </a:solidFill>
              </a:rPr>
              <a:t>Gas Station Duopoly in Smallville – 1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7</a:t>
            </a:fld>
            <a:endParaRPr lang="en-US"/>
          </a:p>
        </p:txBody>
      </p:sp>
      <p:sp>
        <p:nvSpPr>
          <p:cNvPr id="3" name="Content Placeholder 2"/>
          <p:cNvSpPr>
            <a:spLocks noGrp="1"/>
          </p:cNvSpPr>
          <p:nvPr>
            <p:ph idx="12"/>
          </p:nvPr>
        </p:nvSpPr>
        <p:spPr>
          <a:xfrm>
            <a:off x="2819400" y="914400"/>
            <a:ext cx="6080547" cy="5257800"/>
          </a:xfrm>
        </p:spPr>
        <p:txBody>
          <a:bodyPr>
            <a:normAutofit/>
          </a:bodyPr>
          <a:lstStyle/>
          <a:p>
            <a:r>
              <a:rPr lang="en-US" sz="3200" dirty="0">
                <a:solidFill>
                  <a:srgbClr val="4E519E"/>
                </a:solidFill>
              </a:rPr>
              <a:t>The table: Smallville’s demand schedule for gasoline </a:t>
            </a:r>
          </a:p>
          <a:p>
            <a:r>
              <a:rPr lang="en-US" sz="3200" dirty="0"/>
              <a:t>Smallville has only two gas stations: 7-eleven and Casey’s (Duopoly)</a:t>
            </a:r>
          </a:p>
          <a:p>
            <a:r>
              <a:rPr lang="en-US" sz="3200" b="1" i="1" dirty="0">
                <a:solidFill>
                  <a:srgbClr val="4E519E"/>
                </a:solidFill>
              </a:rPr>
              <a:t>Q</a:t>
            </a:r>
            <a:r>
              <a:rPr lang="en-US" sz="3200" dirty="0">
                <a:solidFill>
                  <a:srgbClr val="4E519E"/>
                </a:solidFill>
              </a:rPr>
              <a:t>: gallons of gasoline</a:t>
            </a:r>
          </a:p>
          <a:p>
            <a:r>
              <a:rPr lang="en-US" sz="3200" dirty="0"/>
              <a:t>Each firm’s costs are</a:t>
            </a:r>
          </a:p>
          <a:p>
            <a:pPr marL="0" indent="0">
              <a:buNone/>
            </a:pPr>
            <a:r>
              <a:rPr lang="en-US" sz="3200" dirty="0"/>
              <a:t>	</a:t>
            </a:r>
            <a:r>
              <a:rPr lang="en-US" sz="3200" b="1" i="1" dirty="0">
                <a:solidFill>
                  <a:srgbClr val="C00000"/>
                </a:solidFill>
              </a:rPr>
              <a:t>MC</a:t>
            </a:r>
            <a:r>
              <a:rPr lang="en-US" sz="3200" dirty="0">
                <a:solidFill>
                  <a:srgbClr val="C00000"/>
                </a:solidFill>
              </a:rPr>
              <a:t> = $1 </a:t>
            </a:r>
            <a:r>
              <a:rPr lang="en-US" sz="3200" dirty="0"/>
              <a:t>and </a:t>
            </a:r>
            <a:r>
              <a:rPr lang="en-US" sz="3200" b="1" i="1" dirty="0">
                <a:solidFill>
                  <a:srgbClr val="C00000"/>
                </a:solidFill>
              </a:rPr>
              <a:t>FC</a:t>
            </a:r>
            <a:r>
              <a:rPr lang="en-US" sz="3200" dirty="0">
                <a:solidFill>
                  <a:srgbClr val="C00000"/>
                </a:solidFill>
              </a:rPr>
              <a:t> = $0</a:t>
            </a:r>
          </a:p>
        </p:txBody>
      </p:sp>
      <p:graphicFrame>
        <p:nvGraphicFramePr>
          <p:cNvPr id="6" name="Table 5"/>
          <p:cNvGraphicFramePr>
            <a:graphicFrameLocks noGrp="1"/>
          </p:cNvGraphicFramePr>
          <p:nvPr>
            <p:extLst>
              <p:ext uri="{D42A27DB-BD31-4B8C-83A1-F6EECF244321}">
                <p14:modId xmlns:p14="http://schemas.microsoft.com/office/powerpoint/2010/main" val="206957045"/>
              </p:ext>
            </p:extLst>
          </p:nvPr>
        </p:nvGraphicFramePr>
        <p:xfrm>
          <a:off x="228599" y="914401"/>
          <a:ext cx="2042130" cy="5486404"/>
        </p:xfrm>
        <a:graphic>
          <a:graphicData uri="http://schemas.openxmlformats.org/drawingml/2006/table">
            <a:tbl>
              <a:tblPr>
                <a:tableStyleId>{5C22544A-7EE6-4342-B048-85BDC9FD1C3A}</a:tableStyleId>
              </a:tblPr>
              <a:tblGrid>
                <a:gridCol w="85150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tblGrid>
              <a:tr h="498764">
                <a:tc>
                  <a:txBody>
                    <a:bodyPr/>
                    <a:lstStyle/>
                    <a:p>
                      <a:pPr algn="ctr" fontAlgn="b"/>
                      <a:r>
                        <a:rPr lang="en-US" sz="2600" b="1" u="none" strike="noStrike" dirty="0">
                          <a:effectLst/>
                        </a:rPr>
                        <a:t>P</a:t>
                      </a:r>
                      <a:endParaRPr lang="en-US" sz="26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b="1" u="none" strike="noStrike" dirty="0">
                          <a:effectLst/>
                        </a:rPr>
                        <a:t>Q</a:t>
                      </a:r>
                      <a:endParaRPr lang="en-US" sz="26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498764">
                <a:tc>
                  <a:txBody>
                    <a:bodyPr/>
                    <a:lstStyle/>
                    <a:p>
                      <a:pPr algn="ctr" fontAlgn="b"/>
                      <a:r>
                        <a:rPr lang="en-US" sz="2600" u="none" strike="noStrike" dirty="0">
                          <a:effectLst/>
                        </a:rPr>
                        <a:t>$0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10,000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98764">
                <a:tc>
                  <a:txBody>
                    <a:bodyPr/>
                    <a:lstStyle/>
                    <a:p>
                      <a:pPr algn="ctr" fontAlgn="b"/>
                      <a:r>
                        <a:rPr lang="en-US" sz="2600" u="none" strike="noStrike" dirty="0">
                          <a:effectLst/>
                        </a:rPr>
                        <a:t>1</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9,200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498764">
                <a:tc>
                  <a:txBody>
                    <a:bodyPr/>
                    <a:lstStyle/>
                    <a:p>
                      <a:pPr algn="ctr" fontAlgn="b"/>
                      <a:r>
                        <a:rPr lang="en-US" sz="2600" u="none" strike="noStrike">
                          <a:effectLst/>
                        </a:rPr>
                        <a:t>2</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dirty="0">
                          <a:effectLst/>
                        </a:rPr>
                        <a:t>8,400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98764">
                <a:tc>
                  <a:txBody>
                    <a:bodyPr/>
                    <a:lstStyle/>
                    <a:p>
                      <a:pPr algn="ctr" fontAlgn="b"/>
                      <a:r>
                        <a:rPr lang="en-US" sz="2600" u="none" strike="noStrike" dirty="0">
                          <a:effectLst/>
                        </a:rPr>
                        <a:t>3</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7,600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498764">
                <a:tc>
                  <a:txBody>
                    <a:bodyPr/>
                    <a:lstStyle/>
                    <a:p>
                      <a:pPr algn="ctr" fontAlgn="b"/>
                      <a:r>
                        <a:rPr lang="en-US" sz="2600" u="none" strike="noStrike">
                          <a:effectLst/>
                        </a:rPr>
                        <a:t>4</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dirty="0">
                          <a:effectLst/>
                        </a:rPr>
                        <a:t>6,800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98764">
                <a:tc>
                  <a:txBody>
                    <a:bodyPr/>
                    <a:lstStyle/>
                    <a:p>
                      <a:pPr algn="ctr" fontAlgn="b"/>
                      <a:r>
                        <a:rPr lang="en-US" sz="2600" u="none" strike="noStrike" dirty="0">
                          <a:effectLst/>
                        </a:rPr>
                        <a:t>5</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6,000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498764">
                <a:tc>
                  <a:txBody>
                    <a:bodyPr/>
                    <a:lstStyle/>
                    <a:p>
                      <a:pPr algn="ctr" fontAlgn="b"/>
                      <a:r>
                        <a:rPr lang="en-US" sz="2600" u="none" strike="noStrike">
                          <a:effectLst/>
                        </a:rPr>
                        <a:t>6</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5,200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98764">
                <a:tc>
                  <a:txBody>
                    <a:bodyPr/>
                    <a:lstStyle/>
                    <a:p>
                      <a:pPr algn="ctr" fontAlgn="b"/>
                      <a:r>
                        <a:rPr lang="en-US" sz="2600" u="none" strike="noStrike" dirty="0">
                          <a:effectLst/>
                        </a:rPr>
                        <a:t>7</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4,400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498764">
                <a:tc>
                  <a:txBody>
                    <a:bodyPr/>
                    <a:lstStyle/>
                    <a:p>
                      <a:pPr algn="ctr" fontAlgn="b"/>
                      <a:r>
                        <a:rPr lang="en-US" sz="2600" u="none" strike="noStrike">
                          <a:effectLst/>
                        </a:rPr>
                        <a:t>8</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3,600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98764">
                <a:tc>
                  <a:txBody>
                    <a:bodyPr/>
                    <a:lstStyle/>
                    <a:p>
                      <a:pPr algn="ctr" fontAlgn="b"/>
                      <a:r>
                        <a:rPr lang="en-US" sz="2600" u="none" strike="noStrike" dirty="0">
                          <a:effectLst/>
                        </a:rPr>
                        <a:t>9</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2,800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bl>
          </a:graphicData>
        </a:graphic>
      </p:graphicFrame>
      <p:sp>
        <p:nvSpPr>
          <p:cNvPr id="5" name="Footer Placeholder 4">
            <a:extLst>
              <a:ext uri="{FF2B5EF4-FFF2-40B4-BE49-F238E27FC236}">
                <a16:creationId xmlns:a16="http://schemas.microsoft.com/office/drawing/2014/main" id="{5E951598-9D5F-39F3-7DEA-CF8B87DAF716}"/>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7039470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left)">
                                      <p:cBhvr>
                                        <p:cTn id="23" dur="500"/>
                                        <p:tgtEl>
                                          <p:spTgt spid="3">
                                            <p:txEl>
                                              <p:pRg st="3" end="3"/>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725023601"/>
              </p:ext>
            </p:extLst>
          </p:nvPr>
        </p:nvGraphicFramePr>
        <p:xfrm>
          <a:off x="228600" y="914401"/>
          <a:ext cx="6096004" cy="5486404"/>
        </p:xfrm>
        <a:graphic>
          <a:graphicData uri="http://schemas.openxmlformats.org/drawingml/2006/table">
            <a:tbl>
              <a:tblPr>
                <a:tableStyleId>{5C22544A-7EE6-4342-B048-85BDC9FD1C3A}</a:tableStyleId>
              </a:tblPr>
              <a:tblGrid>
                <a:gridCol w="782116">
                  <a:extLst>
                    <a:ext uri="{9D8B030D-6E8A-4147-A177-3AD203B41FA5}">
                      <a16:colId xmlns:a16="http://schemas.microsoft.com/office/drawing/2014/main" val="20000"/>
                    </a:ext>
                  </a:extLst>
                </a:gridCol>
                <a:gridCol w="1118263">
                  <a:extLst>
                    <a:ext uri="{9D8B030D-6E8A-4147-A177-3AD203B41FA5}">
                      <a16:colId xmlns:a16="http://schemas.microsoft.com/office/drawing/2014/main" val="20001"/>
                    </a:ext>
                  </a:extLst>
                </a:gridCol>
                <a:gridCol w="1483025">
                  <a:extLst>
                    <a:ext uri="{9D8B030D-6E8A-4147-A177-3AD203B41FA5}">
                      <a16:colId xmlns:a16="http://schemas.microsoft.com/office/drawing/2014/main" val="20002"/>
                    </a:ext>
                  </a:extLst>
                </a:gridCol>
                <a:gridCol w="1301500">
                  <a:extLst>
                    <a:ext uri="{9D8B030D-6E8A-4147-A177-3AD203B41FA5}">
                      <a16:colId xmlns:a16="http://schemas.microsoft.com/office/drawing/2014/main" val="20003"/>
                    </a:ext>
                  </a:extLst>
                </a:gridCol>
                <a:gridCol w="1411100">
                  <a:extLst>
                    <a:ext uri="{9D8B030D-6E8A-4147-A177-3AD203B41FA5}">
                      <a16:colId xmlns:a16="http://schemas.microsoft.com/office/drawing/2014/main" val="20004"/>
                    </a:ext>
                  </a:extLst>
                </a:gridCol>
              </a:tblGrid>
              <a:tr h="498764">
                <a:tc>
                  <a:txBody>
                    <a:bodyPr/>
                    <a:lstStyle/>
                    <a:p>
                      <a:pPr algn="ctr" fontAlgn="b"/>
                      <a:r>
                        <a:rPr lang="en-US" sz="2400" b="1" u="none" strike="noStrike" dirty="0">
                          <a:effectLst/>
                          <a:latin typeface="+mn-lt"/>
                        </a:rPr>
                        <a:t>P</a:t>
                      </a:r>
                      <a:endParaRPr lang="en-US" sz="24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400" b="1" u="none" strike="noStrike" dirty="0">
                          <a:effectLst/>
                          <a:latin typeface="+mn-lt"/>
                        </a:rPr>
                        <a:t>Q</a:t>
                      </a:r>
                      <a:endParaRPr lang="en-US" sz="24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400" b="1" i="0" u="none" strike="noStrike" dirty="0">
                          <a:solidFill>
                            <a:srgbClr val="000000"/>
                          </a:solidFill>
                          <a:effectLst/>
                          <a:latin typeface="+mn-lt"/>
                        </a:rPr>
                        <a:t>Revenue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400" b="1" i="0" u="none" strike="noStrike" dirty="0">
                          <a:solidFill>
                            <a:srgbClr val="000000"/>
                          </a:solidFill>
                          <a:effectLst/>
                          <a:latin typeface="+mn-lt"/>
                        </a:rPr>
                        <a:t>Cost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400" b="1" i="0" u="none" strike="noStrike" dirty="0">
                          <a:solidFill>
                            <a:srgbClr val="000000"/>
                          </a:solidFill>
                          <a:effectLst/>
                          <a:latin typeface="+mn-lt"/>
                        </a:rPr>
                        <a:t>Profit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498764">
                <a:tc>
                  <a:txBody>
                    <a:bodyPr/>
                    <a:lstStyle/>
                    <a:p>
                      <a:pPr algn="ctr" fontAlgn="b"/>
                      <a:r>
                        <a:rPr lang="en-US" sz="2400" u="none" strike="noStrike" dirty="0">
                          <a:effectLst/>
                          <a:latin typeface="+mn-lt"/>
                        </a:rPr>
                        <a:t>$0</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400" u="none" strike="noStrike" dirty="0">
                          <a:effectLst/>
                          <a:latin typeface="+mn-lt"/>
                        </a:rPr>
                        <a:t>10,000</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98764">
                <a:tc>
                  <a:txBody>
                    <a:bodyPr/>
                    <a:lstStyle/>
                    <a:p>
                      <a:pPr algn="ctr" fontAlgn="b"/>
                      <a:r>
                        <a:rPr lang="en-US" sz="2400" u="none" strike="noStrike" dirty="0">
                          <a:effectLst/>
                          <a:latin typeface="+mn-lt"/>
                        </a:rPr>
                        <a:t>1</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400" u="none" strike="noStrike">
                          <a:effectLst/>
                          <a:latin typeface="+mn-lt"/>
                        </a:rPr>
                        <a:t>9,200</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498764">
                <a:tc>
                  <a:txBody>
                    <a:bodyPr/>
                    <a:lstStyle/>
                    <a:p>
                      <a:pPr algn="ctr" fontAlgn="b"/>
                      <a:r>
                        <a:rPr lang="en-US" sz="2400" u="none" strike="noStrike">
                          <a:effectLst/>
                          <a:latin typeface="+mn-lt"/>
                        </a:rPr>
                        <a:t>2</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400" u="none" strike="noStrike" dirty="0">
                          <a:effectLst/>
                          <a:latin typeface="+mn-lt"/>
                        </a:rPr>
                        <a:t>8,400</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98764">
                <a:tc>
                  <a:txBody>
                    <a:bodyPr/>
                    <a:lstStyle/>
                    <a:p>
                      <a:pPr algn="ctr" fontAlgn="b"/>
                      <a:r>
                        <a:rPr lang="en-US" sz="2400" u="none" strike="noStrike">
                          <a:effectLst/>
                          <a:latin typeface="+mn-lt"/>
                        </a:rPr>
                        <a:t>3</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400" u="none" strike="noStrike">
                          <a:effectLst/>
                          <a:latin typeface="+mn-lt"/>
                        </a:rPr>
                        <a:t>7,600</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498764">
                <a:tc>
                  <a:txBody>
                    <a:bodyPr/>
                    <a:lstStyle/>
                    <a:p>
                      <a:pPr algn="ctr" fontAlgn="b"/>
                      <a:r>
                        <a:rPr lang="en-US" sz="2400" u="none" strike="noStrike">
                          <a:effectLst/>
                          <a:latin typeface="+mn-lt"/>
                        </a:rPr>
                        <a:t>4</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400" u="none" strike="noStrike" dirty="0">
                          <a:effectLst/>
                          <a:latin typeface="+mn-lt"/>
                        </a:rPr>
                        <a:t>6,800</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98764">
                <a:tc>
                  <a:txBody>
                    <a:bodyPr/>
                    <a:lstStyle/>
                    <a:p>
                      <a:pPr algn="ctr" fontAlgn="b"/>
                      <a:r>
                        <a:rPr lang="en-US" sz="2400" u="none" strike="noStrike">
                          <a:effectLst/>
                          <a:latin typeface="+mn-lt"/>
                        </a:rPr>
                        <a:t>5</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400" u="none" strike="noStrike">
                          <a:effectLst/>
                          <a:latin typeface="+mn-lt"/>
                        </a:rPr>
                        <a:t>6,000</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498764">
                <a:tc>
                  <a:txBody>
                    <a:bodyPr/>
                    <a:lstStyle/>
                    <a:p>
                      <a:pPr algn="ctr" fontAlgn="b"/>
                      <a:r>
                        <a:rPr lang="en-US" sz="2400" u="none" strike="noStrike">
                          <a:effectLst/>
                          <a:latin typeface="+mn-lt"/>
                        </a:rPr>
                        <a:t>6</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400" u="none" strike="noStrike">
                          <a:effectLst/>
                          <a:latin typeface="+mn-lt"/>
                        </a:rPr>
                        <a:t>5,200</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98764">
                <a:tc>
                  <a:txBody>
                    <a:bodyPr/>
                    <a:lstStyle/>
                    <a:p>
                      <a:pPr algn="ctr" fontAlgn="b"/>
                      <a:r>
                        <a:rPr lang="en-US" sz="2400" u="none" strike="noStrike" dirty="0">
                          <a:effectLst/>
                          <a:latin typeface="+mn-lt"/>
                        </a:rPr>
                        <a:t>7</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400" u="none" strike="noStrike">
                          <a:effectLst/>
                          <a:latin typeface="+mn-lt"/>
                        </a:rPr>
                        <a:t>4,400</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498764">
                <a:tc>
                  <a:txBody>
                    <a:bodyPr/>
                    <a:lstStyle/>
                    <a:p>
                      <a:pPr algn="ctr" fontAlgn="b"/>
                      <a:r>
                        <a:rPr lang="en-US" sz="2400" u="none" strike="noStrike">
                          <a:effectLst/>
                          <a:latin typeface="+mn-lt"/>
                        </a:rPr>
                        <a:t>8</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400" u="none" strike="noStrike">
                          <a:effectLst/>
                          <a:latin typeface="+mn-lt"/>
                        </a:rPr>
                        <a:t>3,600</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98764">
                <a:tc>
                  <a:txBody>
                    <a:bodyPr/>
                    <a:lstStyle/>
                    <a:p>
                      <a:pPr algn="ctr" fontAlgn="b"/>
                      <a:r>
                        <a:rPr lang="en-US" sz="2400" u="none" strike="noStrike">
                          <a:effectLst/>
                          <a:latin typeface="+mn-lt"/>
                        </a:rPr>
                        <a:t>9</a:t>
                      </a:r>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400" u="none" strike="noStrike" dirty="0">
                          <a:effectLst/>
                          <a:latin typeface="+mn-lt"/>
                        </a:rPr>
                        <a:t>2,800</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bl>
          </a:graphicData>
        </a:graphic>
      </p:graphicFrame>
      <p:sp>
        <p:nvSpPr>
          <p:cNvPr id="12" name="Rectangle 11"/>
          <p:cNvSpPr/>
          <p:nvPr/>
        </p:nvSpPr>
        <p:spPr bwMode="auto">
          <a:xfrm>
            <a:off x="228600" y="4876800"/>
            <a:ext cx="6096000" cy="533400"/>
          </a:xfrm>
          <a:prstGeom prst="rect">
            <a:avLst/>
          </a:prstGeom>
          <a:noFill/>
          <a:ln w="101600" cap="flat" cmpd="sng" algn="ctr">
            <a:solidFill>
              <a:srgbClr val="FFCC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11" name="Rectangle 10"/>
          <p:cNvSpPr/>
          <p:nvPr/>
        </p:nvSpPr>
        <p:spPr bwMode="auto">
          <a:xfrm>
            <a:off x="228600" y="1905000"/>
            <a:ext cx="6096000" cy="533400"/>
          </a:xfrm>
          <a:prstGeom prst="rect">
            <a:avLst/>
          </a:prstGeom>
          <a:noFill/>
          <a:ln w="101600" cap="flat" cmpd="sng" algn="ctr">
            <a:solidFill>
              <a:srgbClr val="D8EEC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2" name="Title 1"/>
          <p:cNvSpPr>
            <a:spLocks noGrp="1"/>
          </p:cNvSpPr>
          <p:nvPr>
            <p:ph type="title"/>
          </p:nvPr>
        </p:nvSpPr>
        <p:spPr>
          <a:xfrm>
            <a:off x="76200" y="100939"/>
            <a:ext cx="9067800" cy="661061"/>
          </a:xfrm>
        </p:spPr>
        <p:txBody>
          <a:bodyPr/>
          <a:lstStyle/>
          <a:p>
            <a:r>
              <a:rPr lang="en-US" sz="2800" dirty="0">
                <a:solidFill>
                  <a:srgbClr val="AE1221"/>
                </a:solidFill>
              </a:rPr>
              <a:t>EXAMPLE 1: </a:t>
            </a:r>
            <a:r>
              <a:rPr lang="en-US" sz="2800" dirty="0">
                <a:solidFill>
                  <a:schemeClr val="tx1"/>
                </a:solidFill>
              </a:rPr>
              <a:t>Smallville, Competition vs. Monopoly – 2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8</a:t>
            </a:fld>
            <a:endParaRPr lang="en-US"/>
          </a:p>
        </p:txBody>
      </p:sp>
      <p:sp>
        <p:nvSpPr>
          <p:cNvPr id="3" name="Content Placeholder 2"/>
          <p:cNvSpPr>
            <a:spLocks noGrp="1"/>
          </p:cNvSpPr>
          <p:nvPr>
            <p:ph idx="12"/>
          </p:nvPr>
        </p:nvSpPr>
        <p:spPr>
          <a:xfrm>
            <a:off x="6477000" y="990600"/>
            <a:ext cx="2514600" cy="2438400"/>
          </a:xfrm>
          <a:noFill/>
          <a:ln w="101600">
            <a:solidFill>
              <a:srgbClr val="D8EEC0"/>
            </a:solidFill>
          </a:ln>
        </p:spPr>
        <p:txBody>
          <a:bodyPr>
            <a:normAutofit/>
          </a:bodyPr>
          <a:lstStyle/>
          <a:p>
            <a:pPr marL="0" indent="0" algn="ctr">
              <a:buNone/>
            </a:pPr>
            <a:r>
              <a:rPr lang="en-US" sz="2600" dirty="0"/>
              <a:t>Competitive outcome:</a:t>
            </a:r>
          </a:p>
          <a:p>
            <a:pPr marL="0" indent="0" algn="ctr">
              <a:buNone/>
            </a:pPr>
            <a:r>
              <a:rPr lang="en-US" sz="2600" b="1" i="1" dirty="0"/>
              <a:t>P</a:t>
            </a:r>
            <a:r>
              <a:rPr lang="en-US" sz="2600" dirty="0"/>
              <a:t> = </a:t>
            </a:r>
            <a:r>
              <a:rPr lang="en-US" sz="2600" b="1" i="1" dirty="0"/>
              <a:t>MC</a:t>
            </a:r>
            <a:r>
              <a:rPr lang="en-US" sz="2600" dirty="0"/>
              <a:t> = $1</a:t>
            </a:r>
          </a:p>
          <a:p>
            <a:pPr marL="0" indent="0" algn="ctr">
              <a:buNone/>
            </a:pPr>
            <a:r>
              <a:rPr lang="en-US" sz="2600" b="1" i="1" dirty="0"/>
              <a:t>Q</a:t>
            </a:r>
            <a:r>
              <a:rPr lang="en-US" sz="2600" dirty="0"/>
              <a:t> = 9,200</a:t>
            </a:r>
          </a:p>
          <a:p>
            <a:pPr marL="0" indent="0" algn="ctr">
              <a:buNone/>
            </a:pPr>
            <a:r>
              <a:rPr lang="en-US" sz="2600" dirty="0"/>
              <a:t>Profit = $0</a:t>
            </a:r>
          </a:p>
        </p:txBody>
      </p:sp>
      <p:graphicFrame>
        <p:nvGraphicFramePr>
          <p:cNvPr id="7" name="Table 6"/>
          <p:cNvGraphicFramePr>
            <a:graphicFrameLocks noGrp="1"/>
          </p:cNvGraphicFramePr>
          <p:nvPr/>
        </p:nvGraphicFramePr>
        <p:xfrm>
          <a:off x="2133600" y="1413160"/>
          <a:ext cx="1483025" cy="4987640"/>
        </p:xfrm>
        <a:graphic>
          <a:graphicData uri="http://schemas.openxmlformats.org/drawingml/2006/table">
            <a:tbl>
              <a:tblPr>
                <a:tableStyleId>{5C22544A-7EE6-4342-B048-85BDC9FD1C3A}</a:tableStyleId>
              </a:tblPr>
              <a:tblGrid>
                <a:gridCol w="1483025">
                  <a:extLst>
                    <a:ext uri="{9D8B030D-6E8A-4147-A177-3AD203B41FA5}">
                      <a16:colId xmlns:a16="http://schemas.microsoft.com/office/drawing/2014/main" val="20000"/>
                    </a:ext>
                  </a:extLst>
                </a:gridCol>
              </a:tblGrid>
              <a:tr h="498764">
                <a:tc>
                  <a:txBody>
                    <a:bodyPr/>
                    <a:lstStyle/>
                    <a:p>
                      <a:pPr algn="ctr" fontAlgn="b"/>
                      <a:r>
                        <a:rPr lang="en-US" sz="2400" b="0" i="0" u="none" strike="noStrike" dirty="0">
                          <a:solidFill>
                            <a:srgbClr val="000000"/>
                          </a:solidFill>
                          <a:effectLst/>
                          <a:latin typeface="+mn-lt"/>
                        </a:rPr>
                        <a:t>$0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98764">
                <a:tc>
                  <a:txBody>
                    <a:bodyPr/>
                    <a:lstStyle/>
                    <a:p>
                      <a:pPr algn="ctr" fontAlgn="b"/>
                      <a:r>
                        <a:rPr lang="en-US" sz="2400" b="0" i="0" u="none" strike="noStrike" dirty="0">
                          <a:solidFill>
                            <a:srgbClr val="000000"/>
                          </a:solidFill>
                          <a:effectLst/>
                          <a:latin typeface="+mn-lt"/>
                        </a:rPr>
                        <a:t>9,200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98764">
                <a:tc>
                  <a:txBody>
                    <a:bodyPr/>
                    <a:lstStyle/>
                    <a:p>
                      <a:pPr algn="ctr" fontAlgn="b"/>
                      <a:r>
                        <a:rPr lang="en-US" sz="2400" b="0" i="0" u="none" strike="noStrike">
                          <a:solidFill>
                            <a:srgbClr val="000000"/>
                          </a:solidFill>
                          <a:effectLst/>
                          <a:latin typeface="+mn-lt"/>
                        </a:rPr>
                        <a:t>16,800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98764">
                <a:tc>
                  <a:txBody>
                    <a:bodyPr/>
                    <a:lstStyle/>
                    <a:p>
                      <a:pPr algn="ctr" fontAlgn="b"/>
                      <a:r>
                        <a:rPr lang="en-US" sz="2400" b="0" i="0" u="none" strike="noStrike">
                          <a:solidFill>
                            <a:srgbClr val="000000"/>
                          </a:solidFill>
                          <a:effectLst/>
                          <a:latin typeface="+mn-lt"/>
                        </a:rPr>
                        <a:t>22,800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98764">
                <a:tc>
                  <a:txBody>
                    <a:bodyPr/>
                    <a:lstStyle/>
                    <a:p>
                      <a:pPr algn="ctr" fontAlgn="b"/>
                      <a:r>
                        <a:rPr lang="en-US" sz="2400" b="0" i="0" u="none" strike="noStrike">
                          <a:solidFill>
                            <a:srgbClr val="000000"/>
                          </a:solidFill>
                          <a:effectLst/>
                          <a:latin typeface="+mn-lt"/>
                        </a:rPr>
                        <a:t>27,200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98764">
                <a:tc>
                  <a:txBody>
                    <a:bodyPr/>
                    <a:lstStyle/>
                    <a:p>
                      <a:pPr algn="ctr" fontAlgn="b"/>
                      <a:r>
                        <a:rPr lang="en-US" sz="2400" b="0" i="0" u="none" strike="noStrike">
                          <a:solidFill>
                            <a:srgbClr val="000000"/>
                          </a:solidFill>
                          <a:effectLst/>
                          <a:latin typeface="+mn-lt"/>
                        </a:rPr>
                        <a:t>30,000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98764">
                <a:tc>
                  <a:txBody>
                    <a:bodyPr/>
                    <a:lstStyle/>
                    <a:p>
                      <a:pPr algn="ctr" fontAlgn="b"/>
                      <a:r>
                        <a:rPr lang="en-US" sz="2400" b="0" i="0" u="none" strike="noStrike">
                          <a:solidFill>
                            <a:srgbClr val="000000"/>
                          </a:solidFill>
                          <a:effectLst/>
                          <a:latin typeface="+mn-lt"/>
                        </a:rPr>
                        <a:t>31,200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98764">
                <a:tc>
                  <a:txBody>
                    <a:bodyPr/>
                    <a:lstStyle/>
                    <a:p>
                      <a:pPr algn="ctr" fontAlgn="b"/>
                      <a:r>
                        <a:rPr lang="en-US" sz="2400" b="0" i="0" u="none" strike="noStrike" dirty="0">
                          <a:solidFill>
                            <a:srgbClr val="000000"/>
                          </a:solidFill>
                          <a:effectLst/>
                          <a:latin typeface="+mn-lt"/>
                        </a:rPr>
                        <a:t>30,800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98764">
                <a:tc>
                  <a:txBody>
                    <a:bodyPr/>
                    <a:lstStyle/>
                    <a:p>
                      <a:pPr algn="ctr" fontAlgn="b"/>
                      <a:r>
                        <a:rPr lang="en-US" sz="2400" b="0" i="0" u="none" strike="noStrike">
                          <a:solidFill>
                            <a:srgbClr val="000000"/>
                          </a:solidFill>
                          <a:effectLst/>
                          <a:latin typeface="+mn-lt"/>
                        </a:rPr>
                        <a:t>28,800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98764">
                <a:tc>
                  <a:txBody>
                    <a:bodyPr/>
                    <a:lstStyle/>
                    <a:p>
                      <a:pPr algn="ctr" fontAlgn="b"/>
                      <a:r>
                        <a:rPr lang="en-US" sz="2400" b="0" i="0" u="none" strike="noStrike" dirty="0">
                          <a:solidFill>
                            <a:srgbClr val="000000"/>
                          </a:solidFill>
                          <a:effectLst/>
                          <a:latin typeface="+mn-lt"/>
                        </a:rPr>
                        <a:t>25,200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graphicFrame>
        <p:nvGraphicFramePr>
          <p:cNvPr id="8" name="Table 7"/>
          <p:cNvGraphicFramePr>
            <a:graphicFrameLocks noGrp="1"/>
          </p:cNvGraphicFramePr>
          <p:nvPr/>
        </p:nvGraphicFramePr>
        <p:xfrm>
          <a:off x="3581400" y="1413160"/>
          <a:ext cx="1301500" cy="4987640"/>
        </p:xfrm>
        <a:graphic>
          <a:graphicData uri="http://schemas.openxmlformats.org/drawingml/2006/table">
            <a:tbl>
              <a:tblPr>
                <a:tableStyleId>{5C22544A-7EE6-4342-B048-85BDC9FD1C3A}</a:tableStyleId>
              </a:tblPr>
              <a:tblGrid>
                <a:gridCol w="1301500">
                  <a:extLst>
                    <a:ext uri="{9D8B030D-6E8A-4147-A177-3AD203B41FA5}">
                      <a16:colId xmlns:a16="http://schemas.microsoft.com/office/drawing/2014/main" val="20000"/>
                    </a:ext>
                  </a:extLst>
                </a:gridCol>
              </a:tblGrid>
              <a:tr h="498764">
                <a:tc>
                  <a:txBody>
                    <a:bodyPr/>
                    <a:lstStyle/>
                    <a:p>
                      <a:pPr algn="ctr" fontAlgn="b"/>
                      <a:r>
                        <a:rPr lang="en-US" sz="2400" b="0" i="0" u="none" strike="noStrike" dirty="0">
                          <a:solidFill>
                            <a:srgbClr val="000000"/>
                          </a:solidFill>
                          <a:effectLst/>
                          <a:latin typeface="+mn-lt"/>
                        </a:rPr>
                        <a:t>$10,000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98764">
                <a:tc>
                  <a:txBody>
                    <a:bodyPr/>
                    <a:lstStyle/>
                    <a:p>
                      <a:pPr algn="ctr" fontAlgn="b"/>
                      <a:r>
                        <a:rPr lang="en-US" sz="2400" b="0" i="0" u="none" strike="noStrike" dirty="0">
                          <a:solidFill>
                            <a:srgbClr val="000000"/>
                          </a:solidFill>
                          <a:effectLst/>
                          <a:latin typeface="+mn-lt"/>
                        </a:rPr>
                        <a:t>9,200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98764">
                <a:tc>
                  <a:txBody>
                    <a:bodyPr/>
                    <a:lstStyle/>
                    <a:p>
                      <a:pPr algn="ctr" fontAlgn="b"/>
                      <a:r>
                        <a:rPr lang="en-US" sz="2400" b="0" i="0" u="none" strike="noStrike">
                          <a:solidFill>
                            <a:srgbClr val="000000"/>
                          </a:solidFill>
                          <a:effectLst/>
                          <a:latin typeface="+mn-lt"/>
                        </a:rPr>
                        <a:t>8,400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98764">
                <a:tc>
                  <a:txBody>
                    <a:bodyPr/>
                    <a:lstStyle/>
                    <a:p>
                      <a:pPr algn="ctr" fontAlgn="b"/>
                      <a:r>
                        <a:rPr lang="en-US" sz="2400" b="0" i="0" u="none" strike="noStrike">
                          <a:solidFill>
                            <a:srgbClr val="000000"/>
                          </a:solidFill>
                          <a:effectLst/>
                          <a:latin typeface="+mn-lt"/>
                        </a:rPr>
                        <a:t>7,600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98764">
                <a:tc>
                  <a:txBody>
                    <a:bodyPr/>
                    <a:lstStyle/>
                    <a:p>
                      <a:pPr algn="ctr" fontAlgn="b"/>
                      <a:r>
                        <a:rPr lang="en-US" sz="2400" b="0" i="0" u="none" strike="noStrike">
                          <a:solidFill>
                            <a:srgbClr val="000000"/>
                          </a:solidFill>
                          <a:effectLst/>
                          <a:latin typeface="+mn-lt"/>
                        </a:rPr>
                        <a:t>6,800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98764">
                <a:tc>
                  <a:txBody>
                    <a:bodyPr/>
                    <a:lstStyle/>
                    <a:p>
                      <a:pPr algn="ctr" fontAlgn="b"/>
                      <a:r>
                        <a:rPr lang="en-US" sz="2400" b="0" i="0" u="none" strike="noStrike">
                          <a:solidFill>
                            <a:srgbClr val="000000"/>
                          </a:solidFill>
                          <a:effectLst/>
                          <a:latin typeface="+mn-lt"/>
                        </a:rPr>
                        <a:t>6,000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98764">
                <a:tc>
                  <a:txBody>
                    <a:bodyPr/>
                    <a:lstStyle/>
                    <a:p>
                      <a:pPr algn="ctr" fontAlgn="b"/>
                      <a:r>
                        <a:rPr lang="en-US" sz="2400" b="0" i="0" u="none" strike="noStrike">
                          <a:solidFill>
                            <a:srgbClr val="000000"/>
                          </a:solidFill>
                          <a:effectLst/>
                          <a:latin typeface="+mn-lt"/>
                        </a:rPr>
                        <a:t>5,200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98764">
                <a:tc>
                  <a:txBody>
                    <a:bodyPr/>
                    <a:lstStyle/>
                    <a:p>
                      <a:pPr algn="ctr" fontAlgn="b"/>
                      <a:r>
                        <a:rPr lang="en-US" sz="2400" b="0" i="0" u="none" strike="noStrike">
                          <a:solidFill>
                            <a:srgbClr val="000000"/>
                          </a:solidFill>
                          <a:effectLst/>
                          <a:latin typeface="+mn-lt"/>
                        </a:rPr>
                        <a:t>4,400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98764">
                <a:tc>
                  <a:txBody>
                    <a:bodyPr/>
                    <a:lstStyle/>
                    <a:p>
                      <a:pPr algn="ctr" fontAlgn="b"/>
                      <a:r>
                        <a:rPr lang="en-US" sz="2400" b="0" i="0" u="none" strike="noStrike">
                          <a:solidFill>
                            <a:srgbClr val="000000"/>
                          </a:solidFill>
                          <a:effectLst/>
                          <a:latin typeface="+mn-lt"/>
                        </a:rPr>
                        <a:t>3,600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98764">
                <a:tc>
                  <a:txBody>
                    <a:bodyPr/>
                    <a:lstStyle/>
                    <a:p>
                      <a:pPr algn="ctr" fontAlgn="b"/>
                      <a:r>
                        <a:rPr lang="en-US" sz="2400" b="0" i="0" u="none" strike="noStrike" dirty="0">
                          <a:solidFill>
                            <a:srgbClr val="000000"/>
                          </a:solidFill>
                          <a:effectLst/>
                          <a:latin typeface="+mn-lt"/>
                        </a:rPr>
                        <a:t>2,800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graphicFrame>
        <p:nvGraphicFramePr>
          <p:cNvPr id="9" name="Table 8"/>
          <p:cNvGraphicFramePr>
            <a:graphicFrameLocks noGrp="1"/>
          </p:cNvGraphicFramePr>
          <p:nvPr/>
        </p:nvGraphicFramePr>
        <p:xfrm>
          <a:off x="4876800" y="1413160"/>
          <a:ext cx="1411100" cy="4987640"/>
        </p:xfrm>
        <a:graphic>
          <a:graphicData uri="http://schemas.openxmlformats.org/drawingml/2006/table">
            <a:tbl>
              <a:tblPr>
                <a:tableStyleId>{5C22544A-7EE6-4342-B048-85BDC9FD1C3A}</a:tableStyleId>
              </a:tblPr>
              <a:tblGrid>
                <a:gridCol w="1411100">
                  <a:extLst>
                    <a:ext uri="{9D8B030D-6E8A-4147-A177-3AD203B41FA5}">
                      <a16:colId xmlns:a16="http://schemas.microsoft.com/office/drawing/2014/main" val="20000"/>
                    </a:ext>
                  </a:extLst>
                </a:gridCol>
              </a:tblGrid>
              <a:tr h="498764">
                <a:tc>
                  <a:txBody>
                    <a:bodyPr/>
                    <a:lstStyle/>
                    <a:p>
                      <a:pPr algn="ctr" fontAlgn="b"/>
                      <a:r>
                        <a:rPr lang="en-US" sz="2400" b="0" i="0" u="none" strike="noStrike" dirty="0">
                          <a:solidFill>
                            <a:srgbClr val="000000"/>
                          </a:solidFill>
                          <a:effectLst/>
                          <a:latin typeface="+mn-lt"/>
                        </a:rPr>
                        <a:t>-$10,000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98764">
                <a:tc>
                  <a:txBody>
                    <a:bodyPr/>
                    <a:lstStyle/>
                    <a:p>
                      <a:pPr algn="ctr" fontAlgn="b"/>
                      <a:r>
                        <a:rPr lang="en-US" sz="2400" b="0" i="0" u="none" strike="noStrike">
                          <a:solidFill>
                            <a:srgbClr val="000000"/>
                          </a:solidFill>
                          <a:effectLst/>
                          <a:latin typeface="+mn-lt"/>
                        </a:rPr>
                        <a:t>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98764">
                <a:tc>
                  <a:txBody>
                    <a:bodyPr/>
                    <a:lstStyle/>
                    <a:p>
                      <a:pPr algn="ctr" fontAlgn="b"/>
                      <a:r>
                        <a:rPr lang="en-US" sz="2400" b="0" i="0" u="none" strike="noStrike">
                          <a:solidFill>
                            <a:srgbClr val="000000"/>
                          </a:solidFill>
                          <a:effectLst/>
                          <a:latin typeface="+mn-lt"/>
                        </a:rPr>
                        <a:t>8,400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98764">
                <a:tc>
                  <a:txBody>
                    <a:bodyPr/>
                    <a:lstStyle/>
                    <a:p>
                      <a:pPr algn="ctr" fontAlgn="b"/>
                      <a:r>
                        <a:rPr lang="en-US" sz="2400" b="0" i="0" u="none" strike="noStrike">
                          <a:solidFill>
                            <a:srgbClr val="000000"/>
                          </a:solidFill>
                          <a:effectLst/>
                          <a:latin typeface="+mn-lt"/>
                        </a:rPr>
                        <a:t>15,200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98764">
                <a:tc>
                  <a:txBody>
                    <a:bodyPr/>
                    <a:lstStyle/>
                    <a:p>
                      <a:pPr algn="ctr" fontAlgn="b"/>
                      <a:r>
                        <a:rPr lang="en-US" sz="2400" b="0" i="0" u="none" strike="noStrike">
                          <a:solidFill>
                            <a:srgbClr val="000000"/>
                          </a:solidFill>
                          <a:effectLst/>
                          <a:latin typeface="+mn-lt"/>
                        </a:rPr>
                        <a:t>20,400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98764">
                <a:tc>
                  <a:txBody>
                    <a:bodyPr/>
                    <a:lstStyle/>
                    <a:p>
                      <a:pPr algn="ctr" fontAlgn="b"/>
                      <a:r>
                        <a:rPr lang="en-US" sz="2400" b="0" i="0" u="none" strike="noStrike" dirty="0">
                          <a:solidFill>
                            <a:srgbClr val="000000"/>
                          </a:solidFill>
                          <a:effectLst/>
                          <a:latin typeface="+mn-lt"/>
                        </a:rPr>
                        <a:t>24,000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98764">
                <a:tc>
                  <a:txBody>
                    <a:bodyPr/>
                    <a:lstStyle/>
                    <a:p>
                      <a:pPr algn="ctr" fontAlgn="b"/>
                      <a:r>
                        <a:rPr lang="en-US" sz="2400" b="0" i="0" u="none" strike="noStrike" dirty="0">
                          <a:solidFill>
                            <a:srgbClr val="000000"/>
                          </a:solidFill>
                          <a:effectLst/>
                          <a:latin typeface="+mn-lt"/>
                        </a:rPr>
                        <a:t>26,000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98764">
                <a:tc>
                  <a:txBody>
                    <a:bodyPr/>
                    <a:lstStyle/>
                    <a:p>
                      <a:pPr algn="ctr" fontAlgn="b"/>
                      <a:r>
                        <a:rPr lang="en-US" sz="2400" b="0" i="0" u="none" strike="noStrike">
                          <a:solidFill>
                            <a:srgbClr val="000000"/>
                          </a:solidFill>
                          <a:effectLst/>
                          <a:latin typeface="+mn-lt"/>
                        </a:rPr>
                        <a:t>26,400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98764">
                <a:tc>
                  <a:txBody>
                    <a:bodyPr/>
                    <a:lstStyle/>
                    <a:p>
                      <a:pPr algn="ctr" fontAlgn="b"/>
                      <a:r>
                        <a:rPr lang="en-US" sz="2400" b="0" i="0" u="none" strike="noStrike">
                          <a:solidFill>
                            <a:srgbClr val="000000"/>
                          </a:solidFill>
                          <a:effectLst/>
                          <a:latin typeface="+mn-lt"/>
                        </a:rPr>
                        <a:t>25,200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98764">
                <a:tc>
                  <a:txBody>
                    <a:bodyPr/>
                    <a:lstStyle/>
                    <a:p>
                      <a:pPr algn="ctr" fontAlgn="b"/>
                      <a:r>
                        <a:rPr lang="en-US" sz="2400" b="0" i="0" u="none" strike="noStrike" dirty="0">
                          <a:solidFill>
                            <a:srgbClr val="000000"/>
                          </a:solidFill>
                          <a:effectLst/>
                          <a:latin typeface="+mn-lt"/>
                        </a:rPr>
                        <a:t>22,400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0" name="Content Placeholder 2"/>
          <p:cNvSpPr txBox="1">
            <a:spLocks/>
          </p:cNvSpPr>
          <p:nvPr/>
        </p:nvSpPr>
        <p:spPr>
          <a:xfrm>
            <a:off x="6477000" y="3733800"/>
            <a:ext cx="2514600" cy="2590800"/>
          </a:xfrm>
          <a:prstGeom prst="rect">
            <a:avLst/>
          </a:prstGeom>
          <a:noFill/>
          <a:ln w="101600">
            <a:solidFill>
              <a:srgbClr val="FFCCCC"/>
            </a:solidFill>
          </a:ln>
        </p:spPr>
        <p:txBody>
          <a:bodyPr vert="horz" lIns="91440" tIns="45720" rIns="91440" bIns="45720" rtlCol="0">
            <a:normAutofit lnSpcReduction="10000"/>
          </a:bodyPr>
          <a:lstStyle>
            <a:lvl1pPr marL="342900" indent="-342900" algn="l" rtl="0" eaLnBrk="0" fontAlgn="base" hangingPunct="0">
              <a:spcBef>
                <a:spcPct val="20000"/>
              </a:spcBef>
              <a:spcAft>
                <a:spcPct val="0"/>
              </a:spcAft>
              <a:buChar char="•"/>
              <a:defRPr sz="30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000">
                <a:solidFill>
                  <a:schemeClr val="tx1"/>
                </a:solidFill>
                <a:latin typeface="+mn-lt"/>
              </a:defRPr>
            </a:lvl2pPr>
            <a:lvl3pPr marL="1143000" indent="-228600" algn="l" rtl="0" eaLnBrk="0" fontAlgn="base" hangingPunct="0">
              <a:spcBef>
                <a:spcPct val="20000"/>
              </a:spcBef>
              <a:spcAft>
                <a:spcPct val="0"/>
              </a:spcAft>
              <a:buSzPct val="90000"/>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8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None/>
            </a:pPr>
            <a:r>
              <a:rPr lang="en-US" sz="2600" kern="0" dirty="0">
                <a:solidFill>
                  <a:srgbClr val="4E519E"/>
                </a:solidFill>
              </a:rPr>
              <a:t>Monopoly outcome:</a:t>
            </a:r>
          </a:p>
          <a:p>
            <a:pPr marL="0" indent="0" algn="ctr">
              <a:buNone/>
            </a:pPr>
            <a:r>
              <a:rPr lang="en-US" sz="2600" b="1" i="1" kern="0" dirty="0">
                <a:solidFill>
                  <a:srgbClr val="4E519E"/>
                </a:solidFill>
              </a:rPr>
              <a:t>P</a:t>
            </a:r>
            <a:r>
              <a:rPr lang="en-US" sz="2600" kern="0" dirty="0">
                <a:solidFill>
                  <a:srgbClr val="4E519E"/>
                </a:solidFill>
              </a:rPr>
              <a:t> = $7</a:t>
            </a:r>
          </a:p>
          <a:p>
            <a:pPr marL="0" indent="0" algn="ctr">
              <a:buNone/>
            </a:pPr>
            <a:r>
              <a:rPr lang="en-US" sz="2600" b="1" i="1" kern="0" dirty="0">
                <a:solidFill>
                  <a:srgbClr val="4E519E"/>
                </a:solidFill>
              </a:rPr>
              <a:t>Q</a:t>
            </a:r>
            <a:r>
              <a:rPr lang="en-US" sz="2600" kern="0" dirty="0">
                <a:solidFill>
                  <a:srgbClr val="4E519E"/>
                </a:solidFill>
              </a:rPr>
              <a:t> = 4,400</a:t>
            </a:r>
          </a:p>
          <a:p>
            <a:pPr marL="0" indent="0" algn="ctr">
              <a:buNone/>
            </a:pPr>
            <a:r>
              <a:rPr lang="en-US" sz="2600" kern="0" dirty="0">
                <a:solidFill>
                  <a:srgbClr val="4E519E"/>
                </a:solidFill>
              </a:rPr>
              <a:t>Profit = $26,400</a:t>
            </a:r>
          </a:p>
        </p:txBody>
      </p:sp>
      <p:sp>
        <p:nvSpPr>
          <p:cNvPr id="5" name="Footer Placeholder 4">
            <a:extLst>
              <a:ext uri="{FF2B5EF4-FFF2-40B4-BE49-F238E27FC236}">
                <a16:creationId xmlns:a16="http://schemas.microsoft.com/office/drawing/2014/main" id="{A5A229A9-6440-BF4D-B19C-99F0F0A7226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8207344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bg/>
                                          </p:spTgt>
                                        </p:tgtEl>
                                        <p:attrNameLst>
                                          <p:attrName>style.visibility</p:attrName>
                                        </p:attrNameLst>
                                      </p:cBhvr>
                                      <p:to>
                                        <p:strVal val="visible"/>
                                      </p:to>
                                    </p:set>
                                    <p:animEffect transition="in" filter="wipe(left)">
                                      <p:cBhvr>
                                        <p:cTn id="27" dur="500"/>
                                        <p:tgtEl>
                                          <p:spTgt spid="3">
                                            <p:bg/>
                                          </p:spTgt>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Effect transition="in" filter="wipe(left)">
                                      <p:cBhvr>
                                        <p:cTn id="31" dur="500"/>
                                        <p:tgtEl>
                                          <p:spTgt spid="3">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
                                            <p:txEl>
                                              <p:pRg st="1" end="1"/>
                                            </p:txEl>
                                          </p:spTgt>
                                        </p:tgtEl>
                                        <p:attrNameLst>
                                          <p:attrName>style.visibility</p:attrName>
                                        </p:attrNameLst>
                                      </p:cBhvr>
                                      <p:to>
                                        <p:strVal val="visible"/>
                                      </p:to>
                                    </p:set>
                                    <p:animEffect transition="in" filter="wipe(left)">
                                      <p:cBhvr>
                                        <p:cTn id="36" dur="500"/>
                                        <p:tgtEl>
                                          <p:spTgt spid="3">
                                            <p:txEl>
                                              <p:pRg st="1" end="1"/>
                                            </p:txEl>
                                          </p:spTgt>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wipe(left)">
                                      <p:cBhvr>
                                        <p:cTn id="44" dur="500"/>
                                        <p:tgtEl>
                                          <p:spTgt spid="3">
                                            <p:txEl>
                                              <p:pRg st="2" end="2"/>
                                            </p:txEl>
                                          </p:spTgt>
                                        </p:tgtEl>
                                      </p:cBhvr>
                                    </p:animEffect>
                                  </p:childTnLst>
                                </p:cTn>
                              </p:par>
                            </p:childTnLst>
                          </p:cTn>
                        </p:par>
                        <p:par>
                          <p:cTn id="45" fill="hold">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3">
                                            <p:txEl>
                                              <p:pRg st="3" end="3"/>
                                            </p:txEl>
                                          </p:spTgt>
                                        </p:tgtEl>
                                        <p:attrNameLst>
                                          <p:attrName>style.visibility</p:attrName>
                                        </p:attrNameLst>
                                      </p:cBhvr>
                                      <p:to>
                                        <p:strVal val="visible"/>
                                      </p:to>
                                    </p:set>
                                    <p:animEffect transition="in" filter="wipe(left)">
                                      <p:cBhvr>
                                        <p:cTn id="48" dur="500"/>
                                        <p:tgtEl>
                                          <p:spTgt spid="3">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
                                            <p:bg/>
                                          </p:spTgt>
                                        </p:tgtEl>
                                        <p:attrNameLst>
                                          <p:attrName>style.visibility</p:attrName>
                                        </p:attrNameLst>
                                      </p:cBhvr>
                                      <p:to>
                                        <p:strVal val="visible"/>
                                      </p:to>
                                    </p:set>
                                    <p:animEffect transition="in" filter="wipe(left)">
                                      <p:cBhvr>
                                        <p:cTn id="53" dur="500"/>
                                        <p:tgtEl>
                                          <p:spTgt spid="10">
                                            <p:bg/>
                                          </p:spTgt>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10">
                                            <p:txEl>
                                              <p:pRg st="0" end="0"/>
                                            </p:txEl>
                                          </p:spTgt>
                                        </p:tgtEl>
                                        <p:attrNameLst>
                                          <p:attrName>style.visibility</p:attrName>
                                        </p:attrNameLst>
                                      </p:cBhvr>
                                      <p:to>
                                        <p:strVal val="visible"/>
                                      </p:to>
                                    </p:set>
                                    <p:animEffect transition="in" filter="wipe(left)">
                                      <p:cBhvr>
                                        <p:cTn id="57" dur="500"/>
                                        <p:tgtEl>
                                          <p:spTgt spid="10">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
                                            <p:txEl>
                                              <p:pRg st="1" end="1"/>
                                            </p:txEl>
                                          </p:spTgt>
                                        </p:tgtEl>
                                        <p:attrNameLst>
                                          <p:attrName>style.visibility</p:attrName>
                                        </p:attrNameLst>
                                      </p:cBhvr>
                                      <p:to>
                                        <p:strVal val="visible"/>
                                      </p:to>
                                    </p:set>
                                    <p:animEffect transition="in" filter="wipe(left)">
                                      <p:cBhvr>
                                        <p:cTn id="62" dur="500"/>
                                        <p:tgtEl>
                                          <p:spTgt spid="10">
                                            <p:txEl>
                                              <p:pRg st="1" end="1"/>
                                            </p:txEl>
                                          </p:spTgt>
                                        </p:tgtEl>
                                      </p:cBhvr>
                                    </p:animEffect>
                                  </p:childTnLst>
                                </p:cTn>
                              </p:par>
                            </p:childTnLst>
                          </p:cTn>
                        </p:par>
                        <p:par>
                          <p:cTn id="63" fill="hold">
                            <p:stCondLst>
                              <p:cond delay="500"/>
                            </p:stCondLst>
                            <p:childTnLst>
                              <p:par>
                                <p:cTn id="64" presetID="22" presetClass="entr" presetSubtype="8" fill="hold" grpId="0" nodeType="after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childTnLst>
                          </p:cTn>
                        </p:par>
                        <p:par>
                          <p:cTn id="67" fill="hold">
                            <p:stCondLst>
                              <p:cond delay="1000"/>
                            </p:stCondLst>
                            <p:childTnLst>
                              <p:par>
                                <p:cTn id="68" presetID="22" presetClass="entr" presetSubtype="8" fill="hold" grpId="0" nodeType="afterEffect">
                                  <p:stCondLst>
                                    <p:cond delay="0"/>
                                  </p:stCondLst>
                                  <p:childTnLst>
                                    <p:set>
                                      <p:cBhvr>
                                        <p:cTn id="69" dur="1" fill="hold">
                                          <p:stCondLst>
                                            <p:cond delay="0"/>
                                          </p:stCondLst>
                                        </p:cTn>
                                        <p:tgtEl>
                                          <p:spTgt spid="10">
                                            <p:txEl>
                                              <p:pRg st="2" end="2"/>
                                            </p:txEl>
                                          </p:spTgt>
                                        </p:tgtEl>
                                        <p:attrNameLst>
                                          <p:attrName>style.visibility</p:attrName>
                                        </p:attrNameLst>
                                      </p:cBhvr>
                                      <p:to>
                                        <p:strVal val="visible"/>
                                      </p:to>
                                    </p:set>
                                    <p:animEffect transition="in" filter="wipe(left)">
                                      <p:cBhvr>
                                        <p:cTn id="70" dur="500"/>
                                        <p:tgtEl>
                                          <p:spTgt spid="10">
                                            <p:txEl>
                                              <p:pRg st="2" end="2"/>
                                            </p:txEl>
                                          </p:spTgt>
                                        </p:tgtEl>
                                      </p:cBhvr>
                                    </p:animEffect>
                                  </p:childTnLst>
                                </p:cTn>
                              </p:par>
                            </p:childTnLst>
                          </p:cTn>
                        </p:par>
                        <p:par>
                          <p:cTn id="71" fill="hold">
                            <p:stCondLst>
                              <p:cond delay="1500"/>
                            </p:stCondLst>
                            <p:childTnLst>
                              <p:par>
                                <p:cTn id="72" presetID="22" presetClass="entr" presetSubtype="8" fill="hold" grpId="0" nodeType="afterEffect">
                                  <p:stCondLst>
                                    <p:cond delay="0"/>
                                  </p:stCondLst>
                                  <p:childTnLst>
                                    <p:set>
                                      <p:cBhvr>
                                        <p:cTn id="73" dur="1" fill="hold">
                                          <p:stCondLst>
                                            <p:cond delay="0"/>
                                          </p:stCondLst>
                                        </p:cTn>
                                        <p:tgtEl>
                                          <p:spTgt spid="10">
                                            <p:txEl>
                                              <p:pRg st="3" end="3"/>
                                            </p:txEl>
                                          </p:spTgt>
                                        </p:tgtEl>
                                        <p:attrNameLst>
                                          <p:attrName>style.visibility</p:attrName>
                                        </p:attrNameLst>
                                      </p:cBhvr>
                                      <p:to>
                                        <p:strVal val="visible"/>
                                      </p:to>
                                    </p:set>
                                    <p:animEffect transition="in" filter="wipe(left)">
                                      <p:cBhvr>
                                        <p:cTn id="74"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3" grpId="0" uiExpand="1" build="p" animBg="1"/>
      <p:bldP spid="10" grpId="0" uiExpand="1"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Collusion </a:t>
            </a:r>
          </a:p>
        </p:txBody>
      </p:sp>
      <p:sp>
        <p:nvSpPr>
          <p:cNvPr id="8" name="Content Placeholder 7"/>
          <p:cNvSpPr>
            <a:spLocks noGrp="1"/>
          </p:cNvSpPr>
          <p:nvPr>
            <p:ph idx="1"/>
          </p:nvPr>
        </p:nvSpPr>
        <p:spPr>
          <a:prstGeom prst="rect">
            <a:avLst/>
          </a:prstGeom>
        </p:spPr>
        <p:txBody>
          <a:bodyPr/>
          <a:lstStyle/>
          <a:p>
            <a:r>
              <a:rPr lang="en-US" dirty="0"/>
              <a:t>Collusion:  </a:t>
            </a:r>
          </a:p>
          <a:p>
            <a:pPr lvl="1"/>
            <a:r>
              <a:rPr lang="en-US" dirty="0"/>
              <a:t>Agreement among firms in a market about quantities to produce or prices to charge</a:t>
            </a:r>
          </a:p>
          <a:p>
            <a:pPr lvl="1"/>
            <a:r>
              <a:rPr lang="en-US" dirty="0">
                <a:solidFill>
                  <a:srgbClr val="4E519E"/>
                </a:solidFill>
              </a:rPr>
              <a:t>One possible duopoly outcome  </a:t>
            </a:r>
          </a:p>
          <a:p>
            <a:r>
              <a:rPr lang="en-US" dirty="0"/>
              <a:t>Cartel:  </a:t>
            </a:r>
          </a:p>
          <a:p>
            <a:pPr lvl="1"/>
            <a:r>
              <a:rPr lang="en-US" dirty="0"/>
              <a:t>A group of firms acting in unison</a:t>
            </a:r>
          </a:p>
          <a:p>
            <a:pPr lvl="1"/>
            <a:r>
              <a:rPr lang="en-US" dirty="0"/>
              <a:t>Once a cartel is formed, the market is in effect served by a monopoly</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9</a:t>
            </a:fld>
            <a:endParaRPr lang="en-US"/>
          </a:p>
        </p:txBody>
      </p:sp>
      <p:sp>
        <p:nvSpPr>
          <p:cNvPr id="2" name="Footer Placeholder 1">
            <a:extLst>
              <a:ext uri="{FF2B5EF4-FFF2-40B4-BE49-F238E27FC236}">
                <a16:creationId xmlns:a16="http://schemas.microsoft.com/office/drawing/2014/main" id="{EED16596-F5AA-6F66-F314-D4DC335047B7}"/>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84723027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1: </a:t>
            </a:r>
            <a:r>
              <a:rPr lang="en-US" dirty="0">
                <a:solidFill>
                  <a:schemeClr val="tx1"/>
                </a:solidFill>
              </a:rPr>
              <a:t>Collusion in </a:t>
            </a:r>
            <a:r>
              <a:rPr lang="en-US" dirty="0" err="1">
                <a:solidFill>
                  <a:schemeClr val="tx1"/>
                </a:solidFill>
              </a:rPr>
              <a:t>Smallvile</a:t>
            </a:r>
            <a:r>
              <a:rPr lang="en-US" dirty="0">
                <a:solidFill>
                  <a:schemeClr val="tx1"/>
                </a:solidFill>
              </a:rPr>
              <a:t>?</a:t>
            </a:r>
          </a:p>
        </p:txBody>
      </p:sp>
      <p:sp>
        <p:nvSpPr>
          <p:cNvPr id="3" name="Content Placeholder 2"/>
          <p:cNvSpPr>
            <a:spLocks noGrp="1"/>
          </p:cNvSpPr>
          <p:nvPr>
            <p:ph idx="1"/>
          </p:nvPr>
        </p:nvSpPr>
        <p:spPr>
          <a:xfrm>
            <a:off x="2362200" y="838200"/>
            <a:ext cx="6553200" cy="5715000"/>
          </a:xfrm>
        </p:spPr>
        <p:txBody>
          <a:bodyPr>
            <a:normAutofit/>
          </a:bodyPr>
          <a:lstStyle/>
          <a:p>
            <a:pPr marL="0" indent="0">
              <a:buNone/>
            </a:pPr>
            <a:r>
              <a:rPr lang="en-US" sz="2800" u="sng" dirty="0">
                <a:solidFill>
                  <a:srgbClr val="4E519E"/>
                </a:solidFill>
              </a:rPr>
              <a:t>Duopoly outcome with collusion</a:t>
            </a:r>
            <a:r>
              <a:rPr lang="en-US" sz="2800" dirty="0">
                <a:solidFill>
                  <a:srgbClr val="4E519E"/>
                </a:solidFill>
              </a:rPr>
              <a:t>: Each gas station agrees to sell </a:t>
            </a:r>
            <a:r>
              <a:rPr lang="en-US" sz="2800" b="1" i="1" dirty="0">
                <a:solidFill>
                  <a:srgbClr val="4E519E"/>
                </a:solidFill>
              </a:rPr>
              <a:t>Q</a:t>
            </a:r>
            <a:r>
              <a:rPr lang="en-US" sz="2800" dirty="0">
                <a:solidFill>
                  <a:srgbClr val="4E519E"/>
                </a:solidFill>
              </a:rPr>
              <a:t> = 2,200 at  </a:t>
            </a:r>
            <a:r>
              <a:rPr lang="en-US" sz="2800" b="1" i="1" dirty="0">
                <a:solidFill>
                  <a:srgbClr val="4E519E"/>
                </a:solidFill>
              </a:rPr>
              <a:t>P</a:t>
            </a:r>
            <a:r>
              <a:rPr lang="en-US" sz="2800" dirty="0">
                <a:solidFill>
                  <a:srgbClr val="4E519E"/>
                </a:solidFill>
              </a:rPr>
              <a:t> = $7, each earns profit = $13,200</a:t>
            </a:r>
          </a:p>
          <a:p>
            <a:pPr marL="514350" indent="-514350">
              <a:buClr>
                <a:srgbClr val="C00000"/>
              </a:buClr>
              <a:buFont typeface="+mj-lt"/>
              <a:buAutoNum type="alphaUcPeriod"/>
            </a:pPr>
            <a:r>
              <a:rPr lang="en-US" sz="2800" dirty="0">
                <a:solidFill>
                  <a:schemeClr val="tx1"/>
                </a:solidFill>
              </a:rPr>
              <a:t>If Casey’s cheats on the agreement and plans to sell </a:t>
            </a:r>
            <a:r>
              <a:rPr lang="en-US" sz="2800" b="1" i="1" dirty="0">
                <a:solidFill>
                  <a:schemeClr val="tx1"/>
                </a:solidFill>
              </a:rPr>
              <a:t>Q</a:t>
            </a:r>
            <a:r>
              <a:rPr lang="en-US" sz="2800" dirty="0">
                <a:solidFill>
                  <a:schemeClr val="tx1"/>
                </a:solidFill>
              </a:rPr>
              <a:t> = 3,000, what happens to the market price? Calculate Casey’s profit.</a:t>
            </a:r>
          </a:p>
          <a:p>
            <a:pPr marL="514350" indent="-514350">
              <a:buClr>
                <a:srgbClr val="C00000"/>
              </a:buClr>
              <a:buFont typeface="+mj-lt"/>
              <a:buAutoNum type="alphaUcPeriod"/>
            </a:pPr>
            <a:r>
              <a:rPr lang="en-US" sz="2800" dirty="0">
                <a:solidFill>
                  <a:schemeClr val="tx1"/>
                </a:solidFill>
              </a:rPr>
              <a:t>Is it in Casey’s interest to cheat on the agreement?</a:t>
            </a:r>
          </a:p>
          <a:p>
            <a:pPr marL="514350" indent="-514350">
              <a:buClr>
                <a:srgbClr val="C00000"/>
              </a:buClr>
              <a:buFont typeface="+mj-lt"/>
              <a:buAutoNum type="alphaUcPeriod"/>
            </a:pPr>
            <a:r>
              <a:rPr lang="en-US" sz="2800" dirty="0">
                <a:solidFill>
                  <a:schemeClr val="tx1"/>
                </a:solidFill>
              </a:rPr>
              <a:t>If both gas stations cheat and plan to sell </a:t>
            </a:r>
            <a:r>
              <a:rPr lang="en-US" sz="2800" b="1" i="1" dirty="0">
                <a:solidFill>
                  <a:schemeClr val="tx1"/>
                </a:solidFill>
              </a:rPr>
              <a:t>Q</a:t>
            </a:r>
            <a:r>
              <a:rPr lang="en-US" sz="2800" dirty="0">
                <a:solidFill>
                  <a:schemeClr val="tx1"/>
                </a:solidFill>
              </a:rPr>
              <a:t> = 3,000 each, calculate their profits.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10</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541991351"/>
              </p:ext>
            </p:extLst>
          </p:nvPr>
        </p:nvGraphicFramePr>
        <p:xfrm>
          <a:off x="228599" y="914401"/>
          <a:ext cx="2042130" cy="5486404"/>
        </p:xfrm>
        <a:graphic>
          <a:graphicData uri="http://schemas.openxmlformats.org/drawingml/2006/table">
            <a:tbl>
              <a:tblPr>
                <a:tableStyleId>{5C22544A-7EE6-4342-B048-85BDC9FD1C3A}</a:tableStyleId>
              </a:tblPr>
              <a:tblGrid>
                <a:gridCol w="85150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tblGrid>
              <a:tr h="498764">
                <a:tc>
                  <a:txBody>
                    <a:bodyPr/>
                    <a:lstStyle/>
                    <a:p>
                      <a:pPr algn="ctr" fontAlgn="b"/>
                      <a:r>
                        <a:rPr lang="en-US" sz="2600" b="1" u="none" strike="noStrike" dirty="0">
                          <a:effectLst/>
                        </a:rPr>
                        <a:t>P</a:t>
                      </a:r>
                      <a:endParaRPr lang="en-US" sz="26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b="1" u="none" strike="noStrike" dirty="0">
                          <a:effectLst/>
                        </a:rPr>
                        <a:t>Q</a:t>
                      </a:r>
                      <a:endParaRPr lang="en-US" sz="26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498764">
                <a:tc>
                  <a:txBody>
                    <a:bodyPr/>
                    <a:lstStyle/>
                    <a:p>
                      <a:pPr algn="ctr" fontAlgn="b"/>
                      <a:r>
                        <a:rPr lang="en-US" sz="2600" u="none" strike="noStrike" dirty="0">
                          <a:effectLst/>
                        </a:rPr>
                        <a:t>$0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10,000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98764">
                <a:tc>
                  <a:txBody>
                    <a:bodyPr/>
                    <a:lstStyle/>
                    <a:p>
                      <a:pPr algn="ctr" fontAlgn="b"/>
                      <a:r>
                        <a:rPr lang="en-US" sz="2600" u="none" strike="noStrike" dirty="0">
                          <a:effectLst/>
                        </a:rPr>
                        <a:t>1</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9,200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498764">
                <a:tc>
                  <a:txBody>
                    <a:bodyPr/>
                    <a:lstStyle/>
                    <a:p>
                      <a:pPr algn="ctr" fontAlgn="b"/>
                      <a:r>
                        <a:rPr lang="en-US" sz="2600" u="none" strike="noStrike">
                          <a:effectLst/>
                        </a:rPr>
                        <a:t>2</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dirty="0">
                          <a:effectLst/>
                        </a:rPr>
                        <a:t>8,400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98764">
                <a:tc>
                  <a:txBody>
                    <a:bodyPr/>
                    <a:lstStyle/>
                    <a:p>
                      <a:pPr algn="ctr" fontAlgn="b"/>
                      <a:r>
                        <a:rPr lang="en-US" sz="2600" u="none" strike="noStrike" dirty="0">
                          <a:effectLst/>
                        </a:rPr>
                        <a:t>3</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7,600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498764">
                <a:tc>
                  <a:txBody>
                    <a:bodyPr/>
                    <a:lstStyle/>
                    <a:p>
                      <a:pPr algn="ctr" fontAlgn="b"/>
                      <a:r>
                        <a:rPr lang="en-US" sz="2600" u="none" strike="noStrike">
                          <a:effectLst/>
                        </a:rPr>
                        <a:t>4</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dirty="0">
                          <a:effectLst/>
                        </a:rPr>
                        <a:t>6,800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98764">
                <a:tc>
                  <a:txBody>
                    <a:bodyPr/>
                    <a:lstStyle/>
                    <a:p>
                      <a:pPr algn="ctr" fontAlgn="b"/>
                      <a:r>
                        <a:rPr lang="en-US" sz="2600" u="none" strike="noStrike" dirty="0">
                          <a:effectLst/>
                        </a:rPr>
                        <a:t>5</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6,000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498764">
                <a:tc>
                  <a:txBody>
                    <a:bodyPr/>
                    <a:lstStyle/>
                    <a:p>
                      <a:pPr algn="ctr" fontAlgn="b"/>
                      <a:r>
                        <a:rPr lang="en-US" sz="2600" u="none" strike="noStrike">
                          <a:effectLst/>
                        </a:rPr>
                        <a:t>6</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5,200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98764">
                <a:tc>
                  <a:txBody>
                    <a:bodyPr/>
                    <a:lstStyle/>
                    <a:p>
                      <a:pPr algn="ctr" fontAlgn="b"/>
                      <a:r>
                        <a:rPr lang="en-US" sz="2600" u="none" strike="noStrike" dirty="0">
                          <a:effectLst/>
                        </a:rPr>
                        <a:t>7</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4,400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498764">
                <a:tc>
                  <a:txBody>
                    <a:bodyPr/>
                    <a:lstStyle/>
                    <a:p>
                      <a:pPr algn="ctr" fontAlgn="b"/>
                      <a:r>
                        <a:rPr lang="en-US" sz="2600" u="none" strike="noStrike">
                          <a:effectLst/>
                        </a:rPr>
                        <a:t>8</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3,600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98764">
                <a:tc>
                  <a:txBody>
                    <a:bodyPr/>
                    <a:lstStyle/>
                    <a:p>
                      <a:pPr algn="ctr" fontAlgn="b"/>
                      <a:r>
                        <a:rPr lang="en-US" sz="2600" u="none" strike="noStrike" dirty="0">
                          <a:effectLst/>
                        </a:rPr>
                        <a:t>9</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2,800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bl>
          </a:graphicData>
        </a:graphic>
      </p:graphicFrame>
      <p:sp>
        <p:nvSpPr>
          <p:cNvPr id="5" name="Footer Placeholder 4">
            <a:extLst>
              <a:ext uri="{FF2B5EF4-FFF2-40B4-BE49-F238E27FC236}">
                <a16:creationId xmlns:a16="http://schemas.microsoft.com/office/drawing/2014/main" id="{F5689B63-A6B8-6FDB-2098-5856DBE162F0}"/>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9091155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1: Answers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11</a:t>
            </a:fld>
            <a:endParaRPr lang="en-US"/>
          </a:p>
        </p:txBody>
      </p:sp>
      <p:sp>
        <p:nvSpPr>
          <p:cNvPr id="3" name="Content Placeholder 2"/>
          <p:cNvSpPr>
            <a:spLocks noGrp="1"/>
          </p:cNvSpPr>
          <p:nvPr>
            <p:ph idx="12"/>
          </p:nvPr>
        </p:nvSpPr>
        <p:spPr>
          <a:xfrm>
            <a:off x="2362200" y="914400"/>
            <a:ext cx="6781800" cy="5715000"/>
          </a:xfrm>
        </p:spPr>
        <p:txBody>
          <a:bodyPr>
            <a:noAutofit/>
          </a:bodyPr>
          <a:lstStyle/>
          <a:p>
            <a:pPr marL="0" indent="0">
              <a:buNone/>
            </a:pPr>
            <a:r>
              <a:rPr lang="en-US" sz="2600" dirty="0"/>
              <a:t>If both stick to the agreement, each earns profit = $13,200</a:t>
            </a:r>
          </a:p>
          <a:p>
            <a:pPr marL="0" indent="0">
              <a:buNone/>
            </a:pPr>
            <a:r>
              <a:rPr lang="en-US" sz="2600" dirty="0">
                <a:solidFill>
                  <a:srgbClr val="C00000"/>
                </a:solidFill>
              </a:rPr>
              <a:t>A. </a:t>
            </a:r>
            <a:r>
              <a:rPr lang="en-US" sz="2600" dirty="0">
                <a:solidFill>
                  <a:srgbClr val="4E519E"/>
                </a:solidFill>
              </a:rPr>
              <a:t>If Casey’s cheats: </a:t>
            </a:r>
            <a:r>
              <a:rPr lang="en-US" sz="2600" b="1" i="1" dirty="0">
                <a:solidFill>
                  <a:srgbClr val="4E519E"/>
                </a:solidFill>
              </a:rPr>
              <a:t>Q</a:t>
            </a:r>
            <a:r>
              <a:rPr lang="en-US" sz="2600" b="1" i="1" baseline="-25000" dirty="0">
                <a:solidFill>
                  <a:srgbClr val="4E519E"/>
                </a:solidFill>
              </a:rPr>
              <a:t>1</a:t>
            </a:r>
            <a:r>
              <a:rPr lang="en-US" sz="2600" dirty="0">
                <a:solidFill>
                  <a:srgbClr val="4E519E"/>
                </a:solidFill>
              </a:rPr>
              <a:t> = 3,000</a:t>
            </a:r>
          </a:p>
          <a:p>
            <a:pPr>
              <a:buFont typeface="Arial" panose="020B0604020202020204" pitchFamily="34" charset="0"/>
              <a:buChar char="•"/>
            </a:pPr>
            <a:r>
              <a:rPr lang="en-US" sz="2600" dirty="0">
                <a:solidFill>
                  <a:srgbClr val="4E519E"/>
                </a:solidFill>
              </a:rPr>
              <a:t>Market quantity = 3,000 + 2,200 </a:t>
            </a:r>
            <a:r>
              <a:rPr lang="en-US" sz="2600" dirty="0">
                <a:solidFill>
                  <a:srgbClr val="AE1221"/>
                </a:solidFill>
              </a:rPr>
              <a:t>= 5,200</a:t>
            </a:r>
          </a:p>
          <a:p>
            <a:pPr>
              <a:buFont typeface="Arial" panose="020B0604020202020204" pitchFamily="34" charset="0"/>
              <a:buChar char="•"/>
            </a:pPr>
            <a:r>
              <a:rPr lang="en-US" sz="2600" b="1" i="1" dirty="0">
                <a:solidFill>
                  <a:srgbClr val="4E519E"/>
                </a:solidFill>
              </a:rPr>
              <a:t>P</a:t>
            </a:r>
            <a:r>
              <a:rPr lang="en-US" sz="2600" dirty="0">
                <a:solidFill>
                  <a:srgbClr val="4E519E"/>
                </a:solidFill>
              </a:rPr>
              <a:t> = $6</a:t>
            </a:r>
          </a:p>
          <a:p>
            <a:pPr>
              <a:buFont typeface="Arial" panose="020B0604020202020204" pitchFamily="34" charset="0"/>
              <a:buChar char="•"/>
            </a:pPr>
            <a:r>
              <a:rPr lang="en-US" sz="2600" dirty="0">
                <a:solidFill>
                  <a:srgbClr val="4E519E"/>
                </a:solidFill>
              </a:rPr>
              <a:t>Casey’s profit = 3,000×(6 – 1) </a:t>
            </a:r>
            <a:r>
              <a:rPr lang="en-US" sz="2600" dirty="0">
                <a:solidFill>
                  <a:srgbClr val="AE1221"/>
                </a:solidFill>
              </a:rPr>
              <a:t>= $15,000</a:t>
            </a:r>
          </a:p>
          <a:p>
            <a:pPr marL="0" indent="0">
              <a:buNone/>
            </a:pPr>
            <a:r>
              <a:rPr lang="en-US" sz="2600" dirty="0">
                <a:solidFill>
                  <a:srgbClr val="C00000"/>
                </a:solidFill>
              </a:rPr>
              <a:t>B. </a:t>
            </a:r>
            <a:r>
              <a:rPr lang="en-US" sz="2600" dirty="0"/>
              <a:t>Yes. Higher profit!</a:t>
            </a:r>
          </a:p>
          <a:p>
            <a:pPr marL="0" indent="0">
              <a:buNone/>
            </a:pPr>
            <a:r>
              <a:rPr lang="en-US" sz="2600" dirty="0">
                <a:solidFill>
                  <a:srgbClr val="AE1221"/>
                </a:solidFill>
              </a:rPr>
              <a:t>C. </a:t>
            </a:r>
            <a:r>
              <a:rPr lang="en-US" sz="2600" dirty="0">
                <a:solidFill>
                  <a:srgbClr val="4E519E"/>
                </a:solidFill>
              </a:rPr>
              <a:t>If both cheat: </a:t>
            </a:r>
            <a:r>
              <a:rPr lang="en-US" sz="2600" b="1" i="1" dirty="0">
                <a:solidFill>
                  <a:srgbClr val="4E519E"/>
                </a:solidFill>
              </a:rPr>
              <a:t>Q</a:t>
            </a:r>
            <a:r>
              <a:rPr lang="en-US" sz="2600" b="1" i="1" baseline="-25000" dirty="0">
                <a:solidFill>
                  <a:srgbClr val="4E519E"/>
                </a:solidFill>
              </a:rPr>
              <a:t>1</a:t>
            </a:r>
            <a:r>
              <a:rPr lang="en-US" sz="2600" dirty="0">
                <a:solidFill>
                  <a:srgbClr val="4E519E"/>
                </a:solidFill>
              </a:rPr>
              <a:t> = </a:t>
            </a:r>
            <a:r>
              <a:rPr lang="en-US" sz="2600" b="1" i="1" dirty="0">
                <a:solidFill>
                  <a:srgbClr val="4E519E"/>
                </a:solidFill>
              </a:rPr>
              <a:t>Q</a:t>
            </a:r>
            <a:r>
              <a:rPr lang="en-US" sz="2600" b="1" i="1" baseline="-25000" dirty="0">
                <a:solidFill>
                  <a:srgbClr val="4E519E"/>
                </a:solidFill>
              </a:rPr>
              <a:t>2</a:t>
            </a:r>
            <a:r>
              <a:rPr lang="en-US" sz="2600" dirty="0">
                <a:solidFill>
                  <a:srgbClr val="4E519E"/>
                </a:solidFill>
              </a:rPr>
              <a:t> = 3,000 </a:t>
            </a:r>
          </a:p>
          <a:p>
            <a:pPr>
              <a:buFont typeface="Arial" panose="020B0604020202020204" pitchFamily="34" charset="0"/>
              <a:buChar char="•"/>
            </a:pPr>
            <a:r>
              <a:rPr lang="en-US" sz="2600" dirty="0">
                <a:solidFill>
                  <a:srgbClr val="4E519E"/>
                </a:solidFill>
              </a:rPr>
              <a:t>Market quantity = 6,000</a:t>
            </a:r>
          </a:p>
          <a:p>
            <a:pPr>
              <a:buFont typeface="Arial" panose="020B0604020202020204" pitchFamily="34" charset="0"/>
              <a:buChar char="•"/>
            </a:pPr>
            <a:r>
              <a:rPr lang="en-US" sz="2600" b="1" i="1" dirty="0">
                <a:solidFill>
                  <a:srgbClr val="4E519E"/>
                </a:solidFill>
              </a:rPr>
              <a:t>P</a:t>
            </a:r>
            <a:r>
              <a:rPr lang="en-US" sz="2600" dirty="0">
                <a:solidFill>
                  <a:srgbClr val="4E519E"/>
                </a:solidFill>
              </a:rPr>
              <a:t> = $5</a:t>
            </a:r>
          </a:p>
          <a:p>
            <a:pPr>
              <a:buFont typeface="Arial" panose="020B0604020202020204" pitchFamily="34" charset="0"/>
              <a:buChar char="•"/>
            </a:pPr>
            <a:r>
              <a:rPr lang="en-US" sz="2600" dirty="0">
                <a:solidFill>
                  <a:srgbClr val="4E519E"/>
                </a:solidFill>
              </a:rPr>
              <a:t>Each firm’s profit = 3,000×(5-1) </a:t>
            </a:r>
            <a:r>
              <a:rPr lang="en-US" sz="2600" dirty="0">
                <a:solidFill>
                  <a:srgbClr val="AE1221"/>
                </a:solidFill>
              </a:rPr>
              <a:t>= $12,000</a:t>
            </a:r>
          </a:p>
        </p:txBody>
      </p:sp>
      <p:graphicFrame>
        <p:nvGraphicFramePr>
          <p:cNvPr id="6" name="Table 5"/>
          <p:cNvGraphicFramePr>
            <a:graphicFrameLocks noGrp="1"/>
          </p:cNvGraphicFramePr>
          <p:nvPr>
            <p:extLst>
              <p:ext uri="{D42A27DB-BD31-4B8C-83A1-F6EECF244321}">
                <p14:modId xmlns:p14="http://schemas.microsoft.com/office/powerpoint/2010/main" val="999696882"/>
              </p:ext>
            </p:extLst>
          </p:nvPr>
        </p:nvGraphicFramePr>
        <p:xfrm>
          <a:off x="228599" y="914401"/>
          <a:ext cx="2042130" cy="5486404"/>
        </p:xfrm>
        <a:graphic>
          <a:graphicData uri="http://schemas.openxmlformats.org/drawingml/2006/table">
            <a:tbl>
              <a:tblPr>
                <a:tableStyleId>{5C22544A-7EE6-4342-B048-85BDC9FD1C3A}</a:tableStyleId>
              </a:tblPr>
              <a:tblGrid>
                <a:gridCol w="85150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tblGrid>
              <a:tr h="498764">
                <a:tc>
                  <a:txBody>
                    <a:bodyPr/>
                    <a:lstStyle/>
                    <a:p>
                      <a:pPr algn="ctr" fontAlgn="b"/>
                      <a:r>
                        <a:rPr lang="en-US" sz="2600" b="1" u="none" strike="noStrike" dirty="0">
                          <a:effectLst/>
                        </a:rPr>
                        <a:t>P</a:t>
                      </a:r>
                      <a:endParaRPr lang="en-US" sz="26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b="1" u="none" strike="noStrike" dirty="0">
                          <a:effectLst/>
                        </a:rPr>
                        <a:t>Q</a:t>
                      </a:r>
                      <a:endParaRPr lang="en-US" sz="26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498764">
                <a:tc>
                  <a:txBody>
                    <a:bodyPr/>
                    <a:lstStyle/>
                    <a:p>
                      <a:pPr algn="ctr" fontAlgn="b"/>
                      <a:r>
                        <a:rPr lang="en-US" sz="2600" u="none" strike="noStrike" dirty="0">
                          <a:effectLst/>
                        </a:rPr>
                        <a:t>$0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10,000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98764">
                <a:tc>
                  <a:txBody>
                    <a:bodyPr/>
                    <a:lstStyle/>
                    <a:p>
                      <a:pPr algn="ctr" fontAlgn="b"/>
                      <a:r>
                        <a:rPr lang="en-US" sz="2600" u="none" strike="noStrike" dirty="0">
                          <a:effectLst/>
                        </a:rPr>
                        <a:t>1</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9,200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498764">
                <a:tc>
                  <a:txBody>
                    <a:bodyPr/>
                    <a:lstStyle/>
                    <a:p>
                      <a:pPr algn="ctr" fontAlgn="b"/>
                      <a:r>
                        <a:rPr lang="en-US" sz="2600" u="none" strike="noStrike">
                          <a:effectLst/>
                        </a:rPr>
                        <a:t>2</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dirty="0">
                          <a:effectLst/>
                        </a:rPr>
                        <a:t>8,400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98764">
                <a:tc>
                  <a:txBody>
                    <a:bodyPr/>
                    <a:lstStyle/>
                    <a:p>
                      <a:pPr algn="ctr" fontAlgn="b"/>
                      <a:r>
                        <a:rPr lang="en-US" sz="2600" u="none" strike="noStrike" dirty="0">
                          <a:effectLst/>
                        </a:rPr>
                        <a:t>3</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7,600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498764">
                <a:tc>
                  <a:txBody>
                    <a:bodyPr/>
                    <a:lstStyle/>
                    <a:p>
                      <a:pPr algn="ctr" fontAlgn="b"/>
                      <a:r>
                        <a:rPr lang="en-US" sz="2600" u="none" strike="noStrike">
                          <a:effectLst/>
                        </a:rPr>
                        <a:t>4</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dirty="0">
                          <a:effectLst/>
                        </a:rPr>
                        <a:t>6,800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98764">
                <a:tc>
                  <a:txBody>
                    <a:bodyPr/>
                    <a:lstStyle/>
                    <a:p>
                      <a:pPr algn="ctr" fontAlgn="b"/>
                      <a:r>
                        <a:rPr lang="en-US" sz="2600" u="none" strike="noStrike" dirty="0">
                          <a:effectLst/>
                        </a:rPr>
                        <a:t>5</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6,000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498764">
                <a:tc>
                  <a:txBody>
                    <a:bodyPr/>
                    <a:lstStyle/>
                    <a:p>
                      <a:pPr algn="ctr" fontAlgn="b"/>
                      <a:r>
                        <a:rPr lang="en-US" sz="2600" u="none" strike="noStrike">
                          <a:effectLst/>
                        </a:rPr>
                        <a:t>6</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5,200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98764">
                <a:tc>
                  <a:txBody>
                    <a:bodyPr/>
                    <a:lstStyle/>
                    <a:p>
                      <a:pPr algn="ctr" fontAlgn="b"/>
                      <a:r>
                        <a:rPr lang="en-US" sz="2600" u="none" strike="noStrike" dirty="0">
                          <a:effectLst/>
                        </a:rPr>
                        <a:t>7</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4,400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498764">
                <a:tc>
                  <a:txBody>
                    <a:bodyPr/>
                    <a:lstStyle/>
                    <a:p>
                      <a:pPr algn="ctr" fontAlgn="b"/>
                      <a:r>
                        <a:rPr lang="en-US" sz="2600" u="none" strike="noStrike">
                          <a:effectLst/>
                        </a:rPr>
                        <a:t>8</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3,600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98764">
                <a:tc>
                  <a:txBody>
                    <a:bodyPr/>
                    <a:lstStyle/>
                    <a:p>
                      <a:pPr algn="ctr" fontAlgn="b"/>
                      <a:r>
                        <a:rPr lang="en-US" sz="2600" u="none" strike="noStrike" dirty="0">
                          <a:effectLst/>
                        </a:rPr>
                        <a:t>9</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2,800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bl>
          </a:graphicData>
        </a:graphic>
      </p:graphicFrame>
      <p:sp>
        <p:nvSpPr>
          <p:cNvPr id="5" name="Footer Placeholder 4">
            <a:extLst>
              <a:ext uri="{FF2B5EF4-FFF2-40B4-BE49-F238E27FC236}">
                <a16:creationId xmlns:a16="http://schemas.microsoft.com/office/drawing/2014/main" id="{6F7501C8-703B-930C-B5D9-25327EB1C1ED}"/>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5219007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ipe(left)">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wipe(left)">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wipe(left)">
                                      <p:cBhvr>
                                        <p:cTn id="34" dur="500"/>
                                        <p:tgtEl>
                                          <p:spTgt spid="3">
                                            <p:txEl>
                                              <p:pRg st="6" end="6"/>
                                            </p:txEl>
                                          </p:spTgt>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left)">
                                      <p:cBhvr>
                                        <p:cTn id="38" dur="500"/>
                                        <p:tgtEl>
                                          <p:spTgt spid="3">
                                            <p:txEl>
                                              <p:pRg st="7" end="7"/>
                                            </p:txEl>
                                          </p:spTgt>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wipe(left)">
                                      <p:cBhvr>
                                        <p:cTn id="42" dur="500"/>
                                        <p:tgtEl>
                                          <p:spTgt spid="3">
                                            <p:txEl>
                                              <p:pRg st="8" end="8"/>
                                            </p:txEl>
                                          </p:spTgt>
                                        </p:tgtEl>
                                      </p:cBhvr>
                                    </p:animEffect>
                                  </p:childTnLst>
                                </p:cTn>
                              </p:par>
                            </p:childTnLst>
                          </p:cTn>
                        </p:par>
                        <p:par>
                          <p:cTn id="43" fill="hold">
                            <p:stCondLst>
                              <p:cond delay="1500"/>
                            </p:stCondLst>
                            <p:childTnLst>
                              <p:par>
                                <p:cTn id="44" presetID="22" presetClass="entr" presetSubtype="8" fill="hold" grpId="0" nodeType="after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wipe(left)">
                                      <p:cBhvr>
                                        <p:cTn id="4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Collusion vs. Self-Interest</a:t>
            </a:r>
          </a:p>
        </p:txBody>
      </p:sp>
      <p:sp>
        <p:nvSpPr>
          <p:cNvPr id="3" name="Content Placeholder 2"/>
          <p:cNvSpPr>
            <a:spLocks noGrp="1"/>
          </p:cNvSpPr>
          <p:nvPr>
            <p:ph idx="1"/>
          </p:nvPr>
        </p:nvSpPr>
        <p:spPr>
          <a:prstGeom prst="rect">
            <a:avLst/>
          </a:prstGeom>
        </p:spPr>
        <p:txBody>
          <a:bodyPr/>
          <a:lstStyle/>
          <a:p>
            <a:r>
              <a:rPr lang="en-US" dirty="0"/>
              <a:t>Both firms would be better off if both stick to the collusion agreement (form a cartel) </a:t>
            </a:r>
          </a:p>
          <a:p>
            <a:pPr lvl="1"/>
            <a:r>
              <a:rPr lang="en-US" dirty="0"/>
              <a:t>But each firm has incentive to cheat on the agreement.  </a:t>
            </a:r>
          </a:p>
          <a:p>
            <a:r>
              <a:rPr lang="en-US" dirty="0"/>
              <a:t>Lesson: </a:t>
            </a:r>
          </a:p>
          <a:p>
            <a:pPr lvl="1"/>
            <a:r>
              <a:rPr lang="en-US" dirty="0"/>
              <a:t>It is difficult for oligopoly firms to form cartels and honor their agreements. </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12</a:t>
            </a:fld>
            <a:endParaRPr lang="en-US"/>
          </a:p>
        </p:txBody>
      </p:sp>
      <p:sp>
        <p:nvSpPr>
          <p:cNvPr id="5" name="Footer Placeholder 4">
            <a:extLst>
              <a:ext uri="{FF2B5EF4-FFF2-40B4-BE49-F238E27FC236}">
                <a16:creationId xmlns:a16="http://schemas.microsoft.com/office/drawing/2014/main" id="{2DBBAD38-A980-C282-D7D1-D2A0B130FC7A}"/>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2869937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solidFill>
                  <a:srgbClr val="AE1221"/>
                </a:solidFill>
              </a:rPr>
              <a:t>Active Learning 2: </a:t>
            </a:r>
            <a:r>
              <a:rPr lang="en-US" sz="3000" dirty="0">
                <a:solidFill>
                  <a:schemeClr val="tx1"/>
                </a:solidFill>
              </a:rPr>
              <a:t>Duopoly equilibrium in </a:t>
            </a:r>
            <a:r>
              <a:rPr lang="en-US" sz="3000" dirty="0" err="1">
                <a:solidFill>
                  <a:schemeClr val="tx1"/>
                </a:solidFill>
              </a:rPr>
              <a:t>Smallville</a:t>
            </a:r>
            <a:endParaRPr lang="en-US" sz="3000" dirty="0">
              <a:solidFill>
                <a:schemeClr val="tx1"/>
              </a:solidFill>
            </a:endParaRP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13</a:t>
            </a:fld>
            <a:endParaRPr lang="en-US"/>
          </a:p>
        </p:txBody>
      </p:sp>
      <p:sp>
        <p:nvSpPr>
          <p:cNvPr id="3" name="Content Placeholder 2"/>
          <p:cNvSpPr>
            <a:spLocks noGrp="1"/>
          </p:cNvSpPr>
          <p:nvPr>
            <p:ph idx="12"/>
          </p:nvPr>
        </p:nvSpPr>
        <p:spPr>
          <a:xfrm>
            <a:off x="2514600" y="990600"/>
            <a:ext cx="6400800" cy="5181600"/>
          </a:xfrm>
        </p:spPr>
        <p:txBody>
          <a:bodyPr>
            <a:normAutofit/>
          </a:bodyPr>
          <a:lstStyle/>
          <a:p>
            <a:pPr marL="0" indent="0">
              <a:buNone/>
            </a:pPr>
            <a:r>
              <a:rPr lang="en-US" sz="3200" dirty="0">
                <a:solidFill>
                  <a:srgbClr val="4E519E"/>
                </a:solidFill>
              </a:rPr>
              <a:t>FC = 0 and MC = $1. </a:t>
            </a:r>
          </a:p>
          <a:p>
            <a:pPr marL="0" indent="0">
              <a:buNone/>
            </a:pPr>
            <a:r>
              <a:rPr lang="en-US" sz="3200" dirty="0">
                <a:solidFill>
                  <a:srgbClr val="4E519E"/>
                </a:solidFill>
              </a:rPr>
              <a:t>If each firm sells </a:t>
            </a:r>
            <a:r>
              <a:rPr lang="en-US" sz="3200" b="1" i="1" dirty="0">
                <a:solidFill>
                  <a:srgbClr val="4E519E"/>
                </a:solidFill>
              </a:rPr>
              <a:t>Q</a:t>
            </a:r>
            <a:r>
              <a:rPr lang="en-US" sz="3200" dirty="0">
                <a:solidFill>
                  <a:srgbClr val="4E519E"/>
                </a:solidFill>
              </a:rPr>
              <a:t> = 3,000, </a:t>
            </a:r>
          </a:p>
          <a:p>
            <a:pPr marL="0" indent="0">
              <a:buNone/>
            </a:pPr>
            <a:r>
              <a:rPr lang="en-US" sz="3200" b="1" i="1" dirty="0">
                <a:solidFill>
                  <a:srgbClr val="4E519E"/>
                </a:solidFill>
              </a:rPr>
              <a:t>P</a:t>
            </a:r>
            <a:r>
              <a:rPr lang="en-US" sz="3200" dirty="0">
                <a:solidFill>
                  <a:srgbClr val="4E519E"/>
                </a:solidFill>
              </a:rPr>
              <a:t> = $5, and each firm’s profit is $12,000</a:t>
            </a:r>
          </a:p>
          <a:p>
            <a:pPr marL="514350" indent="-514350">
              <a:buClr>
                <a:srgbClr val="C00000"/>
              </a:buClr>
              <a:buFont typeface="+mj-lt"/>
              <a:buAutoNum type="alphaUcPeriod"/>
            </a:pPr>
            <a:r>
              <a:rPr lang="en-US" sz="3200" dirty="0"/>
              <a:t>Should Casey’s increase </a:t>
            </a:r>
            <a:r>
              <a:rPr lang="en-US" sz="3200" b="1" i="1" dirty="0"/>
              <a:t>Q</a:t>
            </a:r>
            <a:r>
              <a:rPr lang="en-US" sz="3200" dirty="0"/>
              <a:t> to 3,800?</a:t>
            </a:r>
          </a:p>
          <a:p>
            <a:pPr marL="514350" indent="-514350">
              <a:buClr>
                <a:srgbClr val="C00000"/>
              </a:buClr>
              <a:buFont typeface="+mj-lt"/>
              <a:buAutoNum type="alphaUcPeriod"/>
            </a:pPr>
            <a:r>
              <a:rPr lang="en-US" sz="3200" dirty="0"/>
              <a:t>Should 7-eleven increase </a:t>
            </a:r>
            <a:r>
              <a:rPr lang="en-US" sz="3200" b="1" i="1" dirty="0"/>
              <a:t>Q</a:t>
            </a:r>
            <a:r>
              <a:rPr lang="en-US" sz="3200" dirty="0"/>
              <a:t> to 3,800?</a:t>
            </a:r>
          </a:p>
        </p:txBody>
      </p:sp>
      <p:graphicFrame>
        <p:nvGraphicFramePr>
          <p:cNvPr id="6" name="Table 5"/>
          <p:cNvGraphicFramePr>
            <a:graphicFrameLocks noGrp="1"/>
          </p:cNvGraphicFramePr>
          <p:nvPr>
            <p:extLst>
              <p:ext uri="{D42A27DB-BD31-4B8C-83A1-F6EECF244321}">
                <p14:modId xmlns:p14="http://schemas.microsoft.com/office/powerpoint/2010/main" val="3152255148"/>
              </p:ext>
            </p:extLst>
          </p:nvPr>
        </p:nvGraphicFramePr>
        <p:xfrm>
          <a:off x="228599" y="914401"/>
          <a:ext cx="2042130" cy="5486404"/>
        </p:xfrm>
        <a:graphic>
          <a:graphicData uri="http://schemas.openxmlformats.org/drawingml/2006/table">
            <a:tbl>
              <a:tblPr>
                <a:tableStyleId>{5C22544A-7EE6-4342-B048-85BDC9FD1C3A}</a:tableStyleId>
              </a:tblPr>
              <a:tblGrid>
                <a:gridCol w="85150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tblGrid>
              <a:tr h="498764">
                <a:tc>
                  <a:txBody>
                    <a:bodyPr/>
                    <a:lstStyle/>
                    <a:p>
                      <a:pPr algn="ctr" fontAlgn="b"/>
                      <a:r>
                        <a:rPr lang="en-US" sz="2600" b="1" u="none" strike="noStrike" dirty="0">
                          <a:effectLst/>
                        </a:rPr>
                        <a:t>P</a:t>
                      </a:r>
                      <a:endParaRPr lang="en-US" sz="26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b="1" u="none" strike="noStrike" dirty="0">
                          <a:effectLst/>
                        </a:rPr>
                        <a:t>Q</a:t>
                      </a:r>
                      <a:endParaRPr lang="en-US" sz="26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498764">
                <a:tc>
                  <a:txBody>
                    <a:bodyPr/>
                    <a:lstStyle/>
                    <a:p>
                      <a:pPr algn="ctr" fontAlgn="b"/>
                      <a:r>
                        <a:rPr lang="en-US" sz="2600" u="none" strike="noStrike" dirty="0">
                          <a:effectLst/>
                        </a:rPr>
                        <a:t>$0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10,000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98764">
                <a:tc>
                  <a:txBody>
                    <a:bodyPr/>
                    <a:lstStyle/>
                    <a:p>
                      <a:pPr algn="ctr" fontAlgn="b"/>
                      <a:r>
                        <a:rPr lang="en-US" sz="2600" u="none" strike="noStrike" dirty="0">
                          <a:effectLst/>
                        </a:rPr>
                        <a:t>1</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9,200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498764">
                <a:tc>
                  <a:txBody>
                    <a:bodyPr/>
                    <a:lstStyle/>
                    <a:p>
                      <a:pPr algn="ctr" fontAlgn="b"/>
                      <a:r>
                        <a:rPr lang="en-US" sz="2600" u="none" strike="noStrike">
                          <a:effectLst/>
                        </a:rPr>
                        <a:t>2</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dirty="0">
                          <a:effectLst/>
                        </a:rPr>
                        <a:t>8,400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98764">
                <a:tc>
                  <a:txBody>
                    <a:bodyPr/>
                    <a:lstStyle/>
                    <a:p>
                      <a:pPr algn="ctr" fontAlgn="b"/>
                      <a:r>
                        <a:rPr lang="en-US" sz="2600" u="none" strike="noStrike" dirty="0">
                          <a:effectLst/>
                        </a:rPr>
                        <a:t>3</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7,600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498764">
                <a:tc>
                  <a:txBody>
                    <a:bodyPr/>
                    <a:lstStyle/>
                    <a:p>
                      <a:pPr algn="ctr" fontAlgn="b"/>
                      <a:r>
                        <a:rPr lang="en-US" sz="2600" u="none" strike="noStrike">
                          <a:effectLst/>
                        </a:rPr>
                        <a:t>4</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dirty="0">
                          <a:effectLst/>
                        </a:rPr>
                        <a:t>6,800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98764">
                <a:tc>
                  <a:txBody>
                    <a:bodyPr/>
                    <a:lstStyle/>
                    <a:p>
                      <a:pPr algn="ctr" fontAlgn="b"/>
                      <a:r>
                        <a:rPr lang="en-US" sz="2600" u="none" strike="noStrike" dirty="0">
                          <a:effectLst/>
                        </a:rPr>
                        <a:t>5</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6,000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498764">
                <a:tc>
                  <a:txBody>
                    <a:bodyPr/>
                    <a:lstStyle/>
                    <a:p>
                      <a:pPr algn="ctr" fontAlgn="b"/>
                      <a:r>
                        <a:rPr lang="en-US" sz="2600" u="none" strike="noStrike">
                          <a:effectLst/>
                        </a:rPr>
                        <a:t>6</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5,200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98764">
                <a:tc>
                  <a:txBody>
                    <a:bodyPr/>
                    <a:lstStyle/>
                    <a:p>
                      <a:pPr algn="ctr" fontAlgn="b"/>
                      <a:r>
                        <a:rPr lang="en-US" sz="2600" u="none" strike="noStrike" dirty="0">
                          <a:effectLst/>
                        </a:rPr>
                        <a:t>7</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4,400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498764">
                <a:tc>
                  <a:txBody>
                    <a:bodyPr/>
                    <a:lstStyle/>
                    <a:p>
                      <a:pPr algn="ctr" fontAlgn="b"/>
                      <a:r>
                        <a:rPr lang="en-US" sz="2600" u="none" strike="noStrike">
                          <a:effectLst/>
                        </a:rPr>
                        <a:t>8</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3,600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98764">
                <a:tc>
                  <a:txBody>
                    <a:bodyPr/>
                    <a:lstStyle/>
                    <a:p>
                      <a:pPr algn="ctr" fontAlgn="b"/>
                      <a:r>
                        <a:rPr lang="en-US" sz="2600" u="none" strike="noStrike" dirty="0">
                          <a:effectLst/>
                        </a:rPr>
                        <a:t>9</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2,800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bl>
          </a:graphicData>
        </a:graphic>
      </p:graphicFrame>
      <p:sp>
        <p:nvSpPr>
          <p:cNvPr id="5" name="Footer Placeholder 4">
            <a:extLst>
              <a:ext uri="{FF2B5EF4-FFF2-40B4-BE49-F238E27FC236}">
                <a16:creationId xmlns:a16="http://schemas.microsoft.com/office/drawing/2014/main" id="{177C79A2-CD13-EA78-E170-76648D054DD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8410640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solidFill>
                  <a:srgbClr val="AE1221"/>
                </a:solidFill>
              </a:rPr>
              <a:t>Active Learning 2: Answers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14</a:t>
            </a:fld>
            <a:endParaRPr lang="en-US"/>
          </a:p>
        </p:txBody>
      </p:sp>
      <p:sp>
        <p:nvSpPr>
          <p:cNvPr id="3" name="Content Placeholder 2"/>
          <p:cNvSpPr>
            <a:spLocks noGrp="1"/>
          </p:cNvSpPr>
          <p:nvPr>
            <p:ph idx="12"/>
          </p:nvPr>
        </p:nvSpPr>
        <p:spPr>
          <a:xfrm>
            <a:off x="2514600" y="990599"/>
            <a:ext cx="6476999" cy="5410205"/>
          </a:xfrm>
        </p:spPr>
        <p:txBody>
          <a:bodyPr>
            <a:normAutofit/>
          </a:bodyPr>
          <a:lstStyle/>
          <a:p>
            <a:pPr marL="0" indent="0">
              <a:buNone/>
            </a:pPr>
            <a:r>
              <a:rPr lang="en-US" sz="2900" dirty="0"/>
              <a:t>If each firm sells </a:t>
            </a:r>
            <a:r>
              <a:rPr lang="en-US" sz="2900" b="1" i="1" dirty="0"/>
              <a:t>Q</a:t>
            </a:r>
            <a:r>
              <a:rPr lang="en-US" sz="2900" dirty="0"/>
              <a:t> = 3,000, </a:t>
            </a:r>
            <a:r>
              <a:rPr lang="en-US" sz="2900" b="1" i="1" dirty="0"/>
              <a:t>P</a:t>
            </a:r>
            <a:r>
              <a:rPr lang="en-US" sz="2900" dirty="0"/>
              <a:t> = $5, and each firm’s profit = $12,000. </a:t>
            </a:r>
          </a:p>
          <a:p>
            <a:pPr marL="0" indent="0">
              <a:buNone/>
            </a:pPr>
            <a:r>
              <a:rPr lang="en-US" sz="2900" dirty="0"/>
              <a:t>FC = 0 and MC = $1. </a:t>
            </a:r>
          </a:p>
          <a:p>
            <a:pPr marL="514350" indent="-514350">
              <a:buClr>
                <a:srgbClr val="AE1221"/>
              </a:buClr>
              <a:buFont typeface="+mj-lt"/>
              <a:buAutoNum type="alphaUcPeriod"/>
            </a:pPr>
            <a:r>
              <a:rPr lang="en-US" sz="2900" dirty="0">
                <a:solidFill>
                  <a:srgbClr val="4E519E"/>
                </a:solidFill>
              </a:rPr>
              <a:t>If Casey’s increases </a:t>
            </a:r>
            <a:r>
              <a:rPr lang="en-US" sz="2900" b="1" i="1" dirty="0">
                <a:solidFill>
                  <a:srgbClr val="4E519E"/>
                </a:solidFill>
              </a:rPr>
              <a:t>Q</a:t>
            </a:r>
            <a:r>
              <a:rPr lang="en-US" sz="2900" dirty="0">
                <a:solidFill>
                  <a:srgbClr val="4E519E"/>
                </a:solidFill>
              </a:rPr>
              <a:t> to 3,800:</a:t>
            </a:r>
          </a:p>
          <a:p>
            <a:r>
              <a:rPr lang="en-US" sz="2900" dirty="0">
                <a:solidFill>
                  <a:srgbClr val="4E519E"/>
                </a:solidFill>
              </a:rPr>
              <a:t>Market </a:t>
            </a:r>
            <a:r>
              <a:rPr lang="en-US" sz="2900" b="1" i="1" dirty="0">
                <a:solidFill>
                  <a:srgbClr val="4E519E"/>
                </a:solidFill>
              </a:rPr>
              <a:t>Q</a:t>
            </a:r>
            <a:r>
              <a:rPr lang="en-US" sz="2900" dirty="0">
                <a:solidFill>
                  <a:srgbClr val="4E519E"/>
                </a:solidFill>
              </a:rPr>
              <a:t> = 6,800, </a:t>
            </a:r>
            <a:r>
              <a:rPr lang="en-US" sz="2900" b="1" i="1" dirty="0">
                <a:solidFill>
                  <a:srgbClr val="4E519E"/>
                </a:solidFill>
              </a:rPr>
              <a:t>P</a:t>
            </a:r>
            <a:r>
              <a:rPr lang="en-US" sz="2900" dirty="0">
                <a:solidFill>
                  <a:srgbClr val="4E519E"/>
                </a:solidFill>
              </a:rPr>
              <a:t> = $4</a:t>
            </a:r>
          </a:p>
          <a:p>
            <a:r>
              <a:rPr lang="en-US" sz="2900" dirty="0">
                <a:solidFill>
                  <a:srgbClr val="4E519E"/>
                </a:solidFill>
              </a:rPr>
              <a:t>Casey’s profit = 3,800×(4–1) = $11,400</a:t>
            </a:r>
          </a:p>
          <a:p>
            <a:pPr marL="0" indent="0">
              <a:buNone/>
            </a:pPr>
            <a:r>
              <a:rPr lang="en-US" sz="2900" dirty="0">
                <a:solidFill>
                  <a:srgbClr val="4E519E"/>
                </a:solidFill>
              </a:rPr>
              <a:t>Casey’s earns a lower profit at </a:t>
            </a:r>
            <a:r>
              <a:rPr lang="en-US" sz="2900" b="1" i="1" dirty="0">
                <a:solidFill>
                  <a:srgbClr val="4E519E"/>
                </a:solidFill>
              </a:rPr>
              <a:t>Q</a:t>
            </a:r>
            <a:r>
              <a:rPr lang="en-US" sz="2900" dirty="0">
                <a:solidFill>
                  <a:srgbClr val="4E519E"/>
                </a:solidFill>
              </a:rPr>
              <a:t> = 3,800 than at </a:t>
            </a:r>
            <a:r>
              <a:rPr lang="en-US" sz="2900" b="1" i="1" dirty="0">
                <a:solidFill>
                  <a:srgbClr val="4E519E"/>
                </a:solidFill>
              </a:rPr>
              <a:t>Q</a:t>
            </a:r>
            <a:r>
              <a:rPr lang="en-US" sz="2900" dirty="0">
                <a:solidFill>
                  <a:srgbClr val="4E519E"/>
                </a:solidFill>
              </a:rPr>
              <a:t> = 3,000</a:t>
            </a:r>
          </a:p>
          <a:p>
            <a:pPr marL="514350" indent="-514350">
              <a:buClr>
                <a:srgbClr val="AE1221"/>
              </a:buClr>
              <a:buFont typeface="+mj-lt"/>
              <a:buAutoNum type="alphaUcPeriod" startAt="2"/>
            </a:pPr>
            <a:r>
              <a:rPr lang="en-US" sz="2900" dirty="0">
                <a:solidFill>
                  <a:srgbClr val="4E519E"/>
                </a:solidFill>
              </a:rPr>
              <a:t>The same is true for 7-eleven.</a:t>
            </a:r>
          </a:p>
        </p:txBody>
      </p:sp>
      <p:graphicFrame>
        <p:nvGraphicFramePr>
          <p:cNvPr id="6" name="Table 5"/>
          <p:cNvGraphicFramePr>
            <a:graphicFrameLocks noGrp="1"/>
          </p:cNvGraphicFramePr>
          <p:nvPr>
            <p:extLst>
              <p:ext uri="{D42A27DB-BD31-4B8C-83A1-F6EECF244321}">
                <p14:modId xmlns:p14="http://schemas.microsoft.com/office/powerpoint/2010/main" val="1269103586"/>
              </p:ext>
            </p:extLst>
          </p:nvPr>
        </p:nvGraphicFramePr>
        <p:xfrm>
          <a:off x="228599" y="914401"/>
          <a:ext cx="2042130" cy="5486404"/>
        </p:xfrm>
        <a:graphic>
          <a:graphicData uri="http://schemas.openxmlformats.org/drawingml/2006/table">
            <a:tbl>
              <a:tblPr>
                <a:tableStyleId>{5C22544A-7EE6-4342-B048-85BDC9FD1C3A}</a:tableStyleId>
              </a:tblPr>
              <a:tblGrid>
                <a:gridCol w="85150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tblGrid>
              <a:tr h="498764">
                <a:tc>
                  <a:txBody>
                    <a:bodyPr/>
                    <a:lstStyle/>
                    <a:p>
                      <a:pPr algn="ctr" fontAlgn="b"/>
                      <a:r>
                        <a:rPr lang="en-US" sz="2600" b="1" u="none" strike="noStrike" dirty="0">
                          <a:effectLst/>
                        </a:rPr>
                        <a:t>P</a:t>
                      </a:r>
                      <a:endParaRPr lang="en-US" sz="26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b="1" u="none" strike="noStrike" dirty="0">
                          <a:effectLst/>
                        </a:rPr>
                        <a:t>Q</a:t>
                      </a:r>
                      <a:endParaRPr lang="en-US" sz="2600" b="1"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498764">
                <a:tc>
                  <a:txBody>
                    <a:bodyPr/>
                    <a:lstStyle/>
                    <a:p>
                      <a:pPr algn="ctr" fontAlgn="b"/>
                      <a:r>
                        <a:rPr lang="en-US" sz="2600" u="none" strike="noStrike" dirty="0">
                          <a:effectLst/>
                        </a:rPr>
                        <a:t>$0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10,000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98764">
                <a:tc>
                  <a:txBody>
                    <a:bodyPr/>
                    <a:lstStyle/>
                    <a:p>
                      <a:pPr algn="ctr" fontAlgn="b"/>
                      <a:r>
                        <a:rPr lang="en-US" sz="2600" u="none" strike="noStrike" dirty="0">
                          <a:effectLst/>
                        </a:rPr>
                        <a:t>1</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9,200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498764">
                <a:tc>
                  <a:txBody>
                    <a:bodyPr/>
                    <a:lstStyle/>
                    <a:p>
                      <a:pPr algn="ctr" fontAlgn="b"/>
                      <a:r>
                        <a:rPr lang="en-US" sz="2600" u="none" strike="noStrike">
                          <a:effectLst/>
                        </a:rPr>
                        <a:t>2</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dirty="0">
                          <a:effectLst/>
                        </a:rPr>
                        <a:t>8,400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98764">
                <a:tc>
                  <a:txBody>
                    <a:bodyPr/>
                    <a:lstStyle/>
                    <a:p>
                      <a:pPr algn="ctr" fontAlgn="b"/>
                      <a:r>
                        <a:rPr lang="en-US" sz="2600" u="none" strike="noStrike" dirty="0">
                          <a:effectLst/>
                        </a:rPr>
                        <a:t>3</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7,600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498764">
                <a:tc>
                  <a:txBody>
                    <a:bodyPr/>
                    <a:lstStyle/>
                    <a:p>
                      <a:pPr algn="ctr" fontAlgn="b"/>
                      <a:r>
                        <a:rPr lang="en-US" sz="2600" u="none" strike="noStrike">
                          <a:effectLst/>
                        </a:rPr>
                        <a:t>4</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dirty="0">
                          <a:effectLst/>
                        </a:rPr>
                        <a:t>6,800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98764">
                <a:tc>
                  <a:txBody>
                    <a:bodyPr/>
                    <a:lstStyle/>
                    <a:p>
                      <a:pPr algn="ctr" fontAlgn="b"/>
                      <a:r>
                        <a:rPr lang="en-US" sz="2600" u="none" strike="noStrike" dirty="0">
                          <a:effectLst/>
                        </a:rPr>
                        <a:t>5</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6,000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498764">
                <a:tc>
                  <a:txBody>
                    <a:bodyPr/>
                    <a:lstStyle/>
                    <a:p>
                      <a:pPr algn="ctr" fontAlgn="b"/>
                      <a:r>
                        <a:rPr lang="en-US" sz="2600" u="none" strike="noStrike">
                          <a:effectLst/>
                        </a:rPr>
                        <a:t>6</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5,200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98764">
                <a:tc>
                  <a:txBody>
                    <a:bodyPr/>
                    <a:lstStyle/>
                    <a:p>
                      <a:pPr algn="ctr" fontAlgn="b"/>
                      <a:r>
                        <a:rPr lang="en-US" sz="2600" u="none" strike="noStrike" dirty="0">
                          <a:effectLst/>
                        </a:rPr>
                        <a:t>7</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4,400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498764">
                <a:tc>
                  <a:txBody>
                    <a:bodyPr/>
                    <a:lstStyle/>
                    <a:p>
                      <a:pPr algn="ctr" fontAlgn="b"/>
                      <a:r>
                        <a:rPr lang="en-US" sz="2600" u="none" strike="noStrike">
                          <a:effectLst/>
                        </a:rPr>
                        <a:t>8</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u="none" strike="noStrike">
                          <a:effectLst/>
                        </a:rPr>
                        <a:t>3,600</a:t>
                      </a:r>
                      <a:endParaRPr lang="en-US" sz="2600" b="0" i="0" u="none" strike="noStrike">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98764">
                <a:tc>
                  <a:txBody>
                    <a:bodyPr/>
                    <a:lstStyle/>
                    <a:p>
                      <a:pPr algn="ctr" fontAlgn="b"/>
                      <a:r>
                        <a:rPr lang="en-US" sz="2600" u="none" strike="noStrike" dirty="0">
                          <a:effectLst/>
                        </a:rPr>
                        <a:t>9</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600" u="none" strike="noStrike" dirty="0">
                          <a:effectLst/>
                        </a:rPr>
                        <a:t>2,800</a:t>
                      </a:r>
                      <a:endParaRPr lang="en-US" sz="26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bl>
          </a:graphicData>
        </a:graphic>
      </p:graphicFrame>
      <p:sp>
        <p:nvSpPr>
          <p:cNvPr id="5" name="Footer Placeholder 4">
            <a:extLst>
              <a:ext uri="{FF2B5EF4-FFF2-40B4-BE49-F238E27FC236}">
                <a16:creationId xmlns:a16="http://schemas.microsoft.com/office/drawing/2014/main" id="{0D6AE8B0-4A91-4F00-5781-E4FA985C052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2894790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ipe(left)">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wipe(left)">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wipe(left)">
                                      <p:cBhvr>
                                        <p:cTn id="3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wrap="square" anchor="ctr"/>
          <a:lstStyle/>
          <a:p>
            <a:r>
              <a:rPr lang="en-US" altLang="en-US" dirty="0"/>
              <a:t>The Equilibrium for an Oligopoly </a:t>
            </a:r>
          </a:p>
        </p:txBody>
      </p:sp>
      <p:sp>
        <p:nvSpPr>
          <p:cNvPr id="17411" name="Content Placeholder 2"/>
          <p:cNvSpPr>
            <a:spLocks noGrp="1"/>
          </p:cNvSpPr>
          <p:nvPr>
            <p:ph idx="1"/>
          </p:nvPr>
        </p:nvSpPr>
        <p:spPr>
          <a:xfrm>
            <a:off x="277813" y="990600"/>
            <a:ext cx="8713787" cy="5457825"/>
          </a:xfrm>
          <a:prstGeom prst="rect">
            <a:avLst/>
          </a:prstGeom>
        </p:spPr>
        <p:txBody>
          <a:bodyPr/>
          <a:lstStyle/>
          <a:p>
            <a:r>
              <a:rPr lang="en-US" altLang="en-US" sz="3200" dirty="0"/>
              <a:t>Nash equilibrium</a:t>
            </a:r>
          </a:p>
          <a:p>
            <a:pPr lvl="1"/>
            <a:r>
              <a:rPr lang="en-US" altLang="en-US" sz="2800" dirty="0"/>
              <a:t>Economic actors interacting with one another, each choose their best strategy</a:t>
            </a:r>
          </a:p>
          <a:p>
            <a:pPr lvl="1"/>
            <a:r>
              <a:rPr lang="en-US" altLang="en-US" sz="2800" dirty="0"/>
              <a:t>Given the strategies that all the other actors have chosen</a:t>
            </a:r>
          </a:p>
          <a:p>
            <a:r>
              <a:rPr lang="en-US" altLang="en-US" sz="3200" dirty="0"/>
              <a:t>When firms in an oligopoly individually choose production to maximize profit</a:t>
            </a:r>
          </a:p>
          <a:p>
            <a:pPr lvl="1"/>
            <a:r>
              <a:rPr lang="en-US" altLang="en-US" sz="2800" dirty="0"/>
              <a:t>Produce </a:t>
            </a:r>
            <a:r>
              <a:rPr lang="en-US" altLang="en-US" sz="2800" b="1" i="1" dirty="0"/>
              <a:t>Q</a:t>
            </a:r>
            <a:r>
              <a:rPr lang="en-US" altLang="en-US" sz="2800" dirty="0"/>
              <a:t>: greater than monopoly </a:t>
            </a:r>
            <a:r>
              <a:rPr lang="en-US" altLang="en-US" sz="2800" b="1" i="1" dirty="0"/>
              <a:t>Q</a:t>
            </a:r>
            <a:r>
              <a:rPr lang="en-US" altLang="en-US" sz="2800" dirty="0"/>
              <a:t>, less than competitive </a:t>
            </a:r>
            <a:r>
              <a:rPr lang="en-US" altLang="en-US" sz="2800" b="1" i="1" dirty="0"/>
              <a:t>Q</a:t>
            </a:r>
          </a:p>
          <a:p>
            <a:pPr lvl="1"/>
            <a:r>
              <a:rPr lang="en-US" altLang="en-US" sz="2800" dirty="0"/>
              <a:t>The price: is less than the monopoly P, greater than the competitive </a:t>
            </a:r>
            <a:r>
              <a:rPr lang="en-US" altLang="en-US" sz="2800" b="1" i="1" dirty="0"/>
              <a:t>P</a:t>
            </a:r>
            <a:r>
              <a:rPr lang="en-US" altLang="en-US" sz="2800" dirty="0"/>
              <a:t> = </a:t>
            </a:r>
            <a:r>
              <a:rPr lang="en-US" altLang="en-US" sz="2800" b="1" i="1" dirty="0"/>
              <a:t>MC</a:t>
            </a:r>
          </a:p>
          <a:p>
            <a:pPr lvl="1"/>
            <a:endParaRPr lang="en-US" altLang="en-US" sz="2800" dirty="0"/>
          </a:p>
        </p:txBody>
      </p:sp>
      <p:sp>
        <p:nvSpPr>
          <p:cNvPr id="1741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6CAB80CF-3EB2-4094-BF62-5C9682C5BCC5}" type="slidenum">
              <a:rPr lang="en-US" altLang="en-US" sz="1200" smtClean="0">
                <a:solidFill>
                  <a:srgbClr val="002060"/>
                </a:solidFill>
              </a:rPr>
              <a:pPr eaLnBrk="1" hangingPunct="1"/>
              <a:t>15</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B2ED15EC-0628-0365-96D2-C843BC3434BF}"/>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55250174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Output &amp; Price Effects</a:t>
            </a:r>
          </a:p>
        </p:txBody>
      </p:sp>
      <p:sp>
        <p:nvSpPr>
          <p:cNvPr id="3" name="Content Placeholder 2"/>
          <p:cNvSpPr>
            <a:spLocks noGrp="1"/>
          </p:cNvSpPr>
          <p:nvPr>
            <p:ph idx="1"/>
          </p:nvPr>
        </p:nvSpPr>
        <p:spPr>
          <a:prstGeom prst="rect">
            <a:avLst/>
          </a:prstGeom>
        </p:spPr>
        <p:txBody>
          <a:bodyPr/>
          <a:lstStyle/>
          <a:p>
            <a:r>
              <a:rPr lang="en-US" dirty="0"/>
              <a:t>Increasing output has two effects on a firm’s profits: </a:t>
            </a:r>
          </a:p>
          <a:p>
            <a:pPr lvl="1"/>
            <a:r>
              <a:rPr lang="en-US" dirty="0"/>
              <a:t>Output effect: because </a:t>
            </a:r>
            <a:r>
              <a:rPr lang="en-US" b="1" i="1" dirty="0"/>
              <a:t>P</a:t>
            </a:r>
            <a:r>
              <a:rPr lang="en-US" dirty="0"/>
              <a:t> &gt; </a:t>
            </a:r>
            <a:r>
              <a:rPr lang="en-US" b="1" i="1" dirty="0"/>
              <a:t>MC</a:t>
            </a:r>
            <a:r>
              <a:rPr lang="en-US" dirty="0"/>
              <a:t>, increasing output raises profits</a:t>
            </a:r>
          </a:p>
          <a:p>
            <a:pPr lvl="1"/>
            <a:r>
              <a:rPr lang="en-US" dirty="0"/>
              <a:t>Price effect: raising production increases total quantity sold, which reduces price and reduces profit on all units sold</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16</a:t>
            </a:fld>
            <a:endParaRPr lang="en-US"/>
          </a:p>
        </p:txBody>
      </p:sp>
      <p:sp>
        <p:nvSpPr>
          <p:cNvPr id="5" name="Footer Placeholder 4">
            <a:extLst>
              <a:ext uri="{FF2B5EF4-FFF2-40B4-BE49-F238E27FC236}">
                <a16:creationId xmlns:a16="http://schemas.microsoft.com/office/drawing/2014/main" id="{5A3E1F91-F714-E6AA-FC8B-9EDCF82C16FA}"/>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65420946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Size of an Oligopoly</a:t>
            </a:r>
          </a:p>
        </p:txBody>
      </p:sp>
      <p:sp>
        <p:nvSpPr>
          <p:cNvPr id="3" name="Content Placeholder 2"/>
          <p:cNvSpPr>
            <a:spLocks noGrp="1"/>
          </p:cNvSpPr>
          <p:nvPr>
            <p:ph idx="1"/>
          </p:nvPr>
        </p:nvSpPr>
        <p:spPr>
          <a:prstGeom prst="rect">
            <a:avLst/>
          </a:prstGeom>
        </p:spPr>
        <p:txBody>
          <a:bodyPr/>
          <a:lstStyle/>
          <a:p>
            <a:r>
              <a:rPr lang="en-US" dirty="0"/>
              <a:t>As the number of sellers in an oligopoly increases:</a:t>
            </a:r>
          </a:p>
          <a:p>
            <a:pPr lvl="1"/>
            <a:r>
              <a:rPr lang="en-US" dirty="0"/>
              <a:t>The price effect becomes smaller</a:t>
            </a:r>
          </a:p>
          <a:p>
            <a:pPr lvl="1"/>
            <a:r>
              <a:rPr lang="en-US" dirty="0"/>
              <a:t>The oligopoly looks more and more like a competitive market</a:t>
            </a:r>
          </a:p>
          <a:p>
            <a:pPr lvl="1"/>
            <a:r>
              <a:rPr lang="en-US" dirty="0"/>
              <a:t>The price approaches marginal cost</a:t>
            </a:r>
          </a:p>
          <a:p>
            <a:pPr lvl="1"/>
            <a:r>
              <a:rPr lang="en-US" dirty="0"/>
              <a:t>The market quantity approaches the socially efficient quantity</a:t>
            </a:r>
          </a:p>
          <a:p>
            <a:r>
              <a:rPr lang="en-US" dirty="0"/>
              <a:t>Another benefit of international trade</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17</a:t>
            </a:fld>
            <a:endParaRPr lang="en-US"/>
          </a:p>
        </p:txBody>
      </p:sp>
      <p:sp>
        <p:nvSpPr>
          <p:cNvPr id="5" name="Footer Placeholder 4">
            <a:extLst>
              <a:ext uri="{FF2B5EF4-FFF2-40B4-BE49-F238E27FC236}">
                <a16:creationId xmlns:a16="http://schemas.microsoft.com/office/drawing/2014/main" id="{B1AE5F2B-1F04-76A1-8B75-18C5CC892157}"/>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9330995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917654-0B85-8F3D-8B60-18301900C083}"/>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18</a:t>
            </a:fld>
            <a:endParaRPr lang="en-US" dirty="0"/>
          </a:p>
        </p:txBody>
      </p:sp>
      <p:sp>
        <p:nvSpPr>
          <p:cNvPr id="3" name="Text Placeholder 2">
            <a:extLst>
              <a:ext uri="{FF2B5EF4-FFF2-40B4-BE49-F238E27FC236}">
                <a16:creationId xmlns:a16="http://schemas.microsoft.com/office/drawing/2014/main" id="{8DA9081D-544C-EFB7-E5F1-B9C4178DD233}"/>
              </a:ext>
            </a:extLst>
          </p:cNvPr>
          <p:cNvSpPr>
            <a:spLocks noGrp="1"/>
          </p:cNvSpPr>
          <p:nvPr>
            <p:ph type="body" sz="quarter" idx="12"/>
          </p:nvPr>
        </p:nvSpPr>
        <p:spPr/>
        <p:txBody>
          <a:bodyPr/>
          <a:lstStyle/>
          <a:p>
            <a:r>
              <a:rPr lang="en-US" dirty="0"/>
              <a:t>Market Share and Market Power</a:t>
            </a:r>
          </a:p>
        </p:txBody>
      </p:sp>
      <p:sp>
        <p:nvSpPr>
          <p:cNvPr id="4" name="Text Placeholder 3">
            <a:extLst>
              <a:ext uri="{FF2B5EF4-FFF2-40B4-BE49-F238E27FC236}">
                <a16:creationId xmlns:a16="http://schemas.microsoft.com/office/drawing/2014/main" id="{ED5D5BE1-386F-4CB3-60A6-DC107A6332CD}"/>
              </a:ext>
            </a:extLst>
          </p:cNvPr>
          <p:cNvSpPr>
            <a:spLocks noGrp="1"/>
          </p:cNvSpPr>
          <p:nvPr>
            <p:ph type="body" sz="quarter" idx="14"/>
          </p:nvPr>
        </p:nvSpPr>
        <p:spPr>
          <a:xfrm>
            <a:off x="228600" y="1600200"/>
            <a:ext cx="8686800" cy="4724400"/>
          </a:xfrm>
        </p:spPr>
        <p:txBody>
          <a:bodyPr/>
          <a:lstStyle/>
          <a:p>
            <a:r>
              <a:rPr lang="en-US" sz="2800" dirty="0"/>
              <a:t>“If a small number of firms have a large combined market share in a properly defined market, it is strong evidence that those firms have substantial market power.”</a:t>
            </a:r>
          </a:p>
        </p:txBody>
      </p:sp>
      <p:pic>
        <p:nvPicPr>
          <p:cNvPr id="6" name="Picture 5" descr="The data from the chart in percent are as follows. Agree: 54 percent. Disagree: 25 percent. Uncertain: 21 percent.&#10;">
            <a:extLst>
              <a:ext uri="{FF2B5EF4-FFF2-40B4-BE49-F238E27FC236}">
                <a16:creationId xmlns:a16="http://schemas.microsoft.com/office/drawing/2014/main" id="{A632150A-1A30-9F68-1239-DE241CEA5225}"/>
              </a:ext>
            </a:extLst>
          </p:cNvPr>
          <p:cNvPicPr>
            <a:picLocks noChangeAspect="1"/>
          </p:cNvPicPr>
          <p:nvPr/>
        </p:nvPicPr>
        <p:blipFill>
          <a:blip r:embed="rId3"/>
          <a:stretch>
            <a:fillRect/>
          </a:stretch>
        </p:blipFill>
        <p:spPr>
          <a:xfrm>
            <a:off x="1600200" y="2895600"/>
            <a:ext cx="5635436" cy="3429000"/>
          </a:xfrm>
          <a:prstGeom prst="rect">
            <a:avLst/>
          </a:prstGeom>
        </p:spPr>
      </p:pic>
    </p:spTree>
    <p:extLst>
      <p:ext uri="{BB962C8B-B14F-4D97-AF65-F5344CB8AC3E}">
        <p14:creationId xmlns:p14="http://schemas.microsoft.com/office/powerpoint/2010/main" val="416652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wrap="square" anchor="ctr"/>
          <a:lstStyle/>
          <a:p>
            <a:r>
              <a:rPr lang="en-US" altLang="en-US" dirty="0"/>
              <a:t>The Economics of Cooperation</a:t>
            </a:r>
          </a:p>
        </p:txBody>
      </p:sp>
      <p:sp>
        <p:nvSpPr>
          <p:cNvPr id="23555" name="Content Placeholder 2"/>
          <p:cNvSpPr>
            <a:spLocks noGrp="1"/>
          </p:cNvSpPr>
          <p:nvPr>
            <p:ph idx="1"/>
          </p:nvPr>
        </p:nvSpPr>
        <p:spPr>
          <a:prstGeom prst="rect">
            <a:avLst/>
          </a:prstGeom>
        </p:spPr>
        <p:txBody>
          <a:bodyPr/>
          <a:lstStyle/>
          <a:p>
            <a:r>
              <a:rPr lang="en-US" altLang="en-US" dirty="0"/>
              <a:t>The Prisoners’ Dilemma</a:t>
            </a:r>
          </a:p>
          <a:p>
            <a:pPr lvl="1"/>
            <a:r>
              <a:rPr lang="en-US" altLang="en-US" sz="3000" dirty="0"/>
              <a:t>Particular “game” between two captured prisoners</a:t>
            </a:r>
          </a:p>
          <a:p>
            <a:pPr lvl="1"/>
            <a:r>
              <a:rPr lang="en-US" altLang="en-US" sz="3000" dirty="0"/>
              <a:t>Illustrates why cooperation is difficult to maintain even when it is mutually beneficial</a:t>
            </a:r>
          </a:p>
          <a:p>
            <a:r>
              <a:rPr lang="en-US" altLang="en-US" dirty="0"/>
              <a:t>Dominant strategy</a:t>
            </a:r>
          </a:p>
          <a:p>
            <a:pPr lvl="1"/>
            <a:r>
              <a:rPr lang="en-US" altLang="en-US" dirty="0"/>
              <a:t>Strategy that is best for a player in a game</a:t>
            </a:r>
          </a:p>
          <a:p>
            <a:pPr lvl="1"/>
            <a:r>
              <a:rPr lang="en-US" altLang="en-US" dirty="0"/>
              <a:t>Regardless of the strategies chosen by the other players</a:t>
            </a:r>
          </a:p>
        </p:txBody>
      </p:sp>
      <p:sp>
        <p:nvSpPr>
          <p:cNvPr id="23557"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A1CB4CC0-0A66-444C-A6E3-4ED7B936D05F}" type="slidenum">
              <a:rPr lang="en-US" altLang="en-US" sz="1200" smtClean="0">
                <a:solidFill>
                  <a:srgbClr val="002060"/>
                </a:solidFill>
              </a:rPr>
              <a:pPr eaLnBrk="1" hangingPunct="1"/>
              <a:t>19</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DDF5FA2C-98E4-1CEF-AE04-53098133536E}"/>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45237266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a:t>
            </a:r>
            <a:r>
              <a:rPr lang="en-US" dirty="0">
                <a:solidFill>
                  <a:schemeClr val="tx1"/>
                </a:solidFill>
              </a:rPr>
              <a:t>The Prisoners’ Dilemma – 1 </a:t>
            </a:r>
          </a:p>
        </p:txBody>
      </p:sp>
      <p:sp>
        <p:nvSpPr>
          <p:cNvPr id="3" name="Content Placeholder 2"/>
          <p:cNvSpPr>
            <a:spLocks noGrp="1"/>
          </p:cNvSpPr>
          <p:nvPr>
            <p:ph idx="1"/>
          </p:nvPr>
        </p:nvSpPr>
        <p:spPr>
          <a:prstGeom prst="rect">
            <a:avLst/>
          </a:prstGeom>
        </p:spPr>
        <p:txBody>
          <a:bodyPr>
            <a:normAutofit/>
          </a:bodyPr>
          <a:lstStyle/>
          <a:p>
            <a:pPr marL="57150" indent="0">
              <a:buNone/>
            </a:pPr>
            <a:r>
              <a:rPr lang="en-US" sz="3000" dirty="0">
                <a:solidFill>
                  <a:schemeClr val="tx1"/>
                </a:solidFill>
              </a:rPr>
              <a:t>The police have caught Bonnie and Clyde, two suspected bank robbers, but only have enough evidence to imprison </a:t>
            </a:r>
            <a:r>
              <a:rPr lang="en-US" sz="3000" u="sng" dirty="0">
                <a:solidFill>
                  <a:schemeClr val="tx1"/>
                </a:solidFill>
              </a:rPr>
              <a:t>each for 1 year</a:t>
            </a:r>
            <a:r>
              <a:rPr lang="en-US" sz="3000" dirty="0">
                <a:solidFill>
                  <a:schemeClr val="tx1"/>
                </a:solidFill>
              </a:rPr>
              <a:t>.</a:t>
            </a:r>
          </a:p>
          <a:p>
            <a:r>
              <a:rPr lang="en-US" sz="3000" dirty="0">
                <a:solidFill>
                  <a:srgbClr val="4E519E"/>
                </a:solidFill>
              </a:rPr>
              <a:t>The police question each in separate rooms, offer each the following deal:</a:t>
            </a:r>
          </a:p>
          <a:p>
            <a:pPr lvl="1"/>
            <a:r>
              <a:rPr lang="en-US" sz="3000" dirty="0">
                <a:solidFill>
                  <a:srgbClr val="4E519E"/>
                </a:solidFill>
              </a:rPr>
              <a:t>If you confess and implicate your partner, </a:t>
            </a:r>
            <a:br>
              <a:rPr lang="en-US" sz="3000" dirty="0">
                <a:solidFill>
                  <a:srgbClr val="4E519E"/>
                </a:solidFill>
              </a:rPr>
            </a:br>
            <a:r>
              <a:rPr lang="en-US" sz="3000" dirty="0">
                <a:solidFill>
                  <a:srgbClr val="4E519E"/>
                </a:solidFill>
              </a:rPr>
              <a:t>you go free.</a:t>
            </a:r>
          </a:p>
          <a:p>
            <a:pPr lvl="1"/>
            <a:r>
              <a:rPr lang="en-US" sz="3000" dirty="0">
                <a:solidFill>
                  <a:srgbClr val="4E519E"/>
                </a:solidFill>
              </a:rPr>
              <a:t>If you do not confess but your partner implicates you, you get 20 years in prison.</a:t>
            </a:r>
          </a:p>
          <a:p>
            <a:pPr lvl="1"/>
            <a:r>
              <a:rPr lang="en-US" sz="3000" dirty="0">
                <a:solidFill>
                  <a:srgbClr val="4E519E"/>
                </a:solidFill>
              </a:rPr>
              <a:t>If you both confess, each gets 8 years in prison.</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20</a:t>
            </a:fld>
            <a:endParaRPr lang="en-US"/>
          </a:p>
        </p:txBody>
      </p:sp>
      <p:sp>
        <p:nvSpPr>
          <p:cNvPr id="5" name="Footer Placeholder 4">
            <a:extLst>
              <a:ext uri="{FF2B5EF4-FFF2-40B4-BE49-F238E27FC236}">
                <a16:creationId xmlns:a16="http://schemas.microsoft.com/office/drawing/2014/main" id="{50CB8468-F638-1DCF-1204-C0244A74A8E4}"/>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7182745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4"/>
          <p:cNvSpPr>
            <a:spLocks noGrp="1" noChangeArrowheads="1"/>
          </p:cNvSpPr>
          <p:nvPr>
            <p:ph type="title"/>
          </p:nvPr>
        </p:nvSpPr>
        <p:spPr/>
        <p:txBody>
          <a:bodyPr/>
          <a:lstStyle/>
          <a:p>
            <a:pPr eaLnBrk="1" hangingPunct="1"/>
            <a:r>
              <a:rPr lang="en-US" sz="3200" dirty="0">
                <a:solidFill>
                  <a:srgbClr val="AE1221"/>
                </a:solidFill>
              </a:rPr>
              <a:t>EXAMPLE 2: </a:t>
            </a:r>
            <a:r>
              <a:rPr lang="en-US" sz="3200" dirty="0">
                <a:solidFill>
                  <a:schemeClr val="tx1"/>
                </a:solidFill>
              </a:rPr>
              <a:t>The Prisoners’ Dilemma – 2 </a:t>
            </a:r>
          </a:p>
        </p:txBody>
      </p:sp>
      <p:sp>
        <p:nvSpPr>
          <p:cNvPr id="6" name="Slide Number Placeholder 5"/>
          <p:cNvSpPr>
            <a:spLocks noGrp="1"/>
          </p:cNvSpPr>
          <p:nvPr>
            <p:ph type="sldNum" sz="quarter" idx="10"/>
          </p:nvPr>
        </p:nvSpPr>
        <p:spPr/>
        <p:txBody>
          <a:bodyPr/>
          <a:lstStyle/>
          <a:p>
            <a:pPr>
              <a:defRPr/>
            </a:pPr>
            <a:fld id="{2F37425F-5E17-4209-B948-B5CE2119E408}" type="slidenum">
              <a:rPr lang="en-US" smtClean="0"/>
              <a:pPr>
                <a:defRPr/>
              </a:pPr>
              <a:t>21</a:t>
            </a:fld>
            <a:endParaRPr lang="en-US" dirty="0"/>
          </a:p>
        </p:txBody>
      </p:sp>
      <p:grpSp>
        <p:nvGrpSpPr>
          <p:cNvPr id="2" name="Group 43"/>
          <p:cNvGrpSpPr>
            <a:grpSpLocks/>
          </p:cNvGrpSpPr>
          <p:nvPr/>
        </p:nvGrpSpPr>
        <p:grpSpPr bwMode="auto">
          <a:xfrm>
            <a:off x="2851148" y="2660650"/>
            <a:ext cx="5983287" cy="3536950"/>
            <a:chOff x="1522" y="1296"/>
            <a:chExt cx="2421" cy="1658"/>
          </a:xfrm>
        </p:grpSpPr>
        <p:sp>
          <p:nvSpPr>
            <p:cNvPr id="23579" name="AutoShape 33"/>
            <p:cNvSpPr>
              <a:spLocks noChangeArrowheads="1"/>
            </p:cNvSpPr>
            <p:nvPr/>
          </p:nvSpPr>
          <p:spPr bwMode="auto">
            <a:xfrm>
              <a:off x="1527" y="1298"/>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sp>
          <p:nvSpPr>
            <p:cNvPr id="23580" name="AutoShape 36"/>
            <p:cNvSpPr>
              <a:spLocks noChangeArrowheads="1"/>
            </p:cNvSpPr>
            <p:nvPr/>
          </p:nvSpPr>
          <p:spPr bwMode="auto">
            <a:xfrm>
              <a:off x="2737" y="1298"/>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sp>
          <p:nvSpPr>
            <p:cNvPr id="23581" name="AutoShape 37"/>
            <p:cNvSpPr>
              <a:spLocks noChangeArrowheads="1"/>
            </p:cNvSpPr>
            <p:nvPr/>
          </p:nvSpPr>
          <p:spPr bwMode="auto">
            <a:xfrm>
              <a:off x="2735" y="2125"/>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sp>
          <p:nvSpPr>
            <p:cNvPr id="23582" name="AutoShape 38"/>
            <p:cNvSpPr>
              <a:spLocks noChangeArrowheads="1"/>
            </p:cNvSpPr>
            <p:nvPr/>
          </p:nvSpPr>
          <p:spPr bwMode="auto">
            <a:xfrm>
              <a:off x="1527" y="2126"/>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sp>
          <p:nvSpPr>
            <p:cNvPr id="23583" name="AutoShape 39"/>
            <p:cNvSpPr>
              <a:spLocks noChangeArrowheads="1"/>
            </p:cNvSpPr>
            <p:nvPr/>
          </p:nvSpPr>
          <p:spPr bwMode="auto">
            <a:xfrm rot="10800000">
              <a:off x="1536" y="1298"/>
              <a:ext cx="1206" cy="826"/>
            </a:xfrm>
            <a:prstGeom prst="rtTriangle">
              <a:avLst/>
            </a:prstGeom>
            <a:solidFill>
              <a:srgbClr val="D8EEC0"/>
            </a:solidFill>
            <a:ln w="9525">
              <a:noFill/>
              <a:miter lim="800000"/>
              <a:headEnd/>
              <a:tailEnd/>
            </a:ln>
          </p:spPr>
          <p:txBody>
            <a:bodyPr wrap="none" anchor="ctr"/>
            <a:lstStyle/>
            <a:p>
              <a:endParaRPr lang="en-US">
                <a:latin typeface="Arial"/>
                <a:cs typeface="Arial"/>
              </a:endParaRPr>
            </a:p>
          </p:txBody>
        </p:sp>
        <p:sp>
          <p:nvSpPr>
            <p:cNvPr id="23584" name="AutoShape 40"/>
            <p:cNvSpPr>
              <a:spLocks noChangeArrowheads="1"/>
            </p:cNvSpPr>
            <p:nvPr/>
          </p:nvSpPr>
          <p:spPr bwMode="auto">
            <a:xfrm rot="10800000">
              <a:off x="2732" y="1298"/>
              <a:ext cx="1206" cy="826"/>
            </a:xfrm>
            <a:prstGeom prst="rtTriangle">
              <a:avLst/>
            </a:prstGeom>
            <a:solidFill>
              <a:srgbClr val="D8EEC0"/>
            </a:solidFill>
            <a:ln w="9525">
              <a:noFill/>
              <a:miter lim="800000"/>
              <a:headEnd/>
              <a:tailEnd/>
            </a:ln>
          </p:spPr>
          <p:txBody>
            <a:bodyPr wrap="none" anchor="ctr"/>
            <a:lstStyle/>
            <a:p>
              <a:endParaRPr lang="en-US">
                <a:latin typeface="Arial"/>
                <a:cs typeface="Arial"/>
              </a:endParaRPr>
            </a:p>
          </p:txBody>
        </p:sp>
        <p:sp>
          <p:nvSpPr>
            <p:cNvPr id="23585" name="AutoShape 41"/>
            <p:cNvSpPr>
              <a:spLocks noChangeArrowheads="1"/>
            </p:cNvSpPr>
            <p:nvPr/>
          </p:nvSpPr>
          <p:spPr bwMode="auto">
            <a:xfrm rot="10800000">
              <a:off x="2730" y="2125"/>
              <a:ext cx="1206" cy="826"/>
            </a:xfrm>
            <a:prstGeom prst="rtTriangle">
              <a:avLst/>
            </a:prstGeom>
            <a:solidFill>
              <a:srgbClr val="D8EEC0"/>
            </a:solidFill>
            <a:ln w="9525">
              <a:noFill/>
              <a:miter lim="800000"/>
              <a:headEnd/>
              <a:tailEnd/>
            </a:ln>
          </p:spPr>
          <p:txBody>
            <a:bodyPr wrap="none" anchor="ctr"/>
            <a:lstStyle/>
            <a:p>
              <a:endParaRPr lang="en-US">
                <a:latin typeface="Arial"/>
                <a:cs typeface="Arial"/>
              </a:endParaRPr>
            </a:p>
          </p:txBody>
        </p:sp>
        <p:sp>
          <p:nvSpPr>
            <p:cNvPr id="23586" name="AutoShape 42"/>
            <p:cNvSpPr>
              <a:spLocks noChangeArrowheads="1"/>
            </p:cNvSpPr>
            <p:nvPr/>
          </p:nvSpPr>
          <p:spPr bwMode="auto">
            <a:xfrm rot="10800000">
              <a:off x="1522" y="2126"/>
              <a:ext cx="1206" cy="826"/>
            </a:xfrm>
            <a:prstGeom prst="rtTriangle">
              <a:avLst/>
            </a:prstGeom>
            <a:solidFill>
              <a:srgbClr val="D8EEC0"/>
            </a:solidFill>
            <a:ln w="9525">
              <a:noFill/>
              <a:miter lim="800000"/>
              <a:headEnd/>
              <a:tailEnd/>
            </a:ln>
          </p:spPr>
          <p:txBody>
            <a:bodyPr wrap="none" anchor="ctr"/>
            <a:lstStyle/>
            <a:p>
              <a:endParaRPr lang="en-US">
                <a:latin typeface="Arial"/>
                <a:cs typeface="Arial"/>
              </a:endParaRPr>
            </a:p>
          </p:txBody>
        </p:sp>
        <p:grpSp>
          <p:nvGrpSpPr>
            <p:cNvPr id="3" name="Group 32"/>
            <p:cNvGrpSpPr>
              <a:grpSpLocks/>
            </p:cNvGrpSpPr>
            <p:nvPr/>
          </p:nvGrpSpPr>
          <p:grpSpPr bwMode="auto">
            <a:xfrm>
              <a:off x="1524" y="1296"/>
              <a:ext cx="2417" cy="1658"/>
              <a:chOff x="1335" y="1089"/>
              <a:chExt cx="2290" cy="1791"/>
            </a:xfrm>
          </p:grpSpPr>
          <p:sp>
            <p:nvSpPr>
              <p:cNvPr id="23588" name="Rectangle 27"/>
              <p:cNvSpPr>
                <a:spLocks noChangeArrowheads="1"/>
              </p:cNvSpPr>
              <p:nvPr/>
            </p:nvSpPr>
            <p:spPr bwMode="auto">
              <a:xfrm>
                <a:off x="1335" y="1089"/>
                <a:ext cx="2290" cy="1791"/>
              </a:xfrm>
              <a:prstGeom prst="rect">
                <a:avLst/>
              </a:prstGeom>
              <a:noFill/>
              <a:ln w="9525">
                <a:solidFill>
                  <a:schemeClr val="tx1"/>
                </a:solidFill>
                <a:miter lim="800000"/>
                <a:headEnd/>
                <a:tailEnd/>
              </a:ln>
            </p:spPr>
            <p:txBody>
              <a:bodyPr wrap="none" anchor="ctr"/>
              <a:lstStyle/>
              <a:p>
                <a:endParaRPr lang="en-US">
                  <a:latin typeface="Arial"/>
                  <a:cs typeface="Arial"/>
                </a:endParaRPr>
              </a:p>
            </p:txBody>
          </p:sp>
          <p:sp>
            <p:nvSpPr>
              <p:cNvPr id="23589" name="Line 28"/>
              <p:cNvSpPr>
                <a:spLocks noChangeShapeType="1"/>
              </p:cNvSpPr>
              <p:nvPr/>
            </p:nvSpPr>
            <p:spPr bwMode="auto">
              <a:xfrm>
                <a:off x="1335" y="1988"/>
                <a:ext cx="2290" cy="0"/>
              </a:xfrm>
              <a:prstGeom prst="line">
                <a:avLst/>
              </a:prstGeom>
              <a:noFill/>
              <a:ln w="9525">
                <a:solidFill>
                  <a:schemeClr val="tx1"/>
                </a:solidFill>
                <a:round/>
                <a:headEnd/>
                <a:tailEnd/>
              </a:ln>
            </p:spPr>
            <p:txBody>
              <a:bodyPr/>
              <a:lstStyle/>
              <a:p>
                <a:endParaRPr lang="en-US">
                  <a:latin typeface="Arial"/>
                  <a:cs typeface="Arial"/>
                </a:endParaRPr>
              </a:p>
            </p:txBody>
          </p:sp>
          <p:sp>
            <p:nvSpPr>
              <p:cNvPr id="23590" name="Line 29"/>
              <p:cNvSpPr>
                <a:spLocks noChangeShapeType="1"/>
              </p:cNvSpPr>
              <p:nvPr/>
            </p:nvSpPr>
            <p:spPr bwMode="auto">
              <a:xfrm>
                <a:off x="2480" y="1089"/>
                <a:ext cx="0" cy="1791"/>
              </a:xfrm>
              <a:prstGeom prst="line">
                <a:avLst/>
              </a:prstGeom>
              <a:noFill/>
              <a:ln w="9525">
                <a:solidFill>
                  <a:schemeClr val="tx1"/>
                </a:solidFill>
                <a:round/>
                <a:headEnd/>
                <a:tailEnd/>
              </a:ln>
            </p:spPr>
            <p:txBody>
              <a:bodyPr/>
              <a:lstStyle/>
              <a:p>
                <a:endParaRPr lang="en-US">
                  <a:latin typeface="Arial"/>
                  <a:cs typeface="Arial"/>
                </a:endParaRPr>
              </a:p>
            </p:txBody>
          </p:sp>
        </p:grpSp>
      </p:grpSp>
      <p:sp>
        <p:nvSpPr>
          <p:cNvPr id="23558" name="Text Box 44"/>
          <p:cNvSpPr txBox="1">
            <a:spLocks noChangeArrowheads="1"/>
          </p:cNvSpPr>
          <p:nvPr/>
        </p:nvSpPr>
        <p:spPr bwMode="auto">
          <a:xfrm>
            <a:off x="3136900" y="2206625"/>
            <a:ext cx="2516188" cy="369332"/>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Confess</a:t>
            </a:r>
          </a:p>
        </p:txBody>
      </p:sp>
      <p:sp>
        <p:nvSpPr>
          <p:cNvPr id="23559" name="Text Box 45"/>
          <p:cNvSpPr txBox="1">
            <a:spLocks noChangeArrowheads="1"/>
          </p:cNvSpPr>
          <p:nvPr/>
        </p:nvSpPr>
        <p:spPr bwMode="auto">
          <a:xfrm>
            <a:off x="6067425" y="2214563"/>
            <a:ext cx="2549525" cy="369332"/>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Remain silent</a:t>
            </a:r>
          </a:p>
        </p:txBody>
      </p:sp>
      <p:sp>
        <p:nvSpPr>
          <p:cNvPr id="23560" name="Text Box 46"/>
          <p:cNvSpPr txBox="1">
            <a:spLocks noChangeArrowheads="1"/>
          </p:cNvSpPr>
          <p:nvPr/>
        </p:nvSpPr>
        <p:spPr bwMode="auto">
          <a:xfrm>
            <a:off x="1468438" y="3351213"/>
            <a:ext cx="1271587" cy="369332"/>
          </a:xfrm>
          <a:prstGeom prst="rect">
            <a:avLst/>
          </a:prstGeom>
          <a:noFill/>
          <a:ln w="9525">
            <a:noFill/>
            <a:miter lim="800000"/>
            <a:headEnd/>
            <a:tailEnd/>
          </a:ln>
        </p:spPr>
        <p:txBody>
          <a:bodyPr lIns="0" tIns="0" rIns="0" bIns="0">
            <a:spAutoFit/>
          </a:bodyPr>
          <a:lstStyle/>
          <a:p>
            <a:pPr algn="r">
              <a:spcBef>
                <a:spcPct val="50000"/>
              </a:spcBef>
            </a:pPr>
            <a:r>
              <a:rPr lang="en-US" sz="2400" i="1">
                <a:latin typeface="Arial"/>
                <a:cs typeface="Arial"/>
              </a:rPr>
              <a:t>Confess</a:t>
            </a:r>
          </a:p>
        </p:txBody>
      </p:sp>
      <p:sp>
        <p:nvSpPr>
          <p:cNvPr id="23561" name="Text Box 47"/>
          <p:cNvSpPr txBox="1">
            <a:spLocks noChangeArrowheads="1"/>
          </p:cNvSpPr>
          <p:nvPr/>
        </p:nvSpPr>
        <p:spPr bwMode="auto">
          <a:xfrm>
            <a:off x="1584325" y="4954588"/>
            <a:ext cx="1149350" cy="738664"/>
          </a:xfrm>
          <a:prstGeom prst="rect">
            <a:avLst/>
          </a:prstGeom>
          <a:noFill/>
          <a:ln w="9525">
            <a:noFill/>
            <a:miter lim="800000"/>
            <a:headEnd/>
            <a:tailEnd/>
          </a:ln>
        </p:spPr>
        <p:txBody>
          <a:bodyPr lIns="0" tIns="0" rIns="0" bIns="0">
            <a:spAutoFit/>
          </a:bodyPr>
          <a:lstStyle/>
          <a:p>
            <a:pPr algn="r">
              <a:spcBef>
                <a:spcPct val="50000"/>
              </a:spcBef>
            </a:pPr>
            <a:r>
              <a:rPr lang="en-US" sz="2400" i="1">
                <a:latin typeface="Arial"/>
                <a:cs typeface="Arial"/>
              </a:rPr>
              <a:t>Remain </a:t>
            </a:r>
            <a:br>
              <a:rPr lang="en-US" sz="2400" i="1">
                <a:latin typeface="Arial"/>
                <a:cs typeface="Arial"/>
              </a:rPr>
            </a:br>
            <a:r>
              <a:rPr lang="en-US" sz="2400" i="1">
                <a:latin typeface="Arial"/>
                <a:cs typeface="Arial"/>
              </a:rPr>
              <a:t>silent</a:t>
            </a:r>
          </a:p>
        </p:txBody>
      </p:sp>
      <p:sp>
        <p:nvSpPr>
          <p:cNvPr id="23562" name="Text Box 48"/>
          <p:cNvSpPr txBox="1">
            <a:spLocks noChangeArrowheads="1"/>
          </p:cNvSpPr>
          <p:nvPr/>
        </p:nvSpPr>
        <p:spPr bwMode="auto">
          <a:xfrm>
            <a:off x="4344988" y="1511300"/>
            <a:ext cx="3000375" cy="558800"/>
          </a:xfrm>
          <a:prstGeom prst="rect">
            <a:avLst/>
          </a:prstGeom>
          <a:solidFill>
            <a:srgbClr val="D8EEC0"/>
          </a:solidFill>
          <a:ln w="9525">
            <a:solidFill>
              <a:srgbClr val="D8EEC0"/>
            </a:solidFill>
            <a:miter lim="800000"/>
            <a:headEnd/>
            <a:tailEnd/>
          </a:ln>
        </p:spPr>
        <p:txBody>
          <a:bodyPr tIns="91440" bIns="91440">
            <a:spAutoFit/>
          </a:bodyPr>
          <a:lstStyle/>
          <a:p>
            <a:pPr algn="ctr">
              <a:spcBef>
                <a:spcPct val="50000"/>
              </a:spcBef>
            </a:pPr>
            <a:r>
              <a:rPr lang="en-US" sz="2400" b="1" dirty="0">
                <a:solidFill>
                  <a:srgbClr val="FF0000"/>
                </a:solidFill>
                <a:latin typeface="Arial"/>
                <a:cs typeface="Arial"/>
              </a:rPr>
              <a:t>Bonnie’s decision</a:t>
            </a:r>
          </a:p>
        </p:txBody>
      </p:sp>
      <p:sp>
        <p:nvSpPr>
          <p:cNvPr id="23563" name="Text Box 49"/>
          <p:cNvSpPr txBox="1">
            <a:spLocks noChangeArrowheads="1"/>
          </p:cNvSpPr>
          <p:nvPr/>
        </p:nvSpPr>
        <p:spPr bwMode="auto">
          <a:xfrm>
            <a:off x="746125" y="3910013"/>
            <a:ext cx="1550988" cy="923925"/>
          </a:xfrm>
          <a:prstGeom prst="rect">
            <a:avLst/>
          </a:prstGeom>
          <a:solidFill>
            <a:srgbClr val="FFCCCC"/>
          </a:solidFill>
          <a:ln w="9525">
            <a:solidFill>
              <a:srgbClr val="FFCCCC"/>
            </a:solidFill>
            <a:miter lim="800000"/>
            <a:headEnd/>
            <a:tailEnd/>
          </a:ln>
        </p:spPr>
        <p:txBody>
          <a:bodyPr tIns="91440" bIns="91440">
            <a:spAutoFit/>
          </a:bodyPr>
          <a:lstStyle/>
          <a:p>
            <a:pPr>
              <a:spcBef>
                <a:spcPct val="50000"/>
              </a:spcBef>
            </a:pPr>
            <a:r>
              <a:rPr lang="en-US" sz="2400" b="1" dirty="0">
                <a:latin typeface="Arial"/>
                <a:cs typeface="Arial"/>
              </a:rPr>
              <a:t>Clyde’s </a:t>
            </a:r>
            <a:br>
              <a:rPr lang="en-US" sz="2400" b="1" dirty="0">
                <a:latin typeface="Arial"/>
                <a:cs typeface="Arial"/>
              </a:rPr>
            </a:br>
            <a:r>
              <a:rPr lang="en-US" sz="2400" b="1" dirty="0">
                <a:latin typeface="Arial"/>
                <a:cs typeface="Arial"/>
              </a:rPr>
              <a:t>decision</a:t>
            </a:r>
          </a:p>
        </p:txBody>
      </p:sp>
      <p:sp>
        <p:nvSpPr>
          <p:cNvPr id="167986" name="Text Box 50"/>
          <p:cNvSpPr txBox="1">
            <a:spLocks noChangeArrowheads="1"/>
          </p:cNvSpPr>
          <p:nvPr/>
        </p:nvSpPr>
        <p:spPr bwMode="auto">
          <a:xfrm>
            <a:off x="4100513" y="2693988"/>
            <a:ext cx="1751012" cy="793750"/>
          </a:xfrm>
          <a:prstGeom prst="rect">
            <a:avLst/>
          </a:prstGeom>
          <a:noFill/>
          <a:ln w="9525">
            <a:noFill/>
            <a:miter lim="800000"/>
            <a:headEnd/>
            <a:tailEnd/>
          </a:ln>
        </p:spPr>
        <p:txBody>
          <a:bodyPr>
            <a:spAutoFit/>
          </a:bodyPr>
          <a:lstStyle/>
          <a:p>
            <a:pPr algn="r">
              <a:spcBef>
                <a:spcPct val="50000"/>
              </a:spcBef>
            </a:pPr>
            <a:r>
              <a:rPr lang="en-US" sz="2300" dirty="0">
                <a:solidFill>
                  <a:srgbClr val="FF0000"/>
                </a:solidFill>
                <a:latin typeface="Arial"/>
                <a:cs typeface="Arial"/>
              </a:rPr>
              <a:t>Bonnie gets </a:t>
            </a:r>
            <a:br>
              <a:rPr lang="en-US" sz="2300" dirty="0">
                <a:solidFill>
                  <a:srgbClr val="FF0000"/>
                </a:solidFill>
                <a:latin typeface="Arial"/>
                <a:cs typeface="Arial"/>
              </a:rPr>
            </a:br>
            <a:r>
              <a:rPr lang="en-US" sz="2300" dirty="0">
                <a:solidFill>
                  <a:srgbClr val="FF0000"/>
                </a:solidFill>
                <a:latin typeface="Arial"/>
                <a:cs typeface="Arial"/>
              </a:rPr>
              <a:t>8 years</a:t>
            </a:r>
          </a:p>
        </p:txBody>
      </p:sp>
      <p:sp>
        <p:nvSpPr>
          <p:cNvPr id="167987" name="Text Box 51"/>
          <p:cNvSpPr txBox="1">
            <a:spLocks noChangeArrowheads="1"/>
          </p:cNvSpPr>
          <p:nvPr/>
        </p:nvSpPr>
        <p:spPr bwMode="auto">
          <a:xfrm>
            <a:off x="2879725" y="3622675"/>
            <a:ext cx="1906588" cy="793750"/>
          </a:xfrm>
          <a:prstGeom prst="rect">
            <a:avLst/>
          </a:prstGeom>
          <a:noFill/>
          <a:ln w="9525">
            <a:noFill/>
            <a:miter lim="800000"/>
            <a:headEnd/>
            <a:tailEnd/>
          </a:ln>
        </p:spPr>
        <p:txBody>
          <a:bodyPr>
            <a:spAutoFit/>
          </a:bodyPr>
          <a:lstStyle/>
          <a:p>
            <a:pPr>
              <a:spcBef>
                <a:spcPct val="50000"/>
              </a:spcBef>
            </a:pPr>
            <a:r>
              <a:rPr lang="en-US" sz="2300" dirty="0">
                <a:latin typeface="Arial"/>
                <a:cs typeface="Arial"/>
              </a:rPr>
              <a:t>Clyde </a:t>
            </a:r>
            <a:br>
              <a:rPr lang="en-US" sz="2300" dirty="0">
                <a:latin typeface="Arial"/>
                <a:cs typeface="Arial"/>
              </a:rPr>
            </a:br>
            <a:r>
              <a:rPr lang="en-US" sz="2300" dirty="0">
                <a:latin typeface="Arial"/>
                <a:cs typeface="Arial"/>
              </a:rPr>
              <a:t>gets 8 years</a:t>
            </a:r>
          </a:p>
        </p:txBody>
      </p:sp>
      <p:sp>
        <p:nvSpPr>
          <p:cNvPr id="167988" name="Text Box 52"/>
          <p:cNvSpPr txBox="1">
            <a:spLocks noChangeArrowheads="1"/>
          </p:cNvSpPr>
          <p:nvPr/>
        </p:nvSpPr>
        <p:spPr bwMode="auto">
          <a:xfrm>
            <a:off x="7046913" y="2693988"/>
            <a:ext cx="1751012" cy="793750"/>
          </a:xfrm>
          <a:prstGeom prst="rect">
            <a:avLst/>
          </a:prstGeom>
          <a:noFill/>
          <a:ln w="9525">
            <a:noFill/>
            <a:miter lim="800000"/>
            <a:headEnd/>
            <a:tailEnd/>
          </a:ln>
        </p:spPr>
        <p:txBody>
          <a:bodyPr>
            <a:spAutoFit/>
          </a:bodyPr>
          <a:lstStyle/>
          <a:p>
            <a:pPr algn="r">
              <a:spcBef>
                <a:spcPct val="50000"/>
              </a:spcBef>
            </a:pPr>
            <a:r>
              <a:rPr lang="en-US" sz="2300" dirty="0">
                <a:solidFill>
                  <a:srgbClr val="FF0000"/>
                </a:solidFill>
                <a:latin typeface="Arial"/>
                <a:cs typeface="Arial"/>
              </a:rPr>
              <a:t>Bonnie gets </a:t>
            </a:r>
            <a:br>
              <a:rPr lang="en-US" sz="2300" dirty="0">
                <a:solidFill>
                  <a:srgbClr val="FF0000"/>
                </a:solidFill>
                <a:latin typeface="Arial"/>
                <a:cs typeface="Arial"/>
              </a:rPr>
            </a:br>
            <a:r>
              <a:rPr lang="en-US" sz="2300" dirty="0">
                <a:solidFill>
                  <a:srgbClr val="FF0000"/>
                </a:solidFill>
                <a:latin typeface="Arial"/>
                <a:cs typeface="Arial"/>
              </a:rPr>
              <a:t>20 years</a:t>
            </a:r>
          </a:p>
        </p:txBody>
      </p:sp>
      <p:sp>
        <p:nvSpPr>
          <p:cNvPr id="167989" name="Text Box 53"/>
          <p:cNvSpPr txBox="1">
            <a:spLocks noChangeArrowheads="1"/>
          </p:cNvSpPr>
          <p:nvPr/>
        </p:nvSpPr>
        <p:spPr bwMode="auto">
          <a:xfrm>
            <a:off x="7026275" y="4441825"/>
            <a:ext cx="1751013" cy="793750"/>
          </a:xfrm>
          <a:prstGeom prst="rect">
            <a:avLst/>
          </a:prstGeom>
          <a:noFill/>
          <a:ln w="9525">
            <a:noFill/>
            <a:miter lim="800000"/>
            <a:headEnd/>
            <a:tailEnd/>
          </a:ln>
        </p:spPr>
        <p:txBody>
          <a:bodyPr>
            <a:spAutoFit/>
          </a:bodyPr>
          <a:lstStyle/>
          <a:p>
            <a:pPr algn="r">
              <a:spcBef>
                <a:spcPct val="50000"/>
              </a:spcBef>
            </a:pPr>
            <a:r>
              <a:rPr lang="en-US" sz="2300" dirty="0">
                <a:solidFill>
                  <a:srgbClr val="FF0000"/>
                </a:solidFill>
                <a:latin typeface="Arial"/>
                <a:cs typeface="Arial"/>
              </a:rPr>
              <a:t>Bonnie gets </a:t>
            </a:r>
            <a:br>
              <a:rPr lang="en-US" sz="2300" dirty="0">
                <a:solidFill>
                  <a:srgbClr val="FF0000"/>
                </a:solidFill>
                <a:latin typeface="Arial"/>
                <a:cs typeface="Arial"/>
              </a:rPr>
            </a:br>
            <a:r>
              <a:rPr lang="en-US" sz="2300" dirty="0">
                <a:solidFill>
                  <a:srgbClr val="FF0000"/>
                </a:solidFill>
                <a:latin typeface="Arial"/>
                <a:cs typeface="Arial"/>
              </a:rPr>
              <a:t>1 year</a:t>
            </a:r>
          </a:p>
        </p:txBody>
      </p:sp>
      <p:sp>
        <p:nvSpPr>
          <p:cNvPr id="167990" name="Text Box 54"/>
          <p:cNvSpPr txBox="1">
            <a:spLocks noChangeArrowheads="1"/>
          </p:cNvSpPr>
          <p:nvPr/>
        </p:nvSpPr>
        <p:spPr bwMode="auto">
          <a:xfrm>
            <a:off x="4019550" y="4440238"/>
            <a:ext cx="1806575" cy="793750"/>
          </a:xfrm>
          <a:prstGeom prst="rect">
            <a:avLst/>
          </a:prstGeom>
          <a:noFill/>
          <a:ln w="9525">
            <a:noFill/>
            <a:miter lim="800000"/>
            <a:headEnd/>
            <a:tailEnd/>
          </a:ln>
        </p:spPr>
        <p:txBody>
          <a:bodyPr>
            <a:spAutoFit/>
          </a:bodyPr>
          <a:lstStyle/>
          <a:p>
            <a:pPr algn="r">
              <a:spcBef>
                <a:spcPct val="50000"/>
              </a:spcBef>
            </a:pPr>
            <a:r>
              <a:rPr lang="en-US" sz="2300" dirty="0">
                <a:solidFill>
                  <a:srgbClr val="FF0000"/>
                </a:solidFill>
                <a:latin typeface="Arial"/>
                <a:cs typeface="Arial"/>
              </a:rPr>
              <a:t>Bonnie goes free</a:t>
            </a:r>
          </a:p>
        </p:txBody>
      </p:sp>
      <p:sp>
        <p:nvSpPr>
          <p:cNvPr id="167991" name="Text Box 55"/>
          <p:cNvSpPr txBox="1">
            <a:spLocks noChangeArrowheads="1"/>
          </p:cNvSpPr>
          <p:nvPr/>
        </p:nvSpPr>
        <p:spPr bwMode="auto">
          <a:xfrm>
            <a:off x="5848350" y="3625850"/>
            <a:ext cx="1906588" cy="793750"/>
          </a:xfrm>
          <a:prstGeom prst="rect">
            <a:avLst/>
          </a:prstGeom>
          <a:noFill/>
          <a:ln w="9525">
            <a:noFill/>
            <a:miter lim="800000"/>
            <a:headEnd/>
            <a:tailEnd/>
          </a:ln>
        </p:spPr>
        <p:txBody>
          <a:bodyPr>
            <a:spAutoFit/>
          </a:bodyPr>
          <a:lstStyle/>
          <a:p>
            <a:pPr>
              <a:spcBef>
                <a:spcPct val="50000"/>
              </a:spcBef>
            </a:pPr>
            <a:r>
              <a:rPr lang="en-US" sz="2300" dirty="0">
                <a:latin typeface="Arial"/>
                <a:cs typeface="Arial"/>
              </a:rPr>
              <a:t>Clyde </a:t>
            </a:r>
            <a:br>
              <a:rPr lang="en-US" sz="2300" dirty="0">
                <a:latin typeface="Arial"/>
                <a:cs typeface="Arial"/>
              </a:rPr>
            </a:br>
            <a:r>
              <a:rPr lang="en-US" sz="2300" dirty="0">
                <a:latin typeface="Arial"/>
                <a:cs typeface="Arial"/>
              </a:rPr>
              <a:t>goes free</a:t>
            </a:r>
          </a:p>
        </p:txBody>
      </p:sp>
      <p:sp>
        <p:nvSpPr>
          <p:cNvPr id="167992" name="Text Box 56"/>
          <p:cNvSpPr txBox="1">
            <a:spLocks noChangeArrowheads="1"/>
          </p:cNvSpPr>
          <p:nvPr/>
        </p:nvSpPr>
        <p:spPr bwMode="auto">
          <a:xfrm>
            <a:off x="5848350" y="5351463"/>
            <a:ext cx="1906588" cy="793750"/>
          </a:xfrm>
          <a:prstGeom prst="rect">
            <a:avLst/>
          </a:prstGeom>
          <a:noFill/>
          <a:ln w="9525">
            <a:noFill/>
            <a:miter lim="800000"/>
            <a:headEnd/>
            <a:tailEnd/>
          </a:ln>
        </p:spPr>
        <p:txBody>
          <a:bodyPr>
            <a:spAutoFit/>
          </a:bodyPr>
          <a:lstStyle/>
          <a:p>
            <a:pPr>
              <a:spcBef>
                <a:spcPct val="50000"/>
              </a:spcBef>
            </a:pPr>
            <a:r>
              <a:rPr lang="en-US" sz="2300" dirty="0">
                <a:latin typeface="Arial"/>
                <a:cs typeface="Arial"/>
              </a:rPr>
              <a:t>Clyde </a:t>
            </a:r>
            <a:br>
              <a:rPr lang="en-US" sz="2300" dirty="0">
                <a:latin typeface="Arial"/>
                <a:cs typeface="Arial"/>
              </a:rPr>
            </a:br>
            <a:r>
              <a:rPr lang="en-US" sz="2300" dirty="0">
                <a:latin typeface="Arial"/>
                <a:cs typeface="Arial"/>
              </a:rPr>
              <a:t>gets 1 year</a:t>
            </a:r>
          </a:p>
        </p:txBody>
      </p:sp>
      <p:sp>
        <p:nvSpPr>
          <p:cNvPr id="167993" name="Text Box 57"/>
          <p:cNvSpPr txBox="1">
            <a:spLocks noChangeArrowheads="1"/>
          </p:cNvSpPr>
          <p:nvPr/>
        </p:nvSpPr>
        <p:spPr bwMode="auto">
          <a:xfrm>
            <a:off x="2889250" y="5359400"/>
            <a:ext cx="2095500" cy="793750"/>
          </a:xfrm>
          <a:prstGeom prst="rect">
            <a:avLst/>
          </a:prstGeom>
          <a:noFill/>
          <a:ln w="9525">
            <a:noFill/>
            <a:miter lim="800000"/>
            <a:headEnd/>
            <a:tailEnd/>
          </a:ln>
        </p:spPr>
        <p:txBody>
          <a:bodyPr>
            <a:spAutoFit/>
          </a:bodyPr>
          <a:lstStyle/>
          <a:p>
            <a:pPr>
              <a:spcBef>
                <a:spcPct val="50000"/>
              </a:spcBef>
            </a:pPr>
            <a:r>
              <a:rPr lang="en-US" sz="2300" dirty="0">
                <a:latin typeface="Arial"/>
                <a:cs typeface="Arial"/>
              </a:rPr>
              <a:t>Clyde </a:t>
            </a:r>
            <a:br>
              <a:rPr lang="en-US" sz="2300" dirty="0">
                <a:latin typeface="Arial"/>
                <a:cs typeface="Arial"/>
              </a:rPr>
            </a:br>
            <a:r>
              <a:rPr lang="en-US" sz="2300" dirty="0">
                <a:latin typeface="Arial"/>
                <a:cs typeface="Arial"/>
              </a:rPr>
              <a:t>gets 20 years</a:t>
            </a:r>
          </a:p>
        </p:txBody>
      </p:sp>
      <p:sp>
        <p:nvSpPr>
          <p:cNvPr id="167994" name="Text Box 58"/>
          <p:cNvSpPr txBox="1">
            <a:spLocks noChangeArrowheads="1"/>
          </p:cNvSpPr>
          <p:nvPr/>
        </p:nvSpPr>
        <p:spPr bwMode="auto">
          <a:xfrm>
            <a:off x="295275" y="836612"/>
            <a:ext cx="8266113" cy="954087"/>
          </a:xfrm>
          <a:prstGeom prst="rect">
            <a:avLst/>
          </a:prstGeom>
          <a:noFill/>
          <a:ln w="9525">
            <a:noFill/>
            <a:miter lim="800000"/>
            <a:headEnd/>
            <a:tailEnd/>
          </a:ln>
        </p:spPr>
        <p:txBody>
          <a:bodyPr/>
          <a:lstStyle/>
          <a:p>
            <a:pPr>
              <a:spcBef>
                <a:spcPct val="50000"/>
              </a:spcBef>
            </a:pPr>
            <a:r>
              <a:rPr lang="en-US" sz="2800" dirty="0">
                <a:latin typeface="Arial"/>
                <a:cs typeface="Arial"/>
              </a:rPr>
              <a:t>Confessing is the </a:t>
            </a:r>
            <a:r>
              <a:rPr lang="en-US" sz="2800" u="sng" dirty="0">
                <a:latin typeface="Arial"/>
                <a:cs typeface="Arial"/>
              </a:rPr>
              <a:t>dominant strategy </a:t>
            </a:r>
            <a:r>
              <a:rPr lang="en-US" sz="2800" dirty="0">
                <a:latin typeface="Arial"/>
                <a:cs typeface="Arial"/>
              </a:rPr>
              <a:t>for both players.</a:t>
            </a:r>
          </a:p>
        </p:txBody>
      </p:sp>
      <p:sp>
        <p:nvSpPr>
          <p:cNvPr id="167995" name="Text Box 59"/>
          <p:cNvSpPr txBox="1">
            <a:spLocks noChangeArrowheads="1"/>
          </p:cNvSpPr>
          <p:nvPr/>
        </p:nvSpPr>
        <p:spPr bwMode="auto">
          <a:xfrm>
            <a:off x="314325" y="1749425"/>
            <a:ext cx="3567113" cy="917575"/>
          </a:xfrm>
          <a:prstGeom prst="rect">
            <a:avLst/>
          </a:prstGeom>
          <a:noFill/>
          <a:ln w="9525">
            <a:noFill/>
            <a:miter lim="800000"/>
            <a:headEnd/>
            <a:tailEnd/>
          </a:ln>
        </p:spPr>
        <p:txBody>
          <a:bodyPr/>
          <a:lstStyle/>
          <a:p>
            <a:pPr>
              <a:spcBef>
                <a:spcPct val="50000"/>
              </a:spcBef>
            </a:pPr>
            <a:r>
              <a:rPr lang="en-US" sz="2800" dirty="0">
                <a:solidFill>
                  <a:srgbClr val="4E519E"/>
                </a:solidFill>
                <a:latin typeface="Arial"/>
                <a:cs typeface="Arial"/>
              </a:rPr>
              <a:t>Nash equilibrium:  </a:t>
            </a:r>
            <a:br>
              <a:rPr lang="en-US" sz="2800" dirty="0">
                <a:solidFill>
                  <a:srgbClr val="4E519E"/>
                </a:solidFill>
                <a:latin typeface="Arial"/>
                <a:cs typeface="Arial"/>
              </a:rPr>
            </a:br>
            <a:r>
              <a:rPr lang="en-US" sz="2800" dirty="0">
                <a:solidFill>
                  <a:srgbClr val="4E519E"/>
                </a:solidFill>
                <a:latin typeface="Arial"/>
                <a:cs typeface="Arial"/>
              </a:rPr>
              <a:t>both confess</a:t>
            </a:r>
          </a:p>
        </p:txBody>
      </p:sp>
      <p:sp>
        <p:nvSpPr>
          <p:cNvPr id="167996" name="Line 60"/>
          <p:cNvSpPr>
            <a:spLocks noChangeShapeType="1"/>
          </p:cNvSpPr>
          <p:nvPr/>
        </p:nvSpPr>
        <p:spPr bwMode="auto">
          <a:xfrm>
            <a:off x="844550" y="3532188"/>
            <a:ext cx="639763" cy="0"/>
          </a:xfrm>
          <a:prstGeom prst="line">
            <a:avLst/>
          </a:prstGeom>
          <a:noFill/>
          <a:ln w="50800">
            <a:solidFill>
              <a:srgbClr val="FF0000"/>
            </a:solidFill>
            <a:round/>
            <a:headEnd/>
            <a:tailEnd type="triangle" w="lg" len="lg"/>
          </a:ln>
        </p:spPr>
        <p:txBody>
          <a:bodyPr/>
          <a:lstStyle/>
          <a:p>
            <a:endParaRPr lang="en-US">
              <a:latin typeface="Arial"/>
              <a:cs typeface="Arial"/>
            </a:endParaRPr>
          </a:p>
        </p:txBody>
      </p:sp>
      <p:sp>
        <p:nvSpPr>
          <p:cNvPr id="167997" name="Line 61"/>
          <p:cNvSpPr>
            <a:spLocks noChangeShapeType="1"/>
          </p:cNvSpPr>
          <p:nvPr/>
        </p:nvSpPr>
        <p:spPr bwMode="auto">
          <a:xfrm>
            <a:off x="904875" y="5354638"/>
            <a:ext cx="639763" cy="0"/>
          </a:xfrm>
          <a:prstGeom prst="line">
            <a:avLst/>
          </a:prstGeom>
          <a:noFill/>
          <a:ln w="50800">
            <a:solidFill>
              <a:srgbClr val="FF0000"/>
            </a:solidFill>
            <a:round/>
            <a:headEnd/>
            <a:tailEnd type="triangle" w="lg" len="lg"/>
          </a:ln>
        </p:spPr>
        <p:txBody>
          <a:bodyPr/>
          <a:lstStyle/>
          <a:p>
            <a:endParaRPr lang="en-US">
              <a:latin typeface="Arial"/>
              <a:cs typeface="Arial"/>
            </a:endParaRPr>
          </a:p>
        </p:txBody>
      </p:sp>
      <p:sp>
        <p:nvSpPr>
          <p:cNvPr id="167998" name="Line 62"/>
          <p:cNvSpPr>
            <a:spLocks noChangeShapeType="1"/>
          </p:cNvSpPr>
          <p:nvPr/>
        </p:nvSpPr>
        <p:spPr bwMode="auto">
          <a:xfrm>
            <a:off x="3087688" y="2403475"/>
            <a:ext cx="639762" cy="0"/>
          </a:xfrm>
          <a:prstGeom prst="line">
            <a:avLst/>
          </a:prstGeom>
          <a:noFill/>
          <a:ln w="50800">
            <a:solidFill>
              <a:srgbClr val="FF0000"/>
            </a:solidFill>
            <a:round/>
            <a:headEnd/>
            <a:tailEnd type="triangle" w="lg" len="lg"/>
          </a:ln>
        </p:spPr>
        <p:txBody>
          <a:bodyPr/>
          <a:lstStyle/>
          <a:p>
            <a:endParaRPr lang="en-US">
              <a:latin typeface="Arial"/>
              <a:cs typeface="Arial"/>
            </a:endParaRPr>
          </a:p>
        </p:txBody>
      </p:sp>
      <p:sp>
        <p:nvSpPr>
          <p:cNvPr id="167999" name="Line 63"/>
          <p:cNvSpPr>
            <a:spLocks noChangeShapeType="1"/>
          </p:cNvSpPr>
          <p:nvPr/>
        </p:nvSpPr>
        <p:spPr bwMode="auto">
          <a:xfrm>
            <a:off x="5719763" y="2384425"/>
            <a:ext cx="639762" cy="0"/>
          </a:xfrm>
          <a:prstGeom prst="line">
            <a:avLst/>
          </a:prstGeom>
          <a:noFill/>
          <a:ln w="50800">
            <a:solidFill>
              <a:srgbClr val="FF0000"/>
            </a:solidFill>
            <a:round/>
            <a:headEnd/>
            <a:tailEnd type="triangle" w="lg" len="lg"/>
          </a:ln>
        </p:spPr>
        <p:txBody>
          <a:bodyPr/>
          <a:lstStyle/>
          <a:p>
            <a:endParaRPr lang="en-US">
              <a:latin typeface="Arial"/>
              <a:cs typeface="Arial"/>
            </a:endParaRPr>
          </a:p>
        </p:txBody>
      </p:sp>
      <p:sp>
        <p:nvSpPr>
          <p:cNvPr id="23578"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40" name="Rectangle 35"/>
          <p:cNvSpPr>
            <a:spLocks noChangeArrowheads="1"/>
          </p:cNvSpPr>
          <p:nvPr/>
        </p:nvSpPr>
        <p:spPr bwMode="auto">
          <a:xfrm>
            <a:off x="2846388" y="2659063"/>
            <a:ext cx="2971800" cy="1760537"/>
          </a:xfrm>
          <a:prstGeom prst="rect">
            <a:avLst/>
          </a:prstGeom>
          <a:noFill/>
          <a:ln w="47625" cmpd="sng">
            <a:solidFill>
              <a:srgbClr val="FF0000"/>
            </a:solidFill>
            <a:miter lim="800000"/>
            <a:headEnd/>
            <a:tailEnd/>
          </a:ln>
        </p:spPr>
        <p:txBody>
          <a:bodyPr wrap="none" anchor="ctr"/>
          <a:lstStyle/>
          <a:p>
            <a:endParaRPr lang="en-US">
              <a:latin typeface="Arial"/>
              <a:cs typeface="Arial"/>
            </a:endParaRPr>
          </a:p>
        </p:txBody>
      </p:sp>
      <p:sp>
        <p:nvSpPr>
          <p:cNvPr id="4" name="Footer Placeholder 3">
            <a:extLst>
              <a:ext uri="{FF2B5EF4-FFF2-40B4-BE49-F238E27FC236}">
                <a16:creationId xmlns:a16="http://schemas.microsoft.com/office/drawing/2014/main" id="{D08D6AFB-DD3E-A91C-2250-08684955C16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8001452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7996"/>
                                        </p:tgtEl>
                                        <p:attrNameLst>
                                          <p:attrName>style.visibility</p:attrName>
                                        </p:attrNameLst>
                                      </p:cBhvr>
                                      <p:to>
                                        <p:strVal val="visible"/>
                                      </p:to>
                                    </p:set>
                                    <p:animEffect transition="in" filter="fade">
                                      <p:cBhvr>
                                        <p:cTn id="7" dur="500"/>
                                        <p:tgtEl>
                                          <p:spTgt spid="16799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7986"/>
                                        </p:tgtEl>
                                        <p:attrNameLst>
                                          <p:attrName>style.visibility</p:attrName>
                                        </p:attrNameLst>
                                      </p:cBhvr>
                                      <p:to>
                                        <p:strVal val="visible"/>
                                      </p:to>
                                    </p:set>
                                    <p:animEffect transition="in" filter="fade">
                                      <p:cBhvr>
                                        <p:cTn id="10" dur="500"/>
                                        <p:tgtEl>
                                          <p:spTgt spid="167986"/>
                                        </p:tgtEl>
                                      </p:cBhvr>
                                    </p:animEffect>
                                  </p:childTnLst>
                                  <p:subTnLst>
                                    <p:animClr clrSpc="rgb" dir="cw">
                                      <p:cBhvr override="childStyle">
                                        <p:cTn dur="1" fill="hold" display="0" masterRel="nextClick" afterEffect="1"/>
                                        <p:tgtEl>
                                          <p:spTgt spid="167986"/>
                                        </p:tgtEl>
                                        <p:attrNameLst>
                                          <p:attrName>ppt_c</p:attrName>
                                        </p:attrNameLst>
                                      </p:cBhvr>
                                      <p:to>
                                        <a:srgbClr val="000000"/>
                                      </p:to>
                                    </p:animClr>
                                  </p:subTnLst>
                                </p:cTn>
                              </p:par>
                              <p:par>
                                <p:cTn id="11" presetID="10" presetClass="entr" presetSubtype="0" fill="hold" grpId="0" nodeType="withEffect">
                                  <p:stCondLst>
                                    <p:cond delay="0"/>
                                  </p:stCondLst>
                                  <p:childTnLst>
                                    <p:set>
                                      <p:cBhvr>
                                        <p:cTn id="12" dur="1" fill="hold">
                                          <p:stCondLst>
                                            <p:cond delay="0"/>
                                          </p:stCondLst>
                                        </p:cTn>
                                        <p:tgtEl>
                                          <p:spTgt spid="167988"/>
                                        </p:tgtEl>
                                        <p:attrNameLst>
                                          <p:attrName>style.visibility</p:attrName>
                                        </p:attrNameLst>
                                      </p:cBhvr>
                                      <p:to>
                                        <p:strVal val="visible"/>
                                      </p:to>
                                    </p:set>
                                    <p:animEffect transition="in" filter="fade">
                                      <p:cBhvr>
                                        <p:cTn id="13" dur="500"/>
                                        <p:tgtEl>
                                          <p:spTgt spid="167988"/>
                                        </p:tgtEl>
                                      </p:cBhvr>
                                    </p:animEffect>
                                  </p:childTnLst>
                                  <p:subTnLst>
                                    <p:animClr clrSpc="rgb" dir="cw">
                                      <p:cBhvr override="childStyle">
                                        <p:cTn dur="1" fill="hold" display="0" masterRel="nextClick" afterEffect="1"/>
                                        <p:tgtEl>
                                          <p:spTgt spid="167988"/>
                                        </p:tgtEl>
                                        <p:attrNameLst>
                                          <p:attrName>ppt_c</p:attrName>
                                        </p:attrNameLst>
                                      </p:cBhvr>
                                      <p:to>
                                        <a:srgbClr val="000000"/>
                                      </p:to>
                                    </p:animClr>
                                  </p:sub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167996"/>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9" dur="1" fill="hold">
                                          <p:stCondLst>
                                            <p:cond delay="0"/>
                                          </p:stCondLst>
                                        </p:cTn>
                                        <p:tgtEl>
                                          <p:spTgt spid="167997"/>
                                        </p:tgtEl>
                                        <p:attrNameLst>
                                          <p:attrName>style.visibility</p:attrName>
                                        </p:attrNameLst>
                                      </p:cBhvr>
                                      <p:to>
                                        <p:strVal val="visible"/>
                                      </p:to>
                                    </p:set>
                                    <p:animEffect transition="in" filter="fade">
                                      <p:cBhvr>
                                        <p:cTn id="20" dur="500"/>
                                        <p:tgtEl>
                                          <p:spTgt spid="16799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7990"/>
                                        </p:tgtEl>
                                        <p:attrNameLst>
                                          <p:attrName>style.visibility</p:attrName>
                                        </p:attrNameLst>
                                      </p:cBhvr>
                                      <p:to>
                                        <p:strVal val="visible"/>
                                      </p:to>
                                    </p:set>
                                    <p:animEffect transition="in" filter="fade">
                                      <p:cBhvr>
                                        <p:cTn id="23" dur="500"/>
                                        <p:tgtEl>
                                          <p:spTgt spid="167990"/>
                                        </p:tgtEl>
                                      </p:cBhvr>
                                    </p:animEffect>
                                  </p:childTnLst>
                                  <p:subTnLst>
                                    <p:animClr clrSpc="rgb" dir="cw">
                                      <p:cBhvr override="childStyle">
                                        <p:cTn dur="1" fill="hold" display="0" masterRel="nextClick" afterEffect="1"/>
                                        <p:tgtEl>
                                          <p:spTgt spid="167990"/>
                                        </p:tgtEl>
                                        <p:attrNameLst>
                                          <p:attrName>ppt_c</p:attrName>
                                        </p:attrNameLst>
                                      </p:cBhvr>
                                      <p:to>
                                        <a:srgbClr val="000000"/>
                                      </p:to>
                                    </p:animClr>
                                  </p:subTnLst>
                                </p:cTn>
                              </p:par>
                              <p:par>
                                <p:cTn id="24" presetID="10" presetClass="entr" presetSubtype="0" fill="hold" grpId="0" nodeType="withEffect">
                                  <p:stCondLst>
                                    <p:cond delay="0"/>
                                  </p:stCondLst>
                                  <p:childTnLst>
                                    <p:set>
                                      <p:cBhvr>
                                        <p:cTn id="25" dur="1" fill="hold">
                                          <p:stCondLst>
                                            <p:cond delay="0"/>
                                          </p:stCondLst>
                                        </p:cTn>
                                        <p:tgtEl>
                                          <p:spTgt spid="167989"/>
                                        </p:tgtEl>
                                        <p:attrNameLst>
                                          <p:attrName>style.visibility</p:attrName>
                                        </p:attrNameLst>
                                      </p:cBhvr>
                                      <p:to>
                                        <p:strVal val="visible"/>
                                      </p:to>
                                    </p:set>
                                    <p:animEffect transition="in" filter="fade">
                                      <p:cBhvr>
                                        <p:cTn id="26" dur="500"/>
                                        <p:tgtEl>
                                          <p:spTgt spid="167989"/>
                                        </p:tgtEl>
                                      </p:cBhvr>
                                    </p:animEffect>
                                  </p:childTnLst>
                                  <p:subTnLst>
                                    <p:animClr clrSpc="rgb" dir="cw">
                                      <p:cBhvr override="childStyle">
                                        <p:cTn dur="1" fill="hold" display="0" masterRel="nextClick" afterEffect="1"/>
                                        <p:tgtEl>
                                          <p:spTgt spid="167989"/>
                                        </p:tgtEl>
                                        <p:attrNameLst>
                                          <p:attrName>ppt_c</p:attrName>
                                        </p:attrNameLst>
                                      </p:cBhvr>
                                      <p:to>
                                        <a:srgbClr val="000000"/>
                                      </p:to>
                                    </p:animClr>
                                  </p:sub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6799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7998"/>
                                        </p:tgtEl>
                                        <p:attrNameLst>
                                          <p:attrName>style.visibility</p:attrName>
                                        </p:attrNameLst>
                                      </p:cBhvr>
                                      <p:to>
                                        <p:strVal val="visible"/>
                                      </p:to>
                                    </p:set>
                                    <p:animEffect transition="in" filter="fade">
                                      <p:cBhvr>
                                        <p:cTn id="35" dur="500"/>
                                        <p:tgtEl>
                                          <p:spTgt spid="16799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7987"/>
                                        </p:tgtEl>
                                        <p:attrNameLst>
                                          <p:attrName>style.visibility</p:attrName>
                                        </p:attrNameLst>
                                      </p:cBhvr>
                                      <p:to>
                                        <p:strVal val="visible"/>
                                      </p:to>
                                    </p:set>
                                    <p:animEffect transition="in" filter="fade">
                                      <p:cBhvr>
                                        <p:cTn id="38" dur="500"/>
                                        <p:tgtEl>
                                          <p:spTgt spid="167987"/>
                                        </p:tgtEl>
                                      </p:cBhvr>
                                    </p:animEffect>
                                  </p:childTnLst>
                                  <p:subTnLst>
                                    <p:animClr clrSpc="rgb" dir="cw">
                                      <p:cBhvr override="childStyle">
                                        <p:cTn dur="1" fill="hold" display="0" masterRel="nextClick" afterEffect="1"/>
                                        <p:tgtEl>
                                          <p:spTgt spid="167987"/>
                                        </p:tgtEl>
                                        <p:attrNameLst>
                                          <p:attrName>ppt_c</p:attrName>
                                        </p:attrNameLst>
                                      </p:cBhvr>
                                      <p:to>
                                        <a:srgbClr val="000000"/>
                                      </p:to>
                                    </p:animClr>
                                  </p:subTnLst>
                                </p:cTn>
                              </p:par>
                              <p:par>
                                <p:cTn id="39" presetID="10" presetClass="entr" presetSubtype="0" fill="hold" grpId="0" nodeType="withEffect">
                                  <p:stCondLst>
                                    <p:cond delay="0"/>
                                  </p:stCondLst>
                                  <p:childTnLst>
                                    <p:set>
                                      <p:cBhvr>
                                        <p:cTn id="40" dur="1" fill="hold">
                                          <p:stCondLst>
                                            <p:cond delay="0"/>
                                          </p:stCondLst>
                                        </p:cTn>
                                        <p:tgtEl>
                                          <p:spTgt spid="167993"/>
                                        </p:tgtEl>
                                        <p:attrNameLst>
                                          <p:attrName>style.visibility</p:attrName>
                                        </p:attrNameLst>
                                      </p:cBhvr>
                                      <p:to>
                                        <p:strVal val="visible"/>
                                      </p:to>
                                    </p:set>
                                    <p:animEffect transition="in" filter="fade">
                                      <p:cBhvr>
                                        <p:cTn id="41" dur="500"/>
                                        <p:tgtEl>
                                          <p:spTgt spid="167993"/>
                                        </p:tgtEl>
                                      </p:cBhvr>
                                    </p:animEffect>
                                  </p:childTnLst>
                                  <p:subTnLst>
                                    <p:animClr clrSpc="rgb" dir="cw">
                                      <p:cBhvr override="childStyle">
                                        <p:cTn dur="1" fill="hold" display="0" masterRel="nextClick" afterEffect="1"/>
                                        <p:tgtEl>
                                          <p:spTgt spid="167993"/>
                                        </p:tgtEl>
                                        <p:attrNameLst>
                                          <p:attrName>ppt_c</p:attrName>
                                        </p:attrNameLst>
                                      </p:cBhvr>
                                      <p:to>
                                        <a:srgbClr val="000000"/>
                                      </p:to>
                                    </p:animClr>
                                  </p:sub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167998"/>
                                        </p:tgtEl>
                                        <p:attrNameLst>
                                          <p:attrName>style.visibility</p:attrName>
                                        </p:attrNameLst>
                                      </p:cBhvr>
                                      <p:to>
                                        <p:strVal val="hidden"/>
                                      </p:to>
                                    </p:set>
                                  </p:childTnLst>
                                </p:cTn>
                              </p:par>
                              <p:par>
                                <p:cTn id="46" presetID="10" presetClass="entr" presetSubtype="0" fill="hold" grpId="0" nodeType="withEffect">
                                  <p:stCondLst>
                                    <p:cond delay="0"/>
                                  </p:stCondLst>
                                  <p:childTnLst>
                                    <p:set>
                                      <p:cBhvr>
                                        <p:cTn id="47" dur="1" fill="hold">
                                          <p:stCondLst>
                                            <p:cond delay="0"/>
                                          </p:stCondLst>
                                        </p:cTn>
                                        <p:tgtEl>
                                          <p:spTgt spid="167999"/>
                                        </p:tgtEl>
                                        <p:attrNameLst>
                                          <p:attrName>style.visibility</p:attrName>
                                        </p:attrNameLst>
                                      </p:cBhvr>
                                      <p:to>
                                        <p:strVal val="visible"/>
                                      </p:to>
                                    </p:set>
                                    <p:animEffect transition="in" filter="fade">
                                      <p:cBhvr>
                                        <p:cTn id="48" dur="500"/>
                                        <p:tgtEl>
                                          <p:spTgt spid="16799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7991"/>
                                        </p:tgtEl>
                                        <p:attrNameLst>
                                          <p:attrName>style.visibility</p:attrName>
                                        </p:attrNameLst>
                                      </p:cBhvr>
                                      <p:to>
                                        <p:strVal val="visible"/>
                                      </p:to>
                                    </p:set>
                                    <p:animEffect transition="in" filter="fade">
                                      <p:cBhvr>
                                        <p:cTn id="51" dur="500"/>
                                        <p:tgtEl>
                                          <p:spTgt spid="167991"/>
                                        </p:tgtEl>
                                      </p:cBhvr>
                                    </p:animEffect>
                                  </p:childTnLst>
                                  <p:subTnLst>
                                    <p:animClr clrSpc="rgb" dir="cw">
                                      <p:cBhvr override="childStyle">
                                        <p:cTn dur="1" fill="hold" display="0" masterRel="nextClick" afterEffect="1"/>
                                        <p:tgtEl>
                                          <p:spTgt spid="167991"/>
                                        </p:tgtEl>
                                        <p:attrNameLst>
                                          <p:attrName>ppt_c</p:attrName>
                                        </p:attrNameLst>
                                      </p:cBhvr>
                                      <p:to>
                                        <a:schemeClr val="tx1"/>
                                      </p:to>
                                    </p:animClr>
                                  </p:subTnLst>
                                </p:cTn>
                              </p:par>
                              <p:par>
                                <p:cTn id="52" presetID="10" presetClass="entr" presetSubtype="0" fill="hold" grpId="0" nodeType="withEffect">
                                  <p:stCondLst>
                                    <p:cond delay="0"/>
                                  </p:stCondLst>
                                  <p:childTnLst>
                                    <p:set>
                                      <p:cBhvr>
                                        <p:cTn id="53" dur="1" fill="hold">
                                          <p:stCondLst>
                                            <p:cond delay="0"/>
                                          </p:stCondLst>
                                        </p:cTn>
                                        <p:tgtEl>
                                          <p:spTgt spid="167992"/>
                                        </p:tgtEl>
                                        <p:attrNameLst>
                                          <p:attrName>style.visibility</p:attrName>
                                        </p:attrNameLst>
                                      </p:cBhvr>
                                      <p:to>
                                        <p:strVal val="visible"/>
                                      </p:to>
                                    </p:set>
                                    <p:animEffect transition="in" filter="fade">
                                      <p:cBhvr>
                                        <p:cTn id="54" dur="500"/>
                                        <p:tgtEl>
                                          <p:spTgt spid="167992"/>
                                        </p:tgtEl>
                                      </p:cBhvr>
                                    </p:animEffect>
                                  </p:childTnLst>
                                  <p:subTnLst>
                                    <p:animClr clrSpc="rgb" dir="cw">
                                      <p:cBhvr override="childStyle">
                                        <p:cTn dur="1" fill="hold" display="0" masterRel="nextClick" afterEffect="1"/>
                                        <p:tgtEl>
                                          <p:spTgt spid="167992"/>
                                        </p:tgtEl>
                                        <p:attrNameLst>
                                          <p:attrName>ppt_c</p:attrName>
                                        </p:attrNameLst>
                                      </p:cBhvr>
                                      <p:to>
                                        <a:schemeClr val="tx1"/>
                                      </p:to>
                                    </p:animClr>
                                  </p:sub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16799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67994"/>
                                        </p:tgtEl>
                                        <p:attrNameLst>
                                          <p:attrName>style.visibility</p:attrName>
                                        </p:attrNameLst>
                                      </p:cBhvr>
                                      <p:to>
                                        <p:strVal val="visible"/>
                                      </p:to>
                                    </p:set>
                                    <p:animEffect transition="in" filter="fade">
                                      <p:cBhvr>
                                        <p:cTn id="63" dur="500"/>
                                        <p:tgtEl>
                                          <p:spTgt spid="167994"/>
                                        </p:tgtEl>
                                      </p:cBhvr>
                                    </p:animEffect>
                                  </p:childTnLst>
                                  <p:subTnLst>
                                    <p:animClr clrSpc="rgb" dir="cw">
                                      <p:cBhvr override="childStyle">
                                        <p:cTn dur="1" fill="hold" display="0" masterRel="nextClick" afterEffect="1"/>
                                        <p:tgtEl>
                                          <p:spTgt spid="167994"/>
                                        </p:tgtEl>
                                        <p:attrNameLst>
                                          <p:attrName>ppt_c</p:attrName>
                                        </p:attrNameLst>
                                      </p:cBhvr>
                                      <p:to>
                                        <a:schemeClr val="tx1"/>
                                      </p:to>
                                    </p:animClr>
                                  </p:sub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67995"/>
                                        </p:tgtEl>
                                        <p:attrNameLst>
                                          <p:attrName>style.visibility</p:attrName>
                                        </p:attrNameLst>
                                      </p:cBhvr>
                                      <p:to>
                                        <p:strVal val="visible"/>
                                      </p:to>
                                    </p:set>
                                    <p:animEffect transition="in" filter="fade">
                                      <p:cBhvr>
                                        <p:cTn id="68" dur="500"/>
                                        <p:tgtEl>
                                          <p:spTgt spid="16799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0"/>
                                        </p:tgtEl>
                                        <p:attrNameLst>
                                          <p:attrName>style.visibility</p:attrName>
                                        </p:attrNameLst>
                                      </p:cBhvr>
                                      <p:to>
                                        <p:strVal val="visible"/>
                                      </p:to>
                                    </p:set>
                                    <p:animEffect transition="in" filter="fade">
                                      <p:cBhvr>
                                        <p:cTn id="7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86" grpId="0"/>
      <p:bldP spid="167987" grpId="0"/>
      <p:bldP spid="167988" grpId="0"/>
      <p:bldP spid="167989" grpId="0"/>
      <p:bldP spid="167990" grpId="0"/>
      <p:bldP spid="167991" grpId="0"/>
      <p:bldP spid="167992" grpId="0"/>
      <p:bldP spid="167993" grpId="0"/>
      <p:bldP spid="167994" grpId="0"/>
      <p:bldP spid="167995" grpId="0"/>
      <p:bldP spid="167996" grpId="0" animBg="1"/>
      <p:bldP spid="167996" grpId="1" animBg="1"/>
      <p:bldP spid="167997" grpId="0" animBg="1"/>
      <p:bldP spid="167997" grpId="1" animBg="1"/>
      <p:bldP spid="167998" grpId="0" animBg="1"/>
      <p:bldP spid="167998" grpId="1" animBg="1"/>
      <p:bldP spid="167999" grpId="0" animBg="1"/>
      <p:bldP spid="167999" grpId="1" animBg="1"/>
      <p:bldP spid="40"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pPr eaLnBrk="1" hangingPunct="1"/>
            <a:r>
              <a:rPr lang="en-US" dirty="0"/>
              <a:t>EXAMPLE 2: </a:t>
            </a:r>
            <a:r>
              <a:rPr lang="en-US" dirty="0">
                <a:solidFill>
                  <a:schemeClr val="tx1"/>
                </a:solidFill>
              </a:rPr>
              <a:t>The Prisoners’ Dilemma – 3 </a:t>
            </a:r>
          </a:p>
        </p:txBody>
      </p:sp>
      <p:sp>
        <p:nvSpPr>
          <p:cNvPr id="24581" name="Rectangle 3"/>
          <p:cNvSpPr>
            <a:spLocks noGrp="1" noChangeArrowheads="1"/>
          </p:cNvSpPr>
          <p:nvPr>
            <p:ph idx="1"/>
          </p:nvPr>
        </p:nvSpPr>
        <p:spPr>
          <a:prstGeom prst="rect">
            <a:avLst/>
          </a:prstGeom>
        </p:spPr>
        <p:txBody>
          <a:bodyPr>
            <a:normAutofit/>
          </a:bodyPr>
          <a:lstStyle/>
          <a:p>
            <a:pPr eaLnBrk="1" hangingPunct="1"/>
            <a:r>
              <a:rPr lang="en-US" dirty="0"/>
              <a:t>Outcome of the game:  Bonnie and Clyde both confess, each gets 8 years in prison.  </a:t>
            </a:r>
          </a:p>
          <a:p>
            <a:pPr lvl="1" eaLnBrk="1" hangingPunct="1"/>
            <a:r>
              <a:rPr lang="en-US" sz="3200" dirty="0">
                <a:solidFill>
                  <a:srgbClr val="4E519E"/>
                </a:solidFill>
              </a:rPr>
              <a:t>Both would have been better off if both remained silent.</a:t>
            </a:r>
          </a:p>
          <a:p>
            <a:pPr lvl="1" eaLnBrk="1" hangingPunct="1"/>
            <a:r>
              <a:rPr lang="en-US" sz="3200" dirty="0">
                <a:solidFill>
                  <a:srgbClr val="4E519E"/>
                </a:solidFill>
              </a:rPr>
              <a:t>But even if Bonnie and Clyde had agreed before being caught to remain silent, the logic of self-interest takes over and leads them to confess.</a:t>
            </a:r>
          </a:p>
          <a:p>
            <a:pPr eaLnBrk="1" hangingPunct="1"/>
            <a:endParaRPr lang="en-US" dirty="0"/>
          </a:p>
          <a:p>
            <a:pPr eaLnBrk="1" hangingPunct="1"/>
            <a:endParaRPr lang="en-US" dirty="0"/>
          </a:p>
        </p:txBody>
      </p:sp>
      <p:sp>
        <p:nvSpPr>
          <p:cNvPr id="3" name="Slide Number Placeholder 2"/>
          <p:cNvSpPr>
            <a:spLocks noGrp="1"/>
          </p:cNvSpPr>
          <p:nvPr>
            <p:ph type="sldNum" sz="quarter" idx="10"/>
          </p:nvPr>
        </p:nvSpPr>
        <p:spPr>
          <a:prstGeom prst="rect">
            <a:avLst/>
          </a:prstGeom>
        </p:spPr>
        <p:txBody>
          <a:bodyPr/>
          <a:lstStyle/>
          <a:p>
            <a:pPr>
              <a:defRPr/>
            </a:pPr>
            <a:fld id="{073C29DC-2178-4274-9150-45F8EBD31C2D}" type="slidenum">
              <a:rPr lang="en-US" smtClean="0"/>
              <a:pPr>
                <a:defRPr/>
              </a:pPr>
              <a:t>22</a:t>
            </a:fld>
            <a:endParaRPr lang="en-US"/>
          </a:p>
        </p:txBody>
      </p:sp>
      <p:sp>
        <p:nvSpPr>
          <p:cNvPr id="24582"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2" name="Footer Placeholder 1">
            <a:extLst>
              <a:ext uri="{FF2B5EF4-FFF2-40B4-BE49-F238E27FC236}">
                <a16:creationId xmlns:a16="http://schemas.microsoft.com/office/drawing/2014/main" id="{2CEA45F8-2305-475C-3BE8-B20DF755C987}"/>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02891154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581">
                                            <p:txEl>
                                              <p:pRg st="0" end="0"/>
                                            </p:txEl>
                                          </p:spTgt>
                                        </p:tgtEl>
                                        <p:attrNameLst>
                                          <p:attrName>style.visibility</p:attrName>
                                        </p:attrNameLst>
                                      </p:cBhvr>
                                      <p:to>
                                        <p:strVal val="visible"/>
                                      </p:to>
                                    </p:set>
                                    <p:animEffect transition="in" filter="wipe(left)">
                                      <p:cBhvr>
                                        <p:cTn id="7" dur="500"/>
                                        <p:tgtEl>
                                          <p:spTgt spid="2458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581">
                                            <p:txEl>
                                              <p:pRg st="1" end="1"/>
                                            </p:txEl>
                                          </p:spTgt>
                                        </p:tgtEl>
                                        <p:attrNameLst>
                                          <p:attrName>style.visibility</p:attrName>
                                        </p:attrNameLst>
                                      </p:cBhvr>
                                      <p:to>
                                        <p:strVal val="visible"/>
                                      </p:to>
                                    </p:set>
                                    <p:animEffect transition="in" filter="wipe(left)">
                                      <p:cBhvr>
                                        <p:cTn id="11" dur="500"/>
                                        <p:tgtEl>
                                          <p:spTgt spid="24581">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4581">
                                            <p:txEl>
                                              <p:pRg st="2" end="2"/>
                                            </p:txEl>
                                          </p:spTgt>
                                        </p:tgtEl>
                                        <p:attrNameLst>
                                          <p:attrName>style.visibility</p:attrName>
                                        </p:attrNameLst>
                                      </p:cBhvr>
                                      <p:to>
                                        <p:strVal val="visible"/>
                                      </p:to>
                                    </p:set>
                                    <p:animEffect transition="in" filter="wipe(left)">
                                      <p:cBhvr>
                                        <p:cTn id="15" dur="500"/>
                                        <p:tgtEl>
                                          <p:spTgt spid="2458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Oligopolies as a Prisoners’ Dilemma</a:t>
            </a:r>
          </a:p>
        </p:txBody>
      </p:sp>
      <p:sp>
        <p:nvSpPr>
          <p:cNvPr id="3" name="Content Placeholder 2"/>
          <p:cNvSpPr>
            <a:spLocks noGrp="1"/>
          </p:cNvSpPr>
          <p:nvPr>
            <p:ph idx="1"/>
          </p:nvPr>
        </p:nvSpPr>
        <p:spPr>
          <a:prstGeom prst="rect">
            <a:avLst/>
          </a:prstGeom>
        </p:spPr>
        <p:txBody>
          <a:bodyPr/>
          <a:lstStyle/>
          <a:p>
            <a:r>
              <a:rPr lang="en-US" dirty="0"/>
              <a:t>When oligopolies form a cartel </a:t>
            </a:r>
          </a:p>
          <a:p>
            <a:pPr lvl="1"/>
            <a:r>
              <a:rPr lang="en-US" dirty="0"/>
              <a:t>Hoping to reach the monopoly outcome, they become players in a prisoners’ dilemma</a:t>
            </a:r>
          </a:p>
          <a:p>
            <a:pPr lvl="1"/>
            <a:r>
              <a:rPr lang="en-US" dirty="0"/>
              <a:t>The monopoly outcome is jointly rational, but each firm has an incentive to cheat: self-interest makes it hard to maintain the cooperative outcome with low production, high prices, and monopoly profits</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23</a:t>
            </a:fld>
            <a:endParaRPr lang="en-US"/>
          </a:p>
        </p:txBody>
      </p:sp>
      <p:sp>
        <p:nvSpPr>
          <p:cNvPr id="5" name="Footer Placeholder 4">
            <a:extLst>
              <a:ext uri="{FF2B5EF4-FFF2-40B4-BE49-F238E27FC236}">
                <a16:creationId xmlns:a16="http://schemas.microsoft.com/office/drawing/2014/main" id="{A5BA0609-537E-CD7A-BAE5-1AB3051A5536}"/>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61074188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a:xfrm>
            <a:off x="76200" y="100939"/>
            <a:ext cx="9067800" cy="661061"/>
          </a:xfrm>
        </p:spPr>
        <p:txBody>
          <a:bodyPr>
            <a:normAutofit/>
          </a:bodyPr>
          <a:lstStyle/>
          <a:p>
            <a:r>
              <a:rPr lang="en-US" sz="2800" dirty="0">
                <a:solidFill>
                  <a:srgbClr val="AE1221"/>
                </a:solidFill>
              </a:rPr>
              <a:t>EXAMPLE 3: </a:t>
            </a:r>
            <a:r>
              <a:rPr lang="en-US" sz="2800" dirty="0">
                <a:solidFill>
                  <a:schemeClr val="tx1"/>
                </a:solidFill>
              </a:rPr>
              <a:t>Casey’s and 7-eleven: Prisoners’ Dilemma</a:t>
            </a:r>
          </a:p>
        </p:txBody>
      </p:sp>
      <p:sp>
        <p:nvSpPr>
          <p:cNvPr id="6" name="Slide Number Placeholder 5"/>
          <p:cNvSpPr>
            <a:spLocks noGrp="1"/>
          </p:cNvSpPr>
          <p:nvPr>
            <p:ph type="sldNum" sz="quarter" idx="10"/>
          </p:nvPr>
        </p:nvSpPr>
        <p:spPr/>
        <p:txBody>
          <a:bodyPr/>
          <a:lstStyle/>
          <a:p>
            <a:pPr>
              <a:defRPr/>
            </a:pPr>
            <a:fld id="{2F37425F-5E17-4209-B948-B5CE2119E408}" type="slidenum">
              <a:rPr lang="en-US" smtClean="0"/>
              <a:pPr>
                <a:defRPr/>
              </a:pPr>
              <a:t>24</a:t>
            </a:fld>
            <a:endParaRPr lang="en-US" dirty="0"/>
          </a:p>
        </p:txBody>
      </p:sp>
      <p:grpSp>
        <p:nvGrpSpPr>
          <p:cNvPr id="2" name="Group 3"/>
          <p:cNvGrpSpPr>
            <a:grpSpLocks/>
          </p:cNvGrpSpPr>
          <p:nvPr/>
        </p:nvGrpSpPr>
        <p:grpSpPr bwMode="auto">
          <a:xfrm>
            <a:off x="2336800" y="2660650"/>
            <a:ext cx="6497638" cy="3536950"/>
            <a:chOff x="1522" y="1296"/>
            <a:chExt cx="2421" cy="1658"/>
          </a:xfrm>
        </p:grpSpPr>
        <p:sp>
          <p:nvSpPr>
            <p:cNvPr id="26646" name="AutoShape 4"/>
            <p:cNvSpPr>
              <a:spLocks noChangeArrowheads="1"/>
            </p:cNvSpPr>
            <p:nvPr/>
          </p:nvSpPr>
          <p:spPr bwMode="auto">
            <a:xfrm>
              <a:off x="1527" y="1298"/>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sp>
          <p:nvSpPr>
            <p:cNvPr id="26647" name="AutoShape 5"/>
            <p:cNvSpPr>
              <a:spLocks noChangeArrowheads="1"/>
            </p:cNvSpPr>
            <p:nvPr/>
          </p:nvSpPr>
          <p:spPr bwMode="auto">
            <a:xfrm>
              <a:off x="2737" y="1298"/>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sp>
          <p:nvSpPr>
            <p:cNvPr id="26648" name="AutoShape 6"/>
            <p:cNvSpPr>
              <a:spLocks noChangeArrowheads="1"/>
            </p:cNvSpPr>
            <p:nvPr/>
          </p:nvSpPr>
          <p:spPr bwMode="auto">
            <a:xfrm>
              <a:off x="2735" y="2125"/>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sp>
          <p:nvSpPr>
            <p:cNvPr id="26649" name="AutoShape 7"/>
            <p:cNvSpPr>
              <a:spLocks noChangeArrowheads="1"/>
            </p:cNvSpPr>
            <p:nvPr/>
          </p:nvSpPr>
          <p:spPr bwMode="auto">
            <a:xfrm>
              <a:off x="1527" y="2126"/>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sp>
          <p:nvSpPr>
            <p:cNvPr id="26650" name="AutoShape 8"/>
            <p:cNvSpPr>
              <a:spLocks noChangeArrowheads="1"/>
            </p:cNvSpPr>
            <p:nvPr/>
          </p:nvSpPr>
          <p:spPr bwMode="auto">
            <a:xfrm rot="10800000">
              <a:off x="1522" y="1298"/>
              <a:ext cx="1206" cy="826"/>
            </a:xfrm>
            <a:prstGeom prst="rtTriangle">
              <a:avLst/>
            </a:prstGeom>
            <a:solidFill>
              <a:srgbClr val="D8EEC0"/>
            </a:solidFill>
            <a:ln w="9525">
              <a:noFill/>
              <a:miter lim="800000"/>
              <a:headEnd/>
              <a:tailEnd/>
            </a:ln>
          </p:spPr>
          <p:txBody>
            <a:bodyPr wrap="none" anchor="ctr"/>
            <a:lstStyle/>
            <a:p>
              <a:endParaRPr lang="en-US">
                <a:latin typeface="Arial"/>
                <a:cs typeface="Arial"/>
              </a:endParaRPr>
            </a:p>
          </p:txBody>
        </p:sp>
        <p:sp>
          <p:nvSpPr>
            <p:cNvPr id="26651" name="AutoShape 9"/>
            <p:cNvSpPr>
              <a:spLocks noChangeArrowheads="1"/>
            </p:cNvSpPr>
            <p:nvPr/>
          </p:nvSpPr>
          <p:spPr bwMode="auto">
            <a:xfrm rot="10800000">
              <a:off x="2732" y="1298"/>
              <a:ext cx="1206" cy="826"/>
            </a:xfrm>
            <a:prstGeom prst="rtTriangle">
              <a:avLst/>
            </a:prstGeom>
            <a:solidFill>
              <a:srgbClr val="D8EEC0"/>
            </a:solidFill>
            <a:ln w="9525">
              <a:noFill/>
              <a:miter lim="800000"/>
              <a:headEnd/>
              <a:tailEnd/>
            </a:ln>
          </p:spPr>
          <p:txBody>
            <a:bodyPr wrap="none" anchor="ctr"/>
            <a:lstStyle/>
            <a:p>
              <a:endParaRPr lang="en-US">
                <a:latin typeface="Arial"/>
                <a:cs typeface="Arial"/>
              </a:endParaRPr>
            </a:p>
          </p:txBody>
        </p:sp>
        <p:sp>
          <p:nvSpPr>
            <p:cNvPr id="26652" name="AutoShape 10"/>
            <p:cNvSpPr>
              <a:spLocks noChangeArrowheads="1"/>
            </p:cNvSpPr>
            <p:nvPr/>
          </p:nvSpPr>
          <p:spPr bwMode="auto">
            <a:xfrm rot="10800000">
              <a:off x="2730" y="2125"/>
              <a:ext cx="1206" cy="826"/>
            </a:xfrm>
            <a:prstGeom prst="rtTriangle">
              <a:avLst/>
            </a:prstGeom>
            <a:solidFill>
              <a:srgbClr val="D8EEC0"/>
            </a:solidFill>
            <a:ln w="9525">
              <a:noFill/>
              <a:miter lim="800000"/>
              <a:headEnd/>
              <a:tailEnd/>
            </a:ln>
          </p:spPr>
          <p:txBody>
            <a:bodyPr wrap="none" anchor="ctr"/>
            <a:lstStyle/>
            <a:p>
              <a:endParaRPr lang="en-US">
                <a:latin typeface="Arial"/>
                <a:cs typeface="Arial"/>
              </a:endParaRPr>
            </a:p>
          </p:txBody>
        </p:sp>
        <p:sp>
          <p:nvSpPr>
            <p:cNvPr id="26653" name="AutoShape 11"/>
            <p:cNvSpPr>
              <a:spLocks noChangeArrowheads="1"/>
            </p:cNvSpPr>
            <p:nvPr/>
          </p:nvSpPr>
          <p:spPr bwMode="auto">
            <a:xfrm rot="10800000">
              <a:off x="1522" y="2126"/>
              <a:ext cx="1206" cy="826"/>
            </a:xfrm>
            <a:prstGeom prst="rtTriangle">
              <a:avLst/>
            </a:prstGeom>
            <a:solidFill>
              <a:srgbClr val="D8EEC0"/>
            </a:solidFill>
            <a:ln w="9525">
              <a:noFill/>
              <a:miter lim="800000"/>
              <a:headEnd/>
              <a:tailEnd/>
            </a:ln>
          </p:spPr>
          <p:txBody>
            <a:bodyPr wrap="none" anchor="ctr"/>
            <a:lstStyle/>
            <a:p>
              <a:endParaRPr lang="en-US">
                <a:latin typeface="Arial"/>
                <a:cs typeface="Arial"/>
              </a:endParaRPr>
            </a:p>
          </p:txBody>
        </p:sp>
        <p:grpSp>
          <p:nvGrpSpPr>
            <p:cNvPr id="3" name="Group 12"/>
            <p:cNvGrpSpPr>
              <a:grpSpLocks/>
            </p:cNvGrpSpPr>
            <p:nvPr/>
          </p:nvGrpSpPr>
          <p:grpSpPr bwMode="auto">
            <a:xfrm>
              <a:off x="1524" y="1296"/>
              <a:ext cx="2417" cy="1658"/>
              <a:chOff x="1335" y="1089"/>
              <a:chExt cx="2290" cy="1791"/>
            </a:xfrm>
          </p:grpSpPr>
          <p:sp>
            <p:nvSpPr>
              <p:cNvPr id="26655" name="Rectangle 13"/>
              <p:cNvSpPr>
                <a:spLocks noChangeArrowheads="1"/>
              </p:cNvSpPr>
              <p:nvPr/>
            </p:nvSpPr>
            <p:spPr bwMode="auto">
              <a:xfrm>
                <a:off x="1335" y="1089"/>
                <a:ext cx="2290" cy="1791"/>
              </a:xfrm>
              <a:prstGeom prst="rect">
                <a:avLst/>
              </a:prstGeom>
              <a:noFill/>
              <a:ln w="9525">
                <a:solidFill>
                  <a:schemeClr val="tx1"/>
                </a:solidFill>
                <a:miter lim="800000"/>
                <a:headEnd/>
                <a:tailEnd/>
              </a:ln>
            </p:spPr>
            <p:txBody>
              <a:bodyPr wrap="none" anchor="ctr"/>
              <a:lstStyle/>
              <a:p>
                <a:endParaRPr lang="en-US">
                  <a:latin typeface="Arial"/>
                  <a:cs typeface="Arial"/>
                </a:endParaRPr>
              </a:p>
            </p:txBody>
          </p:sp>
          <p:sp>
            <p:nvSpPr>
              <p:cNvPr id="26656" name="Line 14"/>
              <p:cNvSpPr>
                <a:spLocks noChangeShapeType="1"/>
              </p:cNvSpPr>
              <p:nvPr/>
            </p:nvSpPr>
            <p:spPr bwMode="auto">
              <a:xfrm>
                <a:off x="1335" y="1988"/>
                <a:ext cx="2290" cy="0"/>
              </a:xfrm>
              <a:prstGeom prst="line">
                <a:avLst/>
              </a:prstGeom>
              <a:noFill/>
              <a:ln w="9525">
                <a:solidFill>
                  <a:schemeClr val="tx1"/>
                </a:solidFill>
                <a:round/>
                <a:headEnd/>
                <a:tailEnd/>
              </a:ln>
            </p:spPr>
            <p:txBody>
              <a:bodyPr/>
              <a:lstStyle/>
              <a:p>
                <a:endParaRPr lang="en-US">
                  <a:latin typeface="Arial"/>
                  <a:cs typeface="Arial"/>
                </a:endParaRPr>
              </a:p>
            </p:txBody>
          </p:sp>
          <p:sp>
            <p:nvSpPr>
              <p:cNvPr id="26657" name="Line 15"/>
              <p:cNvSpPr>
                <a:spLocks noChangeShapeType="1"/>
              </p:cNvSpPr>
              <p:nvPr/>
            </p:nvSpPr>
            <p:spPr bwMode="auto">
              <a:xfrm>
                <a:off x="2480" y="1089"/>
                <a:ext cx="0" cy="1791"/>
              </a:xfrm>
              <a:prstGeom prst="line">
                <a:avLst/>
              </a:prstGeom>
              <a:noFill/>
              <a:ln w="9525">
                <a:solidFill>
                  <a:schemeClr val="tx1"/>
                </a:solidFill>
                <a:round/>
                <a:headEnd/>
                <a:tailEnd/>
              </a:ln>
            </p:spPr>
            <p:txBody>
              <a:bodyPr/>
              <a:lstStyle/>
              <a:p>
                <a:endParaRPr lang="en-US">
                  <a:latin typeface="Arial"/>
                  <a:cs typeface="Arial"/>
                </a:endParaRPr>
              </a:p>
            </p:txBody>
          </p:sp>
        </p:grpSp>
      </p:grpSp>
      <p:sp>
        <p:nvSpPr>
          <p:cNvPr id="26630" name="Text Box 16"/>
          <p:cNvSpPr txBox="1">
            <a:spLocks noChangeArrowheads="1"/>
          </p:cNvSpPr>
          <p:nvPr/>
        </p:nvSpPr>
        <p:spPr bwMode="auto">
          <a:xfrm>
            <a:off x="2747963" y="2206625"/>
            <a:ext cx="2516187" cy="369332"/>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Collude </a:t>
            </a:r>
            <a:r>
              <a:rPr lang="en-US" sz="2400" b="1" dirty="0">
                <a:latin typeface="Arial"/>
                <a:cs typeface="Arial"/>
              </a:rPr>
              <a:t>Q</a:t>
            </a:r>
            <a:r>
              <a:rPr lang="en-US" sz="2400" dirty="0">
                <a:latin typeface="Arial"/>
                <a:cs typeface="Arial"/>
              </a:rPr>
              <a:t> = 2,200</a:t>
            </a:r>
          </a:p>
        </p:txBody>
      </p:sp>
      <p:sp>
        <p:nvSpPr>
          <p:cNvPr id="26631" name="Text Box 17"/>
          <p:cNvSpPr txBox="1">
            <a:spLocks noChangeArrowheads="1"/>
          </p:cNvSpPr>
          <p:nvPr/>
        </p:nvSpPr>
        <p:spPr bwMode="auto">
          <a:xfrm>
            <a:off x="5978525" y="2214563"/>
            <a:ext cx="2549525" cy="369332"/>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Cheat </a:t>
            </a:r>
            <a:r>
              <a:rPr lang="en-US" sz="2400" b="1" i="1" dirty="0">
                <a:latin typeface="Arial"/>
                <a:cs typeface="Arial"/>
              </a:rPr>
              <a:t>Q</a:t>
            </a:r>
            <a:r>
              <a:rPr lang="en-US" sz="2400" dirty="0">
                <a:latin typeface="Arial"/>
                <a:cs typeface="Arial"/>
              </a:rPr>
              <a:t> = 3,000</a:t>
            </a:r>
          </a:p>
        </p:txBody>
      </p:sp>
      <p:sp>
        <p:nvSpPr>
          <p:cNvPr id="26632" name="Text Box 18"/>
          <p:cNvSpPr txBox="1">
            <a:spLocks noChangeArrowheads="1"/>
          </p:cNvSpPr>
          <p:nvPr/>
        </p:nvSpPr>
        <p:spPr bwMode="auto">
          <a:xfrm>
            <a:off x="685800" y="2971800"/>
            <a:ext cx="1543049" cy="923330"/>
          </a:xfrm>
          <a:prstGeom prst="rect">
            <a:avLst/>
          </a:prstGeom>
          <a:noFill/>
          <a:ln w="9525">
            <a:noFill/>
            <a:miter lim="800000"/>
            <a:headEnd/>
            <a:tailEnd/>
          </a:ln>
        </p:spPr>
        <p:txBody>
          <a:bodyPr wrap="square" lIns="0" tIns="0" rIns="0" bIns="0">
            <a:spAutoFit/>
          </a:bodyPr>
          <a:lstStyle/>
          <a:p>
            <a:pPr algn="r">
              <a:spcBef>
                <a:spcPct val="50000"/>
              </a:spcBef>
            </a:pPr>
            <a:r>
              <a:rPr lang="en-US" sz="2400" dirty="0">
                <a:latin typeface="Arial"/>
                <a:cs typeface="Arial"/>
              </a:rPr>
              <a:t>Collude </a:t>
            </a:r>
          </a:p>
          <a:p>
            <a:pPr algn="r">
              <a:spcBef>
                <a:spcPct val="50000"/>
              </a:spcBef>
            </a:pPr>
            <a:r>
              <a:rPr lang="en-US" sz="2400" b="1" i="1" dirty="0">
                <a:latin typeface="Arial"/>
                <a:cs typeface="Arial"/>
              </a:rPr>
              <a:t>Q</a:t>
            </a:r>
            <a:r>
              <a:rPr lang="en-US" sz="2400" dirty="0">
                <a:latin typeface="Arial"/>
                <a:cs typeface="Arial"/>
              </a:rPr>
              <a:t> = 2,200</a:t>
            </a:r>
          </a:p>
        </p:txBody>
      </p:sp>
      <p:sp>
        <p:nvSpPr>
          <p:cNvPr id="26633" name="Text Box 19"/>
          <p:cNvSpPr txBox="1">
            <a:spLocks noChangeArrowheads="1"/>
          </p:cNvSpPr>
          <p:nvPr/>
        </p:nvSpPr>
        <p:spPr bwMode="auto">
          <a:xfrm>
            <a:off x="685800" y="5076825"/>
            <a:ext cx="1536701" cy="923330"/>
          </a:xfrm>
          <a:prstGeom prst="rect">
            <a:avLst/>
          </a:prstGeom>
          <a:noFill/>
          <a:ln w="9525">
            <a:noFill/>
            <a:miter lim="800000"/>
            <a:headEnd/>
            <a:tailEnd/>
          </a:ln>
        </p:spPr>
        <p:txBody>
          <a:bodyPr wrap="square" lIns="0" tIns="0" rIns="0" bIns="0">
            <a:spAutoFit/>
          </a:bodyPr>
          <a:lstStyle/>
          <a:p>
            <a:pPr algn="r">
              <a:spcBef>
                <a:spcPct val="50000"/>
              </a:spcBef>
            </a:pPr>
            <a:r>
              <a:rPr lang="en-US" sz="2400" dirty="0">
                <a:latin typeface="Arial"/>
                <a:cs typeface="Arial"/>
              </a:rPr>
              <a:t>Cheat </a:t>
            </a:r>
          </a:p>
          <a:p>
            <a:pPr algn="r">
              <a:spcBef>
                <a:spcPct val="50000"/>
              </a:spcBef>
            </a:pPr>
            <a:r>
              <a:rPr lang="en-US" sz="2400" b="1" i="1" dirty="0">
                <a:latin typeface="Arial"/>
                <a:cs typeface="Arial"/>
              </a:rPr>
              <a:t>Q</a:t>
            </a:r>
            <a:r>
              <a:rPr lang="en-US" sz="2400" dirty="0">
                <a:latin typeface="Arial"/>
                <a:cs typeface="Arial"/>
              </a:rPr>
              <a:t> = 3,000</a:t>
            </a:r>
          </a:p>
        </p:txBody>
      </p:sp>
      <p:sp>
        <p:nvSpPr>
          <p:cNvPr id="26634" name="Text Box 20"/>
          <p:cNvSpPr txBox="1">
            <a:spLocks noChangeArrowheads="1"/>
          </p:cNvSpPr>
          <p:nvPr/>
        </p:nvSpPr>
        <p:spPr bwMode="auto">
          <a:xfrm>
            <a:off x="4765675" y="1604963"/>
            <a:ext cx="1597025" cy="553998"/>
          </a:xfrm>
          <a:prstGeom prst="rect">
            <a:avLst/>
          </a:prstGeom>
          <a:solidFill>
            <a:srgbClr val="D8EEC0"/>
          </a:solidFill>
          <a:ln w="9525">
            <a:solidFill>
              <a:srgbClr val="D8EEC0"/>
            </a:solidFill>
            <a:miter lim="800000"/>
            <a:headEnd/>
            <a:tailEnd/>
          </a:ln>
        </p:spPr>
        <p:txBody>
          <a:bodyPr tIns="91440" bIns="91440">
            <a:spAutoFit/>
          </a:bodyPr>
          <a:lstStyle/>
          <a:p>
            <a:pPr algn="ctr">
              <a:spcBef>
                <a:spcPct val="50000"/>
              </a:spcBef>
            </a:pPr>
            <a:r>
              <a:rPr lang="en-US" sz="2400" b="1" dirty="0">
                <a:latin typeface="Arial"/>
                <a:cs typeface="Arial"/>
              </a:rPr>
              <a:t>7-eleven</a:t>
            </a:r>
          </a:p>
        </p:txBody>
      </p:sp>
      <p:sp>
        <p:nvSpPr>
          <p:cNvPr id="26635" name="Text Box 21"/>
          <p:cNvSpPr txBox="1">
            <a:spLocks noChangeArrowheads="1"/>
          </p:cNvSpPr>
          <p:nvPr/>
        </p:nvSpPr>
        <p:spPr bwMode="auto">
          <a:xfrm>
            <a:off x="479425" y="4154488"/>
            <a:ext cx="1368425" cy="558800"/>
          </a:xfrm>
          <a:prstGeom prst="rect">
            <a:avLst/>
          </a:prstGeom>
          <a:solidFill>
            <a:srgbClr val="FFCCCC"/>
          </a:solidFill>
          <a:ln w="9525">
            <a:solidFill>
              <a:srgbClr val="FFCCCC"/>
            </a:solidFill>
            <a:miter lim="800000"/>
            <a:headEnd/>
            <a:tailEnd/>
          </a:ln>
        </p:spPr>
        <p:txBody>
          <a:bodyPr tIns="91440" bIns="91440">
            <a:spAutoFit/>
          </a:bodyPr>
          <a:lstStyle/>
          <a:p>
            <a:pPr>
              <a:spcBef>
                <a:spcPct val="50000"/>
              </a:spcBef>
            </a:pPr>
            <a:r>
              <a:rPr lang="en-US" sz="2400" b="1" dirty="0">
                <a:latin typeface="Arial"/>
                <a:cs typeface="Arial"/>
              </a:rPr>
              <a:t>Casey’s</a:t>
            </a:r>
          </a:p>
        </p:txBody>
      </p:sp>
      <p:sp>
        <p:nvSpPr>
          <p:cNvPr id="26636" name="Text Box 22"/>
          <p:cNvSpPr txBox="1">
            <a:spLocks noChangeArrowheads="1"/>
          </p:cNvSpPr>
          <p:nvPr/>
        </p:nvSpPr>
        <p:spPr bwMode="auto">
          <a:xfrm>
            <a:off x="3232150" y="2693988"/>
            <a:ext cx="2330450" cy="800219"/>
          </a:xfrm>
          <a:prstGeom prst="rect">
            <a:avLst/>
          </a:prstGeom>
          <a:noFill/>
          <a:ln w="9525">
            <a:noFill/>
            <a:miter lim="800000"/>
            <a:headEnd/>
            <a:tailEnd/>
          </a:ln>
        </p:spPr>
        <p:txBody>
          <a:bodyPr wrap="square">
            <a:spAutoFit/>
          </a:bodyPr>
          <a:lstStyle/>
          <a:p>
            <a:pPr algn="r">
              <a:spcBef>
                <a:spcPct val="50000"/>
              </a:spcBef>
            </a:pPr>
            <a:r>
              <a:rPr lang="en-US" sz="2300" dirty="0">
                <a:latin typeface="Arial"/>
                <a:cs typeface="Arial"/>
              </a:rPr>
              <a:t>7-eleven’s profit = $13,200</a:t>
            </a:r>
          </a:p>
        </p:txBody>
      </p:sp>
      <p:sp>
        <p:nvSpPr>
          <p:cNvPr id="26637" name="Text Box 23"/>
          <p:cNvSpPr txBox="1">
            <a:spLocks noChangeArrowheads="1"/>
          </p:cNvSpPr>
          <p:nvPr/>
        </p:nvSpPr>
        <p:spPr bwMode="auto">
          <a:xfrm>
            <a:off x="2368550" y="3622675"/>
            <a:ext cx="2059781" cy="800219"/>
          </a:xfrm>
          <a:prstGeom prst="rect">
            <a:avLst/>
          </a:prstGeom>
          <a:noFill/>
          <a:ln w="9525">
            <a:noFill/>
            <a:miter lim="800000"/>
            <a:headEnd/>
            <a:tailEnd/>
          </a:ln>
        </p:spPr>
        <p:txBody>
          <a:bodyPr wrap="square">
            <a:spAutoFit/>
          </a:bodyPr>
          <a:lstStyle/>
          <a:p>
            <a:pPr>
              <a:spcBef>
                <a:spcPct val="50000"/>
              </a:spcBef>
            </a:pPr>
            <a:r>
              <a:rPr lang="en-US" sz="2300" dirty="0">
                <a:latin typeface="Arial"/>
                <a:cs typeface="Arial"/>
              </a:rPr>
              <a:t>Casey’s profit = $13,200</a:t>
            </a:r>
          </a:p>
        </p:txBody>
      </p:sp>
      <p:sp>
        <p:nvSpPr>
          <p:cNvPr id="26638" name="Text Box 24"/>
          <p:cNvSpPr txBox="1">
            <a:spLocks noChangeArrowheads="1"/>
          </p:cNvSpPr>
          <p:nvPr/>
        </p:nvSpPr>
        <p:spPr bwMode="auto">
          <a:xfrm>
            <a:off x="6477000" y="2693988"/>
            <a:ext cx="2343150" cy="800219"/>
          </a:xfrm>
          <a:prstGeom prst="rect">
            <a:avLst/>
          </a:prstGeom>
          <a:noFill/>
          <a:ln w="9525">
            <a:noFill/>
            <a:miter lim="800000"/>
            <a:headEnd/>
            <a:tailEnd/>
          </a:ln>
        </p:spPr>
        <p:txBody>
          <a:bodyPr wrap="square">
            <a:spAutoFit/>
          </a:bodyPr>
          <a:lstStyle/>
          <a:p>
            <a:pPr algn="r">
              <a:spcBef>
                <a:spcPct val="50000"/>
              </a:spcBef>
            </a:pPr>
            <a:r>
              <a:rPr lang="en-US" sz="2300" dirty="0">
                <a:cs typeface="Arial"/>
              </a:rPr>
              <a:t>7-eleven’s </a:t>
            </a:r>
            <a:r>
              <a:rPr lang="en-US" sz="2300" dirty="0">
                <a:latin typeface="Arial"/>
                <a:cs typeface="Arial"/>
              </a:rPr>
              <a:t>profit = $15,000</a:t>
            </a:r>
          </a:p>
        </p:txBody>
      </p:sp>
      <p:sp>
        <p:nvSpPr>
          <p:cNvPr id="26639" name="Text Box 25"/>
          <p:cNvSpPr txBox="1">
            <a:spLocks noChangeArrowheads="1"/>
          </p:cNvSpPr>
          <p:nvPr/>
        </p:nvSpPr>
        <p:spPr bwMode="auto">
          <a:xfrm>
            <a:off x="6402387" y="4452938"/>
            <a:ext cx="2436813" cy="800219"/>
          </a:xfrm>
          <a:prstGeom prst="rect">
            <a:avLst/>
          </a:prstGeom>
          <a:noFill/>
          <a:ln w="9525">
            <a:noFill/>
            <a:miter lim="800000"/>
            <a:headEnd/>
            <a:tailEnd/>
          </a:ln>
        </p:spPr>
        <p:txBody>
          <a:bodyPr wrap="square">
            <a:spAutoFit/>
          </a:bodyPr>
          <a:lstStyle/>
          <a:p>
            <a:pPr algn="r">
              <a:spcBef>
                <a:spcPct val="50000"/>
              </a:spcBef>
            </a:pPr>
            <a:r>
              <a:rPr lang="en-US" sz="2300" dirty="0">
                <a:cs typeface="Arial"/>
              </a:rPr>
              <a:t>7-eleven’s </a:t>
            </a:r>
            <a:r>
              <a:rPr lang="en-US" sz="2300" dirty="0">
                <a:latin typeface="Arial"/>
                <a:cs typeface="Arial"/>
              </a:rPr>
              <a:t>profit = $12,000</a:t>
            </a:r>
          </a:p>
        </p:txBody>
      </p:sp>
      <p:sp>
        <p:nvSpPr>
          <p:cNvPr id="26640" name="Text Box 26"/>
          <p:cNvSpPr txBox="1">
            <a:spLocks noChangeArrowheads="1"/>
          </p:cNvSpPr>
          <p:nvPr/>
        </p:nvSpPr>
        <p:spPr bwMode="auto">
          <a:xfrm>
            <a:off x="3276601" y="4440238"/>
            <a:ext cx="2305049" cy="800219"/>
          </a:xfrm>
          <a:prstGeom prst="rect">
            <a:avLst/>
          </a:prstGeom>
          <a:noFill/>
          <a:ln w="9525">
            <a:noFill/>
            <a:miter lim="800000"/>
            <a:headEnd/>
            <a:tailEnd/>
          </a:ln>
        </p:spPr>
        <p:txBody>
          <a:bodyPr wrap="square">
            <a:spAutoFit/>
          </a:bodyPr>
          <a:lstStyle/>
          <a:p>
            <a:pPr algn="r">
              <a:spcBef>
                <a:spcPct val="50000"/>
              </a:spcBef>
            </a:pPr>
            <a:r>
              <a:rPr lang="en-US" sz="2300" dirty="0">
                <a:cs typeface="Arial"/>
              </a:rPr>
              <a:t>7-eleven’s </a:t>
            </a:r>
            <a:r>
              <a:rPr lang="en-US" sz="2300" dirty="0">
                <a:latin typeface="Arial"/>
                <a:cs typeface="Arial"/>
              </a:rPr>
              <a:t>profit = $11,000</a:t>
            </a:r>
          </a:p>
        </p:txBody>
      </p:sp>
      <p:sp>
        <p:nvSpPr>
          <p:cNvPr id="26641" name="Text Box 27"/>
          <p:cNvSpPr txBox="1">
            <a:spLocks noChangeArrowheads="1"/>
          </p:cNvSpPr>
          <p:nvPr/>
        </p:nvSpPr>
        <p:spPr bwMode="auto">
          <a:xfrm>
            <a:off x="5603875" y="3625850"/>
            <a:ext cx="1977232" cy="800219"/>
          </a:xfrm>
          <a:prstGeom prst="rect">
            <a:avLst/>
          </a:prstGeom>
          <a:noFill/>
          <a:ln w="9525">
            <a:noFill/>
            <a:miter lim="800000"/>
            <a:headEnd/>
            <a:tailEnd/>
          </a:ln>
        </p:spPr>
        <p:txBody>
          <a:bodyPr wrap="square">
            <a:spAutoFit/>
          </a:bodyPr>
          <a:lstStyle/>
          <a:p>
            <a:pPr>
              <a:spcBef>
                <a:spcPct val="50000"/>
              </a:spcBef>
            </a:pPr>
            <a:r>
              <a:rPr lang="en-US" sz="2300" dirty="0">
                <a:cs typeface="Arial"/>
              </a:rPr>
              <a:t>Casey’s profit </a:t>
            </a:r>
            <a:r>
              <a:rPr lang="en-US" sz="2300" dirty="0">
                <a:latin typeface="Arial"/>
                <a:cs typeface="Arial"/>
              </a:rPr>
              <a:t>= $11,000</a:t>
            </a:r>
          </a:p>
        </p:txBody>
      </p:sp>
      <p:sp>
        <p:nvSpPr>
          <p:cNvPr id="26642" name="Text Box 28"/>
          <p:cNvSpPr txBox="1">
            <a:spLocks noChangeArrowheads="1"/>
          </p:cNvSpPr>
          <p:nvPr/>
        </p:nvSpPr>
        <p:spPr bwMode="auto">
          <a:xfrm>
            <a:off x="5603875" y="5351463"/>
            <a:ext cx="1977232" cy="800219"/>
          </a:xfrm>
          <a:prstGeom prst="rect">
            <a:avLst/>
          </a:prstGeom>
          <a:noFill/>
          <a:ln w="9525">
            <a:noFill/>
            <a:miter lim="800000"/>
            <a:headEnd/>
            <a:tailEnd/>
          </a:ln>
        </p:spPr>
        <p:txBody>
          <a:bodyPr wrap="square">
            <a:spAutoFit/>
          </a:bodyPr>
          <a:lstStyle/>
          <a:p>
            <a:pPr>
              <a:spcBef>
                <a:spcPct val="50000"/>
              </a:spcBef>
            </a:pPr>
            <a:r>
              <a:rPr lang="en-US" sz="2300" dirty="0">
                <a:cs typeface="Arial"/>
              </a:rPr>
              <a:t>Casey’s profit </a:t>
            </a:r>
            <a:r>
              <a:rPr lang="en-US" sz="2300" dirty="0">
                <a:latin typeface="Arial"/>
                <a:cs typeface="Arial"/>
              </a:rPr>
              <a:t>= $12,000</a:t>
            </a:r>
          </a:p>
        </p:txBody>
      </p:sp>
      <p:sp>
        <p:nvSpPr>
          <p:cNvPr id="26643" name="Text Box 29"/>
          <p:cNvSpPr txBox="1">
            <a:spLocks noChangeArrowheads="1"/>
          </p:cNvSpPr>
          <p:nvPr/>
        </p:nvSpPr>
        <p:spPr bwMode="auto">
          <a:xfrm>
            <a:off x="2378074" y="5359400"/>
            <a:ext cx="2135188" cy="800219"/>
          </a:xfrm>
          <a:prstGeom prst="rect">
            <a:avLst/>
          </a:prstGeom>
          <a:noFill/>
          <a:ln w="9525">
            <a:noFill/>
            <a:miter lim="800000"/>
            <a:headEnd/>
            <a:tailEnd/>
          </a:ln>
        </p:spPr>
        <p:txBody>
          <a:bodyPr wrap="square">
            <a:spAutoFit/>
          </a:bodyPr>
          <a:lstStyle/>
          <a:p>
            <a:pPr>
              <a:spcBef>
                <a:spcPct val="50000"/>
              </a:spcBef>
            </a:pPr>
            <a:r>
              <a:rPr lang="en-US" sz="2300" dirty="0">
                <a:cs typeface="Arial"/>
              </a:rPr>
              <a:t>Casey’s </a:t>
            </a:r>
            <a:r>
              <a:rPr lang="en-US" sz="2300" dirty="0">
                <a:latin typeface="Arial"/>
                <a:cs typeface="Arial"/>
              </a:rPr>
              <a:t>profit  = $15,000</a:t>
            </a:r>
          </a:p>
        </p:txBody>
      </p:sp>
      <p:sp>
        <p:nvSpPr>
          <p:cNvPr id="198686" name="Text Box 30"/>
          <p:cNvSpPr txBox="1">
            <a:spLocks noChangeArrowheads="1"/>
          </p:cNvSpPr>
          <p:nvPr/>
        </p:nvSpPr>
        <p:spPr bwMode="auto">
          <a:xfrm>
            <a:off x="152400" y="944562"/>
            <a:ext cx="8375650" cy="884238"/>
          </a:xfrm>
          <a:prstGeom prst="rect">
            <a:avLst/>
          </a:prstGeom>
          <a:noFill/>
          <a:ln w="9525">
            <a:noFill/>
            <a:miter lim="800000"/>
            <a:headEnd/>
            <a:tailEnd/>
          </a:ln>
        </p:spPr>
        <p:txBody>
          <a:bodyPr/>
          <a:lstStyle/>
          <a:p>
            <a:pPr>
              <a:spcBef>
                <a:spcPct val="50000"/>
              </a:spcBef>
            </a:pPr>
            <a:r>
              <a:rPr lang="en-US" sz="2800" dirty="0">
                <a:solidFill>
                  <a:srgbClr val="4E519E"/>
                </a:solidFill>
                <a:latin typeface="Arial"/>
                <a:cs typeface="Arial"/>
              </a:rPr>
              <a:t>Each firm’s dominant strategy:  cheat and produce </a:t>
            </a:r>
            <a:r>
              <a:rPr lang="en-US" sz="2800" b="1" i="1" dirty="0">
                <a:solidFill>
                  <a:srgbClr val="4E519E"/>
                </a:solidFill>
                <a:latin typeface="Arial"/>
                <a:cs typeface="Arial"/>
              </a:rPr>
              <a:t>Q</a:t>
            </a:r>
            <a:r>
              <a:rPr lang="en-US" sz="2800" dirty="0">
                <a:solidFill>
                  <a:srgbClr val="4E519E"/>
                </a:solidFill>
                <a:latin typeface="Arial"/>
                <a:cs typeface="Arial"/>
              </a:rPr>
              <a:t> = 3,000.</a:t>
            </a:r>
          </a:p>
        </p:txBody>
      </p:sp>
      <p:sp>
        <p:nvSpPr>
          <p:cNvPr id="26645"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36" name="Rectangle 35"/>
          <p:cNvSpPr>
            <a:spLocks noChangeArrowheads="1"/>
          </p:cNvSpPr>
          <p:nvPr/>
        </p:nvSpPr>
        <p:spPr bwMode="auto">
          <a:xfrm>
            <a:off x="5607050" y="4419600"/>
            <a:ext cx="3232150" cy="1760537"/>
          </a:xfrm>
          <a:prstGeom prst="rect">
            <a:avLst/>
          </a:prstGeom>
          <a:noFill/>
          <a:ln w="47625" cmpd="sng">
            <a:solidFill>
              <a:srgbClr val="FF0000"/>
            </a:solidFill>
            <a:miter lim="800000"/>
            <a:headEnd/>
            <a:tailEnd/>
          </a:ln>
        </p:spPr>
        <p:txBody>
          <a:bodyPr wrap="none" anchor="ctr"/>
          <a:lstStyle/>
          <a:p>
            <a:endParaRPr lang="en-US">
              <a:latin typeface="Arial"/>
              <a:cs typeface="Arial"/>
            </a:endParaRPr>
          </a:p>
        </p:txBody>
      </p:sp>
      <p:sp>
        <p:nvSpPr>
          <p:cNvPr id="4" name="Footer Placeholder 3">
            <a:extLst>
              <a:ext uri="{FF2B5EF4-FFF2-40B4-BE49-F238E27FC236}">
                <a16:creationId xmlns:a16="http://schemas.microsoft.com/office/drawing/2014/main" id="{F75910A5-095D-2A2B-3408-12776B91C23D}"/>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6284228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8686"/>
                                        </p:tgtEl>
                                        <p:attrNameLst>
                                          <p:attrName>style.visibility</p:attrName>
                                        </p:attrNameLst>
                                      </p:cBhvr>
                                      <p:to>
                                        <p:strVal val="visible"/>
                                      </p:to>
                                    </p:set>
                                    <p:animEffect transition="in" filter="fade">
                                      <p:cBhvr>
                                        <p:cTn id="7" dur="500"/>
                                        <p:tgtEl>
                                          <p:spTgt spid="19868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86" grpId="0"/>
      <p:bldP spid="3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Other examples of the prisoners’ dilemma – 1 </a:t>
            </a:r>
          </a:p>
        </p:txBody>
      </p:sp>
      <p:sp>
        <p:nvSpPr>
          <p:cNvPr id="3" name="Content Placeholder 2"/>
          <p:cNvSpPr>
            <a:spLocks noGrp="1"/>
          </p:cNvSpPr>
          <p:nvPr>
            <p:ph idx="1"/>
          </p:nvPr>
        </p:nvSpPr>
        <p:spPr>
          <a:prstGeom prst="rect">
            <a:avLst/>
          </a:prstGeom>
        </p:spPr>
        <p:txBody>
          <a:bodyPr/>
          <a:lstStyle/>
          <a:p>
            <a:r>
              <a:rPr lang="en-US" sz="3000" u="sng" dirty="0"/>
              <a:t>Ad Wars</a:t>
            </a:r>
          </a:p>
          <a:p>
            <a:pPr lvl="1"/>
            <a:r>
              <a:rPr lang="en-US" sz="2800" dirty="0"/>
              <a:t>Two firms spend millions on TV ads to steal business from each other.  </a:t>
            </a:r>
          </a:p>
          <a:p>
            <a:pPr lvl="1"/>
            <a:r>
              <a:rPr lang="en-US" sz="2800" dirty="0">
                <a:solidFill>
                  <a:srgbClr val="4E519E"/>
                </a:solidFill>
              </a:rPr>
              <a:t>Each firm’s ad cancels out the effects of the other, and both firms’ profits fall by the cost of the ads.  </a:t>
            </a:r>
          </a:p>
          <a:p>
            <a:r>
              <a:rPr lang="en-US" sz="3000" u="sng" dirty="0"/>
              <a:t>Organization of Petroleum Exporting Countries </a:t>
            </a:r>
          </a:p>
          <a:p>
            <a:pPr lvl="1"/>
            <a:r>
              <a:rPr lang="en-US" sz="2800" dirty="0"/>
              <a:t>Member countries try to act like a cartel, agree to limit oil production to boost prices and profits.   </a:t>
            </a:r>
          </a:p>
          <a:p>
            <a:pPr lvl="1"/>
            <a:r>
              <a:rPr lang="en-US" sz="2800" dirty="0">
                <a:solidFill>
                  <a:srgbClr val="4E519E"/>
                </a:solidFill>
              </a:rPr>
              <a:t>But agreements sometimes break down when individual countries renege.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25</a:t>
            </a:fld>
            <a:endParaRPr lang="en-US"/>
          </a:p>
        </p:txBody>
      </p:sp>
      <p:sp>
        <p:nvSpPr>
          <p:cNvPr id="5" name="Footer Placeholder 4">
            <a:extLst>
              <a:ext uri="{FF2B5EF4-FFF2-40B4-BE49-F238E27FC236}">
                <a16:creationId xmlns:a16="http://schemas.microsoft.com/office/drawing/2014/main" id="{ABE8A183-8A4B-09D1-EF46-C637195294EC}"/>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89590720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Other examples of the prisoners’ dilemma – 2 </a:t>
            </a:r>
          </a:p>
        </p:txBody>
      </p:sp>
      <p:sp>
        <p:nvSpPr>
          <p:cNvPr id="3" name="Content Placeholder 2"/>
          <p:cNvSpPr>
            <a:spLocks noGrp="1"/>
          </p:cNvSpPr>
          <p:nvPr>
            <p:ph idx="1"/>
          </p:nvPr>
        </p:nvSpPr>
        <p:spPr>
          <a:prstGeom prst="rect">
            <a:avLst/>
          </a:prstGeom>
        </p:spPr>
        <p:txBody>
          <a:bodyPr/>
          <a:lstStyle/>
          <a:p>
            <a:r>
              <a:rPr lang="en-US" sz="3200" u="sng" dirty="0"/>
              <a:t>Arms race between military superpowers </a:t>
            </a:r>
            <a:r>
              <a:rPr lang="en-US" sz="3200" dirty="0"/>
              <a:t> </a:t>
            </a:r>
          </a:p>
          <a:p>
            <a:pPr lvl="1"/>
            <a:r>
              <a:rPr lang="en-US" sz="3000" dirty="0">
                <a:solidFill>
                  <a:srgbClr val="4E519E"/>
                </a:solidFill>
              </a:rPr>
              <a:t>Each country would be better off if both disarm, but each has a dominant strategy of arming.  </a:t>
            </a:r>
          </a:p>
          <a:p>
            <a:r>
              <a:rPr lang="en-US" sz="3200" u="sng" dirty="0"/>
              <a:t>Common resources </a:t>
            </a:r>
          </a:p>
          <a:p>
            <a:pPr lvl="1"/>
            <a:r>
              <a:rPr lang="en-US" sz="3000" dirty="0">
                <a:solidFill>
                  <a:srgbClr val="4E519E"/>
                </a:solidFill>
              </a:rPr>
              <a:t>All would be better off if everyone conserved common resources, but each person’s dominant strategy is overusing the resources.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26</a:t>
            </a:fld>
            <a:endParaRPr lang="en-US"/>
          </a:p>
        </p:txBody>
      </p:sp>
      <p:sp>
        <p:nvSpPr>
          <p:cNvPr id="5" name="Footer Placeholder 4">
            <a:extLst>
              <a:ext uri="{FF2B5EF4-FFF2-40B4-BE49-F238E27FC236}">
                <a16:creationId xmlns:a16="http://schemas.microsoft.com/office/drawing/2014/main" id="{A9744ADD-E4E6-BFB3-5F30-6AFA4B1C359F}"/>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12278274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wrap="square" anchor="ctr"/>
          <a:lstStyle/>
          <a:p>
            <a:r>
              <a:rPr lang="en-US" altLang="en-US" dirty="0"/>
              <a:t>Welfare of Society</a:t>
            </a:r>
          </a:p>
        </p:txBody>
      </p:sp>
      <p:sp>
        <p:nvSpPr>
          <p:cNvPr id="36867" name="Content Placeholder 2"/>
          <p:cNvSpPr>
            <a:spLocks noGrp="1"/>
          </p:cNvSpPr>
          <p:nvPr>
            <p:ph idx="1"/>
          </p:nvPr>
        </p:nvSpPr>
        <p:spPr>
          <a:prstGeom prst="rect">
            <a:avLst/>
          </a:prstGeom>
        </p:spPr>
        <p:txBody>
          <a:bodyPr/>
          <a:lstStyle/>
          <a:p>
            <a:r>
              <a:rPr lang="en-US" altLang="en-US" dirty="0"/>
              <a:t>Noncooperative oligopoly equilibrium </a:t>
            </a:r>
          </a:p>
          <a:p>
            <a:pPr lvl="1"/>
            <a:r>
              <a:rPr lang="en-US" altLang="en-US" dirty="0"/>
              <a:t>May be bad for oligopolists</a:t>
            </a:r>
          </a:p>
          <a:p>
            <a:pPr lvl="2"/>
            <a:r>
              <a:rPr lang="en-US" altLang="en-US" dirty="0"/>
              <a:t>Prevents them from achieving monopoly profits</a:t>
            </a:r>
          </a:p>
          <a:p>
            <a:pPr lvl="1"/>
            <a:r>
              <a:rPr lang="en-US" altLang="en-US" dirty="0"/>
              <a:t>May be bad for society  </a:t>
            </a:r>
          </a:p>
          <a:p>
            <a:pPr lvl="2"/>
            <a:r>
              <a:rPr lang="en-US" altLang="en-US" dirty="0"/>
              <a:t>Examples: Arms race game, Common resource game</a:t>
            </a:r>
          </a:p>
          <a:p>
            <a:pPr lvl="1"/>
            <a:r>
              <a:rPr lang="en-US" altLang="en-US" dirty="0"/>
              <a:t>May be good for society</a:t>
            </a:r>
          </a:p>
          <a:p>
            <a:pPr lvl="2"/>
            <a:r>
              <a:rPr lang="en-US" altLang="en-US" dirty="0"/>
              <a:t>Quantity and price – closer to optimal level</a:t>
            </a:r>
          </a:p>
        </p:txBody>
      </p:sp>
      <p:sp>
        <p:nvSpPr>
          <p:cNvPr id="3686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339400F5-AB92-4E2C-9E91-A6FEAB00B458}" type="slidenum">
              <a:rPr lang="en-US" altLang="en-US" sz="1200" smtClean="0">
                <a:solidFill>
                  <a:srgbClr val="002060"/>
                </a:solidFill>
              </a:rPr>
              <a:pPr eaLnBrk="1" hangingPunct="1"/>
              <a:t>27</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47912ED3-5D50-D4D1-C4CB-4F733DB84E87}"/>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79563118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3: </a:t>
            </a:r>
            <a:r>
              <a:rPr lang="en-US" dirty="0">
                <a:solidFill>
                  <a:schemeClr val="tx1"/>
                </a:solidFill>
              </a:rPr>
              <a:t>Go fish! On Lake Michigan</a:t>
            </a:r>
          </a:p>
        </p:txBody>
      </p:sp>
      <p:sp>
        <p:nvSpPr>
          <p:cNvPr id="3" name="Content Placeholder 2"/>
          <p:cNvSpPr>
            <a:spLocks noGrp="1"/>
          </p:cNvSpPr>
          <p:nvPr>
            <p:ph idx="1"/>
          </p:nvPr>
        </p:nvSpPr>
        <p:spPr>
          <a:xfrm>
            <a:off x="228601" y="914400"/>
            <a:ext cx="8763000" cy="5534025"/>
          </a:xfrm>
        </p:spPr>
        <p:txBody>
          <a:bodyPr>
            <a:noAutofit/>
          </a:bodyPr>
          <a:lstStyle/>
          <a:p>
            <a:pPr marL="0" indent="0">
              <a:buNone/>
            </a:pPr>
            <a:r>
              <a:rPr lang="en-US" sz="2600" dirty="0">
                <a:solidFill>
                  <a:srgbClr val="4E519E"/>
                </a:solidFill>
              </a:rPr>
              <a:t>Assume there are only two companies that own the entire commercial fishing fleet, </a:t>
            </a:r>
            <a:r>
              <a:rPr lang="en-US" sz="2600" u="sng" dirty="0">
                <a:solidFill>
                  <a:srgbClr val="4E519E"/>
                </a:solidFill>
              </a:rPr>
              <a:t>The Joy of Fishing </a:t>
            </a:r>
            <a:r>
              <a:rPr lang="en-US" sz="2600" dirty="0">
                <a:solidFill>
                  <a:srgbClr val="4E519E"/>
                </a:solidFill>
              </a:rPr>
              <a:t>and </a:t>
            </a:r>
            <a:r>
              <a:rPr lang="en-US" sz="2600" u="sng" dirty="0">
                <a:solidFill>
                  <a:srgbClr val="4E519E"/>
                </a:solidFill>
              </a:rPr>
              <a:t>The Singing Fish</a:t>
            </a:r>
            <a:r>
              <a:rPr lang="en-US" sz="2600" dirty="0">
                <a:solidFill>
                  <a:srgbClr val="4E519E"/>
                </a:solidFill>
              </a:rPr>
              <a:t>, and there are no restrictions on commercial fishing on Lake Michigan.</a:t>
            </a:r>
          </a:p>
          <a:p>
            <a:r>
              <a:rPr lang="en-US" sz="2600" dirty="0">
                <a:solidFill>
                  <a:srgbClr val="4E519E"/>
                </a:solidFill>
              </a:rPr>
              <a:t>If both choose to catch a small quantity, each earns $300 million profit. If both choose to catch a larger quantity, each earns $250 million profit</a:t>
            </a:r>
          </a:p>
          <a:p>
            <a:r>
              <a:rPr lang="en-US" sz="2600" dirty="0">
                <a:solidFill>
                  <a:srgbClr val="4E519E"/>
                </a:solidFill>
              </a:rPr>
              <a:t>If one company chooses to catch a small quantity but the other chooses a large quantity, the one choosing the small quantity earns $150 million, and the other earns $400 million profit</a:t>
            </a:r>
          </a:p>
          <a:p>
            <a:pPr>
              <a:buClr>
                <a:srgbClr val="C00000"/>
              </a:buClr>
            </a:pPr>
            <a:r>
              <a:rPr lang="en-US" sz="2600" dirty="0"/>
              <a:t>What is the colluding outcome? What is the Nash equilibrium?</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28</a:t>
            </a:fld>
            <a:endParaRPr lang="en-US"/>
          </a:p>
        </p:txBody>
      </p:sp>
      <p:sp>
        <p:nvSpPr>
          <p:cNvPr id="5" name="Footer Placeholder 4">
            <a:extLst>
              <a:ext uri="{FF2B5EF4-FFF2-40B4-BE49-F238E27FC236}">
                <a16:creationId xmlns:a16="http://schemas.microsoft.com/office/drawing/2014/main" id="{821DF760-79DF-89FD-545E-9B45C5D3BDFC}"/>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12592716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3: Answers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29</a:t>
            </a:fld>
            <a:endParaRPr lang="en-US"/>
          </a:p>
        </p:txBody>
      </p:sp>
      <p:sp>
        <p:nvSpPr>
          <p:cNvPr id="6" name="Content Placeholder 5"/>
          <p:cNvSpPr>
            <a:spLocks noGrp="1"/>
          </p:cNvSpPr>
          <p:nvPr>
            <p:ph idx="12"/>
          </p:nvPr>
        </p:nvSpPr>
        <p:spPr>
          <a:xfrm>
            <a:off x="228600" y="893763"/>
            <a:ext cx="8518947" cy="1480066"/>
          </a:xfrm>
        </p:spPr>
        <p:txBody>
          <a:bodyPr>
            <a:noAutofit/>
          </a:bodyPr>
          <a:lstStyle/>
          <a:p>
            <a:pPr marL="0" indent="0">
              <a:buNone/>
            </a:pPr>
            <a:r>
              <a:rPr lang="en-US" sz="2800" dirty="0">
                <a:solidFill>
                  <a:srgbClr val="4E519E"/>
                </a:solidFill>
              </a:rPr>
              <a:t>Colluding outcome: both catch a small quantity.</a:t>
            </a:r>
          </a:p>
        </p:txBody>
      </p:sp>
      <p:grpSp>
        <p:nvGrpSpPr>
          <p:cNvPr id="7" name="Group 3"/>
          <p:cNvGrpSpPr>
            <a:grpSpLocks/>
          </p:cNvGrpSpPr>
          <p:nvPr/>
        </p:nvGrpSpPr>
        <p:grpSpPr bwMode="auto">
          <a:xfrm>
            <a:off x="2413000" y="2635250"/>
            <a:ext cx="6497638" cy="3536950"/>
            <a:chOff x="1522" y="1296"/>
            <a:chExt cx="2421" cy="1658"/>
          </a:xfrm>
        </p:grpSpPr>
        <p:sp>
          <p:nvSpPr>
            <p:cNvPr id="8" name="AutoShape 4"/>
            <p:cNvSpPr>
              <a:spLocks noChangeArrowheads="1"/>
            </p:cNvSpPr>
            <p:nvPr/>
          </p:nvSpPr>
          <p:spPr bwMode="auto">
            <a:xfrm>
              <a:off x="1527" y="1298"/>
              <a:ext cx="1206" cy="826"/>
            </a:xfrm>
            <a:prstGeom prst="rtTriangle">
              <a:avLst/>
            </a:prstGeom>
            <a:solidFill>
              <a:srgbClr val="FFCCCC"/>
            </a:solidFill>
            <a:ln w="9525">
              <a:noFill/>
              <a:miter lim="800000"/>
              <a:headEnd/>
              <a:tailEnd/>
            </a:ln>
          </p:spPr>
          <p:txBody>
            <a:bodyPr wrap="none" anchor="ctr"/>
            <a:lstStyle/>
            <a:p>
              <a:endParaRPr lang="en-US" sz="2000">
                <a:latin typeface="Arial"/>
                <a:cs typeface="Arial"/>
              </a:endParaRPr>
            </a:p>
          </p:txBody>
        </p:sp>
        <p:sp>
          <p:nvSpPr>
            <p:cNvPr id="9" name="AutoShape 5"/>
            <p:cNvSpPr>
              <a:spLocks noChangeArrowheads="1"/>
            </p:cNvSpPr>
            <p:nvPr/>
          </p:nvSpPr>
          <p:spPr bwMode="auto">
            <a:xfrm>
              <a:off x="2737" y="1298"/>
              <a:ext cx="1206" cy="826"/>
            </a:xfrm>
            <a:prstGeom prst="rtTriangle">
              <a:avLst/>
            </a:prstGeom>
            <a:solidFill>
              <a:srgbClr val="FFCCCC"/>
            </a:solidFill>
            <a:ln w="9525">
              <a:noFill/>
              <a:miter lim="800000"/>
              <a:headEnd/>
              <a:tailEnd/>
            </a:ln>
          </p:spPr>
          <p:txBody>
            <a:bodyPr wrap="none" anchor="ctr"/>
            <a:lstStyle/>
            <a:p>
              <a:endParaRPr lang="en-US" sz="2000">
                <a:latin typeface="Arial"/>
                <a:cs typeface="Arial"/>
              </a:endParaRPr>
            </a:p>
          </p:txBody>
        </p:sp>
        <p:sp>
          <p:nvSpPr>
            <p:cNvPr id="10" name="AutoShape 6"/>
            <p:cNvSpPr>
              <a:spLocks noChangeArrowheads="1"/>
            </p:cNvSpPr>
            <p:nvPr/>
          </p:nvSpPr>
          <p:spPr bwMode="auto">
            <a:xfrm>
              <a:off x="2735" y="2125"/>
              <a:ext cx="1206" cy="826"/>
            </a:xfrm>
            <a:prstGeom prst="rtTriangle">
              <a:avLst/>
            </a:prstGeom>
            <a:solidFill>
              <a:srgbClr val="FFCCCC"/>
            </a:solidFill>
            <a:ln w="9525">
              <a:noFill/>
              <a:miter lim="800000"/>
              <a:headEnd/>
              <a:tailEnd/>
            </a:ln>
          </p:spPr>
          <p:txBody>
            <a:bodyPr wrap="none" anchor="ctr"/>
            <a:lstStyle/>
            <a:p>
              <a:endParaRPr lang="en-US" sz="2000">
                <a:latin typeface="Arial"/>
                <a:cs typeface="Arial"/>
              </a:endParaRPr>
            </a:p>
          </p:txBody>
        </p:sp>
        <p:sp>
          <p:nvSpPr>
            <p:cNvPr id="11" name="AutoShape 7"/>
            <p:cNvSpPr>
              <a:spLocks noChangeArrowheads="1"/>
            </p:cNvSpPr>
            <p:nvPr/>
          </p:nvSpPr>
          <p:spPr bwMode="auto">
            <a:xfrm>
              <a:off x="1527" y="2126"/>
              <a:ext cx="1206" cy="826"/>
            </a:xfrm>
            <a:prstGeom prst="rtTriangle">
              <a:avLst/>
            </a:prstGeom>
            <a:solidFill>
              <a:srgbClr val="FFCCCC"/>
            </a:solidFill>
            <a:ln w="9525">
              <a:noFill/>
              <a:miter lim="800000"/>
              <a:headEnd/>
              <a:tailEnd/>
            </a:ln>
          </p:spPr>
          <p:txBody>
            <a:bodyPr wrap="none" anchor="ctr"/>
            <a:lstStyle/>
            <a:p>
              <a:endParaRPr lang="en-US" sz="2000">
                <a:latin typeface="Arial"/>
                <a:cs typeface="Arial"/>
              </a:endParaRPr>
            </a:p>
          </p:txBody>
        </p:sp>
        <p:sp>
          <p:nvSpPr>
            <p:cNvPr id="12" name="AutoShape 8"/>
            <p:cNvSpPr>
              <a:spLocks noChangeArrowheads="1"/>
            </p:cNvSpPr>
            <p:nvPr/>
          </p:nvSpPr>
          <p:spPr bwMode="auto">
            <a:xfrm rot="10800000">
              <a:off x="1522" y="1298"/>
              <a:ext cx="1206" cy="826"/>
            </a:xfrm>
            <a:prstGeom prst="rtTriangle">
              <a:avLst/>
            </a:prstGeom>
            <a:solidFill>
              <a:srgbClr val="D8EEC0"/>
            </a:solidFill>
            <a:ln w="9525">
              <a:noFill/>
              <a:miter lim="800000"/>
              <a:headEnd/>
              <a:tailEnd/>
            </a:ln>
          </p:spPr>
          <p:txBody>
            <a:bodyPr wrap="none" anchor="ctr"/>
            <a:lstStyle/>
            <a:p>
              <a:endParaRPr lang="en-US" sz="2000">
                <a:latin typeface="Arial"/>
                <a:cs typeface="Arial"/>
              </a:endParaRPr>
            </a:p>
          </p:txBody>
        </p:sp>
        <p:sp>
          <p:nvSpPr>
            <p:cNvPr id="13" name="AutoShape 9"/>
            <p:cNvSpPr>
              <a:spLocks noChangeArrowheads="1"/>
            </p:cNvSpPr>
            <p:nvPr/>
          </p:nvSpPr>
          <p:spPr bwMode="auto">
            <a:xfrm rot="10800000">
              <a:off x="2732" y="1298"/>
              <a:ext cx="1206" cy="826"/>
            </a:xfrm>
            <a:prstGeom prst="rtTriangle">
              <a:avLst/>
            </a:prstGeom>
            <a:solidFill>
              <a:srgbClr val="D8EEC0"/>
            </a:solidFill>
            <a:ln w="9525">
              <a:noFill/>
              <a:miter lim="800000"/>
              <a:headEnd/>
              <a:tailEnd/>
            </a:ln>
          </p:spPr>
          <p:txBody>
            <a:bodyPr wrap="none" anchor="ctr"/>
            <a:lstStyle/>
            <a:p>
              <a:endParaRPr lang="en-US" sz="2000">
                <a:latin typeface="Arial"/>
                <a:cs typeface="Arial"/>
              </a:endParaRPr>
            </a:p>
          </p:txBody>
        </p:sp>
        <p:sp>
          <p:nvSpPr>
            <p:cNvPr id="14" name="AutoShape 10"/>
            <p:cNvSpPr>
              <a:spLocks noChangeArrowheads="1"/>
            </p:cNvSpPr>
            <p:nvPr/>
          </p:nvSpPr>
          <p:spPr bwMode="auto">
            <a:xfrm rot="10800000">
              <a:off x="2730" y="2125"/>
              <a:ext cx="1206" cy="826"/>
            </a:xfrm>
            <a:prstGeom prst="rtTriangle">
              <a:avLst/>
            </a:prstGeom>
            <a:solidFill>
              <a:srgbClr val="D8EEC0"/>
            </a:solidFill>
            <a:ln w="9525">
              <a:noFill/>
              <a:miter lim="800000"/>
              <a:headEnd/>
              <a:tailEnd/>
            </a:ln>
          </p:spPr>
          <p:txBody>
            <a:bodyPr wrap="none" anchor="ctr"/>
            <a:lstStyle/>
            <a:p>
              <a:endParaRPr lang="en-US" sz="2000">
                <a:latin typeface="Arial"/>
                <a:cs typeface="Arial"/>
              </a:endParaRPr>
            </a:p>
          </p:txBody>
        </p:sp>
        <p:sp>
          <p:nvSpPr>
            <p:cNvPr id="15" name="AutoShape 11"/>
            <p:cNvSpPr>
              <a:spLocks noChangeArrowheads="1"/>
            </p:cNvSpPr>
            <p:nvPr/>
          </p:nvSpPr>
          <p:spPr bwMode="auto">
            <a:xfrm rot="10800000">
              <a:off x="1522" y="2126"/>
              <a:ext cx="1206" cy="826"/>
            </a:xfrm>
            <a:prstGeom prst="rtTriangle">
              <a:avLst/>
            </a:prstGeom>
            <a:solidFill>
              <a:srgbClr val="D8EEC0"/>
            </a:solidFill>
            <a:ln w="9525">
              <a:noFill/>
              <a:miter lim="800000"/>
              <a:headEnd/>
              <a:tailEnd/>
            </a:ln>
          </p:spPr>
          <p:txBody>
            <a:bodyPr wrap="none" anchor="ctr"/>
            <a:lstStyle/>
            <a:p>
              <a:endParaRPr lang="en-US" sz="2000">
                <a:latin typeface="Arial"/>
                <a:cs typeface="Arial"/>
              </a:endParaRPr>
            </a:p>
          </p:txBody>
        </p:sp>
        <p:grpSp>
          <p:nvGrpSpPr>
            <p:cNvPr id="16" name="Group 12"/>
            <p:cNvGrpSpPr>
              <a:grpSpLocks/>
            </p:cNvGrpSpPr>
            <p:nvPr/>
          </p:nvGrpSpPr>
          <p:grpSpPr bwMode="auto">
            <a:xfrm>
              <a:off x="1524" y="1296"/>
              <a:ext cx="2417" cy="1658"/>
              <a:chOff x="1335" y="1089"/>
              <a:chExt cx="2290" cy="1791"/>
            </a:xfrm>
          </p:grpSpPr>
          <p:sp>
            <p:nvSpPr>
              <p:cNvPr id="17" name="Rectangle 13"/>
              <p:cNvSpPr>
                <a:spLocks noChangeArrowheads="1"/>
              </p:cNvSpPr>
              <p:nvPr/>
            </p:nvSpPr>
            <p:spPr bwMode="auto">
              <a:xfrm>
                <a:off x="1335" y="1089"/>
                <a:ext cx="2290" cy="1791"/>
              </a:xfrm>
              <a:prstGeom prst="rect">
                <a:avLst/>
              </a:prstGeom>
              <a:noFill/>
              <a:ln w="9525">
                <a:solidFill>
                  <a:schemeClr val="tx1"/>
                </a:solidFill>
                <a:miter lim="800000"/>
                <a:headEnd/>
                <a:tailEnd/>
              </a:ln>
            </p:spPr>
            <p:txBody>
              <a:bodyPr wrap="none" anchor="ctr"/>
              <a:lstStyle/>
              <a:p>
                <a:endParaRPr lang="en-US" sz="2000">
                  <a:latin typeface="Arial"/>
                  <a:cs typeface="Arial"/>
                </a:endParaRPr>
              </a:p>
            </p:txBody>
          </p:sp>
          <p:sp>
            <p:nvSpPr>
              <p:cNvPr id="18" name="Line 14"/>
              <p:cNvSpPr>
                <a:spLocks noChangeShapeType="1"/>
              </p:cNvSpPr>
              <p:nvPr/>
            </p:nvSpPr>
            <p:spPr bwMode="auto">
              <a:xfrm>
                <a:off x="1335" y="1988"/>
                <a:ext cx="2290" cy="0"/>
              </a:xfrm>
              <a:prstGeom prst="line">
                <a:avLst/>
              </a:prstGeom>
              <a:noFill/>
              <a:ln w="9525">
                <a:solidFill>
                  <a:schemeClr val="tx1"/>
                </a:solidFill>
                <a:round/>
                <a:headEnd/>
                <a:tailEnd/>
              </a:ln>
            </p:spPr>
            <p:txBody>
              <a:bodyPr/>
              <a:lstStyle/>
              <a:p>
                <a:endParaRPr lang="en-US" sz="2000">
                  <a:latin typeface="Arial"/>
                  <a:cs typeface="Arial"/>
                </a:endParaRPr>
              </a:p>
            </p:txBody>
          </p:sp>
          <p:sp>
            <p:nvSpPr>
              <p:cNvPr id="19" name="Line 15"/>
              <p:cNvSpPr>
                <a:spLocks noChangeShapeType="1"/>
              </p:cNvSpPr>
              <p:nvPr/>
            </p:nvSpPr>
            <p:spPr bwMode="auto">
              <a:xfrm>
                <a:off x="2480" y="1089"/>
                <a:ext cx="0" cy="1791"/>
              </a:xfrm>
              <a:prstGeom prst="line">
                <a:avLst/>
              </a:prstGeom>
              <a:noFill/>
              <a:ln w="9525">
                <a:solidFill>
                  <a:schemeClr val="tx1"/>
                </a:solidFill>
                <a:round/>
                <a:headEnd/>
                <a:tailEnd/>
              </a:ln>
            </p:spPr>
            <p:txBody>
              <a:bodyPr/>
              <a:lstStyle/>
              <a:p>
                <a:endParaRPr lang="en-US" sz="2000">
                  <a:latin typeface="Arial"/>
                  <a:cs typeface="Arial"/>
                </a:endParaRPr>
              </a:p>
            </p:txBody>
          </p:sp>
        </p:grpSp>
      </p:grpSp>
      <p:sp>
        <p:nvSpPr>
          <p:cNvPr id="20" name="Text Box 16"/>
          <p:cNvSpPr txBox="1">
            <a:spLocks noChangeArrowheads="1"/>
          </p:cNvSpPr>
          <p:nvPr/>
        </p:nvSpPr>
        <p:spPr bwMode="auto">
          <a:xfrm>
            <a:off x="2824163" y="2181225"/>
            <a:ext cx="2516187" cy="369332"/>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Small </a:t>
            </a:r>
            <a:r>
              <a:rPr lang="en-US" sz="2400" b="1" dirty="0">
                <a:latin typeface="Arial"/>
                <a:cs typeface="Arial"/>
              </a:rPr>
              <a:t>Q</a:t>
            </a:r>
            <a:endParaRPr lang="en-US" sz="2400" dirty="0">
              <a:latin typeface="Arial"/>
              <a:cs typeface="Arial"/>
            </a:endParaRPr>
          </a:p>
        </p:txBody>
      </p:sp>
      <p:sp>
        <p:nvSpPr>
          <p:cNvPr id="21" name="Text Box 17"/>
          <p:cNvSpPr txBox="1">
            <a:spLocks noChangeArrowheads="1"/>
          </p:cNvSpPr>
          <p:nvPr/>
        </p:nvSpPr>
        <p:spPr bwMode="auto">
          <a:xfrm>
            <a:off x="6054725" y="2189163"/>
            <a:ext cx="2549525" cy="369332"/>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Large </a:t>
            </a:r>
            <a:r>
              <a:rPr lang="en-US" sz="2400" b="1" i="1" dirty="0">
                <a:latin typeface="Arial"/>
                <a:cs typeface="Arial"/>
              </a:rPr>
              <a:t>Q</a:t>
            </a:r>
            <a:endParaRPr lang="en-US" sz="2400" dirty="0">
              <a:latin typeface="Arial"/>
              <a:cs typeface="Arial"/>
            </a:endParaRPr>
          </a:p>
        </p:txBody>
      </p:sp>
      <p:sp>
        <p:nvSpPr>
          <p:cNvPr id="22" name="Text Box 18"/>
          <p:cNvSpPr txBox="1">
            <a:spLocks noChangeArrowheads="1"/>
          </p:cNvSpPr>
          <p:nvPr/>
        </p:nvSpPr>
        <p:spPr bwMode="auto">
          <a:xfrm>
            <a:off x="762000" y="2946400"/>
            <a:ext cx="1543049" cy="369332"/>
          </a:xfrm>
          <a:prstGeom prst="rect">
            <a:avLst/>
          </a:prstGeom>
          <a:noFill/>
          <a:ln w="9525">
            <a:noFill/>
            <a:miter lim="800000"/>
            <a:headEnd/>
            <a:tailEnd/>
          </a:ln>
        </p:spPr>
        <p:txBody>
          <a:bodyPr wrap="square" lIns="0" tIns="0" rIns="0" bIns="0">
            <a:spAutoFit/>
          </a:bodyPr>
          <a:lstStyle/>
          <a:p>
            <a:pPr algn="r">
              <a:spcBef>
                <a:spcPct val="50000"/>
              </a:spcBef>
            </a:pPr>
            <a:r>
              <a:rPr lang="en-US" sz="2400" dirty="0">
                <a:latin typeface="Arial"/>
                <a:cs typeface="Arial"/>
              </a:rPr>
              <a:t>Small </a:t>
            </a:r>
            <a:r>
              <a:rPr lang="en-US" sz="2400" b="1" i="1" dirty="0">
                <a:latin typeface="Arial"/>
                <a:cs typeface="Arial"/>
              </a:rPr>
              <a:t>Q</a:t>
            </a:r>
            <a:endParaRPr lang="en-US" sz="2400" dirty="0">
              <a:latin typeface="Arial"/>
              <a:cs typeface="Arial"/>
            </a:endParaRPr>
          </a:p>
        </p:txBody>
      </p:sp>
      <p:sp>
        <p:nvSpPr>
          <p:cNvPr id="23" name="Text Box 19"/>
          <p:cNvSpPr txBox="1">
            <a:spLocks noChangeArrowheads="1"/>
          </p:cNvSpPr>
          <p:nvPr/>
        </p:nvSpPr>
        <p:spPr bwMode="auto">
          <a:xfrm>
            <a:off x="762000" y="5117068"/>
            <a:ext cx="1536701" cy="369332"/>
          </a:xfrm>
          <a:prstGeom prst="rect">
            <a:avLst/>
          </a:prstGeom>
          <a:noFill/>
          <a:ln w="9525">
            <a:noFill/>
            <a:miter lim="800000"/>
            <a:headEnd/>
            <a:tailEnd/>
          </a:ln>
        </p:spPr>
        <p:txBody>
          <a:bodyPr wrap="square" lIns="0" tIns="0" rIns="0" bIns="0">
            <a:spAutoFit/>
          </a:bodyPr>
          <a:lstStyle/>
          <a:p>
            <a:pPr algn="r">
              <a:spcBef>
                <a:spcPct val="50000"/>
              </a:spcBef>
            </a:pPr>
            <a:r>
              <a:rPr lang="en-US" sz="2400" dirty="0">
                <a:latin typeface="Arial"/>
                <a:cs typeface="Arial"/>
              </a:rPr>
              <a:t>Large </a:t>
            </a:r>
            <a:r>
              <a:rPr lang="en-US" sz="2400" b="1" i="1" dirty="0">
                <a:latin typeface="Arial"/>
                <a:cs typeface="Arial"/>
              </a:rPr>
              <a:t>Q</a:t>
            </a:r>
            <a:endParaRPr lang="en-US" sz="2400" dirty="0">
              <a:latin typeface="Arial"/>
              <a:cs typeface="Arial"/>
            </a:endParaRPr>
          </a:p>
        </p:txBody>
      </p:sp>
      <p:sp>
        <p:nvSpPr>
          <p:cNvPr id="24" name="Text Box 20"/>
          <p:cNvSpPr txBox="1">
            <a:spLocks noChangeArrowheads="1"/>
          </p:cNvSpPr>
          <p:nvPr/>
        </p:nvSpPr>
        <p:spPr bwMode="auto">
          <a:xfrm>
            <a:off x="4031370" y="1579563"/>
            <a:ext cx="2902829" cy="553998"/>
          </a:xfrm>
          <a:prstGeom prst="rect">
            <a:avLst/>
          </a:prstGeom>
          <a:solidFill>
            <a:srgbClr val="D8EEC0"/>
          </a:solidFill>
          <a:ln w="9525">
            <a:solidFill>
              <a:srgbClr val="D8EEC0"/>
            </a:solidFill>
            <a:miter lim="800000"/>
            <a:headEnd/>
            <a:tailEnd/>
          </a:ln>
        </p:spPr>
        <p:txBody>
          <a:bodyPr wrap="square" tIns="91440" bIns="91440">
            <a:spAutoFit/>
          </a:bodyPr>
          <a:lstStyle/>
          <a:p>
            <a:pPr algn="ctr">
              <a:spcBef>
                <a:spcPct val="50000"/>
              </a:spcBef>
            </a:pPr>
            <a:r>
              <a:rPr lang="en-US" sz="2400" b="1" dirty="0">
                <a:latin typeface="Arial"/>
                <a:cs typeface="Arial"/>
              </a:rPr>
              <a:t>The Singing Fish</a:t>
            </a:r>
          </a:p>
        </p:txBody>
      </p:sp>
      <p:sp>
        <p:nvSpPr>
          <p:cNvPr id="25" name="Text Box 21"/>
          <p:cNvSpPr txBox="1">
            <a:spLocks noChangeArrowheads="1"/>
          </p:cNvSpPr>
          <p:nvPr/>
        </p:nvSpPr>
        <p:spPr bwMode="auto">
          <a:xfrm>
            <a:off x="533400" y="3962400"/>
            <a:ext cx="1752600" cy="923330"/>
          </a:xfrm>
          <a:prstGeom prst="rect">
            <a:avLst/>
          </a:prstGeom>
          <a:solidFill>
            <a:srgbClr val="FFCCCC"/>
          </a:solidFill>
          <a:ln w="9525">
            <a:solidFill>
              <a:srgbClr val="FFCCCC"/>
            </a:solidFill>
            <a:miter lim="800000"/>
            <a:headEnd/>
            <a:tailEnd/>
          </a:ln>
        </p:spPr>
        <p:txBody>
          <a:bodyPr wrap="square" tIns="91440" bIns="91440">
            <a:spAutoFit/>
          </a:bodyPr>
          <a:lstStyle/>
          <a:p>
            <a:pPr>
              <a:spcBef>
                <a:spcPct val="50000"/>
              </a:spcBef>
            </a:pPr>
            <a:r>
              <a:rPr lang="en-US" sz="2400" b="1" dirty="0">
                <a:latin typeface="Arial"/>
                <a:cs typeface="Arial"/>
              </a:rPr>
              <a:t>The Joy of Fishing</a:t>
            </a:r>
          </a:p>
        </p:txBody>
      </p:sp>
      <p:sp>
        <p:nvSpPr>
          <p:cNvPr id="26" name="Text Box 22"/>
          <p:cNvSpPr txBox="1">
            <a:spLocks noChangeArrowheads="1"/>
          </p:cNvSpPr>
          <p:nvPr/>
        </p:nvSpPr>
        <p:spPr bwMode="auto">
          <a:xfrm>
            <a:off x="3308350" y="2668588"/>
            <a:ext cx="2330450" cy="461665"/>
          </a:xfrm>
          <a:prstGeom prst="rect">
            <a:avLst/>
          </a:prstGeom>
          <a:noFill/>
          <a:ln w="9525">
            <a:noFill/>
            <a:miter lim="800000"/>
            <a:headEnd/>
            <a:tailEnd/>
          </a:ln>
        </p:spPr>
        <p:txBody>
          <a:bodyPr wrap="square">
            <a:spAutoFit/>
          </a:bodyPr>
          <a:lstStyle/>
          <a:p>
            <a:pPr algn="r">
              <a:spcBef>
                <a:spcPct val="50000"/>
              </a:spcBef>
            </a:pPr>
            <a:r>
              <a:rPr lang="en-US" sz="2400" dirty="0">
                <a:latin typeface="Arial"/>
                <a:cs typeface="Arial"/>
              </a:rPr>
              <a:t>$ 300 mill</a:t>
            </a:r>
          </a:p>
        </p:txBody>
      </p:sp>
      <p:sp>
        <p:nvSpPr>
          <p:cNvPr id="27" name="Text Box 23"/>
          <p:cNvSpPr txBox="1">
            <a:spLocks noChangeArrowheads="1"/>
          </p:cNvSpPr>
          <p:nvPr/>
        </p:nvSpPr>
        <p:spPr bwMode="auto">
          <a:xfrm>
            <a:off x="2444750" y="3597275"/>
            <a:ext cx="2059781" cy="461665"/>
          </a:xfrm>
          <a:prstGeom prst="rect">
            <a:avLst/>
          </a:prstGeom>
          <a:noFill/>
          <a:ln w="9525">
            <a:noFill/>
            <a:miter lim="800000"/>
            <a:headEnd/>
            <a:tailEnd/>
          </a:ln>
        </p:spPr>
        <p:txBody>
          <a:bodyPr wrap="square">
            <a:spAutoFit/>
          </a:bodyPr>
          <a:lstStyle/>
          <a:p>
            <a:pPr>
              <a:spcBef>
                <a:spcPct val="50000"/>
              </a:spcBef>
            </a:pPr>
            <a:r>
              <a:rPr lang="en-US" sz="2400" dirty="0">
                <a:latin typeface="Arial"/>
                <a:cs typeface="Arial"/>
              </a:rPr>
              <a:t>$300 mill</a:t>
            </a:r>
          </a:p>
        </p:txBody>
      </p:sp>
      <p:sp>
        <p:nvSpPr>
          <p:cNvPr id="28" name="Text Box 24"/>
          <p:cNvSpPr txBox="1">
            <a:spLocks noChangeArrowheads="1"/>
          </p:cNvSpPr>
          <p:nvPr/>
        </p:nvSpPr>
        <p:spPr bwMode="auto">
          <a:xfrm>
            <a:off x="6553200" y="2668588"/>
            <a:ext cx="2343150" cy="461665"/>
          </a:xfrm>
          <a:prstGeom prst="rect">
            <a:avLst/>
          </a:prstGeom>
          <a:noFill/>
          <a:ln w="9525">
            <a:noFill/>
            <a:miter lim="800000"/>
            <a:headEnd/>
            <a:tailEnd/>
          </a:ln>
        </p:spPr>
        <p:txBody>
          <a:bodyPr wrap="square">
            <a:spAutoFit/>
          </a:bodyPr>
          <a:lstStyle/>
          <a:p>
            <a:pPr algn="r">
              <a:spcBef>
                <a:spcPct val="50000"/>
              </a:spcBef>
            </a:pPr>
            <a:r>
              <a:rPr lang="en-US" sz="2400" dirty="0">
                <a:cs typeface="Arial"/>
              </a:rPr>
              <a:t>$400 mill </a:t>
            </a:r>
            <a:endParaRPr lang="en-US" sz="2400" dirty="0">
              <a:latin typeface="Arial"/>
              <a:cs typeface="Arial"/>
            </a:endParaRPr>
          </a:p>
        </p:txBody>
      </p:sp>
      <p:sp>
        <p:nvSpPr>
          <p:cNvPr id="29" name="Text Box 25"/>
          <p:cNvSpPr txBox="1">
            <a:spLocks noChangeArrowheads="1"/>
          </p:cNvSpPr>
          <p:nvPr/>
        </p:nvSpPr>
        <p:spPr bwMode="auto">
          <a:xfrm>
            <a:off x="6478587" y="4427538"/>
            <a:ext cx="2436813" cy="461665"/>
          </a:xfrm>
          <a:prstGeom prst="rect">
            <a:avLst/>
          </a:prstGeom>
          <a:noFill/>
          <a:ln w="9525">
            <a:noFill/>
            <a:miter lim="800000"/>
            <a:headEnd/>
            <a:tailEnd/>
          </a:ln>
        </p:spPr>
        <p:txBody>
          <a:bodyPr wrap="square">
            <a:spAutoFit/>
          </a:bodyPr>
          <a:lstStyle/>
          <a:p>
            <a:pPr algn="r">
              <a:spcBef>
                <a:spcPct val="50000"/>
              </a:spcBef>
            </a:pPr>
            <a:r>
              <a:rPr lang="en-US" sz="2400" dirty="0">
                <a:cs typeface="Arial"/>
              </a:rPr>
              <a:t>$ 250 mill </a:t>
            </a:r>
            <a:endParaRPr lang="en-US" sz="2400" dirty="0">
              <a:latin typeface="Arial"/>
              <a:cs typeface="Arial"/>
            </a:endParaRPr>
          </a:p>
        </p:txBody>
      </p:sp>
      <p:sp>
        <p:nvSpPr>
          <p:cNvPr id="30" name="Text Box 26"/>
          <p:cNvSpPr txBox="1">
            <a:spLocks noChangeArrowheads="1"/>
          </p:cNvSpPr>
          <p:nvPr/>
        </p:nvSpPr>
        <p:spPr bwMode="auto">
          <a:xfrm>
            <a:off x="3352801" y="4414838"/>
            <a:ext cx="2305049" cy="461665"/>
          </a:xfrm>
          <a:prstGeom prst="rect">
            <a:avLst/>
          </a:prstGeom>
          <a:noFill/>
          <a:ln w="9525">
            <a:noFill/>
            <a:miter lim="800000"/>
            <a:headEnd/>
            <a:tailEnd/>
          </a:ln>
        </p:spPr>
        <p:txBody>
          <a:bodyPr wrap="square">
            <a:spAutoFit/>
          </a:bodyPr>
          <a:lstStyle/>
          <a:p>
            <a:pPr algn="r">
              <a:spcBef>
                <a:spcPct val="50000"/>
              </a:spcBef>
            </a:pPr>
            <a:r>
              <a:rPr lang="en-US" sz="2400" dirty="0">
                <a:cs typeface="Arial"/>
              </a:rPr>
              <a:t>$150 mill</a:t>
            </a:r>
            <a:endParaRPr lang="en-US" sz="2400" dirty="0">
              <a:latin typeface="Arial"/>
              <a:cs typeface="Arial"/>
            </a:endParaRPr>
          </a:p>
        </p:txBody>
      </p:sp>
      <p:sp>
        <p:nvSpPr>
          <p:cNvPr id="31" name="Text Box 27"/>
          <p:cNvSpPr txBox="1">
            <a:spLocks noChangeArrowheads="1"/>
          </p:cNvSpPr>
          <p:nvPr/>
        </p:nvSpPr>
        <p:spPr bwMode="auto">
          <a:xfrm>
            <a:off x="5680075" y="3600450"/>
            <a:ext cx="1977232" cy="461665"/>
          </a:xfrm>
          <a:prstGeom prst="rect">
            <a:avLst/>
          </a:prstGeom>
          <a:noFill/>
          <a:ln w="9525">
            <a:noFill/>
            <a:miter lim="800000"/>
            <a:headEnd/>
            <a:tailEnd/>
          </a:ln>
        </p:spPr>
        <p:txBody>
          <a:bodyPr wrap="square">
            <a:spAutoFit/>
          </a:bodyPr>
          <a:lstStyle/>
          <a:p>
            <a:pPr>
              <a:spcBef>
                <a:spcPct val="50000"/>
              </a:spcBef>
            </a:pPr>
            <a:r>
              <a:rPr lang="en-US" sz="2400" dirty="0">
                <a:cs typeface="Arial"/>
              </a:rPr>
              <a:t>$150 mill </a:t>
            </a:r>
            <a:endParaRPr lang="en-US" sz="2400" dirty="0">
              <a:latin typeface="Arial"/>
              <a:cs typeface="Arial"/>
            </a:endParaRPr>
          </a:p>
        </p:txBody>
      </p:sp>
      <p:sp>
        <p:nvSpPr>
          <p:cNvPr id="32" name="Text Box 28"/>
          <p:cNvSpPr txBox="1">
            <a:spLocks noChangeArrowheads="1"/>
          </p:cNvSpPr>
          <p:nvPr/>
        </p:nvSpPr>
        <p:spPr bwMode="auto">
          <a:xfrm>
            <a:off x="5680075" y="5181600"/>
            <a:ext cx="1977232" cy="461665"/>
          </a:xfrm>
          <a:prstGeom prst="rect">
            <a:avLst/>
          </a:prstGeom>
          <a:noFill/>
          <a:ln w="9525">
            <a:noFill/>
            <a:miter lim="800000"/>
            <a:headEnd/>
            <a:tailEnd/>
          </a:ln>
        </p:spPr>
        <p:txBody>
          <a:bodyPr wrap="square">
            <a:spAutoFit/>
          </a:bodyPr>
          <a:lstStyle/>
          <a:p>
            <a:pPr>
              <a:spcBef>
                <a:spcPct val="50000"/>
              </a:spcBef>
            </a:pPr>
            <a:r>
              <a:rPr lang="en-US" sz="2400" dirty="0">
                <a:cs typeface="Arial"/>
              </a:rPr>
              <a:t>$250 mill</a:t>
            </a:r>
            <a:endParaRPr lang="en-US" sz="2400" dirty="0">
              <a:latin typeface="Arial"/>
              <a:cs typeface="Arial"/>
            </a:endParaRPr>
          </a:p>
        </p:txBody>
      </p:sp>
      <p:sp>
        <p:nvSpPr>
          <p:cNvPr id="33" name="Text Box 29"/>
          <p:cNvSpPr txBox="1">
            <a:spLocks noChangeArrowheads="1"/>
          </p:cNvSpPr>
          <p:nvPr/>
        </p:nvSpPr>
        <p:spPr bwMode="auto">
          <a:xfrm>
            <a:off x="2454274" y="5189537"/>
            <a:ext cx="2135188" cy="461665"/>
          </a:xfrm>
          <a:prstGeom prst="rect">
            <a:avLst/>
          </a:prstGeom>
          <a:noFill/>
          <a:ln w="9525">
            <a:noFill/>
            <a:miter lim="800000"/>
            <a:headEnd/>
            <a:tailEnd/>
          </a:ln>
        </p:spPr>
        <p:txBody>
          <a:bodyPr wrap="square">
            <a:spAutoFit/>
          </a:bodyPr>
          <a:lstStyle/>
          <a:p>
            <a:pPr>
              <a:spcBef>
                <a:spcPct val="50000"/>
              </a:spcBef>
            </a:pPr>
            <a:r>
              <a:rPr lang="en-US" sz="2400" dirty="0">
                <a:cs typeface="Arial"/>
              </a:rPr>
              <a:t>$400 mill</a:t>
            </a:r>
            <a:endParaRPr lang="en-US" sz="2400" dirty="0">
              <a:latin typeface="Arial"/>
              <a:cs typeface="Arial"/>
            </a:endParaRPr>
          </a:p>
        </p:txBody>
      </p:sp>
      <p:grpSp>
        <p:nvGrpSpPr>
          <p:cNvPr id="36" name="Group 35"/>
          <p:cNvGrpSpPr/>
          <p:nvPr/>
        </p:nvGrpSpPr>
        <p:grpSpPr>
          <a:xfrm>
            <a:off x="5683250" y="4394200"/>
            <a:ext cx="3268534" cy="1760537"/>
            <a:chOff x="5683250" y="4394200"/>
            <a:chExt cx="3268534" cy="1760537"/>
          </a:xfrm>
        </p:grpSpPr>
        <p:sp>
          <p:nvSpPr>
            <p:cNvPr id="34" name="Rectangle 33"/>
            <p:cNvSpPr>
              <a:spLocks noChangeArrowheads="1"/>
            </p:cNvSpPr>
            <p:nvPr/>
          </p:nvSpPr>
          <p:spPr bwMode="auto">
            <a:xfrm>
              <a:off x="5683250" y="4394200"/>
              <a:ext cx="3232150" cy="1760537"/>
            </a:xfrm>
            <a:prstGeom prst="rect">
              <a:avLst/>
            </a:prstGeom>
            <a:noFill/>
            <a:ln w="47625" cmpd="sng">
              <a:solidFill>
                <a:srgbClr val="FF0000"/>
              </a:solidFill>
              <a:miter lim="800000"/>
              <a:headEnd/>
              <a:tailEnd/>
            </a:ln>
          </p:spPr>
          <p:txBody>
            <a:bodyPr wrap="none" anchor="ctr"/>
            <a:lstStyle/>
            <a:p>
              <a:endParaRPr lang="en-US" sz="2000">
                <a:latin typeface="Arial"/>
                <a:cs typeface="Arial"/>
              </a:endParaRPr>
            </a:p>
          </p:txBody>
        </p:sp>
        <p:sp>
          <p:nvSpPr>
            <p:cNvPr id="35" name="TextBox 34"/>
            <p:cNvSpPr txBox="1"/>
            <p:nvPr/>
          </p:nvSpPr>
          <p:spPr>
            <a:xfrm>
              <a:off x="5715000" y="5549201"/>
              <a:ext cx="3236784" cy="584775"/>
            </a:xfrm>
            <a:prstGeom prst="rect">
              <a:avLst/>
            </a:prstGeom>
            <a:noFill/>
          </p:spPr>
          <p:txBody>
            <a:bodyPr wrap="none" rtlCol="0">
              <a:spAutoFit/>
            </a:bodyPr>
            <a:lstStyle/>
            <a:p>
              <a:r>
                <a:rPr lang="en-US" sz="3200" dirty="0">
                  <a:solidFill>
                    <a:srgbClr val="4E519E"/>
                  </a:solidFill>
                </a:rPr>
                <a:t>Nash equilibrium</a:t>
              </a:r>
            </a:p>
          </p:txBody>
        </p:sp>
      </p:grpSp>
      <p:sp>
        <p:nvSpPr>
          <p:cNvPr id="3" name="Footer Placeholder 2">
            <a:extLst>
              <a:ext uri="{FF2B5EF4-FFF2-40B4-BE49-F238E27FC236}">
                <a16:creationId xmlns:a16="http://schemas.microsoft.com/office/drawing/2014/main" id="{F2000EF7-F816-CA69-16C4-A4E0B611821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7503781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noAutofit/>
          </a:bodyPr>
          <a:lstStyle/>
          <a:p>
            <a:pPr eaLnBrk="1" hangingPunct="1"/>
            <a:r>
              <a:rPr lang="en-US" dirty="0"/>
              <a:t>EXAMPLE 4: </a:t>
            </a:r>
            <a:r>
              <a:rPr lang="en-US" dirty="0">
                <a:solidFill>
                  <a:schemeClr val="tx1"/>
                </a:solidFill>
              </a:rPr>
              <a:t>Negative campaign ads – 1 </a:t>
            </a:r>
          </a:p>
        </p:txBody>
      </p:sp>
      <p:sp>
        <p:nvSpPr>
          <p:cNvPr id="32773" name="Rectangle 3"/>
          <p:cNvSpPr>
            <a:spLocks noGrp="1" noChangeArrowheads="1"/>
          </p:cNvSpPr>
          <p:nvPr>
            <p:ph idx="1"/>
          </p:nvPr>
        </p:nvSpPr>
        <p:spPr>
          <a:prstGeom prst="rect">
            <a:avLst/>
          </a:prstGeom>
        </p:spPr>
        <p:txBody>
          <a:bodyPr/>
          <a:lstStyle/>
          <a:p>
            <a:pPr eaLnBrk="1" hangingPunct="1">
              <a:spcBef>
                <a:spcPct val="50000"/>
              </a:spcBef>
            </a:pPr>
            <a:r>
              <a:rPr lang="en-US" dirty="0">
                <a:solidFill>
                  <a:srgbClr val="4E519E"/>
                </a:solidFill>
              </a:rPr>
              <a:t>Election with two candidates, “R” and “D.”</a:t>
            </a:r>
          </a:p>
          <a:p>
            <a:pPr lvl="1" eaLnBrk="1" hangingPunct="1">
              <a:spcBef>
                <a:spcPct val="50000"/>
              </a:spcBef>
            </a:pPr>
            <a:r>
              <a:rPr lang="en-US" sz="3000" dirty="0">
                <a:solidFill>
                  <a:srgbClr val="4E519E"/>
                </a:solidFill>
              </a:rPr>
              <a:t>If R runs a negative ad attacking D, 3,000 fewer people will vote for D (1,000 of these people vote for R, the rest abstain).</a:t>
            </a:r>
          </a:p>
          <a:p>
            <a:pPr lvl="1" eaLnBrk="1" hangingPunct="1">
              <a:spcBef>
                <a:spcPct val="50000"/>
              </a:spcBef>
            </a:pPr>
            <a:r>
              <a:rPr lang="en-US" sz="3000" dirty="0">
                <a:solidFill>
                  <a:srgbClr val="4E519E"/>
                </a:solidFill>
              </a:rPr>
              <a:t>If D runs a negative ad attacking R, R loses 3,000 votes, D gains 1,000, 2,000 abstain.</a:t>
            </a:r>
          </a:p>
          <a:p>
            <a:pPr eaLnBrk="1" hangingPunct="1">
              <a:spcBef>
                <a:spcPct val="50000"/>
              </a:spcBef>
              <a:buClr>
                <a:srgbClr val="C00000"/>
              </a:buClr>
            </a:pPr>
            <a:r>
              <a:rPr lang="en-US" dirty="0"/>
              <a:t>R and D agree to refrain from running attack ads.  Will each of them stick to the agreement?</a:t>
            </a:r>
            <a:endParaRPr lang="en-US" sz="2800" dirty="0"/>
          </a:p>
        </p:txBody>
      </p:sp>
      <p:sp>
        <p:nvSpPr>
          <p:cNvPr id="3" name="Slide Number Placeholder 2"/>
          <p:cNvSpPr>
            <a:spLocks noGrp="1"/>
          </p:cNvSpPr>
          <p:nvPr>
            <p:ph type="sldNum" sz="quarter" idx="10"/>
          </p:nvPr>
        </p:nvSpPr>
        <p:spPr>
          <a:prstGeom prst="rect">
            <a:avLst/>
          </a:prstGeom>
        </p:spPr>
        <p:txBody>
          <a:bodyPr/>
          <a:lstStyle/>
          <a:p>
            <a:pPr>
              <a:defRPr/>
            </a:pPr>
            <a:fld id="{073C29DC-2178-4274-9150-45F8EBD31C2D}" type="slidenum">
              <a:rPr lang="en-US" smtClean="0"/>
              <a:pPr>
                <a:defRPr/>
              </a:pPr>
              <a:t>30</a:t>
            </a:fld>
            <a:endParaRPr lang="en-US"/>
          </a:p>
        </p:txBody>
      </p:sp>
      <p:sp>
        <p:nvSpPr>
          <p:cNvPr id="2" name="Footer Placeholder 1">
            <a:extLst>
              <a:ext uri="{FF2B5EF4-FFF2-40B4-BE49-F238E27FC236}">
                <a16:creationId xmlns:a16="http://schemas.microsoft.com/office/drawing/2014/main" id="{C62A52C7-984A-1E91-AAF2-862886A557C6}"/>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17649393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animEffect transition="in" filter="wipe(left)">
                                      <p:cBhvr>
                                        <p:cTn id="7" dur="500"/>
                                        <p:tgtEl>
                                          <p:spTgt spid="327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3">
                                            <p:txEl>
                                              <p:pRg st="1" end="1"/>
                                            </p:txEl>
                                          </p:spTgt>
                                        </p:tgtEl>
                                        <p:attrNameLst>
                                          <p:attrName>style.visibility</p:attrName>
                                        </p:attrNameLst>
                                      </p:cBhvr>
                                      <p:to>
                                        <p:strVal val="visible"/>
                                      </p:to>
                                    </p:set>
                                    <p:animEffect transition="in" filter="wipe(left)">
                                      <p:cBhvr>
                                        <p:cTn id="12" dur="500"/>
                                        <p:tgtEl>
                                          <p:spTgt spid="3277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73">
                                            <p:txEl>
                                              <p:pRg st="2" end="2"/>
                                            </p:txEl>
                                          </p:spTgt>
                                        </p:tgtEl>
                                        <p:attrNameLst>
                                          <p:attrName>style.visibility</p:attrName>
                                        </p:attrNameLst>
                                      </p:cBhvr>
                                      <p:to>
                                        <p:strVal val="visible"/>
                                      </p:to>
                                    </p:set>
                                    <p:animEffect transition="in" filter="wipe(left)">
                                      <p:cBhvr>
                                        <p:cTn id="17" dur="500"/>
                                        <p:tgtEl>
                                          <p:spTgt spid="3277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773">
                                            <p:txEl>
                                              <p:pRg st="3" end="3"/>
                                            </p:txEl>
                                          </p:spTgt>
                                        </p:tgtEl>
                                        <p:attrNameLst>
                                          <p:attrName>style.visibility</p:attrName>
                                        </p:attrNameLst>
                                      </p:cBhvr>
                                      <p:to>
                                        <p:strVal val="visible"/>
                                      </p:to>
                                    </p:set>
                                    <p:animEffect transition="in" filter="wipe(left)">
                                      <p:cBhvr>
                                        <p:cTn id="22" dur="500"/>
                                        <p:tgtEl>
                                          <p:spTgt spid="3277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uiExpand="1" build="p" bldLvl="4"/>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normAutofit/>
          </a:bodyPr>
          <a:lstStyle/>
          <a:p>
            <a:pPr eaLnBrk="1" hangingPunct="1"/>
            <a:r>
              <a:rPr lang="en-US" dirty="0">
                <a:solidFill>
                  <a:srgbClr val="AE1221"/>
                </a:solidFill>
              </a:rPr>
              <a:t>EXAMPLE 4: </a:t>
            </a:r>
            <a:r>
              <a:rPr lang="en-US" dirty="0">
                <a:solidFill>
                  <a:schemeClr val="tx1"/>
                </a:solidFill>
              </a:rPr>
              <a:t>Negative campaign ads – 2 </a:t>
            </a:r>
          </a:p>
        </p:txBody>
      </p:sp>
      <p:sp>
        <p:nvSpPr>
          <p:cNvPr id="6" name="Slide Number Placeholder 5"/>
          <p:cNvSpPr>
            <a:spLocks noGrp="1"/>
          </p:cNvSpPr>
          <p:nvPr>
            <p:ph type="sldNum" sz="quarter" idx="10"/>
          </p:nvPr>
        </p:nvSpPr>
        <p:spPr/>
        <p:txBody>
          <a:bodyPr/>
          <a:lstStyle/>
          <a:p>
            <a:pPr>
              <a:defRPr/>
            </a:pPr>
            <a:fld id="{2F37425F-5E17-4209-B948-B5CE2119E408}" type="slidenum">
              <a:rPr lang="en-US" smtClean="0"/>
              <a:pPr>
                <a:defRPr/>
              </a:pPr>
              <a:t>31</a:t>
            </a:fld>
            <a:endParaRPr lang="en-US" dirty="0"/>
          </a:p>
        </p:txBody>
      </p:sp>
      <p:grpSp>
        <p:nvGrpSpPr>
          <p:cNvPr id="2" name="Group 3"/>
          <p:cNvGrpSpPr>
            <a:grpSpLocks/>
          </p:cNvGrpSpPr>
          <p:nvPr/>
        </p:nvGrpSpPr>
        <p:grpSpPr bwMode="auto">
          <a:xfrm>
            <a:off x="2336800" y="2660650"/>
            <a:ext cx="6497638" cy="3536950"/>
            <a:chOff x="1522" y="1296"/>
            <a:chExt cx="2421" cy="1658"/>
          </a:xfrm>
        </p:grpSpPr>
        <p:sp>
          <p:nvSpPr>
            <p:cNvPr id="33814" name="AutoShape 4"/>
            <p:cNvSpPr>
              <a:spLocks noChangeArrowheads="1"/>
            </p:cNvSpPr>
            <p:nvPr/>
          </p:nvSpPr>
          <p:spPr bwMode="auto">
            <a:xfrm>
              <a:off x="1527" y="1298"/>
              <a:ext cx="1206" cy="826"/>
            </a:xfrm>
            <a:prstGeom prst="rtTriangle">
              <a:avLst/>
            </a:prstGeom>
            <a:solidFill>
              <a:srgbClr val="E3F0FA"/>
            </a:solidFill>
            <a:ln w="9525">
              <a:noFill/>
              <a:miter lim="800000"/>
              <a:headEnd/>
              <a:tailEnd/>
            </a:ln>
          </p:spPr>
          <p:txBody>
            <a:bodyPr wrap="none" anchor="ctr"/>
            <a:lstStyle/>
            <a:p>
              <a:endParaRPr lang="en-US">
                <a:latin typeface="Arial"/>
                <a:cs typeface="Arial"/>
              </a:endParaRPr>
            </a:p>
          </p:txBody>
        </p:sp>
        <p:sp>
          <p:nvSpPr>
            <p:cNvPr id="33815" name="AutoShape 5"/>
            <p:cNvSpPr>
              <a:spLocks noChangeArrowheads="1"/>
            </p:cNvSpPr>
            <p:nvPr/>
          </p:nvSpPr>
          <p:spPr bwMode="auto">
            <a:xfrm>
              <a:off x="2737" y="1298"/>
              <a:ext cx="1206" cy="826"/>
            </a:xfrm>
            <a:prstGeom prst="rtTriangle">
              <a:avLst/>
            </a:prstGeom>
            <a:solidFill>
              <a:srgbClr val="E3F0FA"/>
            </a:solidFill>
            <a:ln w="9525">
              <a:noFill/>
              <a:miter lim="800000"/>
              <a:headEnd/>
              <a:tailEnd/>
            </a:ln>
          </p:spPr>
          <p:txBody>
            <a:bodyPr wrap="none" anchor="ctr"/>
            <a:lstStyle/>
            <a:p>
              <a:endParaRPr lang="en-US">
                <a:latin typeface="Arial"/>
                <a:cs typeface="Arial"/>
              </a:endParaRPr>
            </a:p>
          </p:txBody>
        </p:sp>
        <p:sp>
          <p:nvSpPr>
            <p:cNvPr id="33816" name="AutoShape 6"/>
            <p:cNvSpPr>
              <a:spLocks noChangeArrowheads="1"/>
            </p:cNvSpPr>
            <p:nvPr/>
          </p:nvSpPr>
          <p:spPr bwMode="auto">
            <a:xfrm>
              <a:off x="2735" y="2125"/>
              <a:ext cx="1206" cy="826"/>
            </a:xfrm>
            <a:prstGeom prst="rtTriangle">
              <a:avLst/>
            </a:prstGeom>
            <a:solidFill>
              <a:srgbClr val="E3F0FA"/>
            </a:solidFill>
            <a:ln w="9525">
              <a:noFill/>
              <a:miter lim="800000"/>
              <a:headEnd/>
              <a:tailEnd/>
            </a:ln>
          </p:spPr>
          <p:txBody>
            <a:bodyPr wrap="none" anchor="ctr"/>
            <a:lstStyle/>
            <a:p>
              <a:endParaRPr lang="en-US">
                <a:latin typeface="Arial"/>
                <a:cs typeface="Arial"/>
              </a:endParaRPr>
            </a:p>
          </p:txBody>
        </p:sp>
        <p:sp>
          <p:nvSpPr>
            <p:cNvPr id="33817" name="AutoShape 7"/>
            <p:cNvSpPr>
              <a:spLocks noChangeArrowheads="1"/>
            </p:cNvSpPr>
            <p:nvPr/>
          </p:nvSpPr>
          <p:spPr bwMode="auto">
            <a:xfrm>
              <a:off x="1527" y="2126"/>
              <a:ext cx="1206" cy="826"/>
            </a:xfrm>
            <a:prstGeom prst="rtTriangle">
              <a:avLst/>
            </a:prstGeom>
            <a:solidFill>
              <a:srgbClr val="E3F0FA"/>
            </a:solidFill>
            <a:ln w="9525">
              <a:noFill/>
              <a:miter lim="800000"/>
              <a:headEnd/>
              <a:tailEnd/>
            </a:ln>
          </p:spPr>
          <p:txBody>
            <a:bodyPr wrap="none" anchor="ctr"/>
            <a:lstStyle/>
            <a:p>
              <a:endParaRPr lang="en-US">
                <a:latin typeface="Arial"/>
                <a:cs typeface="Arial"/>
              </a:endParaRPr>
            </a:p>
          </p:txBody>
        </p:sp>
        <p:sp>
          <p:nvSpPr>
            <p:cNvPr id="33818" name="AutoShape 8"/>
            <p:cNvSpPr>
              <a:spLocks noChangeArrowheads="1"/>
            </p:cNvSpPr>
            <p:nvPr/>
          </p:nvSpPr>
          <p:spPr bwMode="auto">
            <a:xfrm rot="10800000">
              <a:off x="1522" y="1298"/>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sp>
          <p:nvSpPr>
            <p:cNvPr id="33819" name="AutoShape 9"/>
            <p:cNvSpPr>
              <a:spLocks noChangeArrowheads="1"/>
            </p:cNvSpPr>
            <p:nvPr/>
          </p:nvSpPr>
          <p:spPr bwMode="auto">
            <a:xfrm rot="10800000">
              <a:off x="2732" y="1298"/>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sp>
          <p:nvSpPr>
            <p:cNvPr id="33820" name="AutoShape 10"/>
            <p:cNvSpPr>
              <a:spLocks noChangeArrowheads="1"/>
            </p:cNvSpPr>
            <p:nvPr/>
          </p:nvSpPr>
          <p:spPr bwMode="auto">
            <a:xfrm rot="10800000">
              <a:off x="2730" y="2125"/>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sp>
          <p:nvSpPr>
            <p:cNvPr id="33821" name="AutoShape 11"/>
            <p:cNvSpPr>
              <a:spLocks noChangeArrowheads="1"/>
            </p:cNvSpPr>
            <p:nvPr/>
          </p:nvSpPr>
          <p:spPr bwMode="auto">
            <a:xfrm rot="10800000">
              <a:off x="1522" y="2126"/>
              <a:ext cx="1206" cy="826"/>
            </a:xfrm>
            <a:prstGeom prst="rtTriangle">
              <a:avLst/>
            </a:prstGeom>
            <a:solidFill>
              <a:srgbClr val="FFCCCC"/>
            </a:solidFill>
            <a:ln w="9525">
              <a:noFill/>
              <a:miter lim="800000"/>
              <a:headEnd/>
              <a:tailEnd/>
            </a:ln>
          </p:spPr>
          <p:txBody>
            <a:bodyPr wrap="none" anchor="ctr"/>
            <a:lstStyle/>
            <a:p>
              <a:endParaRPr lang="en-US">
                <a:latin typeface="Arial"/>
                <a:cs typeface="Arial"/>
              </a:endParaRPr>
            </a:p>
          </p:txBody>
        </p:sp>
        <p:grpSp>
          <p:nvGrpSpPr>
            <p:cNvPr id="3" name="Group 12"/>
            <p:cNvGrpSpPr>
              <a:grpSpLocks/>
            </p:cNvGrpSpPr>
            <p:nvPr/>
          </p:nvGrpSpPr>
          <p:grpSpPr bwMode="auto">
            <a:xfrm>
              <a:off x="1524" y="1296"/>
              <a:ext cx="2417" cy="1658"/>
              <a:chOff x="1335" y="1089"/>
              <a:chExt cx="2290" cy="1791"/>
            </a:xfrm>
          </p:grpSpPr>
          <p:sp>
            <p:nvSpPr>
              <p:cNvPr id="33823" name="Rectangle 13"/>
              <p:cNvSpPr>
                <a:spLocks noChangeArrowheads="1"/>
              </p:cNvSpPr>
              <p:nvPr/>
            </p:nvSpPr>
            <p:spPr bwMode="auto">
              <a:xfrm>
                <a:off x="1335" y="1089"/>
                <a:ext cx="2290" cy="1791"/>
              </a:xfrm>
              <a:prstGeom prst="rect">
                <a:avLst/>
              </a:prstGeom>
              <a:noFill/>
              <a:ln w="9525">
                <a:solidFill>
                  <a:schemeClr val="tx1"/>
                </a:solidFill>
                <a:miter lim="800000"/>
                <a:headEnd/>
                <a:tailEnd/>
              </a:ln>
            </p:spPr>
            <p:txBody>
              <a:bodyPr wrap="none" anchor="ctr"/>
              <a:lstStyle/>
              <a:p>
                <a:endParaRPr lang="en-US">
                  <a:latin typeface="Arial"/>
                  <a:cs typeface="Arial"/>
                </a:endParaRPr>
              </a:p>
            </p:txBody>
          </p:sp>
          <p:sp>
            <p:nvSpPr>
              <p:cNvPr id="33824" name="Line 14"/>
              <p:cNvSpPr>
                <a:spLocks noChangeShapeType="1"/>
              </p:cNvSpPr>
              <p:nvPr/>
            </p:nvSpPr>
            <p:spPr bwMode="auto">
              <a:xfrm>
                <a:off x="1335" y="1988"/>
                <a:ext cx="2290" cy="0"/>
              </a:xfrm>
              <a:prstGeom prst="line">
                <a:avLst/>
              </a:prstGeom>
              <a:noFill/>
              <a:ln w="9525">
                <a:solidFill>
                  <a:schemeClr val="tx1"/>
                </a:solidFill>
                <a:round/>
                <a:headEnd/>
                <a:tailEnd/>
              </a:ln>
            </p:spPr>
            <p:txBody>
              <a:bodyPr/>
              <a:lstStyle/>
              <a:p>
                <a:endParaRPr lang="en-US">
                  <a:latin typeface="Arial"/>
                  <a:cs typeface="Arial"/>
                </a:endParaRPr>
              </a:p>
            </p:txBody>
          </p:sp>
          <p:sp>
            <p:nvSpPr>
              <p:cNvPr id="33825" name="Line 15"/>
              <p:cNvSpPr>
                <a:spLocks noChangeShapeType="1"/>
              </p:cNvSpPr>
              <p:nvPr/>
            </p:nvSpPr>
            <p:spPr bwMode="auto">
              <a:xfrm>
                <a:off x="2480" y="1089"/>
                <a:ext cx="0" cy="1791"/>
              </a:xfrm>
              <a:prstGeom prst="line">
                <a:avLst/>
              </a:prstGeom>
              <a:noFill/>
              <a:ln w="9525">
                <a:solidFill>
                  <a:schemeClr val="tx1"/>
                </a:solidFill>
                <a:round/>
                <a:headEnd/>
                <a:tailEnd/>
              </a:ln>
            </p:spPr>
            <p:txBody>
              <a:bodyPr/>
              <a:lstStyle/>
              <a:p>
                <a:endParaRPr lang="en-US">
                  <a:latin typeface="Arial"/>
                  <a:cs typeface="Arial"/>
                </a:endParaRPr>
              </a:p>
            </p:txBody>
          </p:sp>
        </p:grpSp>
      </p:grpSp>
      <p:sp>
        <p:nvSpPr>
          <p:cNvPr id="33798" name="Text Box 16"/>
          <p:cNvSpPr txBox="1">
            <a:spLocks noChangeArrowheads="1"/>
          </p:cNvSpPr>
          <p:nvPr/>
        </p:nvSpPr>
        <p:spPr bwMode="auto">
          <a:xfrm>
            <a:off x="2684463" y="1868488"/>
            <a:ext cx="2541587" cy="738664"/>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Do not run attack ads (cooperate)</a:t>
            </a:r>
          </a:p>
        </p:txBody>
      </p:sp>
      <p:sp>
        <p:nvSpPr>
          <p:cNvPr id="106513" name="Text Box 20"/>
          <p:cNvSpPr txBox="1">
            <a:spLocks noChangeArrowheads="1"/>
          </p:cNvSpPr>
          <p:nvPr/>
        </p:nvSpPr>
        <p:spPr bwMode="auto">
          <a:xfrm>
            <a:off x="4281488" y="1141413"/>
            <a:ext cx="2538412" cy="558800"/>
          </a:xfrm>
          <a:prstGeom prst="rect">
            <a:avLst/>
          </a:prstGeom>
          <a:solidFill>
            <a:srgbClr val="FFCCCC"/>
          </a:solidFill>
          <a:ln w="9525">
            <a:solidFill>
              <a:srgbClr val="FFCCCC"/>
            </a:solidFill>
            <a:miter lim="800000"/>
            <a:headEnd/>
            <a:tailEnd/>
          </a:ln>
        </p:spPr>
        <p:txBody>
          <a:bodyPr tIns="91440" bIns="91440">
            <a:spAutoFit/>
          </a:bodyPr>
          <a:lstStyle/>
          <a:p>
            <a:pPr algn="ctr">
              <a:spcBef>
                <a:spcPct val="50000"/>
              </a:spcBef>
              <a:defRPr/>
            </a:pPr>
            <a:r>
              <a:rPr lang="en-US" sz="2400" b="1" dirty="0">
                <a:latin typeface="Arial"/>
                <a:cs typeface="Arial"/>
              </a:rPr>
              <a:t>R’s decision</a:t>
            </a:r>
          </a:p>
        </p:txBody>
      </p:sp>
      <p:sp>
        <p:nvSpPr>
          <p:cNvPr id="106514" name="Text Box 21"/>
          <p:cNvSpPr txBox="1">
            <a:spLocks noChangeArrowheads="1"/>
          </p:cNvSpPr>
          <p:nvPr/>
        </p:nvSpPr>
        <p:spPr bwMode="auto">
          <a:xfrm>
            <a:off x="192088" y="4192588"/>
            <a:ext cx="2019300" cy="558800"/>
          </a:xfrm>
          <a:prstGeom prst="rect">
            <a:avLst/>
          </a:prstGeom>
          <a:solidFill>
            <a:srgbClr val="E3F0FA"/>
          </a:solidFill>
          <a:ln w="9525">
            <a:solidFill>
              <a:srgbClr val="E3F0FA"/>
            </a:solidFill>
            <a:miter lim="800000"/>
            <a:headEnd/>
            <a:tailEnd/>
          </a:ln>
        </p:spPr>
        <p:txBody>
          <a:bodyPr tIns="91440" bIns="91440">
            <a:spAutoFit/>
          </a:bodyPr>
          <a:lstStyle/>
          <a:p>
            <a:pPr algn="ctr">
              <a:spcBef>
                <a:spcPct val="50000"/>
              </a:spcBef>
              <a:defRPr/>
            </a:pPr>
            <a:r>
              <a:rPr lang="en-US" sz="2400" b="1" dirty="0">
                <a:latin typeface="Arial"/>
                <a:cs typeface="Arial"/>
              </a:rPr>
              <a:t>D’s decision</a:t>
            </a:r>
          </a:p>
        </p:txBody>
      </p:sp>
      <p:sp>
        <p:nvSpPr>
          <p:cNvPr id="106515" name="Text Box 22"/>
          <p:cNvSpPr txBox="1">
            <a:spLocks noChangeArrowheads="1"/>
          </p:cNvSpPr>
          <p:nvPr/>
        </p:nvSpPr>
        <p:spPr bwMode="auto">
          <a:xfrm>
            <a:off x="3649663" y="2693988"/>
            <a:ext cx="1957387" cy="793750"/>
          </a:xfrm>
          <a:prstGeom prst="rect">
            <a:avLst/>
          </a:prstGeom>
          <a:noFill/>
          <a:ln w="9525">
            <a:noFill/>
            <a:miter lim="800000"/>
            <a:headEnd/>
            <a:tailEnd/>
          </a:ln>
        </p:spPr>
        <p:txBody>
          <a:bodyPr>
            <a:spAutoFit/>
          </a:bodyPr>
          <a:lstStyle/>
          <a:p>
            <a:pPr algn="r">
              <a:spcBef>
                <a:spcPct val="50000"/>
              </a:spcBef>
              <a:defRPr/>
            </a:pPr>
            <a:r>
              <a:rPr lang="en-US" sz="2300" dirty="0">
                <a:latin typeface="Arial"/>
                <a:cs typeface="Arial"/>
              </a:rPr>
              <a:t>no votes lost or gained</a:t>
            </a:r>
          </a:p>
        </p:txBody>
      </p:sp>
      <p:sp>
        <p:nvSpPr>
          <p:cNvPr id="106516" name="Text Box 23"/>
          <p:cNvSpPr txBox="1">
            <a:spLocks noChangeArrowheads="1"/>
          </p:cNvSpPr>
          <p:nvPr/>
        </p:nvSpPr>
        <p:spPr bwMode="auto">
          <a:xfrm>
            <a:off x="2368550" y="3622675"/>
            <a:ext cx="2132013" cy="793750"/>
          </a:xfrm>
          <a:prstGeom prst="rect">
            <a:avLst/>
          </a:prstGeom>
          <a:noFill/>
          <a:ln w="9525">
            <a:noFill/>
            <a:miter lim="800000"/>
            <a:headEnd/>
            <a:tailEnd/>
          </a:ln>
        </p:spPr>
        <p:txBody>
          <a:bodyPr>
            <a:spAutoFit/>
          </a:bodyPr>
          <a:lstStyle/>
          <a:p>
            <a:pPr>
              <a:spcBef>
                <a:spcPct val="50000"/>
              </a:spcBef>
              <a:defRPr/>
            </a:pPr>
            <a:r>
              <a:rPr lang="en-US" sz="2300" dirty="0">
                <a:latin typeface="Arial"/>
                <a:cs typeface="Arial"/>
              </a:rPr>
              <a:t>no votes </a:t>
            </a:r>
            <a:br>
              <a:rPr lang="en-US" sz="2300" dirty="0">
                <a:latin typeface="Arial"/>
                <a:cs typeface="Arial"/>
              </a:rPr>
            </a:br>
            <a:r>
              <a:rPr lang="en-US" sz="2300" dirty="0">
                <a:latin typeface="Arial"/>
                <a:cs typeface="Arial"/>
              </a:rPr>
              <a:t>lost or gained</a:t>
            </a:r>
          </a:p>
        </p:txBody>
      </p:sp>
      <p:sp>
        <p:nvSpPr>
          <p:cNvPr id="106517" name="Text Box 24"/>
          <p:cNvSpPr txBox="1">
            <a:spLocks noChangeArrowheads="1"/>
          </p:cNvSpPr>
          <p:nvPr/>
        </p:nvSpPr>
        <p:spPr bwMode="auto">
          <a:xfrm>
            <a:off x="6557169" y="2693988"/>
            <a:ext cx="2262981" cy="793750"/>
          </a:xfrm>
          <a:prstGeom prst="rect">
            <a:avLst/>
          </a:prstGeom>
          <a:noFill/>
          <a:ln w="9525">
            <a:noFill/>
            <a:miter lim="800000"/>
            <a:headEnd/>
            <a:tailEnd/>
          </a:ln>
        </p:spPr>
        <p:txBody>
          <a:bodyPr wrap="square">
            <a:spAutoFit/>
          </a:bodyPr>
          <a:lstStyle/>
          <a:p>
            <a:pPr algn="r">
              <a:spcBef>
                <a:spcPct val="50000"/>
              </a:spcBef>
              <a:defRPr/>
            </a:pPr>
            <a:r>
              <a:rPr lang="en-US" sz="2300" dirty="0">
                <a:latin typeface="Arial"/>
                <a:cs typeface="Arial"/>
              </a:rPr>
              <a:t>R gains 1,000 votes</a:t>
            </a:r>
          </a:p>
        </p:txBody>
      </p:sp>
      <p:sp>
        <p:nvSpPr>
          <p:cNvPr id="106518" name="Text Box 25"/>
          <p:cNvSpPr txBox="1">
            <a:spLocks noChangeArrowheads="1"/>
          </p:cNvSpPr>
          <p:nvPr/>
        </p:nvSpPr>
        <p:spPr bwMode="auto">
          <a:xfrm>
            <a:off x="6819900" y="4452938"/>
            <a:ext cx="1979613" cy="793750"/>
          </a:xfrm>
          <a:prstGeom prst="rect">
            <a:avLst/>
          </a:prstGeom>
          <a:noFill/>
          <a:ln w="9525">
            <a:noFill/>
            <a:miter lim="800000"/>
            <a:headEnd/>
            <a:tailEnd/>
          </a:ln>
        </p:spPr>
        <p:txBody>
          <a:bodyPr wrap="square">
            <a:spAutoFit/>
          </a:bodyPr>
          <a:lstStyle/>
          <a:p>
            <a:pPr algn="r">
              <a:spcBef>
                <a:spcPct val="50000"/>
              </a:spcBef>
              <a:defRPr/>
            </a:pPr>
            <a:r>
              <a:rPr lang="en-US" sz="2300" dirty="0">
                <a:latin typeface="Arial"/>
                <a:cs typeface="Arial"/>
              </a:rPr>
              <a:t>R loses 2,000 votes</a:t>
            </a:r>
          </a:p>
        </p:txBody>
      </p:sp>
      <p:sp>
        <p:nvSpPr>
          <p:cNvPr id="106519" name="Text Box 26"/>
          <p:cNvSpPr txBox="1">
            <a:spLocks noChangeArrowheads="1"/>
          </p:cNvSpPr>
          <p:nvPr/>
        </p:nvSpPr>
        <p:spPr bwMode="auto">
          <a:xfrm>
            <a:off x="3425825" y="4440238"/>
            <a:ext cx="2155825" cy="793750"/>
          </a:xfrm>
          <a:prstGeom prst="rect">
            <a:avLst/>
          </a:prstGeom>
          <a:noFill/>
          <a:ln w="9525">
            <a:noFill/>
            <a:miter lim="800000"/>
            <a:headEnd/>
            <a:tailEnd/>
          </a:ln>
        </p:spPr>
        <p:txBody>
          <a:bodyPr wrap="square">
            <a:spAutoFit/>
          </a:bodyPr>
          <a:lstStyle/>
          <a:p>
            <a:pPr algn="r">
              <a:spcBef>
                <a:spcPct val="50000"/>
              </a:spcBef>
              <a:defRPr/>
            </a:pPr>
            <a:r>
              <a:rPr lang="en-US" sz="2300" dirty="0">
                <a:latin typeface="Arial"/>
                <a:cs typeface="Arial"/>
              </a:rPr>
              <a:t>R loses 3,000 votes</a:t>
            </a:r>
          </a:p>
        </p:txBody>
      </p:sp>
      <p:sp>
        <p:nvSpPr>
          <p:cNvPr id="106520" name="Text Box 27"/>
          <p:cNvSpPr txBox="1">
            <a:spLocks noChangeArrowheads="1"/>
          </p:cNvSpPr>
          <p:nvPr/>
        </p:nvSpPr>
        <p:spPr bwMode="auto">
          <a:xfrm>
            <a:off x="5603875" y="3625850"/>
            <a:ext cx="1906588" cy="793750"/>
          </a:xfrm>
          <a:prstGeom prst="rect">
            <a:avLst/>
          </a:prstGeom>
          <a:noFill/>
          <a:ln w="9525">
            <a:noFill/>
            <a:miter lim="800000"/>
            <a:headEnd/>
            <a:tailEnd/>
          </a:ln>
        </p:spPr>
        <p:txBody>
          <a:bodyPr>
            <a:spAutoFit/>
          </a:bodyPr>
          <a:lstStyle/>
          <a:p>
            <a:pPr>
              <a:spcBef>
                <a:spcPct val="50000"/>
              </a:spcBef>
              <a:defRPr/>
            </a:pPr>
            <a:r>
              <a:rPr lang="en-US" sz="2300" dirty="0">
                <a:latin typeface="Arial"/>
                <a:cs typeface="Arial"/>
              </a:rPr>
              <a:t>D loses </a:t>
            </a:r>
            <a:br>
              <a:rPr lang="en-US" sz="2300" dirty="0">
                <a:latin typeface="Arial"/>
                <a:cs typeface="Arial"/>
              </a:rPr>
            </a:br>
            <a:r>
              <a:rPr lang="en-US" sz="2300" dirty="0">
                <a:latin typeface="Arial"/>
                <a:cs typeface="Arial"/>
              </a:rPr>
              <a:t>3,000 votes</a:t>
            </a:r>
          </a:p>
        </p:txBody>
      </p:sp>
      <p:sp>
        <p:nvSpPr>
          <p:cNvPr id="106521" name="Text Box 28"/>
          <p:cNvSpPr txBox="1">
            <a:spLocks noChangeArrowheads="1"/>
          </p:cNvSpPr>
          <p:nvPr/>
        </p:nvSpPr>
        <p:spPr bwMode="auto">
          <a:xfrm>
            <a:off x="5603875" y="5351463"/>
            <a:ext cx="1906588" cy="793750"/>
          </a:xfrm>
          <a:prstGeom prst="rect">
            <a:avLst/>
          </a:prstGeom>
          <a:noFill/>
          <a:ln w="9525">
            <a:noFill/>
            <a:miter lim="800000"/>
            <a:headEnd/>
            <a:tailEnd/>
          </a:ln>
        </p:spPr>
        <p:txBody>
          <a:bodyPr>
            <a:spAutoFit/>
          </a:bodyPr>
          <a:lstStyle/>
          <a:p>
            <a:pPr>
              <a:spcBef>
                <a:spcPct val="50000"/>
              </a:spcBef>
              <a:defRPr/>
            </a:pPr>
            <a:r>
              <a:rPr lang="en-US" sz="2300" dirty="0">
                <a:latin typeface="Arial"/>
                <a:cs typeface="Arial"/>
              </a:rPr>
              <a:t>D loses </a:t>
            </a:r>
            <a:br>
              <a:rPr lang="en-US" sz="2300" dirty="0">
                <a:latin typeface="Arial"/>
                <a:cs typeface="Arial"/>
              </a:rPr>
            </a:br>
            <a:r>
              <a:rPr lang="en-US" sz="2300" dirty="0">
                <a:latin typeface="Arial"/>
                <a:cs typeface="Arial"/>
              </a:rPr>
              <a:t>2,000 votes</a:t>
            </a:r>
          </a:p>
        </p:txBody>
      </p:sp>
      <p:sp>
        <p:nvSpPr>
          <p:cNvPr id="106522" name="Text Box 29"/>
          <p:cNvSpPr txBox="1">
            <a:spLocks noChangeArrowheads="1"/>
          </p:cNvSpPr>
          <p:nvPr/>
        </p:nvSpPr>
        <p:spPr bwMode="auto">
          <a:xfrm>
            <a:off x="2378075" y="5359400"/>
            <a:ext cx="2095500" cy="793750"/>
          </a:xfrm>
          <a:prstGeom prst="rect">
            <a:avLst/>
          </a:prstGeom>
          <a:noFill/>
          <a:ln w="9525">
            <a:noFill/>
            <a:miter lim="800000"/>
            <a:headEnd/>
            <a:tailEnd/>
          </a:ln>
        </p:spPr>
        <p:txBody>
          <a:bodyPr>
            <a:spAutoFit/>
          </a:bodyPr>
          <a:lstStyle/>
          <a:p>
            <a:pPr>
              <a:spcBef>
                <a:spcPct val="50000"/>
              </a:spcBef>
              <a:defRPr/>
            </a:pPr>
            <a:r>
              <a:rPr lang="en-US" sz="2300" dirty="0">
                <a:latin typeface="Arial"/>
                <a:cs typeface="Arial"/>
              </a:rPr>
              <a:t>D gains </a:t>
            </a:r>
            <a:br>
              <a:rPr lang="en-US" sz="2300" dirty="0">
                <a:latin typeface="Arial"/>
                <a:cs typeface="Arial"/>
              </a:rPr>
            </a:br>
            <a:r>
              <a:rPr lang="en-US" sz="2300" dirty="0">
                <a:latin typeface="Arial"/>
                <a:cs typeface="Arial"/>
              </a:rPr>
              <a:t>1,000 votes</a:t>
            </a:r>
          </a:p>
        </p:txBody>
      </p:sp>
      <p:sp>
        <p:nvSpPr>
          <p:cNvPr id="257054" name="Text Box 30"/>
          <p:cNvSpPr txBox="1">
            <a:spLocks noChangeArrowheads="1"/>
          </p:cNvSpPr>
          <p:nvPr/>
        </p:nvSpPr>
        <p:spPr bwMode="auto">
          <a:xfrm>
            <a:off x="282575" y="838200"/>
            <a:ext cx="2917825" cy="1258888"/>
          </a:xfrm>
          <a:prstGeom prst="rect">
            <a:avLst/>
          </a:prstGeom>
          <a:noFill/>
          <a:ln w="9525">
            <a:noFill/>
            <a:miter lim="800000"/>
            <a:headEnd/>
            <a:tailEnd/>
          </a:ln>
          <a:effectLst/>
        </p:spPr>
        <p:txBody>
          <a:bodyPr/>
          <a:lstStyle/>
          <a:p>
            <a:pPr>
              <a:spcBef>
                <a:spcPct val="50000"/>
              </a:spcBef>
              <a:defRPr/>
            </a:pPr>
            <a:r>
              <a:rPr lang="en-US" sz="2600" dirty="0">
                <a:solidFill>
                  <a:srgbClr val="4E519E"/>
                </a:solidFill>
                <a:latin typeface="Arial"/>
                <a:cs typeface="Arial"/>
              </a:rPr>
              <a:t>Each candidate’s dominant strategy:  </a:t>
            </a:r>
            <a:r>
              <a:rPr lang="en-US" sz="2600" b="1" i="1" dirty="0">
                <a:solidFill>
                  <a:srgbClr val="4E519E"/>
                </a:solidFill>
                <a:latin typeface="Arial"/>
                <a:cs typeface="Arial"/>
              </a:rPr>
              <a:t>run attack ads.</a:t>
            </a:r>
          </a:p>
        </p:txBody>
      </p:sp>
      <p:sp>
        <p:nvSpPr>
          <p:cNvPr id="33810"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33811" name="Text Box 32"/>
          <p:cNvSpPr txBox="1">
            <a:spLocks noChangeArrowheads="1"/>
          </p:cNvSpPr>
          <p:nvPr/>
        </p:nvSpPr>
        <p:spPr bwMode="auto">
          <a:xfrm>
            <a:off x="5945188" y="1858963"/>
            <a:ext cx="2516187" cy="738664"/>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Run attack ads (defect)</a:t>
            </a:r>
          </a:p>
        </p:txBody>
      </p:sp>
      <p:sp>
        <p:nvSpPr>
          <p:cNvPr id="33812" name="Text Box 33"/>
          <p:cNvSpPr txBox="1">
            <a:spLocks noChangeArrowheads="1"/>
          </p:cNvSpPr>
          <p:nvPr/>
        </p:nvSpPr>
        <p:spPr bwMode="auto">
          <a:xfrm>
            <a:off x="363538" y="2844800"/>
            <a:ext cx="1827212" cy="1107995"/>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Do not run attack ads (cooperate)</a:t>
            </a:r>
          </a:p>
        </p:txBody>
      </p:sp>
      <p:sp>
        <p:nvSpPr>
          <p:cNvPr id="33813" name="Text Box 34"/>
          <p:cNvSpPr txBox="1">
            <a:spLocks noChangeArrowheads="1"/>
          </p:cNvSpPr>
          <p:nvPr/>
        </p:nvSpPr>
        <p:spPr bwMode="auto">
          <a:xfrm>
            <a:off x="423863" y="4879975"/>
            <a:ext cx="1601787" cy="1107995"/>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Run </a:t>
            </a:r>
            <a:br>
              <a:rPr lang="en-US" sz="2400">
                <a:latin typeface="Arial"/>
                <a:cs typeface="Arial"/>
              </a:rPr>
            </a:br>
            <a:r>
              <a:rPr lang="en-US" sz="2400">
                <a:latin typeface="Arial"/>
                <a:cs typeface="Arial"/>
              </a:rPr>
              <a:t>attack ads (defect)</a:t>
            </a:r>
          </a:p>
        </p:txBody>
      </p:sp>
      <p:sp>
        <p:nvSpPr>
          <p:cNvPr id="4" name="Footer Placeholder 3">
            <a:extLst>
              <a:ext uri="{FF2B5EF4-FFF2-40B4-BE49-F238E27FC236}">
                <a16:creationId xmlns:a16="http://schemas.microsoft.com/office/drawing/2014/main" id="{E15F16E9-E8F1-7C39-369A-1B239239B71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21460235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7054"/>
                                        </p:tgtEl>
                                        <p:attrNameLst>
                                          <p:attrName>style.visibility</p:attrName>
                                        </p:attrNameLst>
                                      </p:cBhvr>
                                      <p:to>
                                        <p:strVal val="visible"/>
                                      </p:to>
                                    </p:set>
                                    <p:animEffect transition="in" filter="fade">
                                      <p:cBhvr>
                                        <p:cTn id="7" dur="500"/>
                                        <p:tgtEl>
                                          <p:spTgt spid="257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54"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p:txBody>
          <a:bodyPr>
            <a:noAutofit/>
          </a:bodyPr>
          <a:lstStyle/>
          <a:p>
            <a:pPr eaLnBrk="1" hangingPunct="1"/>
            <a:r>
              <a:rPr lang="en-US" dirty="0"/>
              <a:t>EXAMPLE 4: </a:t>
            </a:r>
            <a:r>
              <a:rPr lang="en-US" dirty="0">
                <a:solidFill>
                  <a:schemeClr val="tx1"/>
                </a:solidFill>
              </a:rPr>
              <a:t>Negative campaign ads – 3 </a:t>
            </a:r>
          </a:p>
        </p:txBody>
      </p:sp>
      <p:sp>
        <p:nvSpPr>
          <p:cNvPr id="34821" name="Rectangle 3"/>
          <p:cNvSpPr>
            <a:spLocks noGrp="1" noChangeArrowheads="1"/>
          </p:cNvSpPr>
          <p:nvPr>
            <p:ph idx="1"/>
          </p:nvPr>
        </p:nvSpPr>
        <p:spPr>
          <a:prstGeom prst="rect">
            <a:avLst/>
          </a:prstGeom>
        </p:spPr>
        <p:txBody>
          <a:bodyPr>
            <a:normAutofit/>
          </a:bodyPr>
          <a:lstStyle/>
          <a:p>
            <a:pPr eaLnBrk="1" hangingPunct="1"/>
            <a:r>
              <a:rPr lang="en-US" dirty="0"/>
              <a:t>Nash equilibrium</a:t>
            </a:r>
          </a:p>
          <a:p>
            <a:pPr lvl="1" eaLnBrk="1" hangingPunct="1"/>
            <a:r>
              <a:rPr lang="en-US" sz="3000" dirty="0">
                <a:solidFill>
                  <a:srgbClr val="4E519E"/>
                </a:solidFill>
              </a:rPr>
              <a:t>Both candidates run attack ads.  </a:t>
            </a:r>
          </a:p>
          <a:p>
            <a:pPr eaLnBrk="1" hangingPunct="1"/>
            <a:r>
              <a:rPr lang="en-US" dirty="0"/>
              <a:t>Effects on election outcome:  </a:t>
            </a:r>
            <a:r>
              <a:rPr lang="en-US" dirty="0">
                <a:solidFill>
                  <a:srgbClr val="C00000"/>
                </a:solidFill>
              </a:rPr>
              <a:t>NONE</a:t>
            </a:r>
            <a:r>
              <a:rPr lang="en-US" dirty="0"/>
              <a:t>  </a:t>
            </a:r>
          </a:p>
          <a:p>
            <a:pPr lvl="1" eaLnBrk="1" hangingPunct="1"/>
            <a:r>
              <a:rPr lang="en-US" sz="3000" dirty="0">
                <a:solidFill>
                  <a:srgbClr val="4E519E"/>
                </a:solidFill>
              </a:rPr>
              <a:t>Each side’s ads cancel out the effects of the other side’s ads.  </a:t>
            </a:r>
          </a:p>
          <a:p>
            <a:pPr eaLnBrk="1" hangingPunct="1"/>
            <a:r>
              <a:rPr lang="en-US" dirty="0"/>
              <a:t>Effects on society:  </a:t>
            </a:r>
            <a:r>
              <a:rPr lang="en-US" dirty="0">
                <a:solidFill>
                  <a:srgbClr val="C00000"/>
                </a:solidFill>
              </a:rPr>
              <a:t>NEGATIVE</a:t>
            </a:r>
          </a:p>
          <a:p>
            <a:pPr lvl="1" eaLnBrk="1" hangingPunct="1"/>
            <a:r>
              <a:rPr lang="en-US" sz="3000" dirty="0">
                <a:solidFill>
                  <a:srgbClr val="4E519E"/>
                </a:solidFill>
              </a:rPr>
              <a:t>Lower voter turnout, higher apathy about politics, less voter scrutiny of elected officials’ actions.</a:t>
            </a:r>
          </a:p>
        </p:txBody>
      </p:sp>
      <p:sp>
        <p:nvSpPr>
          <p:cNvPr id="3" name="Slide Number Placeholder 2"/>
          <p:cNvSpPr>
            <a:spLocks noGrp="1"/>
          </p:cNvSpPr>
          <p:nvPr>
            <p:ph type="sldNum" sz="quarter" idx="10"/>
          </p:nvPr>
        </p:nvSpPr>
        <p:spPr>
          <a:prstGeom prst="rect">
            <a:avLst/>
          </a:prstGeom>
        </p:spPr>
        <p:txBody>
          <a:bodyPr/>
          <a:lstStyle/>
          <a:p>
            <a:pPr>
              <a:defRPr/>
            </a:pPr>
            <a:fld id="{073C29DC-2178-4274-9150-45F8EBD31C2D}" type="slidenum">
              <a:rPr lang="en-US" smtClean="0"/>
              <a:pPr>
                <a:defRPr/>
              </a:pPr>
              <a:t>32</a:t>
            </a:fld>
            <a:endParaRPr lang="en-US"/>
          </a:p>
        </p:txBody>
      </p:sp>
      <p:sp>
        <p:nvSpPr>
          <p:cNvPr id="2" name="Footer Placeholder 1">
            <a:extLst>
              <a:ext uri="{FF2B5EF4-FFF2-40B4-BE49-F238E27FC236}">
                <a16:creationId xmlns:a16="http://schemas.microsoft.com/office/drawing/2014/main" id="{3B2926CD-CDF3-DC63-27B9-4DB34BF3C906}"/>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432863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821">
                                            <p:txEl>
                                              <p:pRg st="0" end="0"/>
                                            </p:txEl>
                                          </p:spTgt>
                                        </p:tgtEl>
                                        <p:attrNameLst>
                                          <p:attrName>style.visibility</p:attrName>
                                        </p:attrNameLst>
                                      </p:cBhvr>
                                      <p:to>
                                        <p:strVal val="visible"/>
                                      </p:to>
                                    </p:set>
                                    <p:animEffect transition="in" filter="wipe(left)">
                                      <p:cBhvr>
                                        <p:cTn id="7" dur="500"/>
                                        <p:tgtEl>
                                          <p:spTgt spid="348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1">
                                            <p:txEl>
                                              <p:pRg st="1" end="1"/>
                                            </p:txEl>
                                          </p:spTgt>
                                        </p:tgtEl>
                                        <p:attrNameLst>
                                          <p:attrName>style.visibility</p:attrName>
                                        </p:attrNameLst>
                                      </p:cBhvr>
                                      <p:to>
                                        <p:strVal val="visible"/>
                                      </p:to>
                                    </p:set>
                                    <p:animEffect transition="in" filter="wipe(left)">
                                      <p:cBhvr>
                                        <p:cTn id="12" dur="500"/>
                                        <p:tgtEl>
                                          <p:spTgt spid="348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21">
                                            <p:txEl>
                                              <p:pRg st="2" end="2"/>
                                            </p:txEl>
                                          </p:spTgt>
                                        </p:tgtEl>
                                        <p:attrNameLst>
                                          <p:attrName>style.visibility</p:attrName>
                                        </p:attrNameLst>
                                      </p:cBhvr>
                                      <p:to>
                                        <p:strVal val="visible"/>
                                      </p:to>
                                    </p:set>
                                    <p:animEffect transition="in" filter="wipe(left)">
                                      <p:cBhvr>
                                        <p:cTn id="17" dur="500"/>
                                        <p:tgtEl>
                                          <p:spTgt spid="34821">
                                            <p:txEl>
                                              <p:pRg st="2" end="2"/>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4821">
                                            <p:txEl>
                                              <p:pRg st="3" end="3"/>
                                            </p:txEl>
                                          </p:spTgt>
                                        </p:tgtEl>
                                        <p:attrNameLst>
                                          <p:attrName>style.visibility</p:attrName>
                                        </p:attrNameLst>
                                      </p:cBhvr>
                                      <p:to>
                                        <p:strVal val="visible"/>
                                      </p:to>
                                    </p:set>
                                    <p:animEffect transition="in" filter="wipe(left)">
                                      <p:cBhvr>
                                        <p:cTn id="21" dur="500"/>
                                        <p:tgtEl>
                                          <p:spTgt spid="34821">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4821">
                                            <p:txEl>
                                              <p:pRg st="4" end="4"/>
                                            </p:txEl>
                                          </p:spTgt>
                                        </p:tgtEl>
                                        <p:attrNameLst>
                                          <p:attrName>style.visibility</p:attrName>
                                        </p:attrNameLst>
                                      </p:cBhvr>
                                      <p:to>
                                        <p:strVal val="visible"/>
                                      </p:to>
                                    </p:set>
                                    <p:animEffect transition="in" filter="wipe(left)">
                                      <p:cBhvr>
                                        <p:cTn id="26" dur="500"/>
                                        <p:tgtEl>
                                          <p:spTgt spid="34821">
                                            <p:txEl>
                                              <p:pRg st="4" end="4"/>
                                            </p:txEl>
                                          </p:spTgt>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34821">
                                            <p:txEl>
                                              <p:pRg st="5" end="5"/>
                                            </p:txEl>
                                          </p:spTgt>
                                        </p:tgtEl>
                                        <p:attrNameLst>
                                          <p:attrName>style.visibility</p:attrName>
                                        </p:attrNameLst>
                                      </p:cBhvr>
                                      <p:to>
                                        <p:strVal val="visible"/>
                                      </p:to>
                                    </p:set>
                                    <p:animEffect transition="in" filter="wipe(left)">
                                      <p:cBhvr>
                                        <p:cTn id="30" dur="500"/>
                                        <p:tgtEl>
                                          <p:spTgt spid="3482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uiExpand="1" build="p" bldLvl="4"/>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wrap="square" anchor="ctr"/>
          <a:lstStyle/>
          <a:p>
            <a:r>
              <a:rPr lang="en-US" altLang="en-US" sz="3800" dirty="0"/>
              <a:t>Why People Sometimes Cooperate</a:t>
            </a:r>
          </a:p>
        </p:txBody>
      </p:sp>
      <p:sp>
        <p:nvSpPr>
          <p:cNvPr id="37891" name="Content Placeholder 2"/>
          <p:cNvSpPr>
            <a:spLocks noGrp="1"/>
          </p:cNvSpPr>
          <p:nvPr>
            <p:ph idx="1"/>
          </p:nvPr>
        </p:nvSpPr>
        <p:spPr>
          <a:prstGeom prst="rect">
            <a:avLst/>
          </a:prstGeom>
        </p:spPr>
        <p:txBody>
          <a:bodyPr/>
          <a:lstStyle/>
          <a:p>
            <a:pPr lvl="1"/>
            <a:r>
              <a:rPr lang="en-US" altLang="en-US" dirty="0"/>
              <a:t>When the game </a:t>
            </a:r>
            <a:r>
              <a:rPr lang="en-US" altLang="en-US" u="sng" dirty="0"/>
              <a:t>is repeated many times</a:t>
            </a:r>
            <a:r>
              <a:rPr lang="en-US" altLang="en-US" dirty="0"/>
              <a:t>, cooperation may be possible</a:t>
            </a:r>
          </a:p>
          <a:p>
            <a:r>
              <a:rPr lang="en-US" altLang="en-US" dirty="0"/>
              <a:t>Two strategies may lead to cooperation:</a:t>
            </a:r>
          </a:p>
          <a:p>
            <a:pPr lvl="1"/>
            <a:r>
              <a:rPr lang="en-US" altLang="en-US" dirty="0"/>
              <a:t>If your rival reneges in one round, you renege in all subsequent rounds.</a:t>
            </a:r>
          </a:p>
          <a:p>
            <a:pPr lvl="1"/>
            <a:r>
              <a:rPr lang="en-US" altLang="en-US" dirty="0"/>
              <a:t>“Tit-for-tat” </a:t>
            </a:r>
            <a:br>
              <a:rPr lang="en-US" altLang="en-US" dirty="0"/>
            </a:br>
            <a:r>
              <a:rPr lang="en-US" altLang="en-US" dirty="0"/>
              <a:t>Whatever your rival does in one round </a:t>
            </a:r>
            <a:br>
              <a:rPr lang="en-US" altLang="en-US" dirty="0"/>
            </a:br>
            <a:r>
              <a:rPr lang="en-US" altLang="en-US" dirty="0"/>
              <a:t>(whether renege or cooperate), you do in the following round. </a:t>
            </a:r>
          </a:p>
          <a:p>
            <a:endParaRPr lang="en-US" altLang="en-US" dirty="0"/>
          </a:p>
        </p:txBody>
      </p:sp>
      <p:sp>
        <p:nvSpPr>
          <p:cNvPr id="3789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99890D6E-9F1D-42E1-880E-FB3282E54C15}" type="slidenum">
              <a:rPr lang="en-US" altLang="en-US" sz="1200" smtClean="0">
                <a:solidFill>
                  <a:srgbClr val="002060"/>
                </a:solidFill>
              </a:rPr>
              <a:pPr eaLnBrk="1" hangingPunct="1"/>
              <a:t>33</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862FFFF1-B021-DB9F-6BD5-BFD367D9E1DD}"/>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1632151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wrap="square" anchor="ctr"/>
          <a:lstStyle/>
          <a:p>
            <a:r>
              <a:rPr lang="en-US" altLang="en-US" dirty="0"/>
              <a:t>Public Policy Toward Oligopolies</a:t>
            </a:r>
          </a:p>
        </p:txBody>
      </p:sp>
      <p:sp>
        <p:nvSpPr>
          <p:cNvPr id="40963" name="Content Placeholder 2"/>
          <p:cNvSpPr>
            <a:spLocks noGrp="1"/>
          </p:cNvSpPr>
          <p:nvPr>
            <p:ph idx="1"/>
          </p:nvPr>
        </p:nvSpPr>
        <p:spPr>
          <a:prstGeom prst="rect">
            <a:avLst/>
          </a:prstGeom>
        </p:spPr>
        <p:txBody>
          <a:bodyPr/>
          <a:lstStyle/>
          <a:p>
            <a:r>
              <a:rPr lang="en-US" altLang="en-US" dirty="0"/>
              <a:t>Governments can sometimes improve market outcomes.</a:t>
            </a:r>
          </a:p>
          <a:p>
            <a:r>
              <a:rPr lang="en-US" altLang="en-US" dirty="0"/>
              <a:t>Policymakers</a:t>
            </a:r>
          </a:p>
          <a:p>
            <a:pPr lvl="1"/>
            <a:r>
              <a:rPr lang="en-US" altLang="en-US" dirty="0"/>
              <a:t>Try to induce firms in an oligopoly to compete rather than cooperate</a:t>
            </a:r>
          </a:p>
          <a:p>
            <a:pPr lvl="1"/>
            <a:r>
              <a:rPr lang="en-US" altLang="en-US" dirty="0"/>
              <a:t>Move the allocation of resources closer to the social optimum</a:t>
            </a:r>
          </a:p>
        </p:txBody>
      </p:sp>
      <p:sp>
        <p:nvSpPr>
          <p:cNvPr id="4096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68F2BF2B-2E29-4670-8893-B4336E24612B}" type="slidenum">
              <a:rPr lang="en-US" altLang="en-US" sz="1200" smtClean="0">
                <a:solidFill>
                  <a:srgbClr val="002060"/>
                </a:solidFill>
              </a:rPr>
              <a:pPr eaLnBrk="1" hangingPunct="1"/>
              <a:t>34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42F419EA-624D-536A-F1BA-7D0DFD6252AC}"/>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7274325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917654-0B85-8F3D-8B60-18301900C083}"/>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35</a:t>
            </a:fld>
            <a:endParaRPr lang="en-US" dirty="0"/>
          </a:p>
        </p:txBody>
      </p:sp>
      <p:sp>
        <p:nvSpPr>
          <p:cNvPr id="3" name="Text Placeholder 2">
            <a:extLst>
              <a:ext uri="{FF2B5EF4-FFF2-40B4-BE49-F238E27FC236}">
                <a16:creationId xmlns:a16="http://schemas.microsoft.com/office/drawing/2014/main" id="{8DA9081D-544C-EFB7-E5F1-B9C4178DD233}"/>
              </a:ext>
            </a:extLst>
          </p:cNvPr>
          <p:cNvSpPr>
            <a:spLocks noGrp="1"/>
          </p:cNvSpPr>
          <p:nvPr>
            <p:ph type="body" sz="quarter" idx="12"/>
          </p:nvPr>
        </p:nvSpPr>
        <p:spPr/>
        <p:txBody>
          <a:bodyPr/>
          <a:lstStyle/>
          <a:p>
            <a:r>
              <a:rPr lang="en-US" dirty="0"/>
              <a:t> Antitrust in the Digital Economy</a:t>
            </a:r>
          </a:p>
        </p:txBody>
      </p:sp>
      <p:sp>
        <p:nvSpPr>
          <p:cNvPr id="4" name="Text Placeholder 3">
            <a:extLst>
              <a:ext uri="{FF2B5EF4-FFF2-40B4-BE49-F238E27FC236}">
                <a16:creationId xmlns:a16="http://schemas.microsoft.com/office/drawing/2014/main" id="{ED5D5BE1-386F-4CB3-60A6-DC107A6332CD}"/>
              </a:ext>
            </a:extLst>
          </p:cNvPr>
          <p:cNvSpPr>
            <a:spLocks noGrp="1"/>
          </p:cNvSpPr>
          <p:nvPr>
            <p:ph type="body" sz="quarter" idx="14"/>
          </p:nvPr>
        </p:nvSpPr>
        <p:spPr>
          <a:xfrm>
            <a:off x="228600" y="1600200"/>
            <a:ext cx="8686800" cy="4724400"/>
          </a:xfrm>
        </p:spPr>
        <p:txBody>
          <a:bodyPr/>
          <a:lstStyle/>
          <a:p>
            <a:r>
              <a:rPr lang="en-US" sz="2800" dirty="0"/>
              <a:t>“Google's dominance of the market for internet search arose mainly from a combination of economies of scale and a quality algorithm.” </a:t>
            </a:r>
          </a:p>
        </p:txBody>
      </p:sp>
      <p:grpSp>
        <p:nvGrpSpPr>
          <p:cNvPr id="15" name="Group 14" descr="The data from the chart in percent are as follows. Agree: 95 percent. Disagree: 0 percent. Uncertain: 5 percent.&#10;">
            <a:extLst>
              <a:ext uri="{FF2B5EF4-FFF2-40B4-BE49-F238E27FC236}">
                <a16:creationId xmlns:a16="http://schemas.microsoft.com/office/drawing/2014/main" id="{741F99C0-5BBA-7148-441F-0762119AE6DA}"/>
              </a:ext>
            </a:extLst>
          </p:cNvPr>
          <p:cNvGrpSpPr/>
          <p:nvPr/>
        </p:nvGrpSpPr>
        <p:grpSpPr>
          <a:xfrm>
            <a:off x="609600" y="2895600"/>
            <a:ext cx="7407797" cy="3465689"/>
            <a:chOff x="609600" y="2895600"/>
            <a:chExt cx="7407797" cy="3465689"/>
          </a:xfrm>
        </p:grpSpPr>
        <p:grpSp>
          <p:nvGrpSpPr>
            <p:cNvPr id="11" name="Group 10">
              <a:extLst>
                <a:ext uri="{FF2B5EF4-FFF2-40B4-BE49-F238E27FC236}">
                  <a16:creationId xmlns:a16="http://schemas.microsoft.com/office/drawing/2014/main" id="{C5C185F0-2233-2E55-5A85-24B76FB1F61D}"/>
                </a:ext>
              </a:extLst>
            </p:cNvPr>
            <p:cNvGrpSpPr/>
            <p:nvPr/>
          </p:nvGrpSpPr>
          <p:grpSpPr>
            <a:xfrm>
              <a:off x="609600" y="3309415"/>
              <a:ext cx="7407797" cy="3051874"/>
              <a:chOff x="609600" y="3241948"/>
              <a:chExt cx="7407797" cy="3051874"/>
            </a:xfrm>
          </p:grpSpPr>
          <p:sp>
            <p:nvSpPr>
              <p:cNvPr id="8" name="TextBox 7">
                <a:extLst>
                  <a:ext uri="{FF2B5EF4-FFF2-40B4-BE49-F238E27FC236}">
                    <a16:creationId xmlns:a16="http://schemas.microsoft.com/office/drawing/2014/main" id="{EEDE1413-F635-30D5-8DAE-8A40A3F6CC97}"/>
                  </a:ext>
                </a:extLst>
              </p:cNvPr>
              <p:cNvSpPr txBox="1"/>
              <p:nvPr/>
            </p:nvSpPr>
            <p:spPr>
              <a:xfrm>
                <a:off x="609600" y="5955268"/>
                <a:ext cx="7407797" cy="338554"/>
              </a:xfrm>
              <a:prstGeom prst="rect">
                <a:avLst/>
              </a:prstGeom>
              <a:noFill/>
            </p:spPr>
            <p:txBody>
              <a:bodyPr wrap="none" rtlCol="0">
                <a:spAutoFit/>
              </a:bodyPr>
              <a:lstStyle/>
              <a:p>
                <a:r>
                  <a:rPr lang="en-US" sz="1600" dirty="0"/>
                  <a:t>Source: IGM Economic Experts Panel, November 3, 2020, December 22, 2020.</a:t>
                </a:r>
              </a:p>
            </p:txBody>
          </p:sp>
          <p:pic>
            <p:nvPicPr>
              <p:cNvPr id="10" name="Picture 9">
                <a:extLst>
                  <a:ext uri="{FF2B5EF4-FFF2-40B4-BE49-F238E27FC236}">
                    <a16:creationId xmlns:a16="http://schemas.microsoft.com/office/drawing/2014/main" id="{68BB1AC9-E23F-FFCC-4360-89180D705063}"/>
                  </a:ext>
                </a:extLst>
              </p:cNvPr>
              <p:cNvPicPr>
                <a:picLocks noChangeAspect="1"/>
              </p:cNvPicPr>
              <p:nvPr/>
            </p:nvPicPr>
            <p:blipFill>
              <a:blip r:embed="rId3"/>
              <a:stretch>
                <a:fillRect/>
              </a:stretch>
            </p:blipFill>
            <p:spPr>
              <a:xfrm>
                <a:off x="2057400" y="3241948"/>
                <a:ext cx="5385965" cy="3006451"/>
              </a:xfrm>
              <a:prstGeom prst="rect">
                <a:avLst/>
              </a:prstGeom>
            </p:spPr>
          </p:pic>
        </p:grpSp>
        <p:pic>
          <p:nvPicPr>
            <p:cNvPr id="14" name="Picture 13">
              <a:extLst>
                <a:ext uri="{FF2B5EF4-FFF2-40B4-BE49-F238E27FC236}">
                  <a16:creationId xmlns:a16="http://schemas.microsoft.com/office/drawing/2014/main" id="{9F2978D8-887C-CC61-1EC2-AD2AEC36AC18}"/>
                </a:ext>
              </a:extLst>
            </p:cNvPr>
            <p:cNvPicPr>
              <a:picLocks noChangeAspect="1"/>
            </p:cNvPicPr>
            <p:nvPr/>
          </p:nvPicPr>
          <p:blipFill>
            <a:blip r:embed="rId4"/>
            <a:stretch>
              <a:fillRect/>
            </a:stretch>
          </p:blipFill>
          <p:spPr>
            <a:xfrm>
              <a:off x="2970223" y="2895600"/>
              <a:ext cx="3203553" cy="561252"/>
            </a:xfrm>
            <a:prstGeom prst="rect">
              <a:avLst/>
            </a:prstGeom>
          </p:spPr>
        </p:pic>
      </p:grpSp>
    </p:spTree>
    <p:extLst>
      <p:ext uri="{BB962C8B-B14F-4D97-AF65-F5344CB8AC3E}">
        <p14:creationId xmlns:p14="http://schemas.microsoft.com/office/powerpoint/2010/main" val="120937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wrap="square" anchor="ctr"/>
          <a:lstStyle/>
          <a:p>
            <a:r>
              <a:rPr lang="en-US" altLang="en-US" dirty="0"/>
              <a:t>Antitrust Laws</a:t>
            </a:r>
          </a:p>
        </p:txBody>
      </p:sp>
      <p:sp>
        <p:nvSpPr>
          <p:cNvPr id="41987" name="Content Placeholder 2"/>
          <p:cNvSpPr>
            <a:spLocks noGrp="1"/>
          </p:cNvSpPr>
          <p:nvPr>
            <p:ph idx="1"/>
          </p:nvPr>
        </p:nvSpPr>
        <p:spPr>
          <a:xfrm>
            <a:off x="277813" y="1025525"/>
            <a:ext cx="8713787" cy="5422900"/>
          </a:xfrm>
          <a:prstGeom prst="rect">
            <a:avLst/>
          </a:prstGeom>
        </p:spPr>
        <p:txBody>
          <a:bodyPr/>
          <a:lstStyle/>
          <a:p>
            <a:r>
              <a:rPr lang="en-US" altLang="en-US" sz="3200" dirty="0"/>
              <a:t>The Sherman Antitrust Act, 1890</a:t>
            </a:r>
          </a:p>
          <a:p>
            <a:pPr lvl="1"/>
            <a:r>
              <a:rPr lang="en-US" altLang="en-US" sz="2800" dirty="0"/>
              <a:t>Elevated agreements among oligopolists from an unenforceable contract to a criminal conspiracy</a:t>
            </a:r>
          </a:p>
          <a:p>
            <a:r>
              <a:rPr lang="en-US" altLang="en-US" sz="3200" dirty="0"/>
              <a:t>The Clayton Act, 1914</a:t>
            </a:r>
          </a:p>
          <a:p>
            <a:pPr lvl="1"/>
            <a:r>
              <a:rPr lang="en-US" altLang="en-US" sz="2800" dirty="0"/>
              <a:t>Further strengthened the antitrust laws</a:t>
            </a:r>
          </a:p>
          <a:p>
            <a:r>
              <a:rPr lang="en-US" altLang="en-US" sz="3200" dirty="0"/>
              <a:t>The laws are used to </a:t>
            </a:r>
            <a:r>
              <a:rPr lang="en-US" altLang="en-US" sz="3200" u="sng" dirty="0"/>
              <a:t>prevent</a:t>
            </a:r>
            <a:r>
              <a:rPr lang="en-US" altLang="en-US" sz="3200" dirty="0"/>
              <a:t>: </a:t>
            </a:r>
          </a:p>
          <a:p>
            <a:pPr lvl="1"/>
            <a:r>
              <a:rPr lang="en-US" altLang="en-US" sz="2800" dirty="0"/>
              <a:t>Mergers that would give a firm excessive market power</a:t>
            </a:r>
          </a:p>
          <a:p>
            <a:pPr lvl="1"/>
            <a:r>
              <a:rPr lang="en-US" altLang="en-US" sz="2800" dirty="0"/>
              <a:t>Oligopolists from acting together in ways that would make their markets less competitive</a:t>
            </a:r>
          </a:p>
        </p:txBody>
      </p:sp>
      <p:sp>
        <p:nvSpPr>
          <p:cNvPr id="4198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EA7E58C8-F9C8-40F7-B609-D39031E8B607}" type="slidenum">
              <a:rPr lang="en-US" altLang="en-US" sz="1200" smtClean="0">
                <a:solidFill>
                  <a:srgbClr val="002060"/>
                </a:solidFill>
              </a:rPr>
              <a:pPr eaLnBrk="1" hangingPunct="1"/>
              <a:t>36</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3D6ADD86-A391-76FD-2841-612CEE3D0B65}"/>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87144806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917654-0B85-8F3D-8B60-18301900C083}"/>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37</a:t>
            </a:fld>
            <a:endParaRPr lang="en-US" dirty="0"/>
          </a:p>
        </p:txBody>
      </p:sp>
      <p:sp>
        <p:nvSpPr>
          <p:cNvPr id="3" name="Text Placeholder 2">
            <a:extLst>
              <a:ext uri="{FF2B5EF4-FFF2-40B4-BE49-F238E27FC236}">
                <a16:creationId xmlns:a16="http://schemas.microsoft.com/office/drawing/2014/main" id="{8DA9081D-544C-EFB7-E5F1-B9C4178DD233}"/>
              </a:ext>
            </a:extLst>
          </p:cNvPr>
          <p:cNvSpPr>
            <a:spLocks noGrp="1"/>
          </p:cNvSpPr>
          <p:nvPr>
            <p:ph type="body" sz="quarter" idx="12"/>
          </p:nvPr>
        </p:nvSpPr>
        <p:spPr/>
        <p:txBody>
          <a:bodyPr/>
          <a:lstStyle/>
          <a:p>
            <a:r>
              <a:rPr lang="en-US" dirty="0"/>
              <a:t> Antitrust in the Digital Economy</a:t>
            </a:r>
          </a:p>
        </p:txBody>
      </p:sp>
      <p:sp>
        <p:nvSpPr>
          <p:cNvPr id="4" name="Text Placeholder 3">
            <a:extLst>
              <a:ext uri="{FF2B5EF4-FFF2-40B4-BE49-F238E27FC236}">
                <a16:creationId xmlns:a16="http://schemas.microsoft.com/office/drawing/2014/main" id="{ED5D5BE1-386F-4CB3-60A6-DC107A6332CD}"/>
              </a:ext>
            </a:extLst>
          </p:cNvPr>
          <p:cNvSpPr>
            <a:spLocks noGrp="1"/>
          </p:cNvSpPr>
          <p:nvPr>
            <p:ph type="body" sz="quarter" idx="14"/>
          </p:nvPr>
        </p:nvSpPr>
        <p:spPr>
          <a:xfrm>
            <a:off x="228600" y="1600200"/>
            <a:ext cx="8686800" cy="4724400"/>
          </a:xfrm>
        </p:spPr>
        <p:txBody>
          <a:bodyPr/>
          <a:lstStyle/>
          <a:p>
            <a:r>
              <a:rPr lang="en-US" sz="2800" dirty="0"/>
              <a:t>“In light of Google’s dominance, its current  operating practices could have a substantial negative effect on social welfare in the long run.”  </a:t>
            </a:r>
          </a:p>
        </p:txBody>
      </p:sp>
      <p:grpSp>
        <p:nvGrpSpPr>
          <p:cNvPr id="12" name="Group 11" descr="The data from the chart in percent are as follows. Agree: 52 percent. Disagree: 7 percent. Uncertain: 41 percent.&#10;">
            <a:extLst>
              <a:ext uri="{FF2B5EF4-FFF2-40B4-BE49-F238E27FC236}">
                <a16:creationId xmlns:a16="http://schemas.microsoft.com/office/drawing/2014/main" id="{A2A0BFC0-BBBE-D36B-9417-A8D499C07B32}"/>
              </a:ext>
            </a:extLst>
          </p:cNvPr>
          <p:cNvGrpSpPr/>
          <p:nvPr/>
        </p:nvGrpSpPr>
        <p:grpSpPr>
          <a:xfrm>
            <a:off x="609600" y="2895600"/>
            <a:ext cx="7407797" cy="3429000"/>
            <a:chOff x="609600" y="2895600"/>
            <a:chExt cx="7407797" cy="3429000"/>
          </a:xfrm>
        </p:grpSpPr>
        <p:grpSp>
          <p:nvGrpSpPr>
            <p:cNvPr id="6" name="Group 5">
              <a:extLst>
                <a:ext uri="{FF2B5EF4-FFF2-40B4-BE49-F238E27FC236}">
                  <a16:creationId xmlns:a16="http://schemas.microsoft.com/office/drawing/2014/main" id="{AACBF445-CBC5-5E28-D387-C40E51F684CD}"/>
                </a:ext>
              </a:extLst>
            </p:cNvPr>
            <p:cNvGrpSpPr/>
            <p:nvPr/>
          </p:nvGrpSpPr>
          <p:grpSpPr>
            <a:xfrm>
              <a:off x="609600" y="3154978"/>
              <a:ext cx="7407797" cy="3169622"/>
              <a:chOff x="609600" y="3154978"/>
              <a:chExt cx="7407797" cy="3169622"/>
            </a:xfrm>
          </p:grpSpPr>
          <p:sp>
            <p:nvSpPr>
              <p:cNvPr id="8" name="TextBox 7">
                <a:extLst>
                  <a:ext uri="{FF2B5EF4-FFF2-40B4-BE49-F238E27FC236}">
                    <a16:creationId xmlns:a16="http://schemas.microsoft.com/office/drawing/2014/main" id="{EEDE1413-F635-30D5-8DAE-8A40A3F6CC97}"/>
                  </a:ext>
                </a:extLst>
              </p:cNvPr>
              <p:cNvSpPr txBox="1"/>
              <p:nvPr/>
            </p:nvSpPr>
            <p:spPr>
              <a:xfrm>
                <a:off x="609600" y="5955268"/>
                <a:ext cx="7407797" cy="338554"/>
              </a:xfrm>
              <a:prstGeom prst="rect">
                <a:avLst/>
              </a:prstGeom>
              <a:noFill/>
            </p:spPr>
            <p:txBody>
              <a:bodyPr wrap="none" rtlCol="0">
                <a:spAutoFit/>
              </a:bodyPr>
              <a:lstStyle/>
              <a:p>
                <a:r>
                  <a:rPr lang="en-US" sz="1600" dirty="0"/>
                  <a:t>Source: IGM Economic Experts Panel, November 3, 2020, December 22, 2020.</a:t>
                </a:r>
              </a:p>
            </p:txBody>
          </p:sp>
          <p:pic>
            <p:nvPicPr>
              <p:cNvPr id="5" name="Picture 4">
                <a:extLst>
                  <a:ext uri="{FF2B5EF4-FFF2-40B4-BE49-F238E27FC236}">
                    <a16:creationId xmlns:a16="http://schemas.microsoft.com/office/drawing/2014/main" id="{DAFEF436-845E-F21D-31A0-2091FF117923}"/>
                  </a:ext>
                </a:extLst>
              </p:cNvPr>
              <p:cNvPicPr>
                <a:picLocks noChangeAspect="1"/>
              </p:cNvPicPr>
              <p:nvPr/>
            </p:nvPicPr>
            <p:blipFill>
              <a:blip r:embed="rId3"/>
              <a:stretch>
                <a:fillRect/>
              </a:stretch>
            </p:blipFill>
            <p:spPr>
              <a:xfrm>
                <a:off x="1905000" y="3154978"/>
                <a:ext cx="5678281" cy="3169622"/>
              </a:xfrm>
              <a:prstGeom prst="rect">
                <a:avLst/>
              </a:prstGeom>
            </p:spPr>
          </p:pic>
        </p:grpSp>
        <p:pic>
          <p:nvPicPr>
            <p:cNvPr id="11" name="Picture 10">
              <a:extLst>
                <a:ext uri="{FF2B5EF4-FFF2-40B4-BE49-F238E27FC236}">
                  <a16:creationId xmlns:a16="http://schemas.microsoft.com/office/drawing/2014/main" id="{16C32061-2860-ACA5-503D-57533F655A65}"/>
                </a:ext>
              </a:extLst>
            </p:cNvPr>
            <p:cNvPicPr>
              <a:picLocks noChangeAspect="1"/>
            </p:cNvPicPr>
            <p:nvPr/>
          </p:nvPicPr>
          <p:blipFill>
            <a:blip r:embed="rId4"/>
            <a:stretch>
              <a:fillRect/>
            </a:stretch>
          </p:blipFill>
          <p:spPr>
            <a:xfrm>
              <a:off x="3276600" y="2895600"/>
              <a:ext cx="2992288" cy="524239"/>
            </a:xfrm>
            <a:prstGeom prst="rect">
              <a:avLst/>
            </a:prstGeom>
          </p:spPr>
        </p:pic>
      </p:grpSp>
    </p:spTree>
    <p:extLst>
      <p:ext uri="{BB962C8B-B14F-4D97-AF65-F5344CB8AC3E}">
        <p14:creationId xmlns:p14="http://schemas.microsoft.com/office/powerpoint/2010/main" val="2592068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4: </a:t>
            </a:r>
            <a:r>
              <a:rPr lang="en-US" dirty="0">
                <a:solidFill>
                  <a:schemeClr val="tx1"/>
                </a:solidFill>
              </a:rPr>
              <a:t>The airline fare wars game</a:t>
            </a:r>
          </a:p>
        </p:txBody>
      </p:sp>
      <p:sp>
        <p:nvSpPr>
          <p:cNvPr id="3" name="Content Placeholder 2"/>
          <p:cNvSpPr>
            <a:spLocks noGrp="1"/>
          </p:cNvSpPr>
          <p:nvPr>
            <p:ph idx="1"/>
          </p:nvPr>
        </p:nvSpPr>
        <p:spPr>
          <a:prstGeom prst="rect">
            <a:avLst/>
          </a:prstGeom>
        </p:spPr>
        <p:txBody>
          <a:bodyPr>
            <a:noAutofit/>
          </a:bodyPr>
          <a:lstStyle/>
          <a:p>
            <a:pPr marL="0" indent="0">
              <a:buNone/>
            </a:pPr>
            <a:r>
              <a:rPr lang="en-US" sz="3000" dirty="0">
                <a:solidFill>
                  <a:srgbClr val="4E519E"/>
                </a:solidFill>
              </a:rPr>
              <a:t>The players: American Airlines and </a:t>
            </a:r>
            <a:r>
              <a:rPr lang="en-US" sz="3000" dirty="0" err="1">
                <a:solidFill>
                  <a:srgbClr val="4E519E"/>
                </a:solidFill>
              </a:rPr>
              <a:t>Braniff</a:t>
            </a:r>
            <a:r>
              <a:rPr lang="en-US" sz="3000" dirty="0">
                <a:solidFill>
                  <a:srgbClr val="4E519E"/>
                </a:solidFill>
              </a:rPr>
              <a:t> Airways. The choice: cut fares by 50% or leave fares alone.</a:t>
            </a:r>
          </a:p>
          <a:p>
            <a:pPr lvl="1"/>
            <a:r>
              <a:rPr lang="en-US" dirty="0">
                <a:solidFill>
                  <a:srgbClr val="4E519E"/>
                </a:solidFill>
              </a:rPr>
              <a:t>If both airlines cut fares, each airline’s profit = $400 million</a:t>
            </a:r>
          </a:p>
          <a:p>
            <a:pPr lvl="1"/>
            <a:r>
              <a:rPr lang="en-US" dirty="0">
                <a:solidFill>
                  <a:srgbClr val="4E519E"/>
                </a:solidFill>
              </a:rPr>
              <a:t>If neither airline cuts fares, each airline’s profit = $600 million </a:t>
            </a:r>
          </a:p>
          <a:p>
            <a:pPr lvl="1"/>
            <a:r>
              <a:rPr lang="en-US" dirty="0">
                <a:solidFill>
                  <a:srgbClr val="4E519E"/>
                </a:solidFill>
              </a:rPr>
              <a:t>If only one airline cuts its fares, its profit = $800 million; the other airline’s profit = $200 million</a:t>
            </a:r>
          </a:p>
          <a:p>
            <a:pPr>
              <a:buClr>
                <a:srgbClr val="C00000"/>
              </a:buClr>
            </a:pPr>
            <a:r>
              <a:rPr lang="en-US" dirty="0">
                <a:solidFill>
                  <a:schemeClr val="tx1"/>
                </a:solidFill>
              </a:rPr>
              <a:t>Draw the payoff matrix, find the Nash equilibrium</a:t>
            </a:r>
            <a:endParaRPr lang="en-US" sz="3000" dirty="0">
              <a:solidFill>
                <a:srgbClr val="002060"/>
              </a:solidFill>
            </a:endParaRP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38</a:t>
            </a:fld>
            <a:endParaRPr lang="en-US"/>
          </a:p>
        </p:txBody>
      </p:sp>
      <p:sp>
        <p:nvSpPr>
          <p:cNvPr id="5" name="Footer Placeholder 4">
            <a:extLst>
              <a:ext uri="{FF2B5EF4-FFF2-40B4-BE49-F238E27FC236}">
                <a16:creationId xmlns:a16="http://schemas.microsoft.com/office/drawing/2014/main" id="{B3B0F74B-A20B-C2DB-CBC8-B9D8FD3BC27F}"/>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6625702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4: Answers</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39</a:t>
            </a:fld>
            <a:endParaRPr lang="en-US"/>
          </a:p>
        </p:txBody>
      </p:sp>
      <p:sp>
        <p:nvSpPr>
          <p:cNvPr id="35" name="Rectangle 6"/>
          <p:cNvSpPr>
            <a:spLocks noChangeArrowheads="1"/>
          </p:cNvSpPr>
          <p:nvPr/>
        </p:nvSpPr>
        <p:spPr bwMode="auto">
          <a:xfrm>
            <a:off x="228600" y="914400"/>
            <a:ext cx="3233737" cy="1022350"/>
          </a:xfrm>
          <a:prstGeom prst="rect">
            <a:avLst/>
          </a:prstGeom>
          <a:noFill/>
          <a:ln w="9525">
            <a:noFill/>
            <a:miter lim="800000"/>
            <a:headEnd/>
            <a:tailEnd/>
          </a:ln>
        </p:spPr>
        <p:txBody>
          <a:bodyPr/>
          <a:lstStyle/>
          <a:p>
            <a:pPr>
              <a:lnSpc>
                <a:spcPct val="105000"/>
              </a:lnSpc>
              <a:spcBef>
                <a:spcPct val="45000"/>
              </a:spcBef>
              <a:buClr>
                <a:srgbClr val="669900"/>
              </a:buClr>
              <a:buSzPct val="120000"/>
              <a:buFont typeface="Wingdings" pitchFamily="2" charset="2"/>
              <a:buNone/>
            </a:pPr>
            <a:r>
              <a:rPr lang="en-US" sz="2800" dirty="0">
                <a:solidFill>
                  <a:srgbClr val="4E519E"/>
                </a:solidFill>
                <a:latin typeface="Arial"/>
                <a:cs typeface="Arial"/>
              </a:rPr>
              <a:t>Nash equilibrium:</a:t>
            </a:r>
            <a:br>
              <a:rPr lang="en-US" sz="2800" dirty="0">
                <a:solidFill>
                  <a:srgbClr val="4E519E"/>
                </a:solidFill>
                <a:latin typeface="Arial"/>
                <a:cs typeface="Arial"/>
              </a:rPr>
            </a:br>
            <a:r>
              <a:rPr lang="en-US" sz="2800" dirty="0">
                <a:solidFill>
                  <a:srgbClr val="4E519E"/>
                </a:solidFill>
                <a:latin typeface="Arial"/>
                <a:cs typeface="Arial"/>
              </a:rPr>
              <a:t>both firms cut fares</a:t>
            </a:r>
          </a:p>
        </p:txBody>
      </p:sp>
      <p:grpSp>
        <p:nvGrpSpPr>
          <p:cNvPr id="36" name="Group 35"/>
          <p:cNvGrpSpPr>
            <a:grpSpLocks/>
          </p:cNvGrpSpPr>
          <p:nvPr/>
        </p:nvGrpSpPr>
        <p:grpSpPr bwMode="auto">
          <a:xfrm>
            <a:off x="2836863" y="2325687"/>
            <a:ext cx="5983287" cy="3536950"/>
            <a:chOff x="1522" y="1296"/>
            <a:chExt cx="2421" cy="1658"/>
          </a:xfrm>
        </p:grpSpPr>
        <p:sp>
          <p:nvSpPr>
            <p:cNvPr id="37" name="AutoShape 9"/>
            <p:cNvSpPr>
              <a:spLocks noChangeArrowheads="1"/>
            </p:cNvSpPr>
            <p:nvPr/>
          </p:nvSpPr>
          <p:spPr bwMode="auto">
            <a:xfrm>
              <a:off x="1527" y="1298"/>
              <a:ext cx="1206" cy="826"/>
            </a:xfrm>
            <a:prstGeom prst="rtTriangle">
              <a:avLst/>
            </a:prstGeom>
            <a:solidFill>
              <a:srgbClr val="FFCCCC"/>
            </a:solidFill>
            <a:ln w="9525">
              <a:noFill/>
              <a:miter lim="800000"/>
              <a:headEnd/>
              <a:tailEnd/>
            </a:ln>
          </p:spPr>
          <p:txBody>
            <a:bodyPr wrap="none" anchor="ctr"/>
            <a:lstStyle/>
            <a:p>
              <a:endParaRPr lang="en-US" sz="2000">
                <a:latin typeface="Arial"/>
                <a:cs typeface="Arial"/>
              </a:endParaRPr>
            </a:p>
          </p:txBody>
        </p:sp>
        <p:sp>
          <p:nvSpPr>
            <p:cNvPr id="38" name="AutoShape 10"/>
            <p:cNvSpPr>
              <a:spLocks noChangeArrowheads="1"/>
            </p:cNvSpPr>
            <p:nvPr/>
          </p:nvSpPr>
          <p:spPr bwMode="auto">
            <a:xfrm>
              <a:off x="2737" y="1298"/>
              <a:ext cx="1206" cy="826"/>
            </a:xfrm>
            <a:prstGeom prst="rtTriangle">
              <a:avLst/>
            </a:prstGeom>
            <a:solidFill>
              <a:srgbClr val="FFCCCC"/>
            </a:solidFill>
            <a:ln w="9525">
              <a:noFill/>
              <a:miter lim="800000"/>
              <a:headEnd/>
              <a:tailEnd/>
            </a:ln>
          </p:spPr>
          <p:txBody>
            <a:bodyPr wrap="none" anchor="ctr"/>
            <a:lstStyle/>
            <a:p>
              <a:endParaRPr lang="en-US" sz="2000">
                <a:latin typeface="Arial"/>
                <a:cs typeface="Arial"/>
              </a:endParaRPr>
            </a:p>
          </p:txBody>
        </p:sp>
        <p:sp>
          <p:nvSpPr>
            <p:cNvPr id="39" name="AutoShape 11"/>
            <p:cNvSpPr>
              <a:spLocks noChangeArrowheads="1"/>
            </p:cNvSpPr>
            <p:nvPr/>
          </p:nvSpPr>
          <p:spPr bwMode="auto">
            <a:xfrm>
              <a:off x="2735" y="2125"/>
              <a:ext cx="1206" cy="826"/>
            </a:xfrm>
            <a:prstGeom prst="rtTriangle">
              <a:avLst/>
            </a:prstGeom>
            <a:solidFill>
              <a:srgbClr val="FFCCCC"/>
            </a:solidFill>
            <a:ln w="9525">
              <a:noFill/>
              <a:miter lim="800000"/>
              <a:headEnd/>
              <a:tailEnd/>
            </a:ln>
          </p:spPr>
          <p:txBody>
            <a:bodyPr wrap="none" anchor="ctr"/>
            <a:lstStyle/>
            <a:p>
              <a:endParaRPr lang="en-US" sz="2000">
                <a:latin typeface="Arial"/>
                <a:cs typeface="Arial"/>
              </a:endParaRPr>
            </a:p>
          </p:txBody>
        </p:sp>
        <p:sp>
          <p:nvSpPr>
            <p:cNvPr id="40" name="AutoShape 12"/>
            <p:cNvSpPr>
              <a:spLocks noChangeArrowheads="1"/>
            </p:cNvSpPr>
            <p:nvPr/>
          </p:nvSpPr>
          <p:spPr bwMode="auto">
            <a:xfrm>
              <a:off x="1527" y="2126"/>
              <a:ext cx="1206" cy="826"/>
            </a:xfrm>
            <a:prstGeom prst="rtTriangle">
              <a:avLst/>
            </a:prstGeom>
            <a:solidFill>
              <a:srgbClr val="FFCCCC"/>
            </a:solidFill>
            <a:ln w="9525">
              <a:noFill/>
              <a:miter lim="800000"/>
              <a:headEnd/>
              <a:tailEnd/>
            </a:ln>
          </p:spPr>
          <p:txBody>
            <a:bodyPr wrap="none" anchor="ctr"/>
            <a:lstStyle/>
            <a:p>
              <a:endParaRPr lang="en-US" sz="2000">
                <a:latin typeface="Arial"/>
                <a:cs typeface="Arial"/>
              </a:endParaRPr>
            </a:p>
          </p:txBody>
        </p:sp>
        <p:sp>
          <p:nvSpPr>
            <p:cNvPr id="41" name="AutoShape 13"/>
            <p:cNvSpPr>
              <a:spLocks noChangeArrowheads="1"/>
            </p:cNvSpPr>
            <p:nvPr/>
          </p:nvSpPr>
          <p:spPr bwMode="auto">
            <a:xfrm rot="10800000">
              <a:off x="1522" y="1298"/>
              <a:ext cx="1206" cy="826"/>
            </a:xfrm>
            <a:prstGeom prst="rtTriangle">
              <a:avLst/>
            </a:prstGeom>
            <a:solidFill>
              <a:srgbClr val="D8EEC0"/>
            </a:solidFill>
            <a:ln w="9525">
              <a:noFill/>
              <a:miter lim="800000"/>
              <a:headEnd/>
              <a:tailEnd/>
            </a:ln>
          </p:spPr>
          <p:txBody>
            <a:bodyPr wrap="none" anchor="ctr"/>
            <a:lstStyle/>
            <a:p>
              <a:endParaRPr lang="en-US" sz="2000">
                <a:latin typeface="Arial"/>
                <a:cs typeface="Arial"/>
              </a:endParaRPr>
            </a:p>
          </p:txBody>
        </p:sp>
        <p:sp>
          <p:nvSpPr>
            <p:cNvPr id="42" name="AutoShape 14"/>
            <p:cNvSpPr>
              <a:spLocks noChangeArrowheads="1"/>
            </p:cNvSpPr>
            <p:nvPr/>
          </p:nvSpPr>
          <p:spPr bwMode="auto">
            <a:xfrm rot="10800000">
              <a:off x="2732" y="1298"/>
              <a:ext cx="1206" cy="826"/>
            </a:xfrm>
            <a:prstGeom prst="rtTriangle">
              <a:avLst/>
            </a:prstGeom>
            <a:solidFill>
              <a:srgbClr val="D8EEC0"/>
            </a:solidFill>
            <a:ln w="9525">
              <a:noFill/>
              <a:miter lim="800000"/>
              <a:headEnd/>
              <a:tailEnd/>
            </a:ln>
          </p:spPr>
          <p:txBody>
            <a:bodyPr wrap="none" anchor="ctr"/>
            <a:lstStyle/>
            <a:p>
              <a:endParaRPr lang="en-US" sz="2000">
                <a:latin typeface="Arial"/>
                <a:cs typeface="Arial"/>
              </a:endParaRPr>
            </a:p>
          </p:txBody>
        </p:sp>
        <p:sp>
          <p:nvSpPr>
            <p:cNvPr id="43" name="AutoShape 15"/>
            <p:cNvSpPr>
              <a:spLocks noChangeArrowheads="1"/>
            </p:cNvSpPr>
            <p:nvPr/>
          </p:nvSpPr>
          <p:spPr bwMode="auto">
            <a:xfrm rot="10800000">
              <a:off x="2730" y="2125"/>
              <a:ext cx="1206" cy="826"/>
            </a:xfrm>
            <a:prstGeom prst="rtTriangle">
              <a:avLst/>
            </a:prstGeom>
            <a:solidFill>
              <a:srgbClr val="D8EEC0"/>
            </a:solidFill>
            <a:ln w="9525">
              <a:noFill/>
              <a:miter lim="800000"/>
              <a:headEnd/>
              <a:tailEnd/>
            </a:ln>
          </p:spPr>
          <p:txBody>
            <a:bodyPr wrap="none" anchor="ctr"/>
            <a:lstStyle/>
            <a:p>
              <a:endParaRPr lang="en-US" sz="2000">
                <a:latin typeface="Arial"/>
                <a:cs typeface="Arial"/>
              </a:endParaRPr>
            </a:p>
          </p:txBody>
        </p:sp>
        <p:sp>
          <p:nvSpPr>
            <p:cNvPr id="44" name="AutoShape 16"/>
            <p:cNvSpPr>
              <a:spLocks noChangeArrowheads="1"/>
            </p:cNvSpPr>
            <p:nvPr/>
          </p:nvSpPr>
          <p:spPr bwMode="auto">
            <a:xfrm rot="10800000">
              <a:off x="1522" y="2126"/>
              <a:ext cx="1206" cy="826"/>
            </a:xfrm>
            <a:prstGeom prst="rtTriangle">
              <a:avLst/>
            </a:prstGeom>
            <a:solidFill>
              <a:srgbClr val="D8EEC0"/>
            </a:solidFill>
            <a:ln w="9525">
              <a:noFill/>
              <a:miter lim="800000"/>
              <a:headEnd/>
              <a:tailEnd/>
            </a:ln>
          </p:spPr>
          <p:txBody>
            <a:bodyPr wrap="none" anchor="ctr"/>
            <a:lstStyle/>
            <a:p>
              <a:endParaRPr lang="en-US" sz="2000">
                <a:latin typeface="Arial"/>
                <a:cs typeface="Arial"/>
              </a:endParaRPr>
            </a:p>
          </p:txBody>
        </p:sp>
        <p:grpSp>
          <p:nvGrpSpPr>
            <p:cNvPr id="45" name="Group 44"/>
            <p:cNvGrpSpPr>
              <a:grpSpLocks/>
            </p:cNvGrpSpPr>
            <p:nvPr/>
          </p:nvGrpSpPr>
          <p:grpSpPr bwMode="auto">
            <a:xfrm>
              <a:off x="1524" y="1296"/>
              <a:ext cx="2417" cy="1658"/>
              <a:chOff x="1335" y="1089"/>
              <a:chExt cx="2290" cy="1791"/>
            </a:xfrm>
          </p:grpSpPr>
          <p:sp>
            <p:nvSpPr>
              <p:cNvPr id="46" name="Rectangle 45"/>
              <p:cNvSpPr>
                <a:spLocks noChangeArrowheads="1"/>
              </p:cNvSpPr>
              <p:nvPr/>
            </p:nvSpPr>
            <p:spPr bwMode="auto">
              <a:xfrm>
                <a:off x="1335" y="1089"/>
                <a:ext cx="2290" cy="1791"/>
              </a:xfrm>
              <a:prstGeom prst="rect">
                <a:avLst/>
              </a:prstGeom>
              <a:noFill/>
              <a:ln w="9525">
                <a:solidFill>
                  <a:schemeClr val="tx1"/>
                </a:solidFill>
                <a:miter lim="800000"/>
                <a:headEnd/>
                <a:tailEnd/>
              </a:ln>
            </p:spPr>
            <p:txBody>
              <a:bodyPr wrap="none" anchor="ctr"/>
              <a:lstStyle/>
              <a:p>
                <a:endParaRPr lang="en-US" sz="2000">
                  <a:latin typeface="Arial"/>
                  <a:cs typeface="Arial"/>
                </a:endParaRPr>
              </a:p>
            </p:txBody>
          </p:sp>
          <p:sp>
            <p:nvSpPr>
              <p:cNvPr id="47" name="Line 19"/>
              <p:cNvSpPr>
                <a:spLocks noChangeShapeType="1"/>
              </p:cNvSpPr>
              <p:nvPr/>
            </p:nvSpPr>
            <p:spPr bwMode="auto">
              <a:xfrm>
                <a:off x="1335" y="1988"/>
                <a:ext cx="2290" cy="0"/>
              </a:xfrm>
              <a:prstGeom prst="line">
                <a:avLst/>
              </a:prstGeom>
              <a:noFill/>
              <a:ln w="9525">
                <a:solidFill>
                  <a:schemeClr val="tx1"/>
                </a:solidFill>
                <a:round/>
                <a:headEnd/>
                <a:tailEnd/>
              </a:ln>
            </p:spPr>
            <p:txBody>
              <a:bodyPr/>
              <a:lstStyle/>
              <a:p>
                <a:endParaRPr lang="en-US" sz="2000">
                  <a:latin typeface="Arial"/>
                  <a:cs typeface="Arial"/>
                </a:endParaRPr>
              </a:p>
            </p:txBody>
          </p:sp>
          <p:sp>
            <p:nvSpPr>
              <p:cNvPr id="48" name="Line 20"/>
              <p:cNvSpPr>
                <a:spLocks noChangeShapeType="1"/>
              </p:cNvSpPr>
              <p:nvPr/>
            </p:nvSpPr>
            <p:spPr bwMode="auto">
              <a:xfrm>
                <a:off x="2480" y="1089"/>
                <a:ext cx="0" cy="1791"/>
              </a:xfrm>
              <a:prstGeom prst="line">
                <a:avLst/>
              </a:prstGeom>
              <a:noFill/>
              <a:ln w="9525">
                <a:solidFill>
                  <a:schemeClr val="tx1"/>
                </a:solidFill>
                <a:round/>
                <a:headEnd/>
                <a:tailEnd/>
              </a:ln>
            </p:spPr>
            <p:txBody>
              <a:bodyPr/>
              <a:lstStyle/>
              <a:p>
                <a:endParaRPr lang="en-US" sz="2000">
                  <a:latin typeface="Arial"/>
                  <a:cs typeface="Arial"/>
                </a:endParaRPr>
              </a:p>
            </p:txBody>
          </p:sp>
        </p:grpSp>
      </p:grpSp>
      <p:sp>
        <p:nvSpPr>
          <p:cNvPr id="49" name="Text Box 21"/>
          <p:cNvSpPr txBox="1">
            <a:spLocks noChangeArrowheads="1"/>
          </p:cNvSpPr>
          <p:nvPr/>
        </p:nvSpPr>
        <p:spPr bwMode="auto">
          <a:xfrm>
            <a:off x="3122613" y="1871662"/>
            <a:ext cx="2516187" cy="369332"/>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Cut fares</a:t>
            </a:r>
          </a:p>
        </p:txBody>
      </p:sp>
      <p:sp>
        <p:nvSpPr>
          <p:cNvPr id="50" name="Text Box 22"/>
          <p:cNvSpPr txBox="1">
            <a:spLocks noChangeArrowheads="1"/>
          </p:cNvSpPr>
          <p:nvPr/>
        </p:nvSpPr>
        <p:spPr bwMode="auto">
          <a:xfrm>
            <a:off x="6053138" y="1879600"/>
            <a:ext cx="2549525" cy="369332"/>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Don’t cut fares</a:t>
            </a:r>
          </a:p>
        </p:txBody>
      </p:sp>
      <p:sp>
        <p:nvSpPr>
          <p:cNvPr id="51" name="Text Box 23"/>
          <p:cNvSpPr txBox="1">
            <a:spLocks noChangeArrowheads="1"/>
          </p:cNvSpPr>
          <p:nvPr/>
        </p:nvSpPr>
        <p:spPr bwMode="auto">
          <a:xfrm>
            <a:off x="779463" y="3016250"/>
            <a:ext cx="1946275" cy="369332"/>
          </a:xfrm>
          <a:prstGeom prst="rect">
            <a:avLst/>
          </a:prstGeom>
          <a:noFill/>
          <a:ln w="9525">
            <a:noFill/>
            <a:miter lim="800000"/>
            <a:headEnd/>
            <a:tailEnd/>
          </a:ln>
        </p:spPr>
        <p:txBody>
          <a:bodyPr lIns="0" tIns="0" rIns="0" bIns="0">
            <a:spAutoFit/>
          </a:bodyPr>
          <a:lstStyle/>
          <a:p>
            <a:pPr algn="r">
              <a:spcBef>
                <a:spcPct val="50000"/>
              </a:spcBef>
            </a:pPr>
            <a:r>
              <a:rPr lang="en-US" sz="2400" i="1">
                <a:latin typeface="Arial"/>
                <a:cs typeface="Arial"/>
              </a:rPr>
              <a:t>Cut fares</a:t>
            </a:r>
          </a:p>
        </p:txBody>
      </p:sp>
      <p:sp>
        <p:nvSpPr>
          <p:cNvPr id="52" name="Text Box 24"/>
          <p:cNvSpPr txBox="1">
            <a:spLocks noChangeArrowheads="1"/>
          </p:cNvSpPr>
          <p:nvPr/>
        </p:nvSpPr>
        <p:spPr bwMode="auto">
          <a:xfrm>
            <a:off x="1203325" y="4619625"/>
            <a:ext cx="1516063" cy="738664"/>
          </a:xfrm>
          <a:prstGeom prst="rect">
            <a:avLst/>
          </a:prstGeom>
          <a:noFill/>
          <a:ln w="9525">
            <a:noFill/>
            <a:miter lim="800000"/>
            <a:headEnd/>
            <a:tailEnd/>
          </a:ln>
        </p:spPr>
        <p:txBody>
          <a:bodyPr lIns="0" tIns="0" rIns="0" bIns="0">
            <a:spAutoFit/>
          </a:bodyPr>
          <a:lstStyle/>
          <a:p>
            <a:pPr algn="r">
              <a:spcBef>
                <a:spcPct val="50000"/>
              </a:spcBef>
            </a:pPr>
            <a:r>
              <a:rPr lang="en-US" sz="2400" i="1">
                <a:latin typeface="Arial"/>
                <a:cs typeface="Arial"/>
              </a:rPr>
              <a:t>Don’t cut fares</a:t>
            </a:r>
          </a:p>
        </p:txBody>
      </p:sp>
      <p:sp>
        <p:nvSpPr>
          <p:cNvPr id="53" name="Text Box 25"/>
          <p:cNvSpPr txBox="1">
            <a:spLocks noChangeArrowheads="1"/>
          </p:cNvSpPr>
          <p:nvPr/>
        </p:nvSpPr>
        <p:spPr bwMode="auto">
          <a:xfrm>
            <a:off x="4330700" y="1176337"/>
            <a:ext cx="3000375" cy="558800"/>
          </a:xfrm>
          <a:prstGeom prst="rect">
            <a:avLst/>
          </a:prstGeom>
          <a:solidFill>
            <a:srgbClr val="D8EEC0"/>
          </a:solidFill>
          <a:ln w="9525">
            <a:solidFill>
              <a:srgbClr val="D8EEC0"/>
            </a:solidFill>
            <a:miter lim="800000"/>
            <a:headEnd/>
            <a:tailEnd/>
          </a:ln>
        </p:spPr>
        <p:txBody>
          <a:bodyPr tIns="91440" bIns="91440">
            <a:spAutoFit/>
          </a:bodyPr>
          <a:lstStyle/>
          <a:p>
            <a:pPr algn="ctr">
              <a:spcBef>
                <a:spcPct val="50000"/>
              </a:spcBef>
            </a:pPr>
            <a:r>
              <a:rPr lang="en-US" sz="2400" b="1" dirty="0" err="1">
                <a:latin typeface="Arial"/>
                <a:cs typeface="Arial"/>
              </a:rPr>
              <a:t>Braniff</a:t>
            </a:r>
            <a:r>
              <a:rPr lang="en-US" sz="2400" b="1" dirty="0">
                <a:latin typeface="Arial"/>
                <a:cs typeface="Arial"/>
              </a:rPr>
              <a:t> Airways</a:t>
            </a:r>
          </a:p>
        </p:txBody>
      </p:sp>
      <p:sp>
        <p:nvSpPr>
          <p:cNvPr id="54" name="Text Box 26"/>
          <p:cNvSpPr txBox="1">
            <a:spLocks noChangeArrowheads="1"/>
          </p:cNvSpPr>
          <p:nvPr/>
        </p:nvSpPr>
        <p:spPr bwMode="auto">
          <a:xfrm>
            <a:off x="533400" y="3575050"/>
            <a:ext cx="1633538" cy="923330"/>
          </a:xfrm>
          <a:prstGeom prst="rect">
            <a:avLst/>
          </a:prstGeom>
          <a:solidFill>
            <a:srgbClr val="FFCCCC"/>
          </a:solidFill>
          <a:ln w="9525">
            <a:solidFill>
              <a:srgbClr val="FFCCCC"/>
            </a:solidFill>
            <a:miter lim="800000"/>
            <a:headEnd/>
            <a:tailEnd/>
          </a:ln>
        </p:spPr>
        <p:txBody>
          <a:bodyPr wrap="square" tIns="91440" bIns="91440">
            <a:spAutoFit/>
          </a:bodyPr>
          <a:lstStyle/>
          <a:p>
            <a:pPr>
              <a:spcBef>
                <a:spcPct val="50000"/>
              </a:spcBef>
            </a:pPr>
            <a:r>
              <a:rPr lang="en-US" sz="2400" b="1" dirty="0">
                <a:latin typeface="Arial"/>
                <a:cs typeface="Arial"/>
              </a:rPr>
              <a:t>American Airlines</a:t>
            </a:r>
          </a:p>
        </p:txBody>
      </p:sp>
      <p:sp>
        <p:nvSpPr>
          <p:cNvPr id="55" name="Text Box 27"/>
          <p:cNvSpPr txBox="1">
            <a:spLocks noChangeArrowheads="1"/>
          </p:cNvSpPr>
          <p:nvPr/>
        </p:nvSpPr>
        <p:spPr bwMode="auto">
          <a:xfrm>
            <a:off x="7000875" y="4173537"/>
            <a:ext cx="1751013" cy="830997"/>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$600 million</a:t>
            </a:r>
          </a:p>
        </p:txBody>
      </p:sp>
      <p:sp>
        <p:nvSpPr>
          <p:cNvPr id="56" name="Text Box 28"/>
          <p:cNvSpPr txBox="1">
            <a:spLocks noChangeArrowheads="1"/>
          </p:cNvSpPr>
          <p:nvPr/>
        </p:nvSpPr>
        <p:spPr bwMode="auto">
          <a:xfrm>
            <a:off x="5822950" y="5334000"/>
            <a:ext cx="1906588" cy="461665"/>
          </a:xfrm>
          <a:prstGeom prst="rect">
            <a:avLst/>
          </a:prstGeom>
          <a:noFill/>
          <a:ln w="9525">
            <a:noFill/>
            <a:miter lim="800000"/>
            <a:headEnd/>
            <a:tailEnd/>
          </a:ln>
        </p:spPr>
        <p:txBody>
          <a:bodyPr>
            <a:spAutoFit/>
          </a:bodyPr>
          <a:lstStyle/>
          <a:p>
            <a:pPr>
              <a:spcBef>
                <a:spcPct val="50000"/>
              </a:spcBef>
            </a:pPr>
            <a:r>
              <a:rPr lang="en-US" sz="2400" dirty="0">
                <a:latin typeface="Arial"/>
                <a:cs typeface="Arial"/>
              </a:rPr>
              <a:t>$600 million</a:t>
            </a:r>
          </a:p>
        </p:txBody>
      </p:sp>
      <p:sp>
        <p:nvSpPr>
          <p:cNvPr id="57" name="Text Box 29"/>
          <p:cNvSpPr txBox="1">
            <a:spLocks noChangeArrowheads="1"/>
          </p:cNvSpPr>
          <p:nvPr/>
        </p:nvSpPr>
        <p:spPr bwMode="auto">
          <a:xfrm>
            <a:off x="6992938" y="2384425"/>
            <a:ext cx="1751012" cy="830997"/>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$200 million</a:t>
            </a:r>
          </a:p>
        </p:txBody>
      </p:sp>
      <p:sp>
        <p:nvSpPr>
          <p:cNvPr id="58" name="Text Box 30"/>
          <p:cNvSpPr txBox="1">
            <a:spLocks noChangeArrowheads="1"/>
          </p:cNvSpPr>
          <p:nvPr/>
        </p:nvSpPr>
        <p:spPr bwMode="auto">
          <a:xfrm>
            <a:off x="5848350" y="3581400"/>
            <a:ext cx="1906588" cy="461665"/>
          </a:xfrm>
          <a:prstGeom prst="rect">
            <a:avLst/>
          </a:prstGeom>
          <a:noFill/>
          <a:ln w="9525">
            <a:noFill/>
            <a:miter lim="800000"/>
            <a:headEnd/>
            <a:tailEnd/>
          </a:ln>
        </p:spPr>
        <p:txBody>
          <a:bodyPr>
            <a:spAutoFit/>
          </a:bodyPr>
          <a:lstStyle/>
          <a:p>
            <a:pPr>
              <a:spcBef>
                <a:spcPct val="50000"/>
              </a:spcBef>
            </a:pPr>
            <a:r>
              <a:rPr lang="en-US" sz="2400" dirty="0">
                <a:latin typeface="Arial"/>
                <a:cs typeface="Arial"/>
              </a:rPr>
              <a:t>$800 million</a:t>
            </a:r>
          </a:p>
        </p:txBody>
      </p:sp>
      <p:sp>
        <p:nvSpPr>
          <p:cNvPr id="59" name="Text Box 31"/>
          <p:cNvSpPr txBox="1">
            <a:spLocks noChangeArrowheads="1"/>
          </p:cNvSpPr>
          <p:nvPr/>
        </p:nvSpPr>
        <p:spPr bwMode="auto">
          <a:xfrm>
            <a:off x="4041775" y="4181475"/>
            <a:ext cx="1751013" cy="830997"/>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$800 million</a:t>
            </a:r>
          </a:p>
        </p:txBody>
      </p:sp>
      <p:sp>
        <p:nvSpPr>
          <p:cNvPr id="60" name="Text Box 32"/>
          <p:cNvSpPr txBox="1">
            <a:spLocks noChangeArrowheads="1"/>
          </p:cNvSpPr>
          <p:nvPr/>
        </p:nvSpPr>
        <p:spPr bwMode="auto">
          <a:xfrm>
            <a:off x="2863850" y="5334000"/>
            <a:ext cx="1906588" cy="461665"/>
          </a:xfrm>
          <a:prstGeom prst="rect">
            <a:avLst/>
          </a:prstGeom>
          <a:noFill/>
          <a:ln w="9525">
            <a:noFill/>
            <a:miter lim="800000"/>
            <a:headEnd/>
            <a:tailEnd/>
          </a:ln>
        </p:spPr>
        <p:txBody>
          <a:bodyPr>
            <a:spAutoFit/>
          </a:bodyPr>
          <a:lstStyle/>
          <a:p>
            <a:pPr>
              <a:spcBef>
                <a:spcPct val="50000"/>
              </a:spcBef>
            </a:pPr>
            <a:r>
              <a:rPr lang="en-US" sz="2400" dirty="0">
                <a:latin typeface="Arial"/>
                <a:cs typeface="Arial"/>
              </a:rPr>
              <a:t>$200 million</a:t>
            </a:r>
          </a:p>
        </p:txBody>
      </p:sp>
      <p:sp>
        <p:nvSpPr>
          <p:cNvPr id="61" name="Text Box 33"/>
          <p:cNvSpPr txBox="1">
            <a:spLocks noChangeArrowheads="1"/>
          </p:cNvSpPr>
          <p:nvPr/>
        </p:nvSpPr>
        <p:spPr bwMode="auto">
          <a:xfrm>
            <a:off x="4033838" y="2392362"/>
            <a:ext cx="1751012" cy="830997"/>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$400 million</a:t>
            </a:r>
          </a:p>
        </p:txBody>
      </p:sp>
      <p:sp>
        <p:nvSpPr>
          <p:cNvPr id="62" name="Text Box 34"/>
          <p:cNvSpPr txBox="1">
            <a:spLocks noChangeArrowheads="1"/>
          </p:cNvSpPr>
          <p:nvPr/>
        </p:nvSpPr>
        <p:spPr bwMode="auto">
          <a:xfrm>
            <a:off x="2889250" y="3581400"/>
            <a:ext cx="1906588" cy="461665"/>
          </a:xfrm>
          <a:prstGeom prst="rect">
            <a:avLst/>
          </a:prstGeom>
          <a:noFill/>
          <a:ln w="9525">
            <a:noFill/>
            <a:miter lim="800000"/>
            <a:headEnd/>
            <a:tailEnd/>
          </a:ln>
        </p:spPr>
        <p:txBody>
          <a:bodyPr>
            <a:spAutoFit/>
          </a:bodyPr>
          <a:lstStyle/>
          <a:p>
            <a:pPr>
              <a:spcBef>
                <a:spcPct val="50000"/>
              </a:spcBef>
            </a:pPr>
            <a:r>
              <a:rPr lang="en-US" sz="2400" dirty="0">
                <a:latin typeface="Arial"/>
                <a:cs typeface="Arial"/>
              </a:rPr>
              <a:t>$400 million</a:t>
            </a:r>
          </a:p>
        </p:txBody>
      </p:sp>
      <p:sp>
        <p:nvSpPr>
          <p:cNvPr id="63" name="Rectangle 35"/>
          <p:cNvSpPr>
            <a:spLocks noChangeArrowheads="1"/>
          </p:cNvSpPr>
          <p:nvPr/>
        </p:nvSpPr>
        <p:spPr bwMode="auto">
          <a:xfrm>
            <a:off x="2846388" y="2346325"/>
            <a:ext cx="2971800" cy="1760537"/>
          </a:xfrm>
          <a:prstGeom prst="rect">
            <a:avLst/>
          </a:prstGeom>
          <a:noFill/>
          <a:ln w="47625" cmpd="sng">
            <a:solidFill>
              <a:srgbClr val="FF0000"/>
            </a:solidFill>
            <a:miter lim="800000"/>
            <a:headEnd/>
            <a:tailEnd/>
          </a:ln>
        </p:spPr>
        <p:txBody>
          <a:bodyPr wrap="none" anchor="ctr"/>
          <a:lstStyle/>
          <a:p>
            <a:endParaRPr lang="en-US" sz="2000">
              <a:latin typeface="Arial"/>
              <a:cs typeface="Arial"/>
            </a:endParaRPr>
          </a:p>
        </p:txBody>
      </p:sp>
      <p:sp>
        <p:nvSpPr>
          <p:cNvPr id="3" name="Footer Placeholder 2">
            <a:extLst>
              <a:ext uri="{FF2B5EF4-FFF2-40B4-BE49-F238E27FC236}">
                <a16:creationId xmlns:a16="http://schemas.microsoft.com/office/drawing/2014/main" id="{B34F9668-9B86-633F-4D6D-DB5A9D34D240}"/>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803173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6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917654-0B85-8F3D-8B60-18301900C083}"/>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40</a:t>
            </a:fld>
            <a:endParaRPr lang="en-US" dirty="0"/>
          </a:p>
        </p:txBody>
      </p:sp>
      <p:sp>
        <p:nvSpPr>
          <p:cNvPr id="3" name="Text Placeholder 2">
            <a:extLst>
              <a:ext uri="{FF2B5EF4-FFF2-40B4-BE49-F238E27FC236}">
                <a16:creationId xmlns:a16="http://schemas.microsoft.com/office/drawing/2014/main" id="{8DA9081D-544C-EFB7-E5F1-B9C4178DD233}"/>
              </a:ext>
            </a:extLst>
          </p:cNvPr>
          <p:cNvSpPr>
            <a:spLocks noGrp="1"/>
          </p:cNvSpPr>
          <p:nvPr>
            <p:ph type="body" sz="quarter" idx="12"/>
          </p:nvPr>
        </p:nvSpPr>
        <p:spPr/>
        <p:txBody>
          <a:bodyPr/>
          <a:lstStyle/>
          <a:p>
            <a:r>
              <a:rPr lang="en-US" dirty="0"/>
              <a:t> Antitrust in the Digital Economy</a:t>
            </a:r>
          </a:p>
        </p:txBody>
      </p:sp>
      <p:sp>
        <p:nvSpPr>
          <p:cNvPr id="4" name="Text Placeholder 3">
            <a:extLst>
              <a:ext uri="{FF2B5EF4-FFF2-40B4-BE49-F238E27FC236}">
                <a16:creationId xmlns:a16="http://schemas.microsoft.com/office/drawing/2014/main" id="{ED5D5BE1-386F-4CB3-60A6-DC107A6332CD}"/>
              </a:ext>
            </a:extLst>
          </p:cNvPr>
          <p:cNvSpPr>
            <a:spLocks noGrp="1"/>
          </p:cNvSpPr>
          <p:nvPr>
            <p:ph type="body" sz="quarter" idx="14"/>
          </p:nvPr>
        </p:nvSpPr>
        <p:spPr>
          <a:xfrm>
            <a:off x="228600" y="1600200"/>
            <a:ext cx="8686800" cy="4724400"/>
          </a:xfrm>
        </p:spPr>
        <p:txBody>
          <a:bodyPr/>
          <a:lstStyle/>
          <a:p>
            <a:r>
              <a:rPr lang="en-US" sz="2800" dirty="0"/>
              <a:t>“The nature of the market dominance of technology giants in the digital economy warrants either the imposition of some kind of regulation or a fundamental change in antitrust policy.”  </a:t>
            </a:r>
          </a:p>
        </p:txBody>
      </p:sp>
      <p:grpSp>
        <p:nvGrpSpPr>
          <p:cNvPr id="12" name="Group 11" descr="The data from the chart in percent are as follows. Agree: 53 percent. Disagree: 21 percent. Uncertain: 26 percent.&#10;">
            <a:extLst>
              <a:ext uri="{FF2B5EF4-FFF2-40B4-BE49-F238E27FC236}">
                <a16:creationId xmlns:a16="http://schemas.microsoft.com/office/drawing/2014/main" id="{2F5A1F6A-2F7A-51FB-E260-C68E0C116555}"/>
              </a:ext>
            </a:extLst>
          </p:cNvPr>
          <p:cNvGrpSpPr/>
          <p:nvPr/>
        </p:nvGrpSpPr>
        <p:grpSpPr>
          <a:xfrm>
            <a:off x="609600" y="3352800"/>
            <a:ext cx="7407797" cy="2971800"/>
            <a:chOff x="609600" y="3352800"/>
            <a:chExt cx="7407797" cy="2971800"/>
          </a:xfrm>
        </p:grpSpPr>
        <p:pic>
          <p:nvPicPr>
            <p:cNvPr id="11" name="Picture 10">
              <a:extLst>
                <a:ext uri="{FF2B5EF4-FFF2-40B4-BE49-F238E27FC236}">
                  <a16:creationId xmlns:a16="http://schemas.microsoft.com/office/drawing/2014/main" id="{708BF117-EF93-600F-13A6-F4D6160A11B8}"/>
                </a:ext>
              </a:extLst>
            </p:cNvPr>
            <p:cNvPicPr>
              <a:picLocks noChangeAspect="1"/>
            </p:cNvPicPr>
            <p:nvPr/>
          </p:nvPicPr>
          <p:blipFill>
            <a:blip r:embed="rId3"/>
            <a:stretch>
              <a:fillRect/>
            </a:stretch>
          </p:blipFill>
          <p:spPr>
            <a:xfrm>
              <a:off x="2970223" y="3352800"/>
              <a:ext cx="3049577" cy="534276"/>
            </a:xfrm>
            <a:prstGeom prst="rect">
              <a:avLst/>
            </a:prstGeom>
          </p:spPr>
        </p:pic>
        <p:grpSp>
          <p:nvGrpSpPr>
            <p:cNvPr id="9" name="Group 8">
              <a:extLst>
                <a:ext uri="{FF2B5EF4-FFF2-40B4-BE49-F238E27FC236}">
                  <a16:creationId xmlns:a16="http://schemas.microsoft.com/office/drawing/2014/main" id="{B92733E1-F9E0-8E63-1EDF-2D19F4C6F273}"/>
                </a:ext>
              </a:extLst>
            </p:cNvPr>
            <p:cNvGrpSpPr/>
            <p:nvPr/>
          </p:nvGrpSpPr>
          <p:grpSpPr>
            <a:xfrm>
              <a:off x="609600" y="3517296"/>
              <a:ext cx="7407797" cy="2807304"/>
              <a:chOff x="609600" y="3517296"/>
              <a:chExt cx="7407797" cy="2807304"/>
            </a:xfrm>
          </p:grpSpPr>
          <p:sp>
            <p:nvSpPr>
              <p:cNvPr id="8" name="TextBox 7">
                <a:extLst>
                  <a:ext uri="{FF2B5EF4-FFF2-40B4-BE49-F238E27FC236}">
                    <a16:creationId xmlns:a16="http://schemas.microsoft.com/office/drawing/2014/main" id="{EEDE1413-F635-30D5-8DAE-8A40A3F6CC97}"/>
                  </a:ext>
                </a:extLst>
              </p:cNvPr>
              <p:cNvSpPr txBox="1"/>
              <p:nvPr/>
            </p:nvSpPr>
            <p:spPr>
              <a:xfrm>
                <a:off x="609600" y="5955268"/>
                <a:ext cx="7407797" cy="338554"/>
              </a:xfrm>
              <a:prstGeom prst="rect">
                <a:avLst/>
              </a:prstGeom>
              <a:noFill/>
            </p:spPr>
            <p:txBody>
              <a:bodyPr wrap="none" rtlCol="0">
                <a:spAutoFit/>
              </a:bodyPr>
              <a:lstStyle/>
              <a:p>
                <a:r>
                  <a:rPr lang="en-US" sz="1600" dirty="0"/>
                  <a:t>Source: IGM Economic Experts Panel, November 3, 2020, December 22, 2020.</a:t>
                </a:r>
              </a:p>
            </p:txBody>
          </p:sp>
          <p:pic>
            <p:nvPicPr>
              <p:cNvPr id="7" name="Picture 6">
                <a:extLst>
                  <a:ext uri="{FF2B5EF4-FFF2-40B4-BE49-F238E27FC236}">
                    <a16:creationId xmlns:a16="http://schemas.microsoft.com/office/drawing/2014/main" id="{5B49ED2C-1E09-9C3F-A9A3-0E26A2359EF2}"/>
                  </a:ext>
                </a:extLst>
              </p:cNvPr>
              <p:cNvPicPr>
                <a:picLocks noChangeAspect="1"/>
              </p:cNvPicPr>
              <p:nvPr/>
            </p:nvPicPr>
            <p:blipFill>
              <a:blip r:embed="rId4"/>
              <a:stretch>
                <a:fillRect/>
              </a:stretch>
            </p:blipFill>
            <p:spPr>
              <a:xfrm>
                <a:off x="1600201" y="3517296"/>
                <a:ext cx="5029200" cy="2807304"/>
              </a:xfrm>
              <a:prstGeom prst="rect">
                <a:avLst/>
              </a:prstGeom>
            </p:spPr>
          </p:pic>
        </p:grpSp>
      </p:grpSp>
    </p:spTree>
    <p:extLst>
      <p:ext uri="{BB962C8B-B14F-4D97-AF65-F5344CB8AC3E}">
        <p14:creationId xmlns:p14="http://schemas.microsoft.com/office/powerpoint/2010/main" val="265906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622AC-F797-6536-F3FB-C447DE129D04}"/>
              </a:ext>
            </a:extLst>
          </p:cNvPr>
          <p:cNvSpPr>
            <a:spLocks noGrp="1"/>
          </p:cNvSpPr>
          <p:nvPr>
            <p:ph type="title"/>
          </p:nvPr>
        </p:nvSpPr>
        <p:spPr/>
        <p:txBody>
          <a:bodyPr/>
          <a:lstStyle/>
          <a:p>
            <a:r>
              <a:rPr lang="en-US" sz="4000" dirty="0"/>
              <a:t>Controversies Over Antitrust Policy</a:t>
            </a:r>
            <a:endParaRPr lang="en-US" dirty="0"/>
          </a:p>
        </p:txBody>
      </p:sp>
      <p:sp>
        <p:nvSpPr>
          <p:cNvPr id="3" name="Content Placeholder 2">
            <a:extLst>
              <a:ext uri="{FF2B5EF4-FFF2-40B4-BE49-F238E27FC236}">
                <a16:creationId xmlns:a16="http://schemas.microsoft.com/office/drawing/2014/main" id="{2DE7D7CC-F3CE-8D38-16C7-9CB1C7FFCB2B}"/>
              </a:ext>
            </a:extLst>
          </p:cNvPr>
          <p:cNvSpPr>
            <a:spLocks noGrp="1"/>
          </p:cNvSpPr>
          <p:nvPr>
            <p:ph idx="1"/>
          </p:nvPr>
        </p:nvSpPr>
        <p:spPr/>
        <p:txBody>
          <a:bodyPr/>
          <a:lstStyle/>
          <a:p>
            <a:pPr eaLnBrk="1" hangingPunct="1"/>
            <a:r>
              <a:rPr lang="en-US" sz="3600" dirty="0">
                <a:solidFill>
                  <a:schemeClr val="tx1"/>
                </a:solidFill>
              </a:rPr>
              <a:t>Most commentators agree that price-fixing agreements among competing firms should be illegal.  </a:t>
            </a:r>
          </a:p>
          <a:p>
            <a:pPr eaLnBrk="1" hangingPunct="1"/>
            <a:r>
              <a:rPr lang="en-US" sz="3600" dirty="0">
                <a:solidFill>
                  <a:schemeClr val="tx1"/>
                </a:solidFill>
              </a:rPr>
              <a:t>The antitrust laws have been used to condemn some business practices whose effects are less obvious.  </a:t>
            </a:r>
          </a:p>
          <a:p>
            <a:pPr eaLnBrk="1" hangingPunct="1"/>
            <a:r>
              <a:rPr lang="en-US" dirty="0"/>
              <a:t>We consider three such practices… </a:t>
            </a:r>
          </a:p>
          <a:p>
            <a:pPr marL="0" indent="0">
              <a:buNone/>
            </a:pPr>
            <a:endParaRPr lang="en-US" dirty="0"/>
          </a:p>
        </p:txBody>
      </p:sp>
      <p:sp>
        <p:nvSpPr>
          <p:cNvPr id="4" name="Slide Number Placeholder 3">
            <a:extLst>
              <a:ext uri="{FF2B5EF4-FFF2-40B4-BE49-F238E27FC236}">
                <a16:creationId xmlns:a16="http://schemas.microsoft.com/office/drawing/2014/main" id="{0EC56093-CF79-FF61-312F-05E37A25C43A}"/>
              </a:ext>
            </a:extLst>
          </p:cNvPr>
          <p:cNvSpPr>
            <a:spLocks noGrp="1"/>
          </p:cNvSpPr>
          <p:nvPr>
            <p:ph type="sldNum" sz="quarter" idx="10"/>
          </p:nvPr>
        </p:nvSpPr>
        <p:spPr/>
        <p:txBody>
          <a:bodyPr/>
          <a:lstStyle/>
          <a:p>
            <a:pPr>
              <a:defRPr/>
            </a:pPr>
            <a:fld id="{073C29DC-2178-4274-9150-45F8EBD31C2D}" type="slidenum">
              <a:rPr lang="en-US" smtClean="0"/>
              <a:pPr>
                <a:defRPr/>
              </a:pPr>
              <a:t>41</a:t>
            </a:fld>
            <a:endParaRPr lang="en-US"/>
          </a:p>
        </p:txBody>
      </p:sp>
      <p:sp>
        <p:nvSpPr>
          <p:cNvPr id="5" name="Footer Placeholder 4">
            <a:extLst>
              <a:ext uri="{FF2B5EF4-FFF2-40B4-BE49-F238E27FC236}">
                <a16:creationId xmlns:a16="http://schemas.microsoft.com/office/drawing/2014/main" id="{5C2F9E62-2422-DCFD-CA7A-7FF52F0CCBE6}"/>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95094410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EF26F-340B-CB7B-AD66-D1AD711AA745}"/>
              </a:ext>
            </a:extLst>
          </p:cNvPr>
          <p:cNvSpPr>
            <a:spLocks noGrp="1"/>
          </p:cNvSpPr>
          <p:nvPr>
            <p:ph type="title"/>
          </p:nvPr>
        </p:nvSpPr>
        <p:spPr/>
        <p:txBody>
          <a:bodyPr/>
          <a:lstStyle/>
          <a:p>
            <a:r>
              <a:rPr lang="en-US" sz="4000" dirty="0"/>
              <a:t>1.  Resale Price Maintenance</a:t>
            </a:r>
            <a:endParaRPr lang="en-US" dirty="0"/>
          </a:p>
        </p:txBody>
      </p:sp>
      <p:sp>
        <p:nvSpPr>
          <p:cNvPr id="3" name="Content Placeholder 2">
            <a:extLst>
              <a:ext uri="{FF2B5EF4-FFF2-40B4-BE49-F238E27FC236}">
                <a16:creationId xmlns:a16="http://schemas.microsoft.com/office/drawing/2014/main" id="{FAE6295D-0A2F-4674-3245-13A8DC0BE4FB}"/>
              </a:ext>
            </a:extLst>
          </p:cNvPr>
          <p:cNvSpPr>
            <a:spLocks noGrp="1"/>
          </p:cNvSpPr>
          <p:nvPr>
            <p:ph idx="1"/>
          </p:nvPr>
        </p:nvSpPr>
        <p:spPr/>
        <p:txBody>
          <a:bodyPr/>
          <a:lstStyle/>
          <a:p>
            <a:pPr eaLnBrk="1" hangingPunct="1"/>
            <a:r>
              <a:rPr lang="en-US" sz="3200" dirty="0"/>
              <a:t>A manufacturer imposes lower limits on the prices retailers can charge  </a:t>
            </a:r>
          </a:p>
          <a:p>
            <a:pPr lvl="1" eaLnBrk="1" hangingPunct="1"/>
            <a:r>
              <a:rPr lang="en-US" sz="2800" dirty="0"/>
              <a:t>Often opposed because it appears to reduce competition at the retail level</a:t>
            </a:r>
          </a:p>
          <a:p>
            <a:pPr lvl="1" eaLnBrk="1" hangingPunct="1"/>
            <a:r>
              <a:rPr lang="en-US" sz="2800" dirty="0"/>
              <a:t>Yet, any market power the manufacturer has is at the wholesale level </a:t>
            </a:r>
          </a:p>
          <a:p>
            <a:pPr lvl="2" eaLnBrk="1" hangingPunct="1"/>
            <a:r>
              <a:rPr lang="en-US" dirty="0"/>
              <a:t>No gains from restricting competition at the retail level </a:t>
            </a:r>
          </a:p>
          <a:p>
            <a:pPr lvl="1" eaLnBrk="1" hangingPunct="1"/>
            <a:r>
              <a:rPr lang="en-US" sz="2800" dirty="0">
                <a:solidFill>
                  <a:srgbClr val="4E519E"/>
                </a:solidFill>
              </a:rPr>
              <a:t>Legitimate goal: preventing discount retailers from free-riding on the services provided by full-service retailers </a:t>
            </a:r>
          </a:p>
        </p:txBody>
      </p:sp>
      <p:sp>
        <p:nvSpPr>
          <p:cNvPr id="4" name="Slide Number Placeholder 3">
            <a:extLst>
              <a:ext uri="{FF2B5EF4-FFF2-40B4-BE49-F238E27FC236}">
                <a16:creationId xmlns:a16="http://schemas.microsoft.com/office/drawing/2014/main" id="{D4831E80-9453-FE91-2B27-A8B1EB63046B}"/>
              </a:ext>
            </a:extLst>
          </p:cNvPr>
          <p:cNvSpPr>
            <a:spLocks noGrp="1"/>
          </p:cNvSpPr>
          <p:nvPr>
            <p:ph type="sldNum" sz="quarter" idx="10"/>
          </p:nvPr>
        </p:nvSpPr>
        <p:spPr/>
        <p:txBody>
          <a:bodyPr/>
          <a:lstStyle/>
          <a:p>
            <a:pPr>
              <a:defRPr/>
            </a:pPr>
            <a:fld id="{073C29DC-2178-4274-9150-45F8EBD31C2D}" type="slidenum">
              <a:rPr lang="en-US" smtClean="0"/>
              <a:pPr>
                <a:defRPr/>
              </a:pPr>
              <a:t>42</a:t>
            </a:fld>
            <a:endParaRPr lang="en-US"/>
          </a:p>
        </p:txBody>
      </p:sp>
      <p:sp>
        <p:nvSpPr>
          <p:cNvPr id="5" name="Footer Placeholder 4">
            <a:extLst>
              <a:ext uri="{FF2B5EF4-FFF2-40B4-BE49-F238E27FC236}">
                <a16:creationId xmlns:a16="http://schemas.microsoft.com/office/drawing/2014/main" id="{08661B94-6A3A-570A-D5C7-2C11C907CF5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13619661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Predatory Pricing</a:t>
            </a:r>
          </a:p>
        </p:txBody>
      </p:sp>
      <p:sp>
        <p:nvSpPr>
          <p:cNvPr id="3" name="Content Placeholder 2"/>
          <p:cNvSpPr>
            <a:spLocks noGrp="1"/>
          </p:cNvSpPr>
          <p:nvPr>
            <p:ph idx="1"/>
          </p:nvPr>
        </p:nvSpPr>
        <p:spPr>
          <a:prstGeom prst="rect">
            <a:avLst/>
          </a:prstGeom>
        </p:spPr>
        <p:txBody>
          <a:bodyPr/>
          <a:lstStyle/>
          <a:p>
            <a:r>
              <a:rPr lang="en-US" sz="3000" dirty="0"/>
              <a:t>A firm cuts prices to prevent entry or drive a competitor out of the market</a:t>
            </a:r>
          </a:p>
          <a:p>
            <a:pPr lvl="1"/>
            <a:r>
              <a:rPr lang="en-US" sz="2800" dirty="0"/>
              <a:t>So that it can charge monopoly prices later</a:t>
            </a:r>
          </a:p>
          <a:p>
            <a:r>
              <a:rPr lang="en-US" sz="3000" dirty="0"/>
              <a:t>Illegal under antitrust laws</a:t>
            </a:r>
          </a:p>
          <a:p>
            <a:pPr lvl="1"/>
            <a:r>
              <a:rPr lang="en-US" sz="2800" dirty="0"/>
              <a:t>Difficult: when a price cut is predatory and when it is competitive &amp; beneficial to consumers?</a:t>
            </a:r>
            <a:endParaRPr lang="en-US" sz="2400" dirty="0"/>
          </a:p>
          <a:p>
            <a:r>
              <a:rPr lang="en-US" sz="3000" dirty="0"/>
              <a:t>Economists debate whether predatory pricing should concern antitrust policymakers:</a:t>
            </a:r>
          </a:p>
          <a:p>
            <a:pPr lvl="1"/>
            <a:r>
              <a:rPr lang="en-US" sz="2800" dirty="0"/>
              <a:t>It involves selling at a loss (costly for the firm)</a:t>
            </a:r>
          </a:p>
          <a:p>
            <a:pPr lvl="1"/>
            <a:r>
              <a:rPr lang="en-US" sz="2800" dirty="0"/>
              <a:t>It can backfire</a:t>
            </a:r>
          </a:p>
          <a:p>
            <a:endParaRPr lang="en-US" sz="3200"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43</a:t>
            </a:fld>
            <a:endParaRPr lang="en-US"/>
          </a:p>
        </p:txBody>
      </p:sp>
      <p:sp>
        <p:nvSpPr>
          <p:cNvPr id="5" name="Footer Placeholder 4">
            <a:extLst>
              <a:ext uri="{FF2B5EF4-FFF2-40B4-BE49-F238E27FC236}">
                <a16:creationId xmlns:a16="http://schemas.microsoft.com/office/drawing/2014/main" id="{7E22C598-A8C8-9692-3AF2-6E22E2C8DE65}"/>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233886078"/>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Bundling</a:t>
            </a:r>
          </a:p>
        </p:txBody>
      </p:sp>
      <p:sp>
        <p:nvSpPr>
          <p:cNvPr id="3" name="Content Placeholder 2"/>
          <p:cNvSpPr>
            <a:spLocks noGrp="1"/>
          </p:cNvSpPr>
          <p:nvPr>
            <p:ph idx="1"/>
          </p:nvPr>
        </p:nvSpPr>
        <p:spPr>
          <a:prstGeom prst="rect">
            <a:avLst/>
          </a:prstGeom>
        </p:spPr>
        <p:txBody>
          <a:bodyPr/>
          <a:lstStyle/>
          <a:p>
            <a:r>
              <a:rPr lang="en-US" sz="3000" dirty="0"/>
              <a:t>A manufacturer bundles two products together and sells them for one price </a:t>
            </a:r>
          </a:p>
          <a:p>
            <a:r>
              <a:rPr lang="en-US" sz="3000" dirty="0"/>
              <a:t>Critics </a:t>
            </a:r>
          </a:p>
          <a:p>
            <a:pPr lvl="1"/>
            <a:r>
              <a:rPr lang="en-US" sz="2800" dirty="0"/>
              <a:t>Bundling gives firms more market power by connecting weak products to strong ones  </a:t>
            </a:r>
          </a:p>
          <a:p>
            <a:r>
              <a:rPr lang="en-US" sz="3000" dirty="0"/>
              <a:t>Others: bundling cannot change market power</a:t>
            </a:r>
          </a:p>
          <a:p>
            <a:pPr lvl="1"/>
            <a:r>
              <a:rPr lang="en-US" sz="2800" dirty="0"/>
              <a:t>Buyers are not willing to pay more for two goods together than for the goods separately </a:t>
            </a:r>
          </a:p>
          <a:p>
            <a:r>
              <a:rPr lang="en-US" sz="3000" dirty="0"/>
              <a:t>Firms may use bundling for price discrimination </a:t>
            </a:r>
          </a:p>
          <a:p>
            <a:pPr lvl="1"/>
            <a:r>
              <a:rPr lang="en-US" sz="2800" dirty="0"/>
              <a:t>Sometimes increases economic efficiency</a:t>
            </a:r>
          </a:p>
          <a:p>
            <a:endParaRPr lang="en-US" sz="3200"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44</a:t>
            </a:fld>
            <a:endParaRPr lang="en-US"/>
          </a:p>
        </p:txBody>
      </p:sp>
      <p:sp>
        <p:nvSpPr>
          <p:cNvPr id="5" name="Footer Placeholder 4">
            <a:extLst>
              <a:ext uri="{FF2B5EF4-FFF2-40B4-BE49-F238E27FC236}">
                <a16:creationId xmlns:a16="http://schemas.microsoft.com/office/drawing/2014/main" id="{CC15D6EA-C9C2-1D19-138F-650DB7A1203D}"/>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805713329"/>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917654-0B85-8F3D-8B60-18301900C083}"/>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45</a:t>
            </a:fld>
            <a:endParaRPr lang="en-US" dirty="0"/>
          </a:p>
        </p:txBody>
      </p:sp>
      <p:sp>
        <p:nvSpPr>
          <p:cNvPr id="3" name="Text Placeholder 2">
            <a:extLst>
              <a:ext uri="{FF2B5EF4-FFF2-40B4-BE49-F238E27FC236}">
                <a16:creationId xmlns:a16="http://schemas.microsoft.com/office/drawing/2014/main" id="{8DA9081D-544C-EFB7-E5F1-B9C4178DD233}"/>
              </a:ext>
            </a:extLst>
          </p:cNvPr>
          <p:cNvSpPr>
            <a:spLocks noGrp="1"/>
          </p:cNvSpPr>
          <p:nvPr>
            <p:ph type="body" sz="quarter" idx="12"/>
          </p:nvPr>
        </p:nvSpPr>
        <p:spPr/>
        <p:txBody>
          <a:bodyPr/>
          <a:lstStyle/>
          <a:p>
            <a:r>
              <a:rPr lang="en-US" dirty="0"/>
              <a:t> Antitrust in the Digital Economy</a:t>
            </a:r>
          </a:p>
        </p:txBody>
      </p:sp>
      <p:sp>
        <p:nvSpPr>
          <p:cNvPr id="4" name="Text Placeholder 3">
            <a:extLst>
              <a:ext uri="{FF2B5EF4-FFF2-40B4-BE49-F238E27FC236}">
                <a16:creationId xmlns:a16="http://schemas.microsoft.com/office/drawing/2014/main" id="{ED5D5BE1-386F-4CB3-60A6-DC107A6332CD}"/>
              </a:ext>
            </a:extLst>
          </p:cNvPr>
          <p:cNvSpPr>
            <a:spLocks noGrp="1"/>
          </p:cNvSpPr>
          <p:nvPr>
            <p:ph type="body" sz="quarter" idx="14"/>
          </p:nvPr>
        </p:nvSpPr>
        <p:spPr>
          <a:xfrm>
            <a:off x="228600" y="1600200"/>
            <a:ext cx="8686800" cy="4724400"/>
          </a:xfrm>
        </p:spPr>
        <p:txBody>
          <a:bodyPr/>
          <a:lstStyle/>
          <a:p>
            <a:r>
              <a:rPr lang="en-US" dirty="0"/>
              <a:t>“Requiring Facebook to divest WhatsApp and Instagram is likely to make society better off.”  </a:t>
            </a:r>
          </a:p>
        </p:txBody>
      </p:sp>
      <p:grpSp>
        <p:nvGrpSpPr>
          <p:cNvPr id="12" name="Group 11" descr="The data from the chart in percent are as follows. Agree: 59 percent. Disagree: 16 percent. Uncertain: 25 percent.&#10;">
            <a:extLst>
              <a:ext uri="{FF2B5EF4-FFF2-40B4-BE49-F238E27FC236}">
                <a16:creationId xmlns:a16="http://schemas.microsoft.com/office/drawing/2014/main" id="{DE05A6B6-7303-F940-E68C-88CD4A601C52}"/>
              </a:ext>
            </a:extLst>
          </p:cNvPr>
          <p:cNvGrpSpPr/>
          <p:nvPr/>
        </p:nvGrpSpPr>
        <p:grpSpPr>
          <a:xfrm>
            <a:off x="609600" y="2590800"/>
            <a:ext cx="7407797" cy="3733799"/>
            <a:chOff x="609600" y="2590800"/>
            <a:chExt cx="7407797" cy="3733799"/>
          </a:xfrm>
        </p:grpSpPr>
        <p:grpSp>
          <p:nvGrpSpPr>
            <p:cNvPr id="6" name="Group 5">
              <a:extLst>
                <a:ext uri="{FF2B5EF4-FFF2-40B4-BE49-F238E27FC236}">
                  <a16:creationId xmlns:a16="http://schemas.microsoft.com/office/drawing/2014/main" id="{55F857FC-BE19-4EBC-F050-C5ACBBC7F37E}"/>
                </a:ext>
              </a:extLst>
            </p:cNvPr>
            <p:cNvGrpSpPr/>
            <p:nvPr/>
          </p:nvGrpSpPr>
          <p:grpSpPr>
            <a:xfrm>
              <a:off x="609600" y="2821256"/>
              <a:ext cx="7407797" cy="3503343"/>
              <a:chOff x="609600" y="2821256"/>
              <a:chExt cx="7407797" cy="3503343"/>
            </a:xfrm>
          </p:grpSpPr>
          <p:sp>
            <p:nvSpPr>
              <p:cNvPr id="8" name="TextBox 7">
                <a:extLst>
                  <a:ext uri="{FF2B5EF4-FFF2-40B4-BE49-F238E27FC236}">
                    <a16:creationId xmlns:a16="http://schemas.microsoft.com/office/drawing/2014/main" id="{EEDE1413-F635-30D5-8DAE-8A40A3F6CC97}"/>
                  </a:ext>
                </a:extLst>
              </p:cNvPr>
              <p:cNvSpPr txBox="1"/>
              <p:nvPr/>
            </p:nvSpPr>
            <p:spPr>
              <a:xfrm>
                <a:off x="609600" y="5955268"/>
                <a:ext cx="7407797" cy="338554"/>
              </a:xfrm>
              <a:prstGeom prst="rect">
                <a:avLst/>
              </a:prstGeom>
              <a:noFill/>
            </p:spPr>
            <p:txBody>
              <a:bodyPr wrap="none" rtlCol="0">
                <a:spAutoFit/>
              </a:bodyPr>
              <a:lstStyle/>
              <a:p>
                <a:r>
                  <a:rPr lang="en-US" sz="1600" dirty="0"/>
                  <a:t>Source: IGM Economic Experts Panel, November 3, 2020, December 22, 2020.</a:t>
                </a:r>
              </a:p>
            </p:txBody>
          </p:sp>
          <p:pic>
            <p:nvPicPr>
              <p:cNvPr id="5" name="Picture 4">
                <a:extLst>
                  <a:ext uri="{FF2B5EF4-FFF2-40B4-BE49-F238E27FC236}">
                    <a16:creationId xmlns:a16="http://schemas.microsoft.com/office/drawing/2014/main" id="{3FA38E45-2F20-A228-9C21-F6B23CEFC44C}"/>
                  </a:ext>
                </a:extLst>
              </p:cNvPr>
              <p:cNvPicPr>
                <a:picLocks noChangeAspect="1"/>
              </p:cNvPicPr>
              <p:nvPr/>
            </p:nvPicPr>
            <p:blipFill>
              <a:blip r:embed="rId3"/>
              <a:stretch>
                <a:fillRect/>
              </a:stretch>
            </p:blipFill>
            <p:spPr>
              <a:xfrm>
                <a:off x="1447800" y="2821256"/>
                <a:ext cx="6276131" cy="3503343"/>
              </a:xfrm>
              <a:prstGeom prst="rect">
                <a:avLst/>
              </a:prstGeom>
            </p:spPr>
          </p:pic>
        </p:grpSp>
        <p:pic>
          <p:nvPicPr>
            <p:cNvPr id="11" name="Picture 10">
              <a:extLst>
                <a:ext uri="{FF2B5EF4-FFF2-40B4-BE49-F238E27FC236}">
                  <a16:creationId xmlns:a16="http://schemas.microsoft.com/office/drawing/2014/main" id="{51A4DB78-99D8-7F62-6B30-22F5DE83A810}"/>
                </a:ext>
              </a:extLst>
            </p:cNvPr>
            <p:cNvPicPr>
              <a:picLocks noChangeAspect="1"/>
            </p:cNvPicPr>
            <p:nvPr/>
          </p:nvPicPr>
          <p:blipFill>
            <a:blip r:embed="rId4"/>
            <a:stretch>
              <a:fillRect/>
            </a:stretch>
          </p:blipFill>
          <p:spPr>
            <a:xfrm>
              <a:off x="2970223" y="2590800"/>
              <a:ext cx="3203553" cy="561252"/>
            </a:xfrm>
            <a:prstGeom prst="rect">
              <a:avLst/>
            </a:prstGeom>
          </p:spPr>
        </p:pic>
      </p:grpSp>
    </p:spTree>
    <p:extLst>
      <p:ext uri="{BB962C8B-B14F-4D97-AF65-F5344CB8AC3E}">
        <p14:creationId xmlns:p14="http://schemas.microsoft.com/office/powerpoint/2010/main" val="255903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a:t>
            </a:r>
            <a:endParaRPr lang="en-US" dirty="0"/>
          </a:p>
        </p:txBody>
      </p:sp>
      <p:sp>
        <p:nvSpPr>
          <p:cNvPr id="6" name="Content Placeholder 5"/>
          <p:cNvSpPr>
            <a:spLocks noGrp="1"/>
          </p:cNvSpPr>
          <p:nvPr>
            <p:ph idx="1"/>
          </p:nvPr>
        </p:nvSpPr>
        <p:spPr>
          <a:xfrm>
            <a:off x="228600" y="688622"/>
            <a:ext cx="8763000" cy="5788378"/>
          </a:xfrm>
        </p:spPr>
        <p:txBody>
          <a:bodyPr/>
          <a:lstStyle/>
          <a:p>
            <a:pPr marL="0" indent="0">
              <a:buNone/>
            </a:pPr>
            <a:r>
              <a:rPr lang="en-US" sz="3100" dirty="0"/>
              <a:t>	New on campus in a small town, your best friend, Elijah, is amazed that </a:t>
            </a:r>
            <a:r>
              <a:rPr lang="en-US" sz="3100" u="sng" dirty="0"/>
              <a:t>both</a:t>
            </a:r>
            <a:r>
              <a:rPr lang="en-US" sz="3100" dirty="0"/>
              <a:t> grocery stores in town are open 24 hours. He says “This is a great idea! Staying open all the time must mean that both stores make lots of profit!”     </a:t>
            </a:r>
          </a:p>
          <a:p>
            <a:pPr marL="514350" indent="-514350">
              <a:buClr>
                <a:srgbClr val="AE1221"/>
              </a:buClr>
              <a:buFont typeface="+mj-lt"/>
              <a:buAutoNum type="alphaUcPeriod"/>
            </a:pPr>
            <a:r>
              <a:rPr lang="en-US" sz="3200" dirty="0">
                <a:solidFill>
                  <a:schemeClr val="tx1"/>
                </a:solidFill>
              </a:rPr>
              <a:t>Since there are only two grocery stores in town, is it likely they make “lots of profit” by staying open 24 hours? </a:t>
            </a:r>
          </a:p>
          <a:p>
            <a:pPr marL="514350" indent="-514350">
              <a:buClr>
                <a:srgbClr val="AE1221"/>
              </a:buClr>
              <a:buFont typeface="+mj-lt"/>
              <a:buAutoNum type="alphaUcPeriod"/>
            </a:pPr>
            <a:r>
              <a:rPr lang="en-US" sz="3200" dirty="0">
                <a:solidFill>
                  <a:schemeClr val="tx1"/>
                </a:solidFill>
              </a:rPr>
              <a:t>Can you use prisoners’ dilemma to explain why the stores are open 24 hours a day?</a:t>
            </a:r>
            <a:endParaRPr lang="en-US" sz="3100" dirty="0">
              <a:solidFill>
                <a:schemeClr val="tx1"/>
              </a:solidFill>
            </a:endParaRPr>
          </a:p>
          <a:p>
            <a:pPr marL="0" indent="0">
              <a:buNone/>
            </a:pPr>
            <a:endParaRPr lang="en-US" sz="3100" dirty="0"/>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46</a:t>
            </a:fld>
            <a:endParaRPr lang="en-US" dirty="0"/>
          </a:p>
        </p:txBody>
      </p:sp>
    </p:spTree>
    <p:extLst>
      <p:ext uri="{BB962C8B-B14F-4D97-AF65-F5344CB8AC3E}">
        <p14:creationId xmlns:p14="http://schemas.microsoft.com/office/powerpoint/2010/main" val="6092219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Oligopolists</a:t>
            </a:r>
            <a:r>
              <a:rPr lang="en-US" sz="2800" dirty="0"/>
              <a:t> maximize their total profits by forming a cartel and acting like a monopolist. </a:t>
            </a:r>
          </a:p>
          <a:p>
            <a:pPr lvl="1"/>
            <a:r>
              <a:rPr lang="en-US" sz="2800" dirty="0"/>
              <a:t>Yet, if oligopolists make decisions about production levels individually, the result is a greater quantity and a lower price than under the monopoly outcome. </a:t>
            </a:r>
          </a:p>
          <a:p>
            <a:pPr lvl="1"/>
            <a:r>
              <a:rPr lang="en-US" sz="2800" dirty="0"/>
              <a:t>The larger the number of firms in the oligopoly, the closer the quantity and price will be to the levels that would prevail under perfect competition.</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47</a:t>
            </a:fld>
            <a:endParaRPr lang="en-US"/>
          </a:p>
        </p:txBody>
      </p:sp>
      <p:sp>
        <p:nvSpPr>
          <p:cNvPr id="2" name="Title 1"/>
          <p:cNvSpPr>
            <a:spLocks noGrp="1"/>
          </p:cNvSpPr>
          <p:nvPr>
            <p:ph type="title"/>
          </p:nvPr>
        </p:nvSpPr>
        <p:spPr/>
        <p:txBody>
          <a:bodyPr/>
          <a:lstStyle/>
          <a:p>
            <a:r>
              <a:rPr lang="en-US" dirty="0"/>
              <a:t>CHAPTER IN A NUTSHELL</a:t>
            </a: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085154119"/>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t>The prisoners’ dilemma shows that self-interest can prevent people from maintaining cooperation, even when cooperation is in their mutual interest. The logic of the prisoners’ dilemma applies to many situations, including arms races, common-resource problems, and oligopolies.</a:t>
            </a:r>
          </a:p>
          <a:p>
            <a:r>
              <a:rPr lang="en-US" sz="2800" dirty="0"/>
              <a:t>Policymakers use the antitrust laws to prevent oligopolies from engaging in behavior that reduces competition. The application of these laws can be controversial because some behavior that can appear to reduce competition may have legitimate business purposes.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48</a:t>
            </a:fld>
            <a:endParaRPr lang="en-US"/>
          </a:p>
        </p:txBody>
      </p:sp>
      <p:sp>
        <p:nvSpPr>
          <p:cNvPr id="2" name="Title 1"/>
          <p:cNvSpPr>
            <a:spLocks noGrp="1"/>
          </p:cNvSpPr>
          <p:nvPr>
            <p:ph type="title"/>
          </p:nvPr>
        </p:nvSpPr>
        <p:spPr/>
        <p:txBody>
          <a:bodyPr/>
          <a:lstStyle/>
          <a:p>
            <a:r>
              <a:rPr lang="en-US" dirty="0"/>
              <a:t>CHAPTER IN A NUTSHELL</a:t>
            </a:r>
          </a:p>
        </p:txBody>
      </p:sp>
      <p:sp>
        <p:nvSpPr>
          <p:cNvPr id="6" name="Footer Placeholder 2"/>
          <p:cNvSpPr>
            <a:spLocks noGrp="1"/>
          </p:cNvSpPr>
          <p:nvPr>
            <p:ph type="ftr" sz="quarter" idx="4294967295"/>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557465978"/>
      </p:ext>
    </p:extLst>
  </p:cSld>
  <p:clrMapOvr>
    <a:masterClrMapping/>
  </p:clrMapOvr>
  <p:transition/>
</p:sld>
</file>

<file path=ppt/theme/theme1.xml><?xml version="1.0" encoding="utf-8"?>
<a:theme xmlns:a="http://schemas.openxmlformats.org/drawingml/2006/main" name="1_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42028</TotalTime>
  <Words>9445</Words>
  <Application>Microsoft Office PowerPoint</Application>
  <PresentationFormat>On-screen Show (4:3)</PresentationFormat>
  <Paragraphs>864</Paragraphs>
  <Slides>48</Slides>
  <Notes>48</Notes>
  <HiddenSlides>0</HiddenSlides>
  <MMClips>0</MMClips>
  <ScaleCrop>false</ScaleCrop>
  <HeadingPairs>
    <vt:vector size="6" baseType="variant">
      <vt:variant>
        <vt:lpstr>Fonts Used</vt:lpstr>
      </vt:variant>
      <vt:variant>
        <vt:i4>7</vt:i4>
      </vt:variant>
      <vt:variant>
        <vt:lpstr>Theme</vt:lpstr>
      </vt:variant>
      <vt:variant>
        <vt:i4>10</vt:i4>
      </vt:variant>
      <vt:variant>
        <vt:lpstr>Slide Titles</vt:lpstr>
      </vt:variant>
      <vt:variant>
        <vt:i4>48</vt:i4>
      </vt:variant>
    </vt:vector>
  </HeadingPairs>
  <TitlesOfParts>
    <vt:vector size="65" baseType="lpstr">
      <vt:lpstr>Arial</vt:lpstr>
      <vt:lpstr>Calibri</vt:lpstr>
      <vt:lpstr>Cambria</vt:lpstr>
      <vt:lpstr>Georgia</vt:lpstr>
      <vt:lpstr>Sabon-Bold</vt:lpstr>
      <vt:lpstr>Tahoma</vt:lpstr>
      <vt:lpstr>Wingdings</vt:lpstr>
      <vt:lpstr>1_Chapter title</vt:lpstr>
      <vt:lpstr>Intro / Summary</vt:lpstr>
      <vt:lpstr>Chapter content</vt:lpstr>
      <vt:lpstr>Figure</vt:lpstr>
      <vt:lpstr>Table</vt:lpstr>
      <vt:lpstr>ActiveLearning or Ex</vt:lpstr>
      <vt:lpstr>Case study</vt:lpstr>
      <vt:lpstr>Think-Pair-Share</vt:lpstr>
      <vt:lpstr>Ask Experts</vt:lpstr>
      <vt:lpstr>Appendix</vt:lpstr>
      <vt:lpstr>PowerPoint Presentation</vt:lpstr>
      <vt:lpstr>IN THIS CHAPTER</vt:lpstr>
      <vt:lpstr>Review </vt:lpstr>
      <vt:lpstr>Review: the Four Types of Market Structure</vt:lpstr>
      <vt:lpstr>Oligopoly</vt:lpstr>
      <vt:lpstr>Markets with Only a Few Sellers</vt:lpstr>
      <vt:lpstr>EXAMPLE 1: Gas Station Duopoly in Smallville – 1  </vt:lpstr>
      <vt:lpstr>EXAMPLE 1: Smallville, Competition vs. Monopoly – 2  </vt:lpstr>
      <vt:lpstr>Collusion </vt:lpstr>
      <vt:lpstr>Active Learning 1: Collusion in Smallvile?</vt:lpstr>
      <vt:lpstr>Active Learning 1: Answers </vt:lpstr>
      <vt:lpstr>Collusion vs. Self-Interest</vt:lpstr>
      <vt:lpstr>Active Learning 2: Duopoly equilibrium in Smallville</vt:lpstr>
      <vt:lpstr>Active Learning 2: Answers</vt:lpstr>
      <vt:lpstr>The Equilibrium for an Oligopoly </vt:lpstr>
      <vt:lpstr>The Output &amp; Price Effects</vt:lpstr>
      <vt:lpstr>The Size of an Oligopoly</vt:lpstr>
      <vt:lpstr>PowerPoint Presentation</vt:lpstr>
      <vt:lpstr>The Economics of Cooperation</vt:lpstr>
      <vt:lpstr>EXAMPLE 2: The Prisoners’ Dilemma – 1 </vt:lpstr>
      <vt:lpstr>EXAMPLE 2: The Prisoners’ Dilemma – 2 </vt:lpstr>
      <vt:lpstr>EXAMPLE 2: The Prisoners’ Dilemma – 3 </vt:lpstr>
      <vt:lpstr>Oligopolies as a Prisoners’ Dilemma</vt:lpstr>
      <vt:lpstr>EXAMPLE 3: Casey’s and 7-eleven: Prisoners’ Dilemma</vt:lpstr>
      <vt:lpstr>Other examples of the prisoners’ dilemma – 1 </vt:lpstr>
      <vt:lpstr>Other examples of the prisoners’ dilemma – 2 </vt:lpstr>
      <vt:lpstr>Welfare of Society</vt:lpstr>
      <vt:lpstr>Active Learning 3: Go fish! On Lake Michigan</vt:lpstr>
      <vt:lpstr>Active Learning 3: Answers</vt:lpstr>
      <vt:lpstr>EXAMPLE 4: Negative campaign ads – 1 </vt:lpstr>
      <vt:lpstr>EXAMPLE 4: Negative campaign ads – 2 </vt:lpstr>
      <vt:lpstr>EXAMPLE 4: Negative campaign ads – 3 </vt:lpstr>
      <vt:lpstr>Why People Sometimes Cooperate</vt:lpstr>
      <vt:lpstr>Public Policy Toward Oligopolies</vt:lpstr>
      <vt:lpstr>PowerPoint Presentation</vt:lpstr>
      <vt:lpstr>Antitrust Laws</vt:lpstr>
      <vt:lpstr>PowerPoint Presentation</vt:lpstr>
      <vt:lpstr>Active Learning 4: The airline fare wars game</vt:lpstr>
      <vt:lpstr>Active Learning 4: Answers</vt:lpstr>
      <vt:lpstr>PowerPoint Presentation</vt:lpstr>
      <vt:lpstr>Controversies Over Antitrust Policy</vt:lpstr>
      <vt:lpstr>1.  Resale Price Maintenance</vt:lpstr>
      <vt:lpstr>2.  Predatory Pricing</vt:lpstr>
      <vt:lpstr>3. Bundling</vt:lpstr>
      <vt:lpstr>PowerPoint Presentation</vt:lpstr>
      <vt:lpstr>THINK-PAIR-SHARE</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1485</cp:revision>
  <cp:lastPrinted>2019-05-14T19:06:14Z</cp:lastPrinted>
  <dcterms:created xsi:type="dcterms:W3CDTF">2016-03-16T19:41:09Z</dcterms:created>
  <dcterms:modified xsi:type="dcterms:W3CDTF">2026-01-20T15:24:22Z</dcterms:modified>
</cp:coreProperties>
</file>
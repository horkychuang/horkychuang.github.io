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theme/theme7.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8.xml" ContentType="application/vnd.openxmlformats-officedocument.theme+xml"/>
  <Override PartName="/ppt/slideLayouts/slideLayout18.xml" ContentType="application/vnd.openxmlformats-officedocument.presentationml.slideLayout+xml"/>
  <Override PartName="/ppt/theme/theme9.xml" ContentType="application/vnd.openxmlformats-officedocument.theme+xml"/>
  <Override PartName="/ppt/slideLayouts/slideLayout19.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54"/>
  </p:notesMasterIdLst>
  <p:handoutMasterIdLst>
    <p:handoutMasterId r:id="rId55"/>
  </p:handoutMasterIdLst>
  <p:sldIdLst>
    <p:sldId id="256" r:id="rId11"/>
    <p:sldId id="374" r:id="rId12"/>
    <p:sldId id="1498" r:id="rId13"/>
    <p:sldId id="1578" r:id="rId14"/>
    <p:sldId id="1500" r:id="rId15"/>
    <p:sldId id="1582" r:id="rId16"/>
    <p:sldId id="1532" r:id="rId17"/>
    <p:sldId id="1533" r:id="rId18"/>
    <p:sldId id="1501" r:id="rId19"/>
    <p:sldId id="1502" r:id="rId20"/>
    <p:sldId id="1534" r:id="rId21"/>
    <p:sldId id="1579" r:id="rId22"/>
    <p:sldId id="1505" r:id="rId23"/>
    <p:sldId id="1506" r:id="rId24"/>
    <p:sldId id="1507" r:id="rId25"/>
    <p:sldId id="1508" r:id="rId26"/>
    <p:sldId id="1509" r:id="rId27"/>
    <p:sldId id="1510" r:id="rId28"/>
    <p:sldId id="1511" r:id="rId29"/>
    <p:sldId id="1512" r:id="rId30"/>
    <p:sldId id="1536" r:id="rId31"/>
    <p:sldId id="1513" r:id="rId32"/>
    <p:sldId id="1537" r:id="rId33"/>
    <p:sldId id="1538" r:id="rId34"/>
    <p:sldId id="1514" r:id="rId35"/>
    <p:sldId id="1539" r:id="rId36"/>
    <p:sldId id="1517" r:id="rId37"/>
    <p:sldId id="1518" r:id="rId38"/>
    <p:sldId id="1519" r:id="rId39"/>
    <p:sldId id="1520" r:id="rId40"/>
    <p:sldId id="1521" r:id="rId41"/>
    <p:sldId id="1577" r:id="rId42"/>
    <p:sldId id="1523" r:id="rId43"/>
    <p:sldId id="1524" r:id="rId44"/>
    <p:sldId id="1525" r:id="rId45"/>
    <p:sldId id="1526" r:id="rId46"/>
    <p:sldId id="1543" r:id="rId47"/>
    <p:sldId id="1580" r:id="rId48"/>
    <p:sldId id="1435" r:id="rId49"/>
    <p:sldId id="1542" r:id="rId50"/>
    <p:sldId id="1581" r:id="rId51"/>
    <p:sldId id="1540" r:id="rId52"/>
    <p:sldId id="1541" r:id="rId53"/>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1221"/>
    <a:srgbClr val="E3F0FA"/>
    <a:srgbClr val="4E519E"/>
    <a:srgbClr val="F45006"/>
    <a:srgbClr val="CCFFCC"/>
    <a:srgbClr val="FFCCCC"/>
    <a:srgbClr val="0000FF"/>
    <a:srgbClr val="D0D1E8"/>
    <a:srgbClr val="66FF33"/>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536CDB-6E98-41BF-A3A1-4B2BBD006AEC}" v="5" dt="2026-01-15T21:44:10.9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82096" autoAdjust="0"/>
  </p:normalViewPr>
  <p:slideViewPr>
    <p:cSldViewPr>
      <p:cViewPr varScale="1">
        <p:scale>
          <a:sx n="52" d="100"/>
          <a:sy n="52" d="100"/>
        </p:scale>
        <p:origin x="1712" y="44"/>
      </p:cViewPr>
      <p:guideLst>
        <p:guide orient="horz" pos="2160"/>
        <p:guide pos="2880"/>
      </p:guideLst>
    </p:cSldViewPr>
  </p:slideViewPr>
  <p:outlineViewPr>
    <p:cViewPr>
      <p:scale>
        <a:sx n="33" d="100"/>
        <a:sy n="33" d="100"/>
      </p:scale>
      <p:origin x="0" y="-42888"/>
    </p:cViewPr>
  </p:outlineViewPr>
  <p:notesTextViewPr>
    <p:cViewPr>
      <p:scale>
        <a:sx n="125" d="100"/>
        <a:sy n="125" d="100"/>
      </p:scale>
      <p:origin x="0" y="0"/>
    </p:cViewPr>
  </p:notesTextViewPr>
  <p:sorterViewPr>
    <p:cViewPr>
      <p:scale>
        <a:sx n="130" d="100"/>
        <a:sy n="130" d="100"/>
      </p:scale>
      <p:origin x="0" y="-18086"/>
    </p:cViewPr>
  </p:sorterViewPr>
  <p:notesViewPr>
    <p:cSldViewPr>
      <p:cViewPr>
        <p:scale>
          <a:sx n="60" d="100"/>
          <a:sy n="60" d="100"/>
        </p:scale>
        <p:origin x="4216" y="121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handoutMaster" Target="handoutMasters/handout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theme" Target="theme/theme1.xml"/><Relationship Id="rId5" Type="http://schemas.openxmlformats.org/officeDocument/2006/relationships/slideMaster" Target="slideMasters/slideMaster5.xml"/><Relationship Id="rId61" Type="http://schemas.microsoft.com/office/2015/10/relationships/revisionInfo" Target="revisionInfo.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tableStyles" Target="tableStyle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viewProps" Target="viewProps.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modSld modMainMaster">
      <pc:chgData name="Aucoin, Shannon" userId="3f4e7fc1-6c2e-4059-b6c3-22af03bf749a" providerId="ADAL" clId="{E0921B5F-CAE8-4497-A9EF-24510461A92C}" dt="2026-01-15T21:44:43.097" v="18" actId="20577"/>
      <pc:docMkLst>
        <pc:docMk/>
      </pc:docMkLst>
      <pc:sldChg chg="modSp">
        <pc:chgData name="Aucoin, Shannon" userId="3f4e7fc1-6c2e-4059-b6c3-22af03bf749a" providerId="ADAL" clId="{E0921B5F-CAE8-4497-A9EF-24510461A92C}" dt="2026-01-15T21:44:04.795" v="0"/>
        <pc:sldMkLst>
          <pc:docMk/>
          <pc:sldMk cId="2962300543" sldId="256"/>
        </pc:sldMkLst>
        <pc:spChg chg="mod">
          <ac:chgData name="Aucoin, Shannon" userId="3f4e7fc1-6c2e-4059-b6c3-22af03bf749a" providerId="ADAL" clId="{E0921B5F-CAE8-4497-A9EF-24510461A92C}" dt="2026-01-15T21:44:04.795" v="0"/>
          <ac:spMkLst>
            <pc:docMk/>
            <pc:sldMk cId="2962300543" sldId="256"/>
            <ac:spMk id="6" creationId="{00000000-0000-0000-0000-000000000000}"/>
          </ac:spMkLst>
        </pc:spChg>
        <pc:spChg chg="mod">
          <ac:chgData name="Aucoin, Shannon" userId="3f4e7fc1-6c2e-4059-b6c3-22af03bf749a" providerId="ADAL" clId="{E0921B5F-CAE8-4497-A9EF-24510461A92C}" dt="2026-01-15T21:44:04.795" v="0"/>
          <ac:spMkLst>
            <pc:docMk/>
            <pc:sldMk cId="2962300543" sldId="256"/>
            <ac:spMk id="9" creationId="{00000000-0000-0000-0000-000000000000}"/>
          </ac:spMkLst>
        </pc:spChg>
      </pc:sldChg>
      <pc:sldMasterChg chg="modSp mod">
        <pc:chgData name="Aucoin, Shannon" userId="3f4e7fc1-6c2e-4059-b6c3-22af03bf749a" providerId="ADAL" clId="{E0921B5F-CAE8-4497-A9EF-24510461A92C}" dt="2026-01-15T21:44:22.441" v="4" actId="20577"/>
        <pc:sldMasterMkLst>
          <pc:docMk/>
          <pc:sldMasterMk cId="1007448745" sldId="2147483670"/>
        </pc:sldMasterMkLst>
        <pc:spChg chg="mod">
          <ac:chgData name="Aucoin, Shannon" userId="3f4e7fc1-6c2e-4059-b6c3-22af03bf749a" providerId="ADAL" clId="{E0921B5F-CAE8-4497-A9EF-24510461A92C}" dt="2026-01-15T21:44:22.441" v="4" actId="20577"/>
          <ac:spMkLst>
            <pc:docMk/>
            <pc:sldMasterMk cId="1007448745" sldId="2147483670"/>
            <ac:spMk id="9" creationId="{00000000-0000-0000-0000-000000000000}"/>
          </ac:spMkLst>
        </pc:spChg>
      </pc:sldMasterChg>
      <pc:sldMasterChg chg="modSp mod">
        <pc:chgData name="Aucoin, Shannon" userId="3f4e7fc1-6c2e-4059-b6c3-22af03bf749a" providerId="ADAL" clId="{E0921B5F-CAE8-4497-A9EF-24510461A92C}" dt="2026-01-15T21:44:43.097" v="18" actId="20577"/>
        <pc:sldMasterMkLst>
          <pc:docMk/>
          <pc:sldMasterMk cId="3578277993" sldId="2147483672"/>
        </pc:sldMasterMkLst>
        <pc:spChg chg="mod">
          <ac:chgData name="Aucoin, Shannon" userId="3f4e7fc1-6c2e-4059-b6c3-22af03bf749a" providerId="ADAL" clId="{E0921B5F-CAE8-4497-A9EF-24510461A92C}" dt="2026-01-15T21:44:43.097" v="18" actId="20577"/>
          <ac:spMkLst>
            <pc:docMk/>
            <pc:sldMasterMk cId="3578277993" sldId="2147483672"/>
            <ac:spMk id="15" creationId="{00000000-0000-0000-0000-000000000000}"/>
          </ac:spMkLst>
        </pc:spChg>
      </pc:sldMasterChg>
      <pc:sldMasterChg chg="modSp mod">
        <pc:chgData name="Aucoin, Shannon" userId="3f4e7fc1-6c2e-4059-b6c3-22af03bf749a" providerId="ADAL" clId="{E0921B5F-CAE8-4497-A9EF-24510461A92C}" dt="2026-01-15T21:44:36.345" v="14" actId="20577"/>
        <pc:sldMasterMkLst>
          <pc:docMk/>
          <pc:sldMasterMk cId="540183629" sldId="2147483675"/>
        </pc:sldMasterMkLst>
        <pc:spChg chg="mod">
          <ac:chgData name="Aucoin, Shannon" userId="3f4e7fc1-6c2e-4059-b6c3-22af03bf749a" providerId="ADAL" clId="{E0921B5F-CAE8-4497-A9EF-24510461A92C}" dt="2026-01-15T21:44:36.345" v="14" actId="20577"/>
          <ac:spMkLst>
            <pc:docMk/>
            <pc:sldMasterMk cId="540183629" sldId="2147483675"/>
            <ac:spMk id="11" creationId="{00000000-0000-0000-0000-000000000000}"/>
          </ac:spMkLst>
        </pc:spChg>
      </pc:sldMasterChg>
      <pc:sldMasterChg chg="modSp mod">
        <pc:chgData name="Aucoin, Shannon" userId="3f4e7fc1-6c2e-4059-b6c3-22af03bf749a" providerId="ADAL" clId="{E0921B5F-CAE8-4497-A9EF-24510461A92C}" dt="2026-01-15T21:44:30.282" v="10" actId="20577"/>
        <pc:sldMasterMkLst>
          <pc:docMk/>
          <pc:sldMasterMk cId="3728541375" sldId="2147483684"/>
        </pc:sldMasterMkLst>
        <pc:spChg chg="mod">
          <ac:chgData name="Aucoin, Shannon" userId="3f4e7fc1-6c2e-4059-b6c3-22af03bf749a" providerId="ADAL" clId="{E0921B5F-CAE8-4497-A9EF-24510461A92C}" dt="2026-01-15T21:44:30.282" v="10" actId="20577"/>
          <ac:spMkLst>
            <pc:docMk/>
            <pc:sldMasterMk cId="3728541375" sldId="2147483684"/>
            <ac:spMk id="1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most important concept in this </a:t>
            </a:r>
            <a:r>
              <a:rPr lang="en-US" sz="1200"/>
              <a:t>chapter is </a:t>
            </a:r>
            <a:r>
              <a:rPr lang="en-US" sz="1200" dirty="0"/>
              <a:t>the relation between MR and P for a monopolist.  Everything else in the chapter— economic profit, deadweight loss, public policy response, etc.—these all flow from the relationship between P and MR.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relationship is also important because </a:t>
            </a:r>
            <a:r>
              <a:rPr lang="en-US" sz="1200" b="1" i="1" dirty="0"/>
              <a:t>P &gt; MR </a:t>
            </a:r>
            <a:r>
              <a:rPr lang="en-US" sz="1200" dirty="0"/>
              <a:t>for firms with market power in other market structures, such as monopolistically competitive firms.  Since P &gt; MR for these firms, many of the same issues arise.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For most students, the relationship between P and MR is the most challenging topic in the chapter.  This PowerPoint includes an Active Learning exercise requiring students to calculate marginal revenue at various quantities from a demand schedule, so students will see for themselves that </a:t>
            </a:r>
            <a:r>
              <a:rPr lang="en-US" sz="1200" b="1" i="1" dirty="0"/>
              <a:t>MR &lt; P</a:t>
            </a:r>
            <a:r>
              <a:rPr lang="en-US" sz="1200" dirty="0"/>
              <a:t>.  The PowerPoint also includes careful explanation on the relation between MR and P.  I hope your students find it helpful.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Another tricky concept for some students is identifying the monopolist’s price on a graph.  Students generally can find the profit-maximizing quantity, where the MR and MC curves intersect.  But they sometimes forget to go up to the D curve to find the highest price the market will bear at that quantity.</a:t>
            </a:r>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Here are the main sections in this chapter: </a:t>
            </a:r>
          </a:p>
          <a:p>
            <a:pPr marL="228600" indent="-228600">
              <a:buAutoNum type="arabicPeriod"/>
            </a:pPr>
            <a:r>
              <a:rPr lang="en-US" dirty="0"/>
              <a:t>Why Monopolies Arise</a:t>
            </a:r>
          </a:p>
          <a:p>
            <a:pPr marL="228600" indent="-228600">
              <a:buAutoNum type="arabicPeriod"/>
            </a:pPr>
            <a:r>
              <a:rPr lang="en-US" dirty="0"/>
              <a:t>How Monopolies Make Production and Pricing Decisions</a:t>
            </a:r>
          </a:p>
          <a:p>
            <a:pPr marL="228600" indent="-228600">
              <a:buAutoNum type="arabicPeriod"/>
            </a:pPr>
            <a:r>
              <a:rPr lang="en-US" dirty="0"/>
              <a:t>The Welfare Cost of Monopolies</a:t>
            </a:r>
          </a:p>
          <a:p>
            <a:pPr marL="228600" indent="-228600">
              <a:buAutoNum type="arabicPeriod"/>
            </a:pPr>
            <a:r>
              <a:rPr lang="en-US" dirty="0"/>
              <a:t>Price Discrimination</a:t>
            </a:r>
          </a:p>
          <a:p>
            <a:pPr marL="228600" indent="-228600">
              <a:buAutoNum type="arabicPeriod"/>
            </a:pPr>
            <a:r>
              <a:rPr lang="en-US" dirty="0"/>
              <a:t>Public Policy toward Monopolies</a:t>
            </a:r>
          </a:p>
          <a:p>
            <a:pPr marL="228600" indent="-228600">
              <a:buAutoNum type="arabicPeriod"/>
            </a:pPr>
            <a:r>
              <a:rPr lang="en-US" dirty="0"/>
              <a:t>Conclusion: The Prevalence of Monopolies</a:t>
            </a:r>
          </a:p>
          <a:p>
            <a:pPr marL="0" indent="0">
              <a:buNone/>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dirty="0"/>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Most students already know that monopoly means the firm is the only seller of its product.  But the definition here has another very important part: in order for the firm to be considered a monopoly, the product it sells must have no close substitutes available from other firms. </a:t>
            </a:r>
          </a:p>
          <a:p>
            <a:pPr defTabSz="966612">
              <a:defRPr/>
            </a:pPr>
            <a:endParaRPr lang="en-US" dirty="0"/>
          </a:p>
          <a:p>
            <a:pPr marL="171450" indent="-171450" defTabSz="966612">
              <a:buFont typeface="Arial" panose="020B0604020202020204" pitchFamily="34" charset="0"/>
              <a:buChar char="•"/>
              <a:defRPr/>
            </a:pPr>
            <a:r>
              <a:rPr lang="en-US" dirty="0"/>
              <a:t>Competitive firms were price takers (the price was determined on the market and each firm had to sell</a:t>
            </a:r>
            <a:r>
              <a:rPr lang="en-US" baseline="0" dirty="0"/>
              <a:t> at the market price). </a:t>
            </a:r>
          </a:p>
          <a:p>
            <a:pPr marL="171450" indent="-171450" defTabSz="966612">
              <a:buFont typeface="Arial" panose="020B0604020202020204" pitchFamily="34" charset="0"/>
              <a:buChar char="•"/>
              <a:defRPr/>
            </a:pPr>
            <a:r>
              <a:rPr lang="en-US" baseline="0" dirty="0"/>
              <a:t>Monopoly firms are price makers: have the power to influence the price of its product.</a:t>
            </a:r>
          </a:p>
          <a:p>
            <a:pPr marL="171450" indent="-171450" defTabSz="966612">
              <a:buFont typeface="Arial" panose="020B0604020202020204" pitchFamily="34" charset="0"/>
              <a:buChar char="•"/>
              <a:defRPr/>
            </a:pPr>
            <a:endParaRPr lang="en-US" baseline="0" dirty="0"/>
          </a:p>
          <a:p>
            <a:pPr marL="0" indent="0" defTabSz="966612">
              <a:buFontTx/>
              <a:buNone/>
              <a:defRPr/>
            </a:pPr>
            <a:r>
              <a:rPr lang="en-US" baseline="0" dirty="0"/>
              <a:t>So, can a monopoly charge whatever price they want for a good? No! because the monopoly has to satisfy the market demand, so his price can only go as high as consumers’ highest willingness to pay. If the monopoly charges a price above the highest willingness to pay, they will sell </a:t>
            </a:r>
            <a:r>
              <a:rPr lang="en-US" b="1" i="1" baseline="0" dirty="0"/>
              <a:t>Q</a:t>
            </a:r>
            <a:r>
              <a:rPr lang="en-US" baseline="0" dirty="0"/>
              <a:t> = 0. </a:t>
            </a:r>
          </a:p>
          <a:p>
            <a:pPr marL="0" indent="0" defTabSz="966612">
              <a:buFontTx/>
              <a:buNone/>
              <a:defRPr/>
            </a:pPr>
            <a:endParaRPr lang="en-US" baseline="0" dirty="0"/>
          </a:p>
          <a:p>
            <a:r>
              <a:rPr lang="en-US" baseline="0" dirty="0"/>
              <a:t>Monopoly firms, just like competitive firms, want to maximize profit. While the competitive outcome was the efficient outcome, that is not the case for monopoly. Because </a:t>
            </a:r>
            <a:r>
              <a:rPr lang="en-US" sz="1200" b="0" i="0" u="none" strike="noStrike" kern="1200" baseline="0" dirty="0">
                <a:solidFill>
                  <a:schemeClr val="tx1"/>
                </a:solidFill>
                <a:latin typeface="+mn-lt"/>
                <a:ea typeface="+mn-ea"/>
                <a:cs typeface="+mn-cs"/>
              </a:rPr>
              <a:t>monopoly firms are unchecked by competition, the outcome in a market with a monopoly is often not in the best interest of society.</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452384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DeBeers is a South African diamond company founded in 1888. It has, at times, controlled up to 80% of the production from the world’s diamond mines. So, not exactly a monopoly, but the company has substantial influence over the market price of diamonds.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4225271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Once approved by the government, a patent grants the company the exclusive right to manufacture and sell the patented product for 20 years.</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copyright is a government guarantee that no one can copy and sell the work without the author’s permission. (it’ usually lasts for author’s lifetime + 70 years) </a:t>
            </a:r>
          </a:p>
          <a:p>
            <a:pPr marL="0" indent="0">
              <a:buFont typeface="Arial" panose="020B0604020202020204" pitchFamily="34" charset="0"/>
              <a:buNone/>
            </a:pPr>
            <a:r>
              <a:rPr lang="en-US" sz="1200" b="0" i="0" u="none" strike="noStrike" kern="1200" baseline="0" dirty="0">
                <a:solidFill>
                  <a:schemeClr val="tx1"/>
                </a:solidFill>
                <a:latin typeface="+mn-lt"/>
                <a:ea typeface="+mn-ea"/>
                <a:cs typeface="+mn-cs"/>
              </a:rPr>
              <a:t>Patents and copyrights are an incentive for creative activity (new/better products, music, literature, etc.) that grant monopoly power to the patent or copyright holder. </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4140454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Entering a market in which another firm has a natural monopoly is unattractive: would-be entrants know that they cannot achieve the same low costs that the monopolist enjoys because, after entry, each firm would have a smaller piece of the market.</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In some cases, the size of the market determines if an industry is a natural monopoly.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As a market expands, a natural monopoly can evolve into a more competitive market.</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1603652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 axis of the graph measures number of homes provided electricity.  The vertical axis measures the average total cost of providing electricity per home. </a:t>
            </a:r>
          </a:p>
          <a:p>
            <a:r>
              <a:rPr lang="en-US" dirty="0"/>
              <a:t>The ATC (well, LRATC) slopes downward: economies of scale. </a:t>
            </a:r>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4140454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the monopoly increases </a:t>
            </a:r>
            <a:r>
              <a:rPr lang="en-US" b="1" u="sng" dirty="0"/>
              <a:t>Q</a:t>
            </a:r>
            <a:r>
              <a:rPr lang="en-US" dirty="0"/>
              <a:t>, the</a:t>
            </a:r>
            <a:r>
              <a:rPr lang="en-US" baseline="0" dirty="0"/>
              <a:t> firm has to lower </a:t>
            </a:r>
            <a:r>
              <a:rPr lang="en-US" b="1" i="1" baseline="0" dirty="0"/>
              <a:t>P</a:t>
            </a:r>
            <a:r>
              <a:rPr lang="en-US" baseline="0" dirty="0"/>
              <a:t> on all output; if the monopoly wants to increase </a:t>
            </a:r>
            <a:r>
              <a:rPr lang="en-US" b="1" i="1" baseline="0" dirty="0"/>
              <a:t>P</a:t>
            </a:r>
            <a:r>
              <a:rPr lang="en-US" baseline="0" dirty="0"/>
              <a:t>, they will sell less.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31618151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competitive firm is a price-taker, and it can sell as much as it wants at the market price.  In effect, the competitive firm sells a product for which there are many perfect substitutes, so demand for its product is perfectly elastic; if it raises its price above the market price, demand for its product falls to zero.  </a:t>
            </a:r>
          </a:p>
          <a:p>
            <a:endParaRPr lang="en-US" dirty="0"/>
          </a:p>
          <a:p>
            <a:r>
              <a:rPr lang="en-US" dirty="0"/>
              <a:t>The relationship between </a:t>
            </a:r>
            <a:r>
              <a:rPr lang="en-US" b="1" i="1" dirty="0"/>
              <a:t>P</a:t>
            </a:r>
            <a:r>
              <a:rPr lang="en-US" dirty="0"/>
              <a:t> and </a:t>
            </a:r>
            <a:r>
              <a:rPr lang="en-US" b="1" i="1" dirty="0"/>
              <a:t>MR</a:t>
            </a:r>
            <a:r>
              <a:rPr lang="en-US" dirty="0"/>
              <a:t> is what distinguishes a competitive firm from a monopoly firm, in terms of both firm behavior and welfare implications. </a:t>
            </a:r>
          </a:p>
          <a:p>
            <a:endParaRPr lang="en-US" dirty="0"/>
          </a:p>
          <a:p>
            <a:pPr defTabSz="966612">
              <a:defRPr/>
            </a:pPr>
            <a:r>
              <a:rPr lang="en-US" dirty="0"/>
              <a:t>MR is not equal to P for the monopolist.  The next slide presents an exercise to lead students to see for themselves what this relationship looks like.  </a:t>
            </a:r>
          </a:p>
          <a:p>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539444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a:t>
            </a:r>
            <a:r>
              <a:rPr lang="en-US" b="1" i="1" dirty="0"/>
              <a:t>TR</a:t>
            </a:r>
            <a:r>
              <a:rPr lang="en-US" dirty="0"/>
              <a:t> = </a:t>
            </a:r>
            <a:r>
              <a:rPr lang="en-US" b="1" i="1" dirty="0"/>
              <a:t>P</a:t>
            </a:r>
            <a:r>
              <a:rPr lang="en-US" dirty="0"/>
              <a:t>*</a:t>
            </a:r>
            <a:r>
              <a:rPr lang="en-US" b="1" i="1" dirty="0"/>
              <a:t>Q</a:t>
            </a:r>
            <a:r>
              <a:rPr lang="en-US" dirty="0"/>
              <a:t>; </a:t>
            </a:r>
            <a:r>
              <a:rPr lang="en-US" b="1" i="1" dirty="0"/>
              <a:t>AR</a:t>
            </a:r>
            <a:r>
              <a:rPr lang="en-US" dirty="0"/>
              <a:t> = </a:t>
            </a:r>
            <a:r>
              <a:rPr lang="en-US" b="1" i="1" dirty="0"/>
              <a:t>TR</a:t>
            </a:r>
            <a:r>
              <a:rPr lang="en-US" dirty="0"/>
              <a:t>/</a:t>
            </a:r>
            <a:r>
              <a:rPr lang="en-US" b="1" i="1" dirty="0"/>
              <a:t>Q</a:t>
            </a:r>
            <a:r>
              <a:rPr lang="en-US" dirty="0"/>
              <a:t>, </a:t>
            </a:r>
            <a:r>
              <a:rPr lang="en-US" b="1" i="1" dirty="0"/>
              <a:t>MR</a:t>
            </a:r>
            <a:r>
              <a:rPr lang="en-US" dirty="0"/>
              <a:t> = </a:t>
            </a:r>
            <a:r>
              <a:rPr lang="el-GR" dirty="0"/>
              <a:t>Δ</a:t>
            </a:r>
            <a:r>
              <a:rPr lang="en-US" b="1" i="1" dirty="0"/>
              <a:t>TR</a:t>
            </a:r>
            <a:r>
              <a:rPr lang="en-US" dirty="0"/>
              <a:t>/</a:t>
            </a:r>
            <a:r>
              <a:rPr lang="el-GR" dirty="0"/>
              <a:t>Δ</a:t>
            </a:r>
            <a:r>
              <a:rPr lang="en-US" b="1" i="1" dirty="0"/>
              <a:t>Q</a:t>
            </a:r>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2796714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t>
            </a:r>
            <a:r>
              <a:rPr lang="en-US" b="1" i="1" dirty="0"/>
              <a:t>AR </a:t>
            </a:r>
            <a:r>
              <a:rPr lang="en-US" dirty="0"/>
              <a:t>= </a:t>
            </a:r>
            <a:r>
              <a:rPr lang="en-US" b="1" i="1" u="none" dirty="0"/>
              <a:t>P</a:t>
            </a:r>
            <a:r>
              <a:rPr lang="en-US" dirty="0"/>
              <a:t> at every quantity.  This, of course, is a tautology (</a:t>
            </a:r>
            <a:r>
              <a:rPr lang="en-US" b="1" i="1" dirty="0"/>
              <a:t>AR</a:t>
            </a:r>
            <a:r>
              <a:rPr lang="en-US" dirty="0"/>
              <a:t> = </a:t>
            </a:r>
            <a:r>
              <a:rPr lang="en-US" b="1" i="1" dirty="0"/>
              <a:t>TR</a:t>
            </a:r>
            <a:r>
              <a:rPr lang="en-US" dirty="0"/>
              <a:t>/</a:t>
            </a:r>
            <a:r>
              <a:rPr lang="en-US" b="1" i="1" dirty="0"/>
              <a:t>Q</a:t>
            </a:r>
            <a:r>
              <a:rPr lang="en-US" dirty="0"/>
              <a:t> = </a:t>
            </a:r>
            <a:r>
              <a:rPr lang="en-US" b="1" i="1" dirty="0"/>
              <a:t>P</a:t>
            </a:r>
            <a:r>
              <a:rPr lang="en-US" dirty="0"/>
              <a:t>*</a:t>
            </a:r>
            <a:r>
              <a:rPr lang="en-US" b="1" i="1" dirty="0"/>
              <a:t>Q</a:t>
            </a:r>
            <a:r>
              <a:rPr lang="en-US" dirty="0"/>
              <a:t>/</a:t>
            </a:r>
            <a:r>
              <a:rPr lang="en-US" b="1" i="1" dirty="0"/>
              <a:t>Q</a:t>
            </a:r>
            <a:r>
              <a:rPr lang="en-US" dirty="0"/>
              <a:t> = </a:t>
            </a:r>
            <a:r>
              <a:rPr lang="en-US" b="1" i="1" dirty="0"/>
              <a:t>P</a:t>
            </a:r>
            <a:r>
              <a:rPr lang="en-US" dirty="0"/>
              <a:t>).  </a:t>
            </a:r>
          </a:p>
          <a:p>
            <a:endParaRPr lang="en-US" dirty="0"/>
          </a:p>
          <a:p>
            <a:r>
              <a:rPr lang="en-US" dirty="0"/>
              <a:t>Note that </a:t>
            </a:r>
            <a:r>
              <a:rPr lang="en-US" b="1" i="1" dirty="0"/>
              <a:t>MR</a:t>
            </a:r>
            <a:r>
              <a:rPr lang="en-US" dirty="0"/>
              <a:t> is less than </a:t>
            </a:r>
            <a:r>
              <a:rPr lang="en-US" b="1" i="1" dirty="0"/>
              <a:t>P</a:t>
            </a:r>
            <a:r>
              <a:rPr lang="en-US" b="0" i="0" dirty="0"/>
              <a:t> (after Q=1)</a:t>
            </a:r>
            <a:r>
              <a:rPr lang="en-US" dirty="0"/>
              <a:t>.  This is not as easy to see, because the MR numbers are offset from the rows of the table, just as if you were in an elevator stuck between two floors.  But students can still see that </a:t>
            </a:r>
            <a:r>
              <a:rPr lang="en-US" b="1" i="1" dirty="0"/>
              <a:t>MR</a:t>
            </a:r>
            <a:r>
              <a:rPr lang="en-US" dirty="0"/>
              <a:t> &lt; </a:t>
            </a:r>
            <a:r>
              <a:rPr lang="en-US" b="1" i="1" dirty="0"/>
              <a:t>P</a:t>
            </a:r>
            <a:r>
              <a:rPr lang="en-US" dirty="0"/>
              <a:t>.  </a:t>
            </a:r>
          </a:p>
          <a:p>
            <a:endParaRPr lang="en-US" dirty="0"/>
          </a:p>
          <a:p>
            <a:r>
              <a:rPr lang="en-US" dirty="0"/>
              <a:t>For example, in the range of output of </a:t>
            </a:r>
            <a:r>
              <a:rPr lang="en-US" b="1" i="1" dirty="0"/>
              <a:t>Q</a:t>
            </a:r>
            <a:r>
              <a:rPr lang="en-US" dirty="0"/>
              <a:t>=2 to </a:t>
            </a:r>
            <a:r>
              <a:rPr lang="en-US" b="1" i="1" dirty="0"/>
              <a:t>Q</a:t>
            </a:r>
            <a:r>
              <a:rPr lang="en-US" dirty="0"/>
              <a:t>=3, the price ranges from $50 to $45, but </a:t>
            </a:r>
            <a:r>
              <a:rPr lang="en-US" b="1" i="1" dirty="0"/>
              <a:t>MR</a:t>
            </a:r>
            <a:r>
              <a:rPr lang="en-US" dirty="0"/>
              <a:t> is only $35.</a:t>
            </a:r>
          </a:p>
          <a:p>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2796714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numbers in the table are from the preceding active learning exercise.  Students can see either from the table or the graph that at any </a:t>
            </a:r>
            <a:r>
              <a:rPr lang="en-US" b="1" i="1" dirty="0"/>
              <a:t>Q</a:t>
            </a:r>
            <a:r>
              <a:rPr lang="en-US" dirty="0"/>
              <a:t>: </a:t>
            </a:r>
            <a:r>
              <a:rPr lang="en-US" b="1" i="1" dirty="0"/>
              <a:t>MR</a:t>
            </a:r>
            <a:r>
              <a:rPr lang="en-US" dirty="0"/>
              <a:t> &lt; </a:t>
            </a:r>
            <a:r>
              <a:rPr lang="en-US" b="1" i="1" dirty="0"/>
              <a:t>P</a:t>
            </a:r>
            <a:r>
              <a:rPr lang="en-US" dirty="0"/>
              <a: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2796714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Remember, TR = P *Q. An increase in Q can only be achieved for a monopoly by decreasing P (moving downward along the D curve). So, what will happen to TR? TR should decrease because of the decline in P (TR = P*Q)… but TR should increase because of the increase in Q (again, TR = P*Q).</a:t>
            </a:r>
          </a:p>
          <a:p>
            <a:pPr defTabSz="966612">
              <a:defRPr/>
            </a:pPr>
            <a:endParaRPr lang="en-US" dirty="0"/>
          </a:p>
          <a:p>
            <a:pPr defTabSz="966612">
              <a:defRPr/>
            </a:pPr>
            <a:r>
              <a:rPr lang="en-US" dirty="0"/>
              <a:t>Note that a competitive firm has the output effect but not the price effect:  the competitive firm does not need to reduce its price in order to sell a larger quantity, so, for the competitive firm, </a:t>
            </a:r>
            <a:r>
              <a:rPr lang="en-US" b="1" i="1" dirty="0"/>
              <a:t>MR</a:t>
            </a:r>
            <a:r>
              <a:rPr lang="en-US" dirty="0"/>
              <a:t> = </a:t>
            </a:r>
            <a:r>
              <a:rPr lang="en-US" b="1" i="1" dirty="0"/>
              <a:t>P</a:t>
            </a:r>
            <a:r>
              <a:rPr lang="en-US" dirty="0"/>
              <a:t>.  </a:t>
            </a:r>
          </a:p>
          <a:p>
            <a:pPr defTabSz="966612">
              <a:defRPr/>
            </a:pPr>
            <a:r>
              <a:rPr lang="en-US" dirty="0"/>
              <a: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1885825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4201862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44BD96B3-6231-4634-AB3C-72ABC22D921B}" type="slidenum">
              <a:rPr lang="en-US" smtClean="0"/>
              <a:pPr/>
              <a:t>15</a:t>
            </a:fld>
            <a:endParaRPr lang="en-US"/>
          </a:p>
        </p:txBody>
      </p:sp>
      <p:sp>
        <p:nvSpPr>
          <p:cNvPr id="5222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F4EE8EA9-15A0-4BD9-9F13-0DC0ED27B3F1}" type="slidenum">
              <a:rPr lang="en-US" sz="1300">
                <a:cs typeface="Arial" charset="0"/>
              </a:rPr>
              <a:pPr algn="r"/>
              <a:t>15</a:t>
            </a:fld>
            <a:endParaRPr lang="en-US" sz="1300">
              <a:cs typeface="Arial" charset="0"/>
            </a:endParaRPr>
          </a:p>
        </p:txBody>
      </p:sp>
      <p:sp>
        <p:nvSpPr>
          <p:cNvPr id="52228" name="Rectangle 2"/>
          <p:cNvSpPr>
            <a:spLocks noGrp="1" noRot="1" noChangeAspect="1" noChangeArrowheads="1" noTextEdit="1"/>
          </p:cNvSpPr>
          <p:nvPr>
            <p:ph type="sldImg"/>
          </p:nvPr>
        </p:nvSpPr>
        <p:spPr>
          <a:xfrm>
            <a:off x="1257300" y="561975"/>
            <a:ext cx="4800600" cy="3600450"/>
          </a:xfrm>
          <a:ln/>
        </p:spPr>
      </p:sp>
      <p:sp>
        <p:nvSpPr>
          <p:cNvPr id="52229" name="Rectangle 3"/>
          <p:cNvSpPr>
            <a:spLocks noGrp="1" noChangeArrowheads="1"/>
          </p:cNvSpPr>
          <p:nvPr>
            <p:ph type="body" idx="1"/>
          </p:nvPr>
        </p:nvSpPr>
        <p:spPr>
          <a:xfrm>
            <a:off x="731520" y="4460557"/>
            <a:ext cx="5852160" cy="4420553"/>
          </a:xfrm>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71B888A4-07A4-4BC9-BBB4-FF315A118EB8}" type="slidenum">
              <a:rPr lang="en-US" smtClean="0"/>
              <a:pPr/>
              <a:t>16</a:t>
            </a:fld>
            <a:endParaRPr lang="en-US"/>
          </a:p>
        </p:txBody>
      </p:sp>
      <p:sp>
        <p:nvSpPr>
          <p:cNvPr id="5325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CD8DE1B0-EC6F-4673-BB09-78B677D44CFE}" type="slidenum">
              <a:rPr lang="en-US" sz="1300">
                <a:cs typeface="Arial" charset="0"/>
              </a:rPr>
              <a:pPr algn="r"/>
              <a:t>16</a:t>
            </a:fld>
            <a:endParaRPr lang="en-US" sz="1300">
              <a:cs typeface="Arial" charset="0"/>
            </a:endParaRPr>
          </a:p>
        </p:txBody>
      </p:sp>
      <p:sp>
        <p:nvSpPr>
          <p:cNvPr id="53252" name="Rectangle 2"/>
          <p:cNvSpPr>
            <a:spLocks noGrp="1" noRot="1" noChangeAspect="1" noChangeArrowheads="1" noTextEdit="1"/>
          </p:cNvSpPr>
          <p:nvPr>
            <p:ph type="sldImg"/>
          </p:nvPr>
        </p:nvSpPr>
        <p:spPr>
          <a:xfrm>
            <a:off x="1257300" y="561975"/>
            <a:ext cx="4800600" cy="3600450"/>
          </a:xfrm>
          <a:ln/>
        </p:spPr>
      </p:sp>
      <p:sp>
        <p:nvSpPr>
          <p:cNvPr id="53253" name="Rectangle 3"/>
          <p:cNvSpPr>
            <a:spLocks noGrp="1" noChangeArrowheads="1"/>
          </p:cNvSpPr>
          <p:nvPr>
            <p:ph type="body" idx="1"/>
          </p:nvPr>
        </p:nvSpPr>
        <p:spPr>
          <a:xfrm>
            <a:off x="731520" y="4460557"/>
            <a:ext cx="5852160" cy="4420553"/>
          </a:xfrm>
          <a:noFill/>
          <a:ln/>
        </p:spPr>
        <p:txBody>
          <a:bodyPr/>
          <a:lstStyle/>
          <a:p>
            <a:pPr eaLnBrk="1" hangingPunct="1"/>
            <a:r>
              <a:rPr lang="en-US" dirty="0"/>
              <a:t>Might be worth reminding</a:t>
            </a:r>
            <a:r>
              <a:rPr lang="en-US" baseline="0" dirty="0"/>
              <a:t> students that </a:t>
            </a:r>
            <a:r>
              <a:rPr lang="en-US" b="1" i="1" baseline="0" dirty="0"/>
              <a:t>P</a:t>
            </a:r>
            <a:r>
              <a:rPr lang="en-US" baseline="0" dirty="0"/>
              <a:t> – </a:t>
            </a:r>
            <a:r>
              <a:rPr lang="en-US" b="1" i="1" baseline="0" dirty="0"/>
              <a:t>ATC</a:t>
            </a:r>
            <a:r>
              <a:rPr lang="en-US" baseline="0" dirty="0"/>
              <a:t> is per unit profit.</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similar explanation appears in the textbook in the FYI box:</a:t>
            </a:r>
            <a:r>
              <a:rPr lang="en-US" baseline="0" dirty="0"/>
              <a:t> “Why a Monopoly Does Not Have a Supply Curve”</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3161132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C984F5DC-2AB0-4ED4-B088-9338577D53C8}" type="slidenum">
              <a:rPr lang="en-US" smtClean="0"/>
              <a:pPr/>
              <a:t>18</a:t>
            </a:fld>
            <a:endParaRPr lang="en-US"/>
          </a:p>
        </p:txBody>
      </p:sp>
      <p:sp>
        <p:nvSpPr>
          <p:cNvPr id="55299"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84CF0E4F-643E-4CCE-9C5B-0BD0DD43E7A8}" type="slidenum">
              <a:rPr lang="en-US" sz="1300">
                <a:cs typeface="Arial" charset="0"/>
              </a:rPr>
              <a:pPr algn="r"/>
              <a:t>18</a:t>
            </a:fld>
            <a:endParaRPr lang="en-US" sz="1300">
              <a:cs typeface="Arial" charset="0"/>
            </a:endParaRPr>
          </a:p>
        </p:txBody>
      </p:sp>
      <p:sp>
        <p:nvSpPr>
          <p:cNvPr id="55300" name="Rectangle 2"/>
          <p:cNvSpPr>
            <a:spLocks noGrp="1" noRot="1" noChangeAspect="1" noChangeArrowheads="1" noTextEdit="1"/>
          </p:cNvSpPr>
          <p:nvPr>
            <p:ph type="sldImg"/>
          </p:nvPr>
        </p:nvSpPr>
        <p:spPr>
          <a:xfrm>
            <a:off x="1257300" y="561975"/>
            <a:ext cx="4800600" cy="3600450"/>
          </a:xfrm>
          <a:ln/>
        </p:spPr>
      </p:sp>
      <p:sp>
        <p:nvSpPr>
          <p:cNvPr id="55301" name="Rectangle 3"/>
          <p:cNvSpPr>
            <a:spLocks noGrp="1" noChangeArrowheads="1"/>
          </p:cNvSpPr>
          <p:nvPr>
            <p:ph type="body" idx="1"/>
          </p:nvPr>
        </p:nvSpPr>
        <p:spPr>
          <a:xfrm>
            <a:off x="731520" y="4460557"/>
            <a:ext cx="5852160" cy="4420553"/>
          </a:xfrm>
          <a:noFill/>
          <a:ln/>
        </p:spPr>
        <p:txBody>
          <a:bodyPr/>
          <a:lstStyle/>
          <a:p>
            <a:pPr marL="171450" indent="-171450" eaLnBrk="1" hangingPunct="1">
              <a:buFont typeface="Arial" panose="020B0604020202020204" pitchFamily="34" charset="0"/>
              <a:buChar char="•"/>
            </a:pPr>
            <a:r>
              <a:rPr lang="en-US" dirty="0"/>
              <a:t>Here, we assume constant marginal cost for simplicity (and the MC curve is the S curve for competitive market).  </a:t>
            </a:r>
          </a:p>
          <a:p>
            <a:pPr marL="171450" indent="-171450" eaLnBrk="1" hangingPunct="1">
              <a:buFont typeface="Arial" panose="020B0604020202020204" pitchFamily="34" charset="0"/>
              <a:buChar char="•"/>
            </a:pPr>
            <a:r>
              <a:rPr lang="en-US" b="1" i="1" dirty="0"/>
              <a:t>P</a:t>
            </a:r>
            <a:r>
              <a:rPr lang="en-US" b="1" baseline="-25000" dirty="0"/>
              <a:t>M</a:t>
            </a:r>
            <a:r>
              <a:rPr lang="en-US" dirty="0"/>
              <a:t> and </a:t>
            </a:r>
            <a:r>
              <a:rPr lang="en-US" b="1" i="1" dirty="0"/>
              <a:t>Q</a:t>
            </a:r>
            <a:r>
              <a:rPr lang="en-US" b="1" baseline="-25000" dirty="0"/>
              <a:t>M</a:t>
            </a:r>
            <a:r>
              <a:rPr lang="en-US" dirty="0"/>
              <a:t> denote the monopoly price and quantity, respectively.  </a:t>
            </a:r>
          </a:p>
          <a:p>
            <a:pPr marL="171450" indent="-171450" eaLnBrk="1" hangingPunct="1">
              <a:buFont typeface="Arial" panose="020B0604020202020204" pitchFamily="34" charset="0"/>
              <a:buChar char="•"/>
            </a:pPr>
            <a:r>
              <a:rPr lang="en-US" b="1" i="1" dirty="0"/>
              <a:t>P</a:t>
            </a:r>
            <a:r>
              <a:rPr lang="en-US" b="1" baseline="-25000" dirty="0"/>
              <a:t>C</a:t>
            </a:r>
            <a:r>
              <a:rPr lang="en-US" b="1" dirty="0"/>
              <a:t> </a:t>
            </a:r>
            <a:r>
              <a:rPr lang="en-US" dirty="0"/>
              <a:t>and </a:t>
            </a:r>
            <a:r>
              <a:rPr lang="en-US" b="1" i="1" dirty="0"/>
              <a:t>Q</a:t>
            </a:r>
            <a:r>
              <a:rPr lang="en-US" b="1" baseline="-25000" dirty="0"/>
              <a:t>C</a:t>
            </a:r>
            <a:r>
              <a:rPr lang="en-US" dirty="0"/>
              <a:t> denote the competitive price and quantity, respectively.  </a:t>
            </a:r>
          </a:p>
          <a:p>
            <a:pPr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Total surplus = Economic well-being of buyers and sellers in a market = Sum of consumer surplus and producer surplus.</a:t>
            </a:r>
          </a:p>
          <a:p>
            <a:pPr marL="171450" indent="-171450">
              <a:buFont typeface="Arial" panose="020B0604020202020204" pitchFamily="34" charset="0"/>
              <a:buChar char="•"/>
            </a:pPr>
            <a:r>
              <a:rPr lang="en-US" dirty="0"/>
              <a:t>Consumer surplus = Consumers’ willingness to pay for a good minus the amount they actually pay for it = WTP - P</a:t>
            </a:r>
          </a:p>
          <a:p>
            <a:pPr marL="171450" indent="-171450">
              <a:buFont typeface="Arial" panose="020B0604020202020204" pitchFamily="34" charset="0"/>
              <a:buChar char="•"/>
            </a:pPr>
            <a:r>
              <a:rPr lang="en-US" altLang="en-US" dirty="0"/>
              <a:t>Producer surplus = Amount producers receive for a good minus their costs of producing it = P – WTS</a:t>
            </a:r>
          </a:p>
          <a:p>
            <a:endParaRPr lang="en-US" altLang="en-US" dirty="0"/>
          </a:p>
          <a:p>
            <a:r>
              <a:rPr lang="en-US" sz="1200" b="0" i="0" u="none" strike="noStrike" kern="1200" baseline="0" dirty="0">
                <a:solidFill>
                  <a:schemeClr val="tx1"/>
                </a:solidFill>
                <a:latin typeface="+mn-lt"/>
                <a:ea typeface="+mn-ea"/>
                <a:cs typeface="+mn-cs"/>
              </a:rPr>
              <a:t>The socially efficient quantity is found where the demand curve and the marginal-cost curve intersect: the value of an extra unit to consumers exactly equals the marginal cost of production (</a:t>
            </a:r>
            <a:r>
              <a:rPr lang="en-US" sz="1200" b="1" i="1" u="none" strike="noStrike" kern="1200" baseline="0" dirty="0">
                <a:solidFill>
                  <a:schemeClr val="tx1"/>
                </a:solidFill>
                <a:latin typeface="+mn-lt"/>
                <a:ea typeface="+mn-ea"/>
                <a:cs typeface="+mn-cs"/>
              </a:rPr>
              <a:t>P</a:t>
            </a:r>
            <a:r>
              <a:rPr lang="en-US" sz="1200" b="0" i="0" u="none" strike="noStrike" kern="1200" baseline="0" dirty="0">
                <a:solidFill>
                  <a:schemeClr val="tx1"/>
                </a:solidFill>
                <a:latin typeface="+mn-lt"/>
                <a:ea typeface="+mn-ea"/>
                <a:cs typeface="+mn-cs"/>
              </a:rPr>
              <a:t> = </a:t>
            </a:r>
            <a:r>
              <a:rPr lang="en-US" sz="1200" b="1" i="1" u="none" strike="noStrike" kern="1200" baseline="0" dirty="0">
                <a:solidFill>
                  <a:schemeClr val="tx1"/>
                </a:solidFill>
                <a:latin typeface="+mn-lt"/>
                <a:ea typeface="+mn-ea"/>
                <a:cs typeface="+mn-cs"/>
              </a:rPr>
              <a:t>MC</a:t>
            </a:r>
            <a:r>
              <a:rPr lang="en-US" sz="1200" b="0" i="0" u="none" strike="noStrike" kern="1200" baseline="0" dirty="0">
                <a:solidFill>
                  <a:schemeClr val="tx1"/>
                </a:solidFill>
                <a:latin typeface="+mn-lt"/>
                <a:ea typeface="+mn-ea"/>
                <a:cs typeface="+mn-cs"/>
              </a:rPr>
              <a:t>). </a:t>
            </a:r>
          </a:p>
          <a:p>
            <a:endParaRPr lang="en-US" altLang="en-US" sz="1200" b="0" i="0" u="none" strike="noStrike" kern="1200" baseline="0" dirty="0">
              <a:solidFill>
                <a:schemeClr val="tx1"/>
              </a:solidFill>
              <a:latin typeface="+mn-lt"/>
              <a:ea typeface="+mn-ea"/>
              <a:cs typeface="+mn-cs"/>
            </a:endParaRPr>
          </a:p>
          <a:p>
            <a:r>
              <a:rPr lang="en-US" altLang="en-US" sz="1200" b="0" i="0" u="none" strike="noStrike" kern="1200" baseline="0" dirty="0">
                <a:solidFill>
                  <a:schemeClr val="tx1"/>
                </a:solidFill>
                <a:latin typeface="+mn-lt"/>
                <a:ea typeface="+mn-ea"/>
                <a:cs typeface="+mn-cs"/>
              </a:rPr>
              <a:t>Because the monopoly produces a lower </a:t>
            </a:r>
            <a:r>
              <a:rPr lang="en-US" altLang="en-US" sz="1200" b="1" i="1" u="none" strike="noStrike" kern="1200" baseline="0" dirty="0">
                <a:solidFill>
                  <a:schemeClr val="tx1"/>
                </a:solidFill>
                <a:latin typeface="+mn-lt"/>
                <a:ea typeface="+mn-ea"/>
                <a:cs typeface="+mn-cs"/>
              </a:rPr>
              <a:t>Q</a:t>
            </a:r>
            <a:r>
              <a:rPr lang="en-US" altLang="en-US" sz="1200" b="0" i="0" u="none" strike="noStrike" kern="1200" baseline="0" dirty="0">
                <a:solidFill>
                  <a:schemeClr val="tx1"/>
                </a:solidFill>
                <a:latin typeface="+mn-lt"/>
                <a:ea typeface="+mn-ea"/>
                <a:cs typeface="+mn-cs"/>
              </a:rPr>
              <a:t> than the socially efficient </a:t>
            </a:r>
            <a:r>
              <a:rPr lang="en-US" altLang="en-US" sz="1200" b="1" i="1" u="none" strike="noStrike" kern="1200" baseline="0" dirty="0">
                <a:solidFill>
                  <a:schemeClr val="tx1"/>
                </a:solidFill>
                <a:latin typeface="+mn-lt"/>
                <a:ea typeface="+mn-ea"/>
                <a:cs typeface="+mn-cs"/>
              </a:rPr>
              <a:t>Q</a:t>
            </a:r>
            <a:r>
              <a:rPr lang="en-US" altLang="en-US" sz="1200" b="0" i="0" u="none" strike="noStrike" kern="1200" baseline="0" dirty="0">
                <a:solidFill>
                  <a:schemeClr val="tx1"/>
                </a:solidFill>
                <a:latin typeface="+mn-lt"/>
                <a:ea typeface="+mn-ea"/>
                <a:cs typeface="+mn-cs"/>
              </a:rPr>
              <a:t>, and charges a </a:t>
            </a:r>
            <a:r>
              <a:rPr lang="en-US" altLang="en-US" sz="1200" b="1" i="1" u="none" strike="noStrike" kern="1200" baseline="0" dirty="0">
                <a:solidFill>
                  <a:schemeClr val="tx1"/>
                </a:solidFill>
                <a:latin typeface="+mn-lt"/>
                <a:ea typeface="+mn-ea"/>
                <a:cs typeface="+mn-cs"/>
              </a:rPr>
              <a:t>P</a:t>
            </a:r>
            <a:r>
              <a:rPr lang="en-US" altLang="en-US" sz="1200" b="0" i="0" u="none" strike="noStrike" kern="1200" baseline="0" dirty="0">
                <a:solidFill>
                  <a:schemeClr val="tx1"/>
                </a:solidFill>
                <a:latin typeface="+mn-lt"/>
                <a:ea typeface="+mn-ea"/>
                <a:cs typeface="+mn-cs"/>
              </a:rPr>
              <a:t> higher than </a:t>
            </a:r>
            <a:r>
              <a:rPr lang="en-US" altLang="en-US" sz="1200" b="1" i="1" u="none" strike="noStrike" kern="1200" baseline="0" dirty="0">
                <a:solidFill>
                  <a:schemeClr val="tx1"/>
                </a:solidFill>
                <a:latin typeface="+mn-lt"/>
                <a:ea typeface="+mn-ea"/>
                <a:cs typeface="+mn-cs"/>
              </a:rPr>
              <a:t>MC</a:t>
            </a:r>
            <a:r>
              <a:rPr lang="en-US" altLang="en-US" sz="1200" b="0" i="0" u="none" strike="noStrike" kern="1200" baseline="0" dirty="0">
                <a:solidFill>
                  <a:schemeClr val="tx1"/>
                </a:solidFill>
                <a:latin typeface="+mn-lt"/>
                <a:ea typeface="+mn-ea"/>
                <a:cs typeface="+mn-cs"/>
              </a:rPr>
              <a:t>, some gains from trade are not realized so we have a deadweight loss.</a:t>
            </a:r>
            <a:endParaRPr lang="en-US" altLang="en-US" i="0"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17325652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A88656B2-ABDA-4BEB-896C-C00675B2409E}" type="slidenum">
              <a:rPr lang="en-US" smtClean="0"/>
              <a:pPr/>
              <a:t>20</a:t>
            </a:fld>
            <a:endParaRPr lang="en-US"/>
          </a:p>
        </p:txBody>
      </p:sp>
      <p:sp>
        <p:nvSpPr>
          <p:cNvPr id="5734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D89F3AF2-3B89-4FC6-9CB8-762F86735E10}" type="slidenum">
              <a:rPr lang="en-US" sz="1300">
                <a:cs typeface="Arial" charset="0"/>
              </a:rPr>
              <a:pPr algn="r"/>
              <a:t>20</a:t>
            </a:fld>
            <a:endParaRPr lang="en-US" sz="1300">
              <a:cs typeface="Arial" charset="0"/>
            </a:endParaRPr>
          </a:p>
        </p:txBody>
      </p:sp>
      <p:sp>
        <p:nvSpPr>
          <p:cNvPr id="57348" name="Rectangle 2"/>
          <p:cNvSpPr>
            <a:spLocks noGrp="1" noRot="1" noChangeAspect="1" noChangeArrowheads="1" noTextEdit="1"/>
          </p:cNvSpPr>
          <p:nvPr>
            <p:ph type="sldImg"/>
          </p:nvPr>
        </p:nvSpPr>
        <p:spPr>
          <a:xfrm>
            <a:off x="1257300" y="561975"/>
            <a:ext cx="4800600" cy="3600450"/>
          </a:xfrm>
          <a:ln/>
        </p:spPr>
      </p:sp>
      <p:sp>
        <p:nvSpPr>
          <p:cNvPr id="57349" name="Rectangle 3"/>
          <p:cNvSpPr>
            <a:spLocks noGrp="1" noChangeArrowheads="1"/>
          </p:cNvSpPr>
          <p:nvPr>
            <p:ph type="body" idx="1"/>
          </p:nvPr>
        </p:nvSpPr>
        <p:spPr>
          <a:xfrm>
            <a:off x="731520" y="4460557"/>
            <a:ext cx="5852160" cy="4420553"/>
          </a:xfrm>
          <a:noFill/>
          <a:ln/>
        </p:spPr>
        <p:txBody>
          <a:bodyPr/>
          <a:lstStyle/>
          <a:p>
            <a:pPr eaLnBrk="1" hangingPunct="1"/>
            <a:r>
              <a:rPr lang="en-US" dirty="0"/>
              <a:t>It’s worth mentioning the following: </a:t>
            </a:r>
          </a:p>
          <a:p>
            <a:pPr eaLnBrk="1" hangingPunct="1"/>
            <a:endParaRPr lang="en-US" dirty="0"/>
          </a:p>
          <a:p>
            <a:pPr eaLnBrk="1" hangingPunct="1"/>
            <a:r>
              <a:rPr lang="en-US" dirty="0"/>
              <a:t>Most people know that monopoly changes the way the economic “pie” is divided:  by charging higher prices, the monopoly gets more surplus, and consumers get less surplus.  </a:t>
            </a:r>
          </a:p>
          <a:p>
            <a:pPr eaLnBrk="1" hangingPunct="1"/>
            <a:endParaRPr lang="en-US" dirty="0"/>
          </a:p>
          <a:p>
            <a:pPr eaLnBrk="1" hangingPunct="1"/>
            <a:r>
              <a:rPr lang="en-US" dirty="0"/>
              <a:t>The analysis on this slide shows that the monopoly also reduces the size of the economic pie by producing less than the socially efficient quantity and causing a deadweight loss.  (the socially efficient quantity is where the D curve intersects the MC curve)</a:t>
            </a:r>
          </a:p>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34073537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Discrimination:  treating people differently based on some characteristic, e.g. race or gender. </a:t>
            </a:r>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15279776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your students a few minutes for</a:t>
            </a:r>
            <a:r>
              <a:rPr lang="en-US" baseline="0" dirty="0"/>
              <a:t> individual or group work, then ask for volunteers to share their answers. </a:t>
            </a:r>
          </a:p>
          <a:p>
            <a:endParaRPr lang="en-US" baseline="0" dirty="0"/>
          </a:p>
          <a:p>
            <a:r>
              <a:rPr lang="en-US" baseline="0" dirty="0"/>
              <a:t>The answers for A and B are pretty easy (calculate </a:t>
            </a:r>
            <a:r>
              <a:rPr lang="en-US" b="1" i="1" baseline="0" dirty="0"/>
              <a:t>TR</a:t>
            </a:r>
            <a:r>
              <a:rPr lang="en-US" baseline="0" dirty="0"/>
              <a:t> = </a:t>
            </a:r>
            <a:r>
              <a:rPr lang="en-US" b="1" i="1" baseline="0" dirty="0"/>
              <a:t>P </a:t>
            </a:r>
            <a:r>
              <a:rPr lang="en-US" baseline="0" dirty="0"/>
              <a:t>* </a:t>
            </a:r>
            <a:r>
              <a:rPr lang="en-US" b="1" i="1" baseline="0" dirty="0"/>
              <a:t>Q</a:t>
            </a:r>
            <a:r>
              <a:rPr lang="en-US" baseline="0" dirty="0"/>
              <a:t>, then Profit = </a:t>
            </a:r>
            <a:r>
              <a:rPr lang="en-US" b="1" i="1" baseline="0" dirty="0"/>
              <a:t>TR</a:t>
            </a:r>
            <a:r>
              <a:rPr lang="en-US" baseline="0" dirty="0"/>
              <a:t> – </a:t>
            </a:r>
            <a:r>
              <a:rPr lang="en-US" b="1" i="1" baseline="0" dirty="0"/>
              <a:t>TC</a:t>
            </a:r>
            <a:r>
              <a:rPr lang="en-US" baseline="0" dirty="0"/>
              <a:t>)</a:t>
            </a:r>
          </a:p>
          <a:p>
            <a:endParaRPr lang="en-US" baseline="0" dirty="0"/>
          </a:p>
          <a:p>
            <a:r>
              <a:rPr lang="en-US" baseline="0" dirty="0"/>
              <a:t>For C, the trick is remembering that a total </a:t>
            </a:r>
            <a:r>
              <a:rPr lang="en-US" b="1" i="1" baseline="0" dirty="0"/>
              <a:t>Q</a:t>
            </a:r>
            <a:r>
              <a:rPr lang="en-US" baseline="0" dirty="0"/>
              <a:t> = 2,500 is bought by the time the price drops to </a:t>
            </a:r>
            <a:r>
              <a:rPr lang="en-US" b="1" i="1" baseline="0" dirty="0"/>
              <a:t>P</a:t>
            </a:r>
            <a:r>
              <a:rPr lang="en-US" baseline="0" dirty="0"/>
              <a:t> = $5 overall, but 1,000 tickets are bought at the higher price, </a:t>
            </a:r>
            <a:r>
              <a:rPr lang="en-US" b="1" i="1" baseline="0" dirty="0"/>
              <a:t>P</a:t>
            </a:r>
            <a:r>
              <a:rPr lang="en-US" baseline="0" dirty="0"/>
              <a:t> = $18. So, with successful price discrimination, 1,000 movie tickets are bought at $18, but (2,500 – 1,000) = 1,500 tickets are bought at the lower price. (Since overall 2,500 tickets are sold when the price is $5) </a:t>
            </a:r>
          </a:p>
          <a:p>
            <a:r>
              <a:rPr lang="en-US" baseline="0" dirty="0"/>
              <a:t>There are several ways the movie theater can do price discrimination: student discount with student id, senior citizen discount, discounting early shows (not that many people would pay $18 to see a movie at 10 am!). </a:t>
            </a:r>
          </a:p>
          <a:p>
            <a:endParaRPr lang="en-US" baseline="0" dirty="0"/>
          </a:p>
          <a:p>
            <a:r>
              <a:rPr lang="en-US" baseline="0" dirty="0"/>
              <a:t>The calculations and answers are on the next slide.</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34762124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For a single price monopoly, given the choice</a:t>
            </a:r>
            <a:r>
              <a:rPr lang="en-US" baseline="0" dirty="0"/>
              <a:t> between the high price and the low price, the monopoly is better off with the (high price, low </a:t>
            </a:r>
            <a:r>
              <a:rPr lang="en-US" b="1" i="1" baseline="0" dirty="0"/>
              <a:t>Q</a:t>
            </a:r>
            <a:r>
              <a:rPr lang="en-US" baseline="0" dirty="0"/>
              <a:t>) combination: profit at the high price is $8,000 per week, greater than the profit at the low price. </a:t>
            </a:r>
          </a:p>
          <a:p>
            <a:pPr marL="171450" indent="-171450">
              <a:buFont typeface="Arial" panose="020B0604020202020204" pitchFamily="34" charset="0"/>
              <a:buChar char="•"/>
            </a:pPr>
            <a:r>
              <a:rPr lang="en-US" baseline="0" dirty="0"/>
              <a:t>But, if the monopoly can charge 2 different prices for the same good, the monopoly’s profit is even bigger!</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3476212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1218333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To keep the graph simple, this example assumes constant marginal cost.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single price monopoly:</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Charges the same price</a:t>
            </a:r>
            <a:r>
              <a:rPr lang="en-US" baseline="0" dirty="0"/>
              <a:t> (P</a:t>
            </a:r>
            <a:r>
              <a:rPr lang="en-US" baseline="-25000" dirty="0"/>
              <a:t>M</a:t>
            </a:r>
            <a:r>
              <a:rPr lang="en-US" baseline="0" dirty="0"/>
              <a:t>) to all buyers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Consumers get consumer surplus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The monopoly gets producer surplus (profit)</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But Q</a:t>
            </a:r>
            <a:r>
              <a:rPr lang="en-US" baseline="-25000" dirty="0"/>
              <a:t>M</a:t>
            </a:r>
            <a:r>
              <a:rPr lang="en-US" baseline="0" dirty="0"/>
              <a:t> is not efficient so we get deadweight loss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aseline="0" dirty="0"/>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aseline="0" dirty="0"/>
              <a:t>Perfect price discrimination: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Produce the competitive quantity where D intersects MC, but charge each consumer his/her willingness to pay</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Consumer surplus = 0 (each</a:t>
            </a:r>
            <a:r>
              <a:rPr lang="en-US" baseline="0" dirty="0"/>
              <a:t> consumers pays his/her WTP)</a:t>
            </a:r>
            <a:endParaRPr lang="en-US" dirty="0"/>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monopoly captures all CS as profit</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No DWL</a:t>
            </a:r>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40973251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16097342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Think-Pair-Share</a:t>
            </a:r>
            <a:r>
              <a:rPr lang="en-US" baseline="0" dirty="0"/>
              <a:t> activity at the end of the chapter will provide the opportunity for more in-depth discussion about the airline industry practice of price discrimination.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27034835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2244188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 this example, the firm is not charging different prices to different customers, but charging different prices to the same customer based on that customer’s declining willingness to pay for additional units.  </a:t>
            </a:r>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22441882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courts are especially wary of </a:t>
            </a:r>
            <a:r>
              <a:rPr lang="en-US" sz="1200" b="0" i="1" u="none" strike="noStrike" kern="1200" baseline="0" dirty="0">
                <a:solidFill>
                  <a:schemeClr val="tx1"/>
                </a:solidFill>
                <a:latin typeface="+mn-lt"/>
                <a:ea typeface="+mn-ea"/>
                <a:cs typeface="+mn-cs"/>
              </a:rPr>
              <a:t>horizontal mergers</a:t>
            </a:r>
            <a:r>
              <a:rPr lang="en-US" sz="1200" b="0" i="0" u="none" strike="noStrike" kern="1200" baseline="0" dirty="0">
                <a:solidFill>
                  <a:schemeClr val="tx1"/>
                </a:solidFill>
                <a:latin typeface="+mn-lt"/>
                <a:ea typeface="+mn-ea"/>
                <a:cs typeface="+mn-cs"/>
              </a:rPr>
              <a:t>, which are mergers between two firms in the same market, like Coca-Cola and PepsiCo. They are less likely to block </a:t>
            </a:r>
            <a:r>
              <a:rPr lang="en-US" sz="1200" b="0" i="1" u="none" strike="noStrike" kern="1200" baseline="0" dirty="0">
                <a:solidFill>
                  <a:schemeClr val="tx1"/>
                </a:solidFill>
                <a:latin typeface="+mn-lt"/>
                <a:ea typeface="+mn-ea"/>
                <a:cs typeface="+mn-cs"/>
              </a:rPr>
              <a:t>vertical mergers</a:t>
            </a:r>
            <a:r>
              <a:rPr lang="en-US" sz="1200" b="0" i="0" u="none" strike="noStrike" kern="1200" baseline="0" dirty="0">
                <a:solidFill>
                  <a:schemeClr val="tx1"/>
                </a:solidFill>
                <a:latin typeface="+mn-lt"/>
                <a:ea typeface="+mn-ea"/>
                <a:cs typeface="+mn-cs"/>
              </a:rPr>
              <a:t>, which are mergers between firms at different stages of the production process.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18446001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“Ask the Experts” feature provides the opportunity for class discussion (there are two parts to this one).  </a:t>
            </a:r>
          </a:p>
          <a:p>
            <a:endParaRPr lang="en-US" dirty="0"/>
          </a:p>
          <a:p>
            <a:r>
              <a:rPr lang="en-US"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a:t>Ask the students to share with the class their reasons. Their answers will vary.</a:t>
            </a:r>
          </a:p>
          <a:p>
            <a:endParaRPr 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11982333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Regulation is common in the case of natural monopolies: for example, water and electric companies.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2230323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ownership of the firm affects the costs of production. Private owners have incentive to min costs and max profits. Do public owners have the same incentives (if the firm is run by the government)?</a:t>
            </a:r>
          </a:p>
          <a:p>
            <a:endParaRPr lang="en-US" dirty="0"/>
          </a:p>
          <a:p>
            <a:r>
              <a:rPr lang="en-US" dirty="0"/>
              <a:t>Public ownership example:  U.S. Postal Service</a:t>
            </a:r>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3362493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George Stigler, who won the Nobel Prize for his work in industrial organization, assessed:  “A famous theorem in economics states that a competitive enterprise economy will produce the largest possible income from a given stock of resources. No real economy meets the exact conditions of the theorem, and all real economies will fall short of the ideal economy—a difference called “market failure.” In my view, however, the degree of “market failure” for the American economy is much smaller than the “political failure” arising from the imperfections of economic policies found in real political systems.”</a:t>
            </a:r>
          </a:p>
        </p:txBody>
      </p:sp>
      <p:sp>
        <p:nvSpPr>
          <p:cNvPr id="4" name="Slide Number Placeholder 3"/>
          <p:cNvSpPr>
            <a:spLocks noGrp="1"/>
          </p:cNvSpPr>
          <p:nvPr>
            <p:ph type="sldNum" sz="quarter" idx="10"/>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32416849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36</a:t>
            </a:fld>
            <a:endParaRPr lang="en-US"/>
          </a:p>
        </p:txBody>
      </p:sp>
    </p:spTree>
    <p:extLst>
      <p:ext uri="{BB962C8B-B14F-4D97-AF65-F5344CB8AC3E}">
        <p14:creationId xmlns:p14="http://schemas.microsoft.com/office/powerpoint/2010/main" val="27559051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Table 3 from the textbook, Competition versus Monopoly: A Summary Comparison.</a:t>
            </a:r>
          </a:p>
        </p:txBody>
      </p:sp>
      <p:sp>
        <p:nvSpPr>
          <p:cNvPr id="4" name="Slide Number Placeholder 3"/>
          <p:cNvSpPr>
            <a:spLocks noGrp="1"/>
          </p:cNvSpPr>
          <p:nvPr>
            <p:ph type="sldNum" sz="quarter" idx="5"/>
          </p:nvPr>
        </p:nvSpPr>
        <p:spPr/>
        <p:txBody>
          <a:bodyPr/>
          <a:lstStyle/>
          <a:p>
            <a:fld id="{2CAF6792-DBE1-4461-97FA-F85A7B48814E}" type="slidenum">
              <a:rPr lang="en-US" smtClean="0"/>
              <a:t>37</a:t>
            </a:fld>
            <a:endParaRPr lang="en-US"/>
          </a:p>
        </p:txBody>
      </p:sp>
    </p:spTree>
    <p:extLst>
      <p:ext uri="{BB962C8B-B14F-4D97-AF65-F5344CB8AC3E}">
        <p14:creationId xmlns:p14="http://schemas.microsoft.com/office/powerpoint/2010/main" val="6816680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a:t>Ask the students to share with the class their reasons. Their answers will vary.</a:t>
            </a:r>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38</a:t>
            </a:fld>
            <a:endParaRPr lang="en-US"/>
          </a:p>
        </p:txBody>
      </p:sp>
    </p:spTree>
    <p:extLst>
      <p:ext uri="{BB962C8B-B14F-4D97-AF65-F5344CB8AC3E}">
        <p14:creationId xmlns:p14="http://schemas.microsoft.com/office/powerpoint/2010/main" val="1463193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allow students to work in small groups for 5-10 minutes. Then allow student groups to share with other groups or with the entire class</a:t>
            </a:r>
            <a:r>
              <a:rPr lang="en-US" dirty="0"/>
              <a:t>.  Or, you can treat the Think-Pair-Share activity</a:t>
            </a:r>
            <a:r>
              <a:rPr lang="en-US" baseline="0" dirty="0"/>
              <a:t> as an open-to-all in–class discussion.</a:t>
            </a:r>
          </a:p>
          <a:p>
            <a:pPr defTabSz="948507"/>
            <a:endParaRPr lang="en-US" baseline="0" dirty="0"/>
          </a:p>
          <a:p>
            <a:pPr defTabSz="948507"/>
            <a:r>
              <a:rPr lang="en-US" baseline="0" dirty="0"/>
              <a:t>The questions and the d</a:t>
            </a:r>
            <a:r>
              <a:rPr lang="en-US" dirty="0">
                <a:solidFill>
                  <a:srgbClr val="002060"/>
                </a:solidFill>
              </a:rPr>
              <a:t>iscussion points are on the next slide.</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39</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002060"/>
                </a:solidFill>
              </a:rPr>
              <a:t>Discussion points: </a:t>
            </a:r>
          </a:p>
          <a:p>
            <a:r>
              <a:rPr lang="en-US" dirty="0">
                <a:solidFill>
                  <a:srgbClr val="002060"/>
                </a:solidFill>
              </a:rPr>
              <a:t>A.</a:t>
            </a:r>
            <a:r>
              <a:rPr lang="en-US" baseline="0" dirty="0">
                <a:solidFill>
                  <a:srgbClr val="002060"/>
                </a:solidFill>
              </a:rPr>
              <a:t> </a:t>
            </a:r>
            <a:r>
              <a:rPr lang="en-US" sz="1200" kern="1200" dirty="0">
                <a:solidFill>
                  <a:schemeClr val="tx1"/>
                </a:solidFill>
                <a:effectLst/>
                <a:latin typeface="+mn-lt"/>
                <a:ea typeface="+mn-ea"/>
                <a:cs typeface="+mn-cs"/>
              </a:rPr>
              <a:t>Airlines segment people by age (young and old fly cheaper), by location (more competitive routes are cheaper), by length of time between leaving and returning (tourists fly cheaper than business travelers), by length of time of advance booking (later bookings can be more expensive until the very last minute when it may become cheaper again), and so on.</a:t>
            </a:r>
          </a:p>
          <a:p>
            <a:r>
              <a:rPr lang="en-US" sz="1200" kern="1200" dirty="0">
                <a:solidFill>
                  <a:schemeClr val="tx1"/>
                </a:solidFill>
                <a:effectLst/>
                <a:latin typeface="+mn-lt"/>
                <a:ea typeface="+mn-ea"/>
                <a:cs typeface="+mn-cs"/>
              </a:rPr>
              <a:t>B. No. Price discrimination can improve efficiency. By charging buyers their willingness to pay, the monopolist increases production to the point where all units are produced where the value to buyers is greater than or equal to the cost of production.</a:t>
            </a:r>
          </a:p>
          <a:p>
            <a:r>
              <a:rPr lang="en-US" sz="1200" kern="1200" dirty="0">
                <a:solidFill>
                  <a:schemeClr val="tx1"/>
                </a:solidFill>
                <a:effectLst/>
                <a:latin typeface="+mn-lt"/>
                <a:ea typeface="+mn-ea"/>
                <a:cs typeface="+mn-cs"/>
              </a:rPr>
              <a:t>C. No. Some of the additional profits are from the creation of additional surplus that accrues en­tirely to the producer, and some of the profits are a redistribution of surplus from consumer surplus to producer surplus.</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2CAF6792-DBE1-4461-97FA-F85A7B48814E}" type="slidenum">
              <a:rPr lang="en-US" smtClean="0"/>
              <a:t>40</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41</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42</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43</a:t>
            </a:fld>
            <a:endParaRPr lang="en-US"/>
          </a:p>
        </p:txBody>
      </p:sp>
    </p:spTree>
    <p:extLst>
      <p:ext uri="{BB962C8B-B14F-4D97-AF65-F5344CB8AC3E}">
        <p14:creationId xmlns:p14="http://schemas.microsoft.com/office/powerpoint/2010/main" val="3706611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Content Placeholder 5"/>
          <p:cNvSpPr>
            <a:spLocks noGrp="1"/>
          </p:cNvSpPr>
          <p:nvPr>
            <p:ph sz="quarter" idx="12" hasCustomPrompt="1"/>
          </p:nvPr>
        </p:nvSpPr>
        <p:spPr>
          <a:xfrm>
            <a:off x="5364404" y="1850232"/>
            <a:ext cx="3335336" cy="2667000"/>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486400"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Tree>
    <p:extLst>
      <p:ext uri="{BB962C8B-B14F-4D97-AF65-F5344CB8AC3E}">
        <p14:creationId xmlns:p14="http://schemas.microsoft.com/office/powerpoint/2010/main" val="2324376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 this chapter">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304800" y="0"/>
            <a:ext cx="8686800" cy="889000"/>
          </a:xfrm>
        </p:spPr>
        <p:txBody>
          <a:bodyPr/>
          <a:lstStyle>
            <a:lvl1pPr algn="l">
              <a:defRPr sz="4800" b="1" baseline="0">
                <a:solidFill>
                  <a:srgbClr val="4E519E"/>
                </a:solidFill>
              </a:defRPr>
            </a:lvl1pPr>
          </a:lstStyle>
          <a:p>
            <a:r>
              <a:rPr lang="en-US" dirty="0"/>
              <a:t>IN THIS ****</a:t>
            </a:r>
          </a:p>
        </p:txBody>
      </p:sp>
    </p:spTree>
    <p:extLst>
      <p:ext uri="{BB962C8B-B14F-4D97-AF65-F5344CB8AC3E}">
        <p14:creationId xmlns:p14="http://schemas.microsoft.com/office/powerpoint/2010/main" val="273159307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h in a nutshell">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290362407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MM Layou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CADFF2DC-AB6C-9C87-CB47-B613743F2B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CADFF2DC-AB6C-9C87-CB47-B613743F2B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397755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
        <p:nvSpPr>
          <p:cNvPr id="6" name="Footer Placeholder 5">
            <a:extLst>
              <a:ext uri="{FF2B5EF4-FFF2-40B4-BE49-F238E27FC236}">
                <a16:creationId xmlns:a16="http://schemas.microsoft.com/office/drawing/2014/main" id="{D6CC48C9-2DF5-86B2-52F6-3553FB63E4E3}"/>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5B1924E0-10F3-9B23-4A6D-B7A794FC706B}"/>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a:extLst>
              <a:ext uri="{FF2B5EF4-FFF2-40B4-BE49-F238E27FC236}">
                <a16:creationId xmlns:a16="http://schemas.microsoft.com/office/drawing/2014/main" id="{17B77F17-B778-0463-4050-5A3EDA879F7A}"/>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9B7DD5BC-6889-55B8-E161-048CBF284B93}"/>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28C9FCF9-4C2A-8540-818D-BA23E2ACC0B6}"/>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828EFF68-0D13-3713-8BC9-76BE687BDC06}"/>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L or EX BT no animation">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2"/>
          <p:cNvSpPr>
            <a:spLocks noGrp="1"/>
          </p:cNvSpPr>
          <p:nvPr>
            <p:ph idx="12" hasCustomPrompt="1"/>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 NO ANIM</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8861536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5" name="Title 4">
            <a:extLst>
              <a:ext uri="{FF2B5EF4-FFF2-40B4-BE49-F238E27FC236}">
                <a16:creationId xmlns:a16="http://schemas.microsoft.com/office/drawing/2014/main" id="{702A7941-629B-80AB-3C95-443682B8FE1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2464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a:noFill/>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4E519E"/>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6.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theme" Target="../theme/theme3.xml"/><Relationship Id="rId4"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5.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2.xml"/><Relationship Id="rId7" Type="http://schemas.openxmlformats.org/officeDocument/2006/relationships/image" Target="../media/image15.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6.xml"/><Relationship Id="rId5" Type="http://schemas.openxmlformats.org/officeDocument/2006/relationships/slideLayout" Target="../slideLayouts/slideLayout14.xml"/><Relationship Id="rId10" Type="http://schemas.openxmlformats.org/officeDocument/2006/relationships/image" Target="../media/image17.png"/><Relationship Id="rId4" Type="http://schemas.openxmlformats.org/officeDocument/2006/relationships/slideLayout" Target="../slideLayouts/slideLayout13.xml"/><Relationship Id="rId9" Type="http://schemas.openxmlformats.org/officeDocument/2006/relationships/image" Target="../media/image16.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7.xml"/><Relationship Id="rId1" Type="http://schemas.openxmlformats.org/officeDocument/2006/relationships/slideLayout" Target="../slideLayouts/slideLayout15.xml"/><Relationship Id="rId4" Type="http://schemas.openxmlformats.org/officeDocument/2006/relationships/image" Target="../media/image19.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theme" Target="../theme/theme9.xml"/><Relationship Id="rId1" Type="http://schemas.openxmlformats.org/officeDocument/2006/relationships/slideLayout" Target="../slideLayouts/slideLayout1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theme" Target="../theme/theme10.xml"/><Relationship Id="rId1" Type="http://schemas.openxmlformats.org/officeDocument/2006/relationships/slideLayout" Target="../slideLayouts/slideLayout19.xml"/><Relationship Id="rId5" Type="http://schemas.openxmlformats.org/officeDocument/2006/relationships/image" Target="../media/image30.png"/><Relationship Id="rId4" Type="http://schemas.openxmlformats.org/officeDocument/2006/relationships/image" Target="../media/image2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4"/>
          <a:stretch>
            <a:fillRect/>
          </a:stretch>
        </p:blipFill>
        <p:spPr>
          <a:xfrm>
            <a:off x="-1" y="1439"/>
            <a:ext cx="4953001" cy="6362582"/>
          </a:xfrm>
          <a:prstGeom prst="rect">
            <a:avLst/>
          </a:prstGeom>
        </p:spPr>
      </p:pic>
    </p:spTree>
    <p:extLst>
      <p:ext uri="{BB962C8B-B14F-4D97-AF65-F5344CB8AC3E}">
        <p14:creationId xmlns:p14="http://schemas.microsoft.com/office/powerpoint/2010/main" val="3619392334"/>
      </p:ext>
    </p:extLst>
  </p:cSld>
  <p:clrMap bg1="lt1" tx1="dk1" bg2="lt2" tx2="dk2" accent1="accent1" accent2="accent2" accent3="accent3" accent4="accent4" accent5="accent5" accent6="accent6" hlink="hlink" folHlink="folHlink"/>
  <p:sldLayoutIdLst>
    <p:sldLayoutId id="2147483702"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4"/>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5"/>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91" r:id="rId1"/>
    <p:sldLayoutId id="2147483695"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6"/>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6"/>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7"/>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99" r:id="rId2"/>
    <p:sldLayoutId id="2147483674" r:id="rId3"/>
    <p:sldLayoutId id="2147483682" r:id="rId4"/>
  </p:sldLayoutIdLst>
  <p:transition/>
  <p:hf hdr="0" dt="0"/>
  <p:txStyles>
    <p:titleStyle>
      <a:lvl1pPr algn="ctr" rtl="0" eaLnBrk="0" fontAlgn="base" hangingPunct="0">
        <a:spcBef>
          <a:spcPct val="0"/>
        </a:spcBef>
        <a:spcAft>
          <a:spcPct val="0"/>
        </a:spcAft>
        <a:defRPr sz="400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7F4DFE-5B5A-0F39-64B6-B61C4321E799}"/>
              </a:ext>
            </a:extLst>
          </p:cNvPr>
          <p:cNvPicPr>
            <a:picLocks noChangeAspect="1"/>
          </p:cNvPicPr>
          <p:nvPr userDrawn="1"/>
        </p:nvPicPr>
        <p:blipFill>
          <a:blip r:embed="rId7"/>
          <a:stretch>
            <a:fillRect/>
          </a:stretch>
        </p:blipFill>
        <p:spPr>
          <a:xfrm>
            <a:off x="454616" y="6462712"/>
            <a:ext cx="8384583" cy="319088"/>
          </a:xfrm>
          <a:prstGeom prst="rect">
            <a:avLst/>
          </a:prstGeom>
        </p:spPr>
      </p:pic>
      <p:pic>
        <p:nvPicPr>
          <p:cNvPr id="4" name="Picture 3">
            <a:extLst>
              <a:ext uri="{FF2B5EF4-FFF2-40B4-BE49-F238E27FC236}">
                <a16:creationId xmlns:a16="http://schemas.microsoft.com/office/drawing/2014/main" id="{849DCBD9-D40B-6CAD-1A54-E203D88E57AC}"/>
              </a:ext>
            </a:extLst>
          </p:cNvPr>
          <p:cNvPicPr>
            <a:picLocks noChangeAspect="1"/>
          </p:cNvPicPr>
          <p:nvPr userDrawn="1"/>
        </p:nvPicPr>
        <p:blipFill>
          <a:blip r:embed="rId7"/>
          <a:stretch>
            <a:fillRect/>
          </a:stretch>
        </p:blipFill>
        <p:spPr>
          <a:xfrm>
            <a:off x="0" y="1327"/>
            <a:ext cx="9139238" cy="821138"/>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8"/>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76201" y="153987"/>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454616" y="6324601"/>
            <a:ext cx="8308384"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 id="2147483700" r:id="rId5"/>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4"/>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5"/>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6"/>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304800" y="1602867"/>
            <a:ext cx="8610600" cy="4721733"/>
          </a:xfrm>
          <a:prstGeom prst="rect">
            <a:avLst/>
          </a:prstGeom>
          <a:solidFill>
            <a:srgbClr val="EAEAF4"/>
          </a:solidFill>
          <a:ln>
            <a:noFill/>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28598"/>
                <a:ext cx="7543800" cy="102213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a:t>
            </a:r>
            <a:r>
              <a:rPr lang="en-US"/>
              <a:t>© 2027 </a:t>
            </a:r>
            <a:r>
              <a:rPr lang="en-US" dirty="0"/>
              <a:t>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32.xml"/><Relationship Id="rId1" Type="http://schemas.openxmlformats.org/officeDocument/2006/relationships/slideLayout" Target="../slideLayouts/slideLayout18.xml"/><Relationship Id="rId4" Type="http://schemas.openxmlformats.org/officeDocument/2006/relationships/image" Target="../media/image35.e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12" name="Footer Placeholder 2"/>
          <p:cNvSpPr>
            <a:spLocks noGrp="1"/>
          </p:cNvSpPr>
          <p:nvPr>
            <p:ph type="ftr" sz="quarter" idx="11"/>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8" name="Text Placeholder 7"/>
          <p:cNvSpPr>
            <a:spLocks noGrp="1"/>
          </p:cNvSpPr>
          <p:nvPr>
            <p:ph sz="quarter" idx="12"/>
          </p:nvPr>
        </p:nvSpPr>
        <p:spPr>
          <a:xfrm>
            <a:off x="4267200" y="2590800"/>
            <a:ext cx="4876800" cy="2857500"/>
          </a:xfrm>
        </p:spPr>
        <p:txBody>
          <a:bodyPr anchor="ctr">
            <a:normAutofit/>
          </a:bodyPr>
          <a:lstStyle/>
          <a:p>
            <a:pPr algn="ctr">
              <a:defRPr/>
            </a:pPr>
            <a:r>
              <a:rPr lang="en-US" sz="5400" dirty="0"/>
              <a:t>Monopoly</a:t>
            </a:r>
          </a:p>
        </p:txBody>
      </p:sp>
      <p:sp>
        <p:nvSpPr>
          <p:cNvPr id="9" name="Content Placeholder 8"/>
          <p:cNvSpPr>
            <a:spLocks noGrp="1"/>
          </p:cNvSpPr>
          <p:nvPr>
            <p:ph sz="quarter" idx="4294967295"/>
          </p:nvPr>
        </p:nvSpPr>
        <p:spPr>
          <a:xfrm>
            <a:off x="6337300" y="762000"/>
            <a:ext cx="2806700" cy="2019300"/>
          </a:xfrm>
          <a:blipFill>
            <a:blip r:embed="rId3"/>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16</a:t>
            </a:r>
          </a:p>
        </p:txBody>
      </p:sp>
      <p:sp>
        <p:nvSpPr>
          <p:cNvPr id="2" name="TextBox 1">
            <a:extLst>
              <a:ext uri="{FF2B5EF4-FFF2-40B4-BE49-F238E27FC236}">
                <a16:creationId xmlns:a16="http://schemas.microsoft.com/office/drawing/2014/main" id="{07AFA2A1-0BCE-5770-0132-9D694DCB526C}"/>
              </a:ext>
            </a:extLst>
          </p:cNvPr>
          <p:cNvSpPr txBox="1">
            <a:spLocks noGrp="1" noRot="1" noMove="1" noResize="1" noEditPoints="1" noAdjustHandles="1" noChangeArrowheads="1" noChangeShapeType="1"/>
          </p:cNvSpPr>
          <p:nvPr/>
        </p:nvSpPr>
        <p:spPr>
          <a:xfrm>
            <a:off x="5562600" y="4953000"/>
            <a:ext cx="2806700" cy="990600"/>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962300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200" dirty="0"/>
              <a:t>Why do monopolies arise?</a:t>
            </a:r>
          </a:p>
          <a:p>
            <a:r>
              <a:rPr lang="en-US" sz="3200" dirty="0"/>
              <a:t>Why is MR &lt; P  for a monopolist?</a:t>
            </a:r>
          </a:p>
          <a:p>
            <a:r>
              <a:rPr lang="en-US" sz="3200" dirty="0"/>
              <a:t>How do monopolies choose their P and Q?  </a:t>
            </a:r>
          </a:p>
          <a:p>
            <a:r>
              <a:rPr lang="en-US" sz="3200" dirty="0"/>
              <a:t>How do monopolies affect society’s well-being?</a:t>
            </a:r>
          </a:p>
          <a:p>
            <a:r>
              <a:rPr lang="en-US" sz="3200" dirty="0"/>
              <a:t>What can the government do about monopolies?</a:t>
            </a:r>
          </a:p>
          <a:p>
            <a:r>
              <a:rPr lang="en-US" sz="3200" dirty="0"/>
              <a:t>What is price discrimination? (price customization)</a:t>
            </a:r>
          </a:p>
          <a:p>
            <a:endParaRPr lang="en-US" sz="32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dirty="0"/>
          </a:p>
        </p:txBody>
      </p:sp>
      <p:sp>
        <p:nvSpPr>
          <p:cNvPr id="5" name="Footer Placeholder 4">
            <a:extLst>
              <a:ext uri="{FF2B5EF4-FFF2-40B4-BE49-F238E27FC236}">
                <a16:creationId xmlns:a16="http://schemas.microsoft.com/office/drawing/2014/main" id="{27E57AAB-6BFA-88D4-671C-09588D0D0EE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p:nvPr>
        </p:nvSpPr>
        <p:spPr/>
        <p:txBody>
          <a:bodyPr/>
          <a:lstStyle/>
          <a:p>
            <a:r>
              <a:rPr lang="en-US" dirty="0"/>
              <a:t>IN THIS CHAPTER</a:t>
            </a:r>
          </a:p>
        </p:txBody>
      </p:sp>
    </p:spTree>
    <p:extLst>
      <p:ext uri="{BB962C8B-B14F-4D97-AF65-F5344CB8AC3E}">
        <p14:creationId xmlns:p14="http://schemas.microsoft.com/office/powerpoint/2010/main" val="7383311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Monopolies Arise</a:t>
            </a:r>
          </a:p>
        </p:txBody>
      </p:sp>
      <p:sp>
        <p:nvSpPr>
          <p:cNvPr id="3" name="Content Placeholder 2"/>
          <p:cNvSpPr>
            <a:spLocks noGrp="1"/>
          </p:cNvSpPr>
          <p:nvPr>
            <p:ph idx="1"/>
          </p:nvPr>
        </p:nvSpPr>
        <p:spPr/>
        <p:txBody>
          <a:bodyPr/>
          <a:lstStyle/>
          <a:p>
            <a:r>
              <a:rPr lang="en-US" dirty="0"/>
              <a:t>Monopoly </a:t>
            </a:r>
          </a:p>
          <a:p>
            <a:pPr lvl="1"/>
            <a:r>
              <a:rPr lang="en-US" dirty="0"/>
              <a:t>A firm that is the sole seller of a product without close substitutes </a:t>
            </a:r>
          </a:p>
          <a:p>
            <a:pPr lvl="1"/>
            <a:r>
              <a:rPr lang="en-US" dirty="0"/>
              <a:t>Has market power: </a:t>
            </a:r>
            <a:r>
              <a:rPr lang="en-US" dirty="0">
                <a:solidFill>
                  <a:srgbClr val="4E519E"/>
                </a:solidFill>
              </a:rPr>
              <a:t>price maker</a:t>
            </a:r>
          </a:p>
          <a:p>
            <a:pPr lvl="2"/>
            <a:r>
              <a:rPr lang="en-US" dirty="0"/>
              <a:t>The ability to influence the market price of the product it sells </a:t>
            </a:r>
            <a:endParaRPr lang="en-US" dirty="0">
              <a:solidFill>
                <a:srgbClr val="C00000"/>
              </a:solidFill>
            </a:endParaRPr>
          </a:p>
          <a:p>
            <a:pPr lvl="1"/>
            <a:r>
              <a:rPr lang="en-US" dirty="0"/>
              <a:t>Arise due to </a:t>
            </a:r>
            <a:r>
              <a:rPr lang="en-US" dirty="0">
                <a:solidFill>
                  <a:srgbClr val="4E519E"/>
                </a:solidFill>
              </a:rPr>
              <a:t>barriers to entry</a:t>
            </a:r>
          </a:p>
          <a:p>
            <a:pPr lvl="2"/>
            <a:r>
              <a:rPr lang="en-US" dirty="0"/>
              <a:t>Other firms cannot enter the market to compete with it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a:t>
            </a:fld>
            <a:endParaRPr lang="en-US"/>
          </a:p>
        </p:txBody>
      </p:sp>
      <p:sp>
        <p:nvSpPr>
          <p:cNvPr id="5" name="Footer Placeholder 4">
            <a:extLst>
              <a:ext uri="{FF2B5EF4-FFF2-40B4-BE49-F238E27FC236}">
                <a16:creationId xmlns:a16="http://schemas.microsoft.com/office/drawing/2014/main" id="{D81B5656-87D7-413A-A967-6B541981EEE4}"/>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8481442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Entry – 1  </a:t>
            </a:r>
          </a:p>
        </p:txBody>
      </p:sp>
      <p:sp>
        <p:nvSpPr>
          <p:cNvPr id="3" name="Content Placeholder 2"/>
          <p:cNvSpPr>
            <a:spLocks noGrp="1"/>
          </p:cNvSpPr>
          <p:nvPr>
            <p:ph idx="1"/>
          </p:nvPr>
        </p:nvSpPr>
        <p:spPr>
          <a:xfrm>
            <a:off x="152401" y="1025525"/>
            <a:ext cx="6781800" cy="5422900"/>
          </a:xfrm>
        </p:spPr>
        <p:txBody>
          <a:bodyPr/>
          <a:lstStyle/>
          <a:p>
            <a:pPr marL="514350" indent="-514350">
              <a:buFont typeface="+mj-lt"/>
              <a:buAutoNum type="arabicPeriod"/>
            </a:pPr>
            <a:r>
              <a:rPr lang="en-US" dirty="0"/>
              <a:t>Monopoly resources</a:t>
            </a:r>
          </a:p>
          <a:p>
            <a:pPr marL="914400" lvl="1" indent="-514350"/>
            <a:r>
              <a:rPr lang="en-US" dirty="0"/>
              <a:t>A single firm owns a key resource required for production.</a:t>
            </a:r>
          </a:p>
          <a:p>
            <a:pPr marL="1314450" lvl="2" indent="-514350"/>
            <a:r>
              <a:rPr lang="en-US" dirty="0">
                <a:solidFill>
                  <a:srgbClr val="4E519E"/>
                </a:solidFill>
              </a:rPr>
              <a:t>Single water provider in town</a:t>
            </a:r>
          </a:p>
          <a:p>
            <a:pPr marL="1314450" lvl="2" indent="-514350"/>
            <a:r>
              <a:rPr lang="en-US" dirty="0">
                <a:solidFill>
                  <a:srgbClr val="4E519E"/>
                </a:solidFill>
              </a:rPr>
              <a:t>DeBeers diamond company - owns most of the world’s </a:t>
            </a:r>
            <a:br>
              <a:rPr lang="en-US" dirty="0">
                <a:solidFill>
                  <a:srgbClr val="4E519E"/>
                </a:solidFill>
              </a:rPr>
            </a:br>
            <a:r>
              <a:rPr lang="en-US" dirty="0">
                <a:solidFill>
                  <a:srgbClr val="4E519E"/>
                </a:solidFill>
              </a:rPr>
              <a:t>diamond mines</a:t>
            </a:r>
          </a:p>
          <a:p>
            <a:pPr marL="914400" lvl="1" indent="-514350"/>
            <a:r>
              <a:rPr lang="en-US" dirty="0"/>
              <a:t>Relatively rare in practice</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a:t>
            </a:fld>
            <a:endParaRPr lang="en-US"/>
          </a:p>
        </p:txBody>
      </p:sp>
      <p:sp>
        <p:nvSpPr>
          <p:cNvPr id="7" name="Text Placeholder 6">
            <a:extLst>
              <a:ext uri="{FF2B5EF4-FFF2-40B4-BE49-F238E27FC236}">
                <a16:creationId xmlns:a16="http://schemas.microsoft.com/office/drawing/2014/main" id="{4C5AA9D1-A606-FFB7-8142-6D80C6F08133}"/>
              </a:ext>
            </a:extLst>
          </p:cNvPr>
          <p:cNvSpPr>
            <a:spLocks noGrp="1"/>
          </p:cNvSpPr>
          <p:nvPr>
            <p:ph type="body" sz="quarter" idx="12"/>
          </p:nvPr>
        </p:nvSpPr>
        <p:spPr>
          <a:xfrm>
            <a:off x="6553200" y="3352800"/>
            <a:ext cx="2590800" cy="2438400"/>
          </a:xfrm>
        </p:spPr>
        <p:txBody>
          <a:bodyPr/>
          <a:lstStyle/>
          <a:p>
            <a:r>
              <a:rPr lang="en-US" sz="2400" dirty="0"/>
              <a:t>“Rather than a monopoly, we like to consider ourselves ‘the only game in town.’”</a:t>
            </a:r>
          </a:p>
        </p:txBody>
      </p:sp>
      <p:sp>
        <p:nvSpPr>
          <p:cNvPr id="5" name="Footer Placeholder 4">
            <a:extLst>
              <a:ext uri="{FF2B5EF4-FFF2-40B4-BE49-F238E27FC236}">
                <a16:creationId xmlns:a16="http://schemas.microsoft.com/office/drawing/2014/main" id="{C910471A-5010-EB71-B81E-01F2808C6315}"/>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9" name="Picture 8" descr="A judge seated at the raised judge’s bench and two businessmen holding documents stand before him. One says, Rather than a monopoly, we like to consider ourselves the only game in town.&#10;">
            <a:extLst>
              <a:ext uri="{FF2B5EF4-FFF2-40B4-BE49-F238E27FC236}">
                <a16:creationId xmlns:a16="http://schemas.microsoft.com/office/drawing/2014/main" id="{016AFF1A-0CFE-ECDA-C951-63CA406129D0}"/>
              </a:ext>
            </a:extLst>
          </p:cNvPr>
          <p:cNvPicPr>
            <a:picLocks noChangeAspect="1"/>
          </p:cNvPicPr>
          <p:nvPr/>
        </p:nvPicPr>
        <p:blipFill>
          <a:blip r:embed="rId3"/>
          <a:stretch>
            <a:fillRect/>
          </a:stretch>
        </p:blipFill>
        <p:spPr>
          <a:xfrm>
            <a:off x="6646742" y="1066800"/>
            <a:ext cx="2497258" cy="2156723"/>
          </a:xfrm>
          <a:prstGeom prst="rect">
            <a:avLst/>
          </a:prstGeom>
        </p:spPr>
      </p:pic>
    </p:spTree>
    <p:extLst>
      <p:ext uri="{BB962C8B-B14F-4D97-AF65-F5344CB8AC3E}">
        <p14:creationId xmlns:p14="http://schemas.microsoft.com/office/powerpoint/2010/main" val="330242289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Entry – 2  </a:t>
            </a:r>
          </a:p>
        </p:txBody>
      </p:sp>
      <p:sp>
        <p:nvSpPr>
          <p:cNvPr id="3" name="Content Placeholder 2"/>
          <p:cNvSpPr>
            <a:spLocks noGrp="1"/>
          </p:cNvSpPr>
          <p:nvPr>
            <p:ph idx="1"/>
          </p:nvPr>
        </p:nvSpPr>
        <p:spPr/>
        <p:txBody>
          <a:bodyPr/>
          <a:lstStyle/>
          <a:p>
            <a:pPr marL="0" indent="0">
              <a:buNone/>
            </a:pPr>
            <a:r>
              <a:rPr lang="en-US" dirty="0"/>
              <a:t>2. Government regulation</a:t>
            </a:r>
          </a:p>
          <a:p>
            <a:pPr marL="914400" lvl="1" indent="-514350"/>
            <a:r>
              <a:rPr lang="en-US" dirty="0"/>
              <a:t>Government-created monopolies</a:t>
            </a:r>
          </a:p>
          <a:p>
            <a:pPr marL="914400" lvl="1" indent="-514350"/>
            <a:r>
              <a:rPr lang="en-US" dirty="0"/>
              <a:t>The government gives a single firm the  exclusive right to produce the good.</a:t>
            </a:r>
          </a:p>
          <a:p>
            <a:pPr marL="1314450" lvl="2" indent="-514350"/>
            <a:r>
              <a:rPr lang="en-US" dirty="0">
                <a:solidFill>
                  <a:srgbClr val="4E519E"/>
                </a:solidFill>
              </a:rPr>
              <a:t>Patents for new pharmaceutical drugs</a:t>
            </a:r>
          </a:p>
          <a:p>
            <a:pPr marL="1314450" lvl="2" indent="-514350"/>
            <a:r>
              <a:rPr lang="en-US" dirty="0">
                <a:solidFill>
                  <a:srgbClr val="4E519E"/>
                </a:solidFill>
              </a:rPr>
              <a:t>Copyright laws</a:t>
            </a:r>
          </a:p>
          <a:p>
            <a:pPr marL="1314450" lvl="2" indent="-514350"/>
            <a:r>
              <a:rPr lang="en-US" dirty="0"/>
              <a:t>Lead to higher prices and higher profits (than under competition)</a:t>
            </a:r>
          </a:p>
          <a:p>
            <a:pPr marL="1314450" lvl="2" indent="-514350"/>
            <a:r>
              <a:rPr lang="en-US" dirty="0"/>
              <a:t>Also encourage some desirable behavior (provides incentives for creative activity)</a:t>
            </a:r>
          </a:p>
          <a:p>
            <a:pPr marL="400050" lvl="1" indent="0">
              <a:buNone/>
            </a:pPr>
            <a:endParaRPr lang="en-US" sz="3000"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a:t>
            </a:fld>
            <a:endParaRPr lang="en-US"/>
          </a:p>
        </p:txBody>
      </p:sp>
      <p:sp>
        <p:nvSpPr>
          <p:cNvPr id="5" name="Footer Placeholder 4">
            <a:extLst>
              <a:ext uri="{FF2B5EF4-FFF2-40B4-BE49-F238E27FC236}">
                <a16:creationId xmlns:a16="http://schemas.microsoft.com/office/drawing/2014/main" id="{6442B756-AE22-A5AD-6543-F187264F3C04}"/>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81537307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Entry – 3  </a:t>
            </a:r>
          </a:p>
        </p:txBody>
      </p:sp>
      <p:sp>
        <p:nvSpPr>
          <p:cNvPr id="3" name="Content Placeholder 2"/>
          <p:cNvSpPr>
            <a:spLocks noGrp="1"/>
          </p:cNvSpPr>
          <p:nvPr>
            <p:ph idx="1"/>
          </p:nvPr>
        </p:nvSpPr>
        <p:spPr/>
        <p:txBody>
          <a:bodyPr/>
          <a:lstStyle/>
          <a:p>
            <a:pPr marL="514350" indent="-514350">
              <a:buFont typeface="+mj-lt"/>
              <a:buAutoNum type="arabicPeriod" startAt="3"/>
            </a:pPr>
            <a:r>
              <a:rPr lang="en-US" dirty="0"/>
              <a:t>The production process: natural monopoly</a:t>
            </a:r>
          </a:p>
          <a:p>
            <a:pPr marL="914400" lvl="1" indent="-514350"/>
            <a:r>
              <a:rPr lang="en-US" dirty="0"/>
              <a:t>A single firm can produce the entire market </a:t>
            </a:r>
            <a:r>
              <a:rPr lang="en-US" b="1" i="1" dirty="0"/>
              <a:t>Q</a:t>
            </a:r>
            <a:r>
              <a:rPr lang="en-US" dirty="0"/>
              <a:t> at lower cost than could several firms</a:t>
            </a:r>
          </a:p>
          <a:p>
            <a:pPr marL="914400" lvl="1" indent="-514350"/>
            <a:r>
              <a:rPr lang="en-US" dirty="0"/>
              <a:t>Arises when there are economies of scale over the relevant range of output</a:t>
            </a:r>
          </a:p>
          <a:p>
            <a:pPr marL="914400" lvl="1" indent="-514350"/>
            <a:r>
              <a:rPr lang="en-US" dirty="0">
                <a:solidFill>
                  <a:srgbClr val="4E519E"/>
                </a:solidFill>
              </a:rPr>
              <a:t>Distribution of water, electricity, etc.</a:t>
            </a:r>
          </a:p>
          <a:p>
            <a:pPr marL="914400" lvl="1" indent="-514350"/>
            <a:r>
              <a:rPr lang="en-US" dirty="0">
                <a:solidFill>
                  <a:srgbClr val="4E519E"/>
                </a:solidFill>
              </a:rPr>
              <a:t>Club goods (excludable, not rival in consumption)</a:t>
            </a:r>
          </a:p>
          <a:p>
            <a:pPr marL="914400" lvl="1" indent="-514350"/>
            <a:endParaRPr lang="en-US" sz="3000"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a:t>
            </a:fld>
            <a:endParaRPr lang="en-US"/>
          </a:p>
        </p:txBody>
      </p:sp>
      <p:sp>
        <p:nvSpPr>
          <p:cNvPr id="5" name="Footer Placeholder 4">
            <a:extLst>
              <a:ext uri="{FF2B5EF4-FFF2-40B4-BE49-F238E27FC236}">
                <a16:creationId xmlns:a16="http://schemas.microsoft.com/office/drawing/2014/main" id="{6442B756-AE22-A5AD-6543-F187264F3C04}"/>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61671576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1: </a:t>
            </a:r>
            <a:r>
              <a:rPr lang="en-US" dirty="0">
                <a:solidFill>
                  <a:schemeClr val="tx1"/>
                </a:solidFill>
              </a:rPr>
              <a:t>Natural Monopoly</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7</a:t>
            </a:fld>
            <a:endParaRPr lang="en-US"/>
          </a:p>
        </p:txBody>
      </p:sp>
      <p:sp>
        <p:nvSpPr>
          <p:cNvPr id="3" name="Content Placeholder 2"/>
          <p:cNvSpPr>
            <a:spLocks noGrp="1"/>
          </p:cNvSpPr>
          <p:nvPr>
            <p:ph idx="12"/>
          </p:nvPr>
        </p:nvSpPr>
        <p:spPr>
          <a:xfrm>
            <a:off x="228600" y="914400"/>
            <a:ext cx="8524876" cy="2041525"/>
          </a:xfrm>
        </p:spPr>
        <p:txBody>
          <a:bodyPr/>
          <a:lstStyle/>
          <a:p>
            <a:pPr marL="0" indent="0">
              <a:buNone/>
            </a:pPr>
            <a:r>
              <a:rPr lang="en-US" sz="3200" dirty="0"/>
              <a:t>You live in a small town where 1,000 homes need electricity.</a:t>
            </a:r>
          </a:p>
          <a:p>
            <a:r>
              <a:rPr lang="en-US" sz="2800" b="1" i="1" dirty="0">
                <a:solidFill>
                  <a:srgbClr val="4E519E"/>
                </a:solidFill>
              </a:rPr>
              <a:t>ATC</a:t>
            </a:r>
            <a:r>
              <a:rPr lang="en-US" sz="2800" dirty="0">
                <a:solidFill>
                  <a:srgbClr val="4E519E"/>
                </a:solidFill>
              </a:rPr>
              <a:t> is lower if one firm services all 1,000 homes than if two firms each service 500 homes.</a:t>
            </a:r>
          </a:p>
          <a:p>
            <a:endParaRPr lang="en-US" sz="3200" dirty="0"/>
          </a:p>
          <a:p>
            <a:endParaRPr lang="en-US" dirty="0"/>
          </a:p>
        </p:txBody>
      </p:sp>
      <p:grpSp>
        <p:nvGrpSpPr>
          <p:cNvPr id="6" name="Group 29"/>
          <p:cNvGrpSpPr>
            <a:grpSpLocks/>
          </p:cNvGrpSpPr>
          <p:nvPr/>
        </p:nvGrpSpPr>
        <p:grpSpPr bwMode="auto">
          <a:xfrm>
            <a:off x="2565400" y="3117850"/>
            <a:ext cx="4025900" cy="3013075"/>
            <a:chOff x="2781" y="1774"/>
            <a:chExt cx="2536" cy="1898"/>
          </a:xfrm>
        </p:grpSpPr>
        <p:grpSp>
          <p:nvGrpSpPr>
            <p:cNvPr id="7" name="Group 8"/>
            <p:cNvGrpSpPr>
              <a:grpSpLocks/>
            </p:cNvGrpSpPr>
            <p:nvPr/>
          </p:nvGrpSpPr>
          <p:grpSpPr bwMode="auto">
            <a:xfrm>
              <a:off x="3073" y="2024"/>
              <a:ext cx="1994" cy="1510"/>
              <a:chOff x="1489" y="785"/>
              <a:chExt cx="3650" cy="2492"/>
            </a:xfrm>
          </p:grpSpPr>
          <p:sp>
            <p:nvSpPr>
              <p:cNvPr id="10"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1"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8" name="Text Box 11"/>
            <p:cNvSpPr txBox="1">
              <a:spLocks noChangeArrowheads="1"/>
            </p:cNvSpPr>
            <p:nvPr/>
          </p:nvSpPr>
          <p:spPr bwMode="auto">
            <a:xfrm>
              <a:off x="5032" y="3384"/>
              <a:ext cx="285" cy="288"/>
            </a:xfrm>
            <a:prstGeom prst="rect">
              <a:avLst/>
            </a:prstGeom>
            <a:noFill/>
            <a:ln w="9525">
              <a:noFill/>
              <a:miter lim="800000"/>
              <a:headEnd/>
              <a:tailEnd/>
            </a:ln>
          </p:spPr>
          <p:txBody>
            <a:bodyPr>
              <a:spAutoFit/>
            </a:bodyPr>
            <a:lstStyle/>
            <a:p>
              <a:pPr>
                <a:spcBef>
                  <a:spcPct val="50000"/>
                </a:spcBef>
              </a:pPr>
              <a:r>
                <a:rPr lang="en-US" sz="2400" b="1" i="1">
                  <a:latin typeface="Arial"/>
                  <a:cs typeface="Arial"/>
                </a:rPr>
                <a:t>Q</a:t>
              </a:r>
            </a:p>
          </p:txBody>
        </p:sp>
        <p:sp>
          <p:nvSpPr>
            <p:cNvPr id="9" name="Text Box 12"/>
            <p:cNvSpPr txBox="1">
              <a:spLocks noChangeArrowheads="1"/>
            </p:cNvSpPr>
            <p:nvPr/>
          </p:nvSpPr>
          <p:spPr bwMode="auto">
            <a:xfrm>
              <a:off x="2781" y="1774"/>
              <a:ext cx="550"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Cost</a:t>
              </a:r>
            </a:p>
          </p:txBody>
        </p:sp>
      </p:grpSp>
      <p:grpSp>
        <p:nvGrpSpPr>
          <p:cNvPr id="12" name="Group 30"/>
          <p:cNvGrpSpPr>
            <a:grpSpLocks/>
          </p:cNvGrpSpPr>
          <p:nvPr/>
        </p:nvGrpSpPr>
        <p:grpSpPr bwMode="auto">
          <a:xfrm>
            <a:off x="3282951" y="3271837"/>
            <a:ext cx="4195763" cy="2333626"/>
            <a:chOff x="3233" y="1871"/>
            <a:chExt cx="2643" cy="1470"/>
          </a:xfrm>
        </p:grpSpPr>
        <p:sp>
          <p:nvSpPr>
            <p:cNvPr id="13" name="Arc 13"/>
            <p:cNvSpPr>
              <a:spLocks/>
            </p:cNvSpPr>
            <p:nvPr/>
          </p:nvSpPr>
          <p:spPr bwMode="auto">
            <a:xfrm flipH="1" flipV="1">
              <a:off x="3233" y="1871"/>
              <a:ext cx="1941" cy="1317"/>
            </a:xfrm>
            <a:custGeom>
              <a:avLst/>
              <a:gdLst>
                <a:gd name="T0" fmla="*/ 0 w 21144"/>
                <a:gd name="T1" fmla="*/ 0 h 21444"/>
                <a:gd name="T2" fmla="*/ 0 w 21144"/>
                <a:gd name="T3" fmla="*/ 0 h 21444"/>
                <a:gd name="T4" fmla="*/ 0 w 21144"/>
                <a:gd name="T5" fmla="*/ 0 h 21444"/>
                <a:gd name="T6" fmla="*/ 0 60000 65536"/>
                <a:gd name="T7" fmla="*/ 0 60000 65536"/>
                <a:gd name="T8" fmla="*/ 0 60000 65536"/>
                <a:gd name="T9" fmla="*/ 0 w 21144"/>
                <a:gd name="T10" fmla="*/ 0 h 21444"/>
                <a:gd name="T11" fmla="*/ 21144 w 21144"/>
                <a:gd name="T12" fmla="*/ 21444 h 21444"/>
              </a:gdLst>
              <a:ahLst/>
              <a:cxnLst>
                <a:cxn ang="T6">
                  <a:pos x="T0" y="T1"/>
                </a:cxn>
                <a:cxn ang="T7">
                  <a:pos x="T2" y="T3"/>
                </a:cxn>
                <a:cxn ang="T8">
                  <a:pos x="T4" y="T5"/>
                </a:cxn>
              </a:cxnLst>
              <a:rect l="T9" t="T10" r="T11" b="T12"/>
              <a:pathLst>
                <a:path w="21144" h="21444" fill="none" extrusionOk="0">
                  <a:moveTo>
                    <a:pt x="2592" y="0"/>
                  </a:moveTo>
                  <a:cubicBezTo>
                    <a:pt x="11788" y="1112"/>
                    <a:pt x="19251" y="7963"/>
                    <a:pt x="21144" y="17029"/>
                  </a:cubicBezTo>
                </a:path>
                <a:path w="21144" h="21444" stroke="0" extrusionOk="0">
                  <a:moveTo>
                    <a:pt x="2592" y="0"/>
                  </a:moveTo>
                  <a:cubicBezTo>
                    <a:pt x="11788" y="1112"/>
                    <a:pt x="19251" y="7963"/>
                    <a:pt x="21144" y="17029"/>
                  </a:cubicBezTo>
                  <a:lnTo>
                    <a:pt x="0" y="21444"/>
                  </a:lnTo>
                  <a:close/>
                </a:path>
              </a:pathLst>
            </a:custGeom>
            <a:noFill/>
            <a:ln w="38100">
              <a:solidFill>
                <a:srgbClr val="CC0000"/>
              </a:solidFill>
              <a:round/>
              <a:headEnd/>
              <a:tailEnd/>
            </a:ln>
          </p:spPr>
          <p:txBody>
            <a:bodyPr wrap="none" anchor="ctr"/>
            <a:lstStyle/>
            <a:p>
              <a:endParaRPr lang="en-US">
                <a:latin typeface="Arial"/>
                <a:cs typeface="Arial"/>
              </a:endParaRPr>
            </a:p>
          </p:txBody>
        </p:sp>
        <p:sp>
          <p:nvSpPr>
            <p:cNvPr id="14" name="Text Box 14"/>
            <p:cNvSpPr txBox="1">
              <a:spLocks noChangeArrowheads="1"/>
            </p:cNvSpPr>
            <p:nvPr/>
          </p:nvSpPr>
          <p:spPr bwMode="auto">
            <a:xfrm>
              <a:off x="4858" y="3050"/>
              <a:ext cx="1018" cy="291"/>
            </a:xfrm>
            <a:prstGeom prst="rect">
              <a:avLst/>
            </a:prstGeom>
            <a:noFill/>
            <a:ln w="9525">
              <a:noFill/>
              <a:miter lim="800000"/>
              <a:headEnd/>
              <a:tailEnd/>
            </a:ln>
          </p:spPr>
          <p:txBody>
            <a:bodyPr wrap="square">
              <a:spAutoFit/>
            </a:bodyPr>
            <a:lstStyle/>
            <a:p>
              <a:pPr algn="ctr">
                <a:spcBef>
                  <a:spcPct val="50000"/>
                </a:spcBef>
              </a:pPr>
              <a:r>
                <a:rPr lang="en-US" sz="2400" i="1" dirty="0">
                  <a:latin typeface="Arial"/>
                  <a:cs typeface="Arial"/>
                </a:rPr>
                <a:t>ATC (LR)</a:t>
              </a:r>
            </a:p>
          </p:txBody>
        </p:sp>
      </p:grpSp>
      <p:grpSp>
        <p:nvGrpSpPr>
          <p:cNvPr id="15" name="Group 33"/>
          <p:cNvGrpSpPr>
            <a:grpSpLocks/>
          </p:cNvGrpSpPr>
          <p:nvPr/>
        </p:nvGrpSpPr>
        <p:grpSpPr bwMode="auto">
          <a:xfrm>
            <a:off x="2260600" y="5092700"/>
            <a:ext cx="3579813" cy="1306512"/>
            <a:chOff x="2666" y="3081"/>
            <a:chExt cx="2255" cy="823"/>
          </a:xfrm>
        </p:grpSpPr>
        <p:grpSp>
          <p:nvGrpSpPr>
            <p:cNvPr id="16" name="Group 4"/>
            <p:cNvGrpSpPr>
              <a:grpSpLocks/>
            </p:cNvGrpSpPr>
            <p:nvPr/>
          </p:nvGrpSpPr>
          <p:grpSpPr bwMode="auto">
            <a:xfrm>
              <a:off x="3148" y="3199"/>
              <a:ext cx="1500" cy="400"/>
              <a:chOff x="357" y="2450"/>
              <a:chExt cx="795" cy="646"/>
            </a:xfrm>
          </p:grpSpPr>
          <p:sp>
            <p:nvSpPr>
              <p:cNvPr id="20" name="Line 5"/>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1" name="Line 6"/>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17" name="Oval 18"/>
            <p:cNvSpPr>
              <a:spLocks noChangeAspect="1" noChangeArrowheads="1"/>
            </p:cNvSpPr>
            <p:nvPr/>
          </p:nvSpPr>
          <p:spPr bwMode="auto">
            <a:xfrm>
              <a:off x="4603" y="3159"/>
              <a:ext cx="81" cy="8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8" name="Text Box 19"/>
            <p:cNvSpPr txBox="1">
              <a:spLocks noChangeArrowheads="1"/>
            </p:cNvSpPr>
            <p:nvPr/>
          </p:nvSpPr>
          <p:spPr bwMode="auto">
            <a:xfrm>
              <a:off x="4372" y="3616"/>
              <a:ext cx="549" cy="288"/>
            </a:xfrm>
            <a:prstGeom prst="rect">
              <a:avLst/>
            </a:prstGeom>
            <a:noFill/>
            <a:ln w="9525">
              <a:noFill/>
              <a:miter lim="800000"/>
              <a:headEnd/>
              <a:tailEnd/>
            </a:ln>
          </p:spPr>
          <p:txBody>
            <a:bodyPr>
              <a:spAutoFit/>
            </a:bodyPr>
            <a:lstStyle/>
            <a:p>
              <a:pPr algn="ctr">
                <a:spcBef>
                  <a:spcPct val="50000"/>
                </a:spcBef>
              </a:pPr>
              <a:r>
                <a:rPr lang="en-US" sz="2400" dirty="0">
                  <a:latin typeface="Arial"/>
                  <a:cs typeface="Arial"/>
                </a:rPr>
                <a:t>1000</a:t>
              </a:r>
            </a:p>
          </p:txBody>
        </p:sp>
        <p:sp>
          <p:nvSpPr>
            <p:cNvPr id="19" name="Text Box 22"/>
            <p:cNvSpPr txBox="1">
              <a:spLocks noChangeArrowheads="1"/>
            </p:cNvSpPr>
            <p:nvPr/>
          </p:nvSpPr>
          <p:spPr bwMode="auto">
            <a:xfrm>
              <a:off x="2666" y="3081"/>
              <a:ext cx="425"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$50</a:t>
              </a:r>
            </a:p>
          </p:txBody>
        </p:sp>
      </p:grpSp>
      <p:sp>
        <p:nvSpPr>
          <p:cNvPr id="22" name="Text Box 24"/>
          <p:cNvSpPr txBox="1">
            <a:spLocks noChangeArrowheads="1"/>
          </p:cNvSpPr>
          <p:nvPr/>
        </p:nvSpPr>
        <p:spPr bwMode="auto">
          <a:xfrm>
            <a:off x="3641725" y="2955925"/>
            <a:ext cx="2273300" cy="473075"/>
          </a:xfrm>
          <a:prstGeom prst="rect">
            <a:avLst/>
          </a:prstGeom>
          <a:noFill/>
          <a:ln w="9525">
            <a:noFill/>
            <a:miter lim="800000"/>
            <a:headEnd/>
            <a:tailEnd/>
          </a:ln>
        </p:spPr>
        <p:txBody>
          <a:bodyPr>
            <a:spAutoFit/>
          </a:bodyPr>
          <a:lstStyle/>
          <a:p>
            <a:pPr algn="ctr">
              <a:spcBef>
                <a:spcPct val="50000"/>
              </a:spcBef>
            </a:pPr>
            <a:r>
              <a:rPr lang="en-US" sz="2500" u="sng" dirty="0">
                <a:solidFill>
                  <a:srgbClr val="4E519E"/>
                </a:solidFill>
                <a:latin typeface="Arial"/>
                <a:cs typeface="Arial"/>
              </a:rPr>
              <a:t>Electricity</a:t>
            </a:r>
            <a:endParaRPr lang="en-US" sz="2500" dirty="0">
              <a:solidFill>
                <a:srgbClr val="4E519E"/>
              </a:solidFill>
              <a:latin typeface="Arial"/>
              <a:cs typeface="Arial"/>
            </a:endParaRPr>
          </a:p>
        </p:txBody>
      </p:sp>
      <p:sp>
        <p:nvSpPr>
          <p:cNvPr id="23" name="Text Box 27"/>
          <p:cNvSpPr txBox="1">
            <a:spLocks noChangeArrowheads="1"/>
          </p:cNvSpPr>
          <p:nvPr/>
        </p:nvSpPr>
        <p:spPr bwMode="auto">
          <a:xfrm>
            <a:off x="4572000" y="3962400"/>
            <a:ext cx="4140527" cy="830997"/>
          </a:xfrm>
          <a:prstGeom prst="rect">
            <a:avLst/>
          </a:prstGeom>
          <a:noFill/>
          <a:ln w="9525">
            <a:solidFill>
              <a:srgbClr val="C00000"/>
            </a:solidFill>
            <a:miter lim="800000"/>
            <a:headEnd/>
            <a:tailEnd/>
          </a:ln>
        </p:spPr>
        <p:txBody>
          <a:bodyPr wrap="square">
            <a:spAutoFit/>
          </a:bodyPr>
          <a:lstStyle/>
          <a:p>
            <a:pPr algn="ctr">
              <a:spcBef>
                <a:spcPct val="50000"/>
              </a:spcBef>
            </a:pPr>
            <a:r>
              <a:rPr lang="en-US" sz="2400" i="1" dirty="0">
                <a:solidFill>
                  <a:srgbClr val="4E519E"/>
                </a:solidFill>
                <a:latin typeface="Arial"/>
                <a:cs typeface="Arial"/>
              </a:rPr>
              <a:t>ATC</a:t>
            </a:r>
            <a:r>
              <a:rPr lang="en-US" sz="2400" dirty="0">
                <a:solidFill>
                  <a:srgbClr val="4E519E"/>
                </a:solidFill>
                <a:latin typeface="Arial"/>
                <a:cs typeface="Arial"/>
              </a:rPr>
              <a:t> slopes downward due to huge </a:t>
            </a:r>
            <a:r>
              <a:rPr lang="en-US" sz="2400" i="1" dirty="0">
                <a:solidFill>
                  <a:srgbClr val="4E519E"/>
                </a:solidFill>
                <a:latin typeface="Arial"/>
                <a:cs typeface="Arial"/>
              </a:rPr>
              <a:t>FC</a:t>
            </a:r>
            <a:r>
              <a:rPr lang="en-US" sz="2400" dirty="0">
                <a:solidFill>
                  <a:srgbClr val="4E519E"/>
                </a:solidFill>
                <a:latin typeface="Arial"/>
                <a:cs typeface="Arial"/>
              </a:rPr>
              <a:t> and small </a:t>
            </a:r>
            <a:r>
              <a:rPr lang="en-US" sz="2400" i="1" dirty="0">
                <a:solidFill>
                  <a:srgbClr val="4E519E"/>
                </a:solidFill>
                <a:latin typeface="Arial"/>
                <a:cs typeface="Arial"/>
              </a:rPr>
              <a:t>MC</a:t>
            </a:r>
          </a:p>
        </p:txBody>
      </p:sp>
      <p:grpSp>
        <p:nvGrpSpPr>
          <p:cNvPr id="24" name="Group 32"/>
          <p:cNvGrpSpPr>
            <a:grpSpLocks/>
          </p:cNvGrpSpPr>
          <p:nvPr/>
        </p:nvGrpSpPr>
        <p:grpSpPr bwMode="auto">
          <a:xfrm>
            <a:off x="2265363" y="4613275"/>
            <a:ext cx="2330450" cy="1787525"/>
            <a:chOff x="2592" y="2716"/>
            <a:chExt cx="1468" cy="1126"/>
          </a:xfrm>
        </p:grpSpPr>
        <p:grpSp>
          <p:nvGrpSpPr>
            <p:cNvPr id="25" name="Group 15"/>
            <p:cNvGrpSpPr>
              <a:grpSpLocks/>
            </p:cNvGrpSpPr>
            <p:nvPr/>
          </p:nvGrpSpPr>
          <p:grpSpPr bwMode="auto">
            <a:xfrm>
              <a:off x="3071" y="2839"/>
              <a:ext cx="753" cy="694"/>
              <a:chOff x="357" y="2450"/>
              <a:chExt cx="795" cy="646"/>
            </a:xfrm>
          </p:grpSpPr>
          <p:sp>
            <p:nvSpPr>
              <p:cNvPr id="29" name="Line 16"/>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 name="Line 17"/>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26" name="Text Box 20"/>
            <p:cNvSpPr txBox="1">
              <a:spLocks noChangeArrowheads="1"/>
            </p:cNvSpPr>
            <p:nvPr/>
          </p:nvSpPr>
          <p:spPr bwMode="auto">
            <a:xfrm>
              <a:off x="3582" y="3554"/>
              <a:ext cx="478"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500</a:t>
              </a:r>
            </a:p>
          </p:txBody>
        </p:sp>
        <p:sp>
          <p:nvSpPr>
            <p:cNvPr id="27" name="Text Box 21"/>
            <p:cNvSpPr txBox="1">
              <a:spLocks noChangeArrowheads="1"/>
            </p:cNvSpPr>
            <p:nvPr/>
          </p:nvSpPr>
          <p:spPr bwMode="auto">
            <a:xfrm>
              <a:off x="2592" y="2716"/>
              <a:ext cx="425"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$80</a:t>
              </a:r>
            </a:p>
          </p:txBody>
        </p:sp>
        <p:sp>
          <p:nvSpPr>
            <p:cNvPr id="28" name="Oval 7"/>
            <p:cNvSpPr>
              <a:spLocks noChangeAspect="1" noChangeArrowheads="1"/>
            </p:cNvSpPr>
            <p:nvPr/>
          </p:nvSpPr>
          <p:spPr bwMode="auto">
            <a:xfrm>
              <a:off x="3780" y="2799"/>
              <a:ext cx="81" cy="8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5" name="Footer Placeholder 4">
            <a:extLst>
              <a:ext uri="{FF2B5EF4-FFF2-40B4-BE49-F238E27FC236}">
                <a16:creationId xmlns:a16="http://schemas.microsoft.com/office/drawing/2014/main" id="{BE363CA5-50F5-918F-E1C9-F53D0738B92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4031083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strips(downRight)">
                                      <p:cBhvr>
                                        <p:cTn id="12" dur="500"/>
                                        <p:tgtEl>
                                          <p:spTgt spid="22"/>
                                        </p:tgtEl>
                                      </p:cBhvr>
                                    </p:animEffect>
                                  </p:childTnLst>
                                </p:cTn>
                              </p:par>
                            </p:childTnLst>
                          </p:cTn>
                        </p:par>
                        <p:par>
                          <p:cTn id="13" fill="hold">
                            <p:stCondLst>
                              <p:cond delay="500"/>
                            </p:stCondLst>
                            <p:childTnLst>
                              <p:par>
                                <p:cTn id="14" presetID="18" presetClass="entr" presetSubtype="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strips(downRight)">
                                      <p:cBhvr>
                                        <p:cTn id="16" dur="500"/>
                                        <p:tgtEl>
                                          <p:spTgt spid="6"/>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500"/>
                                        <p:tgtEl>
                                          <p:spTgt spid="12"/>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left)">
                                      <p:cBhvr>
                                        <p:cTn id="28" dur="500"/>
                                        <p:tgtEl>
                                          <p:spTgt spid="15"/>
                                        </p:tgtEl>
                                      </p:cBhvr>
                                    </p:animEffect>
                                  </p:childTnLst>
                                </p:cTn>
                              </p:par>
                            </p:childTnLst>
                          </p:cTn>
                        </p:par>
                        <p:par>
                          <p:cTn id="29" fill="hold">
                            <p:stCondLst>
                              <p:cond delay="2500"/>
                            </p:stCondLst>
                            <p:childTnLst>
                              <p:par>
                                <p:cTn id="30" presetID="22" presetClass="entr" presetSubtype="8"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wipe(left)">
                                      <p:cBhvr>
                                        <p:cTn id="3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2" grpId="0"/>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Monopoly versus Competition</a:t>
            </a:r>
          </a:p>
        </p:txBody>
      </p:sp>
      <p:sp>
        <p:nvSpPr>
          <p:cNvPr id="3" name="Content Placeholder 2"/>
          <p:cNvSpPr>
            <a:spLocks noGrp="1"/>
          </p:cNvSpPr>
          <p:nvPr>
            <p:ph idx="1"/>
          </p:nvPr>
        </p:nvSpPr>
        <p:spPr/>
        <p:txBody>
          <a:bodyPr/>
          <a:lstStyle/>
          <a:p>
            <a:r>
              <a:rPr lang="en-US" dirty="0"/>
              <a:t>Competitive firm</a:t>
            </a:r>
          </a:p>
          <a:p>
            <a:pPr lvl="1"/>
            <a:r>
              <a:rPr lang="en-US" dirty="0"/>
              <a:t>Price taker</a:t>
            </a:r>
          </a:p>
          <a:p>
            <a:pPr lvl="1"/>
            <a:r>
              <a:rPr lang="en-US" dirty="0"/>
              <a:t>Small, one of many</a:t>
            </a:r>
          </a:p>
          <a:p>
            <a:pPr lvl="1"/>
            <a:r>
              <a:rPr lang="en-US" dirty="0"/>
              <a:t>Faces individual demand at </a:t>
            </a:r>
            <a:r>
              <a:rPr lang="en-US" b="1" i="1" dirty="0"/>
              <a:t>P</a:t>
            </a:r>
            <a:r>
              <a:rPr lang="en-US" dirty="0"/>
              <a:t>: perfectly elastic demand</a:t>
            </a:r>
          </a:p>
          <a:p>
            <a:r>
              <a:rPr lang="en-US" dirty="0"/>
              <a:t>Monopoly firm</a:t>
            </a:r>
          </a:p>
          <a:p>
            <a:pPr lvl="1"/>
            <a:r>
              <a:rPr lang="en-US" dirty="0"/>
              <a:t>Price maker, market power</a:t>
            </a:r>
          </a:p>
          <a:p>
            <a:pPr lvl="1"/>
            <a:r>
              <a:rPr lang="en-US" dirty="0"/>
              <a:t>Faces the entire market demand: downward sloping demand</a:t>
            </a:r>
          </a:p>
          <a:p>
            <a:pPr lvl="1"/>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8</a:t>
            </a:fld>
            <a:endParaRPr lang="en-US"/>
          </a:p>
        </p:txBody>
      </p:sp>
      <p:sp>
        <p:nvSpPr>
          <p:cNvPr id="5" name="Footer Placeholder 4">
            <a:extLst>
              <a:ext uri="{FF2B5EF4-FFF2-40B4-BE49-F238E27FC236}">
                <a16:creationId xmlns:a16="http://schemas.microsoft.com/office/drawing/2014/main" id="{A59C41A7-26BB-2CC5-5CAA-F76413719D68}"/>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95596271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100" dirty="0">
                <a:solidFill>
                  <a:srgbClr val="AE1221"/>
                </a:solidFill>
              </a:rPr>
              <a:t>Demand Curves: Competitive Firm vs. Monopoly</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9</a:t>
            </a:fld>
            <a:endParaRPr lang="en-US" dirty="0"/>
          </a:p>
        </p:txBody>
      </p:sp>
      <p:sp>
        <p:nvSpPr>
          <p:cNvPr id="3" name="Text Placeholder 2"/>
          <p:cNvSpPr>
            <a:spLocks noGrp="1"/>
          </p:cNvSpPr>
          <p:nvPr>
            <p:ph idx="12"/>
          </p:nvPr>
        </p:nvSpPr>
        <p:spPr>
          <a:xfrm>
            <a:off x="461962" y="4572000"/>
            <a:ext cx="3957638" cy="1828800"/>
          </a:xfrm>
        </p:spPr>
        <p:txBody>
          <a:bodyPr>
            <a:normAutofit/>
          </a:bodyPr>
          <a:lstStyle/>
          <a:p>
            <a:pPr marL="0" indent="0">
              <a:buNone/>
            </a:pPr>
            <a:r>
              <a:rPr lang="en-US" sz="2800" dirty="0"/>
              <a:t>The firm can increase </a:t>
            </a:r>
            <a:r>
              <a:rPr lang="en-US" sz="2800" b="1" i="1" dirty="0"/>
              <a:t>Q</a:t>
            </a:r>
            <a:r>
              <a:rPr lang="en-US" sz="2800" dirty="0"/>
              <a:t> without lowering </a:t>
            </a:r>
            <a:r>
              <a:rPr lang="en-US" sz="2800" b="1" i="1" dirty="0"/>
              <a:t>P</a:t>
            </a:r>
            <a:r>
              <a:rPr lang="en-US" sz="2800" dirty="0"/>
              <a:t>, so </a:t>
            </a:r>
            <a:r>
              <a:rPr lang="en-US" sz="2800" b="1" i="1" dirty="0"/>
              <a:t>MR</a:t>
            </a:r>
            <a:r>
              <a:rPr lang="en-US" sz="2800" dirty="0"/>
              <a:t> = </a:t>
            </a:r>
            <a:r>
              <a:rPr lang="en-US" sz="2800" b="1" i="1" dirty="0"/>
              <a:t>P</a:t>
            </a:r>
            <a:r>
              <a:rPr lang="en-US" sz="2800" dirty="0"/>
              <a:t>  for the competitive firm. </a:t>
            </a:r>
          </a:p>
        </p:txBody>
      </p:sp>
      <p:sp>
        <p:nvSpPr>
          <p:cNvPr id="28" name="Content Placeholder 27"/>
          <p:cNvSpPr>
            <a:spLocks noGrp="1"/>
          </p:cNvSpPr>
          <p:nvPr>
            <p:ph idx="4294967295"/>
          </p:nvPr>
        </p:nvSpPr>
        <p:spPr>
          <a:xfrm>
            <a:off x="5068887" y="4572000"/>
            <a:ext cx="3770313" cy="1524000"/>
          </a:xfrm>
        </p:spPr>
        <p:txBody>
          <a:bodyPr>
            <a:noAutofit/>
          </a:bodyPr>
          <a:lstStyle/>
          <a:p>
            <a:pPr marL="0" indent="0">
              <a:buNone/>
            </a:pPr>
            <a:r>
              <a:rPr lang="en-US" sz="2800" dirty="0"/>
              <a:t>To sell a larger </a:t>
            </a:r>
            <a:r>
              <a:rPr lang="en-US" sz="2800" b="1" i="1" dirty="0"/>
              <a:t>Q</a:t>
            </a:r>
            <a:r>
              <a:rPr lang="en-US" sz="2800" dirty="0"/>
              <a:t>, the firm must reduce </a:t>
            </a:r>
            <a:r>
              <a:rPr lang="en-US" sz="2800" b="1" i="1" dirty="0"/>
              <a:t>P.</a:t>
            </a:r>
            <a:r>
              <a:rPr lang="en-US" sz="2800" dirty="0"/>
              <a:t>  Thus, </a:t>
            </a:r>
            <a:r>
              <a:rPr lang="en-US" sz="2800" b="1" i="1" dirty="0">
                <a:solidFill>
                  <a:srgbClr val="C00000"/>
                </a:solidFill>
              </a:rPr>
              <a:t>MR</a:t>
            </a:r>
            <a:r>
              <a:rPr lang="en-US" sz="2800" dirty="0">
                <a:solidFill>
                  <a:srgbClr val="C00000"/>
                </a:solidFill>
              </a:rPr>
              <a:t> ≠ </a:t>
            </a:r>
            <a:r>
              <a:rPr lang="en-US" sz="2800" b="1" i="1" dirty="0">
                <a:solidFill>
                  <a:srgbClr val="C00000"/>
                </a:solidFill>
              </a:rPr>
              <a:t>P</a:t>
            </a:r>
            <a:r>
              <a:rPr lang="en-US" sz="2800" b="1" i="1" dirty="0">
                <a:solidFill>
                  <a:schemeClr val="tx1"/>
                </a:solidFill>
              </a:rPr>
              <a:t>.</a:t>
            </a:r>
          </a:p>
          <a:p>
            <a:pPr marL="0" indent="0">
              <a:buNone/>
            </a:pPr>
            <a:endParaRPr lang="en-US" sz="3200" dirty="0">
              <a:solidFill>
                <a:schemeClr val="tx1"/>
              </a:solidFill>
            </a:endParaRPr>
          </a:p>
        </p:txBody>
      </p:sp>
      <p:grpSp>
        <p:nvGrpSpPr>
          <p:cNvPr id="30" name="Group 29"/>
          <p:cNvGrpSpPr/>
          <p:nvPr/>
        </p:nvGrpSpPr>
        <p:grpSpPr>
          <a:xfrm>
            <a:off x="309562" y="990600"/>
            <a:ext cx="3817938" cy="3476625"/>
            <a:chOff x="309562" y="990600"/>
            <a:chExt cx="3817938" cy="3476625"/>
          </a:xfrm>
        </p:grpSpPr>
        <p:grpSp>
          <p:nvGrpSpPr>
            <p:cNvPr id="6" name="Group 5"/>
            <p:cNvGrpSpPr/>
            <p:nvPr/>
          </p:nvGrpSpPr>
          <p:grpSpPr>
            <a:xfrm>
              <a:off x="309562" y="990600"/>
              <a:ext cx="3817938" cy="3476625"/>
              <a:chOff x="4864100" y="2624138"/>
              <a:chExt cx="3817938" cy="3476625"/>
            </a:xfrm>
          </p:grpSpPr>
          <p:grpSp>
            <p:nvGrpSpPr>
              <p:cNvPr id="7" name="Group 14"/>
              <p:cNvGrpSpPr>
                <a:grpSpLocks/>
              </p:cNvGrpSpPr>
              <p:nvPr/>
            </p:nvGrpSpPr>
            <p:grpSpPr bwMode="auto">
              <a:xfrm>
                <a:off x="5100638" y="4233863"/>
                <a:ext cx="3255962" cy="381000"/>
                <a:chOff x="3143" y="2506"/>
                <a:chExt cx="2051" cy="240"/>
              </a:xfrm>
            </p:grpSpPr>
            <p:sp>
              <p:nvSpPr>
                <p:cNvPr id="15" name="Line 5"/>
                <p:cNvSpPr>
                  <a:spLocks noChangeShapeType="1"/>
                </p:cNvSpPr>
                <p:nvPr/>
              </p:nvSpPr>
              <p:spPr bwMode="auto">
                <a:xfrm>
                  <a:off x="3143" y="2630"/>
                  <a:ext cx="1827" cy="0"/>
                </a:xfrm>
                <a:prstGeom prst="line">
                  <a:avLst/>
                </a:prstGeom>
                <a:noFill/>
                <a:ln w="28575">
                  <a:solidFill>
                    <a:srgbClr val="333399"/>
                  </a:solidFill>
                  <a:round/>
                  <a:headEnd/>
                  <a:tailEnd/>
                </a:ln>
              </p:spPr>
              <p:txBody>
                <a:bodyPr/>
                <a:lstStyle/>
                <a:p>
                  <a:endParaRPr lang="en-US">
                    <a:latin typeface="Arial"/>
                    <a:cs typeface="Arial"/>
                  </a:endParaRPr>
                </a:p>
              </p:txBody>
            </p:sp>
            <p:sp>
              <p:nvSpPr>
                <p:cNvPr id="16" name="Text Box 7"/>
                <p:cNvSpPr txBox="1">
                  <a:spLocks noChangeArrowheads="1"/>
                </p:cNvSpPr>
                <p:nvPr/>
              </p:nvSpPr>
              <p:spPr bwMode="auto">
                <a:xfrm>
                  <a:off x="5004" y="2506"/>
                  <a:ext cx="190" cy="240"/>
                </a:xfrm>
                <a:prstGeom prst="rect">
                  <a:avLst/>
                </a:prstGeom>
                <a:noFill/>
                <a:ln w="9525">
                  <a:noFill/>
                  <a:miter lim="800000"/>
                  <a:headEnd/>
                  <a:tailEnd/>
                </a:ln>
              </p:spPr>
              <p:txBody>
                <a:bodyPr lIns="0" tIns="0" rIns="0" bIns="0">
                  <a:spAutoFit/>
                </a:bodyPr>
                <a:lstStyle/>
                <a:p>
                  <a:pPr>
                    <a:spcBef>
                      <a:spcPct val="50000"/>
                    </a:spcBef>
                  </a:pPr>
                  <a:r>
                    <a:rPr lang="en-US" sz="2500" b="1" i="1">
                      <a:latin typeface="Arial"/>
                      <a:cs typeface="Arial"/>
                    </a:rPr>
                    <a:t>D</a:t>
                  </a:r>
                </a:p>
              </p:txBody>
            </p:sp>
          </p:grpSp>
          <p:grpSp>
            <p:nvGrpSpPr>
              <p:cNvPr id="8" name="Group 17"/>
              <p:cNvGrpSpPr>
                <a:grpSpLocks/>
              </p:cNvGrpSpPr>
              <p:nvPr/>
            </p:nvGrpSpPr>
            <p:grpSpPr bwMode="auto">
              <a:xfrm>
                <a:off x="4864100" y="2728913"/>
                <a:ext cx="3817938" cy="3371850"/>
                <a:chOff x="2994" y="1558"/>
                <a:chExt cx="2405" cy="2124"/>
              </a:xfrm>
            </p:grpSpPr>
            <p:grpSp>
              <p:nvGrpSpPr>
                <p:cNvPr id="10" name="Group 9"/>
                <p:cNvGrpSpPr>
                  <a:grpSpLocks/>
                </p:cNvGrpSpPr>
                <p:nvPr/>
              </p:nvGrpSpPr>
              <p:grpSpPr bwMode="auto">
                <a:xfrm>
                  <a:off x="3142" y="1828"/>
                  <a:ext cx="1945" cy="1713"/>
                  <a:chOff x="1489" y="785"/>
                  <a:chExt cx="3650" cy="2492"/>
                </a:xfrm>
              </p:grpSpPr>
              <p:sp>
                <p:nvSpPr>
                  <p:cNvPr id="13" name="Line 10"/>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4" name="Line 11"/>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1" name="Text Box 6"/>
                <p:cNvSpPr txBox="1">
                  <a:spLocks noChangeArrowheads="1"/>
                </p:cNvSpPr>
                <p:nvPr/>
              </p:nvSpPr>
              <p:spPr bwMode="auto">
                <a:xfrm>
                  <a:off x="2994" y="1558"/>
                  <a:ext cx="297" cy="298"/>
                </a:xfrm>
                <a:prstGeom prst="rect">
                  <a:avLst/>
                </a:prstGeom>
                <a:noFill/>
                <a:ln w="9525">
                  <a:noFill/>
                  <a:miter lim="800000"/>
                  <a:headEnd/>
                  <a:tailEnd/>
                </a:ln>
              </p:spPr>
              <p:txBody>
                <a:bodyPr>
                  <a:spAutoFit/>
                </a:bodyPr>
                <a:lstStyle/>
                <a:p>
                  <a:pPr algn="ctr">
                    <a:spcBef>
                      <a:spcPct val="50000"/>
                    </a:spcBef>
                  </a:pPr>
                  <a:r>
                    <a:rPr lang="en-US" sz="2500" b="1" i="1">
                      <a:latin typeface="Arial"/>
                      <a:cs typeface="Arial"/>
                    </a:rPr>
                    <a:t>P</a:t>
                  </a:r>
                  <a:endParaRPr lang="en-US" sz="2500" b="1" baseline="-25000">
                    <a:latin typeface="Arial"/>
                    <a:cs typeface="Arial"/>
                  </a:endParaRPr>
                </a:p>
              </p:txBody>
            </p:sp>
            <p:sp>
              <p:nvSpPr>
                <p:cNvPr id="12" name="Text Box 12"/>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grpSp>
          <p:sp>
            <p:nvSpPr>
              <p:cNvPr id="9" name="Text Box 16"/>
              <p:cNvSpPr txBox="1">
                <a:spLocks noChangeArrowheads="1"/>
              </p:cNvSpPr>
              <p:nvPr/>
            </p:nvSpPr>
            <p:spPr bwMode="auto">
              <a:xfrm>
                <a:off x="5456238" y="2624138"/>
                <a:ext cx="2943225" cy="854075"/>
              </a:xfrm>
              <a:prstGeom prst="rect">
                <a:avLst/>
              </a:prstGeom>
              <a:noFill/>
              <a:ln w="9525">
                <a:noFill/>
                <a:miter lim="800000"/>
                <a:headEnd/>
                <a:tailEnd/>
              </a:ln>
            </p:spPr>
            <p:txBody>
              <a:bodyPr>
                <a:spAutoFit/>
              </a:bodyPr>
              <a:lstStyle/>
              <a:p>
                <a:pPr algn="ctr">
                  <a:spcBef>
                    <a:spcPct val="50000"/>
                  </a:spcBef>
                </a:pPr>
                <a:r>
                  <a:rPr lang="en-US" sz="2500" u="sng" dirty="0">
                    <a:latin typeface="Arial"/>
                    <a:cs typeface="Arial"/>
                  </a:rPr>
                  <a:t>A competitive firm’s demand curve</a:t>
                </a:r>
                <a:endParaRPr lang="en-US" sz="2500" dirty="0">
                  <a:latin typeface="Arial"/>
                  <a:cs typeface="Arial"/>
                </a:endParaRPr>
              </a:p>
            </p:txBody>
          </p:sp>
        </p:grpSp>
        <p:sp>
          <p:nvSpPr>
            <p:cNvPr id="29" name="TextBox 28"/>
            <p:cNvSpPr txBox="1"/>
            <p:nvPr/>
          </p:nvSpPr>
          <p:spPr>
            <a:xfrm>
              <a:off x="1379876" y="2286000"/>
              <a:ext cx="1213024" cy="461665"/>
            </a:xfrm>
            <a:prstGeom prst="rect">
              <a:avLst/>
            </a:prstGeom>
            <a:noFill/>
          </p:spPr>
          <p:txBody>
            <a:bodyPr wrap="none" rtlCol="0">
              <a:spAutoFit/>
            </a:bodyPr>
            <a:lstStyle/>
            <a:p>
              <a:r>
                <a:rPr lang="en-US" sz="2400" b="1" i="1" dirty="0"/>
                <a:t>P</a:t>
              </a:r>
              <a:r>
                <a:rPr lang="en-US" sz="2400" dirty="0"/>
                <a:t> = </a:t>
              </a:r>
              <a:r>
                <a:rPr lang="en-US" sz="2400" b="1" i="1" dirty="0"/>
                <a:t>MR</a:t>
              </a:r>
            </a:p>
          </p:txBody>
        </p:sp>
      </p:grpSp>
      <p:grpSp>
        <p:nvGrpSpPr>
          <p:cNvPr id="32" name="Group 31"/>
          <p:cNvGrpSpPr/>
          <p:nvPr/>
        </p:nvGrpSpPr>
        <p:grpSpPr>
          <a:xfrm>
            <a:off x="5021262" y="990600"/>
            <a:ext cx="3817938" cy="3476625"/>
            <a:chOff x="5021262" y="990600"/>
            <a:chExt cx="3817938" cy="3476625"/>
          </a:xfrm>
        </p:grpSpPr>
        <p:grpSp>
          <p:nvGrpSpPr>
            <p:cNvPr id="17" name="Group 16"/>
            <p:cNvGrpSpPr/>
            <p:nvPr/>
          </p:nvGrpSpPr>
          <p:grpSpPr>
            <a:xfrm>
              <a:off x="5021262" y="990600"/>
              <a:ext cx="3817938" cy="3476625"/>
              <a:chOff x="4864100" y="2624138"/>
              <a:chExt cx="3817938" cy="3476625"/>
            </a:xfrm>
          </p:grpSpPr>
          <p:grpSp>
            <p:nvGrpSpPr>
              <p:cNvPr id="18" name="Group 14"/>
              <p:cNvGrpSpPr>
                <a:grpSpLocks/>
              </p:cNvGrpSpPr>
              <p:nvPr/>
            </p:nvGrpSpPr>
            <p:grpSpPr bwMode="auto">
              <a:xfrm>
                <a:off x="5356225" y="3473450"/>
                <a:ext cx="2671763" cy="2097088"/>
                <a:chOff x="3374" y="2188"/>
                <a:chExt cx="1683" cy="1321"/>
              </a:xfrm>
            </p:grpSpPr>
            <p:sp>
              <p:nvSpPr>
                <p:cNvPr id="26" name="Line 5"/>
                <p:cNvSpPr>
                  <a:spLocks noChangeShapeType="1"/>
                </p:cNvSpPr>
                <p:nvPr/>
              </p:nvSpPr>
              <p:spPr bwMode="auto">
                <a:xfrm>
                  <a:off x="3374" y="2188"/>
                  <a:ext cx="1485" cy="1152"/>
                </a:xfrm>
                <a:prstGeom prst="line">
                  <a:avLst/>
                </a:prstGeom>
                <a:noFill/>
                <a:ln w="28575">
                  <a:solidFill>
                    <a:srgbClr val="333399"/>
                  </a:solidFill>
                  <a:round/>
                  <a:headEnd/>
                  <a:tailEnd/>
                </a:ln>
              </p:spPr>
              <p:txBody>
                <a:bodyPr/>
                <a:lstStyle/>
                <a:p>
                  <a:endParaRPr lang="en-US">
                    <a:latin typeface="Arial"/>
                    <a:cs typeface="Arial"/>
                  </a:endParaRPr>
                </a:p>
              </p:txBody>
            </p:sp>
            <p:sp>
              <p:nvSpPr>
                <p:cNvPr id="27" name="Text Box 6"/>
                <p:cNvSpPr txBox="1">
                  <a:spLocks noChangeArrowheads="1"/>
                </p:cNvSpPr>
                <p:nvPr/>
              </p:nvSpPr>
              <p:spPr bwMode="auto">
                <a:xfrm>
                  <a:off x="4867" y="3269"/>
                  <a:ext cx="190" cy="240"/>
                </a:xfrm>
                <a:prstGeom prst="rect">
                  <a:avLst/>
                </a:prstGeom>
                <a:noFill/>
                <a:ln w="9525">
                  <a:noFill/>
                  <a:miter lim="800000"/>
                  <a:headEnd/>
                  <a:tailEnd/>
                </a:ln>
              </p:spPr>
              <p:txBody>
                <a:bodyPr lIns="0" tIns="0" rIns="0" bIns="0">
                  <a:spAutoFit/>
                </a:bodyPr>
                <a:lstStyle/>
                <a:p>
                  <a:pPr>
                    <a:spcBef>
                      <a:spcPct val="50000"/>
                    </a:spcBef>
                  </a:pPr>
                  <a:r>
                    <a:rPr lang="en-US" sz="2500" b="1" i="1">
                      <a:latin typeface="Arial"/>
                      <a:cs typeface="Arial"/>
                    </a:rPr>
                    <a:t>D</a:t>
                  </a:r>
                </a:p>
              </p:txBody>
            </p:sp>
          </p:grpSp>
          <p:grpSp>
            <p:nvGrpSpPr>
              <p:cNvPr id="19" name="Group 7"/>
              <p:cNvGrpSpPr>
                <a:grpSpLocks/>
              </p:cNvGrpSpPr>
              <p:nvPr/>
            </p:nvGrpSpPr>
            <p:grpSpPr bwMode="auto">
              <a:xfrm>
                <a:off x="4864100" y="2728913"/>
                <a:ext cx="3817938" cy="3371850"/>
                <a:chOff x="2994" y="1558"/>
                <a:chExt cx="2405" cy="2124"/>
              </a:xfrm>
            </p:grpSpPr>
            <p:grpSp>
              <p:nvGrpSpPr>
                <p:cNvPr id="21" name="Group 8"/>
                <p:cNvGrpSpPr>
                  <a:grpSpLocks/>
                </p:cNvGrpSpPr>
                <p:nvPr/>
              </p:nvGrpSpPr>
              <p:grpSpPr bwMode="auto">
                <a:xfrm>
                  <a:off x="3142" y="1828"/>
                  <a:ext cx="1945" cy="1713"/>
                  <a:chOff x="1489" y="785"/>
                  <a:chExt cx="3650" cy="2492"/>
                </a:xfrm>
              </p:grpSpPr>
              <p:sp>
                <p:nvSpPr>
                  <p:cNvPr id="24"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25"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22" name="Text Box 11"/>
                <p:cNvSpPr txBox="1">
                  <a:spLocks noChangeArrowheads="1"/>
                </p:cNvSpPr>
                <p:nvPr/>
              </p:nvSpPr>
              <p:spPr bwMode="auto">
                <a:xfrm>
                  <a:off x="2994" y="1558"/>
                  <a:ext cx="297" cy="298"/>
                </a:xfrm>
                <a:prstGeom prst="rect">
                  <a:avLst/>
                </a:prstGeom>
                <a:noFill/>
                <a:ln w="9525">
                  <a:noFill/>
                  <a:miter lim="800000"/>
                  <a:headEnd/>
                  <a:tailEnd/>
                </a:ln>
              </p:spPr>
              <p:txBody>
                <a:bodyPr>
                  <a:spAutoFit/>
                </a:bodyPr>
                <a:lstStyle/>
                <a:p>
                  <a:pPr algn="ctr">
                    <a:spcBef>
                      <a:spcPct val="50000"/>
                    </a:spcBef>
                  </a:pPr>
                  <a:r>
                    <a:rPr lang="en-US" sz="2500" b="1" i="1">
                      <a:latin typeface="Arial"/>
                      <a:cs typeface="Arial"/>
                    </a:rPr>
                    <a:t>P</a:t>
                  </a:r>
                  <a:endParaRPr lang="en-US" sz="2500" b="1" baseline="-25000">
                    <a:latin typeface="Arial"/>
                    <a:cs typeface="Arial"/>
                  </a:endParaRPr>
                </a:p>
              </p:txBody>
            </p:sp>
            <p:sp>
              <p:nvSpPr>
                <p:cNvPr id="23" name="Text Box 12"/>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grpSp>
          <p:sp>
            <p:nvSpPr>
              <p:cNvPr id="20" name="Text Box 13"/>
              <p:cNvSpPr txBox="1">
                <a:spLocks noChangeArrowheads="1"/>
              </p:cNvSpPr>
              <p:nvPr/>
            </p:nvSpPr>
            <p:spPr bwMode="auto">
              <a:xfrm>
                <a:off x="5456238" y="2624138"/>
                <a:ext cx="2943225" cy="854075"/>
              </a:xfrm>
              <a:prstGeom prst="rect">
                <a:avLst/>
              </a:prstGeom>
              <a:noFill/>
              <a:ln w="9525">
                <a:noFill/>
                <a:miter lim="800000"/>
                <a:headEnd/>
                <a:tailEnd/>
              </a:ln>
            </p:spPr>
            <p:txBody>
              <a:bodyPr>
                <a:spAutoFit/>
              </a:bodyPr>
              <a:lstStyle/>
              <a:p>
                <a:pPr algn="ctr">
                  <a:spcBef>
                    <a:spcPct val="50000"/>
                  </a:spcBef>
                </a:pPr>
                <a:r>
                  <a:rPr lang="en-US" sz="2500" u="sng" dirty="0">
                    <a:solidFill>
                      <a:srgbClr val="4E519E"/>
                    </a:solidFill>
                    <a:latin typeface="Arial"/>
                    <a:cs typeface="Arial"/>
                  </a:rPr>
                  <a:t>A monopolist’s demand curve</a:t>
                </a:r>
                <a:endParaRPr lang="en-US" sz="2500" dirty="0">
                  <a:solidFill>
                    <a:srgbClr val="4E519E"/>
                  </a:solidFill>
                  <a:latin typeface="Arial"/>
                  <a:cs typeface="Arial"/>
                </a:endParaRPr>
              </a:p>
            </p:txBody>
          </p:sp>
        </p:grpSp>
        <p:sp>
          <p:nvSpPr>
            <p:cNvPr id="31" name="TextBox 30"/>
            <p:cNvSpPr txBox="1"/>
            <p:nvPr/>
          </p:nvSpPr>
          <p:spPr>
            <a:xfrm>
              <a:off x="5486400" y="3048000"/>
              <a:ext cx="2432049" cy="830997"/>
            </a:xfrm>
            <a:prstGeom prst="rect">
              <a:avLst/>
            </a:prstGeom>
            <a:noFill/>
          </p:spPr>
          <p:txBody>
            <a:bodyPr wrap="square" rtlCol="0">
              <a:spAutoFit/>
            </a:bodyPr>
            <a:lstStyle/>
            <a:p>
              <a:r>
                <a:rPr lang="en-US" sz="2400" dirty="0"/>
                <a:t>The market demand curve</a:t>
              </a:r>
            </a:p>
          </p:txBody>
        </p:sp>
      </p:grpSp>
      <p:sp>
        <p:nvSpPr>
          <p:cNvPr id="5" name="Footer Placeholder 4">
            <a:extLst>
              <a:ext uri="{FF2B5EF4-FFF2-40B4-BE49-F238E27FC236}">
                <a16:creationId xmlns:a16="http://schemas.microsoft.com/office/drawing/2014/main" id="{5BA7AA50-D552-D0D0-EBFC-B9086E369937}"/>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3451437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wipe(left)">
                                      <p:cBhvr>
                                        <p:cTn id="16" dur="500"/>
                                        <p:tgtEl>
                                          <p:spTgt spid="3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Effect transition="in" filter="wipe(left)">
                                      <p:cBhvr>
                                        <p:cTn id="20"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1: </a:t>
            </a:r>
            <a:r>
              <a:rPr lang="en-US" dirty="0">
                <a:solidFill>
                  <a:schemeClr val="tx1"/>
                </a:solidFill>
              </a:rPr>
              <a:t>JJ’s Hairdo Revenue</a:t>
            </a:r>
          </a:p>
        </p:txBody>
      </p:sp>
      <p:sp>
        <p:nvSpPr>
          <p:cNvPr id="3" name="Content Placeholder 2"/>
          <p:cNvSpPr>
            <a:spLocks noGrp="1"/>
          </p:cNvSpPr>
          <p:nvPr>
            <p:ph idx="1"/>
          </p:nvPr>
        </p:nvSpPr>
        <p:spPr>
          <a:xfrm>
            <a:off x="152400" y="844550"/>
            <a:ext cx="4072359" cy="5534025"/>
          </a:xfrm>
          <a:prstGeom prst="rect">
            <a:avLst/>
          </a:prstGeom>
        </p:spPr>
        <p:txBody>
          <a:bodyPr>
            <a:normAutofit/>
          </a:bodyPr>
          <a:lstStyle/>
          <a:p>
            <a:pPr marL="0" indent="0">
              <a:buNone/>
            </a:pPr>
            <a:r>
              <a:rPr lang="en-US" sz="2800" dirty="0">
                <a:solidFill>
                  <a:srgbClr val="4E519E"/>
                </a:solidFill>
              </a:rPr>
              <a:t>Jayla and Jaden own the only hair salon in town, “JJ’s hairdo.”</a:t>
            </a:r>
          </a:p>
          <a:p>
            <a:pPr marL="0" indent="0">
              <a:buNone/>
            </a:pPr>
            <a:r>
              <a:rPr lang="en-US" sz="2800" dirty="0"/>
              <a:t>The table shows the market demand for haircuts.   </a:t>
            </a:r>
          </a:p>
          <a:p>
            <a:r>
              <a:rPr lang="en-US" sz="2800" dirty="0">
                <a:solidFill>
                  <a:srgbClr val="4E519E"/>
                </a:solidFill>
              </a:rPr>
              <a:t>Fill in the missing spaces of the table. </a:t>
            </a:r>
          </a:p>
          <a:p>
            <a:r>
              <a:rPr lang="en-US" sz="2800" dirty="0">
                <a:solidFill>
                  <a:srgbClr val="4E519E"/>
                </a:solidFill>
              </a:rPr>
              <a:t>What is the relation between </a:t>
            </a:r>
            <a:r>
              <a:rPr lang="en-US" sz="2800" b="1" i="1" dirty="0">
                <a:solidFill>
                  <a:srgbClr val="4E519E"/>
                </a:solidFill>
              </a:rPr>
              <a:t>P</a:t>
            </a:r>
            <a:r>
              <a:rPr lang="en-US" sz="2800" dirty="0">
                <a:solidFill>
                  <a:srgbClr val="4E519E"/>
                </a:solidFill>
              </a:rPr>
              <a:t> and </a:t>
            </a:r>
            <a:r>
              <a:rPr lang="en-US" sz="2800" b="1" i="1" dirty="0">
                <a:solidFill>
                  <a:srgbClr val="4E519E"/>
                </a:solidFill>
              </a:rPr>
              <a:t>AR</a:t>
            </a:r>
            <a:r>
              <a:rPr lang="en-US" sz="2800" dirty="0">
                <a:solidFill>
                  <a:srgbClr val="4E519E"/>
                </a:solidFill>
              </a:rPr>
              <a:t>?  </a:t>
            </a:r>
          </a:p>
          <a:p>
            <a:r>
              <a:rPr lang="en-US" sz="2800" dirty="0">
                <a:solidFill>
                  <a:srgbClr val="4E519E"/>
                </a:solidFill>
              </a:rPr>
              <a:t>Between </a:t>
            </a:r>
            <a:r>
              <a:rPr lang="en-US" sz="2800" b="1" i="1" dirty="0">
                <a:solidFill>
                  <a:srgbClr val="4E519E"/>
                </a:solidFill>
              </a:rPr>
              <a:t>P</a:t>
            </a:r>
            <a:r>
              <a:rPr lang="en-US" sz="2800" dirty="0">
                <a:solidFill>
                  <a:srgbClr val="4E519E"/>
                </a:solidFill>
              </a:rPr>
              <a:t> and </a:t>
            </a:r>
            <a:r>
              <a:rPr lang="en-US" sz="2800" b="1" i="1" dirty="0">
                <a:solidFill>
                  <a:srgbClr val="4E519E"/>
                </a:solidFill>
              </a:rPr>
              <a:t>MR</a:t>
            </a:r>
            <a:r>
              <a:rPr lang="en-US" sz="2800" dirty="0">
                <a:solidFill>
                  <a:srgbClr val="4E519E"/>
                </a:solidFill>
              </a:rPr>
              <a:t>? </a:t>
            </a:r>
          </a:p>
          <a:p>
            <a:pPr marL="0" indent="0">
              <a:buNone/>
            </a:pPr>
            <a:endParaRPr lang="en-US" sz="2800"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10</a:t>
            </a:fld>
            <a:endParaRPr lang="en-US"/>
          </a:p>
        </p:txBody>
      </p:sp>
      <p:sp>
        <p:nvSpPr>
          <p:cNvPr id="6" name="Rectangle 74"/>
          <p:cNvSpPr>
            <a:spLocks noChangeArrowheads="1"/>
          </p:cNvSpPr>
          <p:nvPr/>
        </p:nvSpPr>
        <p:spPr bwMode="auto">
          <a:xfrm>
            <a:off x="4057650" y="1499312"/>
            <a:ext cx="4779963" cy="4591050"/>
          </a:xfrm>
          <a:prstGeom prst="rect">
            <a:avLst/>
          </a:prstGeom>
          <a:solidFill>
            <a:schemeClr val="bg1"/>
          </a:solidFill>
          <a:ln w="9525">
            <a:noFill/>
            <a:miter lim="800000"/>
            <a:headEnd/>
            <a:tailEnd/>
          </a:ln>
        </p:spPr>
        <p:txBody>
          <a:bodyPr wrap="none" anchor="ctr"/>
          <a:lstStyle/>
          <a:p>
            <a:endParaRPr lang="en-US">
              <a:latin typeface="Arial"/>
              <a:cs typeface="Arial"/>
            </a:endParaRPr>
          </a:p>
        </p:txBody>
      </p:sp>
      <p:sp>
        <p:nvSpPr>
          <p:cNvPr id="15" name="Rectangle 82"/>
          <p:cNvSpPr>
            <a:spLocks noChangeArrowheads="1"/>
          </p:cNvSpPr>
          <p:nvPr/>
        </p:nvSpPr>
        <p:spPr bwMode="auto">
          <a:xfrm>
            <a:off x="7772399" y="1365962"/>
            <a:ext cx="1065213" cy="266700"/>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graphicFrame>
        <p:nvGraphicFramePr>
          <p:cNvPr id="18" name="Table 17"/>
          <p:cNvGraphicFramePr>
            <a:graphicFrameLocks noGrp="1"/>
          </p:cNvGraphicFramePr>
          <p:nvPr>
            <p:extLst>
              <p:ext uri="{D42A27DB-BD31-4B8C-83A1-F6EECF244321}">
                <p14:modId xmlns:p14="http://schemas.microsoft.com/office/powerpoint/2010/main" val="1937482672"/>
              </p:ext>
            </p:extLst>
          </p:nvPr>
        </p:nvGraphicFramePr>
        <p:xfrm>
          <a:off x="4057648" y="914400"/>
          <a:ext cx="4779964" cy="5486400"/>
        </p:xfrm>
        <a:graphic>
          <a:graphicData uri="http://schemas.openxmlformats.org/drawingml/2006/table">
            <a:tbl>
              <a:tblPr firstRow="1" bandRow="1">
                <a:tableStyleId>{5C22544A-7EE6-4342-B048-85BDC9FD1C3A}</a:tableStyleId>
              </a:tblPr>
              <a:tblGrid>
                <a:gridCol w="742952">
                  <a:extLst>
                    <a:ext uri="{9D8B030D-6E8A-4147-A177-3AD203B41FA5}">
                      <a16:colId xmlns:a16="http://schemas.microsoft.com/office/drawing/2014/main" val="20000"/>
                    </a:ext>
                  </a:extLst>
                </a:gridCol>
                <a:gridCol w="865545">
                  <a:extLst>
                    <a:ext uri="{9D8B030D-6E8A-4147-A177-3AD203B41FA5}">
                      <a16:colId xmlns:a16="http://schemas.microsoft.com/office/drawing/2014/main" val="20001"/>
                    </a:ext>
                  </a:extLst>
                </a:gridCol>
                <a:gridCol w="1005784">
                  <a:extLst>
                    <a:ext uri="{9D8B030D-6E8A-4147-A177-3AD203B41FA5}">
                      <a16:colId xmlns:a16="http://schemas.microsoft.com/office/drawing/2014/main" val="20002"/>
                    </a:ext>
                  </a:extLst>
                </a:gridCol>
                <a:gridCol w="1100471">
                  <a:extLst>
                    <a:ext uri="{9D8B030D-6E8A-4147-A177-3AD203B41FA5}">
                      <a16:colId xmlns:a16="http://schemas.microsoft.com/office/drawing/2014/main" val="20003"/>
                    </a:ext>
                  </a:extLst>
                </a:gridCol>
                <a:gridCol w="1065212">
                  <a:extLst>
                    <a:ext uri="{9D8B030D-6E8A-4147-A177-3AD203B41FA5}">
                      <a16:colId xmlns:a16="http://schemas.microsoft.com/office/drawing/2014/main" val="20004"/>
                    </a:ext>
                  </a:extLst>
                </a:gridCol>
              </a:tblGrid>
              <a:tr h="370840">
                <a:tc>
                  <a:txBody>
                    <a:bodyPr/>
                    <a:lstStyle/>
                    <a:p>
                      <a:pPr algn="ctr"/>
                      <a:r>
                        <a:rPr lang="en-US" sz="2400" i="1" dirty="0">
                          <a:solidFill>
                            <a:schemeClr val="tx1"/>
                          </a:solidFill>
                          <a:latin typeface="+mn-lt"/>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i="1" dirty="0">
                          <a:solidFill>
                            <a:schemeClr val="tx1"/>
                          </a:solidFill>
                          <a:latin typeface="+mn-lt"/>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i="1" dirty="0">
                          <a:solidFill>
                            <a:schemeClr val="tx1"/>
                          </a:solidFill>
                          <a:latin typeface="+mn-lt"/>
                        </a:rPr>
                        <a:t>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i="1" dirty="0">
                          <a:solidFill>
                            <a:schemeClr val="tx1"/>
                          </a:solidFill>
                          <a:latin typeface="+mn-lt"/>
                        </a:rPr>
                        <a: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i="1" dirty="0">
                          <a:solidFill>
                            <a:schemeClr val="tx1"/>
                          </a:solidFill>
                          <a:latin typeface="+mn-lt"/>
                        </a:rPr>
                        <a:t>MR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370840">
                <a:tc>
                  <a:txBody>
                    <a:bodyPr/>
                    <a:lstStyle/>
                    <a:p>
                      <a:pPr algn="ctr"/>
                      <a:r>
                        <a:rPr lang="en-US" sz="2400" dirty="0">
                          <a:solidFill>
                            <a:schemeClr val="tx1"/>
                          </a:solidFill>
                          <a:latin typeface="+mn-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dirty="0">
                          <a:solidFill>
                            <a:srgbClr val="000000"/>
                          </a:solidFill>
                          <a:effectLst/>
                          <a:latin typeface="+mn-lt"/>
                        </a:rPr>
                        <a:t>$60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2400" dirty="0">
                          <a:solidFill>
                            <a:schemeClr val="tx1"/>
                          </a:solidFill>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370840">
                <a:tc>
                  <a:txBody>
                    <a:bodyPr/>
                    <a:lstStyle/>
                    <a:p>
                      <a:pPr algn="ctr"/>
                      <a:r>
                        <a:rPr lang="en-US" sz="2400" dirty="0">
                          <a:solidFill>
                            <a:schemeClr val="tx1"/>
                          </a:solidFill>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dirty="0">
                          <a:solidFill>
                            <a:srgbClr val="000000"/>
                          </a:solidFill>
                          <a:effectLst/>
                          <a:latin typeface="+mn-lt"/>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2400" dirty="0">
                          <a:solidFill>
                            <a:schemeClr val="tx1"/>
                          </a:solidFill>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4"/>
                  </a:ext>
                </a:extLst>
              </a:tr>
              <a:tr h="370840">
                <a:tc>
                  <a:txBody>
                    <a:bodyPr/>
                    <a:lstStyle/>
                    <a:p>
                      <a:pPr algn="ctr"/>
                      <a:r>
                        <a:rPr lang="en-US" sz="2400" dirty="0">
                          <a:solidFill>
                            <a:schemeClr val="tx1"/>
                          </a:solidFill>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a:solidFill>
                            <a:srgbClr val="000000"/>
                          </a:solidFill>
                          <a:effectLst/>
                          <a:latin typeface="+mn-lt"/>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pPr algn="ctr"/>
                      <a:r>
                        <a:rPr lang="en-US" sz="2400" dirty="0">
                          <a:solidFill>
                            <a:schemeClr val="tx1"/>
                          </a:solidFill>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6"/>
                  </a:ext>
                </a:extLst>
              </a:tr>
              <a:tr h="370840">
                <a:tc>
                  <a:txBody>
                    <a:bodyPr/>
                    <a:lstStyle/>
                    <a:p>
                      <a:pPr algn="ctr"/>
                      <a:r>
                        <a:rPr lang="en-US" sz="2400" dirty="0">
                          <a:solidFill>
                            <a:schemeClr val="tx1"/>
                          </a:solidFill>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a:solidFill>
                            <a:srgbClr val="000000"/>
                          </a:solidFill>
                          <a:effectLst/>
                          <a:latin typeface="+mn-lt"/>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70840">
                <a:tc>
                  <a:txBody>
                    <a:bodyPr/>
                    <a:lstStyle/>
                    <a:p>
                      <a:pPr algn="ctr"/>
                      <a:r>
                        <a:rPr lang="en-US" sz="2400" dirty="0">
                          <a:solidFill>
                            <a:schemeClr val="tx1"/>
                          </a:solidFill>
                          <a:latin typeface="+mn-l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8"/>
                  </a:ext>
                </a:extLst>
              </a:tr>
              <a:tr h="370840">
                <a:tc>
                  <a:txBody>
                    <a:bodyPr/>
                    <a:lstStyle/>
                    <a:p>
                      <a:pPr algn="ctr"/>
                      <a:r>
                        <a:rPr lang="en-US" sz="2400" dirty="0">
                          <a:solidFill>
                            <a:schemeClr val="tx1"/>
                          </a:solidFill>
                          <a:latin typeface="+mn-l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a:solidFill>
                            <a:srgbClr val="000000"/>
                          </a:solidFill>
                          <a:effectLst/>
                          <a:latin typeface="+mn-lt"/>
                        </a:rPr>
                        <a:t>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370840">
                <a:tc>
                  <a:txBody>
                    <a:bodyPr/>
                    <a:lstStyle/>
                    <a:p>
                      <a:pPr algn="ctr"/>
                      <a:r>
                        <a:rPr lang="en-US" sz="2400" dirty="0">
                          <a:solidFill>
                            <a:schemeClr val="tx1"/>
                          </a:solidFill>
                          <a:latin typeface="+mn-l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10"/>
                  </a:ext>
                </a:extLst>
              </a:tr>
              <a:tr h="370840">
                <a:tc>
                  <a:txBody>
                    <a:bodyPr/>
                    <a:lstStyle/>
                    <a:p>
                      <a:pPr algn="ctr"/>
                      <a:r>
                        <a:rPr lang="en-US" sz="2400" dirty="0">
                          <a:solidFill>
                            <a:schemeClr val="tx1"/>
                          </a:solidFill>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dirty="0">
                          <a:solidFill>
                            <a:srgbClr val="000000"/>
                          </a:solidFill>
                          <a:effectLst/>
                          <a:latin typeface="+mn-lt"/>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292668130"/>
              </p:ext>
            </p:extLst>
          </p:nvPr>
        </p:nvGraphicFramePr>
        <p:xfrm>
          <a:off x="7772400" y="1643774"/>
          <a:ext cx="1065213" cy="4446590"/>
        </p:xfrm>
        <a:graphic>
          <a:graphicData uri="http://schemas.openxmlformats.org/drawingml/2006/table">
            <a:tbl>
              <a:tblPr firstRow="1" bandRow="1">
                <a:tableStyleId>{5C22544A-7EE6-4342-B048-85BDC9FD1C3A}</a:tableStyleId>
              </a:tblPr>
              <a:tblGrid>
                <a:gridCol w="1065213">
                  <a:extLst>
                    <a:ext uri="{9D8B030D-6E8A-4147-A177-3AD203B41FA5}">
                      <a16:colId xmlns:a16="http://schemas.microsoft.com/office/drawing/2014/main" val="20000"/>
                    </a:ext>
                  </a:extLst>
                </a:gridCol>
              </a:tblGrid>
              <a:tr h="444659">
                <a:tc>
                  <a:txBody>
                    <a:bodyPr/>
                    <a:lstStyle/>
                    <a:p>
                      <a:pPr algn="ctr" fontAlgn="b"/>
                      <a:r>
                        <a:rPr lang="en-US" sz="2400" b="0" i="0" u="none" strike="noStrike" dirty="0">
                          <a:solidFill>
                            <a:srgbClr val="000000"/>
                          </a:solidFill>
                          <a:effectLst/>
                          <a:latin typeface="+mn-lt"/>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4659">
                <a:tc>
                  <a:txBody>
                    <a:bodyPr/>
                    <a:lstStyle/>
                    <a:p>
                      <a:pPr algn="ctr" fontAlgn="b"/>
                      <a:r>
                        <a:rPr lang="en-US" sz="2400" b="0" i="0" u="none" strike="noStrike" dirty="0">
                          <a:solidFill>
                            <a:srgbClr val="000000"/>
                          </a:solidFill>
                          <a:effectLst/>
                          <a:latin typeface="+mn-lt"/>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44659">
                <a:tc>
                  <a:txBody>
                    <a:bodyPr/>
                    <a:lstStyle/>
                    <a:p>
                      <a:pPr algn="ctr" fontAlgn="b"/>
                      <a:r>
                        <a:rPr lang="en-US" sz="2400" b="0" i="0" u="none" strike="noStrike">
                          <a:solidFill>
                            <a:srgbClr val="000000"/>
                          </a:solidFill>
                          <a:effectLst/>
                          <a:latin typeface="+mn-lt"/>
                        </a:rPr>
                        <a:t> </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44659">
                <a:tc>
                  <a:txBody>
                    <a:bodyPr/>
                    <a:lstStyle/>
                    <a:p>
                      <a:pPr algn="ctr" fontAlgn="b"/>
                      <a:r>
                        <a:rPr lang="en-US" sz="2400" b="0" i="0" u="none" strike="noStrike" dirty="0">
                          <a:solidFill>
                            <a:srgbClr val="000000"/>
                          </a:solidFill>
                          <a:effectLst/>
                          <a:latin typeface="+mn-lt"/>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44659">
                <a:tc>
                  <a:txBody>
                    <a:bodyPr/>
                    <a:lstStyle/>
                    <a:p>
                      <a:pPr algn="ctr" fontAlgn="b"/>
                      <a:r>
                        <a:rPr lang="en-US" sz="2400" b="0" i="0" u="none" strike="noStrike" dirty="0">
                          <a:solidFill>
                            <a:srgbClr val="000000"/>
                          </a:solidFill>
                          <a:effectLst/>
                          <a:latin typeface="+mn-lt"/>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44659">
                <a:tc>
                  <a:txBody>
                    <a:bodyPr/>
                    <a:lstStyle/>
                    <a:p>
                      <a:pPr algn="ctr" fontAlgn="b"/>
                      <a:r>
                        <a:rPr lang="en-US" sz="2400" b="0" i="0" u="none" strike="noStrike">
                          <a:solidFill>
                            <a:srgbClr val="000000"/>
                          </a:solidFill>
                          <a:effectLst/>
                          <a:latin typeface="+mn-lt"/>
                        </a:rPr>
                        <a:t> </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44659">
                <a:tc>
                  <a:txBody>
                    <a:bodyPr/>
                    <a:lstStyle/>
                    <a:p>
                      <a:pPr algn="ctr" fontAlgn="b"/>
                      <a:r>
                        <a:rPr lang="en-US" sz="2400" b="0" i="0" u="none" strike="noStrike">
                          <a:solidFill>
                            <a:srgbClr val="000000"/>
                          </a:solidFill>
                          <a:effectLst/>
                          <a:latin typeface="+mn-lt"/>
                        </a:rPr>
                        <a:t> </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44659">
                <a:tc>
                  <a:txBody>
                    <a:bodyPr/>
                    <a:lstStyle/>
                    <a:p>
                      <a:pPr algn="ctr" fontAlgn="b"/>
                      <a:r>
                        <a:rPr lang="en-US" sz="2400" b="0" i="0" u="none" strike="noStrike">
                          <a:solidFill>
                            <a:srgbClr val="000000"/>
                          </a:solidFill>
                          <a:effectLst/>
                          <a:latin typeface="+mn-lt"/>
                        </a:rPr>
                        <a:t> </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44659">
                <a:tc>
                  <a:txBody>
                    <a:bodyPr/>
                    <a:lstStyle/>
                    <a:p>
                      <a:pPr algn="ctr" fontAlgn="b"/>
                      <a:r>
                        <a:rPr lang="en-US" sz="2400" b="0" i="0" u="none" strike="noStrike">
                          <a:solidFill>
                            <a:srgbClr val="000000"/>
                          </a:solidFill>
                          <a:effectLst/>
                          <a:latin typeface="+mn-lt"/>
                        </a:rPr>
                        <a:t> </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44659">
                <a:tc>
                  <a:txBody>
                    <a:bodyPr/>
                    <a:lstStyle/>
                    <a:p>
                      <a:pPr algn="ctr" fontAlgn="b"/>
                      <a:r>
                        <a:rPr lang="en-US" sz="2400" b="0" i="0" u="none" strike="noStrike" dirty="0">
                          <a:solidFill>
                            <a:srgbClr val="000000"/>
                          </a:solidFill>
                          <a:effectLst/>
                          <a:latin typeface="+mn-lt"/>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
        <p:nvSpPr>
          <p:cNvPr id="20" name="Rectangle 83"/>
          <p:cNvSpPr>
            <a:spLocks noChangeArrowheads="1"/>
          </p:cNvSpPr>
          <p:nvPr/>
        </p:nvSpPr>
        <p:spPr bwMode="auto">
          <a:xfrm>
            <a:off x="7772399" y="6090362"/>
            <a:ext cx="1065213" cy="271463"/>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sp>
        <p:nvSpPr>
          <p:cNvPr id="5" name="Footer Placeholder 4">
            <a:extLst>
              <a:ext uri="{FF2B5EF4-FFF2-40B4-BE49-F238E27FC236}">
                <a16:creationId xmlns:a16="http://schemas.microsoft.com/office/drawing/2014/main" id="{8A861741-F490-A79B-856B-6F91D34FA2FF}"/>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24795630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1: Answers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11</a:t>
            </a:fld>
            <a:endParaRPr lang="en-US"/>
          </a:p>
        </p:txBody>
      </p:sp>
      <p:sp>
        <p:nvSpPr>
          <p:cNvPr id="3" name="Content Placeholder 2"/>
          <p:cNvSpPr>
            <a:spLocks noGrp="1"/>
          </p:cNvSpPr>
          <p:nvPr>
            <p:ph idx="12"/>
          </p:nvPr>
        </p:nvSpPr>
        <p:spPr>
          <a:xfrm>
            <a:off x="228601" y="914399"/>
            <a:ext cx="3657600" cy="5403851"/>
          </a:xfrm>
          <a:prstGeom prst="rect">
            <a:avLst/>
          </a:prstGeom>
        </p:spPr>
        <p:txBody>
          <a:bodyPr>
            <a:normAutofit/>
          </a:bodyPr>
          <a:lstStyle/>
          <a:p>
            <a:r>
              <a:rPr lang="en-US" sz="3200" b="1" i="1" dirty="0">
                <a:solidFill>
                  <a:srgbClr val="FF0000"/>
                </a:solidFill>
              </a:rPr>
              <a:t>P</a:t>
            </a:r>
            <a:r>
              <a:rPr lang="en-US" sz="3200" dirty="0">
                <a:solidFill>
                  <a:srgbClr val="FF0000"/>
                </a:solidFill>
              </a:rPr>
              <a:t> = </a:t>
            </a:r>
            <a:r>
              <a:rPr lang="en-US" sz="3200" b="1" i="1" dirty="0">
                <a:solidFill>
                  <a:srgbClr val="FF0000"/>
                </a:solidFill>
              </a:rPr>
              <a:t>AR</a:t>
            </a:r>
            <a:r>
              <a:rPr lang="en-US" sz="3200" dirty="0"/>
              <a:t>, </a:t>
            </a:r>
            <a:br>
              <a:rPr lang="en-US" sz="3200" dirty="0"/>
            </a:br>
            <a:r>
              <a:rPr lang="en-US" sz="3200" dirty="0">
                <a:solidFill>
                  <a:srgbClr val="4E519E"/>
                </a:solidFill>
              </a:rPr>
              <a:t>same as for a competitive firm.</a:t>
            </a:r>
          </a:p>
          <a:p>
            <a:endParaRPr lang="en-US" sz="3200" dirty="0"/>
          </a:p>
          <a:p>
            <a:pPr marL="0" indent="0">
              <a:buNone/>
            </a:pPr>
            <a:endParaRPr lang="en-US" sz="3200" dirty="0"/>
          </a:p>
          <a:p>
            <a:r>
              <a:rPr lang="en-US" sz="3200" b="1" i="1" dirty="0">
                <a:solidFill>
                  <a:srgbClr val="FF0000"/>
                </a:solidFill>
              </a:rPr>
              <a:t>MR</a:t>
            </a:r>
            <a:r>
              <a:rPr lang="en-US" sz="3200" dirty="0">
                <a:solidFill>
                  <a:srgbClr val="FF0000"/>
                </a:solidFill>
              </a:rPr>
              <a:t> &lt; P</a:t>
            </a:r>
            <a:r>
              <a:rPr lang="en-US" sz="3200" b="1" i="1" dirty="0"/>
              <a:t>,</a:t>
            </a:r>
            <a:r>
              <a:rPr lang="en-US" sz="3200" dirty="0"/>
              <a:t> </a:t>
            </a:r>
            <a:r>
              <a:rPr lang="en-US" sz="3200" dirty="0">
                <a:solidFill>
                  <a:srgbClr val="4E519E"/>
                </a:solidFill>
              </a:rPr>
              <a:t>whereas </a:t>
            </a:r>
            <a:r>
              <a:rPr lang="en-US" sz="3200" b="1" i="1" dirty="0">
                <a:solidFill>
                  <a:srgbClr val="4E519E"/>
                </a:solidFill>
              </a:rPr>
              <a:t>MR</a:t>
            </a:r>
            <a:r>
              <a:rPr lang="en-US" sz="3200" dirty="0">
                <a:solidFill>
                  <a:srgbClr val="4E519E"/>
                </a:solidFill>
              </a:rPr>
              <a:t> = </a:t>
            </a:r>
            <a:r>
              <a:rPr lang="en-US" sz="3200" b="1" i="1" dirty="0">
                <a:solidFill>
                  <a:srgbClr val="4E519E"/>
                </a:solidFill>
              </a:rPr>
              <a:t>P</a:t>
            </a:r>
            <a:r>
              <a:rPr lang="en-US" sz="3200" dirty="0">
                <a:solidFill>
                  <a:srgbClr val="4E519E"/>
                </a:solidFill>
              </a:rPr>
              <a:t> for a competitive firm. </a:t>
            </a:r>
          </a:p>
          <a:p>
            <a:endParaRPr lang="en-US" sz="3200" dirty="0"/>
          </a:p>
        </p:txBody>
      </p:sp>
      <p:sp>
        <p:nvSpPr>
          <p:cNvPr id="6" name="Rectangle 74"/>
          <p:cNvSpPr>
            <a:spLocks noChangeArrowheads="1"/>
          </p:cNvSpPr>
          <p:nvPr/>
        </p:nvSpPr>
        <p:spPr bwMode="auto">
          <a:xfrm>
            <a:off x="4057650" y="1531938"/>
            <a:ext cx="4779963" cy="4591050"/>
          </a:xfrm>
          <a:prstGeom prst="rect">
            <a:avLst/>
          </a:prstGeom>
          <a:solidFill>
            <a:schemeClr val="bg1"/>
          </a:solidFill>
          <a:ln w="9525">
            <a:noFill/>
            <a:miter lim="800000"/>
            <a:headEnd/>
            <a:tailEnd/>
          </a:ln>
        </p:spPr>
        <p:txBody>
          <a:bodyPr wrap="none" anchor="ctr"/>
          <a:lstStyle/>
          <a:p>
            <a:endParaRPr lang="en-US">
              <a:latin typeface="Arial"/>
              <a:cs typeface="Arial"/>
            </a:endParaRPr>
          </a:p>
        </p:txBody>
      </p:sp>
      <p:sp>
        <p:nvSpPr>
          <p:cNvPr id="15" name="Rectangle 82"/>
          <p:cNvSpPr>
            <a:spLocks noChangeArrowheads="1"/>
          </p:cNvSpPr>
          <p:nvPr/>
        </p:nvSpPr>
        <p:spPr bwMode="auto">
          <a:xfrm>
            <a:off x="7772399" y="1398588"/>
            <a:ext cx="1065213" cy="266700"/>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graphicFrame>
        <p:nvGraphicFramePr>
          <p:cNvPr id="18" name="Table 17"/>
          <p:cNvGraphicFramePr>
            <a:graphicFrameLocks noGrp="1"/>
          </p:cNvGraphicFramePr>
          <p:nvPr>
            <p:extLst>
              <p:ext uri="{D42A27DB-BD31-4B8C-83A1-F6EECF244321}">
                <p14:modId xmlns:p14="http://schemas.microsoft.com/office/powerpoint/2010/main" val="1165586117"/>
              </p:ext>
            </p:extLst>
          </p:nvPr>
        </p:nvGraphicFramePr>
        <p:xfrm>
          <a:off x="4057648" y="914400"/>
          <a:ext cx="4779964" cy="5486400"/>
        </p:xfrm>
        <a:graphic>
          <a:graphicData uri="http://schemas.openxmlformats.org/drawingml/2006/table">
            <a:tbl>
              <a:tblPr firstRow="1" bandRow="1">
                <a:tableStyleId>{5C22544A-7EE6-4342-B048-85BDC9FD1C3A}</a:tableStyleId>
              </a:tblPr>
              <a:tblGrid>
                <a:gridCol w="742952">
                  <a:extLst>
                    <a:ext uri="{9D8B030D-6E8A-4147-A177-3AD203B41FA5}">
                      <a16:colId xmlns:a16="http://schemas.microsoft.com/office/drawing/2014/main" val="20000"/>
                    </a:ext>
                  </a:extLst>
                </a:gridCol>
                <a:gridCol w="865545">
                  <a:extLst>
                    <a:ext uri="{9D8B030D-6E8A-4147-A177-3AD203B41FA5}">
                      <a16:colId xmlns:a16="http://schemas.microsoft.com/office/drawing/2014/main" val="20001"/>
                    </a:ext>
                  </a:extLst>
                </a:gridCol>
                <a:gridCol w="1005784">
                  <a:extLst>
                    <a:ext uri="{9D8B030D-6E8A-4147-A177-3AD203B41FA5}">
                      <a16:colId xmlns:a16="http://schemas.microsoft.com/office/drawing/2014/main" val="20002"/>
                    </a:ext>
                  </a:extLst>
                </a:gridCol>
                <a:gridCol w="1100471">
                  <a:extLst>
                    <a:ext uri="{9D8B030D-6E8A-4147-A177-3AD203B41FA5}">
                      <a16:colId xmlns:a16="http://schemas.microsoft.com/office/drawing/2014/main" val="20003"/>
                    </a:ext>
                  </a:extLst>
                </a:gridCol>
                <a:gridCol w="1065212">
                  <a:extLst>
                    <a:ext uri="{9D8B030D-6E8A-4147-A177-3AD203B41FA5}">
                      <a16:colId xmlns:a16="http://schemas.microsoft.com/office/drawing/2014/main" val="20004"/>
                    </a:ext>
                  </a:extLst>
                </a:gridCol>
              </a:tblGrid>
              <a:tr h="370840">
                <a:tc>
                  <a:txBody>
                    <a:bodyPr/>
                    <a:lstStyle/>
                    <a:p>
                      <a:pPr algn="ctr"/>
                      <a:r>
                        <a:rPr lang="en-US" sz="2400" i="1" dirty="0">
                          <a:solidFill>
                            <a:schemeClr val="tx1"/>
                          </a:solidFill>
                          <a:latin typeface="+mn-lt"/>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i="1" dirty="0">
                          <a:solidFill>
                            <a:schemeClr val="tx1"/>
                          </a:solidFill>
                          <a:latin typeface="+mn-lt"/>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i="1" dirty="0">
                          <a:solidFill>
                            <a:schemeClr val="tx1"/>
                          </a:solidFill>
                          <a:latin typeface="+mn-lt"/>
                        </a:rPr>
                        <a:t>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i="1" dirty="0">
                          <a:solidFill>
                            <a:schemeClr val="tx1"/>
                          </a:solidFill>
                          <a:latin typeface="+mn-lt"/>
                        </a:rPr>
                        <a: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i="1" dirty="0">
                          <a:solidFill>
                            <a:schemeClr val="tx1"/>
                          </a:solidFill>
                          <a:latin typeface="+mn-lt"/>
                        </a:rPr>
                        <a:t>MR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370840">
                <a:tc>
                  <a:txBody>
                    <a:bodyPr/>
                    <a:lstStyle/>
                    <a:p>
                      <a:pPr algn="ctr"/>
                      <a:r>
                        <a:rPr lang="en-US" sz="2400" dirty="0">
                          <a:solidFill>
                            <a:schemeClr val="tx1"/>
                          </a:solidFill>
                          <a:latin typeface="+mn-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dirty="0">
                          <a:solidFill>
                            <a:srgbClr val="000000"/>
                          </a:solidFill>
                          <a:effectLst/>
                          <a:latin typeface="+mn-lt"/>
                        </a:rPr>
                        <a:t>$60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2400" dirty="0">
                          <a:solidFill>
                            <a:schemeClr val="tx1"/>
                          </a:solidFill>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algn="ctr"/>
                      <a:r>
                        <a:rPr lang="en-US" sz="2400" dirty="0">
                          <a:solidFill>
                            <a:schemeClr val="tx1"/>
                          </a:solidFill>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dirty="0">
                          <a:solidFill>
                            <a:srgbClr val="000000"/>
                          </a:solidFill>
                          <a:effectLst/>
                          <a:latin typeface="+mn-lt"/>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2400" dirty="0">
                          <a:solidFill>
                            <a:schemeClr val="tx1"/>
                          </a:solidFill>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algn="ctr"/>
                      <a:r>
                        <a:rPr lang="en-US" sz="2400" dirty="0">
                          <a:solidFill>
                            <a:schemeClr val="tx1"/>
                          </a:solidFill>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a:solidFill>
                            <a:srgbClr val="000000"/>
                          </a:solidFill>
                          <a:effectLst/>
                          <a:latin typeface="+mn-lt"/>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pPr algn="ctr"/>
                      <a:r>
                        <a:rPr lang="en-US" sz="2400" dirty="0">
                          <a:solidFill>
                            <a:schemeClr val="tx1"/>
                          </a:solidFill>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p>
                      <a:pPr algn="ctr"/>
                      <a:r>
                        <a:rPr lang="en-US" sz="2400" dirty="0">
                          <a:solidFill>
                            <a:schemeClr val="tx1"/>
                          </a:solidFill>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a:solidFill>
                            <a:srgbClr val="000000"/>
                          </a:solidFill>
                          <a:effectLst/>
                          <a:latin typeface="+mn-lt"/>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70840">
                <a:tc>
                  <a:txBody>
                    <a:bodyPr/>
                    <a:lstStyle/>
                    <a:p>
                      <a:pPr algn="ctr"/>
                      <a:r>
                        <a:rPr lang="en-US" sz="2400" dirty="0">
                          <a:solidFill>
                            <a:schemeClr val="tx1"/>
                          </a:solidFill>
                          <a:latin typeface="+mn-l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8"/>
                  </a:ext>
                </a:extLst>
              </a:tr>
              <a:tr h="370840">
                <a:tc>
                  <a:txBody>
                    <a:bodyPr/>
                    <a:lstStyle/>
                    <a:p>
                      <a:pPr algn="ctr"/>
                      <a:r>
                        <a:rPr lang="en-US" sz="2400" dirty="0">
                          <a:solidFill>
                            <a:schemeClr val="tx1"/>
                          </a:solidFill>
                          <a:latin typeface="+mn-l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a:solidFill>
                            <a:srgbClr val="000000"/>
                          </a:solidFill>
                          <a:effectLst/>
                          <a:latin typeface="+mn-lt"/>
                        </a:rPr>
                        <a:t>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370840">
                <a:tc>
                  <a:txBody>
                    <a:bodyPr/>
                    <a:lstStyle/>
                    <a:p>
                      <a:pPr algn="ctr"/>
                      <a:r>
                        <a:rPr lang="en-US" sz="2400" dirty="0">
                          <a:solidFill>
                            <a:schemeClr val="tx1"/>
                          </a:solidFill>
                          <a:latin typeface="+mn-l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370840">
                <a:tc>
                  <a:txBody>
                    <a:bodyPr/>
                    <a:lstStyle/>
                    <a:p>
                      <a:pPr algn="ctr"/>
                      <a:r>
                        <a:rPr lang="en-US" sz="2400" dirty="0">
                          <a:solidFill>
                            <a:schemeClr val="tx1"/>
                          </a:solidFill>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dirty="0">
                          <a:solidFill>
                            <a:srgbClr val="000000"/>
                          </a:solidFill>
                          <a:effectLst/>
                          <a:latin typeface="+mn-lt"/>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1442279080"/>
              </p:ext>
            </p:extLst>
          </p:nvPr>
        </p:nvGraphicFramePr>
        <p:xfrm>
          <a:off x="7772400" y="1676400"/>
          <a:ext cx="1065213" cy="4446590"/>
        </p:xfrm>
        <a:graphic>
          <a:graphicData uri="http://schemas.openxmlformats.org/drawingml/2006/table">
            <a:tbl>
              <a:tblPr firstRow="1" bandRow="1">
                <a:tableStyleId>{5C22544A-7EE6-4342-B048-85BDC9FD1C3A}</a:tableStyleId>
              </a:tblPr>
              <a:tblGrid>
                <a:gridCol w="1065213">
                  <a:extLst>
                    <a:ext uri="{9D8B030D-6E8A-4147-A177-3AD203B41FA5}">
                      <a16:colId xmlns:a16="http://schemas.microsoft.com/office/drawing/2014/main" val="20000"/>
                    </a:ext>
                  </a:extLst>
                </a:gridCol>
              </a:tblGrid>
              <a:tr h="444659">
                <a:tc>
                  <a:txBody>
                    <a:bodyPr/>
                    <a:lstStyle/>
                    <a:p>
                      <a:pPr algn="ctr" fontAlgn="b"/>
                      <a:r>
                        <a:rPr lang="en-US" sz="2400" b="0" i="0" u="none" strike="noStrike" dirty="0">
                          <a:solidFill>
                            <a:srgbClr val="000000"/>
                          </a:solidFill>
                          <a:effectLst/>
                          <a:latin typeface="+mn-lt"/>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4659">
                <a:tc>
                  <a:txBody>
                    <a:bodyPr/>
                    <a:lstStyle/>
                    <a:p>
                      <a:pPr algn="ctr" fontAlgn="b"/>
                      <a:r>
                        <a:rPr lang="en-US" sz="2400" b="0" i="0" u="none" strike="noStrike">
                          <a:solidFill>
                            <a:srgbClr val="000000"/>
                          </a:solidFill>
                          <a:effectLst/>
                          <a:latin typeface="+mn-lt"/>
                        </a:rPr>
                        <a:t>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44659">
                <a:tc>
                  <a:txBody>
                    <a:bodyPr/>
                    <a:lstStyle/>
                    <a:p>
                      <a:pPr algn="ctr" fontAlgn="b"/>
                      <a:r>
                        <a:rPr lang="en-US" sz="2400" b="0" i="0" u="none" strike="noStrike">
                          <a:solidFill>
                            <a:srgbClr val="000000"/>
                          </a:solidFill>
                          <a:effectLst/>
                          <a:latin typeface="+mn-lt"/>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44659">
                <a:tc>
                  <a:txBody>
                    <a:bodyPr/>
                    <a:lstStyle/>
                    <a:p>
                      <a:pPr algn="ctr" fontAlgn="b"/>
                      <a:r>
                        <a:rPr lang="en-US" sz="2400" b="0" i="0" u="none" strike="noStrike">
                          <a:solidFill>
                            <a:srgbClr val="000000"/>
                          </a:solidFill>
                          <a:effectLst/>
                          <a:latin typeface="+mn-l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44659">
                <a:tc>
                  <a:txBody>
                    <a:bodyPr/>
                    <a:lstStyle/>
                    <a:p>
                      <a:pPr algn="ctr" fontAlgn="b"/>
                      <a:r>
                        <a:rPr lang="en-US" sz="2400" b="0" i="0" u="none" strike="noStrike">
                          <a:solidFill>
                            <a:srgbClr val="000000"/>
                          </a:solidFill>
                          <a:effectLst/>
                          <a:latin typeface="+mn-l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44659">
                <a:tc>
                  <a:txBody>
                    <a:bodyPr/>
                    <a:lstStyle/>
                    <a:p>
                      <a:pPr algn="ctr" fontAlgn="b"/>
                      <a:r>
                        <a:rPr lang="en-US" sz="2400" b="0" i="0" u="none" strike="noStrike">
                          <a:solidFill>
                            <a:srgbClr val="000000"/>
                          </a:solidFill>
                          <a:effectLst/>
                          <a:latin typeface="+mn-lt"/>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44659">
                <a:tc>
                  <a:txBody>
                    <a:bodyPr/>
                    <a:lstStyle/>
                    <a:p>
                      <a:pPr algn="ctr" fontAlgn="b"/>
                      <a:r>
                        <a:rPr lang="en-US" sz="2400" b="0" i="0" u="none" strike="noStrike">
                          <a:solidFill>
                            <a:srgbClr val="000000"/>
                          </a:solidFill>
                          <a:effectLst/>
                          <a:latin typeface="+mn-lt"/>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44659">
                <a:tc>
                  <a:txBody>
                    <a:bodyPr/>
                    <a:lstStyle/>
                    <a:p>
                      <a:pPr algn="ctr" fontAlgn="b"/>
                      <a:r>
                        <a:rPr lang="en-US" sz="2400" b="0" i="0" u="none" strike="noStrike">
                          <a:solidFill>
                            <a:srgbClr val="000000"/>
                          </a:solidFill>
                          <a:effectLst/>
                          <a:latin typeface="+mn-l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44659">
                <a:tc>
                  <a:txBody>
                    <a:bodyPr/>
                    <a:lstStyle/>
                    <a:p>
                      <a:pPr algn="ctr" fontAlgn="b"/>
                      <a:r>
                        <a:rPr lang="en-US" sz="2400" b="0" i="0" u="none" strike="noStrike">
                          <a:solidFill>
                            <a:srgbClr val="000000"/>
                          </a:solidFill>
                          <a:effectLst/>
                          <a:latin typeface="+mn-l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44659">
                <a:tc>
                  <a:txBody>
                    <a:bodyPr/>
                    <a:lstStyle/>
                    <a:p>
                      <a:pPr algn="ctr" fontAlgn="b"/>
                      <a:r>
                        <a:rPr lang="en-US" sz="2400" b="0" i="0" u="none" strike="noStrike" dirty="0">
                          <a:solidFill>
                            <a:srgbClr val="000000"/>
                          </a:solidFill>
                          <a:effectLst/>
                          <a:latin typeface="+mn-lt"/>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
        <p:nvSpPr>
          <p:cNvPr id="20" name="Rectangle 83"/>
          <p:cNvSpPr>
            <a:spLocks noChangeArrowheads="1"/>
          </p:cNvSpPr>
          <p:nvPr/>
        </p:nvSpPr>
        <p:spPr bwMode="auto">
          <a:xfrm>
            <a:off x="7772399" y="6122988"/>
            <a:ext cx="1065213" cy="271463"/>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graphicFrame>
        <p:nvGraphicFramePr>
          <p:cNvPr id="12" name="Table 11"/>
          <p:cNvGraphicFramePr>
            <a:graphicFrameLocks noGrp="1"/>
          </p:cNvGraphicFramePr>
          <p:nvPr>
            <p:extLst>
              <p:ext uri="{D42A27DB-BD31-4B8C-83A1-F6EECF244321}">
                <p14:modId xmlns:p14="http://schemas.microsoft.com/office/powerpoint/2010/main" val="319516709"/>
              </p:ext>
            </p:extLst>
          </p:nvPr>
        </p:nvGraphicFramePr>
        <p:xfrm>
          <a:off x="5638800" y="1398588"/>
          <a:ext cx="1005784" cy="4995859"/>
        </p:xfrm>
        <a:graphic>
          <a:graphicData uri="http://schemas.openxmlformats.org/drawingml/2006/table">
            <a:tbl>
              <a:tblPr firstRow="1" bandRow="1">
                <a:tableStyleId>{5C22544A-7EE6-4342-B048-85BDC9FD1C3A}</a:tableStyleId>
              </a:tblPr>
              <a:tblGrid>
                <a:gridCol w="1005784">
                  <a:extLst>
                    <a:ext uri="{9D8B030D-6E8A-4147-A177-3AD203B41FA5}">
                      <a16:colId xmlns:a16="http://schemas.microsoft.com/office/drawing/2014/main" val="20000"/>
                    </a:ext>
                  </a:extLst>
                </a:gridCol>
              </a:tblGrid>
              <a:tr h="454169">
                <a:tc>
                  <a:txBody>
                    <a:bodyPr/>
                    <a:lstStyle/>
                    <a:p>
                      <a:pPr algn="ctr" fontAlgn="b"/>
                      <a:r>
                        <a:rPr lang="en-US" sz="2400" b="0" i="0" u="none" strike="noStrike" dirty="0">
                          <a:solidFill>
                            <a:srgbClr val="000000"/>
                          </a:solidFill>
                          <a:effectLst/>
                          <a:latin typeface="+mn-lt"/>
                        </a:rPr>
                        <a:t>$0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4169">
                <a:tc>
                  <a:txBody>
                    <a:bodyPr/>
                    <a:lstStyle/>
                    <a:p>
                      <a:pPr algn="ctr" fontAlgn="b"/>
                      <a:r>
                        <a:rPr lang="en-US" sz="2400" b="0" i="0" u="none" strike="noStrike" dirty="0">
                          <a:solidFill>
                            <a:srgbClr val="000000"/>
                          </a:solidFill>
                          <a:effectLst/>
                          <a:latin typeface="+mn-lt"/>
                        </a:rPr>
                        <a:t>55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4169">
                <a:tc>
                  <a:txBody>
                    <a:bodyPr/>
                    <a:lstStyle/>
                    <a:p>
                      <a:pPr algn="ctr" fontAlgn="b"/>
                      <a:r>
                        <a:rPr lang="en-US" sz="2400" b="0" i="0" u="none" strike="noStrike" dirty="0">
                          <a:solidFill>
                            <a:srgbClr val="000000"/>
                          </a:solidFill>
                          <a:effectLst/>
                          <a:latin typeface="+mn-lt"/>
                        </a:rPr>
                        <a:t>100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4169">
                <a:tc>
                  <a:txBody>
                    <a:bodyPr/>
                    <a:lstStyle/>
                    <a:p>
                      <a:pPr algn="ctr" fontAlgn="b"/>
                      <a:r>
                        <a:rPr lang="en-US" sz="2400" b="0" i="0" u="none" strike="noStrike">
                          <a:solidFill>
                            <a:srgbClr val="000000"/>
                          </a:solidFill>
                          <a:effectLst/>
                          <a:latin typeface="+mn-lt"/>
                        </a:rPr>
                        <a:t>135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54169">
                <a:tc>
                  <a:txBody>
                    <a:bodyPr/>
                    <a:lstStyle/>
                    <a:p>
                      <a:pPr algn="ctr" fontAlgn="b"/>
                      <a:r>
                        <a:rPr lang="en-US" sz="2400" b="0" i="0" u="none" strike="noStrike">
                          <a:solidFill>
                            <a:srgbClr val="000000"/>
                          </a:solidFill>
                          <a:effectLst/>
                          <a:latin typeface="+mn-lt"/>
                        </a:rPr>
                        <a:t>160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54169">
                <a:tc>
                  <a:txBody>
                    <a:bodyPr/>
                    <a:lstStyle/>
                    <a:p>
                      <a:pPr algn="ctr" fontAlgn="b"/>
                      <a:r>
                        <a:rPr lang="en-US" sz="2400" b="0" i="0" u="none" strike="noStrike">
                          <a:solidFill>
                            <a:srgbClr val="000000"/>
                          </a:solidFill>
                          <a:effectLst/>
                          <a:latin typeface="+mn-lt"/>
                        </a:rPr>
                        <a:t>175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54169">
                <a:tc>
                  <a:txBody>
                    <a:bodyPr/>
                    <a:lstStyle/>
                    <a:p>
                      <a:pPr algn="ctr" fontAlgn="b"/>
                      <a:r>
                        <a:rPr lang="en-US" sz="2400" b="0" i="0" u="none" strike="noStrike">
                          <a:solidFill>
                            <a:srgbClr val="000000"/>
                          </a:solidFill>
                          <a:effectLst/>
                          <a:latin typeface="+mn-lt"/>
                        </a:rPr>
                        <a:t>180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54169">
                <a:tc>
                  <a:txBody>
                    <a:bodyPr/>
                    <a:lstStyle/>
                    <a:p>
                      <a:pPr algn="ctr" fontAlgn="b"/>
                      <a:r>
                        <a:rPr lang="en-US" sz="2400" b="0" i="0" u="none" strike="noStrike">
                          <a:solidFill>
                            <a:srgbClr val="000000"/>
                          </a:solidFill>
                          <a:effectLst/>
                          <a:latin typeface="+mn-lt"/>
                        </a:rPr>
                        <a:t>175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54169">
                <a:tc>
                  <a:txBody>
                    <a:bodyPr/>
                    <a:lstStyle/>
                    <a:p>
                      <a:pPr algn="ctr" fontAlgn="b"/>
                      <a:r>
                        <a:rPr lang="en-US" sz="2400" b="0" i="0" u="none" strike="noStrike">
                          <a:solidFill>
                            <a:srgbClr val="000000"/>
                          </a:solidFill>
                          <a:effectLst/>
                          <a:latin typeface="+mn-lt"/>
                        </a:rPr>
                        <a:t>160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54169">
                <a:tc>
                  <a:txBody>
                    <a:bodyPr/>
                    <a:lstStyle/>
                    <a:p>
                      <a:pPr algn="ctr" fontAlgn="b"/>
                      <a:r>
                        <a:rPr lang="en-US" sz="2400" b="0" i="0" u="none" strike="noStrike">
                          <a:solidFill>
                            <a:srgbClr val="000000"/>
                          </a:solidFill>
                          <a:effectLst/>
                          <a:latin typeface="+mn-lt"/>
                        </a:rPr>
                        <a:t>135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454169">
                <a:tc>
                  <a:txBody>
                    <a:bodyPr/>
                    <a:lstStyle/>
                    <a:p>
                      <a:pPr algn="ctr" fontAlgn="b"/>
                      <a:r>
                        <a:rPr lang="en-US" sz="2400" b="0" i="0" u="none" strike="noStrike" dirty="0">
                          <a:solidFill>
                            <a:srgbClr val="000000"/>
                          </a:solidFill>
                          <a:effectLst/>
                          <a:latin typeface="+mn-lt"/>
                        </a:rPr>
                        <a:t>100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127856345"/>
              </p:ext>
            </p:extLst>
          </p:nvPr>
        </p:nvGraphicFramePr>
        <p:xfrm>
          <a:off x="6671928" y="1398591"/>
          <a:ext cx="1100471" cy="4995859"/>
        </p:xfrm>
        <a:graphic>
          <a:graphicData uri="http://schemas.openxmlformats.org/drawingml/2006/table">
            <a:tbl>
              <a:tblPr firstRow="1" bandRow="1">
                <a:tableStyleId>{5C22544A-7EE6-4342-B048-85BDC9FD1C3A}</a:tableStyleId>
              </a:tblPr>
              <a:tblGrid>
                <a:gridCol w="1100471">
                  <a:extLst>
                    <a:ext uri="{9D8B030D-6E8A-4147-A177-3AD203B41FA5}">
                      <a16:colId xmlns:a16="http://schemas.microsoft.com/office/drawing/2014/main" val="20000"/>
                    </a:ext>
                  </a:extLst>
                </a:gridCol>
              </a:tblGrid>
              <a:tr h="454169">
                <a:tc>
                  <a:txBody>
                    <a:bodyPr/>
                    <a:lstStyle/>
                    <a:p>
                      <a:pPr algn="ctr" fontAlgn="b"/>
                      <a:r>
                        <a:rPr lang="en-US" sz="2400" b="0" i="0" u="none" strike="noStrike" dirty="0">
                          <a:solidFill>
                            <a:srgbClr val="000000"/>
                          </a:solidFill>
                          <a:effectLst/>
                          <a:latin typeface="+mn-lt"/>
                        </a:rPr>
                        <a:t>n/a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4169">
                <a:tc>
                  <a:txBody>
                    <a:bodyPr/>
                    <a:lstStyle/>
                    <a:p>
                      <a:pPr algn="ctr" fontAlgn="b"/>
                      <a:r>
                        <a:rPr lang="en-US" sz="2400" b="0" i="0" u="none" strike="noStrike" dirty="0">
                          <a:solidFill>
                            <a:srgbClr val="000000"/>
                          </a:solidFill>
                          <a:effectLst/>
                          <a:latin typeface="+mn-lt"/>
                        </a:rPr>
                        <a:t>55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4169">
                <a:tc>
                  <a:txBody>
                    <a:bodyPr/>
                    <a:lstStyle/>
                    <a:p>
                      <a:pPr algn="ctr" fontAlgn="b"/>
                      <a:r>
                        <a:rPr lang="en-US" sz="2400" b="0" i="0" u="none" strike="noStrike" dirty="0">
                          <a:solidFill>
                            <a:srgbClr val="000000"/>
                          </a:solidFill>
                          <a:effectLst/>
                          <a:latin typeface="+mn-lt"/>
                        </a:rPr>
                        <a:t>50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4169">
                <a:tc>
                  <a:txBody>
                    <a:bodyPr/>
                    <a:lstStyle/>
                    <a:p>
                      <a:pPr algn="ctr" fontAlgn="b"/>
                      <a:r>
                        <a:rPr lang="en-US" sz="2400" b="0" i="0" u="none" strike="noStrike">
                          <a:solidFill>
                            <a:srgbClr val="000000"/>
                          </a:solidFill>
                          <a:effectLst/>
                          <a:latin typeface="+mn-lt"/>
                        </a:rPr>
                        <a:t>45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54169">
                <a:tc>
                  <a:txBody>
                    <a:bodyPr/>
                    <a:lstStyle/>
                    <a:p>
                      <a:pPr algn="ctr" fontAlgn="b"/>
                      <a:r>
                        <a:rPr lang="en-US" sz="2400" b="0" i="0" u="none" strike="noStrike">
                          <a:solidFill>
                            <a:srgbClr val="000000"/>
                          </a:solidFill>
                          <a:effectLst/>
                          <a:latin typeface="+mn-lt"/>
                        </a:rPr>
                        <a:t>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54169">
                <a:tc>
                  <a:txBody>
                    <a:bodyPr/>
                    <a:lstStyle/>
                    <a:p>
                      <a:pPr algn="ctr" fontAlgn="b"/>
                      <a:r>
                        <a:rPr lang="en-US" sz="2400" b="0" i="0" u="none" strike="noStrike">
                          <a:solidFill>
                            <a:srgbClr val="000000"/>
                          </a:solidFill>
                          <a:effectLst/>
                          <a:latin typeface="+mn-lt"/>
                        </a:rPr>
                        <a:t>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54169">
                <a:tc>
                  <a:txBody>
                    <a:bodyPr/>
                    <a:lstStyle/>
                    <a:p>
                      <a:pPr algn="ctr" fontAlgn="b"/>
                      <a:r>
                        <a:rPr lang="en-US" sz="2400" b="0" i="0" u="none" strike="noStrike">
                          <a:solidFill>
                            <a:srgbClr val="000000"/>
                          </a:solidFill>
                          <a:effectLst/>
                          <a:latin typeface="+mn-lt"/>
                        </a:rPr>
                        <a:t>30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54169">
                <a:tc>
                  <a:txBody>
                    <a:bodyPr/>
                    <a:lstStyle/>
                    <a:p>
                      <a:pPr algn="ctr" fontAlgn="b"/>
                      <a:r>
                        <a:rPr lang="en-US" sz="2400" b="0" i="0" u="none" strike="noStrike">
                          <a:solidFill>
                            <a:srgbClr val="000000"/>
                          </a:solidFill>
                          <a:effectLst/>
                          <a:latin typeface="+mn-lt"/>
                        </a:rPr>
                        <a:t>25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54169">
                <a:tc>
                  <a:txBody>
                    <a:bodyPr/>
                    <a:lstStyle/>
                    <a:p>
                      <a:pPr algn="ctr" fontAlgn="b"/>
                      <a:r>
                        <a:rPr lang="en-US" sz="2400" b="0" i="0" u="none" strike="noStrike">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54169">
                <a:tc>
                  <a:txBody>
                    <a:bodyPr/>
                    <a:lstStyle/>
                    <a:p>
                      <a:pPr algn="ctr" fontAlgn="b"/>
                      <a:r>
                        <a:rPr lang="en-US" sz="2400" b="0" i="0" u="none" strike="noStrike">
                          <a:solidFill>
                            <a:srgbClr val="000000"/>
                          </a:solidFill>
                          <a:effectLst/>
                          <a:latin typeface="+mn-lt"/>
                        </a:rPr>
                        <a:t>15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454169">
                <a:tc>
                  <a:txBody>
                    <a:bodyPr/>
                    <a:lstStyle/>
                    <a:p>
                      <a:pPr algn="ctr" fontAlgn="b"/>
                      <a:r>
                        <a:rPr lang="en-US" sz="2400" b="0" i="0" u="none" strike="noStrike" dirty="0">
                          <a:solidFill>
                            <a:srgbClr val="000000"/>
                          </a:solidFill>
                          <a:effectLst/>
                          <a:latin typeface="+mn-lt"/>
                        </a:rPr>
                        <a:t>10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sp>
        <p:nvSpPr>
          <p:cNvPr id="5" name="Footer Placeholder 4">
            <a:extLst>
              <a:ext uri="{FF2B5EF4-FFF2-40B4-BE49-F238E27FC236}">
                <a16:creationId xmlns:a16="http://schemas.microsoft.com/office/drawing/2014/main" id="{2687FF4B-6D2D-FEBE-490F-9894739E5F0D}"/>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5617704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500"/>
                                        <p:tgtEl>
                                          <p:spTgt spid="1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wipe(left)">
                                      <p:cBhvr>
                                        <p:cTn id="16" dur="5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up)">
                                      <p:cBhvr>
                                        <p:cTn id="21" dur="500"/>
                                        <p:tgtEl>
                                          <p:spTgt spid="19"/>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wipe(left)">
                                      <p:cBhvr>
                                        <p:cTn id="2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2: </a:t>
            </a:r>
            <a:r>
              <a:rPr lang="en-US" dirty="0">
                <a:solidFill>
                  <a:schemeClr val="tx1"/>
                </a:solidFill>
              </a:rPr>
              <a:t>JJ’s MR and Demand Curves</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12</a:t>
            </a:fld>
            <a:endParaRPr lang="en-US"/>
          </a:p>
        </p:txBody>
      </p:sp>
      <p:sp>
        <p:nvSpPr>
          <p:cNvPr id="15" name="Rectangle 82"/>
          <p:cNvSpPr>
            <a:spLocks noChangeArrowheads="1"/>
          </p:cNvSpPr>
          <p:nvPr/>
        </p:nvSpPr>
        <p:spPr bwMode="auto">
          <a:xfrm>
            <a:off x="1982787" y="1371599"/>
            <a:ext cx="1065213" cy="307975"/>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graphicFrame>
        <p:nvGraphicFramePr>
          <p:cNvPr id="18" name="Table 17"/>
          <p:cNvGraphicFramePr>
            <a:graphicFrameLocks noGrp="1"/>
          </p:cNvGraphicFramePr>
          <p:nvPr>
            <p:extLst>
              <p:ext uri="{D42A27DB-BD31-4B8C-83A1-F6EECF244321}">
                <p14:modId xmlns:p14="http://schemas.microsoft.com/office/powerpoint/2010/main" val="1818266771"/>
              </p:ext>
            </p:extLst>
          </p:nvPr>
        </p:nvGraphicFramePr>
        <p:xfrm>
          <a:off x="374291" y="914400"/>
          <a:ext cx="2673709" cy="5486400"/>
        </p:xfrm>
        <a:graphic>
          <a:graphicData uri="http://schemas.openxmlformats.org/drawingml/2006/table">
            <a:tbl>
              <a:tblPr firstRow="1" bandRow="1">
                <a:tableStyleId>{5C22544A-7EE6-4342-B048-85BDC9FD1C3A}</a:tableStyleId>
              </a:tblPr>
              <a:tblGrid>
                <a:gridCol w="742952">
                  <a:extLst>
                    <a:ext uri="{9D8B030D-6E8A-4147-A177-3AD203B41FA5}">
                      <a16:colId xmlns:a16="http://schemas.microsoft.com/office/drawing/2014/main" val="20000"/>
                    </a:ext>
                  </a:extLst>
                </a:gridCol>
                <a:gridCol w="865545">
                  <a:extLst>
                    <a:ext uri="{9D8B030D-6E8A-4147-A177-3AD203B41FA5}">
                      <a16:colId xmlns:a16="http://schemas.microsoft.com/office/drawing/2014/main" val="20001"/>
                    </a:ext>
                  </a:extLst>
                </a:gridCol>
                <a:gridCol w="1065212">
                  <a:extLst>
                    <a:ext uri="{9D8B030D-6E8A-4147-A177-3AD203B41FA5}">
                      <a16:colId xmlns:a16="http://schemas.microsoft.com/office/drawing/2014/main" val="20002"/>
                    </a:ext>
                  </a:extLst>
                </a:gridCol>
              </a:tblGrid>
              <a:tr h="370840">
                <a:tc>
                  <a:txBody>
                    <a:bodyPr/>
                    <a:lstStyle/>
                    <a:p>
                      <a:pPr algn="ctr"/>
                      <a:r>
                        <a:rPr lang="en-US" sz="2400" i="1" dirty="0">
                          <a:solidFill>
                            <a:schemeClr val="tx1"/>
                          </a:solidFill>
                          <a:latin typeface="+mn-lt"/>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i="1" dirty="0">
                          <a:solidFill>
                            <a:schemeClr val="tx1"/>
                          </a:solidFill>
                          <a:latin typeface="+mn-lt"/>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i="1" dirty="0">
                          <a:solidFill>
                            <a:schemeClr val="tx1"/>
                          </a:solidFill>
                          <a:latin typeface="+mn-lt"/>
                        </a:rPr>
                        <a:t>MR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370840">
                <a:tc>
                  <a:txBody>
                    <a:bodyPr/>
                    <a:lstStyle/>
                    <a:p>
                      <a:pPr algn="ctr"/>
                      <a:r>
                        <a:rPr lang="en-US" sz="2400" dirty="0">
                          <a:solidFill>
                            <a:schemeClr val="tx1"/>
                          </a:solidFill>
                          <a:latin typeface="+mn-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dirty="0">
                          <a:solidFill>
                            <a:srgbClr val="000000"/>
                          </a:solidFill>
                          <a:effectLst/>
                          <a:latin typeface="+mn-lt"/>
                        </a:rPr>
                        <a:t>$60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2400" dirty="0">
                          <a:solidFill>
                            <a:schemeClr val="tx1"/>
                          </a:solidFill>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370840">
                <a:tc>
                  <a:txBody>
                    <a:bodyPr/>
                    <a:lstStyle/>
                    <a:p>
                      <a:pPr algn="ctr"/>
                      <a:r>
                        <a:rPr lang="en-US" sz="2400" dirty="0">
                          <a:solidFill>
                            <a:schemeClr val="tx1"/>
                          </a:solidFill>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dirty="0">
                          <a:solidFill>
                            <a:srgbClr val="000000"/>
                          </a:solidFill>
                          <a:effectLst/>
                          <a:latin typeface="+mn-lt"/>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2400" dirty="0">
                          <a:solidFill>
                            <a:schemeClr val="tx1"/>
                          </a:solidFill>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algn="ctr"/>
                      <a:r>
                        <a:rPr lang="en-US" sz="2400" dirty="0">
                          <a:solidFill>
                            <a:schemeClr val="tx1"/>
                          </a:solidFill>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a:solidFill>
                            <a:srgbClr val="000000"/>
                          </a:solidFill>
                          <a:effectLst/>
                          <a:latin typeface="+mn-lt"/>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pPr algn="ctr"/>
                      <a:r>
                        <a:rPr lang="en-US" sz="2400" dirty="0">
                          <a:solidFill>
                            <a:schemeClr val="tx1"/>
                          </a:solidFill>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p>
                      <a:pPr algn="ctr"/>
                      <a:r>
                        <a:rPr lang="en-US" sz="2400" dirty="0">
                          <a:solidFill>
                            <a:schemeClr val="tx1"/>
                          </a:solidFill>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a:solidFill>
                            <a:srgbClr val="000000"/>
                          </a:solidFill>
                          <a:effectLst/>
                          <a:latin typeface="+mn-lt"/>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70840">
                <a:tc>
                  <a:txBody>
                    <a:bodyPr/>
                    <a:lstStyle/>
                    <a:p>
                      <a:pPr algn="ctr"/>
                      <a:r>
                        <a:rPr lang="en-US" sz="2400" dirty="0">
                          <a:solidFill>
                            <a:schemeClr val="tx1"/>
                          </a:solidFill>
                          <a:latin typeface="+mn-l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370840">
                <a:tc>
                  <a:txBody>
                    <a:bodyPr/>
                    <a:lstStyle/>
                    <a:p>
                      <a:pPr algn="ctr"/>
                      <a:r>
                        <a:rPr lang="en-US" sz="2400" dirty="0">
                          <a:solidFill>
                            <a:schemeClr val="tx1"/>
                          </a:solidFill>
                          <a:latin typeface="+mn-l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a:solidFill>
                            <a:srgbClr val="000000"/>
                          </a:solidFill>
                          <a:effectLst/>
                          <a:latin typeface="+mn-lt"/>
                        </a:rPr>
                        <a:t>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370840">
                <a:tc>
                  <a:txBody>
                    <a:bodyPr/>
                    <a:lstStyle/>
                    <a:p>
                      <a:pPr algn="ctr"/>
                      <a:r>
                        <a:rPr lang="en-US" sz="2400" dirty="0">
                          <a:solidFill>
                            <a:schemeClr val="tx1"/>
                          </a:solidFill>
                          <a:latin typeface="+mn-l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fontAlgn="b"/>
                      <a:r>
                        <a:rPr lang="en-US" sz="2400" b="0" i="0" u="none" strike="noStrike" dirty="0">
                          <a:solidFill>
                            <a:srgbClr val="000000"/>
                          </a:solidFill>
                          <a:effectLst/>
                          <a:latin typeface="+mn-l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370840">
                <a:tc>
                  <a:txBody>
                    <a:bodyPr/>
                    <a:lstStyle/>
                    <a:p>
                      <a:pPr algn="ctr"/>
                      <a:r>
                        <a:rPr lang="en-US" sz="2400" dirty="0">
                          <a:solidFill>
                            <a:schemeClr val="tx1"/>
                          </a:solidFill>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b="0" i="0" u="none" strike="noStrike" dirty="0">
                          <a:solidFill>
                            <a:srgbClr val="000000"/>
                          </a:solidFill>
                          <a:effectLst/>
                          <a:latin typeface="+mn-lt"/>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465406420"/>
              </p:ext>
            </p:extLst>
          </p:nvPr>
        </p:nvGraphicFramePr>
        <p:xfrm>
          <a:off x="1981200" y="1676400"/>
          <a:ext cx="1065213" cy="4446590"/>
        </p:xfrm>
        <a:graphic>
          <a:graphicData uri="http://schemas.openxmlformats.org/drawingml/2006/table">
            <a:tbl>
              <a:tblPr firstRow="1" bandRow="1">
                <a:tableStyleId>{5C22544A-7EE6-4342-B048-85BDC9FD1C3A}</a:tableStyleId>
              </a:tblPr>
              <a:tblGrid>
                <a:gridCol w="1065213">
                  <a:extLst>
                    <a:ext uri="{9D8B030D-6E8A-4147-A177-3AD203B41FA5}">
                      <a16:colId xmlns:a16="http://schemas.microsoft.com/office/drawing/2014/main" val="20000"/>
                    </a:ext>
                  </a:extLst>
                </a:gridCol>
              </a:tblGrid>
              <a:tr h="444659">
                <a:tc>
                  <a:txBody>
                    <a:bodyPr/>
                    <a:lstStyle/>
                    <a:p>
                      <a:pPr algn="ctr" fontAlgn="b"/>
                      <a:r>
                        <a:rPr lang="en-US" sz="2400" b="0" i="0" u="none" strike="noStrike" dirty="0">
                          <a:solidFill>
                            <a:srgbClr val="000000"/>
                          </a:solidFill>
                          <a:effectLst/>
                          <a:latin typeface="+mn-lt"/>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4659">
                <a:tc>
                  <a:txBody>
                    <a:bodyPr/>
                    <a:lstStyle/>
                    <a:p>
                      <a:pPr algn="ctr" fontAlgn="b"/>
                      <a:r>
                        <a:rPr lang="en-US" sz="2400" b="0" i="0" u="none" strike="noStrike">
                          <a:solidFill>
                            <a:srgbClr val="000000"/>
                          </a:solidFill>
                          <a:effectLst/>
                          <a:latin typeface="+mn-lt"/>
                        </a:rPr>
                        <a:t>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44659">
                <a:tc>
                  <a:txBody>
                    <a:bodyPr/>
                    <a:lstStyle/>
                    <a:p>
                      <a:pPr algn="ctr" fontAlgn="b"/>
                      <a:r>
                        <a:rPr lang="en-US" sz="2400" b="0" i="0" u="none" strike="noStrike">
                          <a:solidFill>
                            <a:srgbClr val="000000"/>
                          </a:solidFill>
                          <a:effectLst/>
                          <a:latin typeface="+mn-lt"/>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44659">
                <a:tc>
                  <a:txBody>
                    <a:bodyPr/>
                    <a:lstStyle/>
                    <a:p>
                      <a:pPr algn="ctr" fontAlgn="b"/>
                      <a:r>
                        <a:rPr lang="en-US" sz="2400" b="0" i="0" u="none" strike="noStrike">
                          <a:solidFill>
                            <a:srgbClr val="000000"/>
                          </a:solidFill>
                          <a:effectLst/>
                          <a:latin typeface="+mn-l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44659">
                <a:tc>
                  <a:txBody>
                    <a:bodyPr/>
                    <a:lstStyle/>
                    <a:p>
                      <a:pPr algn="ctr" fontAlgn="b"/>
                      <a:r>
                        <a:rPr lang="en-US" sz="2400" b="0" i="0" u="none" strike="noStrike" dirty="0">
                          <a:solidFill>
                            <a:srgbClr val="000000"/>
                          </a:solidFill>
                          <a:effectLst/>
                          <a:latin typeface="+mn-l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44659">
                <a:tc>
                  <a:txBody>
                    <a:bodyPr/>
                    <a:lstStyle/>
                    <a:p>
                      <a:pPr algn="ctr" fontAlgn="b"/>
                      <a:r>
                        <a:rPr lang="en-US" sz="2400" b="0" i="0" u="none" strike="noStrike">
                          <a:solidFill>
                            <a:srgbClr val="000000"/>
                          </a:solidFill>
                          <a:effectLst/>
                          <a:latin typeface="+mn-lt"/>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44659">
                <a:tc>
                  <a:txBody>
                    <a:bodyPr/>
                    <a:lstStyle/>
                    <a:p>
                      <a:pPr algn="ctr" fontAlgn="b"/>
                      <a:r>
                        <a:rPr lang="en-US" sz="2400" b="0" i="0" u="none" strike="noStrike">
                          <a:solidFill>
                            <a:srgbClr val="000000"/>
                          </a:solidFill>
                          <a:effectLst/>
                          <a:latin typeface="+mn-lt"/>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44659">
                <a:tc>
                  <a:txBody>
                    <a:bodyPr/>
                    <a:lstStyle/>
                    <a:p>
                      <a:pPr algn="ctr" fontAlgn="b"/>
                      <a:r>
                        <a:rPr lang="en-US" sz="2400" b="0" i="0" u="none" strike="noStrike">
                          <a:solidFill>
                            <a:srgbClr val="000000"/>
                          </a:solidFill>
                          <a:effectLst/>
                          <a:latin typeface="+mn-l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44659">
                <a:tc>
                  <a:txBody>
                    <a:bodyPr/>
                    <a:lstStyle/>
                    <a:p>
                      <a:pPr algn="ctr" fontAlgn="b"/>
                      <a:r>
                        <a:rPr lang="en-US" sz="2400" b="0" i="0" u="none" strike="noStrike">
                          <a:solidFill>
                            <a:srgbClr val="000000"/>
                          </a:solidFill>
                          <a:effectLst/>
                          <a:latin typeface="+mn-l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44659">
                <a:tc>
                  <a:txBody>
                    <a:bodyPr/>
                    <a:lstStyle/>
                    <a:p>
                      <a:pPr algn="ctr" fontAlgn="b"/>
                      <a:r>
                        <a:rPr lang="en-US" sz="2400" b="0" i="0" u="none" strike="noStrike" dirty="0">
                          <a:solidFill>
                            <a:srgbClr val="000000"/>
                          </a:solidFill>
                          <a:effectLst/>
                          <a:latin typeface="+mn-lt"/>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
        <p:nvSpPr>
          <p:cNvPr id="20" name="Rectangle 83"/>
          <p:cNvSpPr>
            <a:spLocks noChangeArrowheads="1"/>
          </p:cNvSpPr>
          <p:nvPr/>
        </p:nvSpPr>
        <p:spPr bwMode="auto">
          <a:xfrm>
            <a:off x="1982787" y="6122988"/>
            <a:ext cx="1065213" cy="271463"/>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grpSp>
        <p:nvGrpSpPr>
          <p:cNvPr id="152" name="Group 151"/>
          <p:cNvGrpSpPr/>
          <p:nvPr/>
        </p:nvGrpSpPr>
        <p:grpSpPr>
          <a:xfrm>
            <a:off x="3426699" y="838200"/>
            <a:ext cx="5564901" cy="5306217"/>
            <a:chOff x="3088213" y="986135"/>
            <a:chExt cx="5564901" cy="5306217"/>
          </a:xfrm>
        </p:grpSpPr>
        <p:grpSp>
          <p:nvGrpSpPr>
            <p:cNvPr id="149" name="Group 148"/>
            <p:cNvGrpSpPr/>
            <p:nvPr/>
          </p:nvGrpSpPr>
          <p:grpSpPr>
            <a:xfrm>
              <a:off x="3088213" y="986135"/>
              <a:ext cx="1187763" cy="4957465"/>
              <a:chOff x="3088213" y="986135"/>
              <a:chExt cx="1187763" cy="4957465"/>
            </a:xfrm>
          </p:grpSpPr>
          <p:cxnSp>
            <p:nvCxnSpPr>
              <p:cNvPr id="11" name="Straight Connector 10"/>
              <p:cNvCxnSpPr/>
              <p:nvPr/>
            </p:nvCxnSpPr>
            <p:spPr bwMode="auto">
              <a:xfrm flipH="1">
                <a:off x="3655890" y="1499672"/>
                <a:ext cx="1710" cy="4443928"/>
              </a:xfrm>
              <a:prstGeom prst="line">
                <a:avLst/>
              </a:prstGeom>
              <a:noFill/>
              <a:ln w="19050" cap="flat" cmpd="sng" algn="ctr">
                <a:solidFill>
                  <a:schemeClr val="tx1"/>
                </a:solidFill>
                <a:prstDash val="solid"/>
                <a:round/>
                <a:headEnd type="none" w="med" len="med"/>
                <a:tailEnd type="none" w="med" len="med"/>
              </a:ln>
              <a:effectLst/>
            </p:spPr>
          </p:cxnSp>
          <p:sp>
            <p:nvSpPr>
              <p:cNvPr id="87" name="TextBox 86"/>
              <p:cNvSpPr txBox="1"/>
              <p:nvPr/>
            </p:nvSpPr>
            <p:spPr>
              <a:xfrm>
                <a:off x="3276600" y="986135"/>
                <a:ext cx="999376" cy="461665"/>
              </a:xfrm>
              <a:prstGeom prst="rect">
                <a:avLst/>
              </a:prstGeom>
              <a:noFill/>
            </p:spPr>
            <p:txBody>
              <a:bodyPr wrap="none" rtlCol="0">
                <a:spAutoFit/>
              </a:bodyPr>
              <a:lstStyle/>
              <a:p>
                <a:r>
                  <a:rPr lang="en-US" sz="2400" dirty="0"/>
                  <a:t>P, MR</a:t>
                </a:r>
              </a:p>
            </p:txBody>
          </p:sp>
          <p:sp>
            <p:nvSpPr>
              <p:cNvPr id="95" name="TextBox 94"/>
              <p:cNvSpPr txBox="1"/>
              <p:nvPr/>
            </p:nvSpPr>
            <p:spPr>
              <a:xfrm>
                <a:off x="3199655" y="3244706"/>
                <a:ext cx="441146" cy="369332"/>
              </a:xfrm>
              <a:prstGeom prst="rect">
                <a:avLst/>
              </a:prstGeom>
              <a:noFill/>
            </p:spPr>
            <p:txBody>
              <a:bodyPr wrap="none" rtlCol="0">
                <a:spAutoFit/>
              </a:bodyPr>
              <a:lstStyle/>
              <a:p>
                <a:r>
                  <a:rPr lang="en-US" dirty="0"/>
                  <a:t>20</a:t>
                </a:r>
              </a:p>
            </p:txBody>
          </p:sp>
          <p:sp>
            <p:nvSpPr>
              <p:cNvPr id="96" name="TextBox 95"/>
              <p:cNvSpPr txBox="1"/>
              <p:nvPr/>
            </p:nvSpPr>
            <p:spPr>
              <a:xfrm>
                <a:off x="3206726" y="2329934"/>
                <a:ext cx="441146" cy="369332"/>
              </a:xfrm>
              <a:prstGeom prst="rect">
                <a:avLst/>
              </a:prstGeom>
              <a:noFill/>
            </p:spPr>
            <p:txBody>
              <a:bodyPr wrap="none" rtlCol="0">
                <a:spAutoFit/>
              </a:bodyPr>
              <a:lstStyle/>
              <a:p>
                <a:r>
                  <a:rPr lang="en-US" dirty="0"/>
                  <a:t>40</a:t>
                </a:r>
              </a:p>
            </p:txBody>
          </p:sp>
          <p:sp>
            <p:nvSpPr>
              <p:cNvPr id="97" name="TextBox 96"/>
              <p:cNvSpPr txBox="1"/>
              <p:nvPr/>
            </p:nvSpPr>
            <p:spPr>
              <a:xfrm>
                <a:off x="3088213" y="1404422"/>
                <a:ext cx="569387" cy="369332"/>
              </a:xfrm>
              <a:prstGeom prst="rect">
                <a:avLst/>
              </a:prstGeom>
              <a:noFill/>
            </p:spPr>
            <p:txBody>
              <a:bodyPr wrap="none" rtlCol="0">
                <a:spAutoFit/>
              </a:bodyPr>
              <a:lstStyle/>
              <a:p>
                <a:r>
                  <a:rPr lang="en-US" dirty="0"/>
                  <a:t>$60</a:t>
                </a:r>
              </a:p>
            </p:txBody>
          </p:sp>
          <p:sp>
            <p:nvSpPr>
              <p:cNvPr id="98" name="TextBox 97"/>
              <p:cNvSpPr txBox="1"/>
              <p:nvPr/>
            </p:nvSpPr>
            <p:spPr>
              <a:xfrm>
                <a:off x="3327895" y="4158734"/>
                <a:ext cx="312906" cy="369332"/>
              </a:xfrm>
              <a:prstGeom prst="rect">
                <a:avLst/>
              </a:prstGeom>
              <a:noFill/>
            </p:spPr>
            <p:txBody>
              <a:bodyPr wrap="none" rtlCol="0">
                <a:spAutoFit/>
              </a:bodyPr>
              <a:lstStyle/>
              <a:p>
                <a:r>
                  <a:rPr lang="en-US" dirty="0"/>
                  <a:t>0</a:t>
                </a:r>
              </a:p>
            </p:txBody>
          </p:sp>
          <p:sp>
            <p:nvSpPr>
              <p:cNvPr id="99" name="TextBox 98"/>
              <p:cNvSpPr txBox="1"/>
              <p:nvPr/>
            </p:nvSpPr>
            <p:spPr>
              <a:xfrm>
                <a:off x="3131626" y="5073134"/>
                <a:ext cx="518091" cy="369332"/>
              </a:xfrm>
              <a:prstGeom prst="rect">
                <a:avLst/>
              </a:prstGeom>
              <a:noFill/>
            </p:spPr>
            <p:txBody>
              <a:bodyPr wrap="none" rtlCol="0">
                <a:spAutoFit/>
              </a:bodyPr>
              <a:lstStyle/>
              <a:p>
                <a:r>
                  <a:rPr lang="en-US" dirty="0"/>
                  <a:t>-20</a:t>
                </a:r>
              </a:p>
            </p:txBody>
          </p:sp>
          <p:sp>
            <p:nvSpPr>
              <p:cNvPr id="101" name="TextBox 100"/>
              <p:cNvSpPr txBox="1"/>
              <p:nvPr/>
            </p:nvSpPr>
            <p:spPr>
              <a:xfrm>
                <a:off x="3137799" y="5562600"/>
                <a:ext cx="518091" cy="369332"/>
              </a:xfrm>
              <a:prstGeom prst="rect">
                <a:avLst/>
              </a:prstGeom>
              <a:noFill/>
            </p:spPr>
            <p:txBody>
              <a:bodyPr wrap="none" rtlCol="0">
                <a:spAutoFit/>
              </a:bodyPr>
              <a:lstStyle/>
              <a:p>
                <a:r>
                  <a:rPr lang="en-US" dirty="0"/>
                  <a:t>-30</a:t>
                </a:r>
              </a:p>
            </p:txBody>
          </p:sp>
          <p:sp>
            <p:nvSpPr>
              <p:cNvPr id="105" name="TextBox 104"/>
              <p:cNvSpPr txBox="1"/>
              <p:nvPr/>
            </p:nvSpPr>
            <p:spPr>
              <a:xfrm>
                <a:off x="3131627" y="4615934"/>
                <a:ext cx="518091" cy="369332"/>
              </a:xfrm>
              <a:prstGeom prst="rect">
                <a:avLst/>
              </a:prstGeom>
              <a:noFill/>
            </p:spPr>
            <p:txBody>
              <a:bodyPr wrap="none" rtlCol="0">
                <a:spAutoFit/>
              </a:bodyPr>
              <a:lstStyle/>
              <a:p>
                <a:r>
                  <a:rPr lang="en-US" dirty="0"/>
                  <a:t>-10</a:t>
                </a:r>
              </a:p>
            </p:txBody>
          </p:sp>
          <p:sp>
            <p:nvSpPr>
              <p:cNvPr id="107" name="TextBox 106"/>
              <p:cNvSpPr txBox="1"/>
              <p:nvPr/>
            </p:nvSpPr>
            <p:spPr>
              <a:xfrm>
                <a:off x="3214744" y="3701534"/>
                <a:ext cx="441146" cy="369332"/>
              </a:xfrm>
              <a:prstGeom prst="rect">
                <a:avLst/>
              </a:prstGeom>
              <a:noFill/>
            </p:spPr>
            <p:txBody>
              <a:bodyPr wrap="none" rtlCol="0">
                <a:spAutoFit/>
              </a:bodyPr>
              <a:lstStyle/>
              <a:p>
                <a:r>
                  <a:rPr lang="en-US" dirty="0"/>
                  <a:t>10</a:t>
                </a:r>
              </a:p>
            </p:txBody>
          </p:sp>
          <p:sp>
            <p:nvSpPr>
              <p:cNvPr id="109" name="TextBox 108"/>
              <p:cNvSpPr txBox="1"/>
              <p:nvPr/>
            </p:nvSpPr>
            <p:spPr>
              <a:xfrm>
                <a:off x="3214743" y="2787134"/>
                <a:ext cx="441146" cy="369332"/>
              </a:xfrm>
              <a:prstGeom prst="rect">
                <a:avLst/>
              </a:prstGeom>
              <a:noFill/>
            </p:spPr>
            <p:txBody>
              <a:bodyPr wrap="none" rtlCol="0">
                <a:spAutoFit/>
              </a:bodyPr>
              <a:lstStyle/>
              <a:p>
                <a:r>
                  <a:rPr lang="en-US" dirty="0"/>
                  <a:t>30</a:t>
                </a:r>
              </a:p>
            </p:txBody>
          </p:sp>
          <p:sp>
            <p:nvSpPr>
              <p:cNvPr id="110" name="TextBox 109"/>
              <p:cNvSpPr txBox="1"/>
              <p:nvPr/>
            </p:nvSpPr>
            <p:spPr>
              <a:xfrm>
                <a:off x="3199655" y="1877464"/>
                <a:ext cx="441146" cy="369332"/>
              </a:xfrm>
              <a:prstGeom prst="rect">
                <a:avLst/>
              </a:prstGeom>
              <a:noFill/>
            </p:spPr>
            <p:txBody>
              <a:bodyPr wrap="none" rtlCol="0">
                <a:spAutoFit/>
              </a:bodyPr>
              <a:lstStyle/>
              <a:p>
                <a:r>
                  <a:rPr lang="en-US" dirty="0"/>
                  <a:t>50</a:t>
                </a:r>
              </a:p>
            </p:txBody>
          </p:sp>
        </p:grpSp>
        <p:grpSp>
          <p:nvGrpSpPr>
            <p:cNvPr id="151" name="Group 150"/>
            <p:cNvGrpSpPr/>
            <p:nvPr/>
          </p:nvGrpSpPr>
          <p:grpSpPr>
            <a:xfrm>
              <a:off x="3657600" y="1589088"/>
              <a:ext cx="4572000" cy="4339855"/>
              <a:chOff x="3657600" y="1589088"/>
              <a:chExt cx="4572000" cy="4339855"/>
            </a:xfrm>
          </p:grpSpPr>
          <p:cxnSp>
            <p:nvCxnSpPr>
              <p:cNvPr id="90" name="Straight Connector 89"/>
              <p:cNvCxnSpPr/>
              <p:nvPr/>
            </p:nvCxnSpPr>
            <p:spPr bwMode="auto">
              <a:xfrm>
                <a:off x="3657600" y="1589088"/>
                <a:ext cx="457200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91" name="Straight Connector 90"/>
              <p:cNvCxnSpPr/>
              <p:nvPr/>
            </p:nvCxnSpPr>
            <p:spPr bwMode="auto">
              <a:xfrm>
                <a:off x="3657600" y="2051844"/>
                <a:ext cx="457200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92" name="Straight Connector 91"/>
              <p:cNvCxnSpPr/>
              <p:nvPr/>
            </p:nvCxnSpPr>
            <p:spPr bwMode="auto">
              <a:xfrm>
                <a:off x="3657600" y="3429000"/>
                <a:ext cx="457200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93" name="Straight Connector 92"/>
              <p:cNvCxnSpPr/>
              <p:nvPr/>
            </p:nvCxnSpPr>
            <p:spPr bwMode="auto">
              <a:xfrm>
                <a:off x="3657600" y="2514600"/>
                <a:ext cx="457200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94" name="Straight Connector 93"/>
              <p:cNvCxnSpPr/>
              <p:nvPr/>
            </p:nvCxnSpPr>
            <p:spPr bwMode="auto">
              <a:xfrm>
                <a:off x="3657600" y="5257800"/>
                <a:ext cx="457200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2" name="Straight Connector 101"/>
              <p:cNvCxnSpPr/>
              <p:nvPr/>
            </p:nvCxnSpPr>
            <p:spPr bwMode="auto">
              <a:xfrm>
                <a:off x="3657600" y="5705229"/>
                <a:ext cx="457200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4" name="Straight Connector 103"/>
              <p:cNvCxnSpPr/>
              <p:nvPr/>
            </p:nvCxnSpPr>
            <p:spPr bwMode="auto">
              <a:xfrm>
                <a:off x="3657600" y="4800600"/>
                <a:ext cx="457200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6" name="Straight Connector 105"/>
              <p:cNvCxnSpPr/>
              <p:nvPr/>
            </p:nvCxnSpPr>
            <p:spPr bwMode="auto">
              <a:xfrm>
                <a:off x="3657600" y="3886200"/>
                <a:ext cx="457200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8" name="Straight Connector 107"/>
              <p:cNvCxnSpPr/>
              <p:nvPr/>
            </p:nvCxnSpPr>
            <p:spPr bwMode="auto">
              <a:xfrm>
                <a:off x="3657600" y="2971800"/>
                <a:ext cx="457200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11" name="Straight Connector 110"/>
              <p:cNvCxnSpPr/>
              <p:nvPr/>
            </p:nvCxnSpPr>
            <p:spPr bwMode="auto">
              <a:xfrm>
                <a:off x="4572000" y="1589088"/>
                <a:ext cx="0" cy="4339855"/>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15" name="Straight Connector 114"/>
              <p:cNvCxnSpPr/>
              <p:nvPr/>
            </p:nvCxnSpPr>
            <p:spPr bwMode="auto">
              <a:xfrm>
                <a:off x="5029200" y="1589088"/>
                <a:ext cx="0" cy="4339855"/>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16" name="Straight Connector 115"/>
              <p:cNvCxnSpPr/>
              <p:nvPr/>
            </p:nvCxnSpPr>
            <p:spPr bwMode="auto">
              <a:xfrm>
                <a:off x="5486400" y="1589088"/>
                <a:ext cx="0" cy="4339855"/>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17" name="Straight Connector 116"/>
              <p:cNvCxnSpPr/>
              <p:nvPr/>
            </p:nvCxnSpPr>
            <p:spPr bwMode="auto">
              <a:xfrm>
                <a:off x="5943600" y="1589088"/>
                <a:ext cx="0" cy="4339855"/>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18" name="Straight Connector 117"/>
              <p:cNvCxnSpPr/>
              <p:nvPr/>
            </p:nvCxnSpPr>
            <p:spPr bwMode="auto">
              <a:xfrm>
                <a:off x="6400800" y="1589088"/>
                <a:ext cx="0" cy="4339855"/>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19" name="Straight Connector 118"/>
              <p:cNvCxnSpPr/>
              <p:nvPr/>
            </p:nvCxnSpPr>
            <p:spPr bwMode="auto">
              <a:xfrm>
                <a:off x="6858000" y="1589088"/>
                <a:ext cx="0" cy="4339855"/>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20" name="Straight Connector 119"/>
              <p:cNvCxnSpPr/>
              <p:nvPr/>
            </p:nvCxnSpPr>
            <p:spPr bwMode="auto">
              <a:xfrm>
                <a:off x="7315200" y="1589088"/>
                <a:ext cx="0" cy="4339855"/>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21" name="Straight Connector 120"/>
              <p:cNvCxnSpPr/>
              <p:nvPr/>
            </p:nvCxnSpPr>
            <p:spPr bwMode="auto">
              <a:xfrm>
                <a:off x="7772400" y="1589088"/>
                <a:ext cx="0" cy="4339855"/>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22" name="Straight Connector 121"/>
              <p:cNvCxnSpPr/>
              <p:nvPr/>
            </p:nvCxnSpPr>
            <p:spPr bwMode="auto">
              <a:xfrm>
                <a:off x="8229600" y="1589088"/>
                <a:ext cx="0" cy="4339855"/>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24" name="Straight Connector 123"/>
              <p:cNvCxnSpPr/>
              <p:nvPr/>
            </p:nvCxnSpPr>
            <p:spPr bwMode="auto">
              <a:xfrm>
                <a:off x="3657600" y="5928943"/>
                <a:ext cx="457200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28" name="Straight Connector 127"/>
              <p:cNvCxnSpPr/>
              <p:nvPr/>
            </p:nvCxnSpPr>
            <p:spPr bwMode="auto">
              <a:xfrm>
                <a:off x="4114800" y="1589088"/>
                <a:ext cx="0" cy="4339855"/>
              </a:xfrm>
              <a:prstGeom prst="line">
                <a:avLst/>
              </a:prstGeom>
              <a:noFill/>
              <a:ln w="9525" cap="flat" cmpd="sng" algn="ctr">
                <a:solidFill>
                  <a:schemeClr val="bg1">
                    <a:lumMod val="65000"/>
                  </a:schemeClr>
                </a:solidFill>
                <a:prstDash val="solid"/>
                <a:round/>
                <a:headEnd type="none" w="med" len="med"/>
                <a:tailEnd type="none" w="med" len="med"/>
              </a:ln>
              <a:effectLst/>
            </p:spPr>
          </p:cxnSp>
        </p:grpSp>
        <p:grpSp>
          <p:nvGrpSpPr>
            <p:cNvPr id="150" name="Group 149"/>
            <p:cNvGrpSpPr/>
            <p:nvPr/>
          </p:nvGrpSpPr>
          <p:grpSpPr>
            <a:xfrm>
              <a:off x="3501147" y="4343400"/>
              <a:ext cx="5151967" cy="1948952"/>
              <a:chOff x="3501147" y="4343400"/>
              <a:chExt cx="5151967" cy="1948952"/>
            </a:xfrm>
          </p:grpSpPr>
          <p:cxnSp>
            <p:nvCxnSpPr>
              <p:cNvPr id="85" name="Straight Connector 84"/>
              <p:cNvCxnSpPr/>
              <p:nvPr/>
            </p:nvCxnSpPr>
            <p:spPr bwMode="auto">
              <a:xfrm>
                <a:off x="3657600" y="4343400"/>
                <a:ext cx="4724400" cy="0"/>
              </a:xfrm>
              <a:prstGeom prst="line">
                <a:avLst/>
              </a:prstGeom>
              <a:noFill/>
              <a:ln w="19050" cap="flat" cmpd="sng" algn="ctr">
                <a:solidFill>
                  <a:schemeClr val="tx1"/>
                </a:solidFill>
                <a:prstDash val="solid"/>
                <a:round/>
                <a:headEnd type="none" w="med" len="med"/>
                <a:tailEnd type="none" w="med" len="med"/>
              </a:ln>
              <a:effectLst/>
            </p:spPr>
          </p:cxnSp>
          <p:sp>
            <p:nvSpPr>
              <p:cNvPr id="86" name="TextBox 85"/>
              <p:cNvSpPr txBox="1"/>
              <p:nvPr/>
            </p:nvSpPr>
            <p:spPr>
              <a:xfrm>
                <a:off x="8229600" y="4415135"/>
                <a:ext cx="423514" cy="461665"/>
              </a:xfrm>
              <a:prstGeom prst="rect">
                <a:avLst/>
              </a:prstGeom>
              <a:noFill/>
            </p:spPr>
            <p:txBody>
              <a:bodyPr wrap="none" rtlCol="0">
                <a:spAutoFit/>
              </a:bodyPr>
              <a:lstStyle/>
              <a:p>
                <a:r>
                  <a:rPr lang="en-US" sz="2400" dirty="0"/>
                  <a:t>Q</a:t>
                </a:r>
              </a:p>
            </p:txBody>
          </p:sp>
          <p:sp>
            <p:nvSpPr>
              <p:cNvPr id="138" name="TextBox 137"/>
              <p:cNvSpPr txBox="1"/>
              <p:nvPr/>
            </p:nvSpPr>
            <p:spPr>
              <a:xfrm>
                <a:off x="3955943" y="5923020"/>
                <a:ext cx="312906" cy="369332"/>
              </a:xfrm>
              <a:prstGeom prst="rect">
                <a:avLst/>
              </a:prstGeom>
              <a:noFill/>
            </p:spPr>
            <p:txBody>
              <a:bodyPr wrap="none" rtlCol="0">
                <a:spAutoFit/>
              </a:bodyPr>
              <a:lstStyle/>
              <a:p>
                <a:r>
                  <a:rPr lang="en-US" dirty="0"/>
                  <a:t>1</a:t>
                </a:r>
              </a:p>
            </p:txBody>
          </p:sp>
          <p:sp>
            <p:nvSpPr>
              <p:cNvPr id="139" name="TextBox 138"/>
              <p:cNvSpPr txBox="1"/>
              <p:nvPr/>
            </p:nvSpPr>
            <p:spPr>
              <a:xfrm>
                <a:off x="3501147" y="5923020"/>
                <a:ext cx="312906" cy="369332"/>
              </a:xfrm>
              <a:prstGeom prst="rect">
                <a:avLst/>
              </a:prstGeom>
              <a:noFill/>
            </p:spPr>
            <p:txBody>
              <a:bodyPr wrap="none" rtlCol="0">
                <a:spAutoFit/>
              </a:bodyPr>
              <a:lstStyle/>
              <a:p>
                <a:r>
                  <a:rPr lang="en-US" dirty="0"/>
                  <a:t>0</a:t>
                </a:r>
              </a:p>
            </p:txBody>
          </p:sp>
          <p:sp>
            <p:nvSpPr>
              <p:cNvPr id="140" name="TextBox 139"/>
              <p:cNvSpPr txBox="1"/>
              <p:nvPr/>
            </p:nvSpPr>
            <p:spPr>
              <a:xfrm>
                <a:off x="4415547" y="5923020"/>
                <a:ext cx="312906" cy="369332"/>
              </a:xfrm>
              <a:prstGeom prst="rect">
                <a:avLst/>
              </a:prstGeom>
              <a:noFill/>
            </p:spPr>
            <p:txBody>
              <a:bodyPr wrap="none" rtlCol="0">
                <a:spAutoFit/>
              </a:bodyPr>
              <a:lstStyle/>
              <a:p>
                <a:r>
                  <a:rPr lang="en-US" dirty="0"/>
                  <a:t>2</a:t>
                </a:r>
              </a:p>
            </p:txBody>
          </p:sp>
          <p:sp>
            <p:nvSpPr>
              <p:cNvPr id="141" name="TextBox 140"/>
              <p:cNvSpPr txBox="1"/>
              <p:nvPr/>
            </p:nvSpPr>
            <p:spPr>
              <a:xfrm>
                <a:off x="4872747" y="5923020"/>
                <a:ext cx="312906" cy="369332"/>
              </a:xfrm>
              <a:prstGeom prst="rect">
                <a:avLst/>
              </a:prstGeom>
              <a:noFill/>
            </p:spPr>
            <p:txBody>
              <a:bodyPr wrap="none" rtlCol="0">
                <a:spAutoFit/>
              </a:bodyPr>
              <a:lstStyle/>
              <a:p>
                <a:r>
                  <a:rPr lang="en-US" dirty="0"/>
                  <a:t>3</a:t>
                </a:r>
              </a:p>
            </p:txBody>
          </p:sp>
          <p:sp>
            <p:nvSpPr>
              <p:cNvPr id="142" name="TextBox 141"/>
              <p:cNvSpPr txBox="1"/>
              <p:nvPr/>
            </p:nvSpPr>
            <p:spPr>
              <a:xfrm>
                <a:off x="5338053" y="5923020"/>
                <a:ext cx="312906" cy="369332"/>
              </a:xfrm>
              <a:prstGeom prst="rect">
                <a:avLst/>
              </a:prstGeom>
              <a:noFill/>
            </p:spPr>
            <p:txBody>
              <a:bodyPr wrap="none" rtlCol="0">
                <a:spAutoFit/>
              </a:bodyPr>
              <a:lstStyle/>
              <a:p>
                <a:r>
                  <a:rPr lang="en-US" dirty="0"/>
                  <a:t>4</a:t>
                </a:r>
              </a:p>
            </p:txBody>
          </p:sp>
          <p:sp>
            <p:nvSpPr>
              <p:cNvPr id="143" name="TextBox 142"/>
              <p:cNvSpPr txBox="1"/>
              <p:nvPr/>
            </p:nvSpPr>
            <p:spPr>
              <a:xfrm>
                <a:off x="5787147" y="5923020"/>
                <a:ext cx="312906" cy="369332"/>
              </a:xfrm>
              <a:prstGeom prst="rect">
                <a:avLst/>
              </a:prstGeom>
              <a:noFill/>
            </p:spPr>
            <p:txBody>
              <a:bodyPr wrap="none" rtlCol="0">
                <a:spAutoFit/>
              </a:bodyPr>
              <a:lstStyle/>
              <a:p>
                <a:r>
                  <a:rPr lang="en-US" dirty="0"/>
                  <a:t>5</a:t>
                </a:r>
              </a:p>
            </p:txBody>
          </p:sp>
          <p:sp>
            <p:nvSpPr>
              <p:cNvPr id="144" name="TextBox 143"/>
              <p:cNvSpPr txBox="1"/>
              <p:nvPr/>
            </p:nvSpPr>
            <p:spPr>
              <a:xfrm>
                <a:off x="6244347" y="5923020"/>
                <a:ext cx="312906" cy="369332"/>
              </a:xfrm>
              <a:prstGeom prst="rect">
                <a:avLst/>
              </a:prstGeom>
              <a:noFill/>
            </p:spPr>
            <p:txBody>
              <a:bodyPr wrap="none" rtlCol="0">
                <a:spAutoFit/>
              </a:bodyPr>
              <a:lstStyle/>
              <a:p>
                <a:r>
                  <a:rPr lang="en-US" dirty="0"/>
                  <a:t>6</a:t>
                </a:r>
              </a:p>
            </p:txBody>
          </p:sp>
          <p:sp>
            <p:nvSpPr>
              <p:cNvPr id="145" name="TextBox 144"/>
              <p:cNvSpPr txBox="1"/>
              <p:nvPr/>
            </p:nvSpPr>
            <p:spPr>
              <a:xfrm>
                <a:off x="6697494" y="5923020"/>
                <a:ext cx="312906" cy="369332"/>
              </a:xfrm>
              <a:prstGeom prst="rect">
                <a:avLst/>
              </a:prstGeom>
              <a:noFill/>
            </p:spPr>
            <p:txBody>
              <a:bodyPr wrap="none" rtlCol="0">
                <a:spAutoFit/>
              </a:bodyPr>
              <a:lstStyle/>
              <a:p>
                <a:r>
                  <a:rPr lang="en-US" dirty="0"/>
                  <a:t>7</a:t>
                </a:r>
              </a:p>
            </p:txBody>
          </p:sp>
          <p:sp>
            <p:nvSpPr>
              <p:cNvPr id="146" name="TextBox 145"/>
              <p:cNvSpPr txBox="1"/>
              <p:nvPr/>
            </p:nvSpPr>
            <p:spPr>
              <a:xfrm>
                <a:off x="7158747" y="5923020"/>
                <a:ext cx="312906" cy="369332"/>
              </a:xfrm>
              <a:prstGeom prst="rect">
                <a:avLst/>
              </a:prstGeom>
              <a:noFill/>
            </p:spPr>
            <p:txBody>
              <a:bodyPr wrap="none" rtlCol="0">
                <a:spAutoFit/>
              </a:bodyPr>
              <a:lstStyle/>
              <a:p>
                <a:r>
                  <a:rPr lang="en-US" dirty="0"/>
                  <a:t>8</a:t>
                </a:r>
              </a:p>
            </p:txBody>
          </p:sp>
          <p:sp>
            <p:nvSpPr>
              <p:cNvPr id="147" name="TextBox 146"/>
              <p:cNvSpPr txBox="1"/>
              <p:nvPr/>
            </p:nvSpPr>
            <p:spPr>
              <a:xfrm>
                <a:off x="7620000" y="5923020"/>
                <a:ext cx="312906" cy="369332"/>
              </a:xfrm>
              <a:prstGeom prst="rect">
                <a:avLst/>
              </a:prstGeom>
              <a:noFill/>
            </p:spPr>
            <p:txBody>
              <a:bodyPr wrap="none" rtlCol="0">
                <a:spAutoFit/>
              </a:bodyPr>
              <a:lstStyle/>
              <a:p>
                <a:r>
                  <a:rPr lang="en-US" dirty="0"/>
                  <a:t>9</a:t>
                </a:r>
              </a:p>
            </p:txBody>
          </p:sp>
          <p:sp>
            <p:nvSpPr>
              <p:cNvPr id="148" name="TextBox 147"/>
              <p:cNvSpPr txBox="1"/>
              <p:nvPr/>
            </p:nvSpPr>
            <p:spPr>
              <a:xfrm>
                <a:off x="8001000" y="5923020"/>
                <a:ext cx="441146" cy="369332"/>
              </a:xfrm>
              <a:prstGeom prst="rect">
                <a:avLst/>
              </a:prstGeom>
              <a:noFill/>
            </p:spPr>
            <p:txBody>
              <a:bodyPr wrap="none" rtlCol="0">
                <a:spAutoFit/>
              </a:bodyPr>
              <a:lstStyle/>
              <a:p>
                <a:r>
                  <a:rPr lang="en-US" dirty="0"/>
                  <a:t>10</a:t>
                </a:r>
              </a:p>
            </p:txBody>
          </p:sp>
        </p:grpSp>
      </p:grpSp>
      <p:grpSp>
        <p:nvGrpSpPr>
          <p:cNvPr id="168" name="Group 167"/>
          <p:cNvGrpSpPr/>
          <p:nvPr/>
        </p:nvGrpSpPr>
        <p:grpSpPr>
          <a:xfrm>
            <a:off x="3929062" y="1371600"/>
            <a:ext cx="4691322" cy="2406609"/>
            <a:chOff x="3929062" y="1371600"/>
            <a:chExt cx="4691322" cy="2406609"/>
          </a:xfrm>
        </p:grpSpPr>
        <p:grpSp>
          <p:nvGrpSpPr>
            <p:cNvPr id="153" name="Group 74"/>
            <p:cNvGrpSpPr>
              <a:grpSpLocks/>
            </p:cNvGrpSpPr>
            <p:nvPr/>
          </p:nvGrpSpPr>
          <p:grpSpPr bwMode="auto">
            <a:xfrm>
              <a:off x="3929062" y="1371600"/>
              <a:ext cx="4648200" cy="2366963"/>
              <a:chOff x="2284" y="1167"/>
              <a:chExt cx="2928" cy="1491"/>
            </a:xfrm>
          </p:grpSpPr>
          <p:grpSp>
            <p:nvGrpSpPr>
              <p:cNvPr id="154" name="Group 67"/>
              <p:cNvGrpSpPr>
                <a:grpSpLocks/>
              </p:cNvGrpSpPr>
              <p:nvPr/>
            </p:nvGrpSpPr>
            <p:grpSpPr bwMode="auto">
              <a:xfrm>
                <a:off x="2284" y="1167"/>
                <a:ext cx="2922" cy="1491"/>
                <a:chOff x="2284" y="1167"/>
                <a:chExt cx="2922" cy="1491"/>
              </a:xfrm>
            </p:grpSpPr>
            <p:sp>
              <p:nvSpPr>
                <p:cNvPr id="156" name="Freeform 27"/>
                <p:cNvSpPr>
                  <a:spLocks/>
                </p:cNvSpPr>
                <p:nvPr/>
              </p:nvSpPr>
              <p:spPr bwMode="auto">
                <a:xfrm>
                  <a:off x="2326" y="1211"/>
                  <a:ext cx="2880" cy="1447"/>
                </a:xfrm>
                <a:custGeom>
                  <a:avLst/>
                  <a:gdLst>
                    <a:gd name="T0" fmla="*/ 0 w 349"/>
                    <a:gd name="T1" fmla="*/ 0 h 131"/>
                    <a:gd name="T2" fmla="*/ 1959106 w 349"/>
                    <a:gd name="T3" fmla="*/ 932349 h 131"/>
                    <a:gd name="T4" fmla="*/ 3875727 w 349"/>
                    <a:gd name="T5" fmla="*/ 1915869 h 131"/>
                    <a:gd name="T6" fmla="*/ 5834766 w 349"/>
                    <a:gd name="T7" fmla="*/ 2848137 h 131"/>
                    <a:gd name="T8" fmla="*/ 7798788 w 349"/>
                    <a:gd name="T9" fmla="*/ 3773247 h 131"/>
                    <a:gd name="T10" fmla="*/ 9716066 w 349"/>
                    <a:gd name="T11" fmla="*/ 4757566 h 131"/>
                    <a:gd name="T12" fmla="*/ 11674517 w 349"/>
                    <a:gd name="T13" fmla="*/ 5689116 h 131"/>
                    <a:gd name="T14" fmla="*/ 13591716 w 349"/>
                    <a:gd name="T15" fmla="*/ 6621465 h 131"/>
                    <a:gd name="T16" fmla="*/ 15550821 w 349"/>
                    <a:gd name="T17" fmla="*/ 7604984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9"/>
                    <a:gd name="T28" fmla="*/ 0 h 131"/>
                    <a:gd name="T29" fmla="*/ 349 w 349"/>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9" h="131">
                      <a:moveTo>
                        <a:pt x="0" y="0"/>
                      </a:moveTo>
                      <a:lnTo>
                        <a:pt x="44" y="16"/>
                      </a:lnTo>
                      <a:lnTo>
                        <a:pt x="87" y="33"/>
                      </a:lnTo>
                      <a:lnTo>
                        <a:pt x="131" y="49"/>
                      </a:lnTo>
                      <a:lnTo>
                        <a:pt x="175" y="65"/>
                      </a:lnTo>
                      <a:lnTo>
                        <a:pt x="218" y="82"/>
                      </a:lnTo>
                      <a:lnTo>
                        <a:pt x="262" y="98"/>
                      </a:lnTo>
                      <a:lnTo>
                        <a:pt x="305" y="114"/>
                      </a:lnTo>
                      <a:lnTo>
                        <a:pt x="349" y="131"/>
                      </a:lnTo>
                    </a:path>
                  </a:pathLst>
                </a:custGeom>
                <a:noFill/>
                <a:ln w="41275">
                  <a:solidFill>
                    <a:srgbClr val="0000FF"/>
                  </a:solidFill>
                  <a:round/>
                  <a:headEnd/>
                  <a:tailEnd/>
                </a:ln>
              </p:spPr>
              <p:txBody>
                <a:bodyPr/>
                <a:lstStyle/>
                <a:p>
                  <a:endParaRPr lang="en-US">
                    <a:latin typeface="Arial"/>
                    <a:cs typeface="Arial"/>
                  </a:endParaRPr>
                </a:p>
              </p:txBody>
            </p:sp>
            <p:sp>
              <p:nvSpPr>
                <p:cNvPr id="157" name="Oval 29"/>
                <p:cNvSpPr>
                  <a:spLocks noChangeArrowheads="1"/>
                </p:cNvSpPr>
                <p:nvPr/>
              </p:nvSpPr>
              <p:spPr bwMode="auto">
                <a:xfrm>
                  <a:off x="2284" y="1167"/>
                  <a:ext cx="76" cy="80"/>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158" name="Oval 30"/>
                <p:cNvSpPr>
                  <a:spLocks noChangeArrowheads="1"/>
                </p:cNvSpPr>
                <p:nvPr/>
              </p:nvSpPr>
              <p:spPr bwMode="auto">
                <a:xfrm>
                  <a:off x="2581" y="1313"/>
                  <a:ext cx="77"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159" name="Oval 31"/>
                <p:cNvSpPr>
                  <a:spLocks noChangeArrowheads="1"/>
                </p:cNvSpPr>
                <p:nvPr/>
              </p:nvSpPr>
              <p:spPr bwMode="auto">
                <a:xfrm>
                  <a:off x="2864" y="1460"/>
                  <a:ext cx="76" cy="80"/>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160" name="Oval 32"/>
                <p:cNvSpPr>
                  <a:spLocks noChangeArrowheads="1"/>
                </p:cNvSpPr>
                <p:nvPr/>
              </p:nvSpPr>
              <p:spPr bwMode="auto">
                <a:xfrm>
                  <a:off x="3152" y="1606"/>
                  <a:ext cx="77"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161" name="Oval 33"/>
                <p:cNvSpPr>
                  <a:spLocks noChangeArrowheads="1"/>
                </p:cNvSpPr>
                <p:nvPr/>
              </p:nvSpPr>
              <p:spPr bwMode="auto">
                <a:xfrm>
                  <a:off x="3440" y="1753"/>
                  <a:ext cx="77"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162" name="Oval 34"/>
                <p:cNvSpPr>
                  <a:spLocks noChangeArrowheads="1"/>
                </p:cNvSpPr>
                <p:nvPr/>
              </p:nvSpPr>
              <p:spPr bwMode="auto">
                <a:xfrm>
                  <a:off x="3728" y="1887"/>
                  <a:ext cx="77"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163" name="Oval 35"/>
                <p:cNvSpPr>
                  <a:spLocks noChangeArrowheads="1"/>
                </p:cNvSpPr>
                <p:nvPr/>
              </p:nvSpPr>
              <p:spPr bwMode="auto">
                <a:xfrm>
                  <a:off x="4016" y="2045"/>
                  <a:ext cx="76"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164" name="Oval 36"/>
                <p:cNvSpPr>
                  <a:spLocks noChangeArrowheads="1"/>
                </p:cNvSpPr>
                <p:nvPr/>
              </p:nvSpPr>
              <p:spPr bwMode="auto">
                <a:xfrm>
                  <a:off x="4304" y="2173"/>
                  <a:ext cx="77"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165" name="Oval 37"/>
                <p:cNvSpPr>
                  <a:spLocks noChangeArrowheads="1"/>
                </p:cNvSpPr>
                <p:nvPr/>
              </p:nvSpPr>
              <p:spPr bwMode="auto">
                <a:xfrm>
                  <a:off x="4592" y="2329"/>
                  <a:ext cx="76"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grpSp>
          <p:sp>
            <p:nvSpPr>
              <p:cNvPr id="155" name="Rectangle 71"/>
              <p:cNvSpPr>
                <a:spLocks noChangeArrowheads="1"/>
              </p:cNvSpPr>
              <p:nvPr/>
            </p:nvSpPr>
            <p:spPr bwMode="auto">
              <a:xfrm>
                <a:off x="3473" y="1476"/>
                <a:ext cx="1739" cy="298"/>
              </a:xfrm>
              <a:prstGeom prst="rect">
                <a:avLst/>
              </a:prstGeom>
              <a:noFill/>
              <a:ln w="9525">
                <a:noFill/>
                <a:miter lim="800000"/>
                <a:headEnd/>
                <a:tailEnd/>
              </a:ln>
            </p:spPr>
            <p:txBody>
              <a:bodyPr wrap="none">
                <a:spAutoFit/>
              </a:bodyPr>
              <a:lstStyle/>
              <a:p>
                <a:r>
                  <a:rPr lang="en-US" sz="2500" dirty="0">
                    <a:latin typeface="Arial"/>
                    <a:cs typeface="Arial"/>
                  </a:rPr>
                  <a:t>Demand curve</a:t>
                </a:r>
                <a:r>
                  <a:rPr lang="en-US" sz="2500" b="1" i="1" dirty="0">
                    <a:latin typeface="Arial"/>
                    <a:cs typeface="Arial"/>
                  </a:rPr>
                  <a:t> </a:t>
                </a:r>
                <a:r>
                  <a:rPr lang="en-US" sz="2500" dirty="0">
                    <a:latin typeface="Arial"/>
                    <a:cs typeface="Arial"/>
                  </a:rPr>
                  <a:t>(</a:t>
                </a:r>
                <a:r>
                  <a:rPr lang="en-US" sz="2500" b="1" i="1" dirty="0">
                    <a:latin typeface="Arial"/>
                    <a:cs typeface="Arial"/>
                  </a:rPr>
                  <a:t>P</a:t>
                </a:r>
                <a:r>
                  <a:rPr lang="en-US" sz="2500" dirty="0">
                    <a:latin typeface="Arial"/>
                    <a:cs typeface="Arial"/>
                  </a:rPr>
                  <a:t>)</a:t>
                </a:r>
              </a:p>
            </p:txBody>
          </p:sp>
        </p:grpSp>
        <p:sp>
          <p:nvSpPr>
            <p:cNvPr id="166" name="Oval 37"/>
            <p:cNvSpPr>
              <a:spLocks noChangeArrowheads="1"/>
            </p:cNvSpPr>
            <p:nvPr/>
          </p:nvSpPr>
          <p:spPr bwMode="auto">
            <a:xfrm>
              <a:off x="8050561" y="3445113"/>
              <a:ext cx="120650" cy="128588"/>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167" name="Oval 37"/>
            <p:cNvSpPr>
              <a:spLocks noChangeArrowheads="1"/>
            </p:cNvSpPr>
            <p:nvPr/>
          </p:nvSpPr>
          <p:spPr bwMode="auto">
            <a:xfrm>
              <a:off x="8499734" y="3649621"/>
              <a:ext cx="120650" cy="128588"/>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grpSp>
      <p:grpSp>
        <p:nvGrpSpPr>
          <p:cNvPr id="183" name="Group 182"/>
          <p:cNvGrpSpPr/>
          <p:nvPr/>
        </p:nvGrpSpPr>
        <p:grpSpPr>
          <a:xfrm>
            <a:off x="4191000" y="1641475"/>
            <a:ext cx="4201042" cy="4197904"/>
            <a:chOff x="4191000" y="1641475"/>
            <a:chExt cx="4201042" cy="4197904"/>
          </a:xfrm>
        </p:grpSpPr>
        <p:grpSp>
          <p:nvGrpSpPr>
            <p:cNvPr id="169" name="Group 73"/>
            <p:cNvGrpSpPr>
              <a:grpSpLocks/>
            </p:cNvGrpSpPr>
            <p:nvPr/>
          </p:nvGrpSpPr>
          <p:grpSpPr bwMode="auto">
            <a:xfrm>
              <a:off x="4191000" y="1641475"/>
              <a:ext cx="4148137" cy="4133850"/>
              <a:chOff x="2494" y="1310"/>
              <a:chExt cx="2613" cy="2604"/>
            </a:xfrm>
          </p:grpSpPr>
          <p:grpSp>
            <p:nvGrpSpPr>
              <p:cNvPr id="170" name="Group 68"/>
              <p:cNvGrpSpPr>
                <a:grpSpLocks/>
              </p:cNvGrpSpPr>
              <p:nvPr/>
            </p:nvGrpSpPr>
            <p:grpSpPr bwMode="auto">
              <a:xfrm>
                <a:off x="2494" y="1310"/>
                <a:ext cx="2613" cy="2604"/>
                <a:chOff x="2494" y="1310"/>
                <a:chExt cx="2613" cy="2604"/>
              </a:xfrm>
            </p:grpSpPr>
            <p:sp>
              <p:nvSpPr>
                <p:cNvPr id="172" name="Freeform 28"/>
                <p:cNvSpPr>
                  <a:spLocks/>
                </p:cNvSpPr>
                <p:nvPr/>
              </p:nvSpPr>
              <p:spPr bwMode="auto">
                <a:xfrm>
                  <a:off x="2509" y="1333"/>
                  <a:ext cx="2598" cy="2581"/>
                </a:xfrm>
                <a:custGeom>
                  <a:avLst/>
                  <a:gdLst>
                    <a:gd name="T0" fmla="*/ 0 w 305"/>
                    <a:gd name="T1" fmla="*/ 0 h 229"/>
                    <a:gd name="T2" fmla="*/ 1917960 w 305"/>
                    <a:gd name="T3" fmla="*/ 1912302 h 229"/>
                    <a:gd name="T4" fmla="*/ 3877755 w 305"/>
                    <a:gd name="T5" fmla="*/ 3823959 h 229"/>
                    <a:gd name="T6" fmla="*/ 5843055 w 305"/>
                    <a:gd name="T7" fmla="*/ 5677908 h 229"/>
                    <a:gd name="T8" fmla="*/ 7755442 w 305"/>
                    <a:gd name="T9" fmla="*/ 7583702 h 229"/>
                    <a:gd name="T10" fmla="*/ 9720811 w 305"/>
                    <a:gd name="T11" fmla="*/ 9496077 h 229"/>
                    <a:gd name="T12" fmla="*/ 11680614 w 305"/>
                    <a:gd name="T13" fmla="*/ 11350034 h 229"/>
                    <a:gd name="T14" fmla="*/ 13598496 w 305"/>
                    <a:gd name="T15" fmla="*/ 13261610 h 229"/>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229"/>
                    <a:gd name="T26" fmla="*/ 305 w 305"/>
                    <a:gd name="T27" fmla="*/ 229 h 22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229">
                      <a:moveTo>
                        <a:pt x="0" y="0"/>
                      </a:moveTo>
                      <a:lnTo>
                        <a:pt x="43" y="33"/>
                      </a:lnTo>
                      <a:lnTo>
                        <a:pt x="87" y="66"/>
                      </a:lnTo>
                      <a:lnTo>
                        <a:pt x="131" y="98"/>
                      </a:lnTo>
                      <a:lnTo>
                        <a:pt x="174" y="131"/>
                      </a:lnTo>
                      <a:lnTo>
                        <a:pt x="218" y="164"/>
                      </a:lnTo>
                      <a:lnTo>
                        <a:pt x="262" y="196"/>
                      </a:lnTo>
                      <a:lnTo>
                        <a:pt x="305" y="229"/>
                      </a:lnTo>
                    </a:path>
                  </a:pathLst>
                </a:custGeom>
                <a:noFill/>
                <a:ln w="41275">
                  <a:solidFill>
                    <a:srgbClr val="FF0000"/>
                  </a:solidFill>
                  <a:round/>
                  <a:headEnd/>
                  <a:tailEnd/>
                </a:ln>
              </p:spPr>
              <p:txBody>
                <a:bodyPr/>
                <a:lstStyle/>
                <a:p>
                  <a:endParaRPr lang="en-US">
                    <a:latin typeface="Arial"/>
                    <a:cs typeface="Arial"/>
                  </a:endParaRPr>
                </a:p>
              </p:txBody>
            </p:sp>
            <p:sp>
              <p:nvSpPr>
                <p:cNvPr id="173" name="Oval 38"/>
                <p:cNvSpPr>
                  <a:spLocks noChangeArrowheads="1"/>
                </p:cNvSpPr>
                <p:nvPr/>
              </p:nvSpPr>
              <p:spPr bwMode="auto">
                <a:xfrm>
                  <a:off x="2494" y="1310"/>
                  <a:ext cx="76"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174" name="Oval 39"/>
                <p:cNvSpPr>
                  <a:spLocks noChangeArrowheads="1"/>
                </p:cNvSpPr>
                <p:nvPr/>
              </p:nvSpPr>
              <p:spPr bwMode="auto">
                <a:xfrm>
                  <a:off x="2756" y="1582"/>
                  <a:ext cx="76"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175" name="Oval 40"/>
                <p:cNvSpPr>
                  <a:spLocks noChangeArrowheads="1"/>
                </p:cNvSpPr>
                <p:nvPr/>
              </p:nvSpPr>
              <p:spPr bwMode="auto">
                <a:xfrm>
                  <a:off x="3046" y="1867"/>
                  <a:ext cx="77"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176" name="Oval 41"/>
                <p:cNvSpPr>
                  <a:spLocks noChangeArrowheads="1"/>
                </p:cNvSpPr>
                <p:nvPr/>
              </p:nvSpPr>
              <p:spPr bwMode="auto">
                <a:xfrm>
                  <a:off x="3334" y="2146"/>
                  <a:ext cx="77"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177" name="Oval 42"/>
                <p:cNvSpPr>
                  <a:spLocks noChangeArrowheads="1"/>
                </p:cNvSpPr>
                <p:nvPr/>
              </p:nvSpPr>
              <p:spPr bwMode="auto">
                <a:xfrm>
                  <a:off x="3640" y="2442"/>
                  <a:ext cx="77" cy="80"/>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178" name="Oval 43"/>
                <p:cNvSpPr>
                  <a:spLocks noChangeArrowheads="1"/>
                </p:cNvSpPr>
                <p:nvPr/>
              </p:nvSpPr>
              <p:spPr bwMode="auto">
                <a:xfrm>
                  <a:off x="3910" y="2716"/>
                  <a:ext cx="77" cy="80"/>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179" name="Oval 44"/>
                <p:cNvSpPr>
                  <a:spLocks noChangeArrowheads="1"/>
                </p:cNvSpPr>
                <p:nvPr/>
              </p:nvSpPr>
              <p:spPr bwMode="auto">
                <a:xfrm>
                  <a:off x="4198" y="3009"/>
                  <a:ext cx="76"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180" name="Oval 45"/>
                <p:cNvSpPr>
                  <a:spLocks noChangeArrowheads="1"/>
                </p:cNvSpPr>
                <p:nvPr/>
              </p:nvSpPr>
              <p:spPr bwMode="auto">
                <a:xfrm>
                  <a:off x="4500" y="3297"/>
                  <a:ext cx="76"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grpSp>
          <p:sp>
            <p:nvSpPr>
              <p:cNvPr id="171" name="Rectangle 72"/>
              <p:cNvSpPr>
                <a:spLocks noChangeArrowheads="1"/>
              </p:cNvSpPr>
              <p:nvPr/>
            </p:nvSpPr>
            <p:spPr bwMode="auto">
              <a:xfrm>
                <a:off x="3406" y="2597"/>
                <a:ext cx="442" cy="301"/>
              </a:xfrm>
              <a:prstGeom prst="rect">
                <a:avLst/>
              </a:prstGeom>
              <a:noFill/>
              <a:ln w="9525">
                <a:noFill/>
                <a:miter lim="800000"/>
                <a:headEnd/>
                <a:tailEnd/>
              </a:ln>
            </p:spPr>
            <p:txBody>
              <a:bodyPr wrap="none">
                <a:spAutoFit/>
              </a:bodyPr>
              <a:lstStyle/>
              <a:p>
                <a:r>
                  <a:rPr lang="en-US" sz="2500" b="1" i="1" dirty="0">
                    <a:latin typeface="Arial"/>
                    <a:cs typeface="Arial"/>
                  </a:rPr>
                  <a:t>MR</a:t>
                </a:r>
                <a:endParaRPr lang="en-US" sz="2500" dirty="0">
                  <a:latin typeface="Arial"/>
                  <a:cs typeface="Arial"/>
                </a:endParaRPr>
              </a:p>
            </p:txBody>
          </p:sp>
        </p:grpSp>
        <p:sp>
          <p:nvSpPr>
            <p:cNvPr id="181" name="Oval 45"/>
            <p:cNvSpPr>
              <a:spLocks noChangeArrowheads="1"/>
            </p:cNvSpPr>
            <p:nvPr/>
          </p:nvSpPr>
          <p:spPr bwMode="auto">
            <a:xfrm>
              <a:off x="7810139" y="5230237"/>
              <a:ext cx="120650" cy="128588"/>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182" name="Oval 45"/>
            <p:cNvSpPr>
              <a:spLocks noChangeArrowheads="1"/>
            </p:cNvSpPr>
            <p:nvPr/>
          </p:nvSpPr>
          <p:spPr bwMode="auto">
            <a:xfrm>
              <a:off x="8271392" y="5710791"/>
              <a:ext cx="120650" cy="128588"/>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grpSp>
      <p:sp>
        <p:nvSpPr>
          <p:cNvPr id="184" name="Rectangle 120"/>
          <p:cNvSpPr>
            <a:spLocks noChangeArrowheads="1"/>
          </p:cNvSpPr>
          <p:nvPr/>
        </p:nvSpPr>
        <p:spPr bwMode="auto">
          <a:xfrm>
            <a:off x="1130300" y="914399"/>
            <a:ext cx="825143" cy="5480051"/>
          </a:xfrm>
          <a:prstGeom prst="rect">
            <a:avLst/>
          </a:prstGeom>
          <a:noFill/>
          <a:ln w="38100">
            <a:solidFill>
              <a:srgbClr val="0000FF"/>
            </a:solidFill>
            <a:miter lim="800000"/>
            <a:headEnd/>
            <a:tailEnd/>
          </a:ln>
        </p:spPr>
        <p:txBody>
          <a:bodyPr wrap="none" anchor="ctr"/>
          <a:lstStyle/>
          <a:p>
            <a:endParaRPr lang="en-US">
              <a:latin typeface="Arial"/>
              <a:cs typeface="Arial"/>
            </a:endParaRPr>
          </a:p>
        </p:txBody>
      </p:sp>
      <p:sp>
        <p:nvSpPr>
          <p:cNvPr id="185" name="Rectangle 121"/>
          <p:cNvSpPr>
            <a:spLocks noChangeArrowheads="1"/>
          </p:cNvSpPr>
          <p:nvPr/>
        </p:nvSpPr>
        <p:spPr bwMode="auto">
          <a:xfrm>
            <a:off x="1981200" y="914400"/>
            <a:ext cx="1066800" cy="5480050"/>
          </a:xfrm>
          <a:prstGeom prst="rect">
            <a:avLst/>
          </a:prstGeom>
          <a:noFill/>
          <a:ln w="38100">
            <a:solidFill>
              <a:srgbClr val="FF0000"/>
            </a:solidFill>
            <a:miter lim="800000"/>
            <a:headEnd/>
            <a:tailEnd/>
          </a:ln>
        </p:spPr>
        <p:txBody>
          <a:bodyPr wrap="none" anchor="ctr"/>
          <a:lstStyle/>
          <a:p>
            <a:endParaRPr lang="en-US">
              <a:latin typeface="Arial"/>
              <a:cs typeface="Arial"/>
            </a:endParaRPr>
          </a:p>
        </p:txBody>
      </p:sp>
      <p:sp>
        <p:nvSpPr>
          <p:cNvPr id="3" name="Footer Placeholder 2">
            <a:extLst>
              <a:ext uri="{FF2B5EF4-FFF2-40B4-BE49-F238E27FC236}">
                <a16:creationId xmlns:a16="http://schemas.microsoft.com/office/drawing/2014/main" id="{B01B1163-AA33-A16B-B265-D8FBFE46416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1175115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animEffect transition="in" filter="wipe(left)">
                                      <p:cBhvr>
                                        <p:cTn id="7" dur="500"/>
                                        <p:tgtEl>
                                          <p:spTgt spid="16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4"/>
                                        </p:tgtEl>
                                        <p:attrNameLst>
                                          <p:attrName>style.visibility</p:attrName>
                                        </p:attrNameLst>
                                      </p:cBhvr>
                                      <p:to>
                                        <p:strVal val="visible"/>
                                      </p:to>
                                    </p:set>
                                    <p:animEffect transition="in" filter="fade">
                                      <p:cBhvr>
                                        <p:cTn id="10" dur="500"/>
                                        <p:tgtEl>
                                          <p:spTgt spid="18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up)">
                                      <p:cBhvr>
                                        <p:cTn id="15" dur="500"/>
                                        <p:tgtEl>
                                          <p:spTgt spid="19"/>
                                        </p:tgtEl>
                                      </p:cBhvr>
                                    </p:animEffect>
                                  </p:childTnLst>
                                </p:cTn>
                              </p:par>
                              <p:par>
                                <p:cTn id="16" presetID="10" presetClass="exit" presetSubtype="0" fill="hold" grpId="1" nodeType="withEffect">
                                  <p:stCondLst>
                                    <p:cond delay="0"/>
                                  </p:stCondLst>
                                  <p:childTnLst>
                                    <p:animEffect transition="out" filter="fade">
                                      <p:cBhvr>
                                        <p:cTn id="17" dur="500"/>
                                        <p:tgtEl>
                                          <p:spTgt spid="184"/>
                                        </p:tgtEl>
                                      </p:cBhvr>
                                    </p:animEffect>
                                    <p:set>
                                      <p:cBhvr>
                                        <p:cTn id="18" dur="1" fill="hold">
                                          <p:stCondLst>
                                            <p:cond delay="499"/>
                                          </p:stCondLst>
                                        </p:cTn>
                                        <p:tgtEl>
                                          <p:spTgt spid="18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83"/>
                                        </p:tgtEl>
                                        <p:attrNameLst>
                                          <p:attrName>style.visibility</p:attrName>
                                        </p:attrNameLst>
                                      </p:cBhvr>
                                      <p:to>
                                        <p:strVal val="visible"/>
                                      </p:to>
                                    </p:set>
                                    <p:animEffect transition="in" filter="wipe(left)">
                                      <p:cBhvr>
                                        <p:cTn id="23" dur="500"/>
                                        <p:tgtEl>
                                          <p:spTgt spid="18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5"/>
                                        </p:tgtEl>
                                        <p:attrNameLst>
                                          <p:attrName>style.visibility</p:attrName>
                                        </p:attrNameLst>
                                      </p:cBhvr>
                                      <p:to>
                                        <p:strVal val="visible"/>
                                      </p:to>
                                    </p:set>
                                    <p:animEffect transition="in" filter="fade">
                                      <p:cBhvr>
                                        <p:cTn id="26"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 grpId="0" animBg="1"/>
      <p:bldP spid="184" grpId="1" animBg="1"/>
      <p:bldP spid="18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 Monopoly’s Revenue</a:t>
            </a:r>
          </a:p>
        </p:txBody>
      </p:sp>
      <p:sp>
        <p:nvSpPr>
          <p:cNvPr id="3" name="Content Placeholder 2"/>
          <p:cNvSpPr>
            <a:spLocks noGrp="1"/>
          </p:cNvSpPr>
          <p:nvPr>
            <p:ph idx="1"/>
          </p:nvPr>
        </p:nvSpPr>
        <p:spPr>
          <a:prstGeom prst="rect">
            <a:avLst/>
          </a:prstGeom>
        </p:spPr>
        <p:txBody>
          <a:bodyPr/>
          <a:lstStyle/>
          <a:p>
            <a:r>
              <a:rPr lang="en-US" dirty="0"/>
              <a:t>Increasing </a:t>
            </a:r>
            <a:r>
              <a:rPr lang="en-US" b="1" i="1" dirty="0"/>
              <a:t>Q</a:t>
            </a:r>
            <a:r>
              <a:rPr lang="en-US" dirty="0"/>
              <a:t> has two effects on revenue:</a:t>
            </a:r>
          </a:p>
          <a:p>
            <a:pPr lvl="1"/>
            <a:r>
              <a:rPr lang="en-US" sz="3000" u="sng" dirty="0">
                <a:solidFill>
                  <a:srgbClr val="4E519E"/>
                </a:solidFill>
              </a:rPr>
              <a:t>Output effect</a:t>
            </a:r>
            <a:r>
              <a:rPr lang="en-US" sz="3000" dirty="0">
                <a:solidFill>
                  <a:srgbClr val="4E519E"/>
                </a:solidFill>
              </a:rPr>
              <a:t>: </a:t>
            </a:r>
            <a:r>
              <a:rPr lang="en-US" sz="3000" dirty="0"/>
              <a:t>higher output raises revenue</a:t>
            </a:r>
          </a:p>
          <a:p>
            <a:pPr lvl="1"/>
            <a:r>
              <a:rPr lang="en-US" sz="3000" u="sng" dirty="0">
                <a:solidFill>
                  <a:srgbClr val="4E519E"/>
                </a:solidFill>
              </a:rPr>
              <a:t>Price effect: </a:t>
            </a:r>
            <a:r>
              <a:rPr lang="en-US" sz="3000" dirty="0"/>
              <a:t>lower price reduces revenue</a:t>
            </a:r>
          </a:p>
          <a:p>
            <a:r>
              <a:rPr lang="en-US" dirty="0"/>
              <a:t>Marginal revenue, </a:t>
            </a:r>
            <a:r>
              <a:rPr lang="en-US" b="1" i="1" dirty="0"/>
              <a:t>MR</a:t>
            </a:r>
            <a:r>
              <a:rPr lang="en-US" dirty="0"/>
              <a:t> &lt; </a:t>
            </a:r>
            <a:r>
              <a:rPr lang="en-US" b="1" i="1" dirty="0"/>
              <a:t>P</a:t>
            </a:r>
          </a:p>
          <a:p>
            <a:pPr lvl="1"/>
            <a:r>
              <a:rPr lang="en-US" dirty="0"/>
              <a:t>To sell a larger </a:t>
            </a:r>
            <a:r>
              <a:rPr lang="en-US" b="1" i="1" dirty="0"/>
              <a:t>Q</a:t>
            </a:r>
            <a:r>
              <a:rPr lang="en-US" dirty="0"/>
              <a:t>, the monopolist must reduce the price on all the units it sells  </a:t>
            </a:r>
          </a:p>
          <a:p>
            <a:pPr lvl="1"/>
            <a:r>
              <a:rPr lang="en-US" dirty="0"/>
              <a:t>Is negative if price effect &gt; output effect</a:t>
            </a:r>
          </a:p>
          <a:p>
            <a:pPr lvl="2"/>
            <a:r>
              <a:rPr lang="en-US" dirty="0"/>
              <a:t>e.g., when JJ’s increases </a:t>
            </a:r>
            <a:r>
              <a:rPr lang="en-US" b="1" i="1" dirty="0"/>
              <a:t>Q</a:t>
            </a:r>
            <a:r>
              <a:rPr lang="en-US" dirty="0"/>
              <a:t> from 6 to 7</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13</a:t>
            </a:fld>
            <a:endParaRPr lang="en-US"/>
          </a:p>
        </p:txBody>
      </p:sp>
      <p:sp>
        <p:nvSpPr>
          <p:cNvPr id="5" name="Footer Placeholder 4">
            <a:extLst>
              <a:ext uri="{FF2B5EF4-FFF2-40B4-BE49-F238E27FC236}">
                <a16:creationId xmlns:a16="http://schemas.microsoft.com/office/drawing/2014/main" id="{7D3E78DE-939C-A0EC-C1EA-DBF81CCE16E8}"/>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52040919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Monopoly Profit Maximization</a:t>
            </a:r>
          </a:p>
        </p:txBody>
      </p:sp>
      <p:sp>
        <p:nvSpPr>
          <p:cNvPr id="3" name="Content Placeholder 2"/>
          <p:cNvSpPr>
            <a:spLocks noGrp="1"/>
          </p:cNvSpPr>
          <p:nvPr>
            <p:ph idx="1"/>
          </p:nvPr>
        </p:nvSpPr>
        <p:spPr>
          <a:prstGeom prst="rect">
            <a:avLst/>
          </a:prstGeom>
        </p:spPr>
        <p:txBody>
          <a:bodyPr/>
          <a:lstStyle/>
          <a:p>
            <a:r>
              <a:rPr lang="en-US" dirty="0"/>
              <a:t>Produce </a:t>
            </a:r>
            <a:r>
              <a:rPr lang="en-US" b="1" i="1" dirty="0"/>
              <a:t>Q</a:t>
            </a:r>
            <a:r>
              <a:rPr lang="en-US" dirty="0"/>
              <a:t> where </a:t>
            </a:r>
            <a:r>
              <a:rPr lang="en-US" b="1" i="1" dirty="0"/>
              <a:t>MR</a:t>
            </a:r>
            <a:r>
              <a:rPr lang="en-US" dirty="0"/>
              <a:t> = </a:t>
            </a:r>
            <a:r>
              <a:rPr lang="en-US" b="1" i="1" dirty="0"/>
              <a:t>MC </a:t>
            </a:r>
          </a:p>
          <a:p>
            <a:pPr lvl="1">
              <a:buFont typeface="Arial" panose="020B0604020202020204" pitchFamily="34" charset="0"/>
              <a:buChar char="•"/>
            </a:pPr>
            <a:r>
              <a:rPr lang="en-US" dirty="0"/>
              <a:t>Sets the highest price consumers are willing to pay for that quantity </a:t>
            </a:r>
          </a:p>
          <a:p>
            <a:pPr lvl="1">
              <a:buFont typeface="Arial" panose="020B0604020202020204" pitchFamily="34" charset="0"/>
              <a:buChar char="•"/>
            </a:pPr>
            <a:r>
              <a:rPr lang="en-US" dirty="0">
                <a:solidFill>
                  <a:srgbClr val="4E519E"/>
                </a:solidFill>
              </a:rPr>
              <a:t>Finds this price on the </a:t>
            </a:r>
            <a:r>
              <a:rPr lang="en-US" b="1" i="1" dirty="0">
                <a:solidFill>
                  <a:srgbClr val="4E519E"/>
                </a:solidFill>
              </a:rPr>
              <a:t>D</a:t>
            </a:r>
            <a:r>
              <a:rPr lang="en-US" dirty="0">
                <a:solidFill>
                  <a:srgbClr val="4E519E"/>
                </a:solidFill>
              </a:rPr>
              <a:t> curve</a:t>
            </a:r>
          </a:p>
          <a:p>
            <a:pPr lvl="1">
              <a:buFont typeface="Arial" panose="020B0604020202020204" pitchFamily="34" charset="0"/>
              <a:buChar char="•"/>
            </a:pPr>
            <a:r>
              <a:rPr lang="en-US" b="1" i="1" dirty="0"/>
              <a:t>P</a:t>
            </a:r>
            <a:r>
              <a:rPr lang="en-US" dirty="0"/>
              <a:t> &gt; </a:t>
            </a:r>
            <a:r>
              <a:rPr lang="en-US" b="1" i="1" dirty="0"/>
              <a:t>MR</a:t>
            </a:r>
            <a:r>
              <a:rPr lang="en-US" dirty="0"/>
              <a:t> = </a:t>
            </a:r>
            <a:r>
              <a:rPr lang="en-US" b="1" i="1" dirty="0"/>
              <a:t>MC</a:t>
            </a:r>
          </a:p>
          <a:p>
            <a:pPr lvl="1">
              <a:buFont typeface="Arial" panose="020B0604020202020204" pitchFamily="34" charset="0"/>
              <a:buChar char="•"/>
            </a:pPr>
            <a:r>
              <a:rPr lang="en-US" dirty="0"/>
              <a:t>If </a:t>
            </a:r>
            <a:r>
              <a:rPr lang="en-US" b="1" i="1" dirty="0"/>
              <a:t>P</a:t>
            </a:r>
            <a:r>
              <a:rPr lang="en-US" dirty="0"/>
              <a:t> &gt; </a:t>
            </a:r>
            <a:r>
              <a:rPr lang="en-US" b="1" i="1" dirty="0"/>
              <a:t>ATC</a:t>
            </a:r>
            <a:r>
              <a:rPr lang="en-US" dirty="0"/>
              <a:t>, the monopoly earns a profit</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14</a:t>
            </a:fld>
            <a:endParaRPr lang="en-US"/>
          </a:p>
        </p:txBody>
      </p:sp>
      <p:sp>
        <p:nvSpPr>
          <p:cNvPr id="5" name="Footer Placeholder 4">
            <a:extLst>
              <a:ext uri="{FF2B5EF4-FFF2-40B4-BE49-F238E27FC236}">
                <a16:creationId xmlns:a16="http://schemas.microsoft.com/office/drawing/2014/main" id="{C7A596BF-9725-777D-EA6B-35CA7D3819AE}"/>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92096977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pPr algn="ctr" eaLnBrk="1" hangingPunct="1"/>
            <a:r>
              <a:rPr lang="en-US" dirty="0"/>
              <a:t>Profit-Maximization for a Monopoly</a:t>
            </a:r>
          </a:p>
        </p:txBody>
      </p:sp>
      <p:sp>
        <p:nvSpPr>
          <p:cNvPr id="126979" name="Rectangle 3"/>
          <p:cNvSpPr>
            <a:spLocks noGrp="1" noChangeArrowheads="1"/>
          </p:cNvSpPr>
          <p:nvPr>
            <p:ph idx="1"/>
          </p:nvPr>
        </p:nvSpPr>
        <p:spPr>
          <a:xfrm>
            <a:off x="349250" y="3466172"/>
            <a:ext cx="3841749" cy="1010577"/>
          </a:xfrm>
        </p:spPr>
        <p:txBody>
          <a:bodyPr lIns="0" tIns="0" rIns="0" bIns="0">
            <a:normAutofit/>
          </a:bodyPr>
          <a:lstStyle/>
          <a:p>
            <a:pPr eaLnBrk="1" hangingPunct="1">
              <a:spcBef>
                <a:spcPts val="1200"/>
              </a:spcBef>
              <a:buFont typeface="Wingdings" pitchFamily="2" charset="2"/>
              <a:buNone/>
            </a:pPr>
            <a:r>
              <a:rPr lang="en-US" sz="2800" dirty="0"/>
              <a:t>The profit-maximizing    </a:t>
            </a:r>
            <a:r>
              <a:rPr lang="en-US" sz="2800" b="1" i="1" dirty="0"/>
              <a:t>Q</a:t>
            </a:r>
            <a:r>
              <a:rPr lang="en-US" sz="2800" dirty="0"/>
              <a:t> is where </a:t>
            </a:r>
            <a:r>
              <a:rPr lang="en-US" sz="2800" b="1" i="1" dirty="0">
                <a:solidFill>
                  <a:srgbClr val="FF0000"/>
                </a:solidFill>
              </a:rPr>
              <a:t>MR</a:t>
            </a:r>
            <a:r>
              <a:rPr lang="en-US" sz="2800" dirty="0">
                <a:solidFill>
                  <a:srgbClr val="FF0000"/>
                </a:solidFill>
              </a:rPr>
              <a:t> = </a:t>
            </a:r>
            <a:r>
              <a:rPr lang="en-US" sz="2800" b="1" i="1" dirty="0">
                <a:solidFill>
                  <a:srgbClr val="FF0000"/>
                </a:solidFill>
              </a:rPr>
              <a:t>MC</a:t>
            </a:r>
            <a:r>
              <a:rPr lang="en-US" sz="2800" dirty="0"/>
              <a:t>.</a:t>
            </a:r>
          </a:p>
        </p:txBody>
      </p:sp>
      <p:sp>
        <p:nvSpPr>
          <p:cNvPr id="12" name="Slide Number Placeholder 11"/>
          <p:cNvSpPr>
            <a:spLocks noGrp="1"/>
          </p:cNvSpPr>
          <p:nvPr>
            <p:ph type="sldNum" sz="quarter" idx="10"/>
          </p:nvPr>
        </p:nvSpPr>
        <p:spPr/>
        <p:txBody>
          <a:bodyPr/>
          <a:lstStyle/>
          <a:p>
            <a:pPr>
              <a:defRPr/>
            </a:pPr>
            <a:fld id="{073C29DC-2178-4274-9150-45F8EBD31C2D}" type="slidenum">
              <a:rPr lang="en-US" smtClean="0"/>
              <a:pPr>
                <a:defRPr/>
              </a:pPr>
              <a:t>15</a:t>
            </a:fld>
            <a:endParaRPr lang="en-US"/>
          </a:p>
        </p:txBody>
      </p:sp>
      <p:grpSp>
        <p:nvGrpSpPr>
          <p:cNvPr id="2" name="Group 31"/>
          <p:cNvGrpSpPr>
            <a:grpSpLocks/>
          </p:cNvGrpSpPr>
          <p:nvPr/>
        </p:nvGrpSpPr>
        <p:grpSpPr bwMode="auto">
          <a:xfrm>
            <a:off x="3235325" y="990600"/>
            <a:ext cx="5451475" cy="4183063"/>
            <a:chOff x="1579" y="1014"/>
            <a:chExt cx="3434" cy="2635"/>
          </a:xfrm>
        </p:grpSpPr>
        <p:grpSp>
          <p:nvGrpSpPr>
            <p:cNvPr id="3" name="Group 4"/>
            <p:cNvGrpSpPr>
              <a:grpSpLocks/>
            </p:cNvGrpSpPr>
            <p:nvPr/>
          </p:nvGrpSpPr>
          <p:grpSpPr bwMode="auto">
            <a:xfrm>
              <a:off x="2591" y="1080"/>
              <a:ext cx="2262" cy="2284"/>
              <a:chOff x="1489" y="785"/>
              <a:chExt cx="3650" cy="2492"/>
            </a:xfrm>
          </p:grpSpPr>
          <p:sp>
            <p:nvSpPr>
              <p:cNvPr id="17440" name="Line 5"/>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7441" name="Line 6"/>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7438" name="Text Box 7"/>
            <p:cNvSpPr txBox="1">
              <a:spLocks noChangeArrowheads="1"/>
            </p:cNvSpPr>
            <p:nvPr/>
          </p:nvSpPr>
          <p:spPr bwMode="auto">
            <a:xfrm>
              <a:off x="4232" y="3416"/>
              <a:ext cx="781"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Quantity</a:t>
              </a:r>
            </a:p>
          </p:txBody>
        </p:sp>
        <p:sp>
          <p:nvSpPr>
            <p:cNvPr id="17439" name="Text Box 8"/>
            <p:cNvSpPr txBox="1">
              <a:spLocks noChangeArrowheads="1"/>
            </p:cNvSpPr>
            <p:nvPr/>
          </p:nvSpPr>
          <p:spPr bwMode="auto">
            <a:xfrm>
              <a:off x="1579" y="1014"/>
              <a:ext cx="1001" cy="523"/>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Costs and Revenue</a:t>
              </a:r>
            </a:p>
          </p:txBody>
        </p:sp>
      </p:grpSp>
      <p:grpSp>
        <p:nvGrpSpPr>
          <p:cNvPr id="4" name="Group 29"/>
          <p:cNvGrpSpPr>
            <a:grpSpLocks/>
          </p:cNvGrpSpPr>
          <p:nvPr/>
        </p:nvGrpSpPr>
        <p:grpSpPr bwMode="auto">
          <a:xfrm>
            <a:off x="4849812" y="1447800"/>
            <a:ext cx="2600325" cy="3028949"/>
            <a:chOff x="2596" y="1302"/>
            <a:chExt cx="1638" cy="1908"/>
          </a:xfrm>
        </p:grpSpPr>
        <p:sp>
          <p:nvSpPr>
            <p:cNvPr id="17435" name="Line 14"/>
            <p:cNvSpPr>
              <a:spLocks noChangeShapeType="1"/>
            </p:cNvSpPr>
            <p:nvPr/>
          </p:nvSpPr>
          <p:spPr bwMode="auto">
            <a:xfrm>
              <a:off x="2596" y="1302"/>
              <a:ext cx="1299" cy="1704"/>
            </a:xfrm>
            <a:prstGeom prst="line">
              <a:avLst/>
            </a:prstGeom>
            <a:noFill/>
            <a:ln w="38100">
              <a:solidFill>
                <a:srgbClr val="CC0000"/>
              </a:solidFill>
              <a:round/>
              <a:headEnd/>
              <a:tailEnd/>
            </a:ln>
          </p:spPr>
          <p:txBody>
            <a:bodyPr/>
            <a:lstStyle/>
            <a:p>
              <a:endParaRPr lang="en-US">
                <a:latin typeface="Arial"/>
                <a:cs typeface="Arial"/>
              </a:endParaRPr>
            </a:p>
          </p:txBody>
        </p:sp>
        <p:sp>
          <p:nvSpPr>
            <p:cNvPr id="17436" name="Text Box 22"/>
            <p:cNvSpPr txBox="1">
              <a:spLocks noChangeArrowheads="1"/>
            </p:cNvSpPr>
            <p:nvPr/>
          </p:nvSpPr>
          <p:spPr bwMode="auto">
            <a:xfrm>
              <a:off x="3860" y="2977"/>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MR</a:t>
              </a:r>
            </a:p>
          </p:txBody>
        </p:sp>
      </p:grpSp>
      <p:grpSp>
        <p:nvGrpSpPr>
          <p:cNvPr id="5" name="Group 28"/>
          <p:cNvGrpSpPr>
            <a:grpSpLocks/>
          </p:cNvGrpSpPr>
          <p:nvPr/>
        </p:nvGrpSpPr>
        <p:grpSpPr bwMode="auto">
          <a:xfrm>
            <a:off x="4838700" y="1431925"/>
            <a:ext cx="3595687" cy="2462213"/>
            <a:chOff x="2589" y="1292"/>
            <a:chExt cx="2265" cy="1551"/>
          </a:xfrm>
        </p:grpSpPr>
        <p:sp>
          <p:nvSpPr>
            <p:cNvPr id="17433" name="Line 18"/>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a:latin typeface="Arial"/>
                <a:cs typeface="Arial"/>
              </a:endParaRPr>
            </a:p>
          </p:txBody>
        </p:sp>
        <p:sp>
          <p:nvSpPr>
            <p:cNvPr id="17434" name="Text Box 19"/>
            <p:cNvSpPr txBox="1">
              <a:spLocks noChangeArrowheads="1"/>
            </p:cNvSpPr>
            <p:nvPr/>
          </p:nvSpPr>
          <p:spPr bwMode="auto">
            <a:xfrm>
              <a:off x="4580" y="2610"/>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D</a:t>
              </a:r>
            </a:p>
          </p:txBody>
        </p:sp>
      </p:grpSp>
      <p:grpSp>
        <p:nvGrpSpPr>
          <p:cNvPr id="6" name="Group 30"/>
          <p:cNvGrpSpPr>
            <a:grpSpLocks/>
          </p:cNvGrpSpPr>
          <p:nvPr/>
        </p:nvGrpSpPr>
        <p:grpSpPr bwMode="auto">
          <a:xfrm>
            <a:off x="5154612" y="1390650"/>
            <a:ext cx="2722563" cy="3014662"/>
            <a:chOff x="2788" y="1266"/>
            <a:chExt cx="1715" cy="1899"/>
          </a:xfrm>
        </p:grpSpPr>
        <p:sp>
          <p:nvSpPr>
            <p:cNvPr id="17431" name="Line 23"/>
            <p:cNvSpPr>
              <a:spLocks noChangeShapeType="1"/>
            </p:cNvSpPr>
            <p:nvPr/>
          </p:nvSpPr>
          <p:spPr bwMode="auto">
            <a:xfrm flipV="1">
              <a:off x="2788" y="1479"/>
              <a:ext cx="1409" cy="1686"/>
            </a:xfrm>
            <a:prstGeom prst="line">
              <a:avLst/>
            </a:prstGeom>
            <a:noFill/>
            <a:ln w="38100">
              <a:solidFill>
                <a:srgbClr val="CC0000"/>
              </a:solidFill>
              <a:round/>
              <a:headEnd/>
              <a:tailEnd/>
            </a:ln>
          </p:spPr>
          <p:txBody>
            <a:bodyPr/>
            <a:lstStyle/>
            <a:p>
              <a:endParaRPr lang="en-US">
                <a:latin typeface="Arial"/>
                <a:cs typeface="Arial"/>
              </a:endParaRPr>
            </a:p>
          </p:txBody>
        </p:sp>
        <p:sp>
          <p:nvSpPr>
            <p:cNvPr id="17432" name="Text Box 24"/>
            <p:cNvSpPr txBox="1">
              <a:spLocks noChangeArrowheads="1"/>
            </p:cNvSpPr>
            <p:nvPr/>
          </p:nvSpPr>
          <p:spPr bwMode="auto">
            <a:xfrm>
              <a:off x="4129" y="1266"/>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MC</a:t>
              </a:r>
            </a:p>
          </p:txBody>
        </p:sp>
      </p:grpSp>
      <p:grpSp>
        <p:nvGrpSpPr>
          <p:cNvPr id="7" name="Group 50"/>
          <p:cNvGrpSpPr>
            <a:grpSpLocks/>
          </p:cNvGrpSpPr>
          <p:nvPr/>
        </p:nvGrpSpPr>
        <p:grpSpPr bwMode="auto">
          <a:xfrm>
            <a:off x="4508499" y="5172072"/>
            <a:ext cx="3492499" cy="771524"/>
            <a:chOff x="2815" y="3557"/>
            <a:chExt cx="2200" cy="486"/>
          </a:xfrm>
        </p:grpSpPr>
        <p:sp>
          <p:nvSpPr>
            <p:cNvPr id="17429" name="Rectangle 48"/>
            <p:cNvSpPr>
              <a:spLocks noChangeArrowheads="1"/>
            </p:cNvSpPr>
            <p:nvPr/>
          </p:nvSpPr>
          <p:spPr bwMode="auto">
            <a:xfrm>
              <a:off x="2815" y="3752"/>
              <a:ext cx="2200" cy="291"/>
            </a:xfrm>
            <a:prstGeom prst="rect">
              <a:avLst/>
            </a:prstGeom>
            <a:noFill/>
            <a:ln w="9525">
              <a:noFill/>
              <a:miter lim="800000"/>
              <a:headEnd/>
              <a:tailEnd/>
            </a:ln>
          </p:spPr>
          <p:txBody>
            <a:bodyPr wrap="none">
              <a:spAutoFit/>
            </a:bodyPr>
            <a:lstStyle/>
            <a:p>
              <a:r>
                <a:rPr lang="en-US" sz="2400" dirty="0">
                  <a:solidFill>
                    <a:srgbClr val="4E519E"/>
                  </a:solidFill>
                  <a:latin typeface="Arial"/>
                  <a:cs typeface="Arial"/>
                </a:rPr>
                <a:t>Profit-maximizing output</a:t>
              </a:r>
            </a:p>
          </p:txBody>
        </p:sp>
        <p:sp>
          <p:nvSpPr>
            <p:cNvPr id="17430" name="AutoShape 49"/>
            <p:cNvSpPr>
              <a:spLocks/>
            </p:cNvSpPr>
            <p:nvPr/>
          </p:nvSpPr>
          <p:spPr bwMode="auto">
            <a:xfrm rot="5400000">
              <a:off x="3767" y="2622"/>
              <a:ext cx="228" cy="2097"/>
            </a:xfrm>
            <a:prstGeom prst="leftBrace">
              <a:avLst>
                <a:gd name="adj1" fmla="val 58378"/>
                <a:gd name="adj2" fmla="val 50000"/>
              </a:avLst>
            </a:prstGeom>
            <a:noFill/>
            <a:ln w="12700">
              <a:solidFill>
                <a:srgbClr val="002060"/>
              </a:solidFill>
              <a:round/>
              <a:headEnd/>
              <a:tailEnd/>
            </a:ln>
          </p:spPr>
          <p:txBody>
            <a:bodyPr wrap="none" anchor="ctr"/>
            <a:lstStyle/>
            <a:p>
              <a:endParaRPr lang="en-US">
                <a:latin typeface="Arial"/>
                <a:cs typeface="Arial"/>
              </a:endParaRPr>
            </a:p>
          </p:txBody>
        </p:sp>
      </p:grpSp>
      <p:grpSp>
        <p:nvGrpSpPr>
          <p:cNvPr id="8" name="Group 46"/>
          <p:cNvGrpSpPr>
            <a:grpSpLocks/>
          </p:cNvGrpSpPr>
          <p:nvPr/>
        </p:nvGrpSpPr>
        <p:grpSpPr bwMode="auto">
          <a:xfrm>
            <a:off x="4400550" y="2078037"/>
            <a:ext cx="1843087" cy="1127125"/>
            <a:chOff x="2747" y="1608"/>
            <a:chExt cx="1161" cy="710"/>
          </a:xfrm>
        </p:grpSpPr>
        <p:grpSp>
          <p:nvGrpSpPr>
            <p:cNvPr id="9" name="Group 36"/>
            <p:cNvGrpSpPr>
              <a:grpSpLocks/>
            </p:cNvGrpSpPr>
            <p:nvPr/>
          </p:nvGrpSpPr>
          <p:grpSpPr bwMode="auto">
            <a:xfrm>
              <a:off x="3024" y="1756"/>
              <a:ext cx="840" cy="562"/>
              <a:chOff x="357" y="2450"/>
              <a:chExt cx="795" cy="646"/>
            </a:xfrm>
          </p:grpSpPr>
          <p:sp>
            <p:nvSpPr>
              <p:cNvPr id="17427" name="Line 37"/>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7428" name="Line 38"/>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17425" name="Oval 35"/>
            <p:cNvSpPr>
              <a:spLocks noChangeAspect="1" noChangeArrowheads="1"/>
            </p:cNvSpPr>
            <p:nvPr/>
          </p:nvSpPr>
          <p:spPr bwMode="auto">
            <a:xfrm>
              <a:off x="3822" y="1712"/>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7426" name="Text Box 45"/>
            <p:cNvSpPr txBox="1">
              <a:spLocks noChangeArrowheads="1"/>
            </p:cNvSpPr>
            <p:nvPr/>
          </p:nvSpPr>
          <p:spPr bwMode="auto">
            <a:xfrm>
              <a:off x="2747" y="1608"/>
              <a:ext cx="252" cy="298"/>
            </a:xfrm>
            <a:prstGeom prst="rect">
              <a:avLst/>
            </a:prstGeom>
            <a:noFill/>
            <a:ln w="9525">
              <a:noFill/>
              <a:miter lim="800000"/>
              <a:headEnd/>
              <a:tailEnd/>
            </a:ln>
          </p:spPr>
          <p:txBody>
            <a:bodyPr>
              <a:spAutoFit/>
            </a:bodyPr>
            <a:lstStyle/>
            <a:p>
              <a:pPr algn="ctr">
                <a:spcBef>
                  <a:spcPct val="50000"/>
                </a:spcBef>
              </a:pPr>
              <a:r>
                <a:rPr lang="en-US" sz="2500" b="1" i="1">
                  <a:latin typeface="Arial"/>
                  <a:cs typeface="Arial"/>
                </a:rPr>
                <a:t>P</a:t>
              </a:r>
            </a:p>
          </p:txBody>
        </p:sp>
      </p:grpSp>
      <p:grpSp>
        <p:nvGrpSpPr>
          <p:cNvPr id="10" name="Group 47"/>
          <p:cNvGrpSpPr>
            <a:grpSpLocks/>
          </p:cNvGrpSpPr>
          <p:nvPr/>
        </p:nvGrpSpPr>
        <p:grpSpPr bwMode="auto">
          <a:xfrm>
            <a:off x="5915025" y="3124200"/>
            <a:ext cx="517525" cy="2070100"/>
            <a:chOff x="3701" y="2267"/>
            <a:chExt cx="326" cy="1304"/>
          </a:xfrm>
        </p:grpSpPr>
        <p:sp>
          <p:nvSpPr>
            <p:cNvPr id="17421" name="Line 32"/>
            <p:cNvSpPr>
              <a:spLocks noChangeShapeType="1"/>
            </p:cNvSpPr>
            <p:nvPr/>
          </p:nvSpPr>
          <p:spPr bwMode="auto">
            <a:xfrm>
              <a:off x="3865" y="2310"/>
              <a:ext cx="0" cy="964"/>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7422" name="Oval 33"/>
            <p:cNvSpPr>
              <a:spLocks noChangeAspect="1" noChangeArrowheads="1"/>
            </p:cNvSpPr>
            <p:nvPr/>
          </p:nvSpPr>
          <p:spPr bwMode="auto">
            <a:xfrm>
              <a:off x="3822" y="2267"/>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7423" name="Text Box 34"/>
            <p:cNvSpPr txBox="1">
              <a:spLocks noChangeArrowheads="1"/>
            </p:cNvSpPr>
            <p:nvPr/>
          </p:nvSpPr>
          <p:spPr bwMode="auto">
            <a:xfrm>
              <a:off x="3701" y="3273"/>
              <a:ext cx="326" cy="298"/>
            </a:xfrm>
            <a:prstGeom prst="rect">
              <a:avLst/>
            </a:prstGeom>
            <a:noFill/>
            <a:ln w="9525">
              <a:noFill/>
              <a:miter lim="800000"/>
              <a:headEnd/>
              <a:tailEnd/>
            </a:ln>
          </p:spPr>
          <p:txBody>
            <a:bodyPr>
              <a:spAutoFit/>
            </a:bodyPr>
            <a:lstStyle/>
            <a:p>
              <a:pPr algn="ctr">
                <a:spcBef>
                  <a:spcPct val="50000"/>
                </a:spcBef>
              </a:pPr>
              <a:r>
                <a:rPr lang="en-US" sz="2500" b="1" i="1">
                  <a:latin typeface="Arial"/>
                  <a:cs typeface="Arial"/>
                </a:rPr>
                <a:t>Q</a:t>
              </a:r>
            </a:p>
          </p:txBody>
        </p:sp>
      </p:grpSp>
      <p:sp>
        <p:nvSpPr>
          <p:cNvPr id="34" name="Rectangle 3"/>
          <p:cNvSpPr txBox="1">
            <a:spLocks noChangeArrowheads="1"/>
          </p:cNvSpPr>
          <p:nvPr/>
        </p:nvSpPr>
        <p:spPr>
          <a:xfrm>
            <a:off x="457199" y="2078037"/>
            <a:ext cx="3572669" cy="1086299"/>
          </a:xfrm>
          <a:prstGeom prst="rect">
            <a:avLst/>
          </a:prstGeom>
        </p:spPr>
        <p:txBody>
          <a:bodyPr vert="horz" lIns="0" tIns="0" rIns="0" bIns="0" rtlCol="0">
            <a:normAutofit/>
          </a:bodyPr>
          <a:lstStyle>
            <a:lvl1pPr marL="342900" indent="-342900" algn="l" rtl="0" eaLnBrk="0" fontAlgn="base" hangingPunct="0">
              <a:spcBef>
                <a:spcPct val="20000"/>
              </a:spcBef>
              <a:spcAft>
                <a:spcPct val="0"/>
              </a:spcAft>
              <a:buChar char="•"/>
              <a:defRPr sz="320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a:solidFill>
                  <a:schemeClr val="tx2"/>
                </a:solidFill>
                <a:latin typeface="+mn-lt"/>
              </a:defRPr>
            </a:lvl2pPr>
            <a:lvl3pPr marL="1143000" indent="-228600" algn="l" rtl="0" eaLnBrk="0" fontAlgn="base" hangingPunct="0">
              <a:spcBef>
                <a:spcPct val="20000"/>
              </a:spcBef>
              <a:spcAft>
                <a:spcPct val="0"/>
              </a:spcAft>
              <a:buSzPct val="90000"/>
              <a:buChar char="•"/>
              <a:defRPr sz="2400">
                <a:solidFill>
                  <a:schemeClr val="tx2"/>
                </a:solidFill>
                <a:latin typeface="+mn-lt"/>
              </a:defRPr>
            </a:lvl3pPr>
            <a:lvl4pPr marL="1600200" indent="-228600" algn="l" rtl="0" eaLnBrk="0" fontAlgn="base" hangingPunct="0">
              <a:spcBef>
                <a:spcPct val="20000"/>
              </a:spcBef>
              <a:spcAft>
                <a:spcPct val="0"/>
              </a:spcAft>
              <a:buChar char="–"/>
              <a:defRPr sz="2000">
                <a:solidFill>
                  <a:schemeClr val="tx2"/>
                </a:solidFill>
                <a:latin typeface="+mn-lt"/>
              </a:defRPr>
            </a:lvl4pPr>
            <a:lvl5pPr marL="2057400" indent="-228600" algn="l" rtl="0" eaLnBrk="0" fontAlgn="base" hangingPunct="0">
              <a:spcBef>
                <a:spcPct val="20000"/>
              </a:spcBef>
              <a:spcAft>
                <a:spcPct val="0"/>
              </a:spcAft>
              <a:buChar char="»"/>
              <a:defRPr sz="18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spcBef>
                <a:spcPts val="1200"/>
              </a:spcBef>
              <a:buFont typeface="Wingdings" pitchFamily="2" charset="2"/>
              <a:buNone/>
            </a:pPr>
            <a:r>
              <a:rPr lang="en-US" sz="2800" dirty="0">
                <a:solidFill>
                  <a:srgbClr val="4E519E"/>
                </a:solidFill>
              </a:rPr>
              <a:t>At this </a:t>
            </a:r>
            <a:r>
              <a:rPr lang="en-US" sz="2800" b="1" i="1" dirty="0">
                <a:solidFill>
                  <a:srgbClr val="4E519E"/>
                </a:solidFill>
              </a:rPr>
              <a:t>Q,</a:t>
            </a:r>
            <a:r>
              <a:rPr lang="en-US" sz="2800" dirty="0">
                <a:solidFill>
                  <a:srgbClr val="4E519E"/>
                </a:solidFill>
              </a:rPr>
              <a:t> find </a:t>
            </a:r>
            <a:r>
              <a:rPr lang="en-US" sz="2800" b="1" i="1" dirty="0">
                <a:solidFill>
                  <a:srgbClr val="4E519E"/>
                </a:solidFill>
              </a:rPr>
              <a:t>P</a:t>
            </a:r>
            <a:r>
              <a:rPr lang="en-US" sz="2800" dirty="0">
                <a:solidFill>
                  <a:srgbClr val="4E519E"/>
                </a:solidFill>
              </a:rPr>
              <a:t>  on the demand curve. </a:t>
            </a:r>
          </a:p>
        </p:txBody>
      </p:sp>
      <p:sp>
        <p:nvSpPr>
          <p:cNvPr id="11" name="Footer Placeholder 10">
            <a:extLst>
              <a:ext uri="{FF2B5EF4-FFF2-40B4-BE49-F238E27FC236}">
                <a16:creationId xmlns:a16="http://schemas.microsoft.com/office/drawing/2014/main" id="{506550D7-9E98-79F8-DF6F-3645426A632A}"/>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86906278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Effect transition="in" filter="wipe(left)">
                                      <p:cBhvr>
                                        <p:cTn id="7" dur="500"/>
                                        <p:tgtEl>
                                          <p:spTgt spid="126979">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1500"/>
                                        <p:tgtEl>
                                          <p:spTgt spid="10"/>
                                        </p:tgtEl>
                                      </p:cBhvr>
                                    </p:animEffect>
                                  </p:childTnLst>
                                </p:cTn>
                              </p:par>
                            </p:childTnLst>
                          </p:cTn>
                        </p:par>
                        <p:par>
                          <p:cTn id="12" fill="hold">
                            <p:stCondLst>
                              <p:cond delay="2000"/>
                            </p:stCondLst>
                            <p:childTnLst>
                              <p:par>
                                <p:cTn id="13" presetID="22" presetClass="entr" presetSubtype="1"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4">
                                            <p:txEl>
                                              <p:pRg st="0" end="0"/>
                                            </p:txEl>
                                          </p:spTgt>
                                        </p:tgtEl>
                                        <p:attrNameLst>
                                          <p:attrName>style.visibility</p:attrName>
                                        </p:attrNameLst>
                                      </p:cBhvr>
                                      <p:to>
                                        <p:strVal val="visible"/>
                                      </p:to>
                                    </p:set>
                                    <p:animEffect transition="in" filter="wipe(left)">
                                      <p:cBhvr>
                                        <p:cTn id="20" dur="500"/>
                                        <p:tgtEl>
                                          <p:spTgt spid="34">
                                            <p:txEl>
                                              <p:pRg st="0" end="0"/>
                                            </p:txEl>
                                          </p:spTgt>
                                        </p:tgtEl>
                                      </p:cBhvr>
                                    </p:animEffect>
                                  </p:childTnLst>
                                </p:cTn>
                              </p:par>
                            </p:childTnLst>
                          </p:cTn>
                        </p:par>
                        <p:par>
                          <p:cTn id="21" fill="hold">
                            <p:stCondLst>
                              <p:cond delay="500"/>
                            </p:stCondLst>
                            <p:childTnLst>
                              <p:par>
                                <p:cTn id="22" presetID="22" presetClass="entr" presetSubtype="4"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1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bldLvl="5"/>
      <p:bldP spid="34" grpId="0" build="p" bldLvl="5"/>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4803775" y="2239962"/>
            <a:ext cx="1325563" cy="509588"/>
          </a:xfrm>
          <a:prstGeom prst="rect">
            <a:avLst/>
          </a:prstGeom>
          <a:solidFill>
            <a:srgbClr val="FFCC99"/>
          </a:solidFill>
          <a:ln w="9525">
            <a:noFill/>
            <a:miter lim="800000"/>
            <a:headEnd/>
            <a:tailEnd/>
          </a:ln>
        </p:spPr>
        <p:txBody>
          <a:bodyPr wrap="none" anchor="ctr"/>
          <a:lstStyle/>
          <a:p>
            <a:endParaRPr lang="en-US">
              <a:latin typeface="Arial"/>
              <a:cs typeface="Arial"/>
            </a:endParaRPr>
          </a:p>
        </p:txBody>
      </p:sp>
      <p:grpSp>
        <p:nvGrpSpPr>
          <p:cNvPr id="2" name="Group 3"/>
          <p:cNvGrpSpPr>
            <a:grpSpLocks/>
          </p:cNvGrpSpPr>
          <p:nvPr/>
        </p:nvGrpSpPr>
        <p:grpSpPr bwMode="auto">
          <a:xfrm>
            <a:off x="4800600" y="2236787"/>
            <a:ext cx="1333500" cy="892175"/>
            <a:chOff x="357" y="2450"/>
            <a:chExt cx="795" cy="646"/>
          </a:xfrm>
        </p:grpSpPr>
        <p:sp>
          <p:nvSpPr>
            <p:cNvPr id="18468" name="Line 4"/>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8469" name="Line 5"/>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18438" name="Rectangle 6"/>
          <p:cNvSpPr>
            <a:spLocks noGrp="1" noChangeArrowheads="1"/>
          </p:cNvSpPr>
          <p:nvPr>
            <p:ph type="title"/>
          </p:nvPr>
        </p:nvSpPr>
        <p:spPr/>
        <p:txBody>
          <a:bodyPr/>
          <a:lstStyle/>
          <a:p>
            <a:pPr algn="ctr" eaLnBrk="1" hangingPunct="1"/>
            <a:r>
              <a:rPr lang="en-US" dirty="0"/>
              <a:t>The Monopoly’s Profit</a:t>
            </a:r>
          </a:p>
        </p:txBody>
      </p:sp>
      <p:sp>
        <p:nvSpPr>
          <p:cNvPr id="133127" name="Rectangle 7"/>
          <p:cNvSpPr>
            <a:spLocks noGrp="1" noChangeArrowheads="1"/>
          </p:cNvSpPr>
          <p:nvPr>
            <p:ph idx="1"/>
          </p:nvPr>
        </p:nvSpPr>
        <p:spPr>
          <a:xfrm>
            <a:off x="347241" y="1744663"/>
            <a:ext cx="3081759" cy="3136899"/>
          </a:xfrm>
        </p:spPr>
        <p:txBody>
          <a:bodyPr/>
          <a:lstStyle/>
          <a:p>
            <a:pPr marL="0" indent="0" eaLnBrk="1" hangingPunct="1">
              <a:spcBef>
                <a:spcPct val="50000"/>
              </a:spcBef>
              <a:buFont typeface="Wingdings" pitchFamily="2" charset="2"/>
              <a:buNone/>
            </a:pPr>
            <a:r>
              <a:rPr lang="en-US" sz="2800" dirty="0">
                <a:solidFill>
                  <a:srgbClr val="4E519E"/>
                </a:solidFill>
              </a:rPr>
              <a:t>As with a competitive firm, the monopolist’s </a:t>
            </a:r>
            <a:br>
              <a:rPr lang="en-US" sz="2800" dirty="0">
                <a:solidFill>
                  <a:srgbClr val="4E519E"/>
                </a:solidFill>
              </a:rPr>
            </a:br>
            <a:r>
              <a:rPr lang="en-US" sz="2800" dirty="0">
                <a:solidFill>
                  <a:srgbClr val="4E519E"/>
                </a:solidFill>
              </a:rPr>
              <a:t>profit equals </a:t>
            </a:r>
          </a:p>
          <a:p>
            <a:pPr marL="0" indent="0" eaLnBrk="1" hangingPunct="1">
              <a:spcBef>
                <a:spcPct val="50000"/>
              </a:spcBef>
              <a:buFont typeface="Wingdings" pitchFamily="2" charset="2"/>
              <a:buNone/>
            </a:pPr>
            <a:r>
              <a:rPr lang="en-US" sz="2800" dirty="0">
                <a:solidFill>
                  <a:srgbClr val="4E519E"/>
                </a:solidFill>
              </a:rPr>
              <a:t>  (</a:t>
            </a:r>
            <a:r>
              <a:rPr lang="en-US" sz="2800" b="1" i="1" dirty="0">
                <a:solidFill>
                  <a:srgbClr val="4E519E"/>
                </a:solidFill>
              </a:rPr>
              <a:t>P</a:t>
            </a:r>
            <a:r>
              <a:rPr lang="en-US" sz="2800" dirty="0">
                <a:solidFill>
                  <a:srgbClr val="4E519E"/>
                </a:solidFill>
              </a:rPr>
              <a:t> – </a:t>
            </a:r>
            <a:r>
              <a:rPr lang="en-US" sz="2800" b="1" i="1" dirty="0">
                <a:solidFill>
                  <a:srgbClr val="4E519E"/>
                </a:solidFill>
              </a:rPr>
              <a:t>ATC</a:t>
            </a:r>
            <a:r>
              <a:rPr lang="en-US" sz="2800" dirty="0">
                <a:solidFill>
                  <a:srgbClr val="4E519E"/>
                </a:solidFill>
              </a:rPr>
              <a:t>) x </a:t>
            </a:r>
            <a:r>
              <a:rPr lang="en-US" sz="2800" b="1" i="1" dirty="0">
                <a:solidFill>
                  <a:srgbClr val="4E519E"/>
                </a:solidFill>
              </a:rPr>
              <a:t>Q</a:t>
            </a:r>
          </a:p>
        </p:txBody>
      </p:sp>
      <p:sp>
        <p:nvSpPr>
          <p:cNvPr id="12" name="Slide Number Placeholder 11"/>
          <p:cNvSpPr>
            <a:spLocks noGrp="1"/>
          </p:cNvSpPr>
          <p:nvPr>
            <p:ph type="sldNum" sz="quarter" idx="10"/>
          </p:nvPr>
        </p:nvSpPr>
        <p:spPr/>
        <p:txBody>
          <a:bodyPr/>
          <a:lstStyle/>
          <a:p>
            <a:pPr>
              <a:defRPr/>
            </a:pPr>
            <a:fld id="{073C29DC-2178-4274-9150-45F8EBD31C2D}" type="slidenum">
              <a:rPr lang="en-US" smtClean="0"/>
              <a:pPr>
                <a:defRPr/>
              </a:pPr>
              <a:t>16</a:t>
            </a:fld>
            <a:endParaRPr lang="en-US"/>
          </a:p>
        </p:txBody>
      </p:sp>
      <p:grpSp>
        <p:nvGrpSpPr>
          <p:cNvPr id="3" name="Group 8"/>
          <p:cNvGrpSpPr>
            <a:grpSpLocks/>
          </p:cNvGrpSpPr>
          <p:nvPr/>
        </p:nvGrpSpPr>
        <p:grpSpPr bwMode="auto">
          <a:xfrm>
            <a:off x="3195638" y="914400"/>
            <a:ext cx="5451475" cy="4183063"/>
            <a:chOff x="1579" y="1014"/>
            <a:chExt cx="3434" cy="2635"/>
          </a:xfrm>
        </p:grpSpPr>
        <p:grpSp>
          <p:nvGrpSpPr>
            <p:cNvPr id="4" name="Group 9"/>
            <p:cNvGrpSpPr>
              <a:grpSpLocks/>
            </p:cNvGrpSpPr>
            <p:nvPr/>
          </p:nvGrpSpPr>
          <p:grpSpPr bwMode="auto">
            <a:xfrm>
              <a:off x="2591" y="1080"/>
              <a:ext cx="2262" cy="2284"/>
              <a:chOff x="1489" y="785"/>
              <a:chExt cx="3650" cy="2492"/>
            </a:xfrm>
          </p:grpSpPr>
          <p:sp>
            <p:nvSpPr>
              <p:cNvPr id="18466" name="Line 10"/>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8467" name="Line 11"/>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8464" name="Text Box 12"/>
            <p:cNvSpPr txBox="1">
              <a:spLocks noChangeArrowheads="1"/>
            </p:cNvSpPr>
            <p:nvPr/>
          </p:nvSpPr>
          <p:spPr bwMode="auto">
            <a:xfrm>
              <a:off x="4232" y="3416"/>
              <a:ext cx="781"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Quantity</a:t>
              </a:r>
            </a:p>
          </p:txBody>
        </p:sp>
        <p:sp>
          <p:nvSpPr>
            <p:cNvPr id="18465" name="Text Box 13"/>
            <p:cNvSpPr txBox="1">
              <a:spLocks noChangeArrowheads="1"/>
            </p:cNvSpPr>
            <p:nvPr/>
          </p:nvSpPr>
          <p:spPr bwMode="auto">
            <a:xfrm>
              <a:off x="1579" y="1014"/>
              <a:ext cx="1001" cy="523"/>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Costs and Revenue</a:t>
              </a:r>
            </a:p>
          </p:txBody>
        </p:sp>
      </p:grpSp>
      <p:grpSp>
        <p:nvGrpSpPr>
          <p:cNvPr id="5" name="Group 14"/>
          <p:cNvGrpSpPr>
            <a:grpSpLocks/>
          </p:cNvGrpSpPr>
          <p:nvPr/>
        </p:nvGrpSpPr>
        <p:grpSpPr bwMode="auto">
          <a:xfrm>
            <a:off x="4889500" y="1257300"/>
            <a:ext cx="3179763" cy="1516062"/>
            <a:chOff x="2646" y="1230"/>
            <a:chExt cx="2003" cy="955"/>
          </a:xfrm>
        </p:grpSpPr>
        <p:sp>
          <p:nvSpPr>
            <p:cNvPr id="18461" name="Arc 15"/>
            <p:cNvSpPr>
              <a:spLocks/>
            </p:cNvSpPr>
            <p:nvPr/>
          </p:nvSpPr>
          <p:spPr bwMode="auto">
            <a:xfrm flipH="1" flipV="1">
              <a:off x="2646" y="1230"/>
              <a:ext cx="1537" cy="955"/>
            </a:xfrm>
            <a:custGeom>
              <a:avLst/>
              <a:gdLst>
                <a:gd name="T0" fmla="*/ 0 w 31233"/>
                <a:gd name="T1" fmla="*/ 0 h 21600"/>
                <a:gd name="T2" fmla="*/ 0 w 31233"/>
                <a:gd name="T3" fmla="*/ 0 h 21600"/>
                <a:gd name="T4" fmla="*/ 0 w 31233"/>
                <a:gd name="T5" fmla="*/ 0 h 21600"/>
                <a:gd name="T6" fmla="*/ 0 60000 65536"/>
                <a:gd name="T7" fmla="*/ 0 60000 65536"/>
                <a:gd name="T8" fmla="*/ 0 60000 65536"/>
                <a:gd name="T9" fmla="*/ 0 w 31233"/>
                <a:gd name="T10" fmla="*/ 0 h 21600"/>
                <a:gd name="T11" fmla="*/ 31233 w 31233"/>
                <a:gd name="T12" fmla="*/ 21600 h 21600"/>
              </a:gdLst>
              <a:ahLst/>
              <a:cxnLst>
                <a:cxn ang="T6">
                  <a:pos x="T0" y="T1"/>
                </a:cxn>
                <a:cxn ang="T7">
                  <a:pos x="T2" y="T3"/>
                </a:cxn>
                <a:cxn ang="T8">
                  <a:pos x="T4" y="T5"/>
                </a:cxn>
              </a:cxnLst>
              <a:rect l="T9" t="T10" r="T11" b="T12"/>
              <a:pathLst>
                <a:path w="31233" h="21600" fill="none" extrusionOk="0">
                  <a:moveTo>
                    <a:pt x="-1" y="3618"/>
                  </a:moveTo>
                  <a:cubicBezTo>
                    <a:pt x="3545" y="1259"/>
                    <a:pt x="7709" y="-1"/>
                    <a:pt x="11968" y="0"/>
                  </a:cubicBezTo>
                  <a:cubicBezTo>
                    <a:pt x="20105" y="0"/>
                    <a:pt x="27552" y="4573"/>
                    <a:pt x="31233" y="11831"/>
                  </a:cubicBezTo>
                </a:path>
                <a:path w="31233" h="21600" stroke="0" extrusionOk="0">
                  <a:moveTo>
                    <a:pt x="-1" y="3618"/>
                  </a:moveTo>
                  <a:cubicBezTo>
                    <a:pt x="3545" y="1259"/>
                    <a:pt x="7709" y="-1"/>
                    <a:pt x="11968" y="0"/>
                  </a:cubicBezTo>
                  <a:cubicBezTo>
                    <a:pt x="20105" y="0"/>
                    <a:pt x="27552" y="4573"/>
                    <a:pt x="31233" y="11831"/>
                  </a:cubicBezTo>
                  <a:lnTo>
                    <a:pt x="11968"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18462" name="Text Box 16"/>
            <p:cNvSpPr txBox="1">
              <a:spLocks noChangeArrowheads="1"/>
            </p:cNvSpPr>
            <p:nvPr/>
          </p:nvSpPr>
          <p:spPr bwMode="auto">
            <a:xfrm>
              <a:off x="4184" y="1868"/>
              <a:ext cx="465"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ATC</a:t>
              </a:r>
            </a:p>
          </p:txBody>
        </p:sp>
      </p:grpSp>
      <p:grpSp>
        <p:nvGrpSpPr>
          <p:cNvPr id="6" name="Group 17"/>
          <p:cNvGrpSpPr>
            <a:grpSpLocks/>
          </p:cNvGrpSpPr>
          <p:nvPr/>
        </p:nvGrpSpPr>
        <p:grpSpPr bwMode="auto">
          <a:xfrm>
            <a:off x="4799013" y="1355725"/>
            <a:ext cx="3595687" cy="2462213"/>
            <a:chOff x="2589" y="1292"/>
            <a:chExt cx="2265" cy="1551"/>
          </a:xfrm>
        </p:grpSpPr>
        <p:sp>
          <p:nvSpPr>
            <p:cNvPr id="18459" name="Line 18"/>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a:latin typeface="Arial"/>
                <a:cs typeface="Arial"/>
              </a:endParaRPr>
            </a:p>
          </p:txBody>
        </p:sp>
        <p:sp>
          <p:nvSpPr>
            <p:cNvPr id="18460" name="Text Box 19"/>
            <p:cNvSpPr txBox="1">
              <a:spLocks noChangeArrowheads="1"/>
            </p:cNvSpPr>
            <p:nvPr/>
          </p:nvSpPr>
          <p:spPr bwMode="auto">
            <a:xfrm>
              <a:off x="4580" y="2610"/>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D</a:t>
              </a:r>
            </a:p>
          </p:txBody>
        </p:sp>
      </p:grpSp>
      <p:grpSp>
        <p:nvGrpSpPr>
          <p:cNvPr id="7" name="Group 20"/>
          <p:cNvGrpSpPr>
            <a:grpSpLocks/>
          </p:cNvGrpSpPr>
          <p:nvPr/>
        </p:nvGrpSpPr>
        <p:grpSpPr bwMode="auto">
          <a:xfrm>
            <a:off x="4810125" y="1371600"/>
            <a:ext cx="2600325" cy="3028949"/>
            <a:chOff x="2596" y="1302"/>
            <a:chExt cx="1638" cy="1908"/>
          </a:xfrm>
        </p:grpSpPr>
        <p:sp>
          <p:nvSpPr>
            <p:cNvPr id="18457" name="Line 21"/>
            <p:cNvSpPr>
              <a:spLocks noChangeShapeType="1"/>
            </p:cNvSpPr>
            <p:nvPr/>
          </p:nvSpPr>
          <p:spPr bwMode="auto">
            <a:xfrm>
              <a:off x="2596" y="1302"/>
              <a:ext cx="1299" cy="1704"/>
            </a:xfrm>
            <a:prstGeom prst="line">
              <a:avLst/>
            </a:prstGeom>
            <a:noFill/>
            <a:ln w="38100">
              <a:solidFill>
                <a:srgbClr val="CC0000"/>
              </a:solidFill>
              <a:round/>
              <a:headEnd/>
              <a:tailEnd/>
            </a:ln>
          </p:spPr>
          <p:txBody>
            <a:bodyPr/>
            <a:lstStyle/>
            <a:p>
              <a:endParaRPr lang="en-US">
                <a:latin typeface="Arial"/>
                <a:cs typeface="Arial"/>
              </a:endParaRPr>
            </a:p>
          </p:txBody>
        </p:sp>
        <p:sp>
          <p:nvSpPr>
            <p:cNvPr id="18458" name="Text Box 22"/>
            <p:cNvSpPr txBox="1">
              <a:spLocks noChangeArrowheads="1"/>
            </p:cNvSpPr>
            <p:nvPr/>
          </p:nvSpPr>
          <p:spPr bwMode="auto">
            <a:xfrm>
              <a:off x="3860" y="2977"/>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MR</a:t>
              </a:r>
            </a:p>
          </p:txBody>
        </p:sp>
      </p:grpSp>
      <p:grpSp>
        <p:nvGrpSpPr>
          <p:cNvPr id="8" name="Group 23"/>
          <p:cNvGrpSpPr>
            <a:grpSpLocks/>
          </p:cNvGrpSpPr>
          <p:nvPr/>
        </p:nvGrpSpPr>
        <p:grpSpPr bwMode="auto">
          <a:xfrm>
            <a:off x="5114925" y="1314450"/>
            <a:ext cx="2722563" cy="3014662"/>
            <a:chOff x="2788" y="1266"/>
            <a:chExt cx="1715" cy="1899"/>
          </a:xfrm>
        </p:grpSpPr>
        <p:sp>
          <p:nvSpPr>
            <p:cNvPr id="18455" name="Line 24"/>
            <p:cNvSpPr>
              <a:spLocks noChangeShapeType="1"/>
            </p:cNvSpPr>
            <p:nvPr/>
          </p:nvSpPr>
          <p:spPr bwMode="auto">
            <a:xfrm flipV="1">
              <a:off x="2788" y="1479"/>
              <a:ext cx="1409" cy="1686"/>
            </a:xfrm>
            <a:prstGeom prst="line">
              <a:avLst/>
            </a:prstGeom>
            <a:noFill/>
            <a:ln w="38100">
              <a:solidFill>
                <a:srgbClr val="CC0000"/>
              </a:solidFill>
              <a:round/>
              <a:headEnd/>
              <a:tailEnd/>
            </a:ln>
          </p:spPr>
          <p:txBody>
            <a:bodyPr/>
            <a:lstStyle/>
            <a:p>
              <a:endParaRPr lang="en-US">
                <a:latin typeface="Arial"/>
                <a:cs typeface="Arial"/>
              </a:endParaRPr>
            </a:p>
          </p:txBody>
        </p:sp>
        <p:sp>
          <p:nvSpPr>
            <p:cNvPr id="18456" name="Text Box 25"/>
            <p:cNvSpPr txBox="1">
              <a:spLocks noChangeArrowheads="1"/>
            </p:cNvSpPr>
            <p:nvPr/>
          </p:nvSpPr>
          <p:spPr bwMode="auto">
            <a:xfrm>
              <a:off x="4129" y="1266"/>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MC</a:t>
              </a:r>
            </a:p>
          </p:txBody>
        </p:sp>
      </p:grpSp>
      <p:sp>
        <p:nvSpPr>
          <p:cNvPr id="18445" name="Line 26"/>
          <p:cNvSpPr>
            <a:spLocks noChangeShapeType="1"/>
          </p:cNvSpPr>
          <p:nvPr/>
        </p:nvSpPr>
        <p:spPr bwMode="auto">
          <a:xfrm>
            <a:off x="6135688" y="3116262"/>
            <a:ext cx="0" cy="153035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8446" name="Oval 27"/>
          <p:cNvSpPr>
            <a:spLocks noChangeAspect="1" noChangeArrowheads="1"/>
          </p:cNvSpPr>
          <p:nvPr/>
        </p:nvSpPr>
        <p:spPr bwMode="auto">
          <a:xfrm>
            <a:off x="6067425" y="3048000"/>
            <a:ext cx="136525" cy="13493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8447" name="Text Box 28"/>
          <p:cNvSpPr txBox="1">
            <a:spLocks noChangeArrowheads="1"/>
          </p:cNvSpPr>
          <p:nvPr/>
        </p:nvSpPr>
        <p:spPr bwMode="auto">
          <a:xfrm>
            <a:off x="5875338" y="4645025"/>
            <a:ext cx="517525" cy="473075"/>
          </a:xfrm>
          <a:prstGeom prst="rect">
            <a:avLst/>
          </a:prstGeom>
          <a:noFill/>
          <a:ln w="9525">
            <a:noFill/>
            <a:miter lim="800000"/>
            <a:headEnd/>
            <a:tailEnd/>
          </a:ln>
        </p:spPr>
        <p:txBody>
          <a:bodyPr>
            <a:spAutoFit/>
          </a:bodyPr>
          <a:lstStyle/>
          <a:p>
            <a:pPr algn="ctr">
              <a:spcBef>
                <a:spcPct val="50000"/>
              </a:spcBef>
            </a:pPr>
            <a:r>
              <a:rPr lang="en-US" sz="2500" b="1" i="1">
                <a:latin typeface="Arial"/>
                <a:cs typeface="Arial"/>
              </a:rPr>
              <a:t>Q</a:t>
            </a:r>
          </a:p>
        </p:txBody>
      </p:sp>
      <p:sp>
        <p:nvSpPr>
          <p:cNvPr id="18448" name="Oval 29"/>
          <p:cNvSpPr>
            <a:spLocks noChangeAspect="1" noChangeArrowheads="1"/>
          </p:cNvSpPr>
          <p:nvPr/>
        </p:nvSpPr>
        <p:spPr bwMode="auto">
          <a:xfrm>
            <a:off x="6067425" y="2166937"/>
            <a:ext cx="136525" cy="134938"/>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8449" name="Rectangle 34"/>
          <p:cNvSpPr>
            <a:spLocks noChangeArrowheads="1"/>
          </p:cNvSpPr>
          <p:nvPr/>
        </p:nvSpPr>
        <p:spPr bwMode="auto">
          <a:xfrm>
            <a:off x="4362450" y="1998662"/>
            <a:ext cx="465494" cy="477054"/>
          </a:xfrm>
          <a:prstGeom prst="rect">
            <a:avLst/>
          </a:prstGeom>
          <a:noFill/>
          <a:ln w="9525">
            <a:noFill/>
            <a:miter lim="800000"/>
            <a:headEnd/>
            <a:tailEnd/>
          </a:ln>
        </p:spPr>
        <p:txBody>
          <a:bodyPr wrap="none">
            <a:spAutoFit/>
          </a:bodyPr>
          <a:lstStyle/>
          <a:p>
            <a:r>
              <a:rPr lang="en-US" sz="2500" b="1" i="1">
                <a:latin typeface="Arial"/>
                <a:cs typeface="Arial"/>
              </a:rPr>
              <a:t>P</a:t>
            </a:r>
          </a:p>
        </p:txBody>
      </p:sp>
      <p:grpSp>
        <p:nvGrpSpPr>
          <p:cNvPr id="9" name="Group 36"/>
          <p:cNvGrpSpPr>
            <a:grpSpLocks/>
          </p:cNvGrpSpPr>
          <p:nvPr/>
        </p:nvGrpSpPr>
        <p:grpSpPr bwMode="auto">
          <a:xfrm>
            <a:off x="3924300" y="2513012"/>
            <a:ext cx="2279650" cy="473075"/>
            <a:chOff x="2472" y="1930"/>
            <a:chExt cx="1436" cy="298"/>
          </a:xfrm>
        </p:grpSpPr>
        <p:grpSp>
          <p:nvGrpSpPr>
            <p:cNvPr id="10" name="Group 30"/>
            <p:cNvGrpSpPr>
              <a:grpSpLocks/>
            </p:cNvGrpSpPr>
            <p:nvPr/>
          </p:nvGrpSpPr>
          <p:grpSpPr bwMode="auto">
            <a:xfrm>
              <a:off x="3024" y="2036"/>
              <a:ext cx="884" cy="85"/>
              <a:chOff x="2631" y="1952"/>
              <a:chExt cx="884" cy="85"/>
            </a:xfrm>
          </p:grpSpPr>
          <p:sp>
            <p:nvSpPr>
              <p:cNvPr id="18453" name="Line 31"/>
              <p:cNvSpPr>
                <a:spLocks noChangeShapeType="1"/>
              </p:cNvSpPr>
              <p:nvPr/>
            </p:nvSpPr>
            <p:spPr bwMode="auto">
              <a:xfrm>
                <a:off x="2631" y="1996"/>
                <a:ext cx="840"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8454" name="Oval 32"/>
              <p:cNvSpPr>
                <a:spLocks noChangeAspect="1" noChangeArrowheads="1"/>
              </p:cNvSpPr>
              <p:nvPr/>
            </p:nvSpPr>
            <p:spPr bwMode="auto">
              <a:xfrm>
                <a:off x="3429" y="1952"/>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8452" name="Rectangle 35"/>
            <p:cNvSpPr>
              <a:spLocks noChangeArrowheads="1"/>
            </p:cNvSpPr>
            <p:nvPr/>
          </p:nvSpPr>
          <p:spPr bwMode="auto">
            <a:xfrm>
              <a:off x="2472" y="1930"/>
              <a:ext cx="537" cy="298"/>
            </a:xfrm>
            <a:prstGeom prst="rect">
              <a:avLst/>
            </a:prstGeom>
            <a:noFill/>
            <a:ln w="9525">
              <a:noFill/>
              <a:miter lim="800000"/>
              <a:headEnd/>
              <a:tailEnd/>
            </a:ln>
          </p:spPr>
          <p:txBody>
            <a:bodyPr>
              <a:spAutoFit/>
            </a:bodyPr>
            <a:lstStyle/>
            <a:p>
              <a:r>
                <a:rPr lang="en-US" sz="2500" b="1" i="1">
                  <a:latin typeface="Arial"/>
                  <a:cs typeface="Arial"/>
                </a:rPr>
                <a:t>ATC</a:t>
              </a:r>
            </a:p>
          </p:txBody>
        </p:sp>
      </p:grpSp>
      <p:sp>
        <p:nvSpPr>
          <p:cNvPr id="11" name="Footer Placeholder 10">
            <a:extLst>
              <a:ext uri="{FF2B5EF4-FFF2-40B4-BE49-F238E27FC236}">
                <a16:creationId xmlns:a16="http://schemas.microsoft.com/office/drawing/2014/main" id="{BED0194D-99FB-A9A4-1166-13B65998A77A}"/>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53407979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3127">
                                            <p:txEl>
                                              <p:pRg st="0" end="0"/>
                                            </p:txEl>
                                          </p:spTgt>
                                        </p:tgtEl>
                                        <p:attrNameLst>
                                          <p:attrName>style.visibility</p:attrName>
                                        </p:attrNameLst>
                                      </p:cBhvr>
                                      <p:to>
                                        <p:strVal val="visible"/>
                                      </p:to>
                                    </p:set>
                                    <p:animEffect transition="in" filter="wipe(left)">
                                      <p:cBhvr>
                                        <p:cTn id="11" dur="500"/>
                                        <p:tgtEl>
                                          <p:spTgt spid="133127">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3127">
                                            <p:txEl>
                                              <p:pRg st="1" end="1"/>
                                            </p:txEl>
                                          </p:spTgt>
                                        </p:tgtEl>
                                        <p:attrNameLst>
                                          <p:attrName>style.visibility</p:attrName>
                                        </p:attrNameLst>
                                      </p:cBhvr>
                                      <p:to>
                                        <p:strVal val="visible"/>
                                      </p:to>
                                    </p:set>
                                    <p:animEffect transition="in" filter="wipe(left)">
                                      <p:cBhvr>
                                        <p:cTn id="15" dur="500"/>
                                        <p:tgtEl>
                                          <p:spTgt spid="133127">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3122"/>
                                        </p:tgtEl>
                                        <p:attrNameLst>
                                          <p:attrName>style.visibility</p:attrName>
                                        </p:attrNameLst>
                                      </p:cBhvr>
                                      <p:to>
                                        <p:strVal val="visible"/>
                                      </p:to>
                                    </p:set>
                                    <p:animEffect transition="in" filter="fade">
                                      <p:cBhvr>
                                        <p:cTn id="19" dur="500"/>
                                        <p:tgtEl>
                                          <p:spTgt spid="133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nimBg="1"/>
      <p:bldP spid="133127" grpId="0" build="p" bldLvl="5"/>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 Monopoly Does Not Have a S Curve</a:t>
            </a:r>
          </a:p>
        </p:txBody>
      </p:sp>
      <p:sp>
        <p:nvSpPr>
          <p:cNvPr id="3" name="Content Placeholder 2"/>
          <p:cNvSpPr>
            <a:spLocks noGrp="1"/>
          </p:cNvSpPr>
          <p:nvPr>
            <p:ph idx="1"/>
          </p:nvPr>
        </p:nvSpPr>
        <p:spPr>
          <a:prstGeom prst="rect">
            <a:avLst/>
          </a:prstGeom>
        </p:spPr>
        <p:txBody>
          <a:bodyPr/>
          <a:lstStyle/>
          <a:p>
            <a:r>
              <a:rPr lang="en-US" dirty="0"/>
              <a:t>A competitive firm takes </a:t>
            </a:r>
            <a:r>
              <a:rPr lang="en-US" b="1" i="1" dirty="0"/>
              <a:t>P</a:t>
            </a:r>
            <a:r>
              <a:rPr lang="en-US" dirty="0"/>
              <a:t> as given</a:t>
            </a:r>
          </a:p>
          <a:p>
            <a:pPr lvl="1"/>
            <a:r>
              <a:rPr lang="en-US" dirty="0"/>
              <a:t>Has a supply curve that shows how its </a:t>
            </a:r>
            <a:r>
              <a:rPr lang="en-US" b="1" i="1" dirty="0"/>
              <a:t>Q</a:t>
            </a:r>
            <a:r>
              <a:rPr lang="en-US" dirty="0"/>
              <a:t> depends on </a:t>
            </a:r>
            <a:r>
              <a:rPr lang="en-US" b="1" i="1" dirty="0"/>
              <a:t>P</a:t>
            </a:r>
          </a:p>
          <a:p>
            <a:r>
              <a:rPr lang="en-US" dirty="0"/>
              <a:t>A monopoly firm is a “price-maker”  </a:t>
            </a:r>
          </a:p>
          <a:p>
            <a:pPr lvl="1"/>
            <a:r>
              <a:rPr lang="en-US" b="1" i="1" dirty="0"/>
              <a:t>Q</a:t>
            </a:r>
            <a:r>
              <a:rPr lang="en-US" dirty="0"/>
              <a:t> does not depend on </a:t>
            </a:r>
            <a:r>
              <a:rPr lang="en-US" b="1" i="1" dirty="0"/>
              <a:t>P </a:t>
            </a:r>
          </a:p>
          <a:p>
            <a:pPr lvl="1"/>
            <a:r>
              <a:rPr lang="en-US" b="1" i="1" dirty="0"/>
              <a:t>Q</a:t>
            </a:r>
            <a:r>
              <a:rPr lang="en-US" dirty="0"/>
              <a:t> and </a:t>
            </a:r>
            <a:r>
              <a:rPr lang="en-US" b="1" i="1" dirty="0"/>
              <a:t>P</a:t>
            </a:r>
            <a:r>
              <a:rPr lang="en-US" dirty="0"/>
              <a:t> are jointly determined by </a:t>
            </a:r>
            <a:r>
              <a:rPr lang="en-US" b="1" i="1" dirty="0"/>
              <a:t>MC</a:t>
            </a:r>
            <a:r>
              <a:rPr lang="en-US" dirty="0"/>
              <a:t>, </a:t>
            </a:r>
            <a:r>
              <a:rPr lang="en-US" b="1" i="1" dirty="0"/>
              <a:t>MR</a:t>
            </a:r>
            <a:r>
              <a:rPr lang="en-US" dirty="0"/>
              <a:t>, and the demand curve </a:t>
            </a:r>
          </a:p>
          <a:p>
            <a:pPr lvl="1"/>
            <a:r>
              <a:rPr lang="en-US" dirty="0"/>
              <a:t>Hence, no supply curve for monopoly.</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17</a:t>
            </a:fld>
            <a:endParaRPr lang="en-US"/>
          </a:p>
        </p:txBody>
      </p:sp>
      <p:sp>
        <p:nvSpPr>
          <p:cNvPr id="5" name="Footer Placeholder 4">
            <a:extLst>
              <a:ext uri="{FF2B5EF4-FFF2-40B4-BE49-F238E27FC236}">
                <a16:creationId xmlns:a16="http://schemas.microsoft.com/office/drawing/2014/main" id="{489C41DA-1B6D-44C9-3403-599E1C745269}"/>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8032952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normAutofit/>
          </a:bodyPr>
          <a:lstStyle/>
          <a:p>
            <a:pPr eaLnBrk="1" hangingPunct="1"/>
            <a:r>
              <a:rPr lang="en-US" sz="2800" b="1" dirty="0"/>
              <a:t>CASE STUDY</a:t>
            </a:r>
            <a:r>
              <a:rPr lang="en-US" sz="2800" dirty="0"/>
              <a:t>:  </a:t>
            </a:r>
            <a:r>
              <a:rPr lang="en-US" sz="3200" dirty="0"/>
              <a:t>Monopoly vs. Generic Drugs</a:t>
            </a:r>
          </a:p>
        </p:txBody>
      </p:sp>
      <p:sp>
        <p:nvSpPr>
          <p:cNvPr id="167939" name="Rectangle 3"/>
          <p:cNvSpPr>
            <a:spLocks noGrp="1" noChangeArrowheads="1"/>
          </p:cNvSpPr>
          <p:nvPr>
            <p:ph idx="1"/>
          </p:nvPr>
        </p:nvSpPr>
        <p:spPr>
          <a:xfrm>
            <a:off x="304800" y="1260475"/>
            <a:ext cx="4094161" cy="4911726"/>
          </a:xfrm>
        </p:spPr>
        <p:txBody>
          <a:bodyPr/>
          <a:lstStyle/>
          <a:p>
            <a:pPr marL="0" indent="0" eaLnBrk="1" hangingPunct="1">
              <a:spcBef>
                <a:spcPct val="60000"/>
              </a:spcBef>
              <a:buFont typeface="Wingdings" pitchFamily="2" charset="2"/>
              <a:buNone/>
            </a:pPr>
            <a:r>
              <a:rPr lang="en-US" sz="2800" dirty="0">
                <a:solidFill>
                  <a:schemeClr val="tx1"/>
                </a:solidFill>
              </a:rPr>
              <a:t>Patents on new      drugs give a  temporary monopoly to the seller: </a:t>
            </a:r>
            <a:r>
              <a:rPr lang="en-US" sz="2800" b="1" i="1" dirty="0">
                <a:solidFill>
                  <a:schemeClr val="tx1"/>
                </a:solidFill>
              </a:rPr>
              <a:t>P</a:t>
            </a:r>
            <a:r>
              <a:rPr lang="en-US" sz="2800" b="1" i="1" baseline="-25000" dirty="0">
                <a:solidFill>
                  <a:schemeClr val="tx1"/>
                </a:solidFill>
              </a:rPr>
              <a:t>M</a:t>
            </a:r>
            <a:r>
              <a:rPr lang="en-US" sz="2800" dirty="0">
                <a:solidFill>
                  <a:schemeClr val="tx1"/>
                </a:solidFill>
              </a:rPr>
              <a:t>, </a:t>
            </a:r>
            <a:r>
              <a:rPr lang="en-US" sz="2800" b="1" i="1" dirty="0">
                <a:solidFill>
                  <a:schemeClr val="tx1"/>
                </a:solidFill>
              </a:rPr>
              <a:t>Q</a:t>
            </a:r>
            <a:r>
              <a:rPr lang="en-US" sz="2800" b="1" i="1" baseline="-25000" dirty="0">
                <a:solidFill>
                  <a:schemeClr val="tx1"/>
                </a:solidFill>
              </a:rPr>
              <a:t>M</a:t>
            </a:r>
            <a:r>
              <a:rPr lang="en-US" sz="2800" dirty="0">
                <a:solidFill>
                  <a:schemeClr val="tx1"/>
                </a:solidFill>
              </a:rPr>
              <a:t>.  </a:t>
            </a:r>
          </a:p>
          <a:p>
            <a:pPr marL="0" indent="0" eaLnBrk="1" hangingPunct="1">
              <a:spcBef>
                <a:spcPct val="70000"/>
              </a:spcBef>
              <a:buFont typeface="Wingdings" pitchFamily="2" charset="2"/>
              <a:buNone/>
            </a:pPr>
            <a:endParaRPr lang="en-US" sz="2800" dirty="0">
              <a:solidFill>
                <a:srgbClr val="002060"/>
              </a:solidFill>
            </a:endParaRPr>
          </a:p>
          <a:p>
            <a:pPr marL="0" indent="0" eaLnBrk="1" hangingPunct="1">
              <a:spcBef>
                <a:spcPct val="70000"/>
              </a:spcBef>
              <a:buFont typeface="Wingdings" pitchFamily="2" charset="2"/>
              <a:buNone/>
            </a:pPr>
            <a:r>
              <a:rPr lang="en-US" sz="2800" dirty="0">
                <a:solidFill>
                  <a:srgbClr val="4E519E"/>
                </a:solidFill>
              </a:rPr>
              <a:t>When the patent expires, the market </a:t>
            </a:r>
            <a:br>
              <a:rPr lang="en-US" sz="2800" dirty="0">
                <a:solidFill>
                  <a:srgbClr val="4E519E"/>
                </a:solidFill>
              </a:rPr>
            </a:br>
            <a:r>
              <a:rPr lang="en-US" sz="2800" dirty="0">
                <a:solidFill>
                  <a:srgbClr val="4E519E"/>
                </a:solidFill>
              </a:rPr>
              <a:t>becomes competitive, </a:t>
            </a:r>
            <a:br>
              <a:rPr lang="en-US" sz="2800" dirty="0">
                <a:solidFill>
                  <a:srgbClr val="4E519E"/>
                </a:solidFill>
              </a:rPr>
            </a:br>
            <a:r>
              <a:rPr lang="en-US" sz="2800" dirty="0">
                <a:solidFill>
                  <a:srgbClr val="4E519E"/>
                </a:solidFill>
              </a:rPr>
              <a:t>generics appear: </a:t>
            </a:r>
            <a:r>
              <a:rPr lang="en-US" sz="2800" b="1" i="1" dirty="0">
                <a:solidFill>
                  <a:srgbClr val="4E519E"/>
                </a:solidFill>
              </a:rPr>
              <a:t>P</a:t>
            </a:r>
            <a:r>
              <a:rPr lang="en-US" sz="2800" b="1" i="1" baseline="-25000" dirty="0">
                <a:solidFill>
                  <a:srgbClr val="4E519E"/>
                </a:solidFill>
              </a:rPr>
              <a:t>C</a:t>
            </a:r>
            <a:r>
              <a:rPr lang="en-US" sz="2800" dirty="0">
                <a:solidFill>
                  <a:srgbClr val="4E519E"/>
                </a:solidFill>
              </a:rPr>
              <a:t>, </a:t>
            </a:r>
            <a:r>
              <a:rPr lang="en-US" sz="2800" b="1" i="1" dirty="0">
                <a:solidFill>
                  <a:srgbClr val="4E519E"/>
                </a:solidFill>
              </a:rPr>
              <a:t>Q</a:t>
            </a:r>
            <a:r>
              <a:rPr lang="en-US" sz="2800" b="1" i="1" baseline="-25000" dirty="0">
                <a:solidFill>
                  <a:srgbClr val="4E519E"/>
                </a:solidFill>
              </a:rPr>
              <a:t>C</a:t>
            </a:r>
            <a:r>
              <a:rPr lang="en-US" sz="2800" dirty="0">
                <a:solidFill>
                  <a:srgbClr val="4E519E"/>
                </a:solidFill>
              </a:rPr>
              <a:t>.</a:t>
            </a:r>
          </a:p>
        </p:txBody>
      </p:sp>
      <p:sp>
        <p:nvSpPr>
          <p:cNvPr id="11" name="Slide Number Placeholder 10"/>
          <p:cNvSpPr>
            <a:spLocks noGrp="1"/>
          </p:cNvSpPr>
          <p:nvPr>
            <p:ph type="sldNum" sz="quarter" idx="10"/>
          </p:nvPr>
        </p:nvSpPr>
        <p:spPr/>
        <p:txBody>
          <a:bodyPr/>
          <a:lstStyle/>
          <a:p>
            <a:pPr>
              <a:defRPr/>
            </a:pPr>
            <a:fld id="{073C29DC-2178-4274-9150-45F8EBD31C2D}" type="slidenum">
              <a:rPr lang="en-US" smtClean="0"/>
              <a:pPr>
                <a:defRPr/>
              </a:pPr>
              <a:t>18</a:t>
            </a:fld>
            <a:endParaRPr lang="en-US"/>
          </a:p>
        </p:txBody>
      </p:sp>
      <p:grpSp>
        <p:nvGrpSpPr>
          <p:cNvPr id="2" name="Group 41"/>
          <p:cNvGrpSpPr>
            <a:grpSpLocks/>
          </p:cNvGrpSpPr>
          <p:nvPr/>
        </p:nvGrpSpPr>
        <p:grpSpPr bwMode="auto">
          <a:xfrm>
            <a:off x="4311650" y="3111500"/>
            <a:ext cx="4062412" cy="473075"/>
            <a:chOff x="2595" y="2155"/>
            <a:chExt cx="2559" cy="298"/>
          </a:xfrm>
        </p:grpSpPr>
        <p:sp>
          <p:nvSpPr>
            <p:cNvPr id="20514" name="Line 40"/>
            <p:cNvSpPr>
              <a:spLocks noChangeShapeType="1"/>
            </p:cNvSpPr>
            <p:nvPr/>
          </p:nvSpPr>
          <p:spPr bwMode="auto">
            <a:xfrm>
              <a:off x="3022" y="2305"/>
              <a:ext cx="2132" cy="0"/>
            </a:xfrm>
            <a:prstGeom prst="line">
              <a:avLst/>
            </a:prstGeom>
            <a:noFill/>
            <a:ln w="38100">
              <a:solidFill>
                <a:srgbClr val="CC0000"/>
              </a:solidFill>
              <a:round/>
              <a:headEnd/>
              <a:tailEnd/>
            </a:ln>
          </p:spPr>
          <p:txBody>
            <a:bodyPr/>
            <a:lstStyle/>
            <a:p>
              <a:endParaRPr lang="en-US">
                <a:latin typeface="Arial"/>
                <a:cs typeface="Arial"/>
              </a:endParaRPr>
            </a:p>
          </p:txBody>
        </p:sp>
        <p:sp>
          <p:nvSpPr>
            <p:cNvPr id="20515" name="Rectangle 15"/>
            <p:cNvSpPr>
              <a:spLocks noChangeArrowheads="1"/>
            </p:cNvSpPr>
            <p:nvPr/>
          </p:nvSpPr>
          <p:spPr bwMode="auto">
            <a:xfrm>
              <a:off x="2595" y="2155"/>
              <a:ext cx="429" cy="298"/>
            </a:xfrm>
            <a:prstGeom prst="rect">
              <a:avLst/>
            </a:prstGeom>
            <a:noFill/>
            <a:ln w="9525">
              <a:noFill/>
              <a:miter lim="800000"/>
              <a:headEnd/>
              <a:tailEnd/>
            </a:ln>
          </p:spPr>
          <p:txBody>
            <a:bodyPr>
              <a:spAutoFit/>
            </a:bodyPr>
            <a:lstStyle/>
            <a:p>
              <a:r>
                <a:rPr lang="en-US" sz="2500" i="1">
                  <a:latin typeface="Arial"/>
                  <a:cs typeface="Arial"/>
                </a:rPr>
                <a:t>MC</a:t>
              </a:r>
            </a:p>
          </p:txBody>
        </p:sp>
      </p:grpSp>
      <p:grpSp>
        <p:nvGrpSpPr>
          <p:cNvPr id="3" name="Group 16"/>
          <p:cNvGrpSpPr>
            <a:grpSpLocks/>
          </p:cNvGrpSpPr>
          <p:nvPr/>
        </p:nvGrpSpPr>
        <p:grpSpPr bwMode="auto">
          <a:xfrm>
            <a:off x="3387725" y="1155700"/>
            <a:ext cx="5451475" cy="4559301"/>
            <a:chOff x="1579" y="1014"/>
            <a:chExt cx="3434" cy="2872"/>
          </a:xfrm>
        </p:grpSpPr>
        <p:grpSp>
          <p:nvGrpSpPr>
            <p:cNvPr id="4" name="Group 17"/>
            <p:cNvGrpSpPr>
              <a:grpSpLocks/>
            </p:cNvGrpSpPr>
            <p:nvPr/>
          </p:nvGrpSpPr>
          <p:grpSpPr bwMode="auto">
            <a:xfrm>
              <a:off x="2591" y="1080"/>
              <a:ext cx="2262" cy="2284"/>
              <a:chOff x="1489" y="785"/>
              <a:chExt cx="3650" cy="2492"/>
            </a:xfrm>
          </p:grpSpPr>
          <p:sp>
            <p:nvSpPr>
              <p:cNvPr id="20512" name="Line 18"/>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20513" name="Line 19"/>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20510" name="Text Box 20"/>
            <p:cNvSpPr txBox="1">
              <a:spLocks noChangeArrowheads="1"/>
            </p:cNvSpPr>
            <p:nvPr/>
          </p:nvSpPr>
          <p:spPr bwMode="auto">
            <a:xfrm>
              <a:off x="4232" y="3653"/>
              <a:ext cx="781" cy="233"/>
            </a:xfrm>
            <a:prstGeom prst="rect">
              <a:avLst/>
            </a:prstGeom>
            <a:noFill/>
            <a:ln w="9525">
              <a:noFill/>
              <a:miter lim="800000"/>
              <a:headEnd/>
              <a:tailEnd/>
            </a:ln>
          </p:spPr>
          <p:txBody>
            <a:bodyPr lIns="0" tIns="0" rIns="0" bIns="0">
              <a:spAutoFit/>
            </a:bodyPr>
            <a:lstStyle/>
            <a:p>
              <a:pPr algn="r">
                <a:spcBef>
                  <a:spcPct val="50000"/>
                </a:spcBef>
              </a:pPr>
              <a:r>
                <a:rPr lang="en-US" sz="2400" dirty="0">
                  <a:latin typeface="Arial"/>
                  <a:cs typeface="Arial"/>
                </a:rPr>
                <a:t>Quantity</a:t>
              </a:r>
            </a:p>
          </p:txBody>
        </p:sp>
        <p:sp>
          <p:nvSpPr>
            <p:cNvPr id="20511" name="Text Box 21"/>
            <p:cNvSpPr txBox="1">
              <a:spLocks noChangeArrowheads="1"/>
            </p:cNvSpPr>
            <p:nvPr/>
          </p:nvSpPr>
          <p:spPr bwMode="auto">
            <a:xfrm>
              <a:off x="1579" y="1014"/>
              <a:ext cx="1001"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Price</a:t>
              </a:r>
            </a:p>
          </p:txBody>
        </p:sp>
      </p:grpSp>
      <p:grpSp>
        <p:nvGrpSpPr>
          <p:cNvPr id="5" name="Group 22"/>
          <p:cNvGrpSpPr>
            <a:grpSpLocks/>
          </p:cNvGrpSpPr>
          <p:nvPr/>
        </p:nvGrpSpPr>
        <p:grpSpPr bwMode="auto">
          <a:xfrm>
            <a:off x="4991100" y="1597025"/>
            <a:ext cx="3595687" cy="2462213"/>
            <a:chOff x="2589" y="1292"/>
            <a:chExt cx="2265" cy="1551"/>
          </a:xfrm>
        </p:grpSpPr>
        <p:sp>
          <p:nvSpPr>
            <p:cNvPr id="20507" name="Line 23"/>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a:latin typeface="Arial"/>
                <a:cs typeface="Arial"/>
              </a:endParaRPr>
            </a:p>
          </p:txBody>
        </p:sp>
        <p:sp>
          <p:nvSpPr>
            <p:cNvPr id="20508" name="Text Box 24"/>
            <p:cNvSpPr txBox="1">
              <a:spLocks noChangeArrowheads="1"/>
            </p:cNvSpPr>
            <p:nvPr/>
          </p:nvSpPr>
          <p:spPr bwMode="auto">
            <a:xfrm>
              <a:off x="4580" y="2610"/>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D</a:t>
              </a:r>
            </a:p>
          </p:txBody>
        </p:sp>
      </p:grpSp>
      <p:grpSp>
        <p:nvGrpSpPr>
          <p:cNvPr id="6" name="Group 25"/>
          <p:cNvGrpSpPr>
            <a:grpSpLocks/>
          </p:cNvGrpSpPr>
          <p:nvPr/>
        </p:nvGrpSpPr>
        <p:grpSpPr bwMode="auto">
          <a:xfrm>
            <a:off x="5002212" y="1612900"/>
            <a:ext cx="2600325" cy="3028949"/>
            <a:chOff x="2596" y="1302"/>
            <a:chExt cx="1638" cy="1908"/>
          </a:xfrm>
        </p:grpSpPr>
        <p:sp>
          <p:nvSpPr>
            <p:cNvPr id="20505" name="Line 26"/>
            <p:cNvSpPr>
              <a:spLocks noChangeShapeType="1"/>
            </p:cNvSpPr>
            <p:nvPr/>
          </p:nvSpPr>
          <p:spPr bwMode="auto">
            <a:xfrm>
              <a:off x="2596" y="1302"/>
              <a:ext cx="1299" cy="1704"/>
            </a:xfrm>
            <a:prstGeom prst="line">
              <a:avLst/>
            </a:prstGeom>
            <a:noFill/>
            <a:ln w="38100">
              <a:solidFill>
                <a:srgbClr val="CC0000"/>
              </a:solidFill>
              <a:round/>
              <a:headEnd/>
              <a:tailEnd/>
            </a:ln>
          </p:spPr>
          <p:txBody>
            <a:bodyPr/>
            <a:lstStyle/>
            <a:p>
              <a:endParaRPr lang="en-US">
                <a:latin typeface="Arial"/>
                <a:cs typeface="Arial"/>
              </a:endParaRPr>
            </a:p>
          </p:txBody>
        </p:sp>
        <p:sp>
          <p:nvSpPr>
            <p:cNvPr id="20506" name="Text Box 27"/>
            <p:cNvSpPr txBox="1">
              <a:spLocks noChangeArrowheads="1"/>
            </p:cNvSpPr>
            <p:nvPr/>
          </p:nvSpPr>
          <p:spPr bwMode="auto">
            <a:xfrm>
              <a:off x="3860" y="2977"/>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MR</a:t>
              </a:r>
            </a:p>
          </p:txBody>
        </p:sp>
      </p:grpSp>
      <p:grpSp>
        <p:nvGrpSpPr>
          <p:cNvPr id="7" name="Group 49"/>
          <p:cNvGrpSpPr>
            <a:grpSpLocks/>
          </p:cNvGrpSpPr>
          <p:nvPr/>
        </p:nvGrpSpPr>
        <p:grpSpPr bwMode="auto">
          <a:xfrm>
            <a:off x="4398962" y="2239962"/>
            <a:ext cx="2216150" cy="3087688"/>
            <a:chOff x="2650" y="1606"/>
            <a:chExt cx="1396" cy="1945"/>
          </a:xfrm>
        </p:grpSpPr>
        <p:sp>
          <p:nvSpPr>
            <p:cNvPr id="20499" name="Line 13"/>
            <p:cNvSpPr>
              <a:spLocks noChangeShapeType="1"/>
            </p:cNvSpPr>
            <p:nvPr/>
          </p:nvSpPr>
          <p:spPr bwMode="auto">
            <a:xfrm>
              <a:off x="3024" y="1756"/>
              <a:ext cx="840"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0500" name="Rectangle 14"/>
            <p:cNvSpPr>
              <a:spLocks noChangeArrowheads="1"/>
            </p:cNvSpPr>
            <p:nvPr/>
          </p:nvSpPr>
          <p:spPr bwMode="auto">
            <a:xfrm>
              <a:off x="2650" y="1606"/>
              <a:ext cx="368" cy="298"/>
            </a:xfrm>
            <a:prstGeom prst="rect">
              <a:avLst/>
            </a:prstGeom>
            <a:noFill/>
            <a:ln w="9525">
              <a:noFill/>
              <a:miter lim="800000"/>
              <a:headEnd/>
              <a:tailEnd/>
            </a:ln>
          </p:spPr>
          <p:txBody>
            <a:bodyPr>
              <a:spAutoFit/>
            </a:bodyPr>
            <a:lstStyle/>
            <a:p>
              <a:pPr algn="r"/>
              <a:r>
                <a:rPr lang="en-US" sz="2500" b="1" i="1">
                  <a:latin typeface="Arial"/>
                  <a:cs typeface="Arial"/>
                </a:rPr>
                <a:t>P</a:t>
              </a:r>
              <a:r>
                <a:rPr lang="en-US" sz="2500" b="1" baseline="-25000">
                  <a:latin typeface="Arial"/>
                  <a:cs typeface="Arial"/>
                </a:rPr>
                <a:t>M</a:t>
              </a:r>
            </a:p>
          </p:txBody>
        </p:sp>
        <p:sp>
          <p:nvSpPr>
            <p:cNvPr id="20501" name="Line 32"/>
            <p:cNvSpPr>
              <a:spLocks noChangeShapeType="1"/>
            </p:cNvSpPr>
            <p:nvPr/>
          </p:nvSpPr>
          <p:spPr bwMode="auto">
            <a:xfrm>
              <a:off x="3864" y="1758"/>
              <a:ext cx="0" cy="1511"/>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0502" name="Oval 33"/>
            <p:cNvSpPr>
              <a:spLocks noChangeAspect="1" noChangeArrowheads="1"/>
            </p:cNvSpPr>
            <p:nvPr/>
          </p:nvSpPr>
          <p:spPr bwMode="auto">
            <a:xfrm>
              <a:off x="3822" y="2267"/>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0503" name="Text Box 34"/>
            <p:cNvSpPr txBox="1">
              <a:spLocks noChangeArrowheads="1"/>
            </p:cNvSpPr>
            <p:nvPr/>
          </p:nvSpPr>
          <p:spPr bwMode="auto">
            <a:xfrm>
              <a:off x="3738" y="3282"/>
              <a:ext cx="308" cy="269"/>
            </a:xfrm>
            <a:prstGeom prst="rect">
              <a:avLst/>
            </a:prstGeom>
            <a:noFill/>
            <a:ln w="9525">
              <a:noFill/>
              <a:miter lim="800000"/>
              <a:headEnd/>
              <a:tailEnd/>
            </a:ln>
          </p:spPr>
          <p:txBody>
            <a:bodyPr lIns="0" tIns="0" rIns="0">
              <a:spAutoFit/>
            </a:bodyPr>
            <a:lstStyle/>
            <a:p>
              <a:pPr algn="ctr">
                <a:spcBef>
                  <a:spcPct val="50000"/>
                </a:spcBef>
              </a:pPr>
              <a:r>
                <a:rPr lang="en-US" sz="2500" b="1" i="1" dirty="0">
                  <a:latin typeface="Arial"/>
                  <a:cs typeface="Arial"/>
                </a:rPr>
                <a:t>Q</a:t>
              </a:r>
              <a:r>
                <a:rPr lang="en-US" sz="2500" b="1" baseline="-25000" dirty="0">
                  <a:latin typeface="Arial"/>
                  <a:cs typeface="Arial"/>
                </a:rPr>
                <a:t>M</a:t>
              </a:r>
            </a:p>
          </p:txBody>
        </p:sp>
        <p:sp>
          <p:nvSpPr>
            <p:cNvPr id="20504" name="Oval 35"/>
            <p:cNvSpPr>
              <a:spLocks noChangeAspect="1" noChangeArrowheads="1"/>
            </p:cNvSpPr>
            <p:nvPr/>
          </p:nvSpPr>
          <p:spPr bwMode="auto">
            <a:xfrm>
              <a:off x="3822" y="1712"/>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67978" name="Rectangle 42"/>
          <p:cNvSpPr>
            <a:spLocks noChangeArrowheads="1"/>
          </p:cNvSpPr>
          <p:nvPr/>
        </p:nvSpPr>
        <p:spPr bwMode="auto">
          <a:xfrm>
            <a:off x="3544887" y="3106737"/>
            <a:ext cx="890588" cy="473075"/>
          </a:xfrm>
          <a:prstGeom prst="rect">
            <a:avLst/>
          </a:prstGeom>
          <a:noFill/>
          <a:ln w="9525">
            <a:noFill/>
            <a:miter lim="800000"/>
            <a:headEnd/>
            <a:tailEnd/>
          </a:ln>
        </p:spPr>
        <p:txBody>
          <a:bodyPr>
            <a:spAutoFit/>
          </a:bodyPr>
          <a:lstStyle/>
          <a:p>
            <a:pPr algn="r"/>
            <a:r>
              <a:rPr lang="en-US" sz="2500" b="1" i="1">
                <a:latin typeface="Arial"/>
                <a:cs typeface="Arial"/>
              </a:rPr>
              <a:t>P</a:t>
            </a:r>
            <a:r>
              <a:rPr lang="en-US" sz="2500" b="1" baseline="-25000">
                <a:latin typeface="Arial"/>
                <a:cs typeface="Arial"/>
              </a:rPr>
              <a:t>C</a:t>
            </a:r>
            <a:r>
              <a:rPr lang="en-US" sz="2500">
                <a:latin typeface="Arial"/>
                <a:cs typeface="Arial"/>
              </a:rPr>
              <a:t> =</a:t>
            </a:r>
            <a:endParaRPr lang="en-US" sz="2500" i="1">
              <a:latin typeface="Arial"/>
              <a:cs typeface="Arial"/>
            </a:endParaRPr>
          </a:p>
        </p:txBody>
      </p:sp>
      <p:grpSp>
        <p:nvGrpSpPr>
          <p:cNvPr id="8" name="Group 45"/>
          <p:cNvGrpSpPr>
            <a:grpSpLocks/>
          </p:cNvGrpSpPr>
          <p:nvPr/>
        </p:nvGrpSpPr>
        <p:grpSpPr bwMode="auto">
          <a:xfrm>
            <a:off x="7404107" y="3284537"/>
            <a:ext cx="493713" cy="2060575"/>
            <a:chOff x="4543" y="2264"/>
            <a:chExt cx="311" cy="1298"/>
          </a:xfrm>
        </p:grpSpPr>
        <p:sp>
          <p:nvSpPr>
            <p:cNvPr id="20494" name="Line 37"/>
            <p:cNvSpPr>
              <a:spLocks noChangeShapeType="1"/>
            </p:cNvSpPr>
            <p:nvPr/>
          </p:nvSpPr>
          <p:spPr bwMode="auto">
            <a:xfrm flipH="1">
              <a:off x="4686" y="2309"/>
              <a:ext cx="3" cy="96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0495" name="Oval 38"/>
            <p:cNvSpPr>
              <a:spLocks noChangeAspect="1" noChangeArrowheads="1"/>
            </p:cNvSpPr>
            <p:nvPr/>
          </p:nvSpPr>
          <p:spPr bwMode="auto">
            <a:xfrm>
              <a:off x="4644" y="2264"/>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0497" name="Text Box 39"/>
            <p:cNvSpPr txBox="1">
              <a:spLocks noChangeArrowheads="1"/>
            </p:cNvSpPr>
            <p:nvPr/>
          </p:nvSpPr>
          <p:spPr bwMode="auto">
            <a:xfrm>
              <a:off x="4543" y="3293"/>
              <a:ext cx="311" cy="269"/>
            </a:xfrm>
            <a:prstGeom prst="rect">
              <a:avLst/>
            </a:prstGeom>
            <a:noFill/>
            <a:ln w="9525">
              <a:noFill/>
              <a:miter lim="800000"/>
              <a:headEnd/>
              <a:tailEnd/>
            </a:ln>
          </p:spPr>
          <p:txBody>
            <a:bodyPr lIns="0" tIns="0" rIns="0">
              <a:spAutoFit/>
            </a:bodyPr>
            <a:lstStyle/>
            <a:p>
              <a:pPr algn="ctr">
                <a:spcBef>
                  <a:spcPct val="50000"/>
                </a:spcBef>
              </a:pPr>
              <a:r>
                <a:rPr lang="en-US" sz="2500" b="1" i="1" dirty="0">
                  <a:latin typeface="Arial"/>
                  <a:cs typeface="Arial"/>
                </a:rPr>
                <a:t>Q</a:t>
              </a:r>
              <a:r>
                <a:rPr lang="en-US" sz="2500" b="1" baseline="-25000" dirty="0">
                  <a:latin typeface="Arial"/>
                  <a:cs typeface="Arial"/>
                </a:rPr>
                <a:t>C</a:t>
              </a:r>
            </a:p>
          </p:txBody>
        </p:sp>
      </p:grpSp>
      <p:sp>
        <p:nvSpPr>
          <p:cNvPr id="20493" name="Text Box 46"/>
          <p:cNvSpPr txBox="1">
            <a:spLocks noChangeArrowheads="1"/>
          </p:cNvSpPr>
          <p:nvPr/>
        </p:nvSpPr>
        <p:spPr bwMode="auto">
          <a:xfrm>
            <a:off x="5781675" y="838200"/>
            <a:ext cx="2370137" cy="854075"/>
          </a:xfrm>
          <a:prstGeom prst="rect">
            <a:avLst/>
          </a:prstGeom>
          <a:noFill/>
          <a:ln w="9525">
            <a:noFill/>
            <a:miter lim="800000"/>
            <a:headEnd/>
            <a:tailEnd/>
          </a:ln>
        </p:spPr>
        <p:txBody>
          <a:bodyPr>
            <a:spAutoFit/>
          </a:bodyPr>
          <a:lstStyle/>
          <a:p>
            <a:pPr algn="ctr">
              <a:spcBef>
                <a:spcPct val="50000"/>
              </a:spcBef>
            </a:pPr>
            <a:r>
              <a:rPr lang="en-US" sz="2500" dirty="0">
                <a:solidFill>
                  <a:srgbClr val="4E519E"/>
                </a:solidFill>
                <a:latin typeface="Arial"/>
                <a:cs typeface="Arial"/>
              </a:rPr>
              <a:t>The market for </a:t>
            </a:r>
            <a:br>
              <a:rPr lang="en-US" sz="2500" dirty="0">
                <a:solidFill>
                  <a:srgbClr val="4E519E"/>
                </a:solidFill>
                <a:latin typeface="Arial"/>
                <a:cs typeface="Arial"/>
              </a:rPr>
            </a:br>
            <a:r>
              <a:rPr lang="en-US" sz="2500" dirty="0">
                <a:solidFill>
                  <a:srgbClr val="4E519E"/>
                </a:solidFill>
                <a:latin typeface="Arial"/>
                <a:cs typeface="Arial"/>
              </a:rPr>
              <a:t>a typical drug</a:t>
            </a:r>
          </a:p>
        </p:txBody>
      </p:sp>
    </p:spTree>
    <p:extLst>
      <p:ext uri="{BB962C8B-B14F-4D97-AF65-F5344CB8AC3E}">
        <p14:creationId xmlns:p14="http://schemas.microsoft.com/office/powerpoint/2010/main" val="272113884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Effect transition="in" filter="wipe(left)">
                                      <p:cBhvr>
                                        <p:cTn id="7" dur="500"/>
                                        <p:tgtEl>
                                          <p:spTgt spid="167939">
                                            <p:txEl>
                                              <p:pRg st="0" end="0"/>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strips(downLeft)">
                                      <p:cBhvr>
                                        <p:cTn id="10" dur="1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67939">
                                            <p:txEl>
                                              <p:pRg st="2" end="2"/>
                                            </p:txEl>
                                          </p:spTgt>
                                        </p:tgtEl>
                                        <p:attrNameLst>
                                          <p:attrName>style.visibility</p:attrName>
                                        </p:attrNameLst>
                                      </p:cBhvr>
                                      <p:to>
                                        <p:strVal val="visible"/>
                                      </p:to>
                                    </p:set>
                                    <p:animEffect transition="in" filter="wipe(left)">
                                      <p:cBhvr>
                                        <p:cTn id="15" dur="500"/>
                                        <p:tgtEl>
                                          <p:spTgt spid="167939">
                                            <p:txEl>
                                              <p:pRg st="2" end="2"/>
                                            </p:txEl>
                                          </p:spTgt>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167978"/>
                                        </p:tgtEl>
                                        <p:attrNameLst>
                                          <p:attrName>style.visibility</p:attrName>
                                        </p:attrNameLst>
                                      </p:cBhvr>
                                      <p:to>
                                        <p:strVal val="visible"/>
                                      </p:to>
                                    </p:set>
                                    <p:animEffect transition="in" filter="strips(downLeft)">
                                      <p:cBhvr>
                                        <p:cTn id="22" dur="500"/>
                                        <p:tgtEl>
                                          <p:spTgt spid="167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bldLvl="5"/>
      <p:bldP spid="16797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Welfare Cost of Monopolies</a:t>
            </a:r>
          </a:p>
        </p:txBody>
      </p:sp>
      <p:sp>
        <p:nvSpPr>
          <p:cNvPr id="3" name="Content Placeholder 2"/>
          <p:cNvSpPr>
            <a:spLocks noGrp="1"/>
          </p:cNvSpPr>
          <p:nvPr>
            <p:ph idx="1"/>
          </p:nvPr>
        </p:nvSpPr>
        <p:spPr>
          <a:prstGeom prst="rect">
            <a:avLst/>
          </a:prstGeom>
        </p:spPr>
        <p:txBody>
          <a:bodyPr/>
          <a:lstStyle/>
          <a:p>
            <a:r>
              <a:rPr lang="en-US" dirty="0"/>
              <a:t>Competitive market equilibrium: </a:t>
            </a:r>
          </a:p>
          <a:p>
            <a:pPr lvl="1"/>
            <a:r>
              <a:rPr lang="en-US" dirty="0"/>
              <a:t>At </a:t>
            </a:r>
            <a:r>
              <a:rPr lang="en-US" b="1" i="1" dirty="0"/>
              <a:t>P</a:t>
            </a:r>
            <a:r>
              <a:rPr lang="en-US" dirty="0"/>
              <a:t> = </a:t>
            </a:r>
            <a:r>
              <a:rPr lang="en-US" b="1" i="1" dirty="0"/>
              <a:t>MC</a:t>
            </a:r>
            <a:r>
              <a:rPr lang="en-US" dirty="0"/>
              <a:t> and maximizes total surplus</a:t>
            </a:r>
          </a:p>
          <a:p>
            <a:r>
              <a:rPr lang="en-US" dirty="0"/>
              <a:t>Monopoly equilibrium: at </a:t>
            </a:r>
            <a:r>
              <a:rPr lang="en-US" b="1" i="1" dirty="0"/>
              <a:t>P</a:t>
            </a:r>
            <a:r>
              <a:rPr lang="en-US" dirty="0"/>
              <a:t> &gt; </a:t>
            </a:r>
            <a:r>
              <a:rPr lang="en-US" b="1" i="1" dirty="0"/>
              <a:t>MR</a:t>
            </a:r>
            <a:r>
              <a:rPr lang="en-US" dirty="0"/>
              <a:t> = </a:t>
            </a:r>
            <a:r>
              <a:rPr lang="en-US" b="1" i="1" dirty="0"/>
              <a:t>MC</a:t>
            </a:r>
          </a:p>
          <a:p>
            <a:pPr lvl="1"/>
            <a:r>
              <a:rPr lang="en-US" sz="3000" dirty="0"/>
              <a:t>The value to buyers of an additional unit (</a:t>
            </a:r>
            <a:r>
              <a:rPr lang="en-US" sz="3000" b="1" i="1" dirty="0"/>
              <a:t>P</a:t>
            </a:r>
            <a:r>
              <a:rPr lang="en-US" sz="3000" dirty="0"/>
              <a:t>) exceeds the cost of the resources needed to produce that unit (</a:t>
            </a:r>
            <a:r>
              <a:rPr lang="en-US" sz="3000" b="1" i="1" dirty="0"/>
              <a:t>MC</a:t>
            </a:r>
            <a:r>
              <a:rPr lang="en-US" sz="3000" dirty="0"/>
              <a:t>)  </a:t>
            </a:r>
          </a:p>
          <a:p>
            <a:pPr lvl="1"/>
            <a:r>
              <a:rPr lang="en-US" sz="3000" dirty="0"/>
              <a:t>The monopoly </a:t>
            </a:r>
            <a:r>
              <a:rPr lang="en-US" sz="3000" b="1" i="1" dirty="0"/>
              <a:t>Q</a:t>
            </a:r>
            <a:r>
              <a:rPr lang="en-US" sz="3000" dirty="0"/>
              <a:t> is too low – could increase total surplus with a larger Q</a:t>
            </a:r>
            <a:r>
              <a:rPr lang="en-US" sz="3000" b="1" i="1" dirty="0"/>
              <a:t>. </a:t>
            </a:r>
          </a:p>
          <a:p>
            <a:pPr lvl="1"/>
            <a:r>
              <a:rPr lang="en-US" sz="3000" dirty="0"/>
              <a:t>Monopoly results in a </a:t>
            </a:r>
            <a:r>
              <a:rPr lang="en-US" sz="3000" u="sng" dirty="0"/>
              <a:t>deadweight loss</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19</a:t>
            </a:fld>
            <a:endParaRPr lang="en-US"/>
          </a:p>
        </p:txBody>
      </p:sp>
      <p:sp>
        <p:nvSpPr>
          <p:cNvPr id="5" name="Footer Placeholder 4">
            <a:extLst>
              <a:ext uri="{FF2B5EF4-FFF2-40B4-BE49-F238E27FC236}">
                <a16:creationId xmlns:a16="http://schemas.microsoft.com/office/drawing/2014/main" id="{7C4B99D4-AD1B-6FD1-1D8B-8493C1CEF2E5}"/>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19814092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61"/>
          <p:cNvGrpSpPr>
            <a:grpSpLocks/>
          </p:cNvGrpSpPr>
          <p:nvPr/>
        </p:nvGrpSpPr>
        <p:grpSpPr bwMode="auto">
          <a:xfrm>
            <a:off x="3657600" y="2555878"/>
            <a:ext cx="3128962" cy="477838"/>
            <a:chOff x="2183" y="1809"/>
            <a:chExt cx="1971" cy="301"/>
          </a:xfrm>
        </p:grpSpPr>
        <p:sp>
          <p:nvSpPr>
            <p:cNvPr id="22568" name="Line 58"/>
            <p:cNvSpPr>
              <a:spLocks noChangeShapeType="1"/>
            </p:cNvSpPr>
            <p:nvPr/>
          </p:nvSpPr>
          <p:spPr bwMode="auto">
            <a:xfrm>
              <a:off x="3025" y="1959"/>
              <a:ext cx="1129"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569" name="Rectangle 59"/>
            <p:cNvSpPr>
              <a:spLocks noChangeArrowheads="1"/>
            </p:cNvSpPr>
            <p:nvPr/>
          </p:nvSpPr>
          <p:spPr bwMode="auto">
            <a:xfrm>
              <a:off x="2183" y="1809"/>
              <a:ext cx="893" cy="301"/>
            </a:xfrm>
            <a:prstGeom prst="rect">
              <a:avLst/>
            </a:prstGeom>
            <a:noFill/>
            <a:ln w="9525">
              <a:noFill/>
              <a:miter lim="800000"/>
              <a:headEnd/>
              <a:tailEnd/>
            </a:ln>
          </p:spPr>
          <p:txBody>
            <a:bodyPr wrap="none">
              <a:spAutoFit/>
            </a:bodyPr>
            <a:lstStyle/>
            <a:p>
              <a:r>
                <a:rPr lang="en-US" sz="2500" b="1" i="1" dirty="0">
                  <a:latin typeface="Arial"/>
                  <a:cs typeface="Arial"/>
                </a:rPr>
                <a:t>P</a:t>
              </a:r>
              <a:r>
                <a:rPr lang="en-US" sz="2500" b="1" i="1" baseline="-25000" dirty="0">
                  <a:latin typeface="Arial"/>
                  <a:cs typeface="Arial"/>
                </a:rPr>
                <a:t>C</a:t>
              </a:r>
              <a:r>
                <a:rPr lang="en-US" sz="2500" i="1" dirty="0">
                  <a:latin typeface="Arial"/>
                  <a:cs typeface="Arial"/>
                </a:rPr>
                <a:t> = MC</a:t>
              </a:r>
            </a:p>
          </p:txBody>
        </p:sp>
      </p:grpSp>
      <p:grpSp>
        <p:nvGrpSpPr>
          <p:cNvPr id="3" name="Group 55"/>
          <p:cNvGrpSpPr>
            <a:grpSpLocks/>
          </p:cNvGrpSpPr>
          <p:nvPr/>
        </p:nvGrpSpPr>
        <p:grpSpPr bwMode="auto">
          <a:xfrm>
            <a:off x="5791200" y="1143000"/>
            <a:ext cx="1825625" cy="2190750"/>
            <a:chOff x="3527" y="919"/>
            <a:chExt cx="1150" cy="1380"/>
          </a:xfrm>
        </p:grpSpPr>
        <p:sp>
          <p:nvSpPr>
            <p:cNvPr id="22565" name="AutoShape 52"/>
            <p:cNvSpPr>
              <a:spLocks noChangeArrowheads="1"/>
            </p:cNvSpPr>
            <p:nvPr/>
          </p:nvSpPr>
          <p:spPr bwMode="auto">
            <a:xfrm rot="5400000">
              <a:off x="3737" y="1894"/>
              <a:ext cx="534" cy="276"/>
            </a:xfrm>
            <a:prstGeom prst="triangle">
              <a:avLst>
                <a:gd name="adj" fmla="val 36278"/>
              </a:avLst>
            </a:prstGeom>
            <a:solidFill>
              <a:srgbClr val="66FF99"/>
            </a:solidFill>
            <a:ln w="9525">
              <a:noFill/>
              <a:miter lim="800000"/>
              <a:headEnd/>
              <a:tailEnd/>
            </a:ln>
          </p:spPr>
          <p:txBody>
            <a:bodyPr wrap="none" anchor="ctr"/>
            <a:lstStyle/>
            <a:p>
              <a:endParaRPr lang="en-US">
                <a:latin typeface="Arial"/>
                <a:cs typeface="Arial"/>
              </a:endParaRPr>
            </a:p>
          </p:txBody>
        </p:sp>
        <p:sp>
          <p:nvSpPr>
            <p:cNvPr id="22566" name="Text Box 53"/>
            <p:cNvSpPr txBox="1">
              <a:spLocks noChangeArrowheads="1"/>
            </p:cNvSpPr>
            <p:nvPr/>
          </p:nvSpPr>
          <p:spPr bwMode="auto">
            <a:xfrm>
              <a:off x="3527" y="919"/>
              <a:ext cx="1150" cy="523"/>
            </a:xfrm>
            <a:prstGeom prst="rect">
              <a:avLst/>
            </a:prstGeom>
            <a:noFill/>
            <a:ln w="9525">
              <a:noFill/>
              <a:miter lim="800000"/>
              <a:headEnd/>
              <a:tailEnd/>
            </a:ln>
          </p:spPr>
          <p:txBody>
            <a:bodyPr>
              <a:spAutoFit/>
            </a:bodyPr>
            <a:lstStyle/>
            <a:p>
              <a:pPr algn="ctr">
                <a:spcBef>
                  <a:spcPct val="50000"/>
                </a:spcBef>
              </a:pPr>
              <a:r>
                <a:rPr lang="en-US" sz="2400" dirty="0">
                  <a:solidFill>
                    <a:srgbClr val="4E519E"/>
                  </a:solidFill>
                  <a:latin typeface="Arial"/>
                  <a:cs typeface="Arial"/>
                </a:rPr>
                <a:t>Deadweight </a:t>
              </a:r>
              <a:br>
                <a:rPr lang="en-US" sz="2400" dirty="0">
                  <a:solidFill>
                    <a:srgbClr val="4E519E"/>
                  </a:solidFill>
                  <a:latin typeface="Arial"/>
                  <a:cs typeface="Arial"/>
                </a:rPr>
              </a:br>
              <a:r>
                <a:rPr lang="en-US" sz="2400" dirty="0">
                  <a:solidFill>
                    <a:srgbClr val="4E519E"/>
                  </a:solidFill>
                  <a:latin typeface="Arial"/>
                  <a:cs typeface="Arial"/>
                </a:rPr>
                <a:t>loss</a:t>
              </a:r>
            </a:p>
          </p:txBody>
        </p:sp>
        <p:sp>
          <p:nvSpPr>
            <p:cNvPr id="22567" name="Arc 54"/>
            <p:cNvSpPr>
              <a:spLocks/>
            </p:cNvSpPr>
            <p:nvPr/>
          </p:nvSpPr>
          <p:spPr bwMode="auto">
            <a:xfrm>
              <a:off x="3710" y="1393"/>
              <a:ext cx="442" cy="436"/>
            </a:xfrm>
            <a:custGeom>
              <a:avLst/>
              <a:gdLst>
                <a:gd name="T0" fmla="*/ 0 w 21594"/>
                <a:gd name="T1" fmla="*/ 0 h 14981"/>
                <a:gd name="T2" fmla="*/ 0 w 21594"/>
                <a:gd name="T3" fmla="*/ 0 h 14981"/>
                <a:gd name="T4" fmla="*/ 0 w 21594"/>
                <a:gd name="T5" fmla="*/ 0 h 14981"/>
                <a:gd name="T6" fmla="*/ 0 60000 65536"/>
                <a:gd name="T7" fmla="*/ 0 60000 65536"/>
                <a:gd name="T8" fmla="*/ 0 60000 65536"/>
                <a:gd name="T9" fmla="*/ 0 w 21594"/>
                <a:gd name="T10" fmla="*/ 0 h 14981"/>
                <a:gd name="T11" fmla="*/ 21594 w 21594"/>
                <a:gd name="T12" fmla="*/ 14981 h 14981"/>
              </a:gdLst>
              <a:ahLst/>
              <a:cxnLst>
                <a:cxn ang="T6">
                  <a:pos x="T0" y="T1"/>
                </a:cxn>
                <a:cxn ang="T7">
                  <a:pos x="T2" y="T3"/>
                </a:cxn>
                <a:cxn ang="T8">
                  <a:pos x="T4" y="T5"/>
                </a:cxn>
              </a:cxnLst>
              <a:rect l="T9" t="T10" r="T11" b="T12"/>
              <a:pathLst>
                <a:path w="21594" h="14981" fill="none" extrusionOk="0">
                  <a:moveTo>
                    <a:pt x="21594" y="492"/>
                  </a:moveTo>
                  <a:cubicBezTo>
                    <a:pt x="21471" y="5907"/>
                    <a:pt x="19317" y="11078"/>
                    <a:pt x="15560" y="14981"/>
                  </a:cubicBezTo>
                </a:path>
                <a:path w="21594" h="14981" stroke="0" extrusionOk="0">
                  <a:moveTo>
                    <a:pt x="21594" y="492"/>
                  </a:moveTo>
                  <a:cubicBezTo>
                    <a:pt x="21471" y="5907"/>
                    <a:pt x="19317" y="11078"/>
                    <a:pt x="15560" y="14981"/>
                  </a:cubicBezTo>
                  <a:lnTo>
                    <a:pt x="0" y="0"/>
                  </a:lnTo>
                  <a:close/>
                </a:path>
              </a:pathLst>
            </a:custGeom>
            <a:noFill/>
            <a:ln w="28575">
              <a:solidFill>
                <a:srgbClr val="008000"/>
              </a:solidFill>
              <a:round/>
              <a:headEnd/>
              <a:tailEnd type="triangle" w="lg" len="med"/>
            </a:ln>
          </p:spPr>
          <p:txBody>
            <a:bodyPr wrap="none" anchor="ctr"/>
            <a:lstStyle/>
            <a:p>
              <a:endParaRPr lang="en-US">
                <a:latin typeface="Arial"/>
                <a:cs typeface="Arial"/>
              </a:endParaRPr>
            </a:p>
          </p:txBody>
        </p:sp>
      </p:grpSp>
      <p:grpSp>
        <p:nvGrpSpPr>
          <p:cNvPr id="4" name="Group 49"/>
          <p:cNvGrpSpPr>
            <a:grpSpLocks/>
          </p:cNvGrpSpPr>
          <p:nvPr/>
        </p:nvGrpSpPr>
        <p:grpSpPr bwMode="auto">
          <a:xfrm>
            <a:off x="4311650" y="2233612"/>
            <a:ext cx="2016125" cy="1344613"/>
            <a:chOff x="2595" y="1606"/>
            <a:chExt cx="1270" cy="847"/>
          </a:xfrm>
        </p:grpSpPr>
        <p:sp>
          <p:nvSpPr>
            <p:cNvPr id="22561" name="Line 40"/>
            <p:cNvSpPr>
              <a:spLocks noChangeShapeType="1"/>
            </p:cNvSpPr>
            <p:nvPr/>
          </p:nvSpPr>
          <p:spPr bwMode="auto">
            <a:xfrm>
              <a:off x="3025" y="2307"/>
              <a:ext cx="840"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562" name="Line 37"/>
            <p:cNvSpPr>
              <a:spLocks noChangeShapeType="1"/>
            </p:cNvSpPr>
            <p:nvPr/>
          </p:nvSpPr>
          <p:spPr bwMode="auto">
            <a:xfrm>
              <a:off x="3024" y="1756"/>
              <a:ext cx="840"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563" name="Rectangle 30"/>
            <p:cNvSpPr>
              <a:spLocks noChangeArrowheads="1"/>
            </p:cNvSpPr>
            <p:nvPr/>
          </p:nvSpPr>
          <p:spPr bwMode="auto">
            <a:xfrm>
              <a:off x="2663" y="1606"/>
              <a:ext cx="363" cy="301"/>
            </a:xfrm>
            <a:prstGeom prst="rect">
              <a:avLst/>
            </a:prstGeom>
            <a:noFill/>
            <a:ln w="9525">
              <a:noFill/>
              <a:miter lim="800000"/>
              <a:headEnd/>
              <a:tailEnd/>
            </a:ln>
          </p:spPr>
          <p:txBody>
            <a:bodyPr wrap="none">
              <a:spAutoFit/>
            </a:bodyPr>
            <a:lstStyle/>
            <a:p>
              <a:r>
                <a:rPr lang="en-US" sz="2500" b="1" i="1" dirty="0">
                  <a:latin typeface="Arial"/>
                  <a:cs typeface="Arial"/>
                </a:rPr>
                <a:t>P</a:t>
              </a:r>
              <a:r>
                <a:rPr lang="en-US" sz="2500" b="1" i="1" baseline="-25000" dirty="0">
                  <a:latin typeface="Arial"/>
                  <a:cs typeface="Arial"/>
                </a:rPr>
                <a:t>M</a:t>
              </a:r>
            </a:p>
          </p:txBody>
        </p:sp>
        <p:sp>
          <p:nvSpPr>
            <p:cNvPr id="22564" name="Rectangle 46"/>
            <p:cNvSpPr>
              <a:spLocks noChangeArrowheads="1"/>
            </p:cNvSpPr>
            <p:nvPr/>
          </p:nvSpPr>
          <p:spPr bwMode="auto">
            <a:xfrm>
              <a:off x="2595" y="2155"/>
              <a:ext cx="429" cy="298"/>
            </a:xfrm>
            <a:prstGeom prst="rect">
              <a:avLst/>
            </a:prstGeom>
            <a:noFill/>
            <a:ln w="9525">
              <a:noFill/>
              <a:miter lim="800000"/>
              <a:headEnd/>
              <a:tailEnd/>
            </a:ln>
          </p:spPr>
          <p:txBody>
            <a:bodyPr>
              <a:spAutoFit/>
            </a:bodyPr>
            <a:lstStyle/>
            <a:p>
              <a:r>
                <a:rPr lang="en-US" sz="2500" i="1">
                  <a:latin typeface="Arial"/>
                  <a:cs typeface="Arial"/>
                </a:rPr>
                <a:t>MC</a:t>
              </a:r>
            </a:p>
          </p:txBody>
        </p:sp>
      </p:grpSp>
      <p:sp>
        <p:nvSpPr>
          <p:cNvPr id="22535" name="Rectangle 2"/>
          <p:cNvSpPr>
            <a:spLocks noGrp="1" noChangeArrowheads="1"/>
          </p:cNvSpPr>
          <p:nvPr>
            <p:ph type="title"/>
          </p:nvPr>
        </p:nvSpPr>
        <p:spPr/>
        <p:txBody>
          <a:bodyPr/>
          <a:lstStyle/>
          <a:p>
            <a:pPr algn="ctr" eaLnBrk="1" hangingPunct="1"/>
            <a:r>
              <a:rPr lang="en-US" dirty="0"/>
              <a:t>The Deadweight Loss of Monopoly</a:t>
            </a:r>
          </a:p>
        </p:txBody>
      </p:sp>
      <p:sp>
        <p:nvSpPr>
          <p:cNvPr id="137219" name="Rectangle 3"/>
          <p:cNvSpPr>
            <a:spLocks noGrp="1" noChangeArrowheads="1"/>
          </p:cNvSpPr>
          <p:nvPr>
            <p:ph idx="1"/>
          </p:nvPr>
        </p:nvSpPr>
        <p:spPr>
          <a:xfrm>
            <a:off x="118641" y="1405731"/>
            <a:ext cx="4072359" cy="4924425"/>
          </a:xfrm>
        </p:spPr>
        <p:txBody>
          <a:bodyPr/>
          <a:lstStyle/>
          <a:p>
            <a:pPr marL="0" indent="0" eaLnBrk="1" hangingPunct="1">
              <a:spcBef>
                <a:spcPct val="20000"/>
              </a:spcBef>
              <a:buFont typeface="Wingdings" pitchFamily="2" charset="2"/>
              <a:buNone/>
            </a:pPr>
            <a:r>
              <a:rPr lang="en-US" sz="2800" dirty="0">
                <a:solidFill>
                  <a:schemeClr val="tx1"/>
                </a:solidFill>
              </a:rPr>
              <a:t>Competitive equilibrium:</a:t>
            </a:r>
          </a:p>
          <a:p>
            <a:pPr marL="457200" indent="-457200" eaLnBrk="1" hangingPunct="1">
              <a:spcBef>
                <a:spcPct val="20000"/>
              </a:spcBef>
              <a:buFont typeface="Arial" panose="020B0604020202020204" pitchFamily="34" charset="0"/>
              <a:buChar char="•"/>
            </a:pPr>
            <a:r>
              <a:rPr lang="en-US" sz="2800" dirty="0">
                <a:solidFill>
                  <a:schemeClr val="tx1"/>
                </a:solidFill>
              </a:rPr>
              <a:t>quantity = </a:t>
            </a:r>
            <a:r>
              <a:rPr lang="en-US" sz="2800" b="1" i="1" dirty="0">
                <a:solidFill>
                  <a:schemeClr val="tx1"/>
                </a:solidFill>
              </a:rPr>
              <a:t>Q</a:t>
            </a:r>
            <a:r>
              <a:rPr lang="en-US" sz="2800" b="1" baseline="-25000" dirty="0">
                <a:solidFill>
                  <a:schemeClr val="tx1"/>
                </a:solidFill>
              </a:rPr>
              <a:t>C</a:t>
            </a:r>
            <a:endParaRPr lang="en-US" sz="2800" dirty="0">
              <a:solidFill>
                <a:schemeClr val="tx1"/>
              </a:solidFill>
            </a:endParaRPr>
          </a:p>
          <a:p>
            <a:pPr indent="-512762" eaLnBrk="1" hangingPunct="1">
              <a:lnSpc>
                <a:spcPct val="105000"/>
              </a:lnSpc>
              <a:buFont typeface="Arial" panose="020B0604020202020204" pitchFamily="34" charset="0"/>
              <a:buChar char="•"/>
            </a:pPr>
            <a:r>
              <a:rPr lang="en-US" sz="2800" b="1" i="1" dirty="0">
                <a:solidFill>
                  <a:schemeClr val="tx1"/>
                </a:solidFill>
              </a:rPr>
              <a:t>P</a:t>
            </a:r>
            <a:r>
              <a:rPr lang="en-US" sz="2800" b="1" i="1" baseline="-25000" dirty="0">
                <a:solidFill>
                  <a:schemeClr val="tx1"/>
                </a:solidFill>
              </a:rPr>
              <a:t>C</a:t>
            </a:r>
            <a:r>
              <a:rPr lang="en-US" sz="2800" dirty="0">
                <a:solidFill>
                  <a:schemeClr val="tx1"/>
                </a:solidFill>
              </a:rPr>
              <a:t> = </a:t>
            </a:r>
            <a:r>
              <a:rPr lang="en-US" sz="2800" b="1" i="1" dirty="0">
                <a:solidFill>
                  <a:schemeClr val="tx1"/>
                </a:solidFill>
              </a:rPr>
              <a:t>MC</a:t>
            </a:r>
            <a:endParaRPr lang="en-US" sz="2800" b="1" dirty="0">
              <a:solidFill>
                <a:schemeClr val="tx1"/>
              </a:solidFill>
            </a:endParaRPr>
          </a:p>
          <a:p>
            <a:pPr indent="-512762" eaLnBrk="1" hangingPunct="1">
              <a:lnSpc>
                <a:spcPct val="105000"/>
              </a:lnSpc>
              <a:buFont typeface="Arial" panose="020B0604020202020204" pitchFamily="34" charset="0"/>
              <a:buChar char="•"/>
            </a:pPr>
            <a:r>
              <a:rPr lang="en-US" sz="2800" dirty="0">
                <a:solidFill>
                  <a:schemeClr val="tx1"/>
                </a:solidFill>
              </a:rPr>
              <a:t>total surplus is maximized</a:t>
            </a:r>
          </a:p>
          <a:p>
            <a:pPr marL="0" indent="0" eaLnBrk="1" hangingPunct="1">
              <a:spcBef>
                <a:spcPct val="50000"/>
              </a:spcBef>
              <a:buFont typeface="Wingdings" pitchFamily="2" charset="2"/>
              <a:buNone/>
            </a:pPr>
            <a:r>
              <a:rPr lang="en-US" sz="2800" dirty="0">
                <a:solidFill>
                  <a:srgbClr val="4E519E"/>
                </a:solidFill>
              </a:rPr>
              <a:t>Monopoly equilibrium:</a:t>
            </a:r>
          </a:p>
          <a:p>
            <a:pPr indent="-512762" eaLnBrk="1" hangingPunct="1">
              <a:lnSpc>
                <a:spcPct val="105000"/>
              </a:lnSpc>
              <a:buFont typeface="Arial" panose="020B0604020202020204" pitchFamily="34" charset="0"/>
              <a:buChar char="•"/>
            </a:pPr>
            <a:r>
              <a:rPr lang="en-US" sz="2800" dirty="0">
                <a:solidFill>
                  <a:srgbClr val="4E519E"/>
                </a:solidFill>
              </a:rPr>
              <a:t>quantity = </a:t>
            </a:r>
            <a:r>
              <a:rPr lang="en-US" sz="2800" b="1" i="1" dirty="0">
                <a:solidFill>
                  <a:srgbClr val="4E519E"/>
                </a:solidFill>
              </a:rPr>
              <a:t>Q</a:t>
            </a:r>
            <a:r>
              <a:rPr lang="en-US" sz="2800" b="1" baseline="-25000" dirty="0">
                <a:solidFill>
                  <a:srgbClr val="4E519E"/>
                </a:solidFill>
              </a:rPr>
              <a:t>M</a:t>
            </a:r>
            <a:endParaRPr lang="en-US" sz="2800" dirty="0">
              <a:solidFill>
                <a:srgbClr val="4E519E"/>
              </a:solidFill>
            </a:endParaRPr>
          </a:p>
          <a:p>
            <a:pPr indent="-512762" eaLnBrk="1" hangingPunct="1">
              <a:lnSpc>
                <a:spcPct val="105000"/>
              </a:lnSpc>
              <a:buFont typeface="Arial" panose="020B0604020202020204" pitchFamily="34" charset="0"/>
              <a:buChar char="•"/>
            </a:pPr>
            <a:r>
              <a:rPr lang="en-US" sz="2800" b="1" i="1" dirty="0">
                <a:solidFill>
                  <a:srgbClr val="4E519E"/>
                </a:solidFill>
              </a:rPr>
              <a:t>P</a:t>
            </a:r>
            <a:r>
              <a:rPr lang="en-US" sz="2800" b="1" i="1" baseline="-25000" dirty="0">
                <a:solidFill>
                  <a:srgbClr val="4E519E"/>
                </a:solidFill>
              </a:rPr>
              <a:t>M</a:t>
            </a:r>
            <a:r>
              <a:rPr lang="en-US" sz="2800" dirty="0">
                <a:solidFill>
                  <a:srgbClr val="4E519E"/>
                </a:solidFill>
              </a:rPr>
              <a:t> &gt; </a:t>
            </a:r>
            <a:r>
              <a:rPr lang="en-US" sz="2800" b="1" i="1" dirty="0">
                <a:solidFill>
                  <a:srgbClr val="4E519E"/>
                </a:solidFill>
              </a:rPr>
              <a:t>MC</a:t>
            </a:r>
          </a:p>
          <a:p>
            <a:pPr indent="-512762" eaLnBrk="1" hangingPunct="1">
              <a:lnSpc>
                <a:spcPct val="105000"/>
              </a:lnSpc>
              <a:buFont typeface="Arial" panose="020B0604020202020204" pitchFamily="34" charset="0"/>
              <a:buChar char="•"/>
            </a:pPr>
            <a:r>
              <a:rPr lang="en-US" sz="2800" dirty="0">
                <a:solidFill>
                  <a:srgbClr val="4E519E"/>
                </a:solidFill>
              </a:rPr>
              <a:t>deadweight loss</a:t>
            </a:r>
          </a:p>
        </p:txBody>
      </p:sp>
      <p:sp>
        <p:nvSpPr>
          <p:cNvPr id="13" name="Slide Number Placeholder 12"/>
          <p:cNvSpPr>
            <a:spLocks noGrp="1"/>
          </p:cNvSpPr>
          <p:nvPr>
            <p:ph type="sldNum" sz="quarter" idx="10"/>
          </p:nvPr>
        </p:nvSpPr>
        <p:spPr/>
        <p:txBody>
          <a:bodyPr/>
          <a:lstStyle/>
          <a:p>
            <a:pPr>
              <a:defRPr/>
            </a:pPr>
            <a:fld id="{073C29DC-2178-4274-9150-45F8EBD31C2D}" type="slidenum">
              <a:rPr lang="en-US" smtClean="0"/>
              <a:pPr>
                <a:defRPr/>
              </a:pPr>
              <a:t>20</a:t>
            </a:fld>
            <a:endParaRPr lang="en-US"/>
          </a:p>
        </p:txBody>
      </p:sp>
      <p:grpSp>
        <p:nvGrpSpPr>
          <p:cNvPr id="5" name="Group 8"/>
          <p:cNvGrpSpPr>
            <a:grpSpLocks/>
          </p:cNvGrpSpPr>
          <p:nvPr/>
        </p:nvGrpSpPr>
        <p:grpSpPr bwMode="auto">
          <a:xfrm>
            <a:off x="3387725" y="1149350"/>
            <a:ext cx="5451475" cy="4183063"/>
            <a:chOff x="1579" y="1014"/>
            <a:chExt cx="3434" cy="2635"/>
          </a:xfrm>
        </p:grpSpPr>
        <p:grpSp>
          <p:nvGrpSpPr>
            <p:cNvPr id="6" name="Group 9"/>
            <p:cNvGrpSpPr>
              <a:grpSpLocks/>
            </p:cNvGrpSpPr>
            <p:nvPr/>
          </p:nvGrpSpPr>
          <p:grpSpPr bwMode="auto">
            <a:xfrm>
              <a:off x="2591" y="1080"/>
              <a:ext cx="2262" cy="2284"/>
              <a:chOff x="1489" y="785"/>
              <a:chExt cx="3650" cy="2492"/>
            </a:xfrm>
          </p:grpSpPr>
          <p:sp>
            <p:nvSpPr>
              <p:cNvPr id="22559" name="Line 10"/>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22560" name="Line 11"/>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22557" name="Text Box 12"/>
            <p:cNvSpPr txBox="1">
              <a:spLocks noChangeArrowheads="1"/>
            </p:cNvSpPr>
            <p:nvPr/>
          </p:nvSpPr>
          <p:spPr bwMode="auto">
            <a:xfrm>
              <a:off x="4232" y="3416"/>
              <a:ext cx="781"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Quantity</a:t>
              </a:r>
            </a:p>
          </p:txBody>
        </p:sp>
        <p:sp>
          <p:nvSpPr>
            <p:cNvPr id="22558" name="Text Box 13"/>
            <p:cNvSpPr txBox="1">
              <a:spLocks noChangeArrowheads="1"/>
            </p:cNvSpPr>
            <p:nvPr/>
          </p:nvSpPr>
          <p:spPr bwMode="auto">
            <a:xfrm>
              <a:off x="1579" y="1014"/>
              <a:ext cx="1001"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Price</a:t>
              </a:r>
            </a:p>
          </p:txBody>
        </p:sp>
      </p:grpSp>
      <p:grpSp>
        <p:nvGrpSpPr>
          <p:cNvPr id="7" name="Group 17"/>
          <p:cNvGrpSpPr>
            <a:grpSpLocks/>
          </p:cNvGrpSpPr>
          <p:nvPr/>
        </p:nvGrpSpPr>
        <p:grpSpPr bwMode="auto">
          <a:xfrm>
            <a:off x="4991100" y="1590675"/>
            <a:ext cx="3595687" cy="2462213"/>
            <a:chOff x="2589" y="1292"/>
            <a:chExt cx="2265" cy="1551"/>
          </a:xfrm>
        </p:grpSpPr>
        <p:sp>
          <p:nvSpPr>
            <p:cNvPr id="22554" name="Line 18"/>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a:latin typeface="Arial"/>
                <a:cs typeface="Arial"/>
              </a:endParaRPr>
            </a:p>
          </p:txBody>
        </p:sp>
        <p:sp>
          <p:nvSpPr>
            <p:cNvPr id="22555" name="Text Box 19"/>
            <p:cNvSpPr txBox="1">
              <a:spLocks noChangeArrowheads="1"/>
            </p:cNvSpPr>
            <p:nvPr/>
          </p:nvSpPr>
          <p:spPr bwMode="auto">
            <a:xfrm>
              <a:off x="4580" y="2610"/>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D</a:t>
              </a:r>
            </a:p>
          </p:txBody>
        </p:sp>
      </p:grpSp>
      <p:grpSp>
        <p:nvGrpSpPr>
          <p:cNvPr id="8" name="Group 20"/>
          <p:cNvGrpSpPr>
            <a:grpSpLocks/>
          </p:cNvGrpSpPr>
          <p:nvPr/>
        </p:nvGrpSpPr>
        <p:grpSpPr bwMode="auto">
          <a:xfrm>
            <a:off x="5002212" y="1606550"/>
            <a:ext cx="2600325" cy="3028949"/>
            <a:chOff x="2596" y="1302"/>
            <a:chExt cx="1638" cy="1908"/>
          </a:xfrm>
        </p:grpSpPr>
        <p:sp>
          <p:nvSpPr>
            <p:cNvPr id="22552" name="Line 21"/>
            <p:cNvSpPr>
              <a:spLocks noChangeShapeType="1"/>
            </p:cNvSpPr>
            <p:nvPr/>
          </p:nvSpPr>
          <p:spPr bwMode="auto">
            <a:xfrm>
              <a:off x="2596" y="1302"/>
              <a:ext cx="1299" cy="1704"/>
            </a:xfrm>
            <a:prstGeom prst="line">
              <a:avLst/>
            </a:prstGeom>
            <a:noFill/>
            <a:ln w="38100">
              <a:solidFill>
                <a:srgbClr val="CC0000"/>
              </a:solidFill>
              <a:round/>
              <a:headEnd/>
              <a:tailEnd/>
            </a:ln>
          </p:spPr>
          <p:txBody>
            <a:bodyPr/>
            <a:lstStyle/>
            <a:p>
              <a:endParaRPr lang="en-US">
                <a:latin typeface="Arial"/>
                <a:cs typeface="Arial"/>
              </a:endParaRPr>
            </a:p>
          </p:txBody>
        </p:sp>
        <p:sp>
          <p:nvSpPr>
            <p:cNvPr id="22553" name="Text Box 22"/>
            <p:cNvSpPr txBox="1">
              <a:spLocks noChangeArrowheads="1"/>
            </p:cNvSpPr>
            <p:nvPr/>
          </p:nvSpPr>
          <p:spPr bwMode="auto">
            <a:xfrm>
              <a:off x="3860" y="2977"/>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MR</a:t>
              </a:r>
            </a:p>
          </p:txBody>
        </p:sp>
      </p:grpSp>
      <p:grpSp>
        <p:nvGrpSpPr>
          <p:cNvPr id="9" name="Group 23"/>
          <p:cNvGrpSpPr>
            <a:grpSpLocks/>
          </p:cNvGrpSpPr>
          <p:nvPr/>
        </p:nvGrpSpPr>
        <p:grpSpPr bwMode="auto">
          <a:xfrm>
            <a:off x="5307012" y="1549400"/>
            <a:ext cx="2722563" cy="3014662"/>
            <a:chOff x="2788" y="1266"/>
            <a:chExt cx="1715" cy="1899"/>
          </a:xfrm>
        </p:grpSpPr>
        <p:sp>
          <p:nvSpPr>
            <p:cNvPr id="22550" name="Line 24"/>
            <p:cNvSpPr>
              <a:spLocks noChangeShapeType="1"/>
            </p:cNvSpPr>
            <p:nvPr/>
          </p:nvSpPr>
          <p:spPr bwMode="auto">
            <a:xfrm flipV="1">
              <a:off x="2788" y="1479"/>
              <a:ext cx="1409" cy="1686"/>
            </a:xfrm>
            <a:prstGeom prst="line">
              <a:avLst/>
            </a:prstGeom>
            <a:noFill/>
            <a:ln w="38100">
              <a:solidFill>
                <a:srgbClr val="CC0000"/>
              </a:solidFill>
              <a:round/>
              <a:headEnd/>
              <a:tailEnd/>
            </a:ln>
          </p:spPr>
          <p:txBody>
            <a:bodyPr/>
            <a:lstStyle/>
            <a:p>
              <a:endParaRPr lang="en-US">
                <a:latin typeface="Arial"/>
                <a:cs typeface="Arial"/>
              </a:endParaRPr>
            </a:p>
          </p:txBody>
        </p:sp>
        <p:sp>
          <p:nvSpPr>
            <p:cNvPr id="22551" name="Text Box 25"/>
            <p:cNvSpPr txBox="1">
              <a:spLocks noChangeArrowheads="1"/>
            </p:cNvSpPr>
            <p:nvPr/>
          </p:nvSpPr>
          <p:spPr bwMode="auto">
            <a:xfrm>
              <a:off x="4129" y="1266"/>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MC</a:t>
              </a:r>
            </a:p>
          </p:txBody>
        </p:sp>
      </p:grpSp>
      <p:grpSp>
        <p:nvGrpSpPr>
          <p:cNvPr id="10" name="Group 48"/>
          <p:cNvGrpSpPr>
            <a:grpSpLocks/>
          </p:cNvGrpSpPr>
          <p:nvPr/>
        </p:nvGrpSpPr>
        <p:grpSpPr bwMode="auto">
          <a:xfrm>
            <a:off x="6092825" y="2401887"/>
            <a:ext cx="488950" cy="2919413"/>
            <a:chOff x="3717" y="1712"/>
            <a:chExt cx="308" cy="1839"/>
          </a:xfrm>
        </p:grpSpPr>
        <p:sp>
          <p:nvSpPr>
            <p:cNvPr id="22546" name="Line 38"/>
            <p:cNvSpPr>
              <a:spLocks noChangeShapeType="1"/>
            </p:cNvSpPr>
            <p:nvPr/>
          </p:nvSpPr>
          <p:spPr bwMode="auto">
            <a:xfrm>
              <a:off x="3864" y="1758"/>
              <a:ext cx="0" cy="1511"/>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547" name="Oval 27"/>
            <p:cNvSpPr>
              <a:spLocks noChangeAspect="1" noChangeArrowheads="1"/>
            </p:cNvSpPr>
            <p:nvPr/>
          </p:nvSpPr>
          <p:spPr bwMode="auto">
            <a:xfrm>
              <a:off x="3822" y="2267"/>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2548" name="Text Box 28"/>
            <p:cNvSpPr txBox="1">
              <a:spLocks noChangeArrowheads="1"/>
            </p:cNvSpPr>
            <p:nvPr/>
          </p:nvSpPr>
          <p:spPr bwMode="auto">
            <a:xfrm>
              <a:off x="3717" y="3282"/>
              <a:ext cx="308" cy="269"/>
            </a:xfrm>
            <a:prstGeom prst="rect">
              <a:avLst/>
            </a:prstGeom>
            <a:noFill/>
            <a:ln w="9525">
              <a:noFill/>
              <a:miter lim="800000"/>
              <a:headEnd/>
              <a:tailEnd/>
            </a:ln>
          </p:spPr>
          <p:txBody>
            <a:bodyPr lIns="0" tIns="0" rIns="0">
              <a:spAutoFit/>
            </a:bodyPr>
            <a:lstStyle/>
            <a:p>
              <a:pPr algn="ctr">
                <a:spcBef>
                  <a:spcPct val="50000"/>
                </a:spcBef>
              </a:pPr>
              <a:r>
                <a:rPr lang="en-US" sz="2500" b="1" i="1">
                  <a:latin typeface="Arial"/>
                  <a:cs typeface="Arial"/>
                </a:rPr>
                <a:t>Q</a:t>
              </a:r>
              <a:r>
                <a:rPr lang="en-US" sz="2500" b="1" baseline="-25000">
                  <a:latin typeface="Arial"/>
                  <a:cs typeface="Arial"/>
                </a:rPr>
                <a:t>M</a:t>
              </a:r>
            </a:p>
          </p:txBody>
        </p:sp>
        <p:sp>
          <p:nvSpPr>
            <p:cNvPr id="22549" name="Oval 29"/>
            <p:cNvSpPr>
              <a:spLocks noChangeAspect="1" noChangeArrowheads="1"/>
            </p:cNvSpPr>
            <p:nvPr/>
          </p:nvSpPr>
          <p:spPr bwMode="auto">
            <a:xfrm>
              <a:off x="3822" y="1712"/>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11" name="Group 51"/>
          <p:cNvGrpSpPr>
            <a:grpSpLocks/>
          </p:cNvGrpSpPr>
          <p:nvPr/>
        </p:nvGrpSpPr>
        <p:grpSpPr bwMode="auto">
          <a:xfrm>
            <a:off x="6611937" y="2720975"/>
            <a:ext cx="493713" cy="2600325"/>
            <a:chOff x="4044" y="1913"/>
            <a:chExt cx="311" cy="1638"/>
          </a:xfrm>
        </p:grpSpPr>
        <p:sp>
          <p:nvSpPr>
            <p:cNvPr id="22543" name="Line 44"/>
            <p:cNvSpPr>
              <a:spLocks noChangeShapeType="1"/>
            </p:cNvSpPr>
            <p:nvPr/>
          </p:nvSpPr>
          <p:spPr bwMode="auto">
            <a:xfrm>
              <a:off x="4158" y="1958"/>
              <a:ext cx="0" cy="1316"/>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544" name="Oval 45"/>
            <p:cNvSpPr>
              <a:spLocks noChangeAspect="1" noChangeArrowheads="1"/>
            </p:cNvSpPr>
            <p:nvPr/>
          </p:nvSpPr>
          <p:spPr bwMode="auto">
            <a:xfrm>
              <a:off x="4113" y="1913"/>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2545" name="Text Box 47"/>
            <p:cNvSpPr txBox="1">
              <a:spLocks noChangeArrowheads="1"/>
            </p:cNvSpPr>
            <p:nvPr/>
          </p:nvSpPr>
          <p:spPr bwMode="auto">
            <a:xfrm>
              <a:off x="4044" y="3282"/>
              <a:ext cx="311" cy="269"/>
            </a:xfrm>
            <a:prstGeom prst="rect">
              <a:avLst/>
            </a:prstGeom>
            <a:noFill/>
            <a:ln w="9525">
              <a:noFill/>
              <a:miter lim="800000"/>
              <a:headEnd/>
              <a:tailEnd/>
            </a:ln>
          </p:spPr>
          <p:txBody>
            <a:bodyPr lIns="0" tIns="0" rIns="0">
              <a:spAutoFit/>
            </a:bodyPr>
            <a:lstStyle/>
            <a:p>
              <a:pPr algn="ctr">
                <a:spcBef>
                  <a:spcPct val="50000"/>
                </a:spcBef>
              </a:pPr>
              <a:r>
                <a:rPr lang="en-US" sz="2500" b="1" i="1">
                  <a:latin typeface="Arial"/>
                  <a:cs typeface="Arial"/>
                </a:rPr>
                <a:t>Q</a:t>
              </a:r>
              <a:r>
                <a:rPr lang="en-US" sz="2500" b="1" baseline="-25000">
                  <a:latin typeface="Arial"/>
                  <a:cs typeface="Arial"/>
                </a:rPr>
                <a:t>C</a:t>
              </a:r>
            </a:p>
          </p:txBody>
        </p:sp>
      </p:grpSp>
      <p:sp>
        <p:nvSpPr>
          <p:cNvPr id="12" name="Footer Placeholder 11">
            <a:extLst>
              <a:ext uri="{FF2B5EF4-FFF2-40B4-BE49-F238E27FC236}">
                <a16:creationId xmlns:a16="http://schemas.microsoft.com/office/drawing/2014/main" id="{9BB0491F-FB91-FE43-F9D4-9E78617E5311}"/>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140840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wipe(left)">
                                      <p:cBhvr>
                                        <p:cTn id="7" dur="500"/>
                                        <p:tgtEl>
                                          <p:spTgt spid="137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wipe(left)">
                                      <p:cBhvr>
                                        <p:cTn id="12" dur="500"/>
                                        <p:tgtEl>
                                          <p:spTgt spid="137219">
                                            <p:txEl>
                                              <p:pRg st="1" end="1"/>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7219">
                                            <p:txEl>
                                              <p:pRg st="2" end="2"/>
                                            </p:txEl>
                                          </p:spTgt>
                                        </p:tgtEl>
                                        <p:attrNameLst>
                                          <p:attrName>style.visibility</p:attrName>
                                        </p:attrNameLst>
                                      </p:cBhvr>
                                      <p:to>
                                        <p:strVal val="visible"/>
                                      </p:to>
                                    </p:set>
                                    <p:animEffect transition="in" filter="wipe(left)">
                                      <p:cBhvr>
                                        <p:cTn id="20" dur="500"/>
                                        <p:tgtEl>
                                          <p:spTgt spid="137219">
                                            <p:txEl>
                                              <p:pRg st="2" end="2"/>
                                            </p:txEl>
                                          </p:spTgt>
                                        </p:tgtEl>
                                      </p:cBhvr>
                                    </p:animEffect>
                                  </p:childTnLst>
                                </p:cTn>
                              </p:par>
                              <p:par>
                                <p:cTn id="21" presetID="22" presetClass="entr" presetSubtype="2"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righ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7219">
                                            <p:txEl>
                                              <p:pRg st="3" end="3"/>
                                            </p:txEl>
                                          </p:spTgt>
                                        </p:tgtEl>
                                        <p:attrNameLst>
                                          <p:attrName>style.visibility</p:attrName>
                                        </p:attrNameLst>
                                      </p:cBhvr>
                                      <p:to>
                                        <p:strVal val="visible"/>
                                      </p:to>
                                    </p:set>
                                    <p:animEffect transition="in" filter="wipe(left)">
                                      <p:cBhvr>
                                        <p:cTn id="28" dur="500"/>
                                        <p:tgtEl>
                                          <p:spTgt spid="137219">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nodeType="clickEffect">
                                  <p:stCondLst>
                                    <p:cond delay="0"/>
                                  </p:stCondLst>
                                  <p:childTnLst>
                                    <p:animEffect transition="out" filter="fade">
                                      <p:cBhvr>
                                        <p:cTn id="32" dur="500"/>
                                        <p:tgtEl>
                                          <p:spTgt spid="2"/>
                                        </p:tgtEl>
                                      </p:cBhvr>
                                    </p:animEffect>
                                    <p:set>
                                      <p:cBhvr>
                                        <p:cTn id="33" dur="1" fill="hold">
                                          <p:stCondLst>
                                            <p:cond delay="499"/>
                                          </p:stCondLst>
                                        </p:cTn>
                                        <p:tgtEl>
                                          <p:spTgt spid="2"/>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7219">
                                            <p:txEl>
                                              <p:pRg st="4" end="4"/>
                                            </p:txEl>
                                          </p:spTgt>
                                        </p:tgtEl>
                                        <p:attrNameLst>
                                          <p:attrName>style.visibility</p:attrName>
                                        </p:attrNameLst>
                                      </p:cBhvr>
                                      <p:to>
                                        <p:strVal val="visible"/>
                                      </p:to>
                                    </p:set>
                                    <p:animEffect transition="in" filter="wipe(left)">
                                      <p:cBhvr>
                                        <p:cTn id="38" dur="500"/>
                                        <p:tgtEl>
                                          <p:spTgt spid="137219">
                                            <p:txEl>
                                              <p:pRg st="4" end="4"/>
                                            </p:txEl>
                                          </p:spTgt>
                                        </p:tgtEl>
                                      </p:cBhvr>
                                    </p:animEffect>
                                  </p:childTnLst>
                                </p:cTn>
                              </p:par>
                              <p:par>
                                <p:cTn id="39" presetID="18" presetClass="entr" presetSubtype="6" fill="hold"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strips(downRight)">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7219">
                                            <p:txEl>
                                              <p:pRg st="5" end="5"/>
                                            </p:txEl>
                                          </p:spTgt>
                                        </p:tgtEl>
                                        <p:attrNameLst>
                                          <p:attrName>style.visibility</p:attrName>
                                        </p:attrNameLst>
                                      </p:cBhvr>
                                      <p:to>
                                        <p:strVal val="visible"/>
                                      </p:to>
                                    </p:set>
                                    <p:animEffect transition="in" filter="wipe(left)">
                                      <p:cBhvr>
                                        <p:cTn id="46" dur="500"/>
                                        <p:tgtEl>
                                          <p:spTgt spid="137219">
                                            <p:txEl>
                                              <p:pRg st="5" end="5"/>
                                            </p:txEl>
                                          </p:spTgt>
                                        </p:tgtEl>
                                      </p:cBhvr>
                                    </p:animEffect>
                                  </p:childTnLst>
                                </p:cTn>
                              </p:par>
                              <p:par>
                                <p:cTn id="47" presetID="22" presetClass="entr" presetSubtype="1" fill="hold"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up)">
                                      <p:cBhvr>
                                        <p:cTn id="49" dur="5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37219">
                                            <p:txEl>
                                              <p:pRg st="6" end="6"/>
                                            </p:txEl>
                                          </p:spTgt>
                                        </p:tgtEl>
                                        <p:attrNameLst>
                                          <p:attrName>style.visibility</p:attrName>
                                        </p:attrNameLst>
                                      </p:cBhvr>
                                      <p:to>
                                        <p:strVal val="visible"/>
                                      </p:to>
                                    </p:set>
                                    <p:animEffect transition="in" filter="wipe(left)">
                                      <p:cBhvr>
                                        <p:cTn id="54" dur="500"/>
                                        <p:tgtEl>
                                          <p:spTgt spid="137219">
                                            <p:txEl>
                                              <p:pRg st="6" end="6"/>
                                            </p:txEl>
                                          </p:spTgt>
                                        </p:tgtEl>
                                      </p:cBhvr>
                                    </p:animEffect>
                                  </p:childTnLst>
                                </p:cTn>
                              </p:par>
                              <p:par>
                                <p:cTn id="55" presetID="18" presetClass="entr" presetSubtype="12" fill="hold" nodeType="with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strips(downLeft)">
                                      <p:cBhvr>
                                        <p:cTn id="57" dur="500"/>
                                        <p:tgtEl>
                                          <p:spTgt spid="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7219">
                                            <p:txEl>
                                              <p:pRg st="7" end="7"/>
                                            </p:txEl>
                                          </p:spTgt>
                                        </p:tgtEl>
                                        <p:attrNameLst>
                                          <p:attrName>style.visibility</p:attrName>
                                        </p:attrNameLst>
                                      </p:cBhvr>
                                      <p:to>
                                        <p:strVal val="visible"/>
                                      </p:to>
                                    </p:set>
                                    <p:animEffect transition="in" filter="wipe(left)">
                                      <p:cBhvr>
                                        <p:cTn id="62" dur="500"/>
                                        <p:tgtEl>
                                          <p:spTgt spid="137219">
                                            <p:txEl>
                                              <p:pRg st="7" end="7"/>
                                            </p:txEl>
                                          </p:spTgt>
                                        </p:tgtEl>
                                      </p:cBhvr>
                                    </p:animEffect>
                                  </p:childTnLst>
                                </p:cTn>
                              </p:par>
                              <p:par>
                                <p:cTn id="63" presetID="18" presetClass="entr" presetSubtype="12" fill="hold" nodeType="with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strips(downLeft)">
                                      <p:cBhvr>
                                        <p:cTn id="6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bldLvl="5"/>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The Monopoly’s Profit: A Social Cost?</a:t>
            </a:r>
          </a:p>
        </p:txBody>
      </p:sp>
      <p:sp>
        <p:nvSpPr>
          <p:cNvPr id="3" name="Content Placeholder 2"/>
          <p:cNvSpPr>
            <a:spLocks noGrp="1"/>
          </p:cNvSpPr>
          <p:nvPr>
            <p:ph idx="1"/>
          </p:nvPr>
        </p:nvSpPr>
        <p:spPr/>
        <p:txBody>
          <a:bodyPr/>
          <a:lstStyle/>
          <a:p>
            <a:r>
              <a:rPr lang="en-US" dirty="0"/>
              <a:t>Monopoly profit is not in itself necessarily a problem for society</a:t>
            </a:r>
          </a:p>
          <a:p>
            <a:pPr lvl="1"/>
            <a:r>
              <a:rPr lang="en-US" dirty="0"/>
              <a:t>Greater producer surplus for monopoly</a:t>
            </a:r>
          </a:p>
          <a:p>
            <a:pPr lvl="1"/>
            <a:r>
              <a:rPr lang="en-US" dirty="0"/>
              <a:t>Smaller consumer surplus</a:t>
            </a:r>
          </a:p>
          <a:p>
            <a:pPr lvl="1"/>
            <a:r>
              <a:rPr lang="en-US" dirty="0"/>
              <a:t>Transfer of surplus from consumers to monopoly</a:t>
            </a:r>
          </a:p>
          <a:p>
            <a:r>
              <a:rPr lang="en-US" dirty="0"/>
              <a:t>The inefficiency:</a:t>
            </a:r>
          </a:p>
          <a:p>
            <a:pPr lvl="1"/>
            <a:r>
              <a:rPr lang="en-US" dirty="0"/>
              <a:t>Monopoly produces </a:t>
            </a:r>
            <a:r>
              <a:rPr lang="en-US" b="1" i="1" dirty="0"/>
              <a:t>Q</a:t>
            </a:r>
            <a:r>
              <a:rPr lang="en-US" dirty="0"/>
              <a:t> &lt; efficient quantity</a:t>
            </a:r>
          </a:p>
          <a:p>
            <a:pPr lvl="1"/>
            <a:r>
              <a:rPr lang="en-US" dirty="0"/>
              <a:t>Deadweight loss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21</a:t>
            </a:fld>
            <a:endParaRPr lang="en-US"/>
          </a:p>
        </p:txBody>
      </p:sp>
      <p:sp>
        <p:nvSpPr>
          <p:cNvPr id="5" name="Footer Placeholder 4">
            <a:extLst>
              <a:ext uri="{FF2B5EF4-FFF2-40B4-BE49-F238E27FC236}">
                <a16:creationId xmlns:a16="http://schemas.microsoft.com/office/drawing/2014/main" id="{E4C4C6EE-907A-8661-9D61-9F89E5F6CF6A}"/>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57307268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Price Discrimination</a:t>
            </a:r>
          </a:p>
        </p:txBody>
      </p:sp>
      <p:sp>
        <p:nvSpPr>
          <p:cNvPr id="3" name="Content Placeholder 2"/>
          <p:cNvSpPr>
            <a:spLocks noGrp="1"/>
          </p:cNvSpPr>
          <p:nvPr>
            <p:ph idx="1"/>
          </p:nvPr>
        </p:nvSpPr>
        <p:spPr>
          <a:prstGeom prst="rect">
            <a:avLst/>
          </a:prstGeom>
        </p:spPr>
        <p:txBody>
          <a:bodyPr/>
          <a:lstStyle/>
          <a:p>
            <a:r>
              <a:rPr lang="en-US" dirty="0"/>
              <a:t>Price discrimination (price customization): </a:t>
            </a:r>
          </a:p>
          <a:p>
            <a:pPr lvl="1"/>
            <a:r>
              <a:rPr lang="en-US" dirty="0"/>
              <a:t>Sell the same good at different prices to different customers  </a:t>
            </a:r>
          </a:p>
          <a:p>
            <a:pPr lvl="1"/>
            <a:r>
              <a:rPr lang="en-US" dirty="0"/>
              <a:t>A firm can increase profit by charging a higher price to buyers with higher willingness to pay</a:t>
            </a:r>
          </a:p>
          <a:p>
            <a:pPr lvl="1"/>
            <a:r>
              <a:rPr lang="en-US" dirty="0"/>
              <a:t>Requires the ability to separate customers according to their willingness to pay</a:t>
            </a:r>
          </a:p>
          <a:p>
            <a:pPr lvl="1"/>
            <a:r>
              <a:rPr lang="en-US" dirty="0"/>
              <a:t>Can raise economic welfare</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22</a:t>
            </a:fld>
            <a:endParaRPr lang="en-US"/>
          </a:p>
        </p:txBody>
      </p:sp>
      <p:sp>
        <p:nvSpPr>
          <p:cNvPr id="5" name="Footer Placeholder 4">
            <a:extLst>
              <a:ext uri="{FF2B5EF4-FFF2-40B4-BE49-F238E27FC236}">
                <a16:creationId xmlns:a16="http://schemas.microsoft.com/office/drawing/2014/main" id="{2780666E-3CA1-9FC2-2ED5-219993AB285F}"/>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3437645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2: </a:t>
            </a:r>
            <a:r>
              <a:rPr lang="en-US" dirty="0">
                <a:solidFill>
                  <a:schemeClr val="tx1"/>
                </a:solidFill>
              </a:rPr>
              <a:t>At the Movies </a:t>
            </a:r>
          </a:p>
        </p:txBody>
      </p:sp>
      <p:sp>
        <p:nvSpPr>
          <p:cNvPr id="3" name="Content Placeholder 2"/>
          <p:cNvSpPr>
            <a:spLocks noGrp="1"/>
          </p:cNvSpPr>
          <p:nvPr>
            <p:ph idx="1"/>
          </p:nvPr>
        </p:nvSpPr>
        <p:spPr>
          <a:xfrm>
            <a:off x="228600" y="838200"/>
            <a:ext cx="8686799" cy="5610225"/>
          </a:xfrm>
        </p:spPr>
        <p:txBody>
          <a:bodyPr>
            <a:normAutofit lnSpcReduction="10000"/>
          </a:bodyPr>
          <a:lstStyle/>
          <a:p>
            <a:pPr marL="0" indent="0">
              <a:buNone/>
            </a:pPr>
            <a:r>
              <a:rPr lang="en-US" sz="3000" dirty="0">
                <a:solidFill>
                  <a:srgbClr val="4E519E"/>
                </a:solidFill>
              </a:rPr>
              <a:t>You are the manager of the only movie theater in town. The price you charge is $18 per ticket, and you sell </a:t>
            </a:r>
            <a:r>
              <a:rPr lang="en-US" sz="3000" b="1" i="1" dirty="0">
                <a:solidFill>
                  <a:srgbClr val="4E519E"/>
                </a:solidFill>
              </a:rPr>
              <a:t>Q</a:t>
            </a:r>
            <a:r>
              <a:rPr lang="en-US" sz="3000" dirty="0">
                <a:solidFill>
                  <a:srgbClr val="4E519E"/>
                </a:solidFill>
              </a:rPr>
              <a:t> = 1,000 movie tickets each week. Assume that you incur only a fixed cost of $10,000 in a week.</a:t>
            </a:r>
          </a:p>
          <a:p>
            <a:pPr marL="514350" indent="-514350">
              <a:buClr>
                <a:srgbClr val="C00000"/>
              </a:buClr>
              <a:buFont typeface="+mj-lt"/>
              <a:buAutoNum type="alphaUcPeriod"/>
            </a:pPr>
            <a:r>
              <a:rPr lang="en-US" sz="2800" dirty="0"/>
              <a:t>How much profit is the movie theater making?</a:t>
            </a:r>
          </a:p>
          <a:p>
            <a:pPr marL="514350" indent="-514350">
              <a:buClr>
                <a:srgbClr val="C00000"/>
              </a:buClr>
              <a:buFont typeface="+mj-lt"/>
              <a:buAutoNum type="alphaUcPeriod"/>
            </a:pPr>
            <a:r>
              <a:rPr lang="en-US" sz="2800" dirty="0"/>
              <a:t>If you are dropping the price to $5, you will be able to sell </a:t>
            </a:r>
            <a:r>
              <a:rPr lang="en-US" sz="2800" b="1" i="1" dirty="0"/>
              <a:t>Q</a:t>
            </a:r>
            <a:r>
              <a:rPr lang="en-US" sz="2800" dirty="0"/>
              <a:t> = 2,500 movie tickets. Calculate the profit.</a:t>
            </a:r>
          </a:p>
          <a:p>
            <a:pPr marL="514350" indent="-514350">
              <a:buClr>
                <a:srgbClr val="C00000"/>
              </a:buClr>
              <a:buFont typeface="+mj-lt"/>
              <a:buAutoNum type="alphaUcPeriod"/>
            </a:pPr>
            <a:r>
              <a:rPr lang="en-US" sz="2800" dirty="0"/>
              <a:t>Suggest a way you can price discriminate when selling movie tickets. Calculate the profit if you price discriminate, with </a:t>
            </a:r>
            <a:r>
              <a:rPr lang="en-US" sz="2800" b="1" i="1" dirty="0"/>
              <a:t>P</a:t>
            </a:r>
            <a:r>
              <a:rPr lang="en-US" sz="2800" b="1" i="1" baseline="-25000" dirty="0"/>
              <a:t>1</a:t>
            </a:r>
            <a:r>
              <a:rPr lang="en-US" sz="2800" dirty="0"/>
              <a:t> = $18 and </a:t>
            </a:r>
            <a:r>
              <a:rPr lang="en-US" sz="2800" b="1" i="1" dirty="0"/>
              <a:t>P</a:t>
            </a:r>
            <a:r>
              <a:rPr lang="en-US" sz="2800" b="1" i="1" baseline="-25000" dirty="0"/>
              <a:t>2</a:t>
            </a:r>
            <a:r>
              <a:rPr lang="en-US" sz="2800" dirty="0"/>
              <a:t> = $5.</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23</a:t>
            </a:fld>
            <a:endParaRPr lang="en-US"/>
          </a:p>
        </p:txBody>
      </p:sp>
      <p:sp>
        <p:nvSpPr>
          <p:cNvPr id="5" name="Footer Placeholder 4">
            <a:extLst>
              <a:ext uri="{FF2B5EF4-FFF2-40B4-BE49-F238E27FC236}">
                <a16:creationId xmlns:a16="http://schemas.microsoft.com/office/drawing/2014/main" id="{B885B6C1-C0AF-3035-4A6E-9006AF2659D7}"/>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92428791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2: Answers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24</a:t>
            </a:fld>
            <a:endParaRPr lang="en-US"/>
          </a:p>
        </p:txBody>
      </p:sp>
      <p:sp>
        <p:nvSpPr>
          <p:cNvPr id="3" name="Content Placeholder 2"/>
          <p:cNvSpPr>
            <a:spLocks noGrp="1"/>
          </p:cNvSpPr>
          <p:nvPr>
            <p:ph idx="12"/>
          </p:nvPr>
        </p:nvSpPr>
        <p:spPr>
          <a:xfrm>
            <a:off x="304800" y="838200"/>
            <a:ext cx="8595147" cy="5632450"/>
          </a:xfrm>
        </p:spPr>
        <p:txBody>
          <a:bodyPr>
            <a:normAutofit lnSpcReduction="10000"/>
          </a:bodyPr>
          <a:lstStyle/>
          <a:p>
            <a:pPr marL="514350" indent="-514350">
              <a:buClr>
                <a:srgbClr val="C00000"/>
              </a:buClr>
              <a:buFont typeface="+mj-lt"/>
              <a:buAutoNum type="alphaUcPeriod"/>
            </a:pPr>
            <a:r>
              <a:rPr lang="en-US" sz="2800" dirty="0"/>
              <a:t>Single price monopoly </a:t>
            </a:r>
            <a:r>
              <a:rPr lang="en-US" sz="2800" b="1" i="1" dirty="0"/>
              <a:t>P</a:t>
            </a:r>
            <a:r>
              <a:rPr lang="en-US" sz="2800" dirty="0"/>
              <a:t> = $18, </a:t>
            </a:r>
            <a:r>
              <a:rPr lang="en-US" sz="2800" b="1" i="1" dirty="0"/>
              <a:t>Q</a:t>
            </a:r>
            <a:r>
              <a:rPr lang="en-US" sz="2800" dirty="0"/>
              <a:t> = 1,000, </a:t>
            </a:r>
            <a:r>
              <a:rPr lang="en-US" sz="2800" b="1" i="1" dirty="0"/>
              <a:t>TC</a:t>
            </a:r>
            <a:r>
              <a:rPr lang="en-US" sz="2800" dirty="0"/>
              <a:t> = $10,000</a:t>
            </a:r>
          </a:p>
          <a:p>
            <a:pPr lvl="1">
              <a:buClr>
                <a:srgbClr val="C00000"/>
              </a:buClr>
              <a:buFont typeface="Wingdings" panose="05000000000000000000" pitchFamily="2" charset="2"/>
              <a:buChar char="Ø"/>
            </a:pPr>
            <a:r>
              <a:rPr lang="en-US" sz="2800" dirty="0">
                <a:solidFill>
                  <a:srgbClr val="4E519E"/>
                </a:solidFill>
              </a:rPr>
              <a:t>Total revenue </a:t>
            </a:r>
            <a:r>
              <a:rPr lang="en-US" sz="2800" b="1" i="1" dirty="0">
                <a:solidFill>
                  <a:srgbClr val="4E519E"/>
                </a:solidFill>
              </a:rPr>
              <a:t>TR</a:t>
            </a:r>
            <a:r>
              <a:rPr lang="en-US" sz="2800" dirty="0">
                <a:solidFill>
                  <a:srgbClr val="4E519E"/>
                </a:solidFill>
              </a:rPr>
              <a:t> = </a:t>
            </a:r>
            <a:r>
              <a:rPr lang="en-US" sz="2800" b="1" i="1" dirty="0">
                <a:solidFill>
                  <a:srgbClr val="4E519E"/>
                </a:solidFill>
              </a:rPr>
              <a:t>P</a:t>
            </a:r>
            <a:r>
              <a:rPr lang="en-US" sz="2800" dirty="0">
                <a:solidFill>
                  <a:srgbClr val="4E519E"/>
                </a:solidFill>
              </a:rPr>
              <a:t> × </a:t>
            </a:r>
            <a:r>
              <a:rPr lang="en-US" sz="2800" b="1" i="1" dirty="0">
                <a:solidFill>
                  <a:srgbClr val="4E519E"/>
                </a:solidFill>
              </a:rPr>
              <a:t>Q</a:t>
            </a:r>
            <a:r>
              <a:rPr lang="en-US" sz="2800" dirty="0">
                <a:solidFill>
                  <a:srgbClr val="4E519E"/>
                </a:solidFill>
              </a:rPr>
              <a:t> = $18,000</a:t>
            </a:r>
          </a:p>
          <a:p>
            <a:pPr lvl="1">
              <a:buClr>
                <a:srgbClr val="C00000"/>
              </a:buClr>
              <a:buFont typeface="Wingdings" panose="05000000000000000000" pitchFamily="2" charset="2"/>
              <a:buChar char="Ø"/>
            </a:pPr>
            <a:r>
              <a:rPr lang="en-US" sz="2800" dirty="0">
                <a:solidFill>
                  <a:srgbClr val="4E519E"/>
                </a:solidFill>
              </a:rPr>
              <a:t>Profit = </a:t>
            </a:r>
            <a:r>
              <a:rPr lang="en-US" sz="2800" b="1" i="1" dirty="0">
                <a:solidFill>
                  <a:srgbClr val="4E519E"/>
                </a:solidFill>
              </a:rPr>
              <a:t>TR</a:t>
            </a:r>
            <a:r>
              <a:rPr lang="en-US" sz="2800" dirty="0">
                <a:solidFill>
                  <a:srgbClr val="4E519E"/>
                </a:solidFill>
              </a:rPr>
              <a:t> – </a:t>
            </a:r>
            <a:r>
              <a:rPr lang="en-US" sz="2800" b="1" i="1" dirty="0">
                <a:solidFill>
                  <a:srgbClr val="4E519E"/>
                </a:solidFill>
              </a:rPr>
              <a:t>TC</a:t>
            </a:r>
            <a:r>
              <a:rPr lang="en-US" sz="2800" dirty="0">
                <a:solidFill>
                  <a:srgbClr val="4E519E"/>
                </a:solidFill>
              </a:rPr>
              <a:t> = $8,000</a:t>
            </a:r>
          </a:p>
          <a:p>
            <a:pPr marL="514350" indent="-514350">
              <a:buClr>
                <a:srgbClr val="C00000"/>
              </a:buClr>
              <a:buFont typeface="+mj-lt"/>
              <a:buAutoNum type="alphaUcPeriod"/>
            </a:pPr>
            <a:r>
              <a:rPr lang="en-US" sz="2800" dirty="0"/>
              <a:t>Single price monopoly </a:t>
            </a:r>
            <a:r>
              <a:rPr lang="en-US" sz="2800" b="1" i="1" dirty="0"/>
              <a:t>P</a:t>
            </a:r>
            <a:r>
              <a:rPr lang="en-US" sz="2800" dirty="0"/>
              <a:t> = $5, </a:t>
            </a:r>
            <a:r>
              <a:rPr lang="en-US" sz="2800" b="1" i="1" dirty="0"/>
              <a:t>Q</a:t>
            </a:r>
            <a:r>
              <a:rPr lang="en-US" sz="2800" dirty="0"/>
              <a:t> = 2,500, </a:t>
            </a:r>
            <a:r>
              <a:rPr lang="en-US" sz="2800" b="1" i="1" dirty="0"/>
              <a:t>TC</a:t>
            </a:r>
            <a:r>
              <a:rPr lang="en-US" sz="2800" dirty="0"/>
              <a:t> = $10,000</a:t>
            </a:r>
          </a:p>
          <a:p>
            <a:pPr lvl="1">
              <a:buClr>
                <a:srgbClr val="C00000"/>
              </a:buClr>
              <a:buFont typeface="Wingdings" panose="05000000000000000000" pitchFamily="2" charset="2"/>
              <a:buChar char="Ø"/>
            </a:pPr>
            <a:r>
              <a:rPr lang="en-US" sz="2800" dirty="0">
                <a:solidFill>
                  <a:srgbClr val="4E519E"/>
                </a:solidFill>
              </a:rPr>
              <a:t>Total revenue </a:t>
            </a:r>
            <a:r>
              <a:rPr lang="en-US" sz="2800" b="1" i="1" dirty="0">
                <a:solidFill>
                  <a:srgbClr val="4E519E"/>
                </a:solidFill>
              </a:rPr>
              <a:t>TR</a:t>
            </a:r>
            <a:r>
              <a:rPr lang="en-US" sz="2800" dirty="0">
                <a:solidFill>
                  <a:srgbClr val="4E519E"/>
                </a:solidFill>
              </a:rPr>
              <a:t> = </a:t>
            </a:r>
            <a:r>
              <a:rPr lang="en-US" sz="2800" b="1" i="1" dirty="0">
                <a:solidFill>
                  <a:srgbClr val="4E519E"/>
                </a:solidFill>
              </a:rPr>
              <a:t>P</a:t>
            </a:r>
            <a:r>
              <a:rPr lang="en-US" sz="2800" dirty="0">
                <a:solidFill>
                  <a:srgbClr val="4E519E"/>
                </a:solidFill>
              </a:rPr>
              <a:t> × </a:t>
            </a:r>
            <a:r>
              <a:rPr lang="en-US" sz="2800" b="1" i="1" dirty="0">
                <a:solidFill>
                  <a:srgbClr val="4E519E"/>
                </a:solidFill>
              </a:rPr>
              <a:t>Q</a:t>
            </a:r>
            <a:r>
              <a:rPr lang="en-US" sz="2800" dirty="0">
                <a:solidFill>
                  <a:srgbClr val="4E519E"/>
                </a:solidFill>
              </a:rPr>
              <a:t> = $12,500</a:t>
            </a:r>
          </a:p>
          <a:p>
            <a:pPr lvl="1">
              <a:buClr>
                <a:srgbClr val="C00000"/>
              </a:buClr>
              <a:buFont typeface="Wingdings" panose="05000000000000000000" pitchFamily="2" charset="2"/>
              <a:buChar char="Ø"/>
            </a:pPr>
            <a:r>
              <a:rPr lang="en-US" sz="2800" dirty="0">
                <a:solidFill>
                  <a:srgbClr val="4E519E"/>
                </a:solidFill>
              </a:rPr>
              <a:t>Profit = </a:t>
            </a:r>
            <a:r>
              <a:rPr lang="en-US" sz="2800" b="1" i="1" dirty="0">
                <a:solidFill>
                  <a:srgbClr val="4E519E"/>
                </a:solidFill>
              </a:rPr>
              <a:t>TR</a:t>
            </a:r>
            <a:r>
              <a:rPr lang="en-US" sz="2800" dirty="0">
                <a:solidFill>
                  <a:srgbClr val="4E519E"/>
                </a:solidFill>
              </a:rPr>
              <a:t> – </a:t>
            </a:r>
            <a:r>
              <a:rPr lang="en-US" sz="2800" b="1" i="1" dirty="0">
                <a:solidFill>
                  <a:srgbClr val="4E519E"/>
                </a:solidFill>
              </a:rPr>
              <a:t>TC</a:t>
            </a:r>
            <a:r>
              <a:rPr lang="en-US" sz="2800" dirty="0">
                <a:solidFill>
                  <a:srgbClr val="4E519E"/>
                </a:solidFill>
              </a:rPr>
              <a:t> = $2,500</a:t>
            </a:r>
          </a:p>
          <a:p>
            <a:pPr marL="514350" indent="-514350">
              <a:buClr>
                <a:srgbClr val="C00000"/>
              </a:buClr>
              <a:buFont typeface="+mj-lt"/>
              <a:buAutoNum type="alphaUcPeriod"/>
            </a:pPr>
            <a:r>
              <a:rPr lang="en-US" sz="2800" dirty="0"/>
              <a:t>Price discrimination: </a:t>
            </a:r>
            <a:r>
              <a:rPr lang="en-US" sz="2800" b="1" i="1" dirty="0"/>
              <a:t>P</a:t>
            </a:r>
            <a:r>
              <a:rPr lang="en-US" sz="2800" b="1" i="1" baseline="-25000" dirty="0"/>
              <a:t>1</a:t>
            </a:r>
            <a:r>
              <a:rPr lang="en-US" sz="2800" dirty="0"/>
              <a:t> = $18 and </a:t>
            </a:r>
            <a:r>
              <a:rPr lang="en-US" sz="2800" b="1" i="1" dirty="0"/>
              <a:t>P</a:t>
            </a:r>
            <a:r>
              <a:rPr lang="en-US" sz="2800" b="1" i="1" baseline="-25000" dirty="0"/>
              <a:t>2</a:t>
            </a:r>
            <a:r>
              <a:rPr lang="en-US" sz="2800" dirty="0"/>
              <a:t> = $5.</a:t>
            </a:r>
          </a:p>
          <a:p>
            <a:pPr lvl="1">
              <a:buClr>
                <a:srgbClr val="C00000"/>
              </a:buClr>
              <a:buFont typeface="Wingdings" panose="05000000000000000000" pitchFamily="2" charset="2"/>
              <a:buChar char="Ø"/>
            </a:pPr>
            <a:r>
              <a:rPr lang="en-US" sz="2800" dirty="0">
                <a:solidFill>
                  <a:srgbClr val="4E519E"/>
                </a:solidFill>
              </a:rPr>
              <a:t>Sell </a:t>
            </a:r>
            <a:r>
              <a:rPr lang="en-US" sz="2800" b="1" i="1" dirty="0">
                <a:solidFill>
                  <a:srgbClr val="4E519E"/>
                </a:solidFill>
              </a:rPr>
              <a:t>Q</a:t>
            </a:r>
            <a:r>
              <a:rPr lang="en-US" sz="2800" dirty="0">
                <a:solidFill>
                  <a:srgbClr val="4E519E"/>
                </a:solidFill>
              </a:rPr>
              <a:t> = 1,000 at </a:t>
            </a:r>
            <a:r>
              <a:rPr lang="en-US" sz="2800" b="1" i="1" dirty="0">
                <a:solidFill>
                  <a:srgbClr val="4E519E"/>
                </a:solidFill>
              </a:rPr>
              <a:t>P</a:t>
            </a:r>
            <a:r>
              <a:rPr lang="en-US" sz="2800" b="1" i="1" baseline="-25000" dirty="0">
                <a:solidFill>
                  <a:srgbClr val="4E519E"/>
                </a:solidFill>
              </a:rPr>
              <a:t>1</a:t>
            </a:r>
            <a:r>
              <a:rPr lang="en-US" sz="2800" dirty="0">
                <a:solidFill>
                  <a:srgbClr val="4E519E"/>
                </a:solidFill>
              </a:rPr>
              <a:t>, so </a:t>
            </a:r>
            <a:r>
              <a:rPr lang="en-US" sz="2800" b="1" i="1" dirty="0">
                <a:solidFill>
                  <a:srgbClr val="4E519E"/>
                </a:solidFill>
              </a:rPr>
              <a:t>TR</a:t>
            </a:r>
            <a:r>
              <a:rPr lang="en-US" sz="2800" b="1" i="1" baseline="-25000" dirty="0">
                <a:solidFill>
                  <a:srgbClr val="4E519E"/>
                </a:solidFill>
              </a:rPr>
              <a:t>1</a:t>
            </a:r>
            <a:r>
              <a:rPr lang="en-US" sz="2800" dirty="0">
                <a:solidFill>
                  <a:srgbClr val="4E519E"/>
                </a:solidFill>
              </a:rPr>
              <a:t> = $18,000</a:t>
            </a:r>
          </a:p>
          <a:p>
            <a:pPr lvl="1">
              <a:buClr>
                <a:srgbClr val="C00000"/>
              </a:buClr>
              <a:buFont typeface="Wingdings" panose="05000000000000000000" pitchFamily="2" charset="2"/>
              <a:buChar char="Ø"/>
            </a:pPr>
            <a:r>
              <a:rPr lang="en-US" sz="2800" dirty="0">
                <a:solidFill>
                  <a:srgbClr val="4E519E"/>
                </a:solidFill>
              </a:rPr>
              <a:t>Sell </a:t>
            </a:r>
            <a:r>
              <a:rPr lang="en-US" sz="2800" b="1" i="1" dirty="0">
                <a:solidFill>
                  <a:srgbClr val="4E519E"/>
                </a:solidFill>
              </a:rPr>
              <a:t>Q</a:t>
            </a:r>
            <a:r>
              <a:rPr lang="en-US" sz="2800" dirty="0">
                <a:solidFill>
                  <a:srgbClr val="4E519E"/>
                </a:solidFill>
              </a:rPr>
              <a:t> = (2,500 – 1,000) at </a:t>
            </a:r>
            <a:r>
              <a:rPr lang="en-US" sz="2800" b="1" i="1" dirty="0">
                <a:solidFill>
                  <a:srgbClr val="4E519E"/>
                </a:solidFill>
              </a:rPr>
              <a:t>P</a:t>
            </a:r>
            <a:r>
              <a:rPr lang="en-US" sz="2800" b="1" i="1" baseline="-25000" dirty="0">
                <a:solidFill>
                  <a:srgbClr val="4E519E"/>
                </a:solidFill>
              </a:rPr>
              <a:t>2</a:t>
            </a:r>
            <a:r>
              <a:rPr lang="en-US" sz="2800" dirty="0">
                <a:solidFill>
                  <a:srgbClr val="4E519E"/>
                </a:solidFill>
              </a:rPr>
              <a:t>, so </a:t>
            </a:r>
            <a:r>
              <a:rPr lang="en-US" sz="2800" b="1" i="1" dirty="0">
                <a:solidFill>
                  <a:srgbClr val="4E519E"/>
                </a:solidFill>
              </a:rPr>
              <a:t>TR</a:t>
            </a:r>
            <a:r>
              <a:rPr lang="en-US" sz="2800" b="1" i="1" baseline="-25000" dirty="0">
                <a:solidFill>
                  <a:srgbClr val="4E519E"/>
                </a:solidFill>
              </a:rPr>
              <a:t>2</a:t>
            </a:r>
            <a:r>
              <a:rPr lang="en-US" sz="2800" dirty="0">
                <a:solidFill>
                  <a:srgbClr val="4E519E"/>
                </a:solidFill>
              </a:rPr>
              <a:t> = $7,500</a:t>
            </a:r>
          </a:p>
          <a:p>
            <a:pPr lvl="1">
              <a:buClr>
                <a:srgbClr val="C00000"/>
              </a:buClr>
              <a:buFont typeface="Wingdings" panose="05000000000000000000" pitchFamily="2" charset="2"/>
              <a:buChar char="Ø"/>
            </a:pPr>
            <a:r>
              <a:rPr lang="en-US" sz="2800" dirty="0">
                <a:solidFill>
                  <a:srgbClr val="4E519E"/>
                </a:solidFill>
              </a:rPr>
              <a:t>Profit = </a:t>
            </a:r>
            <a:r>
              <a:rPr lang="en-US" sz="2800" b="1" i="1" dirty="0">
                <a:solidFill>
                  <a:srgbClr val="4E519E"/>
                </a:solidFill>
              </a:rPr>
              <a:t>TR</a:t>
            </a:r>
            <a:r>
              <a:rPr lang="en-US" sz="2800" b="1" i="1" baseline="-25000" dirty="0">
                <a:solidFill>
                  <a:srgbClr val="4E519E"/>
                </a:solidFill>
              </a:rPr>
              <a:t>1</a:t>
            </a:r>
            <a:r>
              <a:rPr lang="en-US" sz="2800" dirty="0">
                <a:solidFill>
                  <a:srgbClr val="4E519E"/>
                </a:solidFill>
              </a:rPr>
              <a:t> + </a:t>
            </a:r>
            <a:r>
              <a:rPr lang="en-US" sz="2800" b="1" i="1" dirty="0">
                <a:solidFill>
                  <a:srgbClr val="4E519E"/>
                </a:solidFill>
              </a:rPr>
              <a:t>TR</a:t>
            </a:r>
            <a:r>
              <a:rPr lang="en-US" sz="2800" b="1" i="1" baseline="-25000" dirty="0">
                <a:solidFill>
                  <a:srgbClr val="4E519E"/>
                </a:solidFill>
              </a:rPr>
              <a:t>2</a:t>
            </a:r>
            <a:r>
              <a:rPr lang="en-US" sz="2800" dirty="0">
                <a:solidFill>
                  <a:srgbClr val="4E519E"/>
                </a:solidFill>
              </a:rPr>
              <a:t> – </a:t>
            </a:r>
            <a:r>
              <a:rPr lang="en-US" sz="2800" b="1" i="1" dirty="0">
                <a:solidFill>
                  <a:srgbClr val="4E519E"/>
                </a:solidFill>
              </a:rPr>
              <a:t>TC</a:t>
            </a:r>
            <a:r>
              <a:rPr lang="en-US" sz="2800" dirty="0">
                <a:solidFill>
                  <a:srgbClr val="4E519E"/>
                </a:solidFill>
              </a:rPr>
              <a:t> = $15,500</a:t>
            </a:r>
          </a:p>
        </p:txBody>
      </p:sp>
      <p:sp>
        <p:nvSpPr>
          <p:cNvPr id="5" name="Footer Placeholder 4">
            <a:extLst>
              <a:ext uri="{FF2B5EF4-FFF2-40B4-BE49-F238E27FC236}">
                <a16:creationId xmlns:a16="http://schemas.microsoft.com/office/drawing/2014/main" id="{A1007381-AF54-8AD6-ADDC-4A9C88F1A0C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7924449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left)">
                                      <p:cBhvr>
                                        <p:cTn id="16" dur="500"/>
                                        <p:tgtEl>
                                          <p:spTgt spid="3">
                                            <p:txEl>
                                              <p:pRg st="4" end="4"/>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wipe(left)">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wipe(left)">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wipe(left)">
                                      <p:cBhvr>
                                        <p:cTn id="30" dur="500"/>
                                        <p:tgtEl>
                                          <p:spTgt spid="3">
                                            <p:txEl>
                                              <p:pRg st="8" end="8"/>
                                            </p:txEl>
                                          </p:spTgt>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wipe(left)">
                                      <p:cBhvr>
                                        <p:cTn id="3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wrap="square" anchor="ctr"/>
          <a:lstStyle/>
          <a:p>
            <a:r>
              <a:rPr lang="en-US" altLang="en-US" dirty="0"/>
              <a:t>Perfect Price Discrimination</a:t>
            </a:r>
          </a:p>
        </p:txBody>
      </p:sp>
      <p:sp>
        <p:nvSpPr>
          <p:cNvPr id="37891" name="Content Placeholder 2"/>
          <p:cNvSpPr>
            <a:spLocks noGrp="1"/>
          </p:cNvSpPr>
          <p:nvPr>
            <p:ph idx="1"/>
          </p:nvPr>
        </p:nvSpPr>
        <p:spPr>
          <a:prstGeom prst="rect">
            <a:avLst/>
          </a:prstGeom>
        </p:spPr>
        <p:txBody>
          <a:bodyPr/>
          <a:lstStyle/>
          <a:p>
            <a:r>
              <a:rPr lang="en-US" altLang="en-US" dirty="0"/>
              <a:t>Perfect price discrimination</a:t>
            </a:r>
          </a:p>
          <a:p>
            <a:pPr lvl="1"/>
            <a:r>
              <a:rPr lang="en-US" altLang="en-US" dirty="0"/>
              <a:t>Charge each customer a different price</a:t>
            </a:r>
          </a:p>
          <a:p>
            <a:pPr lvl="2"/>
            <a:r>
              <a:rPr lang="en-US" altLang="en-US" dirty="0"/>
              <a:t>Exactly his or her willingness to pay</a:t>
            </a:r>
          </a:p>
          <a:p>
            <a:pPr lvl="1"/>
            <a:r>
              <a:rPr lang="en-US" altLang="en-US" dirty="0"/>
              <a:t>Monopoly firm gets the entire surplus (Profit)</a:t>
            </a:r>
          </a:p>
          <a:p>
            <a:pPr lvl="1"/>
            <a:r>
              <a:rPr lang="en-US" altLang="en-US" dirty="0"/>
              <a:t>No deadweight loss</a:t>
            </a:r>
          </a:p>
        </p:txBody>
      </p:sp>
      <p:sp>
        <p:nvSpPr>
          <p:cNvPr id="3789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734934E8-3113-480B-850A-6CA7CCBF7FA8}" type="slidenum">
              <a:rPr lang="en-US" altLang="en-US" sz="1200" smtClean="0">
                <a:solidFill>
                  <a:srgbClr val="002060"/>
                </a:solidFill>
              </a:rPr>
              <a:pPr eaLnBrk="1" hangingPunct="1"/>
              <a:t>25</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263137C5-7274-AD93-0554-090F47E2E38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91837324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Welfare with and without Price Discrimination</a:t>
            </a:r>
          </a:p>
        </p:txBody>
      </p:sp>
      <p:sp>
        <p:nvSpPr>
          <p:cNvPr id="3" name="Slide Number Placeholder 2"/>
          <p:cNvSpPr>
            <a:spLocks noGrp="1"/>
          </p:cNvSpPr>
          <p:nvPr>
            <p:ph type="sldNum" sz="quarter" idx="10"/>
          </p:nvPr>
        </p:nvSpPr>
        <p:spPr/>
        <p:txBody>
          <a:bodyPr/>
          <a:lstStyle/>
          <a:p>
            <a:pPr>
              <a:defRPr/>
            </a:pPr>
            <a:fld id="{073C29DC-2178-4274-9150-45F8EBD31C2D}" type="slidenum">
              <a:rPr lang="en-US" smtClean="0"/>
              <a:pPr>
                <a:defRPr/>
              </a:pPr>
              <a:t>26</a:t>
            </a:fld>
            <a:endParaRPr lang="en-US"/>
          </a:p>
        </p:txBody>
      </p:sp>
      <p:grpSp>
        <p:nvGrpSpPr>
          <p:cNvPr id="6" name="Group 50"/>
          <p:cNvGrpSpPr>
            <a:grpSpLocks/>
          </p:cNvGrpSpPr>
          <p:nvPr/>
        </p:nvGrpSpPr>
        <p:grpSpPr bwMode="auto">
          <a:xfrm>
            <a:off x="806451" y="1787524"/>
            <a:ext cx="2317750" cy="1346200"/>
            <a:chOff x="3123" y="1003"/>
            <a:chExt cx="1460" cy="848"/>
          </a:xfrm>
        </p:grpSpPr>
        <p:sp>
          <p:nvSpPr>
            <p:cNvPr id="7" name="AutoShape 34"/>
            <p:cNvSpPr>
              <a:spLocks noChangeArrowheads="1"/>
            </p:cNvSpPr>
            <p:nvPr/>
          </p:nvSpPr>
          <p:spPr bwMode="auto">
            <a:xfrm>
              <a:off x="3123" y="1299"/>
              <a:ext cx="825" cy="552"/>
            </a:xfrm>
            <a:prstGeom prst="rtTriangle">
              <a:avLst/>
            </a:prstGeom>
            <a:solidFill>
              <a:srgbClr val="66FF66"/>
            </a:solidFill>
            <a:ln w="9525">
              <a:noFill/>
              <a:miter lim="800000"/>
              <a:headEnd/>
              <a:tailEnd/>
            </a:ln>
          </p:spPr>
          <p:txBody>
            <a:bodyPr wrap="none" anchor="ctr"/>
            <a:lstStyle/>
            <a:p>
              <a:endParaRPr lang="en-US" sz="2200">
                <a:latin typeface="Arial"/>
                <a:cs typeface="Arial"/>
              </a:endParaRPr>
            </a:p>
          </p:txBody>
        </p:sp>
        <p:grpSp>
          <p:nvGrpSpPr>
            <p:cNvPr id="8" name="Group 45"/>
            <p:cNvGrpSpPr>
              <a:grpSpLocks/>
            </p:cNvGrpSpPr>
            <p:nvPr/>
          </p:nvGrpSpPr>
          <p:grpSpPr bwMode="auto">
            <a:xfrm>
              <a:off x="3216" y="1003"/>
              <a:ext cx="1367" cy="683"/>
              <a:chOff x="3216" y="1003"/>
              <a:chExt cx="1367" cy="683"/>
            </a:xfrm>
          </p:grpSpPr>
          <p:sp>
            <p:nvSpPr>
              <p:cNvPr id="9" name="Text Box 43"/>
              <p:cNvSpPr txBox="1">
                <a:spLocks noChangeArrowheads="1"/>
              </p:cNvSpPr>
              <p:nvPr/>
            </p:nvSpPr>
            <p:spPr bwMode="auto">
              <a:xfrm>
                <a:off x="3433" y="1003"/>
                <a:ext cx="1150" cy="485"/>
              </a:xfrm>
              <a:prstGeom prst="rect">
                <a:avLst/>
              </a:prstGeom>
              <a:noFill/>
              <a:ln w="9525">
                <a:noFill/>
                <a:miter lim="800000"/>
                <a:headEnd/>
                <a:tailEnd/>
              </a:ln>
            </p:spPr>
            <p:txBody>
              <a:bodyPr>
                <a:spAutoFit/>
              </a:bodyPr>
              <a:lstStyle/>
              <a:p>
                <a:pPr>
                  <a:spcBef>
                    <a:spcPct val="50000"/>
                  </a:spcBef>
                </a:pPr>
                <a:r>
                  <a:rPr lang="en-US" sz="2200" dirty="0">
                    <a:latin typeface="Arial"/>
                    <a:cs typeface="Arial"/>
                  </a:rPr>
                  <a:t>Consumer surplus</a:t>
                </a:r>
              </a:p>
            </p:txBody>
          </p:sp>
          <p:sp>
            <p:nvSpPr>
              <p:cNvPr id="10" name="Arc 44"/>
              <p:cNvSpPr>
                <a:spLocks/>
              </p:cNvSpPr>
              <p:nvPr/>
            </p:nvSpPr>
            <p:spPr bwMode="auto">
              <a:xfrm rot="1220093">
                <a:off x="3216" y="1271"/>
                <a:ext cx="215" cy="415"/>
              </a:xfrm>
              <a:custGeom>
                <a:avLst/>
                <a:gdLst>
                  <a:gd name="T0" fmla="*/ 0 w 20745"/>
                  <a:gd name="T1" fmla="*/ 0 h 19257"/>
                  <a:gd name="T2" fmla="*/ 0 w 20745"/>
                  <a:gd name="T3" fmla="*/ 0 h 19257"/>
                  <a:gd name="T4" fmla="*/ 0 w 20745"/>
                  <a:gd name="T5" fmla="*/ 0 h 19257"/>
                  <a:gd name="T6" fmla="*/ 0 60000 65536"/>
                  <a:gd name="T7" fmla="*/ 0 60000 65536"/>
                  <a:gd name="T8" fmla="*/ 0 60000 65536"/>
                  <a:gd name="T9" fmla="*/ 0 w 20745"/>
                  <a:gd name="T10" fmla="*/ 0 h 19257"/>
                  <a:gd name="T11" fmla="*/ 20745 w 20745"/>
                  <a:gd name="T12" fmla="*/ 19257 h 19257"/>
                </a:gdLst>
                <a:ahLst/>
                <a:cxnLst>
                  <a:cxn ang="T6">
                    <a:pos x="T0" y="T1"/>
                  </a:cxn>
                  <a:cxn ang="T7">
                    <a:pos x="T2" y="T3"/>
                  </a:cxn>
                  <a:cxn ang="T8">
                    <a:pos x="T4" y="T5"/>
                  </a:cxn>
                </a:cxnLst>
                <a:rect l="T9" t="T10" r="T11" b="T12"/>
                <a:pathLst>
                  <a:path w="20745" h="19257" fill="none" extrusionOk="0">
                    <a:moveTo>
                      <a:pt x="20745" y="6017"/>
                    </a:moveTo>
                    <a:cubicBezTo>
                      <a:pt x="19080" y="11756"/>
                      <a:pt x="15112" y="16549"/>
                      <a:pt x="9784" y="19256"/>
                    </a:cubicBezTo>
                  </a:path>
                  <a:path w="20745" h="19257" stroke="0" extrusionOk="0">
                    <a:moveTo>
                      <a:pt x="20745" y="6017"/>
                    </a:moveTo>
                    <a:cubicBezTo>
                      <a:pt x="19080" y="11756"/>
                      <a:pt x="15112" y="16549"/>
                      <a:pt x="9784" y="19256"/>
                    </a:cubicBezTo>
                    <a:lnTo>
                      <a:pt x="0" y="0"/>
                    </a:lnTo>
                    <a:close/>
                  </a:path>
                </a:pathLst>
              </a:custGeom>
              <a:noFill/>
              <a:ln w="28575">
                <a:solidFill>
                  <a:schemeClr val="tx1"/>
                </a:solidFill>
                <a:round/>
                <a:headEnd/>
                <a:tailEnd type="triangle" w="lg" len="med"/>
              </a:ln>
            </p:spPr>
            <p:txBody>
              <a:bodyPr wrap="none" anchor="ctr"/>
              <a:lstStyle/>
              <a:p>
                <a:endParaRPr lang="en-US" sz="2200">
                  <a:latin typeface="Arial"/>
                  <a:cs typeface="Arial"/>
                </a:endParaRPr>
              </a:p>
            </p:txBody>
          </p:sp>
        </p:grpSp>
      </p:grpSp>
      <p:grpSp>
        <p:nvGrpSpPr>
          <p:cNvPr id="11" name="Group 52"/>
          <p:cNvGrpSpPr>
            <a:grpSpLocks/>
          </p:cNvGrpSpPr>
          <p:nvPr/>
        </p:nvGrpSpPr>
        <p:grpSpPr bwMode="auto">
          <a:xfrm>
            <a:off x="2139952" y="3138486"/>
            <a:ext cx="1309688" cy="876300"/>
            <a:chOff x="3963" y="1854"/>
            <a:chExt cx="825" cy="552"/>
          </a:xfrm>
        </p:grpSpPr>
        <p:sp>
          <p:nvSpPr>
            <p:cNvPr id="12" name="AutoShape 36"/>
            <p:cNvSpPr>
              <a:spLocks noChangeArrowheads="1"/>
            </p:cNvSpPr>
            <p:nvPr/>
          </p:nvSpPr>
          <p:spPr bwMode="auto">
            <a:xfrm>
              <a:off x="3963" y="1854"/>
              <a:ext cx="825" cy="552"/>
            </a:xfrm>
            <a:prstGeom prst="rtTriangle">
              <a:avLst/>
            </a:prstGeom>
            <a:solidFill>
              <a:srgbClr val="FFCCCC"/>
            </a:solidFill>
            <a:ln w="9525">
              <a:noFill/>
              <a:miter lim="800000"/>
              <a:headEnd/>
              <a:tailEnd/>
            </a:ln>
          </p:spPr>
          <p:txBody>
            <a:bodyPr wrap="none" anchor="ctr"/>
            <a:lstStyle/>
            <a:p>
              <a:endParaRPr lang="en-US" sz="2200">
                <a:latin typeface="Arial"/>
                <a:cs typeface="Arial"/>
              </a:endParaRPr>
            </a:p>
          </p:txBody>
        </p:sp>
        <p:sp>
          <p:nvSpPr>
            <p:cNvPr id="14" name="Text Box 39"/>
            <p:cNvSpPr txBox="1">
              <a:spLocks noChangeArrowheads="1"/>
            </p:cNvSpPr>
            <p:nvPr/>
          </p:nvSpPr>
          <p:spPr bwMode="auto">
            <a:xfrm>
              <a:off x="3964" y="2104"/>
              <a:ext cx="575" cy="271"/>
            </a:xfrm>
            <a:prstGeom prst="rect">
              <a:avLst/>
            </a:prstGeom>
            <a:noFill/>
            <a:ln w="9525">
              <a:noFill/>
              <a:miter lim="800000"/>
              <a:headEnd/>
              <a:tailEnd/>
            </a:ln>
          </p:spPr>
          <p:txBody>
            <a:bodyPr wrap="square">
              <a:spAutoFit/>
            </a:bodyPr>
            <a:lstStyle/>
            <a:p>
              <a:pPr>
                <a:spcBef>
                  <a:spcPct val="50000"/>
                </a:spcBef>
              </a:pPr>
              <a:r>
                <a:rPr lang="en-US" sz="2200" dirty="0">
                  <a:latin typeface="Arial"/>
                  <a:cs typeface="Arial"/>
                </a:rPr>
                <a:t>DWL</a:t>
              </a:r>
            </a:p>
          </p:txBody>
        </p:sp>
      </p:grpSp>
      <p:grpSp>
        <p:nvGrpSpPr>
          <p:cNvPr id="16" name="Group 51"/>
          <p:cNvGrpSpPr>
            <a:grpSpLocks/>
          </p:cNvGrpSpPr>
          <p:nvPr/>
        </p:nvGrpSpPr>
        <p:grpSpPr bwMode="auto">
          <a:xfrm>
            <a:off x="684214" y="3133725"/>
            <a:ext cx="1566863" cy="866775"/>
            <a:chOff x="3046" y="1851"/>
            <a:chExt cx="987" cy="546"/>
          </a:xfrm>
        </p:grpSpPr>
        <p:sp>
          <p:nvSpPr>
            <p:cNvPr id="17" name="Rectangle 35"/>
            <p:cNvSpPr>
              <a:spLocks noChangeArrowheads="1"/>
            </p:cNvSpPr>
            <p:nvPr/>
          </p:nvSpPr>
          <p:spPr bwMode="auto">
            <a:xfrm>
              <a:off x="3120" y="1851"/>
              <a:ext cx="837" cy="546"/>
            </a:xfrm>
            <a:prstGeom prst="rect">
              <a:avLst/>
            </a:prstGeom>
            <a:solidFill>
              <a:schemeClr val="accent5">
                <a:lumMod val="90000"/>
              </a:schemeClr>
            </a:solidFill>
            <a:ln w="9525">
              <a:noFill/>
              <a:miter lim="800000"/>
              <a:headEnd/>
              <a:tailEnd/>
            </a:ln>
          </p:spPr>
          <p:txBody>
            <a:bodyPr wrap="none" anchor="ctr"/>
            <a:lstStyle/>
            <a:p>
              <a:endParaRPr lang="en-US" sz="2200">
                <a:latin typeface="Arial"/>
                <a:cs typeface="Arial"/>
              </a:endParaRPr>
            </a:p>
          </p:txBody>
        </p:sp>
        <p:sp>
          <p:nvSpPr>
            <p:cNvPr id="19" name="Text Box 47"/>
            <p:cNvSpPr txBox="1">
              <a:spLocks noChangeArrowheads="1"/>
            </p:cNvSpPr>
            <p:nvPr/>
          </p:nvSpPr>
          <p:spPr bwMode="auto">
            <a:xfrm>
              <a:off x="3046" y="1871"/>
              <a:ext cx="987" cy="485"/>
            </a:xfrm>
            <a:prstGeom prst="rect">
              <a:avLst/>
            </a:prstGeom>
            <a:noFill/>
            <a:ln w="9525">
              <a:noFill/>
              <a:miter lim="800000"/>
              <a:headEnd/>
              <a:tailEnd/>
            </a:ln>
          </p:spPr>
          <p:txBody>
            <a:bodyPr>
              <a:spAutoFit/>
            </a:bodyPr>
            <a:lstStyle/>
            <a:p>
              <a:pPr algn="ctr">
                <a:spcBef>
                  <a:spcPct val="50000"/>
                </a:spcBef>
              </a:pPr>
              <a:r>
                <a:rPr lang="en-US" sz="2200" dirty="0">
                  <a:latin typeface="Arial"/>
                  <a:cs typeface="Arial"/>
                </a:rPr>
                <a:t>Monopoly profit</a:t>
              </a:r>
            </a:p>
          </p:txBody>
        </p:sp>
      </p:grpSp>
      <p:grpSp>
        <p:nvGrpSpPr>
          <p:cNvPr id="21" name="Group 4"/>
          <p:cNvGrpSpPr>
            <a:grpSpLocks/>
          </p:cNvGrpSpPr>
          <p:nvPr/>
        </p:nvGrpSpPr>
        <p:grpSpPr bwMode="auto">
          <a:xfrm>
            <a:off x="120650" y="3768728"/>
            <a:ext cx="4062412" cy="430213"/>
            <a:chOff x="2595" y="2155"/>
            <a:chExt cx="2559" cy="271"/>
          </a:xfrm>
        </p:grpSpPr>
        <p:sp>
          <p:nvSpPr>
            <p:cNvPr id="22" name="Line 5"/>
            <p:cNvSpPr>
              <a:spLocks noChangeShapeType="1"/>
            </p:cNvSpPr>
            <p:nvPr/>
          </p:nvSpPr>
          <p:spPr bwMode="auto">
            <a:xfrm>
              <a:off x="3022" y="2305"/>
              <a:ext cx="2132" cy="0"/>
            </a:xfrm>
            <a:prstGeom prst="line">
              <a:avLst/>
            </a:prstGeom>
            <a:noFill/>
            <a:ln w="38100">
              <a:solidFill>
                <a:srgbClr val="CC0000"/>
              </a:solidFill>
              <a:round/>
              <a:headEnd/>
              <a:tailEnd/>
            </a:ln>
          </p:spPr>
          <p:txBody>
            <a:bodyPr/>
            <a:lstStyle/>
            <a:p>
              <a:endParaRPr lang="en-US" sz="2200">
                <a:latin typeface="Arial"/>
                <a:cs typeface="Arial"/>
              </a:endParaRPr>
            </a:p>
          </p:txBody>
        </p:sp>
        <p:sp>
          <p:nvSpPr>
            <p:cNvPr id="23" name="Rectangle 6"/>
            <p:cNvSpPr>
              <a:spLocks noChangeArrowheads="1"/>
            </p:cNvSpPr>
            <p:nvPr/>
          </p:nvSpPr>
          <p:spPr bwMode="auto">
            <a:xfrm>
              <a:off x="2595" y="2155"/>
              <a:ext cx="429" cy="271"/>
            </a:xfrm>
            <a:prstGeom prst="rect">
              <a:avLst/>
            </a:prstGeom>
            <a:noFill/>
            <a:ln w="9525">
              <a:noFill/>
              <a:miter lim="800000"/>
              <a:headEnd/>
              <a:tailEnd/>
            </a:ln>
          </p:spPr>
          <p:txBody>
            <a:bodyPr>
              <a:spAutoFit/>
            </a:bodyPr>
            <a:lstStyle/>
            <a:p>
              <a:r>
                <a:rPr lang="en-US" sz="2200" i="1">
                  <a:latin typeface="Arial"/>
                  <a:cs typeface="Arial"/>
                </a:rPr>
                <a:t>MC</a:t>
              </a:r>
            </a:p>
          </p:txBody>
        </p:sp>
      </p:grpSp>
      <p:grpSp>
        <p:nvGrpSpPr>
          <p:cNvPr id="24" name="Group 7"/>
          <p:cNvGrpSpPr>
            <a:grpSpLocks/>
          </p:cNvGrpSpPr>
          <p:nvPr/>
        </p:nvGrpSpPr>
        <p:grpSpPr bwMode="auto">
          <a:xfrm>
            <a:off x="128588" y="1566862"/>
            <a:ext cx="4291013" cy="4605338"/>
            <a:chOff x="2166" y="859"/>
            <a:chExt cx="2703" cy="2901"/>
          </a:xfrm>
        </p:grpSpPr>
        <p:grpSp>
          <p:nvGrpSpPr>
            <p:cNvPr id="25" name="Group 8"/>
            <p:cNvGrpSpPr>
              <a:grpSpLocks/>
            </p:cNvGrpSpPr>
            <p:nvPr/>
          </p:nvGrpSpPr>
          <p:grpSpPr bwMode="auto">
            <a:xfrm>
              <a:off x="2591" y="1080"/>
              <a:ext cx="2262" cy="2284"/>
              <a:chOff x="1489" y="785"/>
              <a:chExt cx="3650" cy="2492"/>
            </a:xfrm>
          </p:grpSpPr>
          <p:sp>
            <p:nvSpPr>
              <p:cNvPr id="28"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sz="2200">
                  <a:latin typeface="Arial"/>
                  <a:cs typeface="Arial"/>
                </a:endParaRPr>
              </a:p>
            </p:txBody>
          </p:sp>
          <p:sp>
            <p:nvSpPr>
              <p:cNvPr id="29"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sz="2200">
                  <a:latin typeface="Arial"/>
                  <a:cs typeface="Arial"/>
                </a:endParaRPr>
              </a:p>
            </p:txBody>
          </p:sp>
        </p:grpSp>
        <p:sp>
          <p:nvSpPr>
            <p:cNvPr id="26" name="Text Box 11"/>
            <p:cNvSpPr txBox="1">
              <a:spLocks noChangeArrowheads="1"/>
            </p:cNvSpPr>
            <p:nvPr/>
          </p:nvSpPr>
          <p:spPr bwMode="auto">
            <a:xfrm>
              <a:off x="4088" y="3547"/>
              <a:ext cx="781" cy="213"/>
            </a:xfrm>
            <a:prstGeom prst="rect">
              <a:avLst/>
            </a:prstGeom>
            <a:noFill/>
            <a:ln w="9525">
              <a:noFill/>
              <a:miter lim="800000"/>
              <a:headEnd/>
              <a:tailEnd/>
            </a:ln>
          </p:spPr>
          <p:txBody>
            <a:bodyPr lIns="0" tIns="0" rIns="0" bIns="0">
              <a:spAutoFit/>
            </a:bodyPr>
            <a:lstStyle/>
            <a:p>
              <a:pPr algn="r">
                <a:spcBef>
                  <a:spcPct val="50000"/>
                </a:spcBef>
              </a:pPr>
              <a:r>
                <a:rPr lang="en-US" sz="2200" dirty="0">
                  <a:latin typeface="Arial"/>
                  <a:cs typeface="Arial"/>
                </a:rPr>
                <a:t>Quantity</a:t>
              </a:r>
            </a:p>
          </p:txBody>
        </p:sp>
        <p:sp>
          <p:nvSpPr>
            <p:cNvPr id="27" name="Text Box 12"/>
            <p:cNvSpPr txBox="1">
              <a:spLocks noChangeArrowheads="1"/>
            </p:cNvSpPr>
            <p:nvPr/>
          </p:nvSpPr>
          <p:spPr bwMode="auto">
            <a:xfrm>
              <a:off x="2166" y="859"/>
              <a:ext cx="639" cy="271"/>
            </a:xfrm>
            <a:prstGeom prst="rect">
              <a:avLst/>
            </a:prstGeom>
            <a:noFill/>
            <a:ln w="9525">
              <a:noFill/>
              <a:miter lim="800000"/>
              <a:headEnd/>
              <a:tailEnd/>
            </a:ln>
          </p:spPr>
          <p:txBody>
            <a:bodyPr wrap="square">
              <a:spAutoFit/>
            </a:bodyPr>
            <a:lstStyle/>
            <a:p>
              <a:pPr algn="r">
                <a:spcBef>
                  <a:spcPct val="50000"/>
                </a:spcBef>
              </a:pPr>
              <a:r>
                <a:rPr lang="en-US" sz="2200" dirty="0">
                  <a:latin typeface="Arial"/>
                  <a:cs typeface="Arial"/>
                </a:rPr>
                <a:t>Price</a:t>
              </a:r>
            </a:p>
          </p:txBody>
        </p:sp>
      </p:grpSp>
      <p:grpSp>
        <p:nvGrpSpPr>
          <p:cNvPr id="30" name="Group 13"/>
          <p:cNvGrpSpPr>
            <a:grpSpLocks/>
          </p:cNvGrpSpPr>
          <p:nvPr/>
        </p:nvGrpSpPr>
        <p:grpSpPr bwMode="auto">
          <a:xfrm>
            <a:off x="800100" y="2254249"/>
            <a:ext cx="3595687" cy="2430463"/>
            <a:chOff x="2589" y="1292"/>
            <a:chExt cx="2265" cy="1531"/>
          </a:xfrm>
        </p:grpSpPr>
        <p:sp>
          <p:nvSpPr>
            <p:cNvPr id="31" name="Line 14"/>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sz="2200">
                <a:latin typeface="Arial"/>
                <a:cs typeface="Arial"/>
              </a:endParaRPr>
            </a:p>
          </p:txBody>
        </p:sp>
        <p:sp>
          <p:nvSpPr>
            <p:cNvPr id="32" name="Text Box 15"/>
            <p:cNvSpPr txBox="1">
              <a:spLocks noChangeArrowheads="1"/>
            </p:cNvSpPr>
            <p:nvPr/>
          </p:nvSpPr>
          <p:spPr bwMode="auto">
            <a:xfrm>
              <a:off x="4580" y="2610"/>
              <a:ext cx="274" cy="213"/>
            </a:xfrm>
            <a:prstGeom prst="rect">
              <a:avLst/>
            </a:prstGeom>
            <a:noFill/>
            <a:ln w="9525">
              <a:noFill/>
              <a:miter lim="800000"/>
              <a:headEnd/>
              <a:tailEnd/>
            </a:ln>
          </p:spPr>
          <p:txBody>
            <a:bodyPr lIns="0" tIns="0" rIns="0" bIns="0">
              <a:spAutoFit/>
            </a:bodyPr>
            <a:lstStyle/>
            <a:p>
              <a:pPr algn="ctr">
                <a:spcBef>
                  <a:spcPct val="50000"/>
                </a:spcBef>
              </a:pPr>
              <a:r>
                <a:rPr lang="en-US" sz="2200" i="1">
                  <a:latin typeface="Arial"/>
                  <a:cs typeface="Arial"/>
                </a:rPr>
                <a:t>D</a:t>
              </a:r>
            </a:p>
          </p:txBody>
        </p:sp>
      </p:grpSp>
      <p:grpSp>
        <p:nvGrpSpPr>
          <p:cNvPr id="71" name="Group 70"/>
          <p:cNvGrpSpPr/>
          <p:nvPr/>
        </p:nvGrpSpPr>
        <p:grpSpPr>
          <a:xfrm>
            <a:off x="811212" y="2270124"/>
            <a:ext cx="2600325" cy="2997616"/>
            <a:chOff x="811212" y="2074863"/>
            <a:chExt cx="2600325" cy="2997616"/>
          </a:xfrm>
        </p:grpSpPr>
        <p:sp>
          <p:nvSpPr>
            <p:cNvPr id="34" name="Line 17"/>
            <p:cNvSpPr>
              <a:spLocks noChangeShapeType="1"/>
            </p:cNvSpPr>
            <p:nvPr/>
          </p:nvSpPr>
          <p:spPr bwMode="auto">
            <a:xfrm>
              <a:off x="811212" y="2074863"/>
              <a:ext cx="2062163" cy="2705099"/>
            </a:xfrm>
            <a:prstGeom prst="line">
              <a:avLst/>
            </a:prstGeom>
            <a:noFill/>
            <a:ln w="38100">
              <a:solidFill>
                <a:srgbClr val="CC0000"/>
              </a:solidFill>
              <a:round/>
              <a:headEnd/>
              <a:tailEnd/>
            </a:ln>
          </p:spPr>
          <p:txBody>
            <a:bodyPr/>
            <a:lstStyle/>
            <a:p>
              <a:endParaRPr lang="en-US" sz="2200">
                <a:latin typeface="Arial"/>
                <a:cs typeface="Arial"/>
              </a:endParaRPr>
            </a:p>
          </p:txBody>
        </p:sp>
        <p:sp>
          <p:nvSpPr>
            <p:cNvPr id="35" name="Text Box 18"/>
            <p:cNvSpPr txBox="1">
              <a:spLocks noChangeArrowheads="1"/>
            </p:cNvSpPr>
            <p:nvPr/>
          </p:nvSpPr>
          <p:spPr bwMode="auto">
            <a:xfrm>
              <a:off x="2817812" y="4733925"/>
              <a:ext cx="593725" cy="338554"/>
            </a:xfrm>
            <a:prstGeom prst="rect">
              <a:avLst/>
            </a:prstGeom>
            <a:noFill/>
            <a:ln w="9525">
              <a:noFill/>
              <a:miter lim="800000"/>
              <a:headEnd/>
              <a:tailEnd/>
            </a:ln>
          </p:spPr>
          <p:txBody>
            <a:bodyPr lIns="0" tIns="0" rIns="0" bIns="0">
              <a:spAutoFit/>
            </a:bodyPr>
            <a:lstStyle/>
            <a:p>
              <a:pPr algn="ctr">
                <a:spcBef>
                  <a:spcPct val="50000"/>
                </a:spcBef>
              </a:pPr>
              <a:r>
                <a:rPr lang="en-US" sz="2200" i="1" dirty="0">
                  <a:latin typeface="Arial"/>
                  <a:cs typeface="Arial"/>
                </a:rPr>
                <a:t>MR</a:t>
              </a:r>
            </a:p>
          </p:txBody>
        </p:sp>
      </p:grpSp>
      <p:grpSp>
        <p:nvGrpSpPr>
          <p:cNvPr id="36" name="Group 19"/>
          <p:cNvGrpSpPr>
            <a:grpSpLocks/>
          </p:cNvGrpSpPr>
          <p:nvPr/>
        </p:nvGrpSpPr>
        <p:grpSpPr bwMode="auto">
          <a:xfrm>
            <a:off x="207962" y="2897186"/>
            <a:ext cx="2216150" cy="3044825"/>
            <a:chOff x="2650" y="1606"/>
            <a:chExt cx="1396" cy="1918"/>
          </a:xfrm>
        </p:grpSpPr>
        <p:sp>
          <p:nvSpPr>
            <p:cNvPr id="37" name="Line 20"/>
            <p:cNvSpPr>
              <a:spLocks noChangeShapeType="1"/>
            </p:cNvSpPr>
            <p:nvPr/>
          </p:nvSpPr>
          <p:spPr bwMode="auto">
            <a:xfrm>
              <a:off x="3024" y="1756"/>
              <a:ext cx="840" cy="0"/>
            </a:xfrm>
            <a:prstGeom prst="line">
              <a:avLst/>
            </a:prstGeom>
            <a:noFill/>
            <a:ln w="9525">
              <a:solidFill>
                <a:schemeClr val="tx1"/>
              </a:solidFill>
              <a:prstDash val="lgDash"/>
              <a:round/>
              <a:headEnd/>
              <a:tailEnd/>
            </a:ln>
          </p:spPr>
          <p:txBody>
            <a:bodyPr/>
            <a:lstStyle/>
            <a:p>
              <a:endParaRPr lang="en-US" sz="2200">
                <a:latin typeface="Arial"/>
                <a:cs typeface="Arial"/>
              </a:endParaRPr>
            </a:p>
          </p:txBody>
        </p:sp>
        <p:sp>
          <p:nvSpPr>
            <p:cNvPr id="38" name="Rectangle 21"/>
            <p:cNvSpPr>
              <a:spLocks noChangeArrowheads="1"/>
            </p:cNvSpPr>
            <p:nvPr/>
          </p:nvSpPr>
          <p:spPr bwMode="auto">
            <a:xfrm>
              <a:off x="2650" y="1606"/>
              <a:ext cx="368" cy="271"/>
            </a:xfrm>
            <a:prstGeom prst="rect">
              <a:avLst/>
            </a:prstGeom>
            <a:noFill/>
            <a:ln w="9525">
              <a:noFill/>
              <a:miter lim="800000"/>
              <a:headEnd/>
              <a:tailEnd/>
            </a:ln>
          </p:spPr>
          <p:txBody>
            <a:bodyPr>
              <a:spAutoFit/>
            </a:bodyPr>
            <a:lstStyle/>
            <a:p>
              <a:pPr algn="r"/>
              <a:r>
                <a:rPr lang="en-US" sz="2200" b="1" i="1">
                  <a:latin typeface="Arial"/>
                  <a:cs typeface="Arial"/>
                </a:rPr>
                <a:t>P</a:t>
              </a:r>
              <a:r>
                <a:rPr lang="en-US" sz="2200" b="1" baseline="-25000">
                  <a:latin typeface="Arial"/>
                  <a:cs typeface="Arial"/>
                </a:rPr>
                <a:t>M</a:t>
              </a:r>
            </a:p>
          </p:txBody>
        </p:sp>
        <p:sp>
          <p:nvSpPr>
            <p:cNvPr id="39" name="Line 22"/>
            <p:cNvSpPr>
              <a:spLocks noChangeShapeType="1"/>
            </p:cNvSpPr>
            <p:nvPr/>
          </p:nvSpPr>
          <p:spPr bwMode="auto">
            <a:xfrm>
              <a:off x="3864" y="1758"/>
              <a:ext cx="0" cy="1511"/>
            </a:xfrm>
            <a:prstGeom prst="line">
              <a:avLst/>
            </a:prstGeom>
            <a:noFill/>
            <a:ln w="9525">
              <a:solidFill>
                <a:schemeClr val="tx1"/>
              </a:solidFill>
              <a:prstDash val="lgDash"/>
              <a:round/>
              <a:headEnd/>
              <a:tailEnd/>
            </a:ln>
          </p:spPr>
          <p:txBody>
            <a:bodyPr/>
            <a:lstStyle/>
            <a:p>
              <a:endParaRPr lang="en-US" sz="2200">
                <a:latin typeface="Arial"/>
                <a:cs typeface="Arial"/>
              </a:endParaRPr>
            </a:p>
          </p:txBody>
        </p:sp>
        <p:sp>
          <p:nvSpPr>
            <p:cNvPr id="40" name="Oval 23"/>
            <p:cNvSpPr>
              <a:spLocks noChangeAspect="1" noChangeArrowheads="1"/>
            </p:cNvSpPr>
            <p:nvPr/>
          </p:nvSpPr>
          <p:spPr bwMode="auto">
            <a:xfrm>
              <a:off x="3822" y="2267"/>
              <a:ext cx="86" cy="85"/>
            </a:xfrm>
            <a:prstGeom prst="ellipse">
              <a:avLst/>
            </a:prstGeom>
            <a:solidFill>
              <a:srgbClr val="000000"/>
            </a:solidFill>
            <a:ln w="9525">
              <a:noFill/>
              <a:prstDash val="dash"/>
              <a:round/>
              <a:headEnd/>
              <a:tailEnd/>
            </a:ln>
          </p:spPr>
          <p:txBody>
            <a:bodyPr wrap="none" anchor="ctr"/>
            <a:lstStyle/>
            <a:p>
              <a:endParaRPr lang="en-US" sz="2200">
                <a:latin typeface="Arial"/>
                <a:cs typeface="Arial"/>
              </a:endParaRPr>
            </a:p>
          </p:txBody>
        </p:sp>
        <p:sp>
          <p:nvSpPr>
            <p:cNvPr id="41" name="Text Box 24"/>
            <p:cNvSpPr txBox="1">
              <a:spLocks noChangeArrowheads="1"/>
            </p:cNvSpPr>
            <p:nvPr/>
          </p:nvSpPr>
          <p:spPr bwMode="auto">
            <a:xfrm>
              <a:off x="3738" y="3282"/>
              <a:ext cx="308" cy="242"/>
            </a:xfrm>
            <a:prstGeom prst="rect">
              <a:avLst/>
            </a:prstGeom>
            <a:noFill/>
            <a:ln w="9525">
              <a:noFill/>
              <a:miter lim="800000"/>
              <a:headEnd/>
              <a:tailEnd/>
            </a:ln>
          </p:spPr>
          <p:txBody>
            <a:bodyPr lIns="0" tIns="0" rIns="0">
              <a:spAutoFit/>
            </a:bodyPr>
            <a:lstStyle/>
            <a:p>
              <a:pPr algn="ctr">
                <a:spcBef>
                  <a:spcPct val="50000"/>
                </a:spcBef>
              </a:pPr>
              <a:r>
                <a:rPr lang="en-US" sz="2200" b="1" i="1" dirty="0">
                  <a:latin typeface="Arial"/>
                  <a:cs typeface="Arial"/>
                </a:rPr>
                <a:t>Q</a:t>
              </a:r>
              <a:r>
                <a:rPr lang="en-US" sz="2200" b="1" baseline="-25000" dirty="0">
                  <a:latin typeface="Arial"/>
                  <a:cs typeface="Arial"/>
                </a:rPr>
                <a:t>M</a:t>
              </a:r>
            </a:p>
          </p:txBody>
        </p:sp>
        <p:sp>
          <p:nvSpPr>
            <p:cNvPr id="42" name="Oval 25"/>
            <p:cNvSpPr>
              <a:spLocks noChangeAspect="1" noChangeArrowheads="1"/>
            </p:cNvSpPr>
            <p:nvPr/>
          </p:nvSpPr>
          <p:spPr bwMode="auto">
            <a:xfrm>
              <a:off x="3822" y="1712"/>
              <a:ext cx="86" cy="85"/>
            </a:xfrm>
            <a:prstGeom prst="ellipse">
              <a:avLst/>
            </a:prstGeom>
            <a:solidFill>
              <a:srgbClr val="000000"/>
            </a:solidFill>
            <a:ln w="9525">
              <a:noFill/>
              <a:prstDash val="dash"/>
              <a:round/>
              <a:headEnd/>
              <a:tailEnd/>
            </a:ln>
          </p:spPr>
          <p:txBody>
            <a:bodyPr wrap="none" anchor="ctr"/>
            <a:lstStyle/>
            <a:p>
              <a:endParaRPr lang="en-US" sz="2200">
                <a:latin typeface="Arial"/>
                <a:cs typeface="Arial"/>
              </a:endParaRPr>
            </a:p>
          </p:txBody>
        </p:sp>
      </p:grpSp>
      <p:sp>
        <p:nvSpPr>
          <p:cNvPr id="43" name="Text Box 43"/>
          <p:cNvSpPr txBox="1">
            <a:spLocks noChangeArrowheads="1"/>
          </p:cNvSpPr>
          <p:nvPr/>
        </p:nvSpPr>
        <p:spPr bwMode="auto">
          <a:xfrm>
            <a:off x="228600" y="914400"/>
            <a:ext cx="3721894" cy="492443"/>
          </a:xfrm>
          <a:prstGeom prst="rect">
            <a:avLst/>
          </a:prstGeom>
          <a:noFill/>
          <a:ln w="9525">
            <a:noFill/>
            <a:miter lim="800000"/>
            <a:headEnd/>
            <a:tailEnd/>
          </a:ln>
        </p:spPr>
        <p:txBody>
          <a:bodyPr wrap="square">
            <a:spAutoFit/>
          </a:bodyPr>
          <a:lstStyle/>
          <a:p>
            <a:pPr>
              <a:spcBef>
                <a:spcPct val="50000"/>
              </a:spcBef>
            </a:pPr>
            <a:r>
              <a:rPr lang="en-US" sz="2600" i="1" u="sng" dirty="0">
                <a:solidFill>
                  <a:srgbClr val="4E519E"/>
                </a:solidFill>
                <a:latin typeface="Arial"/>
                <a:cs typeface="Arial"/>
              </a:rPr>
              <a:t>Single price monopoly</a:t>
            </a:r>
          </a:p>
        </p:txBody>
      </p:sp>
      <p:sp>
        <p:nvSpPr>
          <p:cNvPr id="44" name="Text Box 43"/>
          <p:cNvSpPr txBox="1">
            <a:spLocks noChangeArrowheads="1"/>
          </p:cNvSpPr>
          <p:nvPr/>
        </p:nvSpPr>
        <p:spPr bwMode="auto">
          <a:xfrm>
            <a:off x="4505326" y="914400"/>
            <a:ext cx="4477146" cy="492443"/>
          </a:xfrm>
          <a:prstGeom prst="rect">
            <a:avLst/>
          </a:prstGeom>
          <a:noFill/>
          <a:ln w="9525">
            <a:noFill/>
            <a:miter lim="800000"/>
            <a:headEnd/>
            <a:tailEnd/>
          </a:ln>
        </p:spPr>
        <p:txBody>
          <a:bodyPr wrap="square">
            <a:spAutoFit/>
          </a:bodyPr>
          <a:lstStyle/>
          <a:p>
            <a:pPr>
              <a:spcBef>
                <a:spcPct val="50000"/>
              </a:spcBef>
            </a:pPr>
            <a:r>
              <a:rPr lang="en-US" sz="2600" i="1" u="sng" dirty="0">
                <a:solidFill>
                  <a:srgbClr val="4E519E"/>
                </a:solidFill>
                <a:latin typeface="Arial"/>
                <a:cs typeface="Arial"/>
              </a:rPr>
              <a:t>Perfect price discrimination</a:t>
            </a:r>
          </a:p>
        </p:txBody>
      </p:sp>
      <p:grpSp>
        <p:nvGrpSpPr>
          <p:cNvPr id="45" name="Group 46"/>
          <p:cNvGrpSpPr>
            <a:grpSpLocks/>
          </p:cNvGrpSpPr>
          <p:nvPr/>
        </p:nvGrpSpPr>
        <p:grpSpPr bwMode="auto">
          <a:xfrm>
            <a:off x="5191125" y="2047874"/>
            <a:ext cx="3108325" cy="1957387"/>
            <a:chOff x="3123" y="1167"/>
            <a:chExt cx="1958" cy="1233"/>
          </a:xfrm>
        </p:grpSpPr>
        <p:sp>
          <p:nvSpPr>
            <p:cNvPr id="46" name="AutoShape 4"/>
            <p:cNvSpPr>
              <a:spLocks noChangeArrowheads="1"/>
            </p:cNvSpPr>
            <p:nvPr/>
          </p:nvSpPr>
          <p:spPr bwMode="auto">
            <a:xfrm>
              <a:off x="3123" y="1299"/>
              <a:ext cx="1644" cy="1101"/>
            </a:xfrm>
            <a:prstGeom prst="rtTriangle">
              <a:avLst/>
            </a:prstGeom>
            <a:solidFill>
              <a:schemeClr val="accent5">
                <a:lumMod val="90000"/>
              </a:schemeClr>
            </a:solidFill>
            <a:ln w="9525">
              <a:noFill/>
              <a:miter lim="800000"/>
              <a:headEnd/>
              <a:tailEnd/>
            </a:ln>
          </p:spPr>
          <p:txBody>
            <a:bodyPr wrap="none" anchor="ctr"/>
            <a:lstStyle/>
            <a:p>
              <a:endParaRPr lang="en-US" sz="2200">
                <a:latin typeface="Arial"/>
                <a:cs typeface="Arial"/>
              </a:endParaRPr>
            </a:p>
          </p:txBody>
        </p:sp>
        <p:grpSp>
          <p:nvGrpSpPr>
            <p:cNvPr id="47" name="Group 45"/>
            <p:cNvGrpSpPr>
              <a:grpSpLocks/>
            </p:cNvGrpSpPr>
            <p:nvPr/>
          </p:nvGrpSpPr>
          <p:grpSpPr bwMode="auto">
            <a:xfrm>
              <a:off x="3717" y="1167"/>
              <a:ext cx="1364" cy="863"/>
              <a:chOff x="3717" y="1167"/>
              <a:chExt cx="1364" cy="863"/>
            </a:xfrm>
          </p:grpSpPr>
          <p:sp>
            <p:nvSpPr>
              <p:cNvPr id="48" name="Text Box 43"/>
              <p:cNvSpPr txBox="1">
                <a:spLocks noChangeArrowheads="1"/>
              </p:cNvSpPr>
              <p:nvPr/>
            </p:nvSpPr>
            <p:spPr bwMode="auto">
              <a:xfrm>
                <a:off x="3931" y="1167"/>
                <a:ext cx="1150" cy="485"/>
              </a:xfrm>
              <a:prstGeom prst="rect">
                <a:avLst/>
              </a:prstGeom>
              <a:noFill/>
              <a:ln w="9525">
                <a:noFill/>
                <a:miter lim="800000"/>
                <a:headEnd/>
                <a:tailEnd/>
              </a:ln>
            </p:spPr>
            <p:txBody>
              <a:bodyPr>
                <a:spAutoFit/>
              </a:bodyPr>
              <a:lstStyle/>
              <a:p>
                <a:pPr>
                  <a:spcBef>
                    <a:spcPct val="50000"/>
                  </a:spcBef>
                </a:pPr>
                <a:r>
                  <a:rPr lang="en-US" sz="2200">
                    <a:latin typeface="Arial"/>
                    <a:cs typeface="Arial"/>
                  </a:rPr>
                  <a:t>Monopoly profit</a:t>
                </a:r>
              </a:p>
            </p:txBody>
          </p:sp>
          <p:sp>
            <p:nvSpPr>
              <p:cNvPr id="49" name="Arc 44"/>
              <p:cNvSpPr>
                <a:spLocks/>
              </p:cNvSpPr>
              <p:nvPr/>
            </p:nvSpPr>
            <p:spPr bwMode="auto">
              <a:xfrm>
                <a:off x="3717" y="1493"/>
                <a:ext cx="425" cy="537"/>
              </a:xfrm>
              <a:custGeom>
                <a:avLst/>
                <a:gdLst>
                  <a:gd name="T0" fmla="*/ 0 w 20745"/>
                  <a:gd name="T1" fmla="*/ 0 h 19232"/>
                  <a:gd name="T2" fmla="*/ 0 w 20745"/>
                  <a:gd name="T3" fmla="*/ 0 h 19232"/>
                  <a:gd name="T4" fmla="*/ 0 w 20745"/>
                  <a:gd name="T5" fmla="*/ 0 h 19232"/>
                  <a:gd name="T6" fmla="*/ 0 60000 65536"/>
                  <a:gd name="T7" fmla="*/ 0 60000 65536"/>
                  <a:gd name="T8" fmla="*/ 0 60000 65536"/>
                  <a:gd name="T9" fmla="*/ 0 w 20745"/>
                  <a:gd name="T10" fmla="*/ 0 h 19232"/>
                  <a:gd name="T11" fmla="*/ 20745 w 20745"/>
                  <a:gd name="T12" fmla="*/ 19232 h 19232"/>
                </a:gdLst>
                <a:ahLst/>
                <a:cxnLst>
                  <a:cxn ang="T6">
                    <a:pos x="T0" y="T1"/>
                  </a:cxn>
                  <a:cxn ang="T7">
                    <a:pos x="T2" y="T3"/>
                  </a:cxn>
                  <a:cxn ang="T8">
                    <a:pos x="T4" y="T5"/>
                  </a:cxn>
                </a:cxnLst>
                <a:rect l="T9" t="T10" r="T11" b="T12"/>
                <a:pathLst>
                  <a:path w="20745" h="19232" fill="none" extrusionOk="0">
                    <a:moveTo>
                      <a:pt x="20745" y="6017"/>
                    </a:moveTo>
                    <a:cubicBezTo>
                      <a:pt x="19085" y="11738"/>
                      <a:pt x="15137" y="16520"/>
                      <a:pt x="9833" y="19232"/>
                    </a:cubicBezTo>
                  </a:path>
                  <a:path w="20745" h="19232" stroke="0" extrusionOk="0">
                    <a:moveTo>
                      <a:pt x="20745" y="6017"/>
                    </a:moveTo>
                    <a:cubicBezTo>
                      <a:pt x="19085" y="11738"/>
                      <a:pt x="15137" y="16520"/>
                      <a:pt x="9833" y="19232"/>
                    </a:cubicBezTo>
                    <a:lnTo>
                      <a:pt x="0" y="0"/>
                    </a:lnTo>
                    <a:close/>
                  </a:path>
                </a:pathLst>
              </a:custGeom>
              <a:noFill/>
              <a:ln w="28575">
                <a:solidFill>
                  <a:schemeClr val="tx1"/>
                </a:solidFill>
                <a:round/>
                <a:headEnd/>
                <a:tailEnd type="triangle" w="lg" len="med"/>
              </a:ln>
            </p:spPr>
            <p:txBody>
              <a:bodyPr wrap="none" anchor="ctr"/>
              <a:lstStyle/>
              <a:p>
                <a:endParaRPr lang="en-US" sz="2200">
                  <a:latin typeface="Arial"/>
                  <a:cs typeface="Arial"/>
                </a:endParaRPr>
              </a:p>
            </p:txBody>
          </p:sp>
        </p:grpSp>
      </p:grpSp>
      <p:grpSp>
        <p:nvGrpSpPr>
          <p:cNvPr id="50" name="Group 7"/>
          <p:cNvGrpSpPr>
            <a:grpSpLocks/>
          </p:cNvGrpSpPr>
          <p:nvPr/>
        </p:nvGrpSpPr>
        <p:grpSpPr bwMode="auto">
          <a:xfrm>
            <a:off x="4505325" y="3768728"/>
            <a:ext cx="4062412" cy="430213"/>
            <a:chOff x="2595" y="2155"/>
            <a:chExt cx="2559" cy="271"/>
          </a:xfrm>
        </p:grpSpPr>
        <p:sp>
          <p:nvSpPr>
            <p:cNvPr id="51" name="Line 8"/>
            <p:cNvSpPr>
              <a:spLocks noChangeShapeType="1"/>
            </p:cNvSpPr>
            <p:nvPr/>
          </p:nvSpPr>
          <p:spPr bwMode="auto">
            <a:xfrm>
              <a:off x="3022" y="2305"/>
              <a:ext cx="2132" cy="0"/>
            </a:xfrm>
            <a:prstGeom prst="line">
              <a:avLst/>
            </a:prstGeom>
            <a:noFill/>
            <a:ln w="38100">
              <a:solidFill>
                <a:srgbClr val="CC0000"/>
              </a:solidFill>
              <a:round/>
              <a:headEnd/>
              <a:tailEnd/>
            </a:ln>
          </p:spPr>
          <p:txBody>
            <a:bodyPr/>
            <a:lstStyle/>
            <a:p>
              <a:endParaRPr lang="en-US" sz="2200">
                <a:latin typeface="Arial"/>
                <a:cs typeface="Arial"/>
              </a:endParaRPr>
            </a:p>
          </p:txBody>
        </p:sp>
        <p:sp>
          <p:nvSpPr>
            <p:cNvPr id="52" name="Rectangle 9"/>
            <p:cNvSpPr>
              <a:spLocks noChangeArrowheads="1"/>
            </p:cNvSpPr>
            <p:nvPr/>
          </p:nvSpPr>
          <p:spPr bwMode="auto">
            <a:xfrm>
              <a:off x="2595" y="2155"/>
              <a:ext cx="429" cy="271"/>
            </a:xfrm>
            <a:prstGeom prst="rect">
              <a:avLst/>
            </a:prstGeom>
            <a:noFill/>
            <a:ln w="9525">
              <a:noFill/>
              <a:miter lim="800000"/>
              <a:headEnd/>
              <a:tailEnd/>
            </a:ln>
          </p:spPr>
          <p:txBody>
            <a:bodyPr>
              <a:spAutoFit/>
            </a:bodyPr>
            <a:lstStyle/>
            <a:p>
              <a:r>
                <a:rPr lang="en-US" sz="2200" i="1" dirty="0">
                  <a:latin typeface="Arial"/>
                  <a:cs typeface="Arial"/>
                </a:rPr>
                <a:t>MC</a:t>
              </a:r>
            </a:p>
          </p:txBody>
        </p:sp>
      </p:grpSp>
      <p:grpSp>
        <p:nvGrpSpPr>
          <p:cNvPr id="53" name="Group 10"/>
          <p:cNvGrpSpPr>
            <a:grpSpLocks/>
          </p:cNvGrpSpPr>
          <p:nvPr/>
        </p:nvGrpSpPr>
        <p:grpSpPr bwMode="auto">
          <a:xfrm>
            <a:off x="4505326" y="1566862"/>
            <a:ext cx="4527551" cy="4605338"/>
            <a:chOff x="2161" y="859"/>
            <a:chExt cx="2852" cy="2901"/>
          </a:xfrm>
        </p:grpSpPr>
        <p:grpSp>
          <p:nvGrpSpPr>
            <p:cNvPr id="54" name="Group 11"/>
            <p:cNvGrpSpPr>
              <a:grpSpLocks/>
            </p:cNvGrpSpPr>
            <p:nvPr/>
          </p:nvGrpSpPr>
          <p:grpSpPr bwMode="auto">
            <a:xfrm>
              <a:off x="2591" y="1080"/>
              <a:ext cx="2262" cy="2284"/>
              <a:chOff x="1489" y="785"/>
              <a:chExt cx="3650" cy="2492"/>
            </a:xfrm>
          </p:grpSpPr>
          <p:sp>
            <p:nvSpPr>
              <p:cNvPr id="57" name="Line 12"/>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sz="2200">
                  <a:latin typeface="Arial"/>
                  <a:cs typeface="Arial"/>
                </a:endParaRPr>
              </a:p>
            </p:txBody>
          </p:sp>
          <p:sp>
            <p:nvSpPr>
              <p:cNvPr id="58" name="Line 13"/>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sz="2200">
                  <a:latin typeface="Arial"/>
                  <a:cs typeface="Arial"/>
                </a:endParaRPr>
              </a:p>
            </p:txBody>
          </p:sp>
        </p:grpSp>
        <p:sp>
          <p:nvSpPr>
            <p:cNvPr id="55" name="Text Box 14"/>
            <p:cNvSpPr txBox="1">
              <a:spLocks noChangeArrowheads="1"/>
            </p:cNvSpPr>
            <p:nvPr/>
          </p:nvSpPr>
          <p:spPr bwMode="auto">
            <a:xfrm>
              <a:off x="4232" y="3547"/>
              <a:ext cx="781" cy="213"/>
            </a:xfrm>
            <a:prstGeom prst="rect">
              <a:avLst/>
            </a:prstGeom>
            <a:noFill/>
            <a:ln w="9525">
              <a:noFill/>
              <a:miter lim="800000"/>
              <a:headEnd/>
              <a:tailEnd/>
            </a:ln>
          </p:spPr>
          <p:txBody>
            <a:bodyPr lIns="0" tIns="0" rIns="0" bIns="0">
              <a:spAutoFit/>
            </a:bodyPr>
            <a:lstStyle/>
            <a:p>
              <a:pPr algn="r">
                <a:spcBef>
                  <a:spcPct val="50000"/>
                </a:spcBef>
              </a:pPr>
              <a:r>
                <a:rPr lang="en-US" sz="2200" dirty="0">
                  <a:latin typeface="Arial"/>
                  <a:cs typeface="Arial"/>
                </a:rPr>
                <a:t>Quantity</a:t>
              </a:r>
            </a:p>
          </p:txBody>
        </p:sp>
        <p:sp>
          <p:nvSpPr>
            <p:cNvPr id="56" name="Text Box 15"/>
            <p:cNvSpPr txBox="1">
              <a:spLocks noChangeArrowheads="1"/>
            </p:cNvSpPr>
            <p:nvPr/>
          </p:nvSpPr>
          <p:spPr bwMode="auto">
            <a:xfrm>
              <a:off x="2161" y="859"/>
              <a:ext cx="666" cy="271"/>
            </a:xfrm>
            <a:prstGeom prst="rect">
              <a:avLst/>
            </a:prstGeom>
            <a:noFill/>
            <a:ln w="9525">
              <a:noFill/>
              <a:miter lim="800000"/>
              <a:headEnd/>
              <a:tailEnd/>
            </a:ln>
          </p:spPr>
          <p:txBody>
            <a:bodyPr wrap="square">
              <a:spAutoFit/>
            </a:bodyPr>
            <a:lstStyle/>
            <a:p>
              <a:pPr algn="r">
                <a:spcBef>
                  <a:spcPct val="50000"/>
                </a:spcBef>
              </a:pPr>
              <a:r>
                <a:rPr lang="en-US" sz="2200" dirty="0">
                  <a:latin typeface="Arial"/>
                  <a:cs typeface="Arial"/>
                </a:rPr>
                <a:t>Price</a:t>
              </a:r>
            </a:p>
          </p:txBody>
        </p:sp>
      </p:grpSp>
      <p:grpSp>
        <p:nvGrpSpPr>
          <p:cNvPr id="59" name="Group 16"/>
          <p:cNvGrpSpPr>
            <a:grpSpLocks/>
          </p:cNvGrpSpPr>
          <p:nvPr/>
        </p:nvGrpSpPr>
        <p:grpSpPr bwMode="auto">
          <a:xfrm>
            <a:off x="5184775" y="2254249"/>
            <a:ext cx="3595687" cy="2430463"/>
            <a:chOff x="2589" y="1292"/>
            <a:chExt cx="2265" cy="1531"/>
          </a:xfrm>
        </p:grpSpPr>
        <p:sp>
          <p:nvSpPr>
            <p:cNvPr id="60" name="Line 17"/>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sz="2200">
                <a:latin typeface="Arial"/>
                <a:cs typeface="Arial"/>
              </a:endParaRPr>
            </a:p>
          </p:txBody>
        </p:sp>
        <p:sp>
          <p:nvSpPr>
            <p:cNvPr id="61" name="Text Box 18"/>
            <p:cNvSpPr txBox="1">
              <a:spLocks noChangeArrowheads="1"/>
            </p:cNvSpPr>
            <p:nvPr/>
          </p:nvSpPr>
          <p:spPr bwMode="auto">
            <a:xfrm>
              <a:off x="4580" y="2610"/>
              <a:ext cx="274" cy="213"/>
            </a:xfrm>
            <a:prstGeom prst="rect">
              <a:avLst/>
            </a:prstGeom>
            <a:noFill/>
            <a:ln w="9525">
              <a:noFill/>
              <a:miter lim="800000"/>
              <a:headEnd/>
              <a:tailEnd/>
            </a:ln>
          </p:spPr>
          <p:txBody>
            <a:bodyPr lIns="0" tIns="0" rIns="0" bIns="0">
              <a:spAutoFit/>
            </a:bodyPr>
            <a:lstStyle/>
            <a:p>
              <a:pPr algn="ctr">
                <a:spcBef>
                  <a:spcPct val="50000"/>
                </a:spcBef>
              </a:pPr>
              <a:r>
                <a:rPr lang="en-US" sz="2200" i="1">
                  <a:latin typeface="Arial"/>
                  <a:cs typeface="Arial"/>
                </a:rPr>
                <a:t>D</a:t>
              </a:r>
            </a:p>
          </p:txBody>
        </p:sp>
      </p:grpSp>
      <p:grpSp>
        <p:nvGrpSpPr>
          <p:cNvPr id="62" name="Group 19"/>
          <p:cNvGrpSpPr>
            <a:grpSpLocks/>
          </p:cNvGrpSpPr>
          <p:nvPr/>
        </p:nvGrpSpPr>
        <p:grpSpPr bwMode="auto">
          <a:xfrm>
            <a:off x="5195887" y="2270124"/>
            <a:ext cx="2600325" cy="2997199"/>
            <a:chOff x="2596" y="1302"/>
            <a:chExt cx="1638" cy="1888"/>
          </a:xfrm>
        </p:grpSpPr>
        <p:sp>
          <p:nvSpPr>
            <p:cNvPr id="63" name="Line 20"/>
            <p:cNvSpPr>
              <a:spLocks noChangeShapeType="1"/>
            </p:cNvSpPr>
            <p:nvPr/>
          </p:nvSpPr>
          <p:spPr bwMode="auto">
            <a:xfrm>
              <a:off x="2596" y="1302"/>
              <a:ext cx="1299" cy="1704"/>
            </a:xfrm>
            <a:prstGeom prst="line">
              <a:avLst/>
            </a:prstGeom>
            <a:noFill/>
            <a:ln w="38100">
              <a:solidFill>
                <a:srgbClr val="CC0000"/>
              </a:solidFill>
              <a:round/>
              <a:headEnd/>
              <a:tailEnd/>
            </a:ln>
          </p:spPr>
          <p:txBody>
            <a:bodyPr/>
            <a:lstStyle/>
            <a:p>
              <a:endParaRPr lang="en-US" sz="2200">
                <a:latin typeface="Arial"/>
                <a:cs typeface="Arial"/>
              </a:endParaRPr>
            </a:p>
          </p:txBody>
        </p:sp>
        <p:sp>
          <p:nvSpPr>
            <p:cNvPr id="64" name="Text Box 21"/>
            <p:cNvSpPr txBox="1">
              <a:spLocks noChangeArrowheads="1"/>
            </p:cNvSpPr>
            <p:nvPr/>
          </p:nvSpPr>
          <p:spPr bwMode="auto">
            <a:xfrm>
              <a:off x="3860" y="2977"/>
              <a:ext cx="374" cy="213"/>
            </a:xfrm>
            <a:prstGeom prst="rect">
              <a:avLst/>
            </a:prstGeom>
            <a:noFill/>
            <a:ln w="9525">
              <a:noFill/>
              <a:miter lim="800000"/>
              <a:headEnd/>
              <a:tailEnd/>
            </a:ln>
          </p:spPr>
          <p:txBody>
            <a:bodyPr lIns="0" tIns="0" rIns="0" bIns="0">
              <a:spAutoFit/>
            </a:bodyPr>
            <a:lstStyle/>
            <a:p>
              <a:pPr algn="ctr">
                <a:spcBef>
                  <a:spcPct val="50000"/>
                </a:spcBef>
              </a:pPr>
              <a:r>
                <a:rPr lang="en-US" sz="2200" i="1">
                  <a:latin typeface="Arial"/>
                  <a:cs typeface="Arial"/>
                </a:rPr>
                <a:t>MR</a:t>
              </a:r>
            </a:p>
          </p:txBody>
        </p:sp>
      </p:grpSp>
      <p:grpSp>
        <p:nvGrpSpPr>
          <p:cNvPr id="65" name="Group 29"/>
          <p:cNvGrpSpPr>
            <a:grpSpLocks/>
          </p:cNvGrpSpPr>
          <p:nvPr/>
        </p:nvGrpSpPr>
        <p:grpSpPr bwMode="auto">
          <a:xfrm>
            <a:off x="7583494" y="3941761"/>
            <a:ext cx="493713" cy="2019300"/>
            <a:chOff x="4534" y="2264"/>
            <a:chExt cx="311" cy="1272"/>
          </a:xfrm>
        </p:grpSpPr>
        <p:sp>
          <p:nvSpPr>
            <p:cNvPr id="66" name="Line 30"/>
            <p:cNvSpPr>
              <a:spLocks noChangeShapeType="1"/>
            </p:cNvSpPr>
            <p:nvPr/>
          </p:nvSpPr>
          <p:spPr bwMode="auto">
            <a:xfrm flipH="1">
              <a:off x="4686" y="2309"/>
              <a:ext cx="3" cy="965"/>
            </a:xfrm>
            <a:prstGeom prst="line">
              <a:avLst/>
            </a:prstGeom>
            <a:noFill/>
            <a:ln w="9525">
              <a:solidFill>
                <a:srgbClr val="777777"/>
              </a:solidFill>
              <a:prstDash val="lgDash"/>
              <a:round/>
              <a:headEnd/>
              <a:tailEnd/>
            </a:ln>
          </p:spPr>
          <p:txBody>
            <a:bodyPr/>
            <a:lstStyle/>
            <a:p>
              <a:endParaRPr lang="en-US" sz="2200">
                <a:latin typeface="Arial"/>
                <a:cs typeface="Arial"/>
              </a:endParaRPr>
            </a:p>
          </p:txBody>
        </p:sp>
        <p:sp>
          <p:nvSpPr>
            <p:cNvPr id="67" name="Oval 31"/>
            <p:cNvSpPr>
              <a:spLocks noChangeAspect="1" noChangeArrowheads="1"/>
            </p:cNvSpPr>
            <p:nvPr/>
          </p:nvSpPr>
          <p:spPr bwMode="auto">
            <a:xfrm>
              <a:off x="4644" y="2264"/>
              <a:ext cx="86" cy="85"/>
            </a:xfrm>
            <a:prstGeom prst="ellipse">
              <a:avLst/>
            </a:prstGeom>
            <a:solidFill>
              <a:srgbClr val="000000"/>
            </a:solidFill>
            <a:ln w="9525">
              <a:noFill/>
              <a:prstDash val="dash"/>
              <a:round/>
              <a:headEnd/>
              <a:tailEnd/>
            </a:ln>
          </p:spPr>
          <p:txBody>
            <a:bodyPr wrap="none" anchor="ctr"/>
            <a:lstStyle/>
            <a:p>
              <a:endParaRPr lang="en-US" sz="2200">
                <a:latin typeface="Arial"/>
                <a:cs typeface="Arial"/>
              </a:endParaRPr>
            </a:p>
          </p:txBody>
        </p:sp>
        <p:sp>
          <p:nvSpPr>
            <p:cNvPr id="69" name="Text Box 33"/>
            <p:cNvSpPr txBox="1">
              <a:spLocks noChangeArrowheads="1"/>
            </p:cNvSpPr>
            <p:nvPr/>
          </p:nvSpPr>
          <p:spPr bwMode="auto">
            <a:xfrm>
              <a:off x="4534" y="3294"/>
              <a:ext cx="311" cy="242"/>
            </a:xfrm>
            <a:prstGeom prst="rect">
              <a:avLst/>
            </a:prstGeom>
            <a:noFill/>
            <a:ln w="9525">
              <a:noFill/>
              <a:miter lim="800000"/>
              <a:headEnd/>
              <a:tailEnd/>
            </a:ln>
          </p:spPr>
          <p:txBody>
            <a:bodyPr lIns="0" tIns="0" rIns="0">
              <a:spAutoFit/>
            </a:bodyPr>
            <a:lstStyle/>
            <a:p>
              <a:pPr algn="ctr">
                <a:spcBef>
                  <a:spcPct val="50000"/>
                </a:spcBef>
              </a:pPr>
              <a:r>
                <a:rPr lang="en-US" sz="2200" b="1" i="1" dirty="0">
                  <a:latin typeface="Arial"/>
                  <a:cs typeface="Arial"/>
                </a:rPr>
                <a:t>Q</a:t>
              </a:r>
              <a:endParaRPr lang="en-US" sz="2200" b="1" baseline="-25000" dirty="0">
                <a:latin typeface="Arial"/>
                <a:cs typeface="Arial"/>
              </a:endParaRPr>
            </a:p>
          </p:txBody>
        </p:sp>
      </p:grpSp>
      <p:sp>
        <p:nvSpPr>
          <p:cNvPr id="4" name="Footer Placeholder 3">
            <a:extLst>
              <a:ext uri="{FF2B5EF4-FFF2-40B4-BE49-F238E27FC236}">
                <a16:creationId xmlns:a16="http://schemas.microsoft.com/office/drawing/2014/main" id="{030D01B2-D4F7-883C-9A94-B129F4590A6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623495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wipe(up)">
                                      <p:cBhvr>
                                        <p:cTn id="27" dur="500"/>
                                        <p:tgtEl>
                                          <p:spTgt spid="6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wipe(left)">
                                      <p:cBhvr>
                                        <p:cTn id="3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500" dirty="0"/>
              <a:t>Price Discrimination in the Real World</a:t>
            </a:r>
          </a:p>
        </p:txBody>
      </p:sp>
      <p:sp>
        <p:nvSpPr>
          <p:cNvPr id="3" name="Content Placeholder 2"/>
          <p:cNvSpPr>
            <a:spLocks noGrp="1"/>
          </p:cNvSpPr>
          <p:nvPr>
            <p:ph idx="1"/>
          </p:nvPr>
        </p:nvSpPr>
        <p:spPr>
          <a:prstGeom prst="rect">
            <a:avLst/>
          </a:prstGeom>
        </p:spPr>
        <p:txBody>
          <a:bodyPr/>
          <a:lstStyle/>
          <a:p>
            <a:r>
              <a:rPr lang="en-US" dirty="0"/>
              <a:t>Perfect price discrimination </a:t>
            </a:r>
          </a:p>
          <a:p>
            <a:pPr lvl="1"/>
            <a:r>
              <a:rPr lang="en-US" dirty="0"/>
              <a:t>Not possible in the real world  </a:t>
            </a:r>
          </a:p>
          <a:p>
            <a:pPr lvl="2"/>
            <a:r>
              <a:rPr lang="en-US" dirty="0"/>
              <a:t>No firm knows every buyer’s </a:t>
            </a:r>
            <a:r>
              <a:rPr lang="en-US" b="1" i="1" dirty="0"/>
              <a:t>WTP</a:t>
            </a:r>
          </a:p>
          <a:p>
            <a:pPr lvl="2"/>
            <a:r>
              <a:rPr lang="en-US" dirty="0"/>
              <a:t>Buyers do not reveal it to sellers</a:t>
            </a:r>
          </a:p>
          <a:p>
            <a:r>
              <a:rPr lang="en-US" dirty="0"/>
              <a:t>Price discrimination</a:t>
            </a:r>
          </a:p>
          <a:p>
            <a:pPr lvl="1"/>
            <a:r>
              <a:rPr lang="en-US" dirty="0"/>
              <a:t>Firms divide customers into groups </a:t>
            </a:r>
            <a:br>
              <a:rPr lang="en-US" dirty="0"/>
            </a:br>
            <a:r>
              <a:rPr lang="en-US" dirty="0"/>
              <a:t>based on some observable trait </a:t>
            </a:r>
            <a:br>
              <a:rPr lang="en-US" dirty="0"/>
            </a:br>
            <a:r>
              <a:rPr lang="en-US" dirty="0"/>
              <a:t>that is likely related to willingness to pay (</a:t>
            </a:r>
            <a:r>
              <a:rPr lang="en-US" b="1" i="1" dirty="0"/>
              <a:t>WTP</a:t>
            </a:r>
            <a:r>
              <a:rPr lang="en-US" dirty="0"/>
              <a:t>), such as age</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27</a:t>
            </a:fld>
            <a:endParaRPr lang="en-US"/>
          </a:p>
        </p:txBody>
      </p:sp>
      <p:sp>
        <p:nvSpPr>
          <p:cNvPr id="5" name="Footer Placeholder 4">
            <a:extLst>
              <a:ext uri="{FF2B5EF4-FFF2-40B4-BE49-F238E27FC236}">
                <a16:creationId xmlns:a16="http://schemas.microsoft.com/office/drawing/2014/main" id="{18D763A9-9BE8-EC9C-9A6F-8A0713E35D39}"/>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73029446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3: </a:t>
            </a:r>
            <a:r>
              <a:rPr lang="en-US" dirty="0">
                <a:solidFill>
                  <a:schemeClr val="tx1"/>
                </a:solidFill>
              </a:rPr>
              <a:t>Price discrimination – 1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28</a:t>
            </a:fld>
            <a:endParaRPr lang="en-US"/>
          </a:p>
        </p:txBody>
      </p:sp>
      <p:sp>
        <p:nvSpPr>
          <p:cNvPr id="3" name="Content Placeholder 2"/>
          <p:cNvSpPr>
            <a:spLocks noGrp="1"/>
          </p:cNvSpPr>
          <p:nvPr>
            <p:ph idx="12"/>
          </p:nvPr>
        </p:nvSpPr>
        <p:spPr>
          <a:xfrm>
            <a:off x="76200" y="838200"/>
            <a:ext cx="6781800" cy="5715000"/>
          </a:xfrm>
          <a:prstGeom prst="rect">
            <a:avLst/>
          </a:prstGeom>
        </p:spPr>
        <p:txBody>
          <a:bodyPr>
            <a:normAutofit/>
          </a:bodyPr>
          <a:lstStyle/>
          <a:p>
            <a:pPr marL="514350" indent="-514350">
              <a:buClr>
                <a:srgbClr val="C00000"/>
              </a:buClr>
              <a:buFont typeface="+mj-lt"/>
              <a:buAutoNum type="alphaUcPeriod"/>
            </a:pPr>
            <a:r>
              <a:rPr lang="en-US" dirty="0"/>
              <a:t>Movie tickets </a:t>
            </a:r>
          </a:p>
          <a:p>
            <a:pPr lvl="1"/>
            <a:r>
              <a:rPr lang="en-US" dirty="0">
                <a:solidFill>
                  <a:srgbClr val="4E519E"/>
                </a:solidFill>
              </a:rPr>
              <a:t>Discounts for seniors, students, and people who can attend during weekday afternoons. </a:t>
            </a:r>
          </a:p>
          <a:p>
            <a:pPr lvl="1"/>
            <a:r>
              <a:rPr lang="en-US" dirty="0">
                <a:solidFill>
                  <a:srgbClr val="4E519E"/>
                </a:solidFill>
              </a:rPr>
              <a:t>Lower </a:t>
            </a:r>
            <a:r>
              <a:rPr lang="en-US" b="1" i="1" dirty="0">
                <a:solidFill>
                  <a:srgbClr val="4E519E"/>
                </a:solidFill>
              </a:rPr>
              <a:t>WTP</a:t>
            </a:r>
            <a:r>
              <a:rPr lang="en-US" dirty="0">
                <a:solidFill>
                  <a:srgbClr val="4E519E"/>
                </a:solidFill>
              </a:rPr>
              <a:t> than people who pay full price on Friday night</a:t>
            </a:r>
          </a:p>
          <a:p>
            <a:pPr marL="514350" indent="-514350">
              <a:buClr>
                <a:srgbClr val="C00000"/>
              </a:buClr>
              <a:buFont typeface="+mj-lt"/>
              <a:buAutoNum type="alphaUcPeriod"/>
            </a:pPr>
            <a:r>
              <a:rPr lang="en-US" dirty="0"/>
              <a:t>Airline prices </a:t>
            </a:r>
          </a:p>
          <a:p>
            <a:pPr lvl="1"/>
            <a:r>
              <a:rPr lang="en-US" dirty="0">
                <a:solidFill>
                  <a:srgbClr val="4E519E"/>
                </a:solidFill>
              </a:rPr>
              <a:t>Discounts for Saturday-night stayovers: business travelers (higher </a:t>
            </a:r>
            <a:r>
              <a:rPr lang="en-US" b="1" i="1" dirty="0">
                <a:solidFill>
                  <a:srgbClr val="4E519E"/>
                </a:solidFill>
              </a:rPr>
              <a:t>WTP</a:t>
            </a:r>
            <a:r>
              <a:rPr lang="en-US" dirty="0">
                <a:solidFill>
                  <a:srgbClr val="4E519E"/>
                </a:solidFill>
              </a:rPr>
              <a:t>) vs. more price-sensitive leisure travelers</a:t>
            </a:r>
          </a:p>
        </p:txBody>
      </p:sp>
      <p:pic>
        <p:nvPicPr>
          <p:cNvPr id="7" name="Picture 6" descr="One of them asks, Would it bother you to hear how little I paid for this flight?&#10;">
            <a:extLst>
              <a:ext uri="{FF2B5EF4-FFF2-40B4-BE49-F238E27FC236}">
                <a16:creationId xmlns:a16="http://schemas.microsoft.com/office/drawing/2014/main" id="{B10B1730-5EAF-B4D3-6147-1F79503FC367}"/>
              </a:ext>
            </a:extLst>
          </p:cNvPr>
          <p:cNvPicPr>
            <a:picLocks noChangeAspect="1"/>
          </p:cNvPicPr>
          <p:nvPr/>
        </p:nvPicPr>
        <p:blipFill>
          <a:blip r:embed="rId3"/>
          <a:stretch>
            <a:fillRect/>
          </a:stretch>
        </p:blipFill>
        <p:spPr>
          <a:xfrm>
            <a:off x="6697192" y="990600"/>
            <a:ext cx="2446808" cy="2263928"/>
          </a:xfrm>
          <a:prstGeom prst="rect">
            <a:avLst/>
          </a:prstGeom>
        </p:spPr>
      </p:pic>
      <p:sp>
        <p:nvSpPr>
          <p:cNvPr id="8" name="TextBox 7">
            <a:extLst>
              <a:ext uri="{FF2B5EF4-FFF2-40B4-BE49-F238E27FC236}">
                <a16:creationId xmlns:a16="http://schemas.microsoft.com/office/drawing/2014/main" id="{3C69DFF9-DE98-D8A0-6F73-430651FADDED}"/>
              </a:ext>
            </a:extLst>
          </p:cNvPr>
          <p:cNvSpPr txBox="1"/>
          <p:nvPr/>
        </p:nvSpPr>
        <p:spPr>
          <a:xfrm>
            <a:off x="6858000" y="3429000"/>
            <a:ext cx="2281238" cy="1569660"/>
          </a:xfrm>
          <a:prstGeom prst="rect">
            <a:avLst/>
          </a:prstGeom>
          <a:noFill/>
        </p:spPr>
        <p:txBody>
          <a:bodyPr wrap="square" rtlCol="0">
            <a:spAutoFit/>
          </a:bodyPr>
          <a:lstStyle/>
          <a:p>
            <a:r>
              <a:rPr lang="en-US" sz="2400" i="1" dirty="0">
                <a:solidFill>
                  <a:srgbClr val="4E519E"/>
                </a:solidFill>
                <a:latin typeface="Cambria" panose="02040503050406030204" pitchFamily="18" charset="0"/>
                <a:ea typeface="Cambria" panose="02040503050406030204" pitchFamily="18" charset="0"/>
                <a:cs typeface="Calibri" panose="020F0502020204030204" pitchFamily="34" charset="0"/>
              </a:rPr>
              <a:t>“Would it bother you to hear how little I paid for this flight?”</a:t>
            </a:r>
          </a:p>
        </p:txBody>
      </p:sp>
      <p:sp>
        <p:nvSpPr>
          <p:cNvPr id="9" name="Footer Placeholder 8">
            <a:extLst>
              <a:ext uri="{FF2B5EF4-FFF2-40B4-BE49-F238E27FC236}">
                <a16:creationId xmlns:a16="http://schemas.microsoft.com/office/drawing/2014/main" id="{75987132-DACE-8772-EA12-1E4671C825D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8137250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wipe(left)">
                                      <p:cBhvr>
                                        <p:cTn id="3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3: </a:t>
            </a:r>
            <a:r>
              <a:rPr lang="en-US" dirty="0">
                <a:solidFill>
                  <a:schemeClr val="tx1"/>
                </a:solidFill>
              </a:rPr>
              <a:t>Price discrimination – 2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29</a:t>
            </a:fld>
            <a:endParaRPr lang="en-US"/>
          </a:p>
        </p:txBody>
      </p:sp>
      <p:sp>
        <p:nvSpPr>
          <p:cNvPr id="3" name="Content Placeholder 2"/>
          <p:cNvSpPr>
            <a:spLocks noGrp="1"/>
          </p:cNvSpPr>
          <p:nvPr>
            <p:ph idx="12"/>
          </p:nvPr>
        </p:nvSpPr>
        <p:spPr>
          <a:xfrm>
            <a:off x="381000" y="838200"/>
            <a:ext cx="8518947" cy="5624512"/>
          </a:xfrm>
          <a:prstGeom prst="rect">
            <a:avLst/>
          </a:prstGeom>
        </p:spPr>
        <p:txBody>
          <a:bodyPr>
            <a:normAutofit/>
          </a:bodyPr>
          <a:lstStyle/>
          <a:p>
            <a:pPr marL="514350" indent="-514350">
              <a:buClr>
                <a:srgbClr val="C00000"/>
              </a:buClr>
              <a:buFont typeface="+mj-lt"/>
              <a:buAutoNum type="alphaUcPeriod" startAt="3"/>
            </a:pPr>
            <a:r>
              <a:rPr lang="en-US" dirty="0"/>
              <a:t>Discount opportunities</a:t>
            </a:r>
          </a:p>
          <a:p>
            <a:pPr lvl="1"/>
            <a:r>
              <a:rPr lang="en-US" dirty="0">
                <a:solidFill>
                  <a:srgbClr val="4E519E"/>
                </a:solidFill>
              </a:rPr>
              <a:t>Discount coupons; online savings on special days</a:t>
            </a:r>
          </a:p>
          <a:p>
            <a:pPr lvl="1"/>
            <a:r>
              <a:rPr lang="en-US" dirty="0">
                <a:solidFill>
                  <a:srgbClr val="4E519E"/>
                </a:solidFill>
              </a:rPr>
              <a:t>Separate customers: willingness to spend the time to seek discounts</a:t>
            </a:r>
          </a:p>
          <a:p>
            <a:pPr marL="0" indent="0">
              <a:buNone/>
            </a:pPr>
            <a:r>
              <a:rPr lang="en-US" dirty="0">
                <a:solidFill>
                  <a:srgbClr val="AE1221"/>
                </a:solidFill>
              </a:rPr>
              <a:t>D. </a:t>
            </a:r>
            <a:r>
              <a:rPr lang="en-US" dirty="0"/>
              <a:t>Financial aid based on family income</a:t>
            </a:r>
          </a:p>
          <a:p>
            <a:pPr lvl="1"/>
            <a:r>
              <a:rPr lang="en-US" dirty="0">
                <a:solidFill>
                  <a:srgbClr val="4E519E"/>
                </a:solidFill>
              </a:rPr>
              <a:t>Students from wealthy families: higher willingness to pay</a:t>
            </a:r>
          </a:p>
          <a:p>
            <a:pPr lvl="1"/>
            <a:r>
              <a:rPr lang="en-US" dirty="0">
                <a:solidFill>
                  <a:srgbClr val="4E519E"/>
                </a:solidFill>
              </a:rPr>
              <a:t>Charge high tuition and selectively offer financial aid</a:t>
            </a:r>
          </a:p>
        </p:txBody>
      </p:sp>
      <p:sp>
        <p:nvSpPr>
          <p:cNvPr id="5" name="Footer Placeholder 4">
            <a:extLst>
              <a:ext uri="{FF2B5EF4-FFF2-40B4-BE49-F238E27FC236}">
                <a16:creationId xmlns:a16="http://schemas.microsoft.com/office/drawing/2014/main" id="{C5340BC6-E93F-39D2-13B9-37E6DC6F404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320415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left)">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3: </a:t>
            </a:r>
            <a:r>
              <a:rPr lang="en-US" dirty="0">
                <a:solidFill>
                  <a:schemeClr val="tx1"/>
                </a:solidFill>
              </a:rPr>
              <a:t>Price discrimination – 3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30</a:t>
            </a:fld>
            <a:endParaRPr lang="en-US"/>
          </a:p>
        </p:txBody>
      </p:sp>
      <p:sp>
        <p:nvSpPr>
          <p:cNvPr id="3" name="Content Placeholder 2"/>
          <p:cNvSpPr>
            <a:spLocks noGrp="1"/>
          </p:cNvSpPr>
          <p:nvPr>
            <p:ph idx="12"/>
          </p:nvPr>
        </p:nvSpPr>
        <p:spPr>
          <a:xfrm>
            <a:off x="381000" y="914400"/>
            <a:ext cx="8518947" cy="5257800"/>
          </a:xfrm>
          <a:prstGeom prst="rect">
            <a:avLst/>
          </a:prstGeom>
        </p:spPr>
        <p:txBody>
          <a:bodyPr>
            <a:normAutofit/>
          </a:bodyPr>
          <a:lstStyle/>
          <a:p>
            <a:pPr marL="514350" indent="-514350">
              <a:buClr>
                <a:srgbClr val="C00000"/>
              </a:buClr>
              <a:buFont typeface="+mj-lt"/>
              <a:buAutoNum type="alphaUcPeriod" startAt="5"/>
            </a:pPr>
            <a:r>
              <a:rPr lang="en-US" sz="3200" dirty="0"/>
              <a:t>Quantity discounts </a:t>
            </a:r>
          </a:p>
          <a:p>
            <a:pPr lvl="1"/>
            <a:r>
              <a:rPr lang="en-US" dirty="0">
                <a:solidFill>
                  <a:srgbClr val="4E519E"/>
                </a:solidFill>
              </a:rPr>
              <a:t>A buyer’s WTP often declines with additional units, so firms charge less per unit for large quantities than small ones.  </a:t>
            </a:r>
          </a:p>
          <a:p>
            <a:pPr lvl="1"/>
            <a:r>
              <a:rPr lang="en-US" dirty="0">
                <a:solidFill>
                  <a:srgbClr val="4E519E"/>
                </a:solidFill>
              </a:rPr>
              <a:t>Example:  A movie theater charges $7 for </a:t>
            </a:r>
            <a:br>
              <a:rPr lang="en-US" dirty="0">
                <a:solidFill>
                  <a:srgbClr val="4E519E"/>
                </a:solidFill>
              </a:rPr>
            </a:br>
            <a:r>
              <a:rPr lang="en-US" dirty="0">
                <a:solidFill>
                  <a:srgbClr val="4E519E"/>
                </a:solidFill>
              </a:rPr>
              <a:t>a small popcorn and $9 for a large one that’s twice as big</a:t>
            </a:r>
          </a:p>
        </p:txBody>
      </p:sp>
      <p:sp>
        <p:nvSpPr>
          <p:cNvPr id="5" name="Footer Placeholder 4">
            <a:extLst>
              <a:ext uri="{FF2B5EF4-FFF2-40B4-BE49-F238E27FC236}">
                <a16:creationId xmlns:a16="http://schemas.microsoft.com/office/drawing/2014/main" id="{7D289FAB-1871-689F-D5FB-5260189A3D8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3720865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wrap="square" anchor="ctr"/>
          <a:lstStyle/>
          <a:p>
            <a:r>
              <a:rPr lang="en-US" altLang="en-US" dirty="0"/>
              <a:t>Public Policy Toward Monopolies – 1 </a:t>
            </a:r>
          </a:p>
        </p:txBody>
      </p:sp>
      <p:sp>
        <p:nvSpPr>
          <p:cNvPr id="43011" name="Content Placeholder 2"/>
          <p:cNvSpPr>
            <a:spLocks noGrp="1"/>
          </p:cNvSpPr>
          <p:nvPr>
            <p:ph idx="1"/>
          </p:nvPr>
        </p:nvSpPr>
        <p:spPr>
          <a:prstGeom prst="rect">
            <a:avLst/>
          </a:prstGeom>
        </p:spPr>
        <p:txBody>
          <a:bodyPr/>
          <a:lstStyle/>
          <a:p>
            <a:pPr marL="514350" indent="-514350">
              <a:buFont typeface="+mj-lt"/>
              <a:buAutoNum type="arabicPeriod"/>
            </a:pPr>
            <a:r>
              <a:rPr lang="en-US" altLang="en-US" dirty="0"/>
              <a:t>Increasing competition with antitrust laws</a:t>
            </a:r>
          </a:p>
          <a:p>
            <a:pPr lvl="1"/>
            <a:r>
              <a:rPr lang="en-US" altLang="en-US" dirty="0"/>
              <a:t>Sherman Antitrust Act, 1890</a:t>
            </a:r>
          </a:p>
          <a:p>
            <a:pPr lvl="1"/>
            <a:r>
              <a:rPr lang="en-US" altLang="en-US" dirty="0"/>
              <a:t>Clayton Antitrust Act, 1914</a:t>
            </a:r>
          </a:p>
          <a:p>
            <a:pPr lvl="1"/>
            <a:r>
              <a:rPr lang="en-US" altLang="en-US" dirty="0"/>
              <a:t>Prevent mergers</a:t>
            </a:r>
          </a:p>
          <a:p>
            <a:pPr lvl="1"/>
            <a:r>
              <a:rPr lang="en-US" altLang="en-US" dirty="0"/>
              <a:t>Break up companies</a:t>
            </a:r>
          </a:p>
          <a:p>
            <a:pPr lvl="1"/>
            <a:r>
              <a:rPr lang="en-US" altLang="en-US" dirty="0"/>
              <a:t>Prevent companies from coordinating their activities to make markets less competitive</a:t>
            </a:r>
          </a:p>
        </p:txBody>
      </p:sp>
      <p:sp>
        <p:nvSpPr>
          <p:cNvPr id="4301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69610338-9AA9-4A15-B5CB-3C818BFEA1AD}" type="slidenum">
              <a:rPr lang="en-US" altLang="en-US" sz="1200" smtClean="0">
                <a:solidFill>
                  <a:srgbClr val="002060"/>
                </a:solidFill>
              </a:rPr>
              <a:pPr eaLnBrk="1" hangingPunct="1"/>
              <a:t>31</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72B205A5-6167-DAFE-176A-AD43D880DFD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27992053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71FDAA-7DC3-4ACC-3A43-3E733EE2BF84}"/>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32</a:t>
            </a:fld>
            <a:endParaRPr lang="en-US" dirty="0"/>
          </a:p>
        </p:txBody>
      </p:sp>
      <p:sp>
        <p:nvSpPr>
          <p:cNvPr id="3" name="Text Placeholder 2">
            <a:extLst>
              <a:ext uri="{FF2B5EF4-FFF2-40B4-BE49-F238E27FC236}">
                <a16:creationId xmlns:a16="http://schemas.microsoft.com/office/drawing/2014/main" id="{B33B15A5-1D88-365B-CB4F-EF1323B07A8F}"/>
              </a:ext>
            </a:extLst>
          </p:cNvPr>
          <p:cNvSpPr>
            <a:spLocks noGrp="1"/>
          </p:cNvSpPr>
          <p:nvPr>
            <p:ph type="body" sz="quarter" idx="12"/>
          </p:nvPr>
        </p:nvSpPr>
        <p:spPr/>
        <p:txBody>
          <a:bodyPr/>
          <a:lstStyle/>
          <a:p>
            <a:r>
              <a:rPr lang="en-US" dirty="0"/>
              <a:t>Mergers and Competition</a:t>
            </a:r>
          </a:p>
        </p:txBody>
      </p:sp>
      <p:sp>
        <p:nvSpPr>
          <p:cNvPr id="4" name="Text Placeholder 3">
            <a:extLst>
              <a:ext uri="{FF2B5EF4-FFF2-40B4-BE49-F238E27FC236}">
                <a16:creationId xmlns:a16="http://schemas.microsoft.com/office/drawing/2014/main" id="{9C80E2B5-780B-5920-3B66-1BEB3480D847}"/>
              </a:ext>
            </a:extLst>
          </p:cNvPr>
          <p:cNvSpPr>
            <a:spLocks noGrp="1"/>
          </p:cNvSpPr>
          <p:nvPr>
            <p:ph type="body" sz="quarter" idx="14"/>
          </p:nvPr>
        </p:nvSpPr>
        <p:spPr>
          <a:xfrm>
            <a:off x="228600" y="1600200"/>
            <a:ext cx="8686800" cy="4724400"/>
          </a:xfrm>
        </p:spPr>
        <p:txBody>
          <a:bodyPr/>
          <a:lstStyle/>
          <a:p>
            <a:r>
              <a:rPr lang="en-US" dirty="0"/>
              <a:t>“If regulators had not approved mergers in the past decade between major networked airlines, travelers would be better off today.”</a:t>
            </a:r>
          </a:p>
        </p:txBody>
      </p:sp>
      <p:grpSp>
        <p:nvGrpSpPr>
          <p:cNvPr id="11" name="Group 10" descr="The data from the chart in percent are as follows. Agree: 29 percent. Disagree: 26 percent. Uncertain: 45 percent.&#10;">
            <a:extLst>
              <a:ext uri="{FF2B5EF4-FFF2-40B4-BE49-F238E27FC236}">
                <a16:creationId xmlns:a16="http://schemas.microsoft.com/office/drawing/2014/main" id="{AD656321-3624-8692-1083-74240E49D3ED}"/>
              </a:ext>
            </a:extLst>
          </p:cNvPr>
          <p:cNvGrpSpPr/>
          <p:nvPr/>
        </p:nvGrpSpPr>
        <p:grpSpPr>
          <a:xfrm>
            <a:off x="1676400" y="3200400"/>
            <a:ext cx="5791200" cy="3124200"/>
            <a:chOff x="1143000" y="2954458"/>
            <a:chExt cx="6306207" cy="3370142"/>
          </a:xfrm>
        </p:grpSpPr>
        <p:pic>
          <p:nvPicPr>
            <p:cNvPr id="8" name="Picture 7">
              <a:extLst>
                <a:ext uri="{FF2B5EF4-FFF2-40B4-BE49-F238E27FC236}">
                  <a16:creationId xmlns:a16="http://schemas.microsoft.com/office/drawing/2014/main" id="{BED2057D-D279-FB9F-515F-84A9786A323F}"/>
                </a:ext>
              </a:extLst>
            </p:cNvPr>
            <p:cNvPicPr>
              <a:picLocks noChangeAspect="1"/>
            </p:cNvPicPr>
            <p:nvPr/>
          </p:nvPicPr>
          <p:blipFill>
            <a:blip r:embed="rId3"/>
            <a:stretch>
              <a:fillRect/>
            </a:stretch>
          </p:blipFill>
          <p:spPr>
            <a:xfrm>
              <a:off x="1143000" y="2954458"/>
              <a:ext cx="6306207" cy="2989142"/>
            </a:xfrm>
            <a:prstGeom prst="rect">
              <a:avLst/>
            </a:prstGeom>
          </p:spPr>
        </p:pic>
        <p:pic>
          <p:nvPicPr>
            <p:cNvPr id="10" name="Picture 9">
              <a:extLst>
                <a:ext uri="{FF2B5EF4-FFF2-40B4-BE49-F238E27FC236}">
                  <a16:creationId xmlns:a16="http://schemas.microsoft.com/office/drawing/2014/main" id="{164455C6-BD3B-F214-522D-3F66BFEF9556}"/>
                </a:ext>
              </a:extLst>
            </p:cNvPr>
            <p:cNvPicPr>
              <a:picLocks noChangeAspect="1"/>
            </p:cNvPicPr>
            <p:nvPr/>
          </p:nvPicPr>
          <p:blipFill>
            <a:blip r:embed="rId4"/>
            <a:stretch>
              <a:fillRect/>
            </a:stretch>
          </p:blipFill>
          <p:spPr>
            <a:xfrm>
              <a:off x="1185041" y="5933615"/>
              <a:ext cx="6053959" cy="390985"/>
            </a:xfrm>
            <a:prstGeom prst="rect">
              <a:avLst/>
            </a:prstGeom>
          </p:spPr>
        </p:pic>
      </p:grpSp>
    </p:spTree>
    <p:extLst>
      <p:ext uri="{BB962C8B-B14F-4D97-AF65-F5344CB8AC3E}">
        <p14:creationId xmlns:p14="http://schemas.microsoft.com/office/powerpoint/2010/main" val="48712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wrap="square" anchor="ctr"/>
          <a:lstStyle/>
          <a:p>
            <a:r>
              <a:rPr lang="en-US" altLang="en-US" dirty="0"/>
              <a:t>Public Policy Toward Monopolies – 2 </a:t>
            </a:r>
          </a:p>
        </p:txBody>
      </p:sp>
      <p:sp>
        <p:nvSpPr>
          <p:cNvPr id="44035" name="Content Placeholder 2"/>
          <p:cNvSpPr>
            <a:spLocks noGrp="1"/>
          </p:cNvSpPr>
          <p:nvPr>
            <p:ph idx="1"/>
          </p:nvPr>
        </p:nvSpPr>
        <p:spPr>
          <a:prstGeom prst="rect">
            <a:avLst/>
          </a:prstGeom>
        </p:spPr>
        <p:txBody>
          <a:bodyPr/>
          <a:lstStyle/>
          <a:p>
            <a:pPr marL="514350" indent="-514350">
              <a:buFont typeface="+mj-lt"/>
              <a:buAutoNum type="arabicPeriod" startAt="2"/>
            </a:pPr>
            <a:r>
              <a:rPr lang="en-US" altLang="en-US" dirty="0"/>
              <a:t>Regulation </a:t>
            </a:r>
          </a:p>
          <a:p>
            <a:pPr lvl="1"/>
            <a:r>
              <a:rPr lang="en-US" altLang="en-US" dirty="0"/>
              <a:t>Set the monopolists’ price (common in case of natural monopolies)… but where?</a:t>
            </a:r>
          </a:p>
          <a:p>
            <a:pPr lvl="1"/>
            <a:r>
              <a:rPr lang="en-US" altLang="en-US" dirty="0"/>
              <a:t>If P is set at MC, but </a:t>
            </a:r>
            <a:r>
              <a:rPr lang="en-US" altLang="en-US" b="1" i="1" dirty="0"/>
              <a:t>MC</a:t>
            </a:r>
            <a:r>
              <a:rPr lang="en-US" altLang="en-US" dirty="0"/>
              <a:t> &lt; </a:t>
            </a:r>
            <a:r>
              <a:rPr lang="en-US" altLang="en-US" b="1" i="1" dirty="0"/>
              <a:t>ATC</a:t>
            </a:r>
            <a:r>
              <a:rPr lang="en-US" altLang="en-US" dirty="0"/>
              <a:t> at all </a:t>
            </a:r>
            <a:r>
              <a:rPr lang="en-US" altLang="en-US" b="1" i="1" dirty="0"/>
              <a:t>Q</a:t>
            </a:r>
          </a:p>
          <a:p>
            <a:pPr lvl="2"/>
            <a:r>
              <a:rPr lang="en-US" altLang="en-US" dirty="0"/>
              <a:t>Marginal-cost pricing would result in losses (and exits in the LR)</a:t>
            </a:r>
          </a:p>
          <a:p>
            <a:pPr lvl="2"/>
            <a:r>
              <a:rPr lang="en-US" altLang="en-US" dirty="0"/>
              <a:t>Regulator might subsidize the monopolist or set </a:t>
            </a:r>
            <a:r>
              <a:rPr lang="en-US" altLang="en-US" b="1" i="1" dirty="0"/>
              <a:t>P</a:t>
            </a:r>
            <a:r>
              <a:rPr lang="en-US" altLang="en-US" dirty="0"/>
              <a:t> = </a:t>
            </a:r>
            <a:r>
              <a:rPr lang="en-US" altLang="en-US" b="1" i="1" dirty="0"/>
              <a:t>ATC</a:t>
            </a:r>
            <a:r>
              <a:rPr lang="en-US" altLang="en-US" dirty="0"/>
              <a:t> for zero economic profit </a:t>
            </a:r>
          </a:p>
          <a:p>
            <a:pPr lvl="2"/>
            <a:r>
              <a:rPr lang="en-US" altLang="en-US" dirty="0"/>
              <a:t>Problem: no incentive to reduce costs</a:t>
            </a:r>
          </a:p>
          <a:p>
            <a:pPr lvl="1"/>
            <a:endParaRPr lang="en-US" altLang="en-US" dirty="0"/>
          </a:p>
        </p:txBody>
      </p:sp>
      <p:sp>
        <p:nvSpPr>
          <p:cNvPr id="44037"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4F97D0BB-C857-4D09-BC13-4D2351B119F3}" type="slidenum">
              <a:rPr lang="en-US" altLang="en-US" sz="1200" smtClean="0">
                <a:solidFill>
                  <a:srgbClr val="002060"/>
                </a:solidFill>
              </a:rPr>
              <a:pPr eaLnBrk="1" hangingPunct="1"/>
              <a:t>33</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25269332-8F35-A82D-B5E4-00C005C91FAD}"/>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28266581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wrap="square" anchor="ctr"/>
          <a:lstStyle/>
          <a:p>
            <a:r>
              <a:rPr lang="en-US" altLang="en-US" dirty="0"/>
              <a:t>Public Policy Toward Monopolies – 3 </a:t>
            </a:r>
          </a:p>
        </p:txBody>
      </p:sp>
      <p:sp>
        <p:nvSpPr>
          <p:cNvPr id="46083" name="Content Placeholder 2"/>
          <p:cNvSpPr>
            <a:spLocks noGrp="1"/>
          </p:cNvSpPr>
          <p:nvPr>
            <p:ph idx="1"/>
          </p:nvPr>
        </p:nvSpPr>
        <p:spPr>
          <a:prstGeom prst="rect">
            <a:avLst/>
          </a:prstGeom>
        </p:spPr>
        <p:txBody>
          <a:bodyPr/>
          <a:lstStyle/>
          <a:p>
            <a:pPr marL="514350" indent="-514350">
              <a:buFont typeface="+mj-lt"/>
              <a:buAutoNum type="arabicPeriod" startAt="3"/>
            </a:pPr>
            <a:r>
              <a:rPr lang="en-US" altLang="en-US" dirty="0"/>
              <a:t>Public ownership: a government unit can run the monopoly itself</a:t>
            </a:r>
          </a:p>
          <a:p>
            <a:pPr lvl="1"/>
            <a:r>
              <a:rPr lang="en-US" altLang="en-US" dirty="0"/>
              <a:t>If it does a bad job, losers are the customers and taxpayers</a:t>
            </a:r>
          </a:p>
          <a:p>
            <a:pPr lvl="1"/>
            <a:r>
              <a:rPr lang="en-US" altLang="en-US" dirty="0"/>
              <a:t>Public ownership is usually less efficient since there is no profit incentive to minimize costs</a:t>
            </a:r>
          </a:p>
        </p:txBody>
      </p:sp>
      <p:sp>
        <p:nvSpPr>
          <p:cNvPr id="4608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BE2D1E58-C641-47E0-A19B-C8C3F435E6B2}" type="slidenum">
              <a:rPr lang="en-US" altLang="en-US" sz="1200" smtClean="0">
                <a:solidFill>
                  <a:srgbClr val="002060"/>
                </a:solidFill>
              </a:rPr>
              <a:pPr eaLnBrk="1" hangingPunct="1"/>
              <a:t>34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8BC04DD4-9A69-93C5-2AD1-831A33F3F3F6}"/>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9568438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wrap="square" anchor="ctr"/>
          <a:lstStyle/>
          <a:p>
            <a:r>
              <a:rPr lang="en-US" altLang="en-US" dirty="0"/>
              <a:t>Public Policy Toward Monopolies – 4 </a:t>
            </a:r>
          </a:p>
        </p:txBody>
      </p:sp>
      <p:sp>
        <p:nvSpPr>
          <p:cNvPr id="46083" name="Content Placeholder 2"/>
          <p:cNvSpPr>
            <a:spLocks noGrp="1"/>
          </p:cNvSpPr>
          <p:nvPr>
            <p:ph idx="1"/>
          </p:nvPr>
        </p:nvSpPr>
        <p:spPr>
          <a:prstGeom prst="rect">
            <a:avLst/>
          </a:prstGeom>
        </p:spPr>
        <p:txBody>
          <a:bodyPr/>
          <a:lstStyle/>
          <a:p>
            <a:pPr marL="514350" indent="-514350">
              <a:buFont typeface="+mj-lt"/>
              <a:buAutoNum type="arabicPeriod" startAt="4"/>
            </a:pPr>
            <a:r>
              <a:rPr lang="en-US" altLang="en-US" dirty="0"/>
              <a:t>Above all, do no harm</a:t>
            </a:r>
          </a:p>
          <a:p>
            <a:pPr lvl="1"/>
            <a:r>
              <a:rPr lang="en-US" altLang="en-US" dirty="0"/>
              <a:t>Some economists argue that the government should be careful not to make matters worse when dealing with monopoly pricing</a:t>
            </a:r>
          </a:p>
          <a:p>
            <a:pPr lvl="1"/>
            <a:r>
              <a:rPr lang="en-US" altLang="en-US" dirty="0"/>
              <a:t>Determining the proper role of the government in the economy requires judgments about politics as well as economics</a:t>
            </a:r>
          </a:p>
        </p:txBody>
      </p:sp>
      <p:sp>
        <p:nvSpPr>
          <p:cNvPr id="4608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BE2D1E58-C641-47E0-A19B-C8C3F435E6B2}" type="slidenum">
              <a:rPr lang="en-US" altLang="en-US" sz="1200" smtClean="0">
                <a:solidFill>
                  <a:srgbClr val="002060"/>
                </a:solidFill>
              </a:rPr>
              <a:pPr eaLnBrk="1" hangingPunct="1"/>
              <a:t>35</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7332A77F-7F08-26F2-F40C-2B0C6E9B7949}"/>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26924385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Prevalence of Monopolies</a:t>
            </a:r>
          </a:p>
        </p:txBody>
      </p:sp>
      <p:sp>
        <p:nvSpPr>
          <p:cNvPr id="3" name="Content Placeholder 2"/>
          <p:cNvSpPr>
            <a:spLocks noGrp="1"/>
          </p:cNvSpPr>
          <p:nvPr>
            <p:ph idx="1"/>
          </p:nvPr>
        </p:nvSpPr>
        <p:spPr>
          <a:prstGeom prst="rect">
            <a:avLst/>
          </a:prstGeom>
        </p:spPr>
        <p:txBody>
          <a:bodyPr/>
          <a:lstStyle/>
          <a:p>
            <a:r>
              <a:rPr lang="en-US" dirty="0"/>
              <a:t>Pure monopoly – rare in the real world </a:t>
            </a:r>
          </a:p>
          <a:p>
            <a:r>
              <a:rPr lang="en-US" dirty="0"/>
              <a:t>Many firms have market power, due to: </a:t>
            </a:r>
          </a:p>
          <a:p>
            <a:pPr lvl="1"/>
            <a:r>
              <a:rPr lang="en-US" dirty="0"/>
              <a:t>Selling a unique variety of a product</a:t>
            </a:r>
          </a:p>
          <a:p>
            <a:pPr lvl="1"/>
            <a:r>
              <a:rPr lang="en-US" dirty="0"/>
              <a:t>Having a large market share and few significant competitors</a:t>
            </a:r>
          </a:p>
          <a:p>
            <a:r>
              <a:rPr lang="en-US" dirty="0"/>
              <a:t>In many such cases, most of the results from this chapter apply, including:</a:t>
            </a:r>
          </a:p>
          <a:p>
            <a:pPr lvl="1"/>
            <a:r>
              <a:rPr lang="en-US" dirty="0"/>
              <a:t>Markup of price over marginal cost</a:t>
            </a:r>
          </a:p>
          <a:p>
            <a:pPr lvl="1"/>
            <a:r>
              <a:rPr lang="en-US" dirty="0"/>
              <a:t>Deadweight loss</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36</a:t>
            </a:fld>
            <a:endParaRPr lang="en-US"/>
          </a:p>
        </p:txBody>
      </p:sp>
      <p:sp>
        <p:nvSpPr>
          <p:cNvPr id="5" name="Footer Placeholder 4">
            <a:extLst>
              <a:ext uri="{FF2B5EF4-FFF2-40B4-BE49-F238E27FC236}">
                <a16:creationId xmlns:a16="http://schemas.microsoft.com/office/drawing/2014/main" id="{3E7A44EB-527F-86F9-5A7F-EDB3B410F80E}"/>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50770573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Competition versus Monopoly</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37</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36327385"/>
              </p:ext>
            </p:extLst>
          </p:nvPr>
        </p:nvGraphicFramePr>
        <p:xfrm>
          <a:off x="303689" y="944880"/>
          <a:ext cx="8536623" cy="5455920"/>
        </p:xfrm>
        <a:graphic>
          <a:graphicData uri="http://schemas.openxmlformats.org/drawingml/2006/table">
            <a:tbl>
              <a:tblPr firstRow="1" bandRow="1">
                <a:tableStyleId>{5C22544A-7EE6-4342-B048-85BDC9FD1C3A}</a:tableStyleId>
              </a:tblPr>
              <a:tblGrid>
                <a:gridCol w="4039711">
                  <a:extLst>
                    <a:ext uri="{9D8B030D-6E8A-4147-A177-3AD203B41FA5}">
                      <a16:colId xmlns:a16="http://schemas.microsoft.com/office/drawing/2014/main" val="20000"/>
                    </a:ext>
                  </a:extLst>
                </a:gridCol>
                <a:gridCol w="2361089">
                  <a:extLst>
                    <a:ext uri="{9D8B030D-6E8A-4147-A177-3AD203B41FA5}">
                      <a16:colId xmlns:a16="http://schemas.microsoft.com/office/drawing/2014/main" val="20001"/>
                    </a:ext>
                  </a:extLst>
                </a:gridCol>
                <a:gridCol w="2135823">
                  <a:extLst>
                    <a:ext uri="{9D8B030D-6E8A-4147-A177-3AD203B41FA5}">
                      <a16:colId xmlns:a16="http://schemas.microsoft.com/office/drawing/2014/main" val="20002"/>
                    </a:ext>
                  </a:extLst>
                </a:gridCol>
              </a:tblGrid>
              <a:tr h="370840">
                <a:tc>
                  <a:txBody>
                    <a:bodyPr/>
                    <a:lstStyle/>
                    <a:p>
                      <a:endParaRPr lang="en-US" sz="20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b="1" i="0" u="none" strike="noStrike" kern="1200" baseline="0" dirty="0">
                          <a:solidFill>
                            <a:schemeClr val="tx1"/>
                          </a:solidFill>
                          <a:latin typeface="+mn-lt"/>
                          <a:ea typeface="+mn-ea"/>
                          <a:cs typeface="+mn-cs"/>
                        </a:rPr>
                        <a:t>Competition</a:t>
                      </a:r>
                      <a:endParaRPr lang="en-US" sz="20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b="1" i="0" u="none" strike="noStrike" kern="1200" baseline="0" dirty="0">
                          <a:solidFill>
                            <a:schemeClr val="tx1"/>
                          </a:solidFill>
                          <a:latin typeface="+mn-lt"/>
                          <a:ea typeface="+mn-ea"/>
                          <a:cs typeface="+mn-cs"/>
                        </a:rPr>
                        <a:t>Monopoly</a:t>
                      </a:r>
                      <a:endParaRPr lang="en-US" sz="20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370840">
                <a:tc>
                  <a:txBody>
                    <a:bodyPr/>
                    <a:lstStyle/>
                    <a:p>
                      <a:r>
                        <a:rPr lang="en-US" sz="2000" b="1" i="0" dirty="0">
                          <a:solidFill>
                            <a:schemeClr val="tx1"/>
                          </a:solidFill>
                        </a:rPr>
                        <a:t>Similarities</a:t>
                      </a:r>
                      <a:r>
                        <a:rPr lang="en-US" sz="2000" i="1" dirty="0">
                          <a:solidFill>
                            <a:schemeClr val="tx1"/>
                          </a:solidFill>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i="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i="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r>
                        <a:rPr lang="en-US" sz="2000" b="0" i="0" u="none" strike="noStrike" kern="1200" baseline="0" dirty="0">
                          <a:solidFill>
                            <a:schemeClr val="dk1"/>
                          </a:solidFill>
                          <a:latin typeface="+mn-lt"/>
                          <a:ea typeface="+mn-ea"/>
                          <a:cs typeface="+mn-cs"/>
                        </a:rPr>
                        <a:t>Goal of firms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b="0" i="0" u="none" strike="noStrike" kern="1200" baseline="0" dirty="0">
                          <a:solidFill>
                            <a:schemeClr val="dk1"/>
                          </a:solidFill>
                          <a:latin typeface="+mn-lt"/>
                          <a:ea typeface="+mn-ea"/>
                          <a:cs typeface="+mn-cs"/>
                        </a:rPr>
                        <a:t>Maximize profits </a:t>
                      </a:r>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b="0" i="0" u="none" strike="noStrike" kern="1200" baseline="0" dirty="0">
                          <a:solidFill>
                            <a:schemeClr val="dk1"/>
                          </a:solidFill>
                          <a:latin typeface="+mn-lt"/>
                          <a:ea typeface="+mn-ea"/>
                          <a:cs typeface="+mn-cs"/>
                        </a:rPr>
                        <a:t>Maximize profits </a:t>
                      </a:r>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370840">
                <a:tc>
                  <a:txBody>
                    <a:bodyPr/>
                    <a:lstStyle/>
                    <a:p>
                      <a:r>
                        <a:rPr lang="en-US" sz="2000" b="0" i="0" u="none" strike="noStrike" kern="1200" baseline="0" dirty="0">
                          <a:solidFill>
                            <a:schemeClr val="dk1"/>
                          </a:solidFill>
                          <a:latin typeface="+mn-lt"/>
                          <a:ea typeface="+mn-ea"/>
                          <a:cs typeface="+mn-cs"/>
                        </a:rPr>
                        <a:t>Rule for maximizing </a:t>
                      </a:r>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tx1"/>
                          </a:solidFill>
                        </a:rPr>
                        <a:t>MR = MC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tx1"/>
                          </a:solidFill>
                        </a:rPr>
                        <a:t>MR = MC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r>
                        <a:rPr lang="en-US" sz="2000" b="0" i="0" u="none" strike="noStrike" kern="1200" baseline="0" dirty="0">
                          <a:solidFill>
                            <a:schemeClr val="dk1"/>
                          </a:solidFill>
                          <a:latin typeface="+mn-lt"/>
                          <a:ea typeface="+mn-ea"/>
                          <a:cs typeface="+mn-cs"/>
                        </a:rPr>
                        <a:t>Can earn economic profits in SR?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dirty="0">
                          <a:solidFill>
                            <a:schemeClr val="tx1"/>
                          </a:solidFill>
                        </a:rPr>
                        <a:t>Yes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dirty="0">
                          <a:solidFill>
                            <a:schemeClr val="tx1"/>
                          </a:solidFill>
                        </a:rPr>
                        <a:t>Yes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i="0" u="none" strike="noStrike" kern="1200" baseline="0" dirty="0">
                          <a:solidFill>
                            <a:schemeClr val="dk1"/>
                          </a:solidFill>
                          <a:latin typeface="+mn-lt"/>
                          <a:ea typeface="+mn-ea"/>
                          <a:cs typeface="+mn-cs"/>
                        </a:rPr>
                        <a:t>Differences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i="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i="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r>
                        <a:rPr lang="en-US" sz="2000" b="0" i="0" u="none" strike="noStrike" kern="1200" baseline="0" dirty="0">
                          <a:solidFill>
                            <a:schemeClr val="dk1"/>
                          </a:solidFill>
                          <a:latin typeface="+mn-lt"/>
                          <a:ea typeface="+mn-ea"/>
                          <a:cs typeface="+mn-cs"/>
                        </a:rPr>
                        <a:t>Number of firms </a:t>
                      </a:r>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dirty="0">
                          <a:solidFill>
                            <a:schemeClr val="tx1"/>
                          </a:solidFill>
                        </a:rPr>
                        <a:t>Many</a:t>
                      </a:r>
                      <a:r>
                        <a:rPr lang="en-US" sz="2000" baseline="0" dirty="0">
                          <a:solidFill>
                            <a:schemeClr val="tx1"/>
                          </a:solidFill>
                        </a:rPr>
                        <a:t> </a:t>
                      </a:r>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dirty="0">
                          <a:solidFill>
                            <a:schemeClr val="tx1"/>
                          </a:solidFill>
                        </a:rPr>
                        <a:t>One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6"/>
                  </a:ext>
                </a:extLst>
              </a:tr>
              <a:tr h="370840">
                <a:tc>
                  <a:txBody>
                    <a:bodyPr/>
                    <a:lstStyle/>
                    <a:p>
                      <a:r>
                        <a:rPr lang="en-US" sz="2000" dirty="0">
                          <a:solidFill>
                            <a:schemeClr val="tx1"/>
                          </a:solidFill>
                        </a:rPr>
                        <a:t>Marginal revenue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tx1"/>
                          </a:solidFill>
                        </a:rPr>
                        <a:t>MR = 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tx1"/>
                          </a:solidFill>
                        </a:rPr>
                        <a:t>MR &lt; 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70840">
                <a:tc>
                  <a:txBody>
                    <a:bodyPr/>
                    <a:lstStyle/>
                    <a:p>
                      <a:r>
                        <a:rPr lang="en-US" sz="2000" dirty="0">
                          <a:solidFill>
                            <a:schemeClr val="tx1"/>
                          </a:solidFill>
                        </a:rPr>
                        <a:t>Price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dirty="0">
                          <a:solidFill>
                            <a:schemeClr val="tx1"/>
                          </a:solidFill>
                        </a:rPr>
                        <a:t>P = MC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dirty="0">
                          <a:solidFill>
                            <a:schemeClr val="tx1"/>
                          </a:solidFill>
                        </a:rPr>
                        <a:t>P &gt; MC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8"/>
                  </a:ext>
                </a:extLst>
              </a:tr>
              <a:tr h="370840">
                <a:tc>
                  <a:txBody>
                    <a:bodyPr/>
                    <a:lstStyle/>
                    <a:p>
                      <a:r>
                        <a:rPr lang="en-US" sz="2000" b="0" i="0" u="none" strike="noStrike" kern="1200" baseline="0" dirty="0">
                          <a:solidFill>
                            <a:schemeClr val="dk1"/>
                          </a:solidFill>
                          <a:latin typeface="+mn-lt"/>
                          <a:ea typeface="+mn-ea"/>
                          <a:cs typeface="+mn-cs"/>
                        </a:rPr>
                        <a:t>Produces welfare-maximizing level of output?</a:t>
                      </a:r>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tx1"/>
                          </a:solidFill>
                        </a:rPr>
                        <a:t>Yes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tx1"/>
                          </a:solidFill>
                        </a:rPr>
                        <a:t>No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i="0" u="none" strike="noStrike" kern="1200" baseline="0" dirty="0">
                          <a:solidFill>
                            <a:schemeClr val="dk1"/>
                          </a:solidFill>
                          <a:latin typeface="+mn-lt"/>
                          <a:ea typeface="+mn-ea"/>
                          <a:cs typeface="+mn-cs"/>
                        </a:rPr>
                        <a:t>Entry in the LR?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dirty="0">
                          <a:solidFill>
                            <a:schemeClr val="tx1"/>
                          </a:solidFill>
                        </a:rPr>
                        <a:t>Yes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dirty="0">
                          <a:solidFill>
                            <a:schemeClr val="tx1"/>
                          </a:solidFill>
                        </a:rPr>
                        <a:t>No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10"/>
                  </a:ext>
                </a:extLst>
              </a:tr>
              <a:tr h="370840">
                <a:tc>
                  <a:txBody>
                    <a:bodyPr/>
                    <a:lstStyle/>
                    <a:p>
                      <a:r>
                        <a:rPr lang="en-US" sz="2000" b="0" i="0" u="none" strike="noStrike" kern="1200" baseline="0" dirty="0">
                          <a:solidFill>
                            <a:schemeClr val="dk1"/>
                          </a:solidFill>
                          <a:latin typeface="+mn-lt"/>
                          <a:ea typeface="+mn-ea"/>
                          <a:cs typeface="+mn-cs"/>
                        </a:rPr>
                        <a:t>Can earn economic profits in LR?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tx1"/>
                          </a:solidFill>
                        </a:rPr>
                        <a:t>No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chemeClr val="tx1"/>
                          </a:solidFill>
                        </a:rPr>
                        <a:t>Yes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370840">
                <a:tc>
                  <a:txBody>
                    <a:bodyPr/>
                    <a:lstStyle/>
                    <a:p>
                      <a:r>
                        <a:rPr lang="en-US" sz="2000" b="0" i="0" u="none" strike="noStrike" kern="1200" baseline="0" dirty="0">
                          <a:solidFill>
                            <a:schemeClr val="dk1"/>
                          </a:solidFill>
                          <a:latin typeface="+mn-lt"/>
                          <a:ea typeface="+mn-ea"/>
                          <a:cs typeface="+mn-cs"/>
                        </a:rPr>
                        <a:t>Price discrimination possible?</a:t>
                      </a:r>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dirty="0">
                          <a:solidFill>
                            <a:schemeClr val="tx1"/>
                          </a:solidFill>
                        </a:rPr>
                        <a:t>No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000" dirty="0">
                          <a:solidFill>
                            <a:schemeClr val="tx1"/>
                          </a:solidFill>
                        </a:rPr>
                        <a:t>Yes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12"/>
                  </a:ext>
                </a:extLst>
              </a:tr>
            </a:tbl>
          </a:graphicData>
        </a:graphic>
      </p:graphicFrame>
      <p:sp>
        <p:nvSpPr>
          <p:cNvPr id="3" name="Footer Placeholder 2">
            <a:extLst>
              <a:ext uri="{FF2B5EF4-FFF2-40B4-BE49-F238E27FC236}">
                <a16:creationId xmlns:a16="http://schemas.microsoft.com/office/drawing/2014/main" id="{8872A4A7-53E9-7F1B-6F0A-2894DD81F946}"/>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3539819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71FDAA-7DC3-4ACC-3A43-3E733EE2BF84}"/>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38</a:t>
            </a:fld>
            <a:endParaRPr lang="en-US" dirty="0"/>
          </a:p>
        </p:txBody>
      </p:sp>
      <p:sp>
        <p:nvSpPr>
          <p:cNvPr id="3" name="Text Placeholder 2">
            <a:extLst>
              <a:ext uri="{FF2B5EF4-FFF2-40B4-BE49-F238E27FC236}">
                <a16:creationId xmlns:a16="http://schemas.microsoft.com/office/drawing/2014/main" id="{B33B15A5-1D88-365B-CB4F-EF1323B07A8F}"/>
              </a:ext>
            </a:extLst>
          </p:cNvPr>
          <p:cNvSpPr>
            <a:spLocks noGrp="1"/>
          </p:cNvSpPr>
          <p:nvPr>
            <p:ph type="body" sz="quarter" idx="12"/>
          </p:nvPr>
        </p:nvSpPr>
        <p:spPr/>
        <p:txBody>
          <a:bodyPr/>
          <a:lstStyle/>
          <a:p>
            <a:r>
              <a:rPr lang="en-US" dirty="0"/>
              <a:t>Mergers and Competition</a:t>
            </a:r>
          </a:p>
        </p:txBody>
      </p:sp>
      <p:sp>
        <p:nvSpPr>
          <p:cNvPr id="4" name="Text Placeholder 3">
            <a:extLst>
              <a:ext uri="{FF2B5EF4-FFF2-40B4-BE49-F238E27FC236}">
                <a16:creationId xmlns:a16="http://schemas.microsoft.com/office/drawing/2014/main" id="{9C80E2B5-780B-5920-3B66-1BEB3480D847}"/>
              </a:ext>
            </a:extLst>
          </p:cNvPr>
          <p:cNvSpPr>
            <a:spLocks noGrp="1"/>
          </p:cNvSpPr>
          <p:nvPr>
            <p:ph type="body" sz="quarter" idx="14"/>
          </p:nvPr>
        </p:nvSpPr>
        <p:spPr>
          <a:xfrm>
            <a:off x="228600" y="1600200"/>
            <a:ext cx="8686800" cy="4648200"/>
          </a:xfrm>
        </p:spPr>
        <p:txBody>
          <a:bodyPr/>
          <a:lstStyle/>
          <a:p>
            <a:r>
              <a:rPr lang="en-US" dirty="0"/>
              <a:t>“Americans pay too much for broadband, cable television, and telecommunications services, in part because of a lack of adequate competition.”</a:t>
            </a:r>
          </a:p>
        </p:txBody>
      </p:sp>
      <p:pic>
        <p:nvPicPr>
          <p:cNvPr id="6" name="Picture 5" descr="The data from the chart in percent are as follows. Agree: 91 percent. Disagree: 2 percent. Uncertain: 7 percent.&#10;">
            <a:extLst>
              <a:ext uri="{FF2B5EF4-FFF2-40B4-BE49-F238E27FC236}">
                <a16:creationId xmlns:a16="http://schemas.microsoft.com/office/drawing/2014/main" id="{EB8B0705-D117-A586-05BB-9628223369BB}"/>
              </a:ext>
            </a:extLst>
          </p:cNvPr>
          <p:cNvPicPr>
            <a:picLocks noChangeAspect="1"/>
          </p:cNvPicPr>
          <p:nvPr/>
        </p:nvPicPr>
        <p:blipFill>
          <a:blip r:embed="rId3"/>
          <a:stretch>
            <a:fillRect/>
          </a:stretch>
        </p:blipFill>
        <p:spPr>
          <a:xfrm>
            <a:off x="1636986" y="3177924"/>
            <a:ext cx="5870027" cy="3070476"/>
          </a:xfrm>
          <a:prstGeom prst="rect">
            <a:avLst/>
          </a:prstGeom>
        </p:spPr>
      </p:pic>
    </p:spTree>
    <p:extLst>
      <p:ext uri="{BB962C8B-B14F-4D97-AF65-F5344CB8AC3E}">
        <p14:creationId xmlns:p14="http://schemas.microsoft.com/office/powerpoint/2010/main" val="3826982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a:t>
            </a:r>
            <a:endParaRPr lang="en-US" dirty="0"/>
          </a:p>
        </p:txBody>
      </p:sp>
      <p:sp>
        <p:nvSpPr>
          <p:cNvPr id="6" name="Content Placeholder 5"/>
          <p:cNvSpPr>
            <a:spLocks noGrp="1"/>
          </p:cNvSpPr>
          <p:nvPr>
            <p:ph idx="1"/>
          </p:nvPr>
        </p:nvSpPr>
        <p:spPr>
          <a:xfrm>
            <a:off x="228600" y="688622"/>
            <a:ext cx="8763000" cy="5788378"/>
          </a:xfrm>
        </p:spPr>
        <p:txBody>
          <a:bodyPr/>
          <a:lstStyle/>
          <a:p>
            <a:pPr marL="0" indent="0">
              <a:buNone/>
            </a:pPr>
            <a:r>
              <a:rPr lang="en-US" sz="2900" dirty="0"/>
              <a:t>	A consumer advocate is discussing the airline industry on the news. He says, “There are so many rates offered by airlines that it is technically possible for a 747 to be carrying a full load of passengers where no two of them paid the same price for their tickets. This is clearly unfair and inefficient.” He continues, “In addition, the profits of the airlines have doubled in the last few years since they began this practice, and these additional profits are clearly a social burden. We need legislation that requires airlines to charge all passengers on an airplane the same price for their travel.”</a:t>
            </a:r>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39</a:t>
            </a:fld>
            <a:endParaRPr lang="en-US" dirty="0"/>
          </a:p>
        </p:txBody>
      </p:sp>
    </p:spTree>
    <p:extLst>
      <p:ext uri="{BB962C8B-B14F-4D97-AF65-F5344CB8AC3E}">
        <p14:creationId xmlns:p14="http://schemas.microsoft.com/office/powerpoint/2010/main" val="6092219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a:t>
            </a:r>
            <a:endParaRPr lang="en-US" dirty="0"/>
          </a:p>
        </p:txBody>
      </p:sp>
      <p:sp>
        <p:nvSpPr>
          <p:cNvPr id="6" name="Content Placeholder 5"/>
          <p:cNvSpPr>
            <a:spLocks noGrp="1"/>
          </p:cNvSpPr>
          <p:nvPr>
            <p:ph idx="1"/>
          </p:nvPr>
        </p:nvSpPr>
        <p:spPr>
          <a:xfrm>
            <a:off x="228600" y="990600"/>
            <a:ext cx="8763000" cy="5486400"/>
          </a:xfrm>
        </p:spPr>
        <p:txBody>
          <a:bodyPr/>
          <a:lstStyle/>
          <a:p>
            <a:pPr marL="514350" indent="-514350">
              <a:buClr>
                <a:srgbClr val="AE1221"/>
              </a:buClr>
              <a:buFont typeface="+mj-lt"/>
              <a:buAutoNum type="alphaUcPeriod"/>
            </a:pPr>
            <a:r>
              <a:rPr lang="en-US" sz="3200" dirty="0">
                <a:solidFill>
                  <a:schemeClr val="tx1"/>
                </a:solidFill>
              </a:rPr>
              <a:t>List some of the ways airlines divide their customers according to their willingness to pay.</a:t>
            </a:r>
          </a:p>
          <a:p>
            <a:pPr marL="514350" indent="-514350">
              <a:buClr>
                <a:srgbClr val="AE1221"/>
              </a:buClr>
              <a:buFont typeface="+mj-lt"/>
              <a:buAutoNum type="alphaUcPeriod"/>
            </a:pPr>
            <a:r>
              <a:rPr lang="en-US" sz="3200" dirty="0">
                <a:solidFill>
                  <a:schemeClr val="tx1"/>
                </a:solidFill>
              </a:rPr>
              <a:t>Is it necessarily inefficient for airlines to charge different prices to different customers? Why or why not?</a:t>
            </a:r>
          </a:p>
          <a:p>
            <a:pPr marL="514350" indent="-514350">
              <a:buClr>
                <a:srgbClr val="AE1221"/>
              </a:buClr>
              <a:buFont typeface="+mj-lt"/>
              <a:buAutoNum type="alphaUcPeriod"/>
            </a:pPr>
            <a:r>
              <a:rPr lang="en-US" sz="3200" dirty="0">
                <a:solidFill>
                  <a:schemeClr val="tx1"/>
                </a:solidFill>
              </a:rPr>
              <a:t>Is the increase in profits generated by this type of price discrimination a social cost? Explain.</a:t>
            </a:r>
          </a:p>
          <a:p>
            <a:pPr marL="0" indent="0">
              <a:buNone/>
            </a:pPr>
            <a:endParaRPr lang="en-US" sz="3200" dirty="0"/>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40</a:t>
            </a:fld>
            <a:endParaRPr lang="en-US" dirty="0"/>
          </a:p>
        </p:txBody>
      </p:sp>
    </p:spTree>
    <p:extLst>
      <p:ext uri="{BB962C8B-B14F-4D97-AF65-F5344CB8AC3E}">
        <p14:creationId xmlns:p14="http://schemas.microsoft.com/office/powerpoint/2010/main" val="6263559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Monopoly</a:t>
            </a:r>
            <a:r>
              <a:rPr lang="en-US" sz="2800" dirty="0"/>
              <a:t>: the sole seller in its market.</a:t>
            </a:r>
          </a:p>
          <a:p>
            <a:r>
              <a:rPr lang="en-US" sz="2800" dirty="0"/>
              <a:t>Monopoly arises when: </a:t>
            </a:r>
          </a:p>
          <a:p>
            <a:pPr lvl="1"/>
            <a:r>
              <a:rPr lang="en-US" sz="2800" dirty="0"/>
              <a:t>A single firm owns a key resource</a:t>
            </a:r>
          </a:p>
          <a:p>
            <a:pPr lvl="1"/>
            <a:r>
              <a:rPr lang="en-US" sz="2800" dirty="0"/>
              <a:t>The government gives a firm the exclusive right to produce a good</a:t>
            </a:r>
          </a:p>
          <a:p>
            <a:pPr lvl="1"/>
            <a:r>
              <a:rPr lang="en-US" sz="2800" dirty="0"/>
              <a:t>A single firm can supply the entire market at a lower cost than many firms could.</a:t>
            </a:r>
          </a:p>
          <a:p>
            <a:r>
              <a:rPr lang="en-US" sz="2800" dirty="0"/>
              <a:t>Monopoly faces a </a:t>
            </a:r>
            <a:r>
              <a:rPr lang="en-US" sz="2800" dirty="0">
                <a:solidFill>
                  <a:srgbClr val="AE1221"/>
                </a:solidFill>
              </a:rPr>
              <a:t>downward-sloping demand curve for its product: MR &lt; P</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41</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E2E30A0F-AC2A-7950-16E7-99FB02B508A7}"/>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80318922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t>Monopoly maximizes profit </a:t>
            </a:r>
          </a:p>
          <a:p>
            <a:pPr lvl="1"/>
            <a:r>
              <a:rPr lang="en-US" sz="2800" dirty="0"/>
              <a:t>Produce Q where MR = MC, but Q is not efficient</a:t>
            </a:r>
          </a:p>
          <a:p>
            <a:pPr lvl="1"/>
            <a:r>
              <a:rPr lang="en-US" sz="2800" dirty="0"/>
              <a:t>For this Q, the price is on the demand curve. </a:t>
            </a:r>
          </a:p>
          <a:p>
            <a:pPr lvl="1"/>
            <a:r>
              <a:rPr lang="en-US" sz="2800" dirty="0"/>
              <a:t>So, </a:t>
            </a:r>
            <a:r>
              <a:rPr lang="en-US" sz="2800" dirty="0">
                <a:solidFill>
                  <a:srgbClr val="AE1221"/>
                </a:solidFill>
              </a:rPr>
              <a:t>P &gt; MR = MC</a:t>
            </a:r>
          </a:p>
          <a:p>
            <a:pPr lvl="1"/>
            <a:r>
              <a:rPr lang="en-US" sz="2800" dirty="0"/>
              <a:t>Causes deadweight loss</a:t>
            </a:r>
          </a:p>
          <a:p>
            <a:r>
              <a:rPr lang="en-US" sz="2800" dirty="0">
                <a:solidFill>
                  <a:srgbClr val="AE1221"/>
                </a:solidFill>
              </a:rPr>
              <a:t>Price discrimination</a:t>
            </a:r>
            <a:r>
              <a:rPr lang="en-US" sz="2800" dirty="0"/>
              <a:t>: charge different prices for the same good based on a buyer’s willingness to pay. </a:t>
            </a:r>
          </a:p>
          <a:p>
            <a:pPr lvl="1"/>
            <a:r>
              <a:rPr lang="en-US" sz="2800" dirty="0"/>
              <a:t>Can raise economic welfare by getting the good to some consumers who would otherwise not buy it.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42</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3551C496-8C5E-CF7A-0590-25CE6C5726F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60245727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Perfect price discrimination</a:t>
            </a:r>
          </a:p>
          <a:p>
            <a:pPr lvl="1"/>
            <a:r>
              <a:rPr lang="en-US" sz="2800" dirty="0"/>
              <a:t>No deadweight loss </a:t>
            </a:r>
          </a:p>
          <a:p>
            <a:pPr lvl="1"/>
            <a:r>
              <a:rPr lang="en-US" sz="2800" dirty="0"/>
              <a:t>The entire surplus in the market goes to the monopoly producer.  </a:t>
            </a:r>
          </a:p>
          <a:p>
            <a:r>
              <a:rPr lang="en-US" sz="2800" dirty="0">
                <a:solidFill>
                  <a:srgbClr val="AE1221"/>
                </a:solidFill>
              </a:rPr>
              <a:t>Policymakers can: </a:t>
            </a:r>
          </a:p>
          <a:p>
            <a:pPr lvl="1"/>
            <a:r>
              <a:rPr lang="en-US" sz="2800" dirty="0"/>
              <a:t>Use the antitrust laws to try to make the industry more competitive. </a:t>
            </a:r>
          </a:p>
          <a:p>
            <a:pPr lvl="1"/>
            <a:r>
              <a:rPr lang="en-US" sz="2800" dirty="0"/>
              <a:t>Regulate the prices that the monopoly charges. </a:t>
            </a:r>
          </a:p>
          <a:p>
            <a:pPr lvl="1"/>
            <a:r>
              <a:rPr lang="en-US" sz="2800" dirty="0"/>
              <a:t>Turn the monopolist into a government-run enterprise. </a:t>
            </a:r>
          </a:p>
          <a:p>
            <a:pPr lvl="1"/>
            <a:r>
              <a:rPr lang="en-US" sz="2800" dirty="0"/>
              <a:t>Do nothing at all.</a:t>
            </a:r>
          </a:p>
          <a:p>
            <a:endParaRPr lang="en-US" sz="28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43</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0F82DC84-E2E5-5E94-E271-93DE2A32B0D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53359224"/>
      </p:ext>
    </p:extLst>
  </p:cSld>
  <p:clrMapOvr>
    <a:masterClrMapping/>
  </p:clrMapOvr>
  <p:transition/>
</p:sld>
</file>

<file path=ppt/theme/theme1.xml><?xml version="1.0" encoding="utf-8"?>
<a:theme xmlns:a="http://schemas.openxmlformats.org/drawingml/2006/main" name="1_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41652</TotalTime>
  <Words>6711</Words>
  <Application>Microsoft Office PowerPoint</Application>
  <PresentationFormat>On-screen Show (4:3)</PresentationFormat>
  <Paragraphs>744</Paragraphs>
  <Slides>43</Slides>
  <Notes>43</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43</vt:i4>
      </vt:variant>
    </vt:vector>
  </HeadingPairs>
  <TitlesOfParts>
    <vt:vector size="59" baseType="lpstr">
      <vt:lpstr>Arial</vt:lpstr>
      <vt:lpstr>Calibri</vt:lpstr>
      <vt:lpstr>Cambria</vt:lpstr>
      <vt:lpstr>Georgia</vt:lpstr>
      <vt:lpstr>Sabon-Bold</vt:lpstr>
      <vt:lpstr>Wingdings</vt:lpstr>
      <vt:lpstr>1_Chapter title</vt:lpstr>
      <vt:lpstr>Intro / Summary</vt:lpstr>
      <vt:lpstr>Chapter content</vt:lpstr>
      <vt:lpstr>Figure</vt:lpstr>
      <vt:lpstr>Table</vt:lpstr>
      <vt:lpstr>ActiveLearning or Ex</vt:lpstr>
      <vt:lpstr>Case study</vt:lpstr>
      <vt:lpstr>Think-Pair-Share</vt:lpstr>
      <vt:lpstr>Ask Experts</vt:lpstr>
      <vt:lpstr>Appendix</vt:lpstr>
      <vt:lpstr>PowerPoint Presentation</vt:lpstr>
      <vt:lpstr>IN THIS CHAPTER</vt:lpstr>
      <vt:lpstr>Why Monopolies Arise</vt:lpstr>
      <vt:lpstr>Barriers to Entry – 1  </vt:lpstr>
      <vt:lpstr>Barriers to Entry – 2  </vt:lpstr>
      <vt:lpstr>Barriers to Entry – 3  </vt:lpstr>
      <vt:lpstr>EXAMPLE 1: Natural Monopoly</vt:lpstr>
      <vt:lpstr>Monopoly versus Competition</vt:lpstr>
      <vt:lpstr>Demand Curves: Competitive Firm vs. Monopoly</vt:lpstr>
      <vt:lpstr>Active Learning 1: JJ’s Hairdo Revenue</vt:lpstr>
      <vt:lpstr>Active Learning 1: Answers </vt:lpstr>
      <vt:lpstr>EXAMPLE 2: JJ’s MR and Demand Curves</vt:lpstr>
      <vt:lpstr>A Monopoly’s Revenue</vt:lpstr>
      <vt:lpstr>Monopoly Profit Maximization</vt:lpstr>
      <vt:lpstr>Profit-Maximization for a Monopoly</vt:lpstr>
      <vt:lpstr>The Monopoly’s Profit</vt:lpstr>
      <vt:lpstr>A Monopoly Does Not Have a S Curve</vt:lpstr>
      <vt:lpstr>CASE STUDY:  Monopoly vs. Generic Drugs</vt:lpstr>
      <vt:lpstr>The Welfare Cost of Monopolies</vt:lpstr>
      <vt:lpstr>The Deadweight Loss of Monopoly</vt:lpstr>
      <vt:lpstr>The Monopoly’s Profit: A Social Cost?</vt:lpstr>
      <vt:lpstr>Price Discrimination</vt:lpstr>
      <vt:lpstr>Active Learning 2: At the Movies </vt:lpstr>
      <vt:lpstr>Active Learning 2: Answers </vt:lpstr>
      <vt:lpstr>Perfect Price Discrimination</vt:lpstr>
      <vt:lpstr>Welfare with and without Price Discrimination</vt:lpstr>
      <vt:lpstr>Price Discrimination in the Real World</vt:lpstr>
      <vt:lpstr>EXAMPLE 3: Price discrimination – 1 </vt:lpstr>
      <vt:lpstr>EXAMPLE 3: Price discrimination – 2 </vt:lpstr>
      <vt:lpstr>EXAMPLE 3: Price discrimination – 3 </vt:lpstr>
      <vt:lpstr>Public Policy Toward Monopolies – 1 </vt:lpstr>
      <vt:lpstr>PowerPoint Presentation</vt:lpstr>
      <vt:lpstr>Public Policy Toward Monopolies – 2 </vt:lpstr>
      <vt:lpstr>Public Policy Toward Monopolies – 3 </vt:lpstr>
      <vt:lpstr>Public Policy Toward Monopolies – 4 </vt:lpstr>
      <vt:lpstr>The Prevalence of Monopolies</vt:lpstr>
      <vt:lpstr>Competition versus Monopoly</vt:lpstr>
      <vt:lpstr>PowerPoint Presentation</vt:lpstr>
      <vt:lpstr>THINK-PAIR-SHARE</vt:lpstr>
      <vt:lpstr>THINK-PAIR-SHARE</vt:lpstr>
      <vt:lpstr>CHAPTER IN A NUTSHELL</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1461</cp:revision>
  <cp:lastPrinted>2019-05-14T19:06:14Z</cp:lastPrinted>
  <dcterms:created xsi:type="dcterms:W3CDTF">2016-03-16T19:41:09Z</dcterms:created>
  <dcterms:modified xsi:type="dcterms:W3CDTF">2026-01-20T15:23:43Z</dcterms:modified>
</cp:coreProperties>
</file>
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theme/theme7.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58"/>
  </p:notesMasterIdLst>
  <p:handoutMasterIdLst>
    <p:handoutMasterId r:id="rId59"/>
  </p:handoutMasterIdLst>
  <p:sldIdLst>
    <p:sldId id="256" r:id="rId11"/>
    <p:sldId id="1447" r:id="rId12"/>
    <p:sldId id="1439" r:id="rId13"/>
    <p:sldId id="1440" r:id="rId14"/>
    <p:sldId id="1482" r:id="rId15"/>
    <p:sldId id="1442" r:id="rId16"/>
    <p:sldId id="1443" r:id="rId17"/>
    <p:sldId id="1444" r:id="rId18"/>
    <p:sldId id="1445" r:id="rId19"/>
    <p:sldId id="1483" r:id="rId20"/>
    <p:sldId id="1484" r:id="rId21"/>
    <p:sldId id="1448" r:id="rId22"/>
    <p:sldId id="1485" r:id="rId23"/>
    <p:sldId id="1449" r:id="rId24"/>
    <p:sldId id="1450" r:id="rId25"/>
    <p:sldId id="1451" r:id="rId26"/>
    <p:sldId id="1452" r:id="rId27"/>
    <p:sldId id="1453" r:id="rId28"/>
    <p:sldId id="1454" r:id="rId29"/>
    <p:sldId id="1458" r:id="rId30"/>
    <p:sldId id="1455" r:id="rId31"/>
    <p:sldId id="1456" r:id="rId32"/>
    <p:sldId id="1457" r:id="rId33"/>
    <p:sldId id="1459" r:id="rId34"/>
    <p:sldId id="1486" r:id="rId35"/>
    <p:sldId id="1460" r:id="rId36"/>
    <p:sldId id="1461" r:id="rId37"/>
    <p:sldId id="1462" r:id="rId38"/>
    <p:sldId id="1463" r:id="rId39"/>
    <p:sldId id="1464" r:id="rId40"/>
    <p:sldId id="1466" r:id="rId41"/>
    <p:sldId id="1487" r:id="rId42"/>
    <p:sldId id="1465" r:id="rId43"/>
    <p:sldId id="1488" r:id="rId44"/>
    <p:sldId id="1467" r:id="rId45"/>
    <p:sldId id="1468" r:id="rId46"/>
    <p:sldId id="1469" r:id="rId47"/>
    <p:sldId id="1470" r:id="rId48"/>
    <p:sldId id="1471" r:id="rId49"/>
    <p:sldId id="1472" r:id="rId50"/>
    <p:sldId id="1474" r:id="rId51"/>
    <p:sldId id="1477" r:id="rId52"/>
    <p:sldId id="1478" r:id="rId53"/>
    <p:sldId id="1446" r:id="rId54"/>
    <p:sldId id="1435" r:id="rId55"/>
    <p:sldId id="1400" r:id="rId56"/>
    <p:sldId id="1489" r:id="rId5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AA5FE0-8063-E329-921A-B72A20B69E71}" name="Aucoin, Shannon" initials="SA" userId="S::shannon.aucoin@cengage.com::3f4e7fc1-6c2e-4059-b6c3-22af03bf74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66FF66"/>
    <a:srgbClr val="4E519E"/>
    <a:srgbClr val="AE1221"/>
    <a:srgbClr val="F45006"/>
    <a:srgbClr val="0000FF"/>
    <a:srgbClr val="DA8200"/>
    <a:srgbClr val="006600"/>
    <a:srgbClr val="E3F0FA"/>
    <a:srgbClr val="0062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A807FC-41FB-4FE7-ADBA-8E0E287A3772}" v="3" dt="2026-01-15T00:39:27.8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12" autoAdjust="0"/>
    <p:restoredTop sz="78712" autoAdjust="0"/>
  </p:normalViewPr>
  <p:slideViewPr>
    <p:cSldViewPr>
      <p:cViewPr varScale="1">
        <p:scale>
          <a:sx n="50" d="100"/>
          <a:sy n="50" d="100"/>
        </p:scale>
        <p:origin x="1880" y="24"/>
      </p:cViewPr>
      <p:guideLst>
        <p:guide orient="horz" pos="2160"/>
        <p:guide pos="2880"/>
      </p:guideLst>
    </p:cSldViewPr>
  </p:slideViewPr>
  <p:outlineViewPr>
    <p:cViewPr>
      <p:scale>
        <a:sx n="33" d="100"/>
        <a:sy n="33" d="100"/>
      </p:scale>
      <p:origin x="0" y="2958"/>
    </p:cViewPr>
  </p:outlineViewPr>
  <p:notesTextViewPr>
    <p:cViewPr>
      <p:scale>
        <a:sx n="125" d="100"/>
        <a:sy n="125" d="100"/>
      </p:scale>
      <p:origin x="0" y="0"/>
    </p:cViewPr>
  </p:notesTextViewPr>
  <p:sorterViewPr>
    <p:cViewPr>
      <p:scale>
        <a:sx n="130" d="100"/>
        <a:sy n="130" d="100"/>
      </p:scale>
      <p:origin x="0" y="-7752"/>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notesMaster" Target="notesMasters/notesMaster1.xml"/><Relationship Id="rId66" Type="http://schemas.microsoft.com/office/2018/10/relationships/authors" Target="authors.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microsoft.com/office/2016/11/relationships/changesInfo" Target="changesInfos/changesInfo1.xml"/><Relationship Id="rId8" Type="http://schemas.openxmlformats.org/officeDocument/2006/relationships/slideMaster" Target="slideMasters/slideMaster8.xml"/><Relationship Id="rId51" Type="http://schemas.openxmlformats.org/officeDocument/2006/relationships/slide" Target="slides/slide4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handoutMaster" Target="handoutMasters/handoutMaster1.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custSel modSld modMainMaster">
      <pc:chgData name="Aucoin, Shannon" userId="3f4e7fc1-6c2e-4059-b6c3-22af03bf749a" providerId="ADAL" clId="{E0921B5F-CAE8-4497-A9EF-24510461A92C}" dt="2026-01-15T00:40:09.312" v="10" actId="27636"/>
      <pc:docMkLst>
        <pc:docMk/>
      </pc:docMkLst>
      <pc:sldChg chg="modSp mod modClrScheme chgLayout">
        <pc:chgData name="Aucoin, Shannon" userId="3f4e7fc1-6c2e-4059-b6c3-22af03bf749a" providerId="ADAL" clId="{E0921B5F-CAE8-4497-A9EF-24510461A92C}" dt="2026-01-15T00:40:09.312" v="10" actId="27636"/>
        <pc:sldMkLst>
          <pc:docMk/>
          <pc:sldMk cId="2962300543" sldId="256"/>
        </pc:sldMkLst>
        <pc:spChg chg="mod ord">
          <ac:chgData name="Aucoin, Shannon" userId="3f4e7fc1-6c2e-4059-b6c3-22af03bf749a" providerId="ADAL" clId="{E0921B5F-CAE8-4497-A9EF-24510461A92C}" dt="2026-01-15T00:40:09.284" v="9" actId="700"/>
          <ac:spMkLst>
            <pc:docMk/>
            <pc:sldMk cId="2962300543" sldId="256"/>
            <ac:spMk id="6" creationId="{00000000-0000-0000-0000-000000000000}"/>
          </ac:spMkLst>
        </pc:spChg>
        <pc:spChg chg="mod ord">
          <ac:chgData name="Aucoin, Shannon" userId="3f4e7fc1-6c2e-4059-b6c3-22af03bf749a" providerId="ADAL" clId="{E0921B5F-CAE8-4497-A9EF-24510461A92C}" dt="2026-01-15T00:40:09.312" v="10" actId="27636"/>
          <ac:spMkLst>
            <pc:docMk/>
            <pc:sldMk cId="2962300543" sldId="256"/>
            <ac:spMk id="8" creationId="{00000000-0000-0000-0000-000000000000}"/>
          </ac:spMkLst>
        </pc:spChg>
        <pc:spChg chg="mod ord">
          <ac:chgData name="Aucoin, Shannon" userId="3f4e7fc1-6c2e-4059-b6c3-22af03bf749a" providerId="ADAL" clId="{E0921B5F-CAE8-4497-A9EF-24510461A92C}" dt="2026-01-15T00:40:09.284" v="9" actId="700"/>
          <ac:spMkLst>
            <pc:docMk/>
            <pc:sldMk cId="2962300543" sldId="256"/>
            <ac:spMk id="9" creationId="{00000000-0000-0000-0000-000000000000}"/>
          </ac:spMkLst>
        </pc:spChg>
        <pc:spChg chg="mod ord">
          <ac:chgData name="Aucoin, Shannon" userId="3f4e7fc1-6c2e-4059-b6c3-22af03bf749a" providerId="ADAL" clId="{E0921B5F-CAE8-4497-A9EF-24510461A92C}" dt="2026-01-15T00:40:09.284" v="9" actId="700"/>
          <ac:spMkLst>
            <pc:docMk/>
            <pc:sldMk cId="2962300543" sldId="256"/>
            <ac:spMk id="12" creationId="{00000000-0000-0000-0000-000000000000}"/>
          </ac:spMkLst>
        </pc:spChg>
      </pc:sldChg>
      <pc:sldMasterChg chg="modSp mod">
        <pc:chgData name="Aucoin, Shannon" userId="3f4e7fc1-6c2e-4059-b6c3-22af03bf749a" providerId="ADAL" clId="{E0921B5F-CAE8-4497-A9EF-24510461A92C}" dt="2026-01-15T00:39:43.822" v="2" actId="20577"/>
        <pc:sldMasterMkLst>
          <pc:docMk/>
          <pc:sldMasterMk cId="1007448745" sldId="2147483670"/>
        </pc:sldMasterMkLst>
        <pc:spChg chg="mod">
          <ac:chgData name="Aucoin, Shannon" userId="3f4e7fc1-6c2e-4059-b6c3-22af03bf749a" providerId="ADAL" clId="{E0921B5F-CAE8-4497-A9EF-24510461A92C}" dt="2026-01-15T00:39:43.822" v="2" actId="20577"/>
          <ac:spMkLst>
            <pc:docMk/>
            <pc:sldMasterMk cId="1007448745" sldId="2147483670"/>
            <ac:spMk id="9" creationId="{00000000-0000-0000-0000-000000000000}"/>
          </ac:spMkLst>
        </pc:spChg>
      </pc:sldMasterChg>
      <pc:sldMasterChg chg="modSp mod">
        <pc:chgData name="Aucoin, Shannon" userId="3f4e7fc1-6c2e-4059-b6c3-22af03bf749a" providerId="ADAL" clId="{E0921B5F-CAE8-4497-A9EF-24510461A92C}" dt="2026-01-15T00:39:59.089" v="8" actId="20577"/>
        <pc:sldMasterMkLst>
          <pc:docMk/>
          <pc:sldMasterMk cId="3578277993" sldId="2147483672"/>
        </pc:sldMasterMkLst>
        <pc:spChg chg="mod">
          <ac:chgData name="Aucoin, Shannon" userId="3f4e7fc1-6c2e-4059-b6c3-22af03bf749a" providerId="ADAL" clId="{E0921B5F-CAE8-4497-A9EF-24510461A92C}" dt="2026-01-15T00:39:59.089" v="8" actId="20577"/>
          <ac:spMkLst>
            <pc:docMk/>
            <pc:sldMasterMk cId="3578277993" sldId="2147483672"/>
            <ac:spMk id="15" creationId="{00000000-0000-0000-0000-000000000000}"/>
          </ac:spMkLst>
        </pc:spChg>
      </pc:sldMasterChg>
      <pc:sldMasterChg chg="modSp mod">
        <pc:chgData name="Aucoin, Shannon" userId="3f4e7fc1-6c2e-4059-b6c3-22af03bf749a" providerId="ADAL" clId="{E0921B5F-CAE8-4497-A9EF-24510461A92C}" dt="2026-01-15T00:39:53.830" v="6" actId="20577"/>
        <pc:sldMasterMkLst>
          <pc:docMk/>
          <pc:sldMasterMk cId="540183629" sldId="2147483675"/>
        </pc:sldMasterMkLst>
        <pc:spChg chg="mod">
          <ac:chgData name="Aucoin, Shannon" userId="3f4e7fc1-6c2e-4059-b6c3-22af03bf749a" providerId="ADAL" clId="{E0921B5F-CAE8-4497-A9EF-24510461A92C}" dt="2026-01-15T00:39:53.830" v="6" actId="20577"/>
          <ac:spMkLst>
            <pc:docMk/>
            <pc:sldMasterMk cId="540183629" sldId="2147483675"/>
            <ac:spMk id="11" creationId="{00000000-0000-0000-0000-000000000000}"/>
          </ac:spMkLst>
        </pc:spChg>
      </pc:sldMasterChg>
      <pc:sldMasterChg chg="modSp mod">
        <pc:chgData name="Aucoin, Shannon" userId="3f4e7fc1-6c2e-4059-b6c3-22af03bf749a" providerId="ADAL" clId="{E0921B5F-CAE8-4497-A9EF-24510461A92C}" dt="2026-01-15T00:39:49.262" v="4" actId="20577"/>
        <pc:sldMasterMkLst>
          <pc:docMk/>
          <pc:sldMasterMk cId="3728541375" sldId="2147483684"/>
        </pc:sldMasterMkLst>
        <pc:spChg chg="mod">
          <ac:chgData name="Aucoin, Shannon" userId="3f4e7fc1-6c2e-4059-b6c3-22af03bf749a" providerId="ADAL" clId="{E0921B5F-CAE8-4497-A9EF-24510461A92C}" dt="2026-01-15T00:39:49.262" v="4" actId="20577"/>
          <ac:spMkLst>
            <pc:docMk/>
            <pc:sldMasterMk cId="3728541375" sldId="2147483684"/>
            <ac:spMk id="11" creationId="{00000000-0000-0000-0000-000000000000}"/>
          </ac:spMkLst>
        </pc:sp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5400" cap="rnd">
              <a:noFill/>
              <a:round/>
            </a:ln>
            <a:effectLst>
              <a:outerShdw blurRad="50800" dist="50800" dir="5400000" algn="ctr" rotWithShape="0">
                <a:schemeClr val="bg1"/>
              </a:outerShdw>
            </a:effectLst>
          </c:spPr>
          <c:marker>
            <c:symbol val="circle"/>
            <c:size val="5"/>
            <c:spPr>
              <a:noFill/>
              <a:ln w="9525">
                <a:noFill/>
              </a:ln>
              <a:effectLst>
                <a:outerShdw blurRad="50800" dist="50800" dir="5400000" algn="ctr" rotWithShape="0">
                  <a:schemeClr val="bg1"/>
                </a:outerShdw>
              </a:effectLst>
            </c:spPr>
          </c:marker>
          <c:xVal>
            <c:numRef>
              <c:f>Sheet1!$A$2:$A$6</c:f>
              <c:numCache>
                <c:formatCode>General</c:formatCode>
                <c:ptCount val="5"/>
                <c:pt idx="0">
                  <c:v>0</c:v>
                </c:pt>
                <c:pt idx="1">
                  <c:v>1</c:v>
                </c:pt>
                <c:pt idx="2">
                  <c:v>2</c:v>
                </c:pt>
                <c:pt idx="3">
                  <c:v>3</c:v>
                </c:pt>
                <c:pt idx="4">
                  <c:v>4</c:v>
                </c:pt>
              </c:numCache>
            </c:numRef>
          </c:xVal>
          <c:yVal>
            <c:numRef>
              <c:f>Sheet1!$B$2:$B$6</c:f>
              <c:numCache>
                <c:formatCode>General</c:formatCode>
                <c:ptCount val="5"/>
                <c:pt idx="0">
                  <c:v>0</c:v>
                </c:pt>
                <c:pt idx="1">
                  <c:v>100</c:v>
                </c:pt>
                <c:pt idx="2">
                  <c:v>200</c:v>
                </c:pt>
                <c:pt idx="3">
                  <c:v>300</c:v>
                </c:pt>
                <c:pt idx="4">
                  <c:v>400</c:v>
                </c:pt>
              </c:numCache>
            </c:numRef>
          </c:yVal>
          <c:smooth val="0"/>
          <c:extLst>
            <c:ext xmlns:c16="http://schemas.microsoft.com/office/drawing/2014/chart" uri="{C3380CC4-5D6E-409C-BE32-E72D297353CC}">
              <c16:uniqueId val="{00000000-3EFD-4DA3-A130-A6592D0EDFE6}"/>
            </c:ext>
          </c:extLst>
        </c:ser>
        <c:dLbls>
          <c:showLegendKey val="0"/>
          <c:showVal val="0"/>
          <c:showCatName val="0"/>
          <c:showSerName val="0"/>
          <c:showPercent val="0"/>
          <c:showBubbleSize val="0"/>
        </c:dLbls>
        <c:axId val="367335359"/>
        <c:axId val="367323295"/>
      </c:scatterChart>
      <c:valAx>
        <c:axId val="367335359"/>
        <c:scaling>
          <c:orientation val="minMax"/>
          <c:max val="4"/>
        </c:scaling>
        <c:delete val="0"/>
        <c:axPos val="b"/>
        <c:numFmt formatCode="General" sourceLinked="1"/>
        <c:majorTickMark val="out"/>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mn-lt"/>
                <a:ea typeface="+mn-ea"/>
                <a:cs typeface="+mn-cs"/>
              </a:defRPr>
            </a:pPr>
            <a:endParaRPr lang="en-US"/>
          </a:p>
        </c:txPr>
        <c:crossAx val="367323295"/>
        <c:crosses val="autoZero"/>
        <c:crossBetween val="midCat"/>
        <c:majorUnit val="1"/>
        <c:minorUnit val="0.5"/>
      </c:valAx>
      <c:valAx>
        <c:axId val="367323295"/>
        <c:scaling>
          <c:orientation val="minMax"/>
          <c:max val="400"/>
        </c:scaling>
        <c:delete val="0"/>
        <c:axPos val="l"/>
        <c:numFmt formatCode="General" sourceLinked="1"/>
        <c:majorTickMark val="out"/>
        <c:minorTickMark val="out"/>
        <c:tickLblPos val="nextTo"/>
        <c:spPr>
          <a:noFill/>
          <a:ln w="12700" cap="flat" cmpd="sng" algn="ctr">
            <a:solidFill>
              <a:schemeClr val="tx1"/>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mn-lt"/>
                <a:ea typeface="+mn-ea"/>
                <a:cs typeface="+mn-cs"/>
              </a:defRPr>
            </a:pPr>
            <a:endParaRPr lang="en-US"/>
          </a:p>
        </c:txPr>
        <c:crossAx val="367335359"/>
        <c:crosses val="autoZero"/>
        <c:crossBetween val="midCat"/>
        <c:majorUnit val="100"/>
        <c:minorUnit val="5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8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5400" cap="rnd">
              <a:noFill/>
              <a:round/>
            </a:ln>
            <a:effectLst>
              <a:outerShdw blurRad="50800" dist="50800" dir="5400000" algn="ctr" rotWithShape="0">
                <a:schemeClr val="bg1"/>
              </a:outerShdw>
            </a:effectLst>
          </c:spPr>
          <c:marker>
            <c:symbol val="circle"/>
            <c:size val="5"/>
            <c:spPr>
              <a:noFill/>
              <a:ln w="9525">
                <a:noFill/>
              </a:ln>
              <a:effectLst>
                <a:outerShdw blurRad="50800" dist="50800" dir="5400000" algn="ctr" rotWithShape="0">
                  <a:schemeClr val="bg1"/>
                </a:outerShdw>
              </a:effectLst>
            </c:spPr>
          </c:marker>
          <c:xVal>
            <c:numRef>
              <c:f>Sheet1!$A$2:$A$6</c:f>
              <c:numCache>
                <c:formatCode>General</c:formatCode>
                <c:ptCount val="5"/>
                <c:pt idx="0">
                  <c:v>0</c:v>
                </c:pt>
                <c:pt idx="1">
                  <c:v>1</c:v>
                </c:pt>
                <c:pt idx="2">
                  <c:v>2</c:v>
                </c:pt>
                <c:pt idx="3">
                  <c:v>3</c:v>
                </c:pt>
                <c:pt idx="4">
                  <c:v>4</c:v>
                </c:pt>
              </c:numCache>
            </c:numRef>
          </c:xVal>
          <c:yVal>
            <c:numRef>
              <c:f>Sheet1!$B$2:$B$6</c:f>
              <c:numCache>
                <c:formatCode>General</c:formatCode>
                <c:ptCount val="5"/>
                <c:pt idx="0">
                  <c:v>0</c:v>
                </c:pt>
                <c:pt idx="1">
                  <c:v>100</c:v>
                </c:pt>
                <c:pt idx="2">
                  <c:v>200</c:v>
                </c:pt>
                <c:pt idx="3">
                  <c:v>300</c:v>
                </c:pt>
                <c:pt idx="4">
                  <c:v>400</c:v>
                </c:pt>
              </c:numCache>
            </c:numRef>
          </c:yVal>
          <c:smooth val="0"/>
          <c:extLst>
            <c:ext xmlns:c16="http://schemas.microsoft.com/office/drawing/2014/chart" uri="{C3380CC4-5D6E-409C-BE32-E72D297353CC}">
              <c16:uniqueId val="{00000000-E3AC-477F-9870-5BD460A68D49}"/>
            </c:ext>
          </c:extLst>
        </c:ser>
        <c:dLbls>
          <c:showLegendKey val="0"/>
          <c:showVal val="0"/>
          <c:showCatName val="0"/>
          <c:showSerName val="0"/>
          <c:showPercent val="0"/>
          <c:showBubbleSize val="0"/>
        </c:dLbls>
        <c:axId val="367335359"/>
        <c:axId val="367323295"/>
      </c:scatterChart>
      <c:valAx>
        <c:axId val="367335359"/>
        <c:scaling>
          <c:orientation val="minMax"/>
          <c:max val="4"/>
        </c:scaling>
        <c:delete val="0"/>
        <c:axPos val="b"/>
        <c:numFmt formatCode="General" sourceLinked="1"/>
        <c:majorTickMark val="out"/>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mn-lt"/>
                <a:ea typeface="+mn-ea"/>
                <a:cs typeface="+mn-cs"/>
              </a:defRPr>
            </a:pPr>
            <a:endParaRPr lang="en-US"/>
          </a:p>
        </c:txPr>
        <c:crossAx val="367323295"/>
        <c:crosses val="autoZero"/>
        <c:crossBetween val="midCat"/>
        <c:majorUnit val="1"/>
        <c:minorUnit val="0.5"/>
      </c:valAx>
      <c:valAx>
        <c:axId val="367323295"/>
        <c:scaling>
          <c:orientation val="minMax"/>
          <c:max val="400"/>
        </c:scaling>
        <c:delete val="0"/>
        <c:axPos val="l"/>
        <c:numFmt formatCode="General" sourceLinked="1"/>
        <c:majorTickMark val="out"/>
        <c:minorTickMark val="out"/>
        <c:tickLblPos val="nextTo"/>
        <c:spPr>
          <a:noFill/>
          <a:ln w="12700" cap="flat" cmpd="sng" algn="ctr">
            <a:solidFill>
              <a:schemeClr val="tx1"/>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mn-lt"/>
                <a:ea typeface="+mn-ea"/>
                <a:cs typeface="+mn-cs"/>
              </a:defRPr>
            </a:pPr>
            <a:endParaRPr lang="en-US"/>
          </a:p>
        </c:txPr>
        <c:crossAx val="367335359"/>
        <c:crosses val="autoZero"/>
        <c:crossBetween val="midCat"/>
        <c:majorUnit val="100"/>
        <c:minorUnit val="5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800">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5400" cap="rnd">
              <a:noFill/>
              <a:round/>
            </a:ln>
            <a:effectLst>
              <a:outerShdw blurRad="50800" dist="50800" dir="5400000" algn="ctr" rotWithShape="0">
                <a:schemeClr val="bg1"/>
              </a:outerShdw>
            </a:effectLst>
          </c:spPr>
          <c:marker>
            <c:symbol val="circle"/>
            <c:size val="5"/>
            <c:spPr>
              <a:noFill/>
              <a:ln w="9525">
                <a:noFill/>
              </a:ln>
              <a:effectLst>
                <a:outerShdw blurRad="50800" dist="50800" dir="5400000" algn="ctr" rotWithShape="0">
                  <a:schemeClr val="bg1"/>
                </a:outerShdw>
              </a:effectLst>
            </c:spPr>
          </c:marker>
          <c:xVal>
            <c:numRef>
              <c:f>Sheet1!$A$2:$A$6</c:f>
              <c:numCache>
                <c:formatCode>General</c:formatCode>
                <c:ptCount val="5"/>
                <c:pt idx="0">
                  <c:v>0</c:v>
                </c:pt>
                <c:pt idx="1">
                  <c:v>1</c:v>
                </c:pt>
                <c:pt idx="2">
                  <c:v>2</c:v>
                </c:pt>
                <c:pt idx="3">
                  <c:v>3</c:v>
                </c:pt>
                <c:pt idx="4">
                  <c:v>4</c:v>
                </c:pt>
              </c:numCache>
            </c:numRef>
          </c:xVal>
          <c:yVal>
            <c:numRef>
              <c:f>Sheet1!$B$2:$B$6</c:f>
              <c:numCache>
                <c:formatCode>General</c:formatCode>
                <c:ptCount val="5"/>
                <c:pt idx="0">
                  <c:v>0</c:v>
                </c:pt>
                <c:pt idx="1">
                  <c:v>100</c:v>
                </c:pt>
                <c:pt idx="2">
                  <c:v>200</c:v>
                </c:pt>
                <c:pt idx="3">
                  <c:v>300</c:v>
                </c:pt>
                <c:pt idx="4">
                  <c:v>400</c:v>
                </c:pt>
              </c:numCache>
            </c:numRef>
          </c:yVal>
          <c:smooth val="0"/>
          <c:extLst>
            <c:ext xmlns:c16="http://schemas.microsoft.com/office/drawing/2014/chart" uri="{C3380CC4-5D6E-409C-BE32-E72D297353CC}">
              <c16:uniqueId val="{00000000-9100-48A2-B725-ECCDC23A6E15}"/>
            </c:ext>
          </c:extLst>
        </c:ser>
        <c:dLbls>
          <c:showLegendKey val="0"/>
          <c:showVal val="0"/>
          <c:showCatName val="0"/>
          <c:showSerName val="0"/>
          <c:showPercent val="0"/>
          <c:showBubbleSize val="0"/>
        </c:dLbls>
        <c:axId val="367335359"/>
        <c:axId val="367323295"/>
      </c:scatterChart>
      <c:valAx>
        <c:axId val="367335359"/>
        <c:scaling>
          <c:orientation val="minMax"/>
          <c:max val="4"/>
        </c:scaling>
        <c:delete val="0"/>
        <c:axPos val="b"/>
        <c:numFmt formatCode="General" sourceLinked="1"/>
        <c:majorTickMark val="out"/>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mn-lt"/>
                <a:ea typeface="+mn-ea"/>
                <a:cs typeface="+mn-cs"/>
              </a:defRPr>
            </a:pPr>
            <a:endParaRPr lang="en-US"/>
          </a:p>
        </c:txPr>
        <c:crossAx val="367323295"/>
        <c:crosses val="autoZero"/>
        <c:crossBetween val="midCat"/>
        <c:majorUnit val="1"/>
        <c:minorUnit val="0.5"/>
      </c:valAx>
      <c:valAx>
        <c:axId val="367323295"/>
        <c:scaling>
          <c:orientation val="minMax"/>
          <c:max val="400"/>
        </c:scaling>
        <c:delete val="0"/>
        <c:axPos val="l"/>
        <c:numFmt formatCode="General" sourceLinked="1"/>
        <c:majorTickMark val="out"/>
        <c:minorTickMark val="out"/>
        <c:tickLblPos val="nextTo"/>
        <c:spPr>
          <a:noFill/>
          <a:ln w="12700" cap="flat" cmpd="sng" algn="ctr">
            <a:solidFill>
              <a:schemeClr val="tx1"/>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mn-lt"/>
                <a:ea typeface="+mn-ea"/>
                <a:cs typeface="+mn-cs"/>
              </a:defRPr>
            </a:pPr>
            <a:endParaRPr lang="en-US"/>
          </a:p>
        </c:txPr>
        <c:crossAx val="367335359"/>
        <c:crosses val="autoZero"/>
        <c:crossBetween val="midCat"/>
        <c:majorUnit val="100"/>
        <c:minorUnit val="5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8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www.kidney.org/news/newsroom/factsheets/Organ-Donation-and-Transplantation-Stats"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eaLnBrk="1" hangingPunct="1"/>
            <a:r>
              <a:rPr lang="en-US" sz="1200" dirty="0"/>
              <a:t>This is a very theoretical chapter.  Most students in principles-level courses are a bit less patient with theory than with real-world applications.  However, you can tell your students that learning the material in this chapter will pay off in (at least) two ways.  </a:t>
            </a:r>
          </a:p>
          <a:p>
            <a:pPr eaLnBrk="1" hangingPunct="1"/>
            <a:endParaRPr lang="en-US" sz="1200" dirty="0"/>
          </a:p>
          <a:p>
            <a:pPr eaLnBrk="1" hangingPunct="1"/>
            <a:r>
              <a:rPr lang="en-US" sz="1200" dirty="0"/>
              <a:t>First, the tools introduced in this chapter (consumer and producer surplus, welfare economics) are used extensively in the real world to assess the costs and benefits of policies and market imperfections.  When does a policy do more harm than good?  Who does the policy make better off, and who is made worse off?  How do the total gains to the winners compare to the total losses incurred by the losers?  The following two chapters will use the tools of welfare economics to analyze taxes and international trade (including restrictions on trade).  Students typically find these applications very interesting, and they are much easier to learn after students have a good working knowledge of the material covered in this chapter.</a:t>
            </a:r>
          </a:p>
          <a:p>
            <a:pPr eaLnBrk="1" hangingPunct="1"/>
            <a:endParaRPr lang="en-US" sz="1200" dirty="0"/>
          </a:p>
          <a:p>
            <a:pPr eaLnBrk="1" hangingPunct="1"/>
            <a:r>
              <a:rPr lang="en-US" sz="1200" dirty="0"/>
              <a:t>Second, this chapter illuminates one of the most important ideas in economics:  Adam Smith’s invisible hand, </a:t>
            </a:r>
            <a:r>
              <a:rPr lang="en-US" sz="1200" i="0" dirty="0"/>
              <a:t>a.k.a.</a:t>
            </a:r>
            <a:r>
              <a:rPr lang="en-US" sz="1200" i="1" dirty="0"/>
              <a:t> </a:t>
            </a:r>
            <a:r>
              <a:rPr lang="en-US" sz="1200" dirty="0"/>
              <a:t>the principle that markets are usually a good way to organize economic activity. </a:t>
            </a:r>
          </a:p>
          <a:p>
            <a:pPr eaLnBrk="1" hangingPunct="1"/>
            <a:endParaRPr lang="en-US" sz="1200" dirty="0"/>
          </a:p>
          <a:p>
            <a:pPr eaLnBrk="1" hangingPunct="1"/>
            <a:r>
              <a:rPr lang="en-US" sz="1200" dirty="0"/>
              <a:t>Note that this analysis assumes perfect competition.  When this assumption fails, the market on its own may not maximize society’s well-being.  We will study such market failures in later chapters, and we’ll use the tools of welfare economics to see how public policy can improve on the market outcome in such cases. </a:t>
            </a:r>
          </a:p>
          <a:p>
            <a:pPr eaLnBrk="1" hangingPunct="1"/>
            <a:endParaRPr lang="en-US" i="0"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Here are the main sections in this chapter: </a:t>
            </a:r>
          </a:p>
          <a:p>
            <a:pPr marL="228600" indent="-228600">
              <a:buAutoNum type="arabicPeriod"/>
            </a:pPr>
            <a:r>
              <a:rPr lang="en-US" dirty="0"/>
              <a:t>Consumer Surplus</a:t>
            </a:r>
          </a:p>
          <a:p>
            <a:pPr marL="228600" indent="-228600">
              <a:buAutoNum type="arabicPeriod"/>
            </a:pPr>
            <a:r>
              <a:rPr lang="en-US" dirty="0"/>
              <a:t>Producer Surplus</a:t>
            </a:r>
          </a:p>
          <a:p>
            <a:pPr marL="228600" indent="-228600">
              <a:buAutoNum type="arabicPeriod"/>
            </a:pPr>
            <a:r>
              <a:rPr lang="en-US" dirty="0"/>
              <a:t>Market Efficiency </a:t>
            </a:r>
          </a:p>
          <a:p>
            <a:pPr marL="228600" indent="-228600">
              <a:buAutoNum type="arabicPeriod"/>
            </a:pPr>
            <a:r>
              <a:rPr lang="en-US" dirty="0"/>
              <a:t>Conclusion: Market Efficiency and Market Failure</a:t>
            </a:r>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Welfare economics looks at:</a:t>
            </a:r>
          </a:p>
          <a:p>
            <a:pPr marL="181240" indent="-181240">
              <a:buFont typeface="Arial" panose="020B0604020202020204" pitchFamily="34" charset="0"/>
              <a:buChar char="•"/>
            </a:pPr>
            <a:r>
              <a:rPr lang="en-US" altLang="en-US" dirty="0"/>
              <a:t>Benefits that buyers and sellers receive from engaging in market transactions</a:t>
            </a:r>
          </a:p>
          <a:p>
            <a:pPr marL="181240" indent="-181240">
              <a:buFont typeface="Arial" panose="020B0604020202020204" pitchFamily="34" charset="0"/>
              <a:buChar char="•"/>
            </a:pPr>
            <a:r>
              <a:rPr lang="en-US" altLang="en-US" dirty="0"/>
              <a:t>How society can make these benefits as large as possible</a:t>
            </a:r>
          </a:p>
          <a:p>
            <a:r>
              <a:rPr lang="en-US" altLang="en-US" dirty="0"/>
              <a:t>In any market, the equilibrium of supply and demand maximizes the total benefits received by all buyers and sellers combined. And this “conclusion” we will aim to prove by</a:t>
            </a:r>
            <a:r>
              <a:rPr lang="en-US" altLang="en-US" baseline="0" dirty="0"/>
              <a:t> the end of the chapter. </a:t>
            </a:r>
            <a:endParaRPr lang="en-US" alt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2657689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777069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the information in this table to showcase quantity demanded for various prices, to derive the demand (staircase demand) from the WTP, and to identify and calculate consumer surplus, and to identify changes in consumer surplus due to changes in prices (Examples 1A, 1B, 1C, 1D, and 1E)</a:t>
            </a:r>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777069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Give your students a few moments to fill in the table (we have price ranges already filled in in the table, they just have to figure out the quantity demanded (how many buyers can afford to buy the mini-5 in the price range specified).  Then reveal the answers.  Tell them that they have just constructed the demand schedule for refurbished iPad</a:t>
            </a:r>
            <a:r>
              <a:rPr lang="en-US" baseline="0" dirty="0"/>
              <a:t> mini 5s</a:t>
            </a:r>
            <a:r>
              <a:rPr lang="en-US" dirty="0"/>
              <a:t>.  </a:t>
            </a:r>
          </a:p>
          <a:p>
            <a:pPr eaLnBrk="1" hangingPunct="1"/>
            <a:endParaRPr lang="en-US" dirty="0"/>
          </a:p>
          <a:p>
            <a:pPr eaLnBrk="1" hangingPunct="1"/>
            <a:r>
              <a:rPr lang="en-US" dirty="0"/>
              <a:t>Next, we will use the demand schedule to draw the demand curve (just like in Chapter 4 when we first covered demand schedules and curves).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777069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40A7F8B1-2E2C-467E-A612-E7D19159AA90}" type="slidenum">
              <a:rPr lang="en-US" smtClean="0"/>
              <a:pPr/>
              <a:t>7</a:t>
            </a:fld>
            <a:endParaRPr lang="en-US"/>
          </a:p>
        </p:txBody>
      </p:sp>
      <p:sp>
        <p:nvSpPr>
          <p:cNvPr id="64515"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37E1ADB7-B199-43B3-939E-0F8F7A87EEFC}" type="slidenum">
              <a:rPr lang="en-US" sz="1300">
                <a:cs typeface="Arial" charset="0"/>
              </a:rPr>
              <a:pPr algn="r"/>
              <a:t>7</a:t>
            </a:fld>
            <a:endParaRPr lang="en-US" sz="1300">
              <a:cs typeface="Arial" charset="0"/>
            </a:endParaRPr>
          </a:p>
        </p:txBody>
      </p:sp>
      <p:sp>
        <p:nvSpPr>
          <p:cNvPr id="64516" name="Rectangle 2"/>
          <p:cNvSpPr>
            <a:spLocks noGrp="1" noRot="1" noChangeAspect="1" noChangeArrowheads="1" noTextEdit="1"/>
          </p:cNvSpPr>
          <p:nvPr>
            <p:ph type="sldImg"/>
          </p:nvPr>
        </p:nvSpPr>
        <p:spPr>
          <a:xfrm>
            <a:off x="1257300" y="561975"/>
            <a:ext cx="4800600" cy="3600450"/>
          </a:xfrm>
          <a:ln/>
        </p:spPr>
      </p:sp>
      <p:sp>
        <p:nvSpPr>
          <p:cNvPr id="64517" name="Rectangle 3"/>
          <p:cNvSpPr>
            <a:spLocks noGrp="1" noChangeArrowheads="1"/>
          </p:cNvSpPr>
          <p:nvPr>
            <p:ph type="body" idx="1"/>
          </p:nvPr>
        </p:nvSpPr>
        <p:spPr>
          <a:xfrm>
            <a:off x="731520" y="4460557"/>
            <a:ext cx="5852160" cy="4420553"/>
          </a:xfrm>
          <a:noFill/>
          <a:ln/>
        </p:spPr>
        <p:txBody>
          <a:bodyPr/>
          <a:lstStyle/>
          <a:p>
            <a:pPr eaLnBrk="1" hangingPunct="1"/>
            <a:r>
              <a:rPr lang="en-US" dirty="0"/>
              <a:t>The table on this slide consists of the</a:t>
            </a:r>
            <a:r>
              <a:rPr lang="en-US" baseline="0" dirty="0"/>
              <a:t> first and third </a:t>
            </a:r>
            <a:r>
              <a:rPr lang="en-US" dirty="0"/>
              <a:t>columns of the table on the preceding slide.  The numbers in these columns are the demand schedule for refurbished iPad mini 5s and give us the demand curve shown in the graph on this slide.  </a:t>
            </a:r>
          </a:p>
          <a:p>
            <a:pPr eaLnBrk="1" hangingPunct="1"/>
            <a:endParaRPr lang="en-US" dirty="0"/>
          </a:p>
          <a:p>
            <a:pPr eaLnBrk="1" hangingPunct="1"/>
            <a:r>
              <a:rPr lang="en-US" dirty="0"/>
              <a:t>The animation is as follows: </a:t>
            </a:r>
          </a:p>
          <a:p>
            <a:pPr eaLnBrk="1" hangingPunct="1"/>
            <a:endParaRPr lang="en-US" dirty="0"/>
          </a:p>
          <a:p>
            <a:pPr marL="171450" indent="-171450" eaLnBrk="1" hangingPunct="1">
              <a:buFont typeface="Arial" panose="020B0604020202020204" pitchFamily="34" charset="0"/>
              <a:buChar char="•"/>
            </a:pPr>
            <a:r>
              <a:rPr lang="en-US" dirty="0"/>
              <a:t>When </a:t>
            </a:r>
            <a:r>
              <a:rPr lang="en-US" b="1" dirty="0"/>
              <a:t>P</a:t>
            </a:r>
            <a:r>
              <a:rPr lang="en-US" dirty="0"/>
              <a:t> is $401 or higher, </a:t>
            </a:r>
            <a:r>
              <a:rPr lang="en-US" b="1" i="1" dirty="0" err="1"/>
              <a:t>Q</a:t>
            </a:r>
            <a:r>
              <a:rPr lang="en-US" b="1" baseline="30000" dirty="0" err="1"/>
              <a:t>d</a:t>
            </a:r>
            <a:r>
              <a:rPr lang="en-US" dirty="0"/>
              <a:t> is zero.  That part of the table is highlighted when the upper-most segment of the demand curve is revealed.  </a:t>
            </a:r>
          </a:p>
          <a:p>
            <a:pPr marL="171450" indent="-171450" eaLnBrk="1" hangingPunct="1">
              <a:buFont typeface="Arial" panose="020B0604020202020204" pitchFamily="34" charset="0"/>
              <a:buChar char="•"/>
            </a:pPr>
            <a:r>
              <a:rPr lang="en-US" dirty="0"/>
              <a:t>If the price falls to $400, then </a:t>
            </a:r>
            <a:r>
              <a:rPr lang="en-US" b="1" i="1" dirty="0" err="1"/>
              <a:t>Q</a:t>
            </a:r>
            <a:r>
              <a:rPr lang="en-US" b="1" baseline="30000" dirty="0" err="1"/>
              <a:t>d</a:t>
            </a:r>
            <a:r>
              <a:rPr lang="en-US" dirty="0"/>
              <a:t> increases to 1.  </a:t>
            </a:r>
          </a:p>
          <a:p>
            <a:pPr marL="171450" indent="-171450" eaLnBrk="1" hangingPunct="1">
              <a:buFont typeface="Arial" panose="020B0604020202020204" pitchFamily="34" charset="0"/>
              <a:buChar char="•"/>
            </a:pPr>
            <a:r>
              <a:rPr lang="en-US" dirty="0"/>
              <a:t>If the price is anywhere in the range $351–400, </a:t>
            </a:r>
            <a:r>
              <a:rPr lang="en-US" b="1" i="1" dirty="0" err="1"/>
              <a:t>Q</a:t>
            </a:r>
            <a:r>
              <a:rPr lang="en-US" b="1" baseline="30000" dirty="0" err="1"/>
              <a:t>d</a:t>
            </a:r>
            <a:r>
              <a:rPr lang="en-US" dirty="0"/>
              <a:t> = 1.  </a:t>
            </a:r>
          </a:p>
          <a:p>
            <a:pPr marL="171450" indent="-171450" eaLnBrk="1" hangingPunct="1">
              <a:buFont typeface="Arial" panose="020B0604020202020204" pitchFamily="34" charset="0"/>
              <a:buChar char="•"/>
            </a:pPr>
            <a:r>
              <a:rPr lang="en-US" dirty="0"/>
              <a:t>If the price falls to $350, then </a:t>
            </a:r>
            <a:r>
              <a:rPr lang="en-US" b="1" i="1" dirty="0" err="1"/>
              <a:t>Q</a:t>
            </a:r>
            <a:r>
              <a:rPr lang="en-US" b="1" baseline="30000" dirty="0" err="1"/>
              <a:t>d</a:t>
            </a:r>
            <a:r>
              <a:rPr lang="en-US" dirty="0"/>
              <a:t> increases to 2.  </a:t>
            </a:r>
          </a:p>
          <a:p>
            <a:pPr marL="171450" indent="-171450" eaLnBrk="1" hangingPunct="1">
              <a:buFont typeface="Arial" panose="020B0604020202020204" pitchFamily="34" charset="0"/>
              <a:buChar char="•"/>
            </a:pPr>
            <a:r>
              <a:rPr lang="en-US" dirty="0"/>
              <a:t>If the price is anywhere in the range $276–350, </a:t>
            </a:r>
            <a:r>
              <a:rPr lang="en-US" b="1" i="1" dirty="0" err="1"/>
              <a:t>Q</a:t>
            </a:r>
            <a:r>
              <a:rPr lang="en-US" b="1" baseline="30000" dirty="0" err="1"/>
              <a:t>d</a:t>
            </a:r>
            <a:r>
              <a:rPr lang="en-US" dirty="0"/>
              <a:t> = 2.  </a:t>
            </a:r>
          </a:p>
          <a:p>
            <a:pPr marL="171450" indent="-171450" eaLnBrk="1" hangingPunct="1">
              <a:buFont typeface="Arial" panose="020B0604020202020204" pitchFamily="34" charset="0"/>
              <a:buChar char="•"/>
            </a:pPr>
            <a:r>
              <a:rPr lang="en-US" dirty="0"/>
              <a:t>…and so forth. </a:t>
            </a:r>
          </a:p>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407E7089-B8A8-403D-8E37-E34E25AE7FF0}" type="slidenum">
              <a:rPr lang="en-US" smtClean="0"/>
              <a:pPr/>
              <a:t>8</a:t>
            </a:fld>
            <a:endParaRPr lang="en-US"/>
          </a:p>
        </p:txBody>
      </p:sp>
      <p:sp>
        <p:nvSpPr>
          <p:cNvPr id="65539"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D1507270-4411-42B4-BE22-D292C6026324}" type="slidenum">
              <a:rPr lang="en-US" sz="1300">
                <a:cs typeface="Arial" charset="0"/>
              </a:rPr>
              <a:pPr algn="r"/>
              <a:t>8</a:t>
            </a:fld>
            <a:endParaRPr lang="en-US" sz="1300">
              <a:cs typeface="Arial" charset="0"/>
            </a:endParaRPr>
          </a:p>
        </p:txBody>
      </p:sp>
      <p:sp>
        <p:nvSpPr>
          <p:cNvPr id="65540" name="Rectangle 2"/>
          <p:cNvSpPr>
            <a:spLocks noGrp="1" noRot="1" noChangeAspect="1" noChangeArrowheads="1" noTextEdit="1"/>
          </p:cNvSpPr>
          <p:nvPr>
            <p:ph type="sldImg"/>
          </p:nvPr>
        </p:nvSpPr>
        <p:spPr>
          <a:xfrm>
            <a:off x="1257300" y="561975"/>
            <a:ext cx="4800600" cy="3600450"/>
          </a:xfrm>
          <a:ln/>
        </p:spPr>
      </p:sp>
      <p:sp>
        <p:nvSpPr>
          <p:cNvPr id="65541" name="Rectangle 3"/>
          <p:cNvSpPr>
            <a:spLocks noGrp="1" noChangeArrowheads="1"/>
          </p:cNvSpPr>
          <p:nvPr>
            <p:ph type="body" idx="1"/>
          </p:nvPr>
        </p:nvSpPr>
        <p:spPr>
          <a:xfrm>
            <a:off x="731520" y="4460557"/>
            <a:ext cx="5852160" cy="4420553"/>
          </a:xfrm>
          <a:noFill/>
          <a:ln/>
        </p:spPr>
        <p:txBody>
          <a:bodyPr/>
          <a:lstStyle/>
          <a:p>
            <a:pPr eaLnBrk="1" hangingPunct="1"/>
            <a:r>
              <a:rPr lang="en-US" dirty="0"/>
              <a:t>After the previous slide, most of your students will probably understand where this </a:t>
            </a:r>
            <a:r>
              <a:rPr lang="en-US" b="1" i="1" dirty="0"/>
              <a:t>D</a:t>
            </a:r>
            <a:r>
              <a:rPr lang="en-US" dirty="0"/>
              <a:t> curve comes from, but its staircase-like shape will seem quite odd to them.  </a:t>
            </a:r>
          </a:p>
          <a:p>
            <a:pPr eaLnBrk="1" hangingPunct="1"/>
            <a:endParaRPr lang="en-US" dirty="0"/>
          </a:p>
          <a:p>
            <a:pPr eaLnBrk="1" hangingPunct="1"/>
            <a:r>
              <a:rPr lang="en-US" dirty="0"/>
              <a:t>Point out that it has four “steps,” one for each buyer.  Suppose there were 10 buyers instead of 4; how many steps would it have?  Ten, of course.  If there were 20 buyers, this </a:t>
            </a:r>
            <a:r>
              <a:rPr lang="en-US" b="1" i="1" dirty="0"/>
              <a:t>D</a:t>
            </a:r>
            <a:r>
              <a:rPr lang="en-US" dirty="0"/>
              <a:t> “curve” would have 20 steps.  </a:t>
            </a:r>
          </a:p>
          <a:p>
            <a:pPr eaLnBrk="1" hangingPunct="1"/>
            <a:endParaRPr lang="en-US" dirty="0"/>
          </a:p>
          <a:p>
            <a:pPr eaLnBrk="1" hangingPunct="1"/>
            <a:r>
              <a:rPr lang="en-US" dirty="0"/>
              <a:t>A perfectly competitive market has a huge number of buyers.  Suppose there were 10,000 buyers in the market for iPads (a tiny fraction of the actual number of buyers!).  Then, the number of steps would be 10,000.  In relation to the graph, each step would be insignificantly small, and the </a:t>
            </a:r>
            <a:r>
              <a:rPr lang="en-US" b="1" i="1" dirty="0"/>
              <a:t>D</a:t>
            </a:r>
            <a:r>
              <a:rPr lang="en-US" dirty="0"/>
              <a:t> curve would look like a smooth curve rather than a staircase, even though it really is a staircase—one with 10,000 infinitesimally small steps.  </a:t>
            </a:r>
          </a:p>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DD6C85A0-85AC-4ACA-9715-7C6E5D340FB7}" type="slidenum">
              <a:rPr lang="en-US" smtClean="0"/>
              <a:pPr/>
              <a:t>9</a:t>
            </a:fld>
            <a:endParaRPr lang="en-US"/>
          </a:p>
        </p:txBody>
      </p:sp>
      <p:sp>
        <p:nvSpPr>
          <p:cNvPr id="6656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5D734251-E0DC-4B05-811D-01D40DBF38F0}" type="slidenum">
              <a:rPr lang="en-US" sz="1300">
                <a:cs typeface="Arial" charset="0"/>
              </a:rPr>
              <a:pPr algn="r"/>
              <a:t>9</a:t>
            </a:fld>
            <a:endParaRPr lang="en-US" sz="1300">
              <a:cs typeface="Arial" charset="0"/>
            </a:endParaRPr>
          </a:p>
        </p:txBody>
      </p:sp>
      <p:sp>
        <p:nvSpPr>
          <p:cNvPr id="66564" name="Rectangle 2"/>
          <p:cNvSpPr>
            <a:spLocks noGrp="1" noRot="1" noChangeAspect="1" noChangeArrowheads="1" noTextEdit="1"/>
          </p:cNvSpPr>
          <p:nvPr>
            <p:ph type="sldImg"/>
          </p:nvPr>
        </p:nvSpPr>
        <p:spPr>
          <a:xfrm>
            <a:off x="1257300" y="561975"/>
            <a:ext cx="4800600" cy="3600450"/>
          </a:xfrm>
          <a:ln/>
        </p:spPr>
      </p:sp>
      <p:sp>
        <p:nvSpPr>
          <p:cNvPr id="66565" name="Rectangle 3"/>
          <p:cNvSpPr>
            <a:spLocks noGrp="1" noChangeArrowheads="1"/>
          </p:cNvSpPr>
          <p:nvPr>
            <p:ph type="body" idx="1"/>
          </p:nvPr>
        </p:nvSpPr>
        <p:spPr>
          <a:xfrm>
            <a:off x="731520" y="4460557"/>
            <a:ext cx="5852160" cy="4420553"/>
          </a:xfrm>
          <a:noFill/>
          <a:ln/>
        </p:spPr>
        <p:txBody>
          <a:bodyPr/>
          <a:lstStyle/>
          <a:p>
            <a:pPr marL="171450" indent="-171450" eaLnBrk="1" hangingPunct="1">
              <a:buFont typeface="Arial" panose="020B0604020202020204" pitchFamily="34" charset="0"/>
              <a:buChar char="•"/>
            </a:pPr>
            <a:r>
              <a:rPr lang="en-US" dirty="0"/>
              <a:t>When </a:t>
            </a:r>
            <a:r>
              <a:rPr lang="en-US" b="1" i="1" dirty="0"/>
              <a:t>Q</a:t>
            </a:r>
            <a:r>
              <a:rPr lang="en-US" dirty="0"/>
              <a:t> = 1, the height of the demand curve is $400, which is Fatima’s willingness to pay, or how much she values a refurbished iPad mini-5.  At any price higher than $400, Fatima leaves the market; hence, at </a:t>
            </a:r>
            <a:r>
              <a:rPr lang="en-US" b="1" i="1" dirty="0"/>
              <a:t>Q</a:t>
            </a:r>
            <a:r>
              <a:rPr lang="en-US" dirty="0"/>
              <a:t> = 1, Fatima is the marginal buyer.  </a:t>
            </a:r>
          </a:p>
          <a:p>
            <a:pPr marL="171450" indent="-171450" eaLnBrk="1" hangingPunct="1">
              <a:buFont typeface="Arial" panose="020B0604020202020204" pitchFamily="34" charset="0"/>
              <a:buChar char="•"/>
            </a:pPr>
            <a:endParaRPr lang="en-US" dirty="0"/>
          </a:p>
          <a:p>
            <a:pPr marL="171450" indent="-171450" eaLnBrk="1" hangingPunct="1">
              <a:buFont typeface="Arial" panose="020B0604020202020204" pitchFamily="34" charset="0"/>
              <a:buChar char="•"/>
            </a:pPr>
            <a:r>
              <a:rPr lang="en-US" dirty="0"/>
              <a:t>When </a:t>
            </a:r>
            <a:r>
              <a:rPr lang="en-US" b="1" i="1" dirty="0"/>
              <a:t>Q</a:t>
            </a:r>
            <a:r>
              <a:rPr lang="en-US" dirty="0"/>
              <a:t> = 2, the height of the demand curve is $350, which is Alexis’ willingness to pay, or how much she values a refurbished iPad mini-5.  At any price higher than $350, Alexis leaves the market; hence, at </a:t>
            </a:r>
            <a:r>
              <a:rPr lang="en-US" b="1" i="1" dirty="0"/>
              <a:t>Q</a:t>
            </a:r>
            <a:r>
              <a:rPr lang="en-US" dirty="0"/>
              <a:t> = 2, Alexis is the marginal buyer.  </a:t>
            </a:r>
          </a:p>
          <a:p>
            <a:pPr marL="171450" indent="-171450" eaLnBrk="1" hangingPunct="1">
              <a:buFont typeface="Arial" panose="020B0604020202020204" pitchFamily="34" charset="0"/>
              <a:buChar char="•"/>
            </a:pPr>
            <a:endParaRPr lang="en-US" dirty="0"/>
          </a:p>
          <a:p>
            <a:pPr marL="171450" indent="-171450" eaLnBrk="1" hangingPunct="1">
              <a:buFont typeface="Arial" panose="020B0604020202020204" pitchFamily="34" charset="0"/>
              <a:buChar char="•"/>
            </a:pPr>
            <a:r>
              <a:rPr lang="en-US" dirty="0"/>
              <a:t>And so forth.  </a:t>
            </a:r>
          </a:p>
          <a:p>
            <a:pPr eaLnBrk="1" hangingPunct="1"/>
            <a:endParaRPr lang="en-US" dirty="0"/>
          </a:p>
          <a:p>
            <a:pPr eaLnBrk="1" hangingPunct="1"/>
            <a:r>
              <a:rPr lang="en-US" dirty="0"/>
              <a:t>The lesson here is summarized in the text on the right side of the screen:  At each </a:t>
            </a:r>
            <a:r>
              <a:rPr lang="en-US" b="1" i="1" dirty="0"/>
              <a:t>Q</a:t>
            </a:r>
            <a:r>
              <a:rPr lang="en-US" dirty="0"/>
              <a:t>, the height of the </a:t>
            </a:r>
            <a:r>
              <a:rPr lang="en-US" b="1" i="1" dirty="0"/>
              <a:t>D</a:t>
            </a:r>
            <a:r>
              <a:rPr lang="en-US" dirty="0"/>
              <a:t> curve tells you the marginal buyer’s willingness to pay, or how much that buyer values the good.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Consumer surplus is the amount a buyer is willing to pay minus the amount the buyer actually pays; it measures the benefits buyers receive from participating in a market. </a:t>
            </a:r>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777069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752A5780-8615-4032-9D1C-B2055BF3EDE4}" type="slidenum">
              <a:rPr lang="en-US" smtClean="0"/>
              <a:pPr/>
              <a:t>11</a:t>
            </a:fld>
            <a:endParaRPr lang="en-US"/>
          </a:p>
        </p:txBody>
      </p:sp>
      <p:sp>
        <p:nvSpPr>
          <p:cNvPr id="6861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E605B779-FF25-463A-B7E7-DDCD110980E8}" type="slidenum">
              <a:rPr lang="en-US" sz="1300">
                <a:cs typeface="Arial" charset="0"/>
              </a:rPr>
              <a:pPr algn="r"/>
              <a:t>11</a:t>
            </a:fld>
            <a:endParaRPr lang="en-US" sz="1300">
              <a:cs typeface="Arial" charset="0"/>
            </a:endParaRPr>
          </a:p>
        </p:txBody>
      </p:sp>
      <p:sp>
        <p:nvSpPr>
          <p:cNvPr id="68612" name="Rectangle 2"/>
          <p:cNvSpPr>
            <a:spLocks noGrp="1" noRot="1" noChangeAspect="1" noChangeArrowheads="1" noTextEdit="1"/>
          </p:cNvSpPr>
          <p:nvPr>
            <p:ph type="sldImg"/>
          </p:nvPr>
        </p:nvSpPr>
        <p:spPr>
          <a:xfrm>
            <a:off x="1257300" y="561975"/>
            <a:ext cx="4800600" cy="3600450"/>
          </a:xfrm>
          <a:ln/>
        </p:spPr>
      </p:sp>
      <p:sp>
        <p:nvSpPr>
          <p:cNvPr id="68613" name="Rectangle 3"/>
          <p:cNvSpPr>
            <a:spLocks noGrp="1" noChangeArrowheads="1"/>
          </p:cNvSpPr>
          <p:nvPr>
            <p:ph type="body" idx="1"/>
          </p:nvPr>
        </p:nvSpPr>
        <p:spPr>
          <a:xfrm>
            <a:off x="731520" y="4460557"/>
            <a:ext cx="5852160" cy="4420553"/>
          </a:xfrm>
          <a:noFill/>
          <a:ln/>
        </p:spPr>
        <p:txBody>
          <a:bodyPr/>
          <a:lstStyle/>
          <a:p>
            <a:pPr eaLnBrk="1" hangingPunct="1"/>
            <a:r>
              <a:rPr lang="en-US" dirty="0"/>
              <a:t>The area of any rectangle equals base times height.  </a:t>
            </a:r>
          </a:p>
          <a:p>
            <a:pPr eaLnBrk="1" hangingPunct="1"/>
            <a:endParaRPr lang="en-US" dirty="0"/>
          </a:p>
          <a:p>
            <a:pPr eaLnBrk="1" hangingPunct="1"/>
            <a:r>
              <a:rPr lang="en-US" dirty="0"/>
              <a:t>For the green rectangle on this slide, </a:t>
            </a:r>
          </a:p>
          <a:p>
            <a:pPr marL="628650" lvl="1" indent="-171450" eaLnBrk="1" hangingPunct="1">
              <a:buFont typeface="Arial" panose="020B0604020202020204" pitchFamily="34" charset="0"/>
              <a:buChar char="•"/>
            </a:pPr>
            <a:r>
              <a:rPr lang="en-US" dirty="0"/>
              <a:t>base = 1  (difference in quantities 1 – 0 =</a:t>
            </a:r>
            <a:r>
              <a:rPr lang="en-US" baseline="0" dirty="0"/>
              <a:t> 1) </a:t>
            </a:r>
            <a:endParaRPr lang="en-US" dirty="0"/>
          </a:p>
          <a:p>
            <a:pPr marL="628650" lvl="1" indent="-171450" eaLnBrk="1" hangingPunct="1">
              <a:buFont typeface="Arial" panose="020B0604020202020204" pitchFamily="34" charset="0"/>
              <a:buChar char="•"/>
            </a:pPr>
            <a:r>
              <a:rPr lang="en-US" dirty="0"/>
              <a:t>height = $400 – 360 = $40</a:t>
            </a:r>
          </a:p>
          <a:p>
            <a:pPr marL="628650" lvl="1" indent="-171450" eaLnBrk="1" hangingPunct="1">
              <a:buFont typeface="Arial" panose="020B0604020202020204" pitchFamily="34" charset="0"/>
              <a:buChar char="•"/>
            </a:pPr>
            <a:r>
              <a:rPr lang="en-US" dirty="0"/>
              <a:t>CS = area of green rectangle = (base × height) = 1 x $40 = $40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B647EAA2-7B44-4C77-8ADB-701813562B2E}" type="slidenum">
              <a:rPr lang="en-US" smtClean="0"/>
              <a:pPr/>
              <a:t>12</a:t>
            </a:fld>
            <a:endParaRPr lang="en-US"/>
          </a:p>
        </p:txBody>
      </p:sp>
      <p:sp>
        <p:nvSpPr>
          <p:cNvPr id="69635"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D9AE7E3B-B11D-453E-B364-C5B245F4435C}" type="slidenum">
              <a:rPr lang="en-US" sz="1300">
                <a:cs typeface="Arial" charset="0"/>
              </a:rPr>
              <a:pPr algn="r"/>
              <a:t>12</a:t>
            </a:fld>
            <a:endParaRPr lang="en-US" sz="1300">
              <a:cs typeface="Arial" charset="0"/>
            </a:endParaRPr>
          </a:p>
        </p:txBody>
      </p:sp>
      <p:sp>
        <p:nvSpPr>
          <p:cNvPr id="69636" name="Rectangle 2"/>
          <p:cNvSpPr>
            <a:spLocks noGrp="1" noRot="1" noChangeAspect="1" noChangeArrowheads="1" noTextEdit="1"/>
          </p:cNvSpPr>
          <p:nvPr>
            <p:ph type="sldImg"/>
          </p:nvPr>
        </p:nvSpPr>
        <p:spPr>
          <a:xfrm>
            <a:off x="1257300" y="561975"/>
            <a:ext cx="4800600" cy="3600450"/>
          </a:xfrm>
          <a:ln/>
        </p:spPr>
      </p:sp>
      <p:sp>
        <p:nvSpPr>
          <p:cNvPr id="69637" name="Rectangle 3"/>
          <p:cNvSpPr>
            <a:spLocks noGrp="1" noChangeArrowheads="1"/>
          </p:cNvSpPr>
          <p:nvPr>
            <p:ph type="body" idx="1"/>
          </p:nvPr>
        </p:nvSpPr>
        <p:spPr>
          <a:xfrm>
            <a:off x="731520" y="4460557"/>
            <a:ext cx="5852160" cy="4420553"/>
          </a:xfrm>
          <a:noFill/>
          <a:ln/>
        </p:spPr>
        <p:txBody>
          <a:bodyPr/>
          <a:lstStyle/>
          <a:p>
            <a:pPr eaLnBrk="1" hangingPunct="1"/>
            <a:r>
              <a:rPr lang="en-US" dirty="0"/>
              <a:t>The entire green area (total </a:t>
            </a:r>
            <a:r>
              <a:rPr lang="en-US" b="1" i="1" dirty="0"/>
              <a:t>CS</a:t>
            </a:r>
            <a:r>
              <a:rPr lang="en-US" dirty="0"/>
              <a:t>) can be divided into two rectangles:  </a:t>
            </a:r>
          </a:p>
          <a:p>
            <a:pPr eaLnBrk="1" hangingPunct="1"/>
            <a:endParaRPr lang="en-US" dirty="0"/>
          </a:p>
          <a:p>
            <a:pPr marL="171450" indent="-171450" eaLnBrk="1" hangingPunct="1">
              <a:buFont typeface="Arial" panose="020B0604020202020204" pitchFamily="34" charset="0"/>
              <a:buChar char="•"/>
            </a:pPr>
            <a:r>
              <a:rPr lang="en-US" dirty="0"/>
              <a:t>The first (and leftmost) represents Fatima’s </a:t>
            </a:r>
            <a:r>
              <a:rPr lang="en-US" b="1" i="1" dirty="0"/>
              <a:t>CS</a:t>
            </a:r>
            <a:r>
              <a:rPr lang="en-US" dirty="0"/>
              <a:t>.  It has a height of $80 (=$400 - $320) and a width of 1 (=1 – 0). </a:t>
            </a:r>
          </a:p>
          <a:p>
            <a:pPr marL="171450" indent="-171450" eaLnBrk="1" hangingPunct="1">
              <a:buFont typeface="Arial" panose="020B0604020202020204" pitchFamily="34" charset="0"/>
              <a:buChar char="•"/>
            </a:pPr>
            <a:r>
              <a:rPr lang="en-US" dirty="0"/>
              <a:t>The second represents Alexis’ </a:t>
            </a:r>
            <a:r>
              <a:rPr lang="en-US" b="1" i="1" dirty="0"/>
              <a:t>CS</a:t>
            </a:r>
            <a:r>
              <a:rPr lang="en-US" dirty="0"/>
              <a:t>.  It has a height of $30 and a width of 1.  </a:t>
            </a:r>
          </a:p>
          <a:p>
            <a:pPr marL="171450" indent="-171450" eaLnBrk="1" hangingPunct="1">
              <a:buFont typeface="Arial" panose="020B0604020202020204" pitchFamily="34" charset="0"/>
              <a:buChar char="•"/>
            </a:pPr>
            <a:r>
              <a:rPr lang="en-US" dirty="0"/>
              <a:t>The sum of these two rectangular areas equals total </a:t>
            </a:r>
            <a:r>
              <a:rPr lang="en-US" b="1" i="1" dirty="0"/>
              <a:t>CS</a:t>
            </a:r>
            <a:r>
              <a:rPr lang="en-US" dirty="0"/>
              <a:t>.  </a:t>
            </a:r>
          </a:p>
          <a:p>
            <a:pPr eaLnBrk="1" hangingPunct="1"/>
            <a:endParaRPr lang="en-US" dirty="0"/>
          </a:p>
          <a:p>
            <a:pPr eaLnBrk="1" hangingPunct="1"/>
            <a:r>
              <a:rPr lang="en-US" dirty="0"/>
              <a:t>As the price dropped from P = $360 (previous slide) to P = $320 (here), the CS increased from $80 to $110.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it was easy to see why in the previous example, the total consumer surplus was the area under the demand curve and above the price, for a linear demand, the explanation on this slide will help.</a:t>
            </a:r>
          </a:p>
          <a:p>
            <a:endParaRPr lang="en-US" dirty="0"/>
          </a:p>
          <a:p>
            <a:r>
              <a:rPr lang="en-US" dirty="0"/>
              <a:t>In most markets, consumer surplus reflects buyers’ economic well-being. Since our assumption is that buyers are rational, and rational people do the best they can to achieve their objectives, then consumers are the best judges of how much benefit they get from the goods they buy (as measured by CS).</a:t>
            </a:r>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777069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6258D9FD-DDCD-4F80-BB9A-A24EE68F43DA}" type="slidenum">
              <a:rPr lang="en-US" smtClean="0"/>
              <a:pPr/>
              <a:t>14</a:t>
            </a:fld>
            <a:endParaRPr lang="en-US"/>
          </a:p>
        </p:txBody>
      </p:sp>
      <p:sp>
        <p:nvSpPr>
          <p:cNvPr id="7168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8233A650-169C-4F9F-BCCE-41A74BFB4332}" type="slidenum">
              <a:rPr lang="en-US" sz="1300">
                <a:cs typeface="Arial" charset="0"/>
              </a:rPr>
              <a:pPr algn="r"/>
              <a:t>14</a:t>
            </a:fld>
            <a:endParaRPr lang="en-US" sz="1300">
              <a:cs typeface="Arial" charset="0"/>
            </a:endParaRPr>
          </a:p>
        </p:txBody>
      </p:sp>
      <p:sp>
        <p:nvSpPr>
          <p:cNvPr id="71684" name="Rectangle 2"/>
          <p:cNvSpPr>
            <a:spLocks noGrp="1" noRot="1" noChangeAspect="1" noChangeArrowheads="1" noTextEdit="1"/>
          </p:cNvSpPr>
          <p:nvPr>
            <p:ph type="sldImg"/>
          </p:nvPr>
        </p:nvSpPr>
        <p:spPr>
          <a:xfrm>
            <a:off x="1257300" y="561975"/>
            <a:ext cx="4800600" cy="3600450"/>
          </a:xfrm>
          <a:ln/>
        </p:spPr>
      </p:sp>
      <p:sp>
        <p:nvSpPr>
          <p:cNvPr id="71685" name="Rectangle 3"/>
          <p:cNvSpPr>
            <a:spLocks noGrp="1" noChangeArrowheads="1"/>
          </p:cNvSpPr>
          <p:nvPr>
            <p:ph type="body" idx="1"/>
          </p:nvPr>
        </p:nvSpPr>
        <p:spPr>
          <a:xfrm>
            <a:off x="731520" y="4460557"/>
            <a:ext cx="5852160" cy="4420553"/>
          </a:xfrm>
          <a:noFill/>
          <a:ln/>
        </p:spPr>
        <p:txBody>
          <a:bodyPr/>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9CA4E8F3-2B9B-45B1-BE74-BD7D913A4C1D}" type="slidenum">
              <a:rPr lang="en-US" smtClean="0"/>
              <a:pPr/>
              <a:t>15</a:t>
            </a:fld>
            <a:endParaRPr lang="en-US"/>
          </a:p>
        </p:txBody>
      </p:sp>
      <p:sp>
        <p:nvSpPr>
          <p:cNvPr id="7270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9301F562-7609-476D-A569-DA6D25B22D80}" type="slidenum">
              <a:rPr lang="en-US" sz="1300">
                <a:cs typeface="Arial" charset="0"/>
              </a:rPr>
              <a:pPr algn="r"/>
              <a:t>15</a:t>
            </a:fld>
            <a:endParaRPr lang="en-US" sz="1300">
              <a:cs typeface="Arial" charset="0"/>
            </a:endParaRPr>
          </a:p>
        </p:txBody>
      </p:sp>
      <p:sp>
        <p:nvSpPr>
          <p:cNvPr id="72708" name="Rectangle 2"/>
          <p:cNvSpPr>
            <a:spLocks noGrp="1" noRot="1" noChangeAspect="1" noChangeArrowheads="1" noTextEdit="1"/>
          </p:cNvSpPr>
          <p:nvPr>
            <p:ph type="sldImg"/>
          </p:nvPr>
        </p:nvSpPr>
        <p:spPr>
          <a:xfrm>
            <a:off x="1257300" y="561975"/>
            <a:ext cx="4800600" cy="3600450"/>
          </a:xfrm>
          <a:ln/>
        </p:spPr>
      </p:sp>
      <p:sp>
        <p:nvSpPr>
          <p:cNvPr id="72709" name="Rectangle 3"/>
          <p:cNvSpPr>
            <a:spLocks noGrp="1" noChangeArrowheads="1"/>
          </p:cNvSpPr>
          <p:nvPr>
            <p:ph type="body" idx="1"/>
          </p:nvPr>
        </p:nvSpPr>
        <p:spPr>
          <a:xfrm>
            <a:off x="731520" y="4460557"/>
            <a:ext cx="5852160" cy="4420553"/>
          </a:xfrm>
          <a:noFill/>
          <a:ln/>
        </p:spPr>
        <p:txBody>
          <a:bodyPr/>
          <a:lstStyle/>
          <a:p>
            <a:pPr eaLnBrk="1" hangingPunct="1"/>
            <a:r>
              <a:rPr lang="en-US" dirty="0"/>
              <a:t>Some students mistake the upper vertical intercept ($60 in this example) for the height of the blue triangle:  they forget to subtract off the height of the bottom of the triangle from the height of the top of the triangle.  So, the first one or two times, it might be worthwhile to show them how to find the height of the triangle.  </a:t>
            </a:r>
          </a:p>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90D02B21-51A3-4B6E-A0F3-68010129A3F4}" type="slidenum">
              <a:rPr lang="en-US" smtClean="0"/>
              <a:pPr/>
              <a:t>16</a:t>
            </a:fld>
            <a:endParaRPr lang="en-US"/>
          </a:p>
        </p:txBody>
      </p:sp>
      <p:sp>
        <p:nvSpPr>
          <p:cNvPr id="7373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A9A884CA-8334-48DA-8FEB-0FF92212994F}" type="slidenum">
              <a:rPr lang="en-US" sz="1300">
                <a:cs typeface="Arial" charset="0"/>
              </a:rPr>
              <a:pPr algn="r"/>
              <a:t>16</a:t>
            </a:fld>
            <a:endParaRPr lang="en-US" sz="1300">
              <a:cs typeface="Arial" charset="0"/>
            </a:endParaRPr>
          </a:p>
        </p:txBody>
      </p:sp>
      <p:sp>
        <p:nvSpPr>
          <p:cNvPr id="73732" name="Rectangle 2"/>
          <p:cNvSpPr>
            <a:spLocks noGrp="1" noRot="1" noChangeAspect="1" noChangeArrowheads="1" noTextEdit="1"/>
          </p:cNvSpPr>
          <p:nvPr>
            <p:ph type="sldImg"/>
          </p:nvPr>
        </p:nvSpPr>
        <p:spPr>
          <a:xfrm>
            <a:off x="1257300" y="561975"/>
            <a:ext cx="4800600" cy="3600450"/>
          </a:xfrm>
          <a:ln/>
        </p:spPr>
      </p:sp>
      <p:sp>
        <p:nvSpPr>
          <p:cNvPr id="73733" name="Rectangle 3"/>
          <p:cNvSpPr>
            <a:spLocks noGrp="1" noChangeArrowheads="1"/>
          </p:cNvSpPr>
          <p:nvPr>
            <p:ph type="body" idx="1"/>
          </p:nvPr>
        </p:nvSpPr>
        <p:spPr>
          <a:xfrm>
            <a:off x="731520" y="4460557"/>
            <a:ext cx="5852160" cy="4420553"/>
          </a:xfrm>
          <a:noFill/>
          <a:ln/>
        </p:spPr>
        <p:txBody>
          <a:bodyPr/>
          <a:lstStyle/>
          <a:p>
            <a:pPr eaLnBrk="1" hangingPunct="1"/>
            <a:r>
              <a:rPr lang="en-US" dirty="0"/>
              <a:t>The textbook shows how a lower price increases </a:t>
            </a:r>
            <a:r>
              <a:rPr lang="en-US" b="1" i="1" dirty="0"/>
              <a:t>CS</a:t>
            </a:r>
            <a:r>
              <a:rPr lang="en-US" dirty="0"/>
              <a:t> ( something we have observed in Example 1E).  Here we see how and why a higher price</a:t>
            </a:r>
            <a:r>
              <a:rPr lang="en-US" baseline="0" dirty="0"/>
              <a:t> decreases </a:t>
            </a:r>
            <a:r>
              <a:rPr lang="en-US" b="1" baseline="0" dirty="0"/>
              <a:t>CS</a:t>
            </a:r>
            <a:r>
              <a:rPr lang="en-US" baseline="0" dirty="0"/>
              <a:t>.</a:t>
            </a:r>
          </a:p>
          <a:p>
            <a:pPr eaLnBrk="1" hangingPunct="1"/>
            <a:endParaRPr lang="en-US" baseline="0" dirty="0"/>
          </a:p>
          <a:p>
            <a:pPr eaLnBrk="1" hangingPunct="1"/>
            <a:r>
              <a:rPr lang="en-US" baseline="0" dirty="0"/>
              <a:t>The two reasons why </a:t>
            </a:r>
            <a:r>
              <a:rPr lang="en-US" b="1" i="1" u="sng" baseline="0" dirty="0"/>
              <a:t>CS</a:t>
            </a:r>
            <a:r>
              <a:rPr lang="en-US" i="1" u="sng" baseline="0" dirty="0"/>
              <a:t> increases when </a:t>
            </a:r>
            <a:r>
              <a:rPr lang="en-US" b="1" i="1" u="sng" baseline="0" dirty="0"/>
              <a:t>P</a:t>
            </a:r>
            <a:r>
              <a:rPr lang="en-US" i="1" u="sng" baseline="0" dirty="0"/>
              <a:t> falls</a:t>
            </a:r>
            <a:r>
              <a:rPr lang="en-US" baseline="0" dirty="0"/>
              <a:t> are:</a:t>
            </a:r>
          </a:p>
          <a:p>
            <a:pPr marL="228600" indent="-228600" eaLnBrk="1" hangingPunct="1">
              <a:buAutoNum type="arabicPeriod"/>
            </a:pPr>
            <a:r>
              <a:rPr lang="en-US" baseline="0" dirty="0"/>
              <a:t>An increase in </a:t>
            </a:r>
            <a:r>
              <a:rPr lang="en-US" b="1" i="1" dirty="0"/>
              <a:t>CS</a:t>
            </a:r>
            <a:r>
              <a:rPr lang="en-US" baseline="0" dirty="0"/>
              <a:t> due to more buyers purchasing the good (law of demand: lower </a:t>
            </a:r>
            <a:r>
              <a:rPr lang="en-US" b="1" i="1" baseline="0" dirty="0"/>
              <a:t>P</a:t>
            </a:r>
            <a:r>
              <a:rPr lang="en-US" baseline="0" dirty="0"/>
              <a:t> attracts more customers).</a:t>
            </a:r>
          </a:p>
          <a:p>
            <a:pPr marL="228600" indent="-228600" eaLnBrk="1" hangingPunct="1">
              <a:buAutoNum type="arabicPeriod"/>
            </a:pPr>
            <a:r>
              <a:rPr lang="en-US" baseline="0" dirty="0"/>
              <a:t>An increase in </a:t>
            </a:r>
            <a:r>
              <a:rPr lang="en-US" b="1" i="1" dirty="0"/>
              <a:t>CS</a:t>
            </a:r>
            <a:r>
              <a:rPr lang="en-US" baseline="0" dirty="0"/>
              <a:t> due to existing buyers paying the lower price.</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a:t>A good exercise to break up the lecture, engage students, and assess their learning so far. Allow your students</a:t>
            </a:r>
            <a:r>
              <a:rPr lang="en-US" sz="1200" baseline="0" dirty="0"/>
              <a:t> 5 minutes to work by themselves or in groups before asking for volunteers to share their answers.  The answers are on the next slide.</a:t>
            </a:r>
            <a:endParaRPr lang="en-US" sz="1200" dirty="0"/>
          </a:p>
          <a:p>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includes cost of all resources used to produce good, including value of the seller’s time (opportunity cost).</a:t>
            </a:r>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3003565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2609349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The material on cost, producer surplus, and the supply curve is analogous to the material earlier on WTP, consumer surplus, and the demand curve. Therefore, this section provides a bit less detail and should move a little more quickly. </a:t>
            </a:r>
          </a:p>
          <a:p>
            <a:pPr marL="0" marR="0" indent="0" algn="l" defTabSz="966612" rtl="0" eaLnBrk="1" fontAlgn="auto" latinLnBrk="0" hangingPunct="1">
              <a:lnSpc>
                <a:spcPct val="100000"/>
              </a:lnSpc>
              <a:spcBef>
                <a:spcPts val="0"/>
              </a:spcBef>
              <a:spcAft>
                <a:spcPts val="0"/>
              </a:spcAft>
              <a:buClrTx/>
              <a:buSzTx/>
              <a:buFontTx/>
              <a:buNone/>
              <a:tabLst/>
              <a:defRPr/>
            </a:pPr>
            <a:r>
              <a:rPr lang="en-US" dirty="0"/>
              <a:t>Give your students a few moments to fill in the table.  Then reveal the answers.  Tell them that they have just constructed the supply schedule for lawn-mowing services.  </a:t>
            </a:r>
          </a:p>
          <a:p>
            <a:pPr defTabSz="966612">
              <a:defRPr/>
            </a:pPr>
            <a:r>
              <a:rPr lang="en-US" dirty="0"/>
              <a:t> </a:t>
            </a:r>
          </a:p>
          <a:p>
            <a:pPr defTabSz="966612">
              <a:defRPr/>
            </a:pP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3003565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F2B347CB-53B8-40B3-913F-667A37F1FB5C}" type="slidenum">
              <a:rPr lang="en-US" smtClean="0"/>
              <a:pPr/>
              <a:t>22</a:t>
            </a:fld>
            <a:endParaRPr lang="en-US"/>
          </a:p>
        </p:txBody>
      </p:sp>
      <p:sp>
        <p:nvSpPr>
          <p:cNvPr id="7885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057DF588-9110-4B8C-A810-9CDB91E4E0CB}" type="slidenum">
              <a:rPr lang="en-US" sz="1300">
                <a:cs typeface="Arial" charset="0"/>
              </a:rPr>
              <a:pPr algn="r"/>
              <a:t>22</a:t>
            </a:fld>
            <a:endParaRPr lang="en-US" sz="1300">
              <a:cs typeface="Arial" charset="0"/>
            </a:endParaRPr>
          </a:p>
        </p:txBody>
      </p:sp>
      <p:sp>
        <p:nvSpPr>
          <p:cNvPr id="78852" name="Rectangle 2"/>
          <p:cNvSpPr>
            <a:spLocks noGrp="1" noRot="1" noChangeAspect="1" noChangeArrowheads="1" noTextEdit="1"/>
          </p:cNvSpPr>
          <p:nvPr>
            <p:ph type="sldImg"/>
          </p:nvPr>
        </p:nvSpPr>
        <p:spPr>
          <a:xfrm>
            <a:off x="1257300" y="561975"/>
            <a:ext cx="4800600" cy="3600450"/>
          </a:xfrm>
          <a:ln/>
        </p:spPr>
      </p:sp>
      <p:sp>
        <p:nvSpPr>
          <p:cNvPr id="78853" name="Rectangle 3"/>
          <p:cNvSpPr>
            <a:spLocks noGrp="1" noChangeArrowheads="1"/>
          </p:cNvSpPr>
          <p:nvPr>
            <p:ph type="body" idx="1"/>
          </p:nvPr>
        </p:nvSpPr>
        <p:spPr>
          <a:xfrm>
            <a:off x="731520" y="4460557"/>
            <a:ext cx="5852160" cy="4420553"/>
          </a:xfrm>
          <a:noFill/>
          <a:ln/>
        </p:spPr>
        <p:txBody>
          <a:bodyPr/>
          <a:lstStyle/>
          <a:p>
            <a:pPr eaLnBrk="1" hangingPunct="1"/>
            <a:r>
              <a:rPr lang="en-US" dirty="0"/>
              <a:t>The derivation of the staircase supply curve is analogous to that of the staircase demand curve in the earlier example.  Hence, the animation is not as detailed.  </a:t>
            </a:r>
          </a:p>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455DF9A9-675F-41E9-9390-AF0AAE9687B7}" type="slidenum">
              <a:rPr lang="en-US" smtClean="0"/>
              <a:pPr/>
              <a:t>23</a:t>
            </a:fld>
            <a:endParaRPr lang="en-US"/>
          </a:p>
        </p:txBody>
      </p:sp>
      <p:sp>
        <p:nvSpPr>
          <p:cNvPr id="79875"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02AF8A92-67AB-406F-A7DF-F02450B8C8D5}" type="slidenum">
              <a:rPr lang="en-US" sz="1300">
                <a:cs typeface="Arial" charset="0"/>
              </a:rPr>
              <a:pPr algn="r"/>
              <a:t>23</a:t>
            </a:fld>
            <a:endParaRPr lang="en-US" sz="1300">
              <a:cs typeface="Arial" charset="0"/>
            </a:endParaRPr>
          </a:p>
        </p:txBody>
      </p:sp>
      <p:sp>
        <p:nvSpPr>
          <p:cNvPr id="79876" name="Rectangle 2"/>
          <p:cNvSpPr>
            <a:spLocks noGrp="1" noRot="1" noChangeAspect="1" noChangeArrowheads="1" noTextEdit="1"/>
          </p:cNvSpPr>
          <p:nvPr>
            <p:ph type="sldImg"/>
          </p:nvPr>
        </p:nvSpPr>
        <p:spPr>
          <a:xfrm>
            <a:off x="1257300" y="561975"/>
            <a:ext cx="4800600" cy="3600450"/>
          </a:xfrm>
          <a:ln/>
        </p:spPr>
      </p:sp>
      <p:sp>
        <p:nvSpPr>
          <p:cNvPr id="79877" name="Rectangle 3"/>
          <p:cNvSpPr>
            <a:spLocks noGrp="1" noChangeArrowheads="1"/>
          </p:cNvSpPr>
          <p:nvPr>
            <p:ph type="body" idx="1"/>
          </p:nvPr>
        </p:nvSpPr>
        <p:spPr>
          <a:xfrm>
            <a:off x="731520" y="4460557"/>
            <a:ext cx="5852160" cy="4420553"/>
          </a:xfrm>
          <a:noFill/>
          <a:ln/>
        </p:spPr>
        <p:txBody>
          <a:bodyPr/>
          <a:lstStyle/>
          <a:p>
            <a:pPr eaLnBrk="1" hangingPunct="1"/>
            <a:r>
              <a:rPr lang="en-US" dirty="0"/>
              <a:t>For your students’ future reference, you might also note that we can use the term “marginal cost” as short-hand for “cost of the marginal seller.”  </a:t>
            </a:r>
          </a:p>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988728F8-44FA-49AA-AA0B-B39DA69782E1}" type="slidenum">
              <a:rPr lang="en-US" smtClean="0"/>
              <a:pPr/>
              <a:t>24</a:t>
            </a:fld>
            <a:endParaRPr lang="en-US"/>
          </a:p>
        </p:txBody>
      </p:sp>
      <p:sp>
        <p:nvSpPr>
          <p:cNvPr id="8192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5B56F5DA-ED8C-4B95-8E54-41C922879A69}" type="slidenum">
              <a:rPr lang="en-US" sz="1300">
                <a:cs typeface="Arial" charset="0"/>
              </a:rPr>
              <a:pPr algn="r"/>
              <a:t>24</a:t>
            </a:fld>
            <a:endParaRPr lang="en-US" sz="1300">
              <a:cs typeface="Arial" charset="0"/>
            </a:endParaRPr>
          </a:p>
        </p:txBody>
      </p:sp>
      <p:sp>
        <p:nvSpPr>
          <p:cNvPr id="81924" name="Rectangle 2"/>
          <p:cNvSpPr>
            <a:spLocks noGrp="1" noRot="1" noChangeAspect="1" noChangeArrowheads="1" noTextEdit="1"/>
          </p:cNvSpPr>
          <p:nvPr>
            <p:ph type="sldImg"/>
          </p:nvPr>
        </p:nvSpPr>
        <p:spPr>
          <a:xfrm>
            <a:off x="1257300" y="561975"/>
            <a:ext cx="4800600" cy="3600450"/>
          </a:xfrm>
          <a:ln/>
        </p:spPr>
      </p:sp>
      <p:sp>
        <p:nvSpPr>
          <p:cNvPr id="81925" name="Rectangle 3"/>
          <p:cNvSpPr>
            <a:spLocks noGrp="1" noChangeArrowheads="1"/>
          </p:cNvSpPr>
          <p:nvPr>
            <p:ph type="body" idx="1"/>
          </p:nvPr>
        </p:nvSpPr>
        <p:spPr>
          <a:xfrm>
            <a:off x="731520" y="4460557"/>
            <a:ext cx="5852160" cy="4420553"/>
          </a:xfrm>
          <a:noFill/>
          <a:ln/>
        </p:spPr>
        <p:txBody>
          <a:bodyPr/>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26093496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B8A7919-440F-481F-86D3-9E5D229FA923}" type="slidenum">
              <a:rPr lang="en-US" smtClean="0"/>
              <a:pPr/>
              <a:t>26</a:t>
            </a:fld>
            <a:endParaRPr lang="en-US"/>
          </a:p>
        </p:txBody>
      </p:sp>
      <p:sp>
        <p:nvSpPr>
          <p:cNvPr id="8294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4AFCD59F-0772-49AE-AA9E-DA9E59B9889D}" type="slidenum">
              <a:rPr lang="en-US" sz="1300">
                <a:cs typeface="Arial" charset="0"/>
              </a:rPr>
              <a:pPr algn="r"/>
              <a:t>26</a:t>
            </a:fld>
            <a:endParaRPr lang="en-US" sz="1300">
              <a:cs typeface="Arial" charset="0"/>
            </a:endParaRPr>
          </a:p>
        </p:txBody>
      </p:sp>
      <p:sp>
        <p:nvSpPr>
          <p:cNvPr id="82948" name="Rectangle 2"/>
          <p:cNvSpPr>
            <a:spLocks noGrp="1" noRot="1" noChangeAspect="1" noChangeArrowheads="1" noTextEdit="1"/>
          </p:cNvSpPr>
          <p:nvPr>
            <p:ph type="sldImg"/>
          </p:nvPr>
        </p:nvSpPr>
        <p:spPr>
          <a:xfrm>
            <a:off x="1257300" y="561975"/>
            <a:ext cx="4800600" cy="3600450"/>
          </a:xfrm>
          <a:ln/>
        </p:spPr>
      </p:sp>
      <p:sp>
        <p:nvSpPr>
          <p:cNvPr id="82949" name="Rectangle 3"/>
          <p:cNvSpPr>
            <a:spLocks noGrp="1" noChangeArrowheads="1"/>
          </p:cNvSpPr>
          <p:nvPr>
            <p:ph type="body" idx="1"/>
          </p:nvPr>
        </p:nvSpPr>
        <p:spPr>
          <a:xfrm>
            <a:off x="731520" y="4460557"/>
            <a:ext cx="5852160" cy="4420553"/>
          </a:xfrm>
          <a:noFill/>
          <a:ln/>
        </p:spPr>
        <p:txBody>
          <a:bodyPr/>
          <a:lstStyle/>
          <a:p>
            <a:pPr eaLnBrk="1" hangingPunct="1"/>
            <a:r>
              <a:rPr lang="en-US" dirty="0"/>
              <a:t>The marginal seller’s cost for</a:t>
            </a:r>
            <a:r>
              <a:rPr lang="en-US" baseline="0" dirty="0"/>
              <a:t> Q = 15</a:t>
            </a:r>
            <a:r>
              <a:rPr lang="en-US" dirty="0"/>
              <a:t> is her WTS (or cost), found</a:t>
            </a:r>
            <a:r>
              <a:rPr lang="en-US" baseline="0" dirty="0"/>
              <a:t> on the supply curve. Because the market </a:t>
            </a:r>
            <a:r>
              <a:rPr lang="en-US" b="1" i="1" baseline="0" dirty="0"/>
              <a:t>P</a:t>
            </a:r>
            <a:r>
              <a:rPr lang="en-US" baseline="0" dirty="0"/>
              <a:t> = $40 is greater than </a:t>
            </a:r>
            <a:r>
              <a:rPr lang="en-US" b="1" baseline="0" dirty="0"/>
              <a:t>WTS</a:t>
            </a:r>
            <a:r>
              <a:rPr lang="en-US" baseline="0" dirty="0"/>
              <a:t>, this seller will get a positive producer surplus = </a:t>
            </a:r>
            <a:r>
              <a:rPr lang="en-US" b="1" i="1" baseline="0" dirty="0"/>
              <a:t>P</a:t>
            </a:r>
            <a:r>
              <a:rPr lang="en-US" baseline="0" dirty="0"/>
              <a:t> – cost.</a:t>
            </a: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2981DD22-E6BF-495A-8202-164C35F011C0}" type="slidenum">
              <a:rPr lang="en-US" smtClean="0"/>
              <a:pPr/>
              <a:t>27</a:t>
            </a:fld>
            <a:endParaRPr lang="en-US"/>
          </a:p>
        </p:txBody>
      </p:sp>
      <p:sp>
        <p:nvSpPr>
          <p:cNvPr id="8397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5CDC1404-26C9-4847-B0DF-E2AD89D7B250}" type="slidenum">
              <a:rPr lang="en-US" sz="1300">
                <a:cs typeface="Arial" charset="0"/>
              </a:rPr>
              <a:pPr algn="r"/>
              <a:t>27</a:t>
            </a:fld>
            <a:endParaRPr lang="en-US" sz="1300">
              <a:cs typeface="Arial" charset="0"/>
            </a:endParaRPr>
          </a:p>
        </p:txBody>
      </p:sp>
      <p:sp>
        <p:nvSpPr>
          <p:cNvPr id="83972" name="Rectangle 2"/>
          <p:cNvSpPr>
            <a:spLocks noGrp="1" noRot="1" noChangeAspect="1" noChangeArrowheads="1" noTextEdit="1"/>
          </p:cNvSpPr>
          <p:nvPr>
            <p:ph type="sldImg"/>
          </p:nvPr>
        </p:nvSpPr>
        <p:spPr>
          <a:xfrm>
            <a:off x="1257300" y="561975"/>
            <a:ext cx="4800600" cy="3600450"/>
          </a:xfrm>
          <a:ln/>
        </p:spPr>
      </p:sp>
      <p:sp>
        <p:nvSpPr>
          <p:cNvPr id="83973" name="Rectangle 3"/>
          <p:cNvSpPr>
            <a:spLocks noGrp="1" noChangeArrowheads="1"/>
          </p:cNvSpPr>
          <p:nvPr>
            <p:ph type="body" idx="1"/>
          </p:nvPr>
        </p:nvSpPr>
        <p:spPr>
          <a:xfrm>
            <a:off x="731520" y="4460557"/>
            <a:ext cx="5852160" cy="4420553"/>
          </a:xfrm>
          <a:noFill/>
          <a:ln/>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20AFCCA4-AADA-475C-ABEE-8EA0420A1748}" type="slidenum">
              <a:rPr lang="en-US" smtClean="0"/>
              <a:pPr/>
              <a:t>28</a:t>
            </a:fld>
            <a:endParaRPr lang="en-US"/>
          </a:p>
        </p:txBody>
      </p:sp>
      <p:sp>
        <p:nvSpPr>
          <p:cNvPr id="84995"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7BA12A8C-8C2A-439D-A95E-132667818B24}" type="slidenum">
              <a:rPr lang="en-US" sz="1300">
                <a:cs typeface="Arial" charset="0"/>
              </a:rPr>
              <a:pPr algn="r"/>
              <a:t>28</a:t>
            </a:fld>
            <a:endParaRPr lang="en-US" sz="1300">
              <a:cs typeface="Arial" charset="0"/>
            </a:endParaRPr>
          </a:p>
        </p:txBody>
      </p:sp>
      <p:sp>
        <p:nvSpPr>
          <p:cNvPr id="84996" name="Rectangle 2"/>
          <p:cNvSpPr>
            <a:spLocks noGrp="1" noRot="1" noChangeAspect="1" noChangeArrowheads="1" noTextEdit="1"/>
          </p:cNvSpPr>
          <p:nvPr>
            <p:ph type="sldImg"/>
          </p:nvPr>
        </p:nvSpPr>
        <p:spPr>
          <a:xfrm>
            <a:off x="1257300" y="561975"/>
            <a:ext cx="4800600" cy="3600450"/>
          </a:xfrm>
          <a:ln/>
        </p:spPr>
      </p:sp>
      <p:sp>
        <p:nvSpPr>
          <p:cNvPr id="84997" name="Rectangle 3"/>
          <p:cNvSpPr>
            <a:spLocks noGrp="1" noChangeArrowheads="1"/>
          </p:cNvSpPr>
          <p:nvPr>
            <p:ph type="body" idx="1"/>
          </p:nvPr>
        </p:nvSpPr>
        <p:spPr>
          <a:xfrm>
            <a:off x="731520" y="4460557"/>
            <a:ext cx="5852160" cy="4420553"/>
          </a:xfrm>
          <a:noFill/>
          <a:ln/>
        </p:spPr>
        <p:txBody>
          <a:bodyPr/>
          <a:lstStyle/>
          <a:p>
            <a:pPr eaLnBrk="1" hangingPunct="1"/>
            <a:r>
              <a:rPr lang="en-US" dirty="0"/>
              <a:t>The textbook shows how a higher price increases </a:t>
            </a:r>
            <a:r>
              <a:rPr lang="en-US" b="1" i="1" dirty="0"/>
              <a:t>PS</a:t>
            </a:r>
            <a:r>
              <a:rPr lang="en-US" dirty="0"/>
              <a:t>.  Here we see how and why a lower price</a:t>
            </a:r>
            <a:r>
              <a:rPr lang="en-US" baseline="0" dirty="0"/>
              <a:t> decreases </a:t>
            </a:r>
            <a:r>
              <a:rPr lang="en-US" b="1" i="1" dirty="0"/>
              <a:t>PS</a:t>
            </a:r>
            <a:r>
              <a:rPr lang="en-US" baseline="0" dirty="0"/>
              <a:t>.</a:t>
            </a:r>
          </a:p>
          <a:p>
            <a:pPr eaLnBrk="1" hangingPunct="1"/>
            <a:endParaRPr lang="en-US" baseline="0" dirty="0"/>
          </a:p>
          <a:p>
            <a:pPr eaLnBrk="1" hangingPunct="1"/>
            <a:r>
              <a:rPr lang="en-US" baseline="0" dirty="0"/>
              <a:t>The two reasons why </a:t>
            </a:r>
            <a:r>
              <a:rPr lang="en-US" b="1" i="1" u="sng" baseline="0" dirty="0"/>
              <a:t>PS</a:t>
            </a:r>
            <a:r>
              <a:rPr lang="en-US" i="1" u="sng" baseline="0" dirty="0"/>
              <a:t> decreases when </a:t>
            </a:r>
            <a:r>
              <a:rPr lang="en-US" b="1" i="1" u="sng" baseline="0" dirty="0"/>
              <a:t>P</a:t>
            </a:r>
            <a:r>
              <a:rPr lang="en-US" i="1" u="sng" baseline="0" dirty="0"/>
              <a:t> falls</a:t>
            </a:r>
            <a:r>
              <a:rPr lang="en-US" baseline="0" dirty="0"/>
              <a:t> are:</a:t>
            </a:r>
          </a:p>
          <a:p>
            <a:pPr marL="228600" indent="-228600" eaLnBrk="1" hangingPunct="1">
              <a:buAutoNum type="arabicPeriod"/>
            </a:pPr>
            <a:r>
              <a:rPr lang="en-US" baseline="0" dirty="0"/>
              <a:t>A decrease in </a:t>
            </a:r>
            <a:r>
              <a:rPr lang="en-US" b="1" i="1" dirty="0"/>
              <a:t>PS</a:t>
            </a:r>
            <a:r>
              <a:rPr lang="en-US" baseline="0" dirty="0"/>
              <a:t> due to fewer sellers selling the good (sellers are leaving the market because the selling </a:t>
            </a:r>
            <a:r>
              <a:rPr lang="en-US" b="1" i="1" baseline="0" dirty="0"/>
              <a:t>P</a:t>
            </a:r>
            <a:r>
              <a:rPr lang="en-US" baseline="0" dirty="0"/>
              <a:t> does not cover their marginal cost; law of supply: lower </a:t>
            </a:r>
            <a:r>
              <a:rPr lang="en-US" b="1" i="1" baseline="0" dirty="0"/>
              <a:t>P</a:t>
            </a:r>
            <a:r>
              <a:rPr lang="en-US" baseline="0" dirty="0"/>
              <a:t> reduces the quantity supplied)</a:t>
            </a:r>
          </a:p>
          <a:p>
            <a:pPr marL="228600" indent="-228600" eaLnBrk="1" hangingPunct="1">
              <a:buAutoNum type="arabicPeriod"/>
            </a:pPr>
            <a:r>
              <a:rPr lang="en-US" baseline="0" dirty="0"/>
              <a:t>A decrease in </a:t>
            </a:r>
            <a:r>
              <a:rPr lang="en-US" b="1" i="1" dirty="0"/>
              <a:t>PS</a:t>
            </a:r>
            <a:r>
              <a:rPr lang="en-US" baseline="0" dirty="0"/>
              <a:t> due to existing sellers receiving a lower price.</a:t>
            </a:r>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A good exercise to break up the lecture, engage students, and assess their learning so far. Allow your students</a:t>
            </a:r>
            <a:r>
              <a:rPr lang="en-US" sz="1200" baseline="0" dirty="0"/>
              <a:t> 5 minutes to work by themselves or in groups before asking for volunteers to share their answers.  </a:t>
            </a:r>
            <a:endParaRPr lang="en-US" sz="120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21546803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34274819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37031852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Is the market’s allocation of resources desirable?  This question is important, because the answer to it has implications for the proper role and scope of government.  </a:t>
            </a:r>
          </a:p>
          <a:p>
            <a:pPr eaLnBrk="1" hangingPunct="1"/>
            <a:endParaRPr lang="en-US" dirty="0"/>
          </a:p>
          <a:p>
            <a:pPr eaLnBrk="1" hangingPunct="1"/>
            <a:r>
              <a:rPr lang="en-US" dirty="0"/>
              <a:t>If the market’s allocation is generally desirable, then the role of government should be limited to the protection of property rights, national defense and so forth.  If not, then public policy may potentially be able to improve upon the market’s allocation.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37031852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sz="1200" dirty="0"/>
              <a:t>It might help to say “participating in the market” means buying and selling.  </a:t>
            </a:r>
          </a:p>
          <a:p>
            <a:pPr eaLnBrk="1" hangingPunct="1">
              <a:spcBef>
                <a:spcPct val="0"/>
              </a:spcBef>
            </a:pPr>
            <a:endParaRPr lang="en-US" sz="1200" dirty="0"/>
          </a:p>
          <a:p>
            <a:pPr eaLnBrk="1" hangingPunct="1">
              <a:spcBef>
                <a:spcPct val="0"/>
              </a:spcBef>
            </a:pPr>
            <a:r>
              <a:rPr lang="en-US" sz="1200" dirty="0"/>
              <a:t>It might also help to say that </a:t>
            </a:r>
            <a:r>
              <a:rPr lang="en-US" sz="1200" b="1" i="1" dirty="0"/>
              <a:t>CS</a:t>
            </a:r>
            <a:r>
              <a:rPr lang="en-US" sz="1200" dirty="0"/>
              <a:t> measures the </a:t>
            </a:r>
            <a:r>
              <a:rPr lang="en-US" sz="1200" u="sng" dirty="0"/>
              <a:t>net</a:t>
            </a:r>
            <a:r>
              <a:rPr lang="en-US" sz="1200" dirty="0"/>
              <a:t> benefit to buyers:  the value they get from the good is the gross benefit, minus what they pay leaves the net benefit, or </a:t>
            </a:r>
            <a:r>
              <a:rPr lang="en-US" sz="1200" b="1" i="1" dirty="0"/>
              <a:t>CS</a:t>
            </a:r>
            <a:r>
              <a:rPr lang="en-US" sz="1200" dirty="0"/>
              <a:t>.  Similarly, </a:t>
            </a:r>
            <a:r>
              <a:rPr lang="en-US" sz="1200" b="1" i="1" dirty="0"/>
              <a:t>PS</a:t>
            </a:r>
            <a:r>
              <a:rPr lang="en-US" sz="1200" dirty="0"/>
              <a:t> is the </a:t>
            </a:r>
            <a:r>
              <a:rPr lang="en-US" sz="1200" u="sng" dirty="0"/>
              <a:t>net</a:t>
            </a:r>
            <a:r>
              <a:rPr lang="en-US" sz="1200" dirty="0"/>
              <a:t> benefit to sellers.  I did not put “net benefit” on this slide because it is not in the book.  But if you wish, you may add it.  </a:t>
            </a:r>
          </a:p>
          <a:p>
            <a:pPr eaLnBrk="1" hangingPunct="1">
              <a:spcBef>
                <a:spcPct val="0"/>
              </a:spcBef>
            </a:pPr>
            <a:endParaRPr lang="en-US" sz="1200" dirty="0"/>
          </a:p>
          <a:p>
            <a:pPr eaLnBrk="1" hangingPunct="1">
              <a:spcBef>
                <a:spcPct val="0"/>
              </a:spcBef>
            </a:pPr>
            <a:r>
              <a:rPr lang="en-US" sz="1200" dirty="0"/>
              <a:t>After showing this slide in class, I show my students a short scene from the movie “Pretty Woman” as an example of these concepts.  In this scene, Julia Roberts is taking a bubble bath in Richard Gere’s hotel room (don’t worry—there’s no nudity!).  Gere comes into the bathroom, and they negotiate a price for her to “be at his beck and call” for one week.  After bargaining for a few seconds, they agree on a price of $3,000.  A minute later, he says he would have paid $4,000 (his willingness to pay), and she says she would have accepted $2,000 (her “cost”).  From this, we can deduce that </a:t>
            </a:r>
            <a:r>
              <a:rPr lang="en-US" sz="1200" b="1" i="1" dirty="0"/>
              <a:t>CS</a:t>
            </a:r>
            <a:r>
              <a:rPr lang="en-US" sz="1200" dirty="0"/>
              <a:t> = $1,000, PS = $1,000, and total surplus = $2,000.  If this transaction did not occur, then these characters would not have received these “gains from trade.”  </a:t>
            </a:r>
          </a:p>
          <a:p>
            <a:pPr eaLnBrk="1" hangingPunct="1">
              <a:spcBef>
                <a:spcPct val="0"/>
              </a:spcBef>
            </a:pPr>
            <a:endParaRPr lang="en-US" sz="1200" dirty="0"/>
          </a:p>
          <a:p>
            <a:pPr eaLnBrk="1" hangingPunct="1">
              <a:spcBef>
                <a:spcPct val="0"/>
              </a:spcBef>
            </a:pPr>
            <a:r>
              <a:rPr lang="en-US" sz="1200" dirty="0"/>
              <a:t>Disclaimer:  We officially urge you to consult with your institution’s legal advisor to verify that showing this brief clip in your class does not violate any copyright laws.  We accept no responsibility in this matter. We urge you to respect the intellectual property of others, and all copyright laws.</a:t>
            </a:r>
          </a:p>
          <a:p>
            <a:endParaRPr lang="en-US" sz="1100" dirty="0"/>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6112149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essence, the gains from trade in a market are like a pie to be shared among the market participants. The question of efficiency concerns whether the pie is as big as possible. The question of equality concerns how the pie is sliced and distributed among members of society.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6112149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the next Example (Example 5, 5a, 5B, 5C) we use what we have learned about consumer and producer surplus to prove each of these points.</a:t>
            </a:r>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37031852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B95DF3DB-AA54-4870-80A5-58E549DD9F24}" type="slidenum">
              <a:rPr lang="en-US" smtClean="0"/>
              <a:pPr/>
              <a:t>36</a:t>
            </a:fld>
            <a:endParaRPr lang="en-US"/>
          </a:p>
        </p:txBody>
      </p:sp>
      <p:sp>
        <p:nvSpPr>
          <p:cNvPr id="91139"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5F3DF000-4EBF-424A-9134-6312A765F773}" type="slidenum">
              <a:rPr lang="en-US" sz="1300">
                <a:cs typeface="Arial" charset="0"/>
              </a:rPr>
              <a:pPr algn="r"/>
              <a:t>36</a:t>
            </a:fld>
            <a:endParaRPr lang="en-US" sz="1300">
              <a:cs typeface="Arial" charset="0"/>
            </a:endParaRPr>
          </a:p>
        </p:txBody>
      </p:sp>
      <p:sp>
        <p:nvSpPr>
          <p:cNvPr id="91140" name="Rectangle 2"/>
          <p:cNvSpPr>
            <a:spLocks noGrp="1" noRot="1" noChangeAspect="1" noChangeArrowheads="1" noTextEdit="1"/>
          </p:cNvSpPr>
          <p:nvPr>
            <p:ph type="sldImg"/>
          </p:nvPr>
        </p:nvSpPr>
        <p:spPr>
          <a:xfrm>
            <a:off x="1257300" y="561975"/>
            <a:ext cx="4800600" cy="3600450"/>
          </a:xfrm>
          <a:ln/>
        </p:spPr>
      </p:sp>
      <p:sp>
        <p:nvSpPr>
          <p:cNvPr id="91141" name="Rectangle 3"/>
          <p:cNvSpPr>
            <a:spLocks noGrp="1" noChangeArrowheads="1"/>
          </p:cNvSpPr>
          <p:nvPr>
            <p:ph type="body" idx="1"/>
          </p:nvPr>
        </p:nvSpPr>
        <p:spPr>
          <a:xfrm>
            <a:off x="731520" y="4460557"/>
            <a:ext cx="5852160" cy="4420553"/>
          </a:xfrm>
          <a:noFill/>
          <a:ln/>
        </p:spPr>
        <p:txBody>
          <a:bodyPr/>
          <a:lstStyle/>
          <a:p>
            <a:pPr eaLnBrk="1" hangingPunct="1"/>
            <a:r>
              <a:rPr lang="en-US" dirty="0"/>
              <a:t>In this exercise we will analyze if</a:t>
            </a:r>
            <a:r>
              <a:rPr lang="en-US" baseline="0" dirty="0"/>
              <a:t> the market at equilibrium maximizes the gains from trade (total surplus). </a:t>
            </a:r>
          </a:p>
          <a:p>
            <a:pPr marL="171450" indent="-171450" eaLnBrk="1" hangingPunct="1">
              <a:buFontTx/>
              <a:buChar char="-"/>
            </a:pPr>
            <a:r>
              <a:rPr lang="en-US" baseline="0" dirty="0"/>
              <a:t>Identify which buyers will purchase the good at the market equilibrium</a:t>
            </a:r>
          </a:p>
          <a:p>
            <a:pPr marL="171450" indent="-171450" eaLnBrk="1" hangingPunct="1">
              <a:buFontTx/>
              <a:buChar char="-"/>
            </a:pPr>
            <a:r>
              <a:rPr lang="en-US" baseline="0" dirty="0"/>
              <a:t>Identify which sellers will produce the good at market equilibrium</a:t>
            </a:r>
          </a:p>
          <a:p>
            <a:pPr marL="171450" indent="-171450" eaLnBrk="1" hangingPunct="1">
              <a:buFontTx/>
              <a:buChar char="-"/>
            </a:pPr>
            <a:r>
              <a:rPr lang="en-US" baseline="0" dirty="0"/>
              <a:t>To show that total surplus is maximized at market equilibrium, we look at </a:t>
            </a:r>
            <a:r>
              <a:rPr lang="en-US" b="1" i="1" baseline="0" dirty="0"/>
              <a:t>TS</a:t>
            </a:r>
            <a:r>
              <a:rPr lang="en-US" baseline="0" dirty="0"/>
              <a:t> for a lower and for a larger </a:t>
            </a:r>
            <a:r>
              <a:rPr lang="en-US" b="1" i="1" baseline="0" dirty="0"/>
              <a:t>Q</a:t>
            </a:r>
            <a:r>
              <a:rPr lang="en-US" baseline="0" dirty="0"/>
              <a:t> than the market equilibrium</a:t>
            </a:r>
          </a:p>
          <a:p>
            <a:pPr marL="171450" indent="-171450" eaLnBrk="1" hangingPunct="1">
              <a:buFontTx/>
              <a:buChar char="-"/>
            </a:pP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63D5EB08-75F9-494B-BCF1-DB013C5F29CC}" type="slidenum">
              <a:rPr lang="en-US" smtClean="0"/>
              <a:pPr/>
              <a:t>37</a:t>
            </a:fld>
            <a:endParaRPr lang="en-US"/>
          </a:p>
        </p:txBody>
      </p:sp>
      <p:sp>
        <p:nvSpPr>
          <p:cNvPr id="9216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B9C8B373-E324-4C29-8F8F-4106729DE3C9}" type="slidenum">
              <a:rPr lang="en-US" sz="1300">
                <a:cs typeface="Arial" charset="0"/>
              </a:rPr>
              <a:pPr algn="r"/>
              <a:t>37</a:t>
            </a:fld>
            <a:endParaRPr lang="en-US" sz="1300">
              <a:cs typeface="Arial" charset="0"/>
            </a:endParaRPr>
          </a:p>
        </p:txBody>
      </p:sp>
      <p:sp>
        <p:nvSpPr>
          <p:cNvPr id="92164" name="Rectangle 2"/>
          <p:cNvSpPr>
            <a:spLocks noGrp="1" noRot="1" noChangeAspect="1" noChangeArrowheads="1" noTextEdit="1"/>
          </p:cNvSpPr>
          <p:nvPr>
            <p:ph type="sldImg"/>
          </p:nvPr>
        </p:nvSpPr>
        <p:spPr>
          <a:xfrm>
            <a:off x="1257300" y="561975"/>
            <a:ext cx="4800600" cy="3600450"/>
          </a:xfrm>
          <a:ln/>
        </p:spPr>
      </p:sp>
      <p:sp>
        <p:nvSpPr>
          <p:cNvPr id="92165" name="Rectangle 3"/>
          <p:cNvSpPr>
            <a:spLocks noGrp="1" noChangeArrowheads="1"/>
          </p:cNvSpPr>
          <p:nvPr>
            <p:ph type="body" idx="1"/>
          </p:nvPr>
        </p:nvSpPr>
        <p:spPr>
          <a:xfrm>
            <a:off x="731520" y="4460557"/>
            <a:ext cx="5852160" cy="4420553"/>
          </a:xfrm>
          <a:noFill/>
          <a:ln/>
        </p:spPr>
        <p:txBody>
          <a:bodyPr/>
          <a:lstStyle/>
          <a:p>
            <a:pPr eaLnBrk="1" hangingPunct="1"/>
            <a:r>
              <a:rPr lang="en-US" dirty="0"/>
              <a:t>It may be worth reminding your students that, at each </a:t>
            </a:r>
            <a:r>
              <a:rPr lang="en-US" b="1" i="1" dirty="0"/>
              <a:t>Q</a:t>
            </a:r>
            <a:r>
              <a:rPr lang="en-US" dirty="0"/>
              <a:t>, the height of the </a:t>
            </a:r>
            <a:r>
              <a:rPr lang="en-US" b="1" i="1" dirty="0"/>
              <a:t>D</a:t>
            </a:r>
            <a:r>
              <a:rPr lang="en-US" dirty="0"/>
              <a:t> curve is the marginal buyer’s valuation of the good, their willingness to pay.  Hence, the buyers from 0 to 15 all value the good at least as much as the price, so they will purchase the good at the market price.  </a:t>
            </a:r>
          </a:p>
          <a:p>
            <a:pPr eaLnBrk="1" hangingPunct="1"/>
            <a:endParaRPr lang="en-US" dirty="0"/>
          </a:p>
          <a:p>
            <a:pPr eaLnBrk="1" hangingPunct="1"/>
            <a:r>
              <a:rPr lang="en-US" dirty="0"/>
              <a:t>The buyers from 15 on up value the good less than $30, so they won’t buy the good.  </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8FAC2C90-3000-4132-B4FF-A2F4E7A10F6F}" type="slidenum">
              <a:rPr lang="en-US" smtClean="0"/>
              <a:pPr/>
              <a:t>38</a:t>
            </a:fld>
            <a:endParaRPr lang="en-US"/>
          </a:p>
        </p:txBody>
      </p:sp>
      <p:sp>
        <p:nvSpPr>
          <p:cNvPr id="9318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AA59E92B-3382-4AB4-A96C-6F10A2C0E354}" type="slidenum">
              <a:rPr lang="en-US" sz="1300">
                <a:cs typeface="Arial" charset="0"/>
              </a:rPr>
              <a:pPr algn="r"/>
              <a:t>38</a:t>
            </a:fld>
            <a:endParaRPr lang="en-US" sz="1300">
              <a:cs typeface="Arial" charset="0"/>
            </a:endParaRPr>
          </a:p>
        </p:txBody>
      </p:sp>
      <p:sp>
        <p:nvSpPr>
          <p:cNvPr id="93188" name="Rectangle 2"/>
          <p:cNvSpPr>
            <a:spLocks noGrp="1" noRot="1" noChangeAspect="1" noChangeArrowheads="1" noTextEdit="1"/>
          </p:cNvSpPr>
          <p:nvPr>
            <p:ph type="sldImg"/>
          </p:nvPr>
        </p:nvSpPr>
        <p:spPr>
          <a:xfrm>
            <a:off x="1257300" y="561975"/>
            <a:ext cx="4800600" cy="3600450"/>
          </a:xfrm>
          <a:ln/>
        </p:spPr>
      </p:sp>
      <p:sp>
        <p:nvSpPr>
          <p:cNvPr id="93189" name="Rectangle 3"/>
          <p:cNvSpPr>
            <a:spLocks noGrp="1" noChangeArrowheads="1"/>
          </p:cNvSpPr>
          <p:nvPr>
            <p:ph type="body" idx="1"/>
          </p:nvPr>
        </p:nvSpPr>
        <p:spPr>
          <a:xfrm>
            <a:off x="731520" y="4460557"/>
            <a:ext cx="5852160" cy="4420553"/>
          </a:xfrm>
          <a:noFill/>
          <a:ln/>
        </p:spPr>
        <p:txBody>
          <a:bodyPr/>
          <a:lstStyle/>
          <a:p>
            <a:pPr eaLnBrk="1" hangingPunct="1"/>
            <a:r>
              <a:rPr lang="en-US" dirty="0"/>
              <a:t>Because the height of the S curve tells us sellers’ costs, we can determine the following:  </a:t>
            </a:r>
          </a:p>
          <a:p>
            <a:pPr eaLnBrk="1" hangingPunct="1"/>
            <a:endParaRPr lang="en-US" dirty="0"/>
          </a:p>
          <a:p>
            <a:pPr eaLnBrk="1" hangingPunct="1"/>
            <a:r>
              <a:rPr lang="en-US" dirty="0"/>
              <a:t>The sellers of the first 15 units have cost &lt; $30, so it is worthwhile for them to produce the good.  </a:t>
            </a:r>
          </a:p>
          <a:p>
            <a:pPr eaLnBrk="1" hangingPunct="1"/>
            <a:endParaRPr lang="en-US" dirty="0"/>
          </a:p>
          <a:p>
            <a:pPr eaLnBrk="1" hangingPunct="1"/>
            <a:r>
              <a:rPr lang="en-US" dirty="0"/>
              <a:t>The other sellers have cost &gt; $30, so they will not sell the good if P = $30.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96FD067F-32E6-45BD-A388-CB97ACDA2155}" type="slidenum">
              <a:rPr lang="en-US" smtClean="0"/>
              <a:pPr/>
              <a:t>39</a:t>
            </a:fld>
            <a:endParaRPr lang="en-US"/>
          </a:p>
        </p:txBody>
      </p:sp>
      <p:sp>
        <p:nvSpPr>
          <p:cNvPr id="9421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8BF6F443-248E-4AFA-8E95-CBF05B8C321F}" type="slidenum">
              <a:rPr lang="en-US" sz="1300">
                <a:cs typeface="Arial" charset="0"/>
              </a:rPr>
              <a:pPr algn="r"/>
              <a:t>39</a:t>
            </a:fld>
            <a:endParaRPr lang="en-US" sz="1300">
              <a:cs typeface="Arial" charset="0"/>
            </a:endParaRPr>
          </a:p>
        </p:txBody>
      </p:sp>
      <p:sp>
        <p:nvSpPr>
          <p:cNvPr id="94212" name="Rectangle 2"/>
          <p:cNvSpPr>
            <a:spLocks noGrp="1" noRot="1" noChangeAspect="1" noChangeArrowheads="1" noTextEdit="1"/>
          </p:cNvSpPr>
          <p:nvPr>
            <p:ph type="sldImg"/>
          </p:nvPr>
        </p:nvSpPr>
        <p:spPr>
          <a:xfrm>
            <a:off x="1257300" y="561975"/>
            <a:ext cx="4800600" cy="3600450"/>
          </a:xfrm>
          <a:ln/>
        </p:spPr>
      </p:sp>
      <p:sp>
        <p:nvSpPr>
          <p:cNvPr id="94213" name="Rectangle 3"/>
          <p:cNvSpPr>
            <a:spLocks noGrp="1" noChangeArrowheads="1"/>
          </p:cNvSpPr>
          <p:nvPr>
            <p:ph type="body" idx="1"/>
          </p:nvPr>
        </p:nvSpPr>
        <p:spPr>
          <a:xfrm>
            <a:off x="731520" y="4460557"/>
            <a:ext cx="5852160" cy="4420553"/>
          </a:xfrm>
          <a:noFill/>
          <a:ln/>
        </p:spPr>
        <p:txBody>
          <a:bodyPr/>
          <a:lstStyle/>
          <a:p>
            <a:pPr eaLnBrk="1" hangingPunct="1"/>
            <a:r>
              <a:rPr lang="en-US" dirty="0"/>
              <a:t>This slide shows that, if we are starting from a </a:t>
            </a:r>
            <a:r>
              <a:rPr lang="en-US" b="1" i="1" dirty="0"/>
              <a:t>Q</a:t>
            </a:r>
            <a:r>
              <a:rPr lang="en-US" dirty="0"/>
              <a:t> greater than the market equilibrium quantity, consumer’s </a:t>
            </a:r>
            <a:r>
              <a:rPr lang="en-US" b="1" dirty="0"/>
              <a:t>WTP</a:t>
            </a:r>
            <a:r>
              <a:rPr lang="en-US" dirty="0"/>
              <a:t> is lower than the seller’s</a:t>
            </a:r>
            <a:r>
              <a:rPr lang="en-US" baseline="0" dirty="0"/>
              <a:t> cost, so trade will not benefit either. W</a:t>
            </a:r>
            <a:r>
              <a:rPr lang="en-US" dirty="0"/>
              <a:t>e can increase total surplus by reducing </a:t>
            </a:r>
            <a:r>
              <a:rPr lang="en-US" b="1" i="1" dirty="0"/>
              <a:t>Q</a:t>
            </a:r>
            <a:r>
              <a:rPr lang="en-US" dirty="0"/>
              <a:t>.  The slide demonstrates this for one particular </a:t>
            </a:r>
            <a:r>
              <a:rPr lang="en-US" b="1" i="1" dirty="0"/>
              <a:t>Q</a:t>
            </a:r>
            <a:r>
              <a:rPr lang="en-US" dirty="0"/>
              <a:t> (20), but it is true for any </a:t>
            </a:r>
            <a:r>
              <a:rPr lang="en-US" b="1" i="1" dirty="0"/>
              <a:t>Q</a:t>
            </a:r>
            <a:r>
              <a:rPr lang="en-US" dirty="0"/>
              <a:t> greater than the equilibrium quantity.  </a:t>
            </a:r>
          </a:p>
          <a:p>
            <a:pPr eaLnBrk="1" hangingPunct="1"/>
            <a:endParaRPr lang="en-US" dirty="0"/>
          </a:p>
          <a:p>
            <a:pPr eaLnBrk="1" hangingPunct="1"/>
            <a:r>
              <a:rPr lang="en-US" dirty="0"/>
              <a:t>Thus, if we continue to reduce </a:t>
            </a:r>
            <a:r>
              <a:rPr lang="en-US" b="1" i="1" dirty="0"/>
              <a:t>Q</a:t>
            </a:r>
            <a:r>
              <a:rPr lang="en-US" dirty="0"/>
              <a:t>, total surplus will continue to increase—until we get to the equilibrium quantity.  </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3D49ABB9-F1AC-46B5-9B9F-3BCEFC74C04B}" type="slidenum">
              <a:rPr lang="en-US" smtClean="0"/>
              <a:pPr/>
              <a:t>40</a:t>
            </a:fld>
            <a:endParaRPr lang="en-US"/>
          </a:p>
        </p:txBody>
      </p:sp>
      <p:sp>
        <p:nvSpPr>
          <p:cNvPr id="95235"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A8235A2B-49A1-44F2-8F01-011E551A1347}" type="slidenum">
              <a:rPr lang="en-US" sz="1300">
                <a:cs typeface="Arial" charset="0"/>
              </a:rPr>
              <a:pPr algn="r"/>
              <a:t>40</a:t>
            </a:fld>
            <a:endParaRPr lang="en-US" sz="1300">
              <a:cs typeface="Arial" charset="0"/>
            </a:endParaRPr>
          </a:p>
        </p:txBody>
      </p:sp>
      <p:sp>
        <p:nvSpPr>
          <p:cNvPr id="95236" name="Rectangle 2"/>
          <p:cNvSpPr>
            <a:spLocks noGrp="1" noRot="1" noChangeAspect="1" noChangeArrowheads="1" noTextEdit="1"/>
          </p:cNvSpPr>
          <p:nvPr>
            <p:ph type="sldImg"/>
          </p:nvPr>
        </p:nvSpPr>
        <p:spPr>
          <a:xfrm>
            <a:off x="1257300" y="561975"/>
            <a:ext cx="4800600" cy="3600450"/>
          </a:xfrm>
          <a:ln/>
        </p:spPr>
      </p:sp>
      <p:sp>
        <p:nvSpPr>
          <p:cNvPr id="95237" name="Rectangle 3"/>
          <p:cNvSpPr>
            <a:spLocks noGrp="1" noChangeArrowheads="1"/>
          </p:cNvSpPr>
          <p:nvPr>
            <p:ph type="body" idx="1"/>
          </p:nvPr>
        </p:nvSpPr>
        <p:spPr>
          <a:xfrm>
            <a:off x="731520" y="4460557"/>
            <a:ext cx="5852160" cy="4420553"/>
          </a:xfrm>
          <a:noFill/>
          <a:ln/>
        </p:spPr>
        <p:txBody>
          <a:bodyPr/>
          <a:lstStyle/>
          <a:p>
            <a:pPr eaLnBrk="1" hangingPunct="1"/>
            <a:r>
              <a:rPr lang="en-US" dirty="0"/>
              <a:t>This slide shows that, if we are starting from a </a:t>
            </a:r>
            <a:r>
              <a:rPr lang="en-US" b="1" i="1" dirty="0"/>
              <a:t>Q</a:t>
            </a:r>
            <a:r>
              <a:rPr lang="en-US" dirty="0"/>
              <a:t> less than the market equilibrium quantity, consumer’s </a:t>
            </a:r>
            <a:r>
              <a:rPr lang="en-US" b="1" dirty="0"/>
              <a:t>WTP</a:t>
            </a:r>
            <a:r>
              <a:rPr lang="en-US" dirty="0"/>
              <a:t> exceeds the seller's cost, so trade will</a:t>
            </a:r>
            <a:r>
              <a:rPr lang="en-US" baseline="0" dirty="0"/>
              <a:t> increase the gains from trade (both sides of the market benefit). W</a:t>
            </a:r>
            <a:r>
              <a:rPr lang="en-US" dirty="0"/>
              <a:t>e can increase total surplus by increasing </a:t>
            </a:r>
            <a:r>
              <a:rPr lang="en-US" b="1" i="1" dirty="0"/>
              <a:t>Q</a:t>
            </a:r>
            <a:r>
              <a:rPr lang="en-US" b="1" dirty="0"/>
              <a:t>.</a:t>
            </a:r>
            <a:r>
              <a:rPr lang="en-US" dirty="0"/>
              <a:t>  The slide demonstrates this for one particular </a:t>
            </a:r>
            <a:r>
              <a:rPr lang="en-US" b="1" i="1" dirty="0"/>
              <a:t>Q</a:t>
            </a:r>
            <a:r>
              <a:rPr lang="en-US" dirty="0"/>
              <a:t> (10), but it is true for any </a:t>
            </a:r>
            <a:r>
              <a:rPr lang="en-US" b="1" i="1" dirty="0"/>
              <a:t>Q</a:t>
            </a:r>
            <a:r>
              <a:rPr lang="en-US" dirty="0"/>
              <a:t> below the equilibrium quantity.  </a:t>
            </a:r>
          </a:p>
          <a:p>
            <a:pPr eaLnBrk="1" hangingPunct="1"/>
            <a:endParaRPr lang="en-US" dirty="0"/>
          </a:p>
          <a:p>
            <a:pPr eaLnBrk="1" hangingPunct="1"/>
            <a:r>
              <a:rPr lang="en-US" dirty="0"/>
              <a:t>Thus, if we continue to increase </a:t>
            </a:r>
            <a:r>
              <a:rPr lang="en-US" b="1" i="1" dirty="0"/>
              <a:t>Q</a:t>
            </a:r>
            <a:r>
              <a:rPr lang="en-US" dirty="0"/>
              <a:t>, total surplus will continue to increase—until we get to the equilibrium quantity.</a:t>
            </a:r>
          </a:p>
          <a:p>
            <a:pPr eaLnBrk="1" hangingPunct="1"/>
            <a:endParaRPr lang="en-US" dirty="0"/>
          </a:p>
          <a:p>
            <a:pPr eaLnBrk="1" hangingPunct="1"/>
            <a:r>
              <a:rPr lang="en-US" b="0" i="0" u="sng" dirty="0">
                <a:solidFill>
                  <a:srgbClr val="C00000"/>
                </a:solidFill>
              </a:rPr>
              <a:t>Therefore, the market equilibrium</a:t>
            </a:r>
            <a:r>
              <a:rPr lang="en-US" b="0" i="0" u="sng" baseline="0" dirty="0">
                <a:solidFill>
                  <a:srgbClr val="C00000"/>
                </a:solidFill>
              </a:rPr>
              <a:t> </a:t>
            </a:r>
            <a:r>
              <a:rPr lang="en-US" b="0" i="0" u="sng" dirty="0">
                <a:solidFill>
                  <a:srgbClr val="C00000"/>
                </a:solidFill>
              </a:rPr>
              <a:t>quantity maximizes total surplus: At any other quantity, total surplus will increase by moving toward the market equilibrium quantity. </a:t>
            </a:r>
          </a:p>
          <a:p>
            <a:pPr eaLnBrk="1" hangingPunct="1"/>
            <a:endParaRPr lang="en-US" b="0" i="0" dirty="0"/>
          </a:p>
          <a:p>
            <a:pPr marL="171450" indent="-171450" eaLnBrk="1" hangingPunct="1">
              <a:buFont typeface="Arial" panose="020B0604020202020204" pitchFamily="34" charset="0"/>
              <a:buChar char="•"/>
            </a:pPr>
            <a:r>
              <a:rPr lang="en-US" b="0" i="0" dirty="0"/>
              <a:t>The market outcome maximizes the sum of consumer and producer surplus</a:t>
            </a:r>
          </a:p>
          <a:p>
            <a:pPr marL="171450" indent="-171450" eaLnBrk="1" hangingPunct="1">
              <a:buFont typeface="Arial" panose="020B0604020202020204" pitchFamily="34" charset="0"/>
              <a:buChar char="•"/>
            </a:pPr>
            <a:r>
              <a:rPr lang="en-US" b="0" i="0" dirty="0"/>
              <a:t>The equilibrium outcome is an efficient allocation of resources</a:t>
            </a:r>
          </a:p>
          <a:p>
            <a:pPr marL="171450" indent="-171450" eaLnBrk="1" hangingPunct="1">
              <a:buFont typeface="Arial" panose="020B0604020202020204" pitchFamily="34" charset="0"/>
              <a:buChar char="•"/>
            </a:pPr>
            <a:r>
              <a:rPr lang="en-US" b="0" i="0" dirty="0"/>
              <a:t>Social planners concerned about efficiency can leave the market outcome just as they find it (Policy of ‘laissez-faire’ aka “let people do as they will.”)</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This slide contains passages from </a:t>
            </a:r>
            <a:r>
              <a:rPr lang="en-US" i="1" dirty="0"/>
              <a:t>The Wealth of Nations</a:t>
            </a:r>
            <a:r>
              <a:rPr lang="en-US" dirty="0"/>
              <a:t>.  It would be hard to overstate the impact of the ideas in these passages.  </a:t>
            </a:r>
          </a:p>
          <a:p>
            <a:pPr eaLnBrk="1" hangingPunct="1"/>
            <a:r>
              <a:rPr lang="en-US" dirty="0"/>
              <a:t>I have included them here because students should be able to better understand and appreciate their significance after having just seen the analysis of market efficiency.  (it is not in the textbook)</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41</a:t>
            </a:fld>
            <a:endParaRPr lang="en-US"/>
          </a:p>
        </p:txBody>
      </p:sp>
    </p:spTree>
    <p:extLst>
      <p:ext uri="{BB962C8B-B14F-4D97-AF65-F5344CB8AC3E}">
        <p14:creationId xmlns:p14="http://schemas.microsoft.com/office/powerpoint/2010/main" val="41816985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used welfare economics to demonstrate one of the Ten Principles: Markets are usually a good way to organize economic activity</a:t>
            </a:r>
          </a:p>
        </p:txBody>
      </p:sp>
      <p:sp>
        <p:nvSpPr>
          <p:cNvPr id="4" name="Slide Number Placeholder 3"/>
          <p:cNvSpPr>
            <a:spLocks noGrp="1"/>
          </p:cNvSpPr>
          <p:nvPr>
            <p:ph type="sldNum" sz="quarter" idx="10"/>
          </p:nvPr>
        </p:nvSpPr>
        <p:spPr/>
        <p:txBody>
          <a:bodyPr/>
          <a:lstStyle/>
          <a:p>
            <a:fld id="{2CAF6792-DBE1-4461-97FA-F85A7B48814E}" type="slidenum">
              <a:rPr lang="en-US" smtClean="0"/>
              <a:t>42</a:t>
            </a:fld>
            <a:endParaRPr lang="en-US"/>
          </a:p>
        </p:txBody>
      </p:sp>
    </p:spTree>
    <p:extLst>
      <p:ext uri="{BB962C8B-B14F-4D97-AF65-F5344CB8AC3E}">
        <p14:creationId xmlns:p14="http://schemas.microsoft.com/office/powerpoint/2010/main" val="22074917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We’ll use welfare economics to see how public policy may improve on the market outcome in cases of market failures (market power and externalities).  </a:t>
            </a:r>
          </a:p>
          <a:p>
            <a:pPr eaLnBrk="1" hangingPunct="1"/>
            <a:r>
              <a:rPr lang="en-US" sz="1200" dirty="0"/>
              <a:t>Despite the possibility of market failure, the analysis in this chapter applies in many markets, and the invisible hand remains extremely important.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43</a:t>
            </a:fld>
            <a:endParaRPr lang="en-US"/>
          </a:p>
        </p:txBody>
      </p:sp>
    </p:spTree>
    <p:extLst>
      <p:ext uri="{BB962C8B-B14F-4D97-AF65-F5344CB8AC3E}">
        <p14:creationId xmlns:p14="http://schemas.microsoft.com/office/powerpoint/2010/main" val="3936530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“Ask the Experts” feature provides the opportunity for class discussion.  After showing the statement, you can ask your students to choose one of the options: agree, disagree, or uncertain. You can collect their answers in a variety of ways: show of hands, ballot, clicker system, etc.  </a:t>
            </a:r>
          </a:p>
          <a:p>
            <a:endParaRPr lang="en-US" dirty="0"/>
          </a:p>
          <a:p>
            <a:r>
              <a:rPr lang="en-US" dirty="0"/>
              <a:t> The discussion prompts on the next slide (based on the textbook case study) should bring interesting results!</a:t>
            </a:r>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44</a:t>
            </a:fld>
            <a:endParaRPr lang="en-US"/>
          </a:p>
        </p:txBody>
      </p:sp>
    </p:spTree>
    <p:extLst>
      <p:ext uri="{BB962C8B-B14F-4D97-AF65-F5344CB8AC3E}">
        <p14:creationId xmlns:p14="http://schemas.microsoft.com/office/powerpoint/2010/main" val="39818974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 class discussion.</a:t>
            </a:r>
          </a:p>
          <a:p>
            <a:pPr defTabSz="948507"/>
            <a:endParaRPr lang="en-US" baseline="0" dirty="0"/>
          </a:p>
          <a:p>
            <a:pPr defTabSz="966612">
              <a:defRPr/>
            </a:pPr>
            <a:r>
              <a:rPr lang="en-US" baseline="0" dirty="0"/>
              <a:t>Y</a:t>
            </a:r>
            <a:r>
              <a:rPr lang="en-US" dirty="0"/>
              <a:t>our students will be better informed about this topic after they read the “Should There Be a Market</a:t>
            </a:r>
            <a:r>
              <a:rPr lang="en-US" baseline="0" dirty="0"/>
              <a:t> for Organs?” case study in the textbook. </a:t>
            </a:r>
          </a:p>
          <a:p>
            <a:endParaRPr lang="en-US" dirty="0"/>
          </a:p>
          <a:p>
            <a:r>
              <a:rPr lang="en-US" dirty="0"/>
              <a:t>If</a:t>
            </a:r>
            <a:r>
              <a:rPr lang="en-US" baseline="0" dirty="0"/>
              <a:t> time permits (it can take 20-30 minutes), you can start your discussion this way:</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a:t>
            </a:r>
            <a:r>
              <a:rPr lang="en-US" dirty="0"/>
              <a:t> </a:t>
            </a:r>
            <a:r>
              <a:rPr lang="en-US" baseline="0" dirty="0"/>
              <a:t>Since it is illegal to buy or sell kidneys, we are dealing with a binding price ceiling at </a:t>
            </a:r>
            <a:r>
              <a:rPr lang="en-US" b="1" i="1" baseline="0" dirty="0"/>
              <a:t>P</a:t>
            </a:r>
            <a:r>
              <a:rPr lang="en-US" baseline="0" dirty="0"/>
              <a:t> = $0. People that need kidney transplants get them from friends/relatives that are compatible (no need to be on the transplant list); from anonymous donors (usually other people die and their family donates their organs); or stay on the list (sometimes for years) and getting sicker or </a:t>
            </a:r>
            <a:r>
              <a:rPr lang="en-US" b="1" i="1" baseline="0" dirty="0"/>
              <a:t>die waiting for a kidney</a:t>
            </a:r>
            <a:r>
              <a:rPr lang="en-US" baseline="0" dirty="0"/>
              <a:t>.  (</a:t>
            </a:r>
            <a:r>
              <a:rPr lang="en-US" sz="1200" b="0" i="0" u="none" strike="noStrike" kern="1200" baseline="0" dirty="0">
                <a:solidFill>
                  <a:schemeClr val="tx1"/>
                </a:solidFill>
                <a:latin typeface="+mn-lt"/>
                <a:ea typeface="+mn-ea"/>
                <a:cs typeface="+mn-cs"/>
              </a:rPr>
              <a:t>The typical patient has to wait several years for a kidney transplant, and </a:t>
            </a:r>
            <a:r>
              <a:rPr lang="en-US" sz="1200" b="0" i="0" u="sng" strike="noStrike" kern="1200" baseline="0" dirty="0">
                <a:solidFill>
                  <a:schemeClr val="tx1"/>
                </a:solidFill>
                <a:latin typeface="+mn-lt"/>
                <a:ea typeface="+mn-ea"/>
                <a:cs typeface="+mn-cs"/>
              </a:rPr>
              <a:t>every year thousands of people die </a:t>
            </a:r>
            <a:r>
              <a:rPr lang="en-US" sz="1200" b="0" i="0" u="none" strike="noStrike" kern="1200" baseline="0" dirty="0">
                <a:solidFill>
                  <a:schemeClr val="tx1"/>
                </a:solidFill>
                <a:latin typeface="+mn-lt"/>
                <a:ea typeface="+mn-ea"/>
                <a:cs typeface="+mn-cs"/>
              </a:rPr>
              <a:t>because a compatible kidney cannot be found) </a:t>
            </a:r>
            <a:r>
              <a:rPr lang="en-US" dirty="0">
                <a:hlinkClick r:id="rId3"/>
              </a:rPr>
              <a:t>https://www.kidney.org/news/newsroom/factsheets/Organ-Donation-and-Transplantation-Stats</a:t>
            </a:r>
            <a:r>
              <a:rPr lang="en-US" dirty="0"/>
              <a:t> . </a:t>
            </a:r>
          </a:p>
          <a:p>
            <a:endParaRPr lang="en-US" sz="1200" b="0" i="0" u="none" strike="noStrike" kern="1200" baseline="0" dirty="0">
              <a:solidFill>
                <a:schemeClr val="tx1"/>
              </a:solidFill>
              <a:latin typeface="+mn-lt"/>
              <a:ea typeface="+mn-ea"/>
              <a:cs typeface="+mn-cs"/>
            </a:endParaRPr>
          </a:p>
          <a:p>
            <a:r>
              <a:rPr lang="en-US" baseline="0" dirty="0"/>
              <a:t>Remind your students that at binding price ceilings a shortage exists; in this case a shortage a kidneys: too many people need one and not enough are available. When the price is not allowed to act as a rationing mechanism, other rationing mechanisms will emerge (convincing relatives to donate; long transplant lists, etc.)</a:t>
            </a:r>
          </a:p>
          <a:p>
            <a:endParaRPr lang="en-US" baseline="0" dirty="0"/>
          </a:p>
          <a:p>
            <a:pPr marL="0" indent="0">
              <a:buFontTx/>
              <a:buNone/>
            </a:pPr>
            <a:r>
              <a:rPr lang="en-US" baseline="0" dirty="0"/>
              <a:t>B. Efficiency: does this market with a binding price ceiling of $0 maximizes total surplus? No. (You can draw the market S and D and identify the consumer or producer surplus areas). </a:t>
            </a:r>
          </a:p>
          <a:p>
            <a:pPr marL="0" indent="0">
              <a:buFontTx/>
              <a:buNone/>
            </a:pPr>
            <a:r>
              <a:rPr lang="en-US" baseline="0" dirty="0"/>
              <a:t>For the fairness issue: you’ll get various interesting reactions here, be warned! Some students may know that firefighters and police have access to an informal network of other firefighters and police (something I don’t have access to if I need a kidney). Some students might know there are ‘matching’ lists for a steep fee (the recipient pays the fee). </a:t>
            </a:r>
          </a:p>
          <a:p>
            <a:endParaRPr lang="en-US" baseline="0" dirty="0"/>
          </a:p>
          <a:p>
            <a:r>
              <a:rPr lang="en-US" baseline="0" dirty="0"/>
              <a:t>C. </a:t>
            </a:r>
            <a:r>
              <a:rPr lang="en-US" sz="1200" b="0" i="0" u="none" strike="noStrike" kern="1200" baseline="0" dirty="0">
                <a:solidFill>
                  <a:schemeClr val="tx1"/>
                </a:solidFill>
                <a:latin typeface="+mn-lt"/>
                <a:ea typeface="+mn-ea"/>
                <a:cs typeface="+mn-cs"/>
              </a:rPr>
              <a:t>If those needing a kidney were allowed to buy one from those who have two, the price would rise to balance supply and demand. Sellers would be better off with the extra cash in their pockets. Buyers would be better off with the organ they need to save their lives. The shortage of kidneys would disappear.  </a:t>
            </a:r>
            <a:endParaRPr lang="en-US" baseline="0" dirty="0"/>
          </a:p>
        </p:txBody>
      </p:sp>
      <p:sp>
        <p:nvSpPr>
          <p:cNvPr id="4" name="Slide Number Placeholder 3"/>
          <p:cNvSpPr>
            <a:spLocks noGrp="1"/>
          </p:cNvSpPr>
          <p:nvPr>
            <p:ph type="sldNum" sz="quarter" idx="10"/>
          </p:nvPr>
        </p:nvSpPr>
        <p:spPr/>
        <p:txBody>
          <a:bodyPr/>
          <a:lstStyle/>
          <a:p>
            <a:fld id="{2CAF6792-DBE1-4461-97FA-F85A7B48814E}" type="slidenum">
              <a:rPr lang="en-US" smtClean="0"/>
              <a:t>45</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46</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47</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0090" y="2696511"/>
            <a:ext cx="3335336" cy="2030599"/>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
        <p:nvSpPr>
          <p:cNvPr id="2" name="Content Placeholder 8">
            <a:extLst>
              <a:ext uri="{FF2B5EF4-FFF2-40B4-BE49-F238E27FC236}">
                <a16:creationId xmlns:a16="http://schemas.microsoft.com/office/drawing/2014/main" id="{8B2DB045-08BE-8775-66CE-6B4FCE4115AF}"/>
              </a:ext>
            </a:extLst>
          </p:cNvPr>
          <p:cNvSpPr>
            <a:spLocks noGrp="1"/>
          </p:cNvSpPr>
          <p:nvPr>
            <p:ph sz="quarter" idx="4294967295"/>
          </p:nvPr>
        </p:nvSpPr>
        <p:spPr>
          <a:xfrm>
            <a:off x="5627696" y="491145"/>
            <a:ext cx="2806682" cy="2019300"/>
          </a:xfrm>
          <a:blipFill>
            <a:blip r:embed="rId2"/>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a:t>
            </a:r>
          </a:p>
        </p:txBody>
      </p:sp>
    </p:spTree>
    <p:extLst>
      <p:ext uri="{BB962C8B-B14F-4D97-AF65-F5344CB8AC3E}">
        <p14:creationId xmlns:p14="http://schemas.microsoft.com/office/powerpoint/2010/main" val="4083183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6" name="Content Placeholder 5"/>
          <p:cNvSpPr>
            <a:spLocks noGrp="1"/>
          </p:cNvSpPr>
          <p:nvPr>
            <p:ph sz="quarter" idx="12" hasCustomPrompt="1"/>
          </p:nvPr>
        </p:nvSpPr>
        <p:spPr>
          <a:xfrm>
            <a:off x="4114800" y="2895600"/>
            <a:ext cx="5029200" cy="19812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6054725" y="5707063"/>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1493378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In this chapter">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304800" y="0"/>
            <a:ext cx="8686800" cy="889000"/>
          </a:xfrm>
        </p:spPr>
        <p:txBody>
          <a:bodyPr/>
          <a:lstStyle>
            <a:lvl1pPr algn="l">
              <a:defRPr sz="4800" b="1" baseline="0">
                <a:solidFill>
                  <a:srgbClr val="4E519E"/>
                </a:solidFill>
              </a:defRPr>
            </a:lvl1pPr>
          </a:lstStyle>
          <a:p>
            <a:r>
              <a:rPr lang="en-US" dirty="0"/>
              <a:t>IN THIS ****</a:t>
            </a:r>
          </a:p>
        </p:txBody>
      </p:sp>
    </p:spTree>
    <p:extLst>
      <p:ext uri="{BB962C8B-B14F-4D97-AF65-F5344CB8AC3E}">
        <p14:creationId xmlns:p14="http://schemas.microsoft.com/office/powerpoint/2010/main" val="273159307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h in a nutshe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9036240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MM Layou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
        <p:nvSpPr>
          <p:cNvPr id="6" name="Footer Placeholder 5">
            <a:extLst>
              <a:ext uri="{FF2B5EF4-FFF2-40B4-BE49-F238E27FC236}">
                <a16:creationId xmlns:a16="http://schemas.microsoft.com/office/drawing/2014/main" id="{D6CC48C9-2DF5-86B2-52F6-3553FB63E4E3}"/>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5B1924E0-10F3-9B23-4A6D-B7A794FC706B}"/>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A85FD261-2C59-7853-3D09-56DE1843E157}"/>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138EC95-3726-2FD0-2890-4DE101309164}"/>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E1CFE4B3-9DBB-BA12-0D2A-898D0FF2E5FA}"/>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5146884F-367E-1A7B-643B-CB3AD0BA2595}"/>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L or EX BT no animation">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4991003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AL or Ex and ANSW">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002060"/>
                </a:solidFill>
              </a:defRPr>
            </a:lvl1pPr>
            <a:lvl2pPr>
              <a:defRPr sz="3000">
                <a:solidFill>
                  <a:srgbClr val="002060"/>
                </a:solidFill>
              </a:defRPr>
            </a:lvl2pPr>
            <a:lvl3pPr>
              <a:defRPr sz="2400">
                <a:solidFill>
                  <a:srgbClr val="002060"/>
                </a:solidFill>
              </a:defRPr>
            </a:lvl3pPr>
            <a:lvl4pPr>
              <a:defRPr sz="2000">
                <a:solidFill>
                  <a:srgbClr val="002060"/>
                </a:solidFill>
              </a:defRPr>
            </a:lvl4pPr>
            <a:lvl5pPr>
              <a:defRPr sz="1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311079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642464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4E519E"/>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5.emf"/><Relationship Id="rId4" Type="http://schemas.openxmlformats.org/officeDocument/2006/relationships/image" Target="../media/image4.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5.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slideLayout" Target="../slideLayouts/slideLayout12.xml"/><Relationship Id="rId7" Type="http://schemas.openxmlformats.org/officeDocument/2006/relationships/theme" Target="../theme/theme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8.png"/><Relationship Id="rId5" Type="http://schemas.openxmlformats.org/officeDocument/2006/relationships/slideLayout" Target="../slideLayouts/slideLayout14.xml"/><Relationship Id="rId10" Type="http://schemas.openxmlformats.org/officeDocument/2006/relationships/image" Target="../media/image17.png"/><Relationship Id="rId4" Type="http://schemas.openxmlformats.org/officeDocument/2006/relationships/slideLayout" Target="../slideLayouts/slideLayout13.xml"/><Relationship Id="rId9"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theme" Target="../theme/theme7.xml"/><Relationship Id="rId1" Type="http://schemas.openxmlformats.org/officeDocument/2006/relationships/slideLayout" Target="../slideLayouts/slideLayout16.xml"/><Relationship Id="rId4" Type="http://schemas.openxmlformats.org/officeDocument/2006/relationships/image" Target="../media/image20.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theme" Target="../theme/theme9.xml"/><Relationship Id="rId1" Type="http://schemas.openxmlformats.org/officeDocument/2006/relationships/slideLayout" Target="../slideLayouts/slideLayout1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theme" Target="../theme/theme10.xml"/><Relationship Id="rId1" Type="http://schemas.openxmlformats.org/officeDocument/2006/relationships/slideLayout" Target="../slideLayouts/slideLayout20.xml"/><Relationship Id="rId5" Type="http://schemas.openxmlformats.org/officeDocument/2006/relationships/image" Target="../media/image31.png"/><Relationship Id="rId4" Type="http://schemas.openxmlformats.org/officeDocument/2006/relationships/image" Target="../media/image30.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5"/>
          <a:stretch>
            <a:fillRect/>
          </a:stretch>
        </p:blipFill>
        <p:spPr>
          <a:xfrm>
            <a:off x="-1" y="1439"/>
            <a:ext cx="4953001" cy="6362582"/>
          </a:xfrm>
          <a:prstGeom prst="rect">
            <a:avLst/>
          </a:prstGeom>
        </p:spPr>
      </p:pic>
    </p:spTree>
    <p:extLst>
      <p:ext uri="{BB962C8B-B14F-4D97-AF65-F5344CB8AC3E}">
        <p14:creationId xmlns:p14="http://schemas.microsoft.com/office/powerpoint/2010/main" val="1443803460"/>
      </p:ext>
    </p:extLst>
  </p:cSld>
  <p:clrMap bg1="lt1" tx1="dk1" bg2="lt2" tx2="dk2" accent1="accent1" accent2="accent2" accent3="accent3" accent4="accent4" accent5="accent5" accent6="accent6" hlink="hlink" folHlink="folHlink"/>
  <p:sldLayoutIdLst>
    <p:sldLayoutId id="2147483700" r:id="rId1"/>
    <p:sldLayoutId id="2147483701" r:id="rId2"/>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91" r:id="rId1"/>
    <p:sldLayoutId id="2147483695"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5"/>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5"/>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6"/>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 id="2147483682" r:id="rId3"/>
  </p:sldLayoutIdLst>
  <p:transition/>
  <p:hf hdr="0" dt="0"/>
  <p:txStyles>
    <p:titleStyle>
      <a:lvl1pPr algn="ctr" rtl="0" eaLnBrk="0" fontAlgn="base" hangingPunct="0">
        <a:spcBef>
          <a:spcPct val="0"/>
        </a:spcBef>
        <a:spcAft>
          <a:spcPct val="0"/>
        </a:spcAft>
        <a:defRPr sz="400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8"/>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8"/>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9"/>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10"/>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1"/>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10"/>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1"/>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697" r:id="rId5"/>
    <p:sldLayoutId id="2147483698" r:id="rId6"/>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28598"/>
                <a:ext cx="7543800" cy="102213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32.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32.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32.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32.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32.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34.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34.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9.xml"/><Relationship Id="rId1" Type="http://schemas.openxmlformats.org/officeDocument/2006/relationships/slideLayout" Target="../slideLayouts/slideLayout10.xml"/><Relationship Id="rId4" Type="http://schemas.openxmlformats.org/officeDocument/2006/relationships/image" Target="../media/image35.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0.xml"/><Relationship Id="rId1" Type="http://schemas.openxmlformats.org/officeDocument/2006/relationships/slideLayout" Target="../slideLayouts/slideLayout14.xml"/><Relationship Id="rId4" Type="http://schemas.openxmlformats.org/officeDocument/2006/relationships/image" Target="../media/image35.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6.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4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44.xml"/><Relationship Id="rId1" Type="http://schemas.openxmlformats.org/officeDocument/2006/relationships/slideLayout" Target="../slideLayouts/slideLayout19.xml"/><Relationship Id="rId4" Type="http://schemas.openxmlformats.org/officeDocument/2006/relationships/image" Target="../media/image38.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12"/>
          </p:nvPr>
        </p:nvSpPr>
        <p:spPr/>
        <p:txBody>
          <a:bodyPr anchor="ctr">
            <a:normAutofit fontScale="92500" lnSpcReduction="20000"/>
          </a:bodyPr>
          <a:lstStyle/>
          <a:p>
            <a:pPr algn="ctr">
              <a:defRPr/>
            </a:pPr>
            <a:r>
              <a:rPr lang="en-US" sz="4200" dirty="0">
                <a:latin typeface="+mj-lt"/>
              </a:rPr>
              <a:t>Consumers, Producers, and the Efficiency of Markets</a:t>
            </a:r>
          </a:p>
        </p:txBody>
      </p:sp>
      <p:sp>
        <p:nvSpPr>
          <p:cNvPr id="9" name="Content Placeholder 8"/>
          <p:cNvSpPr>
            <a:spLocks noGrp="1"/>
          </p:cNvSpPr>
          <p:nvPr>
            <p:ph sz="quarter" idx="4294967295"/>
          </p:nvPr>
        </p:nvSpPr>
        <p:spPr>
          <a:xfrm>
            <a:off x="5627696" y="491145"/>
            <a:ext cx="2806682" cy="2019300"/>
          </a:xfrm>
          <a:blipFill>
            <a:blip r:embed="rId3"/>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7</a:t>
            </a:r>
          </a:p>
        </p:txBody>
      </p:sp>
      <p:sp>
        <p:nvSpPr>
          <p:cNvPr id="2" name="TextBox 1">
            <a:extLst>
              <a:ext uri="{FF2B5EF4-FFF2-40B4-BE49-F238E27FC236}">
                <a16:creationId xmlns:a16="http://schemas.microsoft.com/office/drawing/2014/main" id="{1E17D94A-E86A-5CEC-C81C-78F2FE3510DF}"/>
              </a:ext>
            </a:extLst>
          </p:cNvPr>
          <p:cNvSpPr txBox="1">
            <a:spLocks noGrp="1" noRot="1" noMove="1" noResize="1" noEditPoints="1" noAdjustHandles="1" noChangeArrowheads="1" noChangeShapeType="1"/>
          </p:cNvSpPr>
          <p:nvPr/>
        </p:nvSpPr>
        <p:spPr>
          <a:xfrm>
            <a:off x="5627696" y="5029200"/>
            <a:ext cx="2894004" cy="91440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6230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200" dirty="0"/>
              <a:t>What is consumer surplus?  How is it related to the demand curve?</a:t>
            </a:r>
          </a:p>
          <a:p>
            <a:r>
              <a:rPr lang="en-US" sz="3200" dirty="0"/>
              <a:t>What is producer surplus?  How is it related to the supply curve?</a:t>
            </a:r>
          </a:p>
          <a:p>
            <a:r>
              <a:rPr lang="en-US" sz="3200" dirty="0"/>
              <a:t>Do markets produce a desirable allocation of resources?  Or could the market outcome be improved upon?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7" name="Footer Placeholder 6">
            <a:extLst>
              <a:ext uri="{FF2B5EF4-FFF2-40B4-BE49-F238E27FC236}">
                <a16:creationId xmlns:a16="http://schemas.microsoft.com/office/drawing/2014/main" id="{D2E8AF3F-15BA-9509-9A63-A73D203C1EE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p:nvPr>
        </p:nvSpPr>
        <p:spPr/>
        <p:txBody>
          <a:bodyPr/>
          <a:lstStyle/>
          <a:p>
            <a:r>
              <a:rPr lang="en-US" dirty="0"/>
              <a:t>IN THIS CHAPTER</a:t>
            </a:r>
          </a:p>
        </p:txBody>
      </p:sp>
    </p:spTree>
    <p:extLst>
      <p:ext uri="{BB962C8B-B14F-4D97-AF65-F5344CB8AC3E}">
        <p14:creationId xmlns:p14="http://schemas.microsoft.com/office/powerpoint/2010/main" val="374282046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Welfare Economics</a:t>
            </a:r>
          </a:p>
        </p:txBody>
      </p:sp>
      <p:sp>
        <p:nvSpPr>
          <p:cNvPr id="3" name="Content Placeholder 2"/>
          <p:cNvSpPr>
            <a:spLocks noGrp="1"/>
          </p:cNvSpPr>
          <p:nvPr>
            <p:ph idx="1"/>
          </p:nvPr>
        </p:nvSpPr>
        <p:spPr/>
        <p:txBody>
          <a:bodyPr/>
          <a:lstStyle/>
          <a:p>
            <a:r>
              <a:rPr lang="en-US" sz="3200" dirty="0"/>
              <a:t>Allocation of resources refers to:</a:t>
            </a:r>
          </a:p>
          <a:p>
            <a:pPr lvl="1"/>
            <a:r>
              <a:rPr lang="en-US" sz="2800" dirty="0"/>
              <a:t>How much of each good is produced</a:t>
            </a:r>
          </a:p>
          <a:p>
            <a:pPr lvl="1"/>
            <a:r>
              <a:rPr lang="en-US" sz="2800" dirty="0"/>
              <a:t>Which producers produce it</a:t>
            </a:r>
          </a:p>
          <a:p>
            <a:pPr lvl="1"/>
            <a:r>
              <a:rPr lang="en-US" sz="2800" dirty="0"/>
              <a:t>Which consumers consume it</a:t>
            </a:r>
          </a:p>
          <a:p>
            <a:r>
              <a:rPr lang="en-US" sz="3200" dirty="0"/>
              <a:t>Welfare economics </a:t>
            </a:r>
          </a:p>
          <a:p>
            <a:pPr lvl="1"/>
            <a:r>
              <a:rPr lang="en-US" sz="2800" dirty="0"/>
              <a:t>Studies how the allocation of resources affects economic well-being</a:t>
            </a:r>
          </a:p>
          <a:p>
            <a:r>
              <a:rPr lang="en-US" sz="3200" dirty="0"/>
              <a:t>Conclusion: </a:t>
            </a:r>
            <a:r>
              <a:rPr lang="en-US" sz="2800" dirty="0">
                <a:solidFill>
                  <a:schemeClr val="tx1"/>
                </a:solidFill>
              </a:rPr>
              <a:t>the equilibrium of supply and demand maximizes the total benefits received by all buyers and sellers combined.</a:t>
            </a:r>
          </a:p>
          <a:p>
            <a:endParaRPr lang="en-US" sz="32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a:t>
            </a:fld>
            <a:endParaRPr lang="en-US"/>
          </a:p>
        </p:txBody>
      </p:sp>
      <p:sp>
        <p:nvSpPr>
          <p:cNvPr id="5" name="Footer Placeholder 4">
            <a:extLst>
              <a:ext uri="{FF2B5EF4-FFF2-40B4-BE49-F238E27FC236}">
                <a16:creationId xmlns:a16="http://schemas.microsoft.com/office/drawing/2014/main" id="{C16AD81B-F449-3212-A2AC-C00A1A7AF46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26119830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Consumer Surplus – 1 </a:t>
            </a:r>
          </a:p>
        </p:txBody>
      </p:sp>
      <p:sp>
        <p:nvSpPr>
          <p:cNvPr id="3" name="Content Placeholder 2"/>
          <p:cNvSpPr>
            <a:spLocks noGrp="1"/>
          </p:cNvSpPr>
          <p:nvPr>
            <p:ph idx="1"/>
          </p:nvPr>
        </p:nvSpPr>
        <p:spPr/>
        <p:txBody>
          <a:bodyPr/>
          <a:lstStyle/>
          <a:p>
            <a:r>
              <a:rPr lang="en-US" dirty="0"/>
              <a:t>Willingness to pay, </a:t>
            </a:r>
            <a:r>
              <a:rPr lang="en-US" b="1" i="1" dirty="0"/>
              <a:t>WTP</a:t>
            </a:r>
            <a:r>
              <a:rPr lang="en-US" dirty="0"/>
              <a:t>  </a:t>
            </a:r>
          </a:p>
          <a:p>
            <a:pPr lvl="1"/>
            <a:r>
              <a:rPr lang="en-US" dirty="0"/>
              <a:t>The maximum amount that a buyer will pay for a good</a:t>
            </a:r>
          </a:p>
          <a:p>
            <a:pPr lvl="1"/>
            <a:r>
              <a:rPr lang="en-US" dirty="0"/>
              <a:t>How much the buyer values the good</a:t>
            </a:r>
          </a:p>
          <a:p>
            <a:r>
              <a:rPr lang="en-US" dirty="0"/>
              <a:t>Consumer surplus, </a:t>
            </a:r>
            <a:r>
              <a:rPr lang="en-US" b="1" i="1" dirty="0"/>
              <a:t>CS</a:t>
            </a:r>
            <a:r>
              <a:rPr lang="en-US" dirty="0"/>
              <a:t>  =  </a:t>
            </a:r>
            <a:r>
              <a:rPr lang="en-US" b="1" i="1" dirty="0"/>
              <a:t>WTP</a:t>
            </a:r>
            <a:r>
              <a:rPr lang="en-US" dirty="0"/>
              <a:t>  –  </a:t>
            </a:r>
            <a:r>
              <a:rPr lang="en-US" b="1" i="1" dirty="0"/>
              <a:t>P</a:t>
            </a:r>
          </a:p>
          <a:p>
            <a:pPr lvl="1"/>
            <a:r>
              <a:rPr lang="en-US" dirty="0"/>
              <a:t>Amount a buyer is willing to pay minus the amount the buyer actually pays</a:t>
            </a:r>
          </a:p>
          <a:p>
            <a:pPr lvl="1"/>
            <a:r>
              <a:rPr lang="en-US" dirty="0"/>
              <a:t>Benefits buyers receive from participating in a market.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a:t>
            </a:fld>
            <a:endParaRPr lang="en-US"/>
          </a:p>
        </p:txBody>
      </p:sp>
      <p:sp>
        <p:nvSpPr>
          <p:cNvPr id="5" name="Footer Placeholder 4">
            <a:extLst>
              <a:ext uri="{FF2B5EF4-FFF2-40B4-BE49-F238E27FC236}">
                <a16:creationId xmlns:a16="http://schemas.microsoft.com/office/drawing/2014/main" id="{84AF6DA4-CBA3-127A-EC3F-C7E96AA2A1A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88754142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 </a:t>
            </a:r>
            <a:r>
              <a:rPr lang="en-US" dirty="0">
                <a:solidFill>
                  <a:schemeClr val="tx1"/>
                </a:solidFill>
              </a:rPr>
              <a:t>Willingness to pay (WTP)</a:t>
            </a:r>
          </a:p>
        </p:txBody>
      </p:sp>
      <p:sp>
        <p:nvSpPr>
          <p:cNvPr id="3" name="Content Placeholder 2"/>
          <p:cNvSpPr>
            <a:spLocks noGrp="1"/>
          </p:cNvSpPr>
          <p:nvPr>
            <p:ph idx="1"/>
          </p:nvPr>
        </p:nvSpPr>
        <p:spPr/>
        <p:txBody>
          <a:bodyPr>
            <a:normAutofit/>
          </a:bodyPr>
          <a:lstStyle/>
          <a:p>
            <a:pPr marL="0" indent="0">
              <a:buNone/>
            </a:pPr>
            <a:r>
              <a:rPr lang="en-US" sz="2800" dirty="0">
                <a:solidFill>
                  <a:srgbClr val="4E519E"/>
                </a:solidFill>
              </a:rPr>
              <a:t>You work at the local store that sells refurbished iPads. The store is running a sale on the refurbished iPad mini-5. Each of your roommates wants to buy an iPad mini-5. Their willingness to pay is given in the table below.</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a:t>
            </a:fld>
            <a:endParaRPr lang="en-US"/>
          </a:p>
        </p:txBody>
      </p:sp>
      <p:sp>
        <p:nvSpPr>
          <p:cNvPr id="8" name="Content Placeholder 7"/>
          <p:cNvSpPr>
            <a:spLocks noGrp="1"/>
          </p:cNvSpPr>
          <p:nvPr>
            <p:ph idx="4294967295"/>
          </p:nvPr>
        </p:nvSpPr>
        <p:spPr>
          <a:xfrm>
            <a:off x="3444875" y="3200400"/>
            <a:ext cx="5699125" cy="2971800"/>
          </a:xfrm>
        </p:spPr>
        <p:txBody>
          <a:bodyPr>
            <a:normAutofit/>
          </a:bodyPr>
          <a:lstStyle/>
          <a:p>
            <a:pPr marL="0" indent="0">
              <a:buNone/>
            </a:pPr>
            <a:r>
              <a:rPr lang="en-US" sz="2800" dirty="0">
                <a:solidFill>
                  <a:srgbClr val="C00000"/>
                </a:solidFill>
              </a:rPr>
              <a:t>Q: </a:t>
            </a:r>
            <a:r>
              <a:rPr lang="en-US" sz="2800" dirty="0">
                <a:solidFill>
                  <a:schemeClr val="tx1"/>
                </a:solidFill>
              </a:rPr>
              <a:t>If the </a:t>
            </a:r>
            <a:r>
              <a:rPr lang="en-US" sz="2800" u="sng" dirty="0">
                <a:solidFill>
                  <a:schemeClr val="tx1"/>
                </a:solidFill>
              </a:rPr>
              <a:t>sale price is $300</a:t>
            </a:r>
            <a:r>
              <a:rPr lang="en-US" sz="2800" dirty="0">
                <a:solidFill>
                  <a:schemeClr val="tx1"/>
                </a:solidFill>
              </a:rPr>
              <a:t>, who will buy an iPad, and what is the quantity demanded?</a:t>
            </a:r>
          </a:p>
          <a:p>
            <a:pPr marL="0" indent="0">
              <a:buNone/>
            </a:pPr>
            <a:r>
              <a:rPr lang="en-US" sz="2800" dirty="0"/>
              <a:t>A: Alexis &amp; Fatima will buy an iPad mini. Cameron &amp; Jamir will not. </a:t>
            </a:r>
          </a:p>
          <a:p>
            <a:r>
              <a:rPr lang="en-US" sz="2800" dirty="0"/>
              <a:t>Hence, </a:t>
            </a:r>
            <a:r>
              <a:rPr lang="en-US" sz="2800" b="1" i="1" dirty="0" err="1"/>
              <a:t>Q</a:t>
            </a:r>
            <a:r>
              <a:rPr lang="en-US" sz="2800" b="1" i="1" baseline="30000" dirty="0" err="1"/>
              <a:t>d</a:t>
            </a:r>
            <a:r>
              <a:rPr lang="en-US" sz="2800" dirty="0"/>
              <a:t> = 2 when </a:t>
            </a:r>
            <a:r>
              <a:rPr lang="en-US" sz="2800" b="1" i="1" dirty="0"/>
              <a:t>P</a:t>
            </a:r>
            <a:r>
              <a:rPr lang="en-US" sz="2800" dirty="0"/>
              <a:t> = $300</a:t>
            </a:r>
          </a:p>
        </p:txBody>
      </p:sp>
      <p:graphicFrame>
        <p:nvGraphicFramePr>
          <p:cNvPr id="7" name="Group 91"/>
          <p:cNvGraphicFramePr>
            <a:graphicFrameLocks noGrp="1"/>
          </p:cNvGraphicFramePr>
          <p:nvPr>
            <p:extLst>
              <p:ext uri="{D42A27DB-BD31-4B8C-83A1-F6EECF244321}">
                <p14:modId xmlns:p14="http://schemas.microsoft.com/office/powerpoint/2010/main" val="3207779254"/>
              </p:ext>
            </p:extLst>
          </p:nvPr>
        </p:nvGraphicFramePr>
        <p:xfrm>
          <a:off x="304800" y="3352800"/>
          <a:ext cx="2711450" cy="2932114"/>
        </p:xfrm>
        <a:graphic>
          <a:graphicData uri="http://schemas.openxmlformats.org/drawingml/2006/table">
            <a:tbl>
              <a:tblPr>
                <a:tableStyleId>{2D5ABB26-0587-4C30-8999-92F81FD0307C}</a:tableStyleId>
              </a:tblPr>
              <a:tblGrid>
                <a:gridCol w="1679575">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tblGrid>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Name</a:t>
                      </a:r>
                      <a:endParaRPr kumimoji="0" lang="en-US" sz="2600" b="0" i="1"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WTP</a:t>
                      </a:r>
                      <a:endParaRPr kumimoji="0" lang="en-US" sz="2600" b="0" i="1" u="none" strike="noStrike" cap="none" normalizeH="0" baseline="0" dirty="0">
                        <a:ln>
                          <a:noFill/>
                        </a:ln>
                        <a:solidFill>
                          <a:schemeClr val="tx1"/>
                        </a:solidFill>
                        <a:effectLst/>
                        <a:latin typeface="Arial" charset="0"/>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Alexis</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$350</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Cameron</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275</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Fatima</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400</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Jamir</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225</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bl>
          </a:graphicData>
        </a:graphic>
      </p:graphicFrame>
      <p:sp>
        <p:nvSpPr>
          <p:cNvPr id="5" name="Footer Placeholder 4">
            <a:extLst>
              <a:ext uri="{FF2B5EF4-FFF2-40B4-BE49-F238E27FC236}">
                <a16:creationId xmlns:a16="http://schemas.microsoft.com/office/drawing/2014/main" id="{E475102D-1F13-FFC6-1EFC-B16C12A524C3}"/>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7024885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wipe(left)">
                                      <p:cBhvr>
                                        <p:cTn id="16"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1B: </a:t>
            </a:r>
            <a:r>
              <a:rPr lang="en-US" b="1" i="1" dirty="0">
                <a:solidFill>
                  <a:schemeClr val="tx1"/>
                </a:solidFill>
              </a:rPr>
              <a:t>WTP</a:t>
            </a:r>
            <a:r>
              <a:rPr lang="en-US" dirty="0">
                <a:solidFill>
                  <a:schemeClr val="tx1"/>
                </a:solidFill>
              </a:rPr>
              <a:t> and the demand curve</a:t>
            </a:r>
          </a:p>
        </p:txBody>
      </p:sp>
      <p:sp>
        <p:nvSpPr>
          <p:cNvPr id="3" name="Content Placeholder 2"/>
          <p:cNvSpPr>
            <a:spLocks noGrp="1"/>
          </p:cNvSpPr>
          <p:nvPr>
            <p:ph idx="1"/>
          </p:nvPr>
        </p:nvSpPr>
        <p:spPr>
          <a:xfrm>
            <a:off x="347242" y="914400"/>
            <a:ext cx="3065884" cy="5534025"/>
          </a:xfrm>
        </p:spPr>
        <p:txBody>
          <a:bodyPr>
            <a:normAutofit/>
          </a:bodyPr>
          <a:lstStyle/>
          <a:p>
            <a:pPr marL="0" indent="0">
              <a:buNone/>
            </a:pPr>
            <a:r>
              <a:rPr lang="en-US" sz="3200" dirty="0">
                <a:solidFill>
                  <a:srgbClr val="4E519E"/>
                </a:solidFill>
              </a:rPr>
              <a:t>Derive the demand schedule: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a:t>
            </a:fld>
            <a:endParaRPr lang="en-US"/>
          </a:p>
        </p:txBody>
      </p:sp>
      <p:sp>
        <p:nvSpPr>
          <p:cNvPr id="9" name="Rectangle 144"/>
          <p:cNvSpPr>
            <a:spLocks noChangeArrowheads="1"/>
          </p:cNvSpPr>
          <p:nvPr/>
        </p:nvSpPr>
        <p:spPr bwMode="auto">
          <a:xfrm>
            <a:off x="7874000" y="5281612"/>
            <a:ext cx="795338" cy="890588"/>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4</a:t>
            </a:r>
          </a:p>
        </p:txBody>
      </p:sp>
      <p:sp>
        <p:nvSpPr>
          <p:cNvPr id="10" name="Rectangle 142"/>
          <p:cNvSpPr>
            <a:spLocks noChangeArrowheads="1"/>
          </p:cNvSpPr>
          <p:nvPr/>
        </p:nvSpPr>
        <p:spPr bwMode="auto">
          <a:xfrm>
            <a:off x="5148263" y="5281612"/>
            <a:ext cx="2725737" cy="890588"/>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dirty="0">
                <a:cs typeface="Arial"/>
              </a:rPr>
              <a:t>Jamir, Cameron, Alexis, Fatima</a:t>
            </a:r>
          </a:p>
        </p:txBody>
      </p:sp>
      <p:sp>
        <p:nvSpPr>
          <p:cNvPr id="11" name="Rectangle 140"/>
          <p:cNvSpPr>
            <a:spLocks noChangeArrowheads="1"/>
          </p:cNvSpPr>
          <p:nvPr/>
        </p:nvSpPr>
        <p:spPr bwMode="auto">
          <a:xfrm>
            <a:off x="3413125" y="5281612"/>
            <a:ext cx="1735138" cy="890588"/>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   0 – 225</a:t>
            </a:r>
          </a:p>
        </p:txBody>
      </p:sp>
      <p:sp>
        <p:nvSpPr>
          <p:cNvPr id="12" name="Rectangle 136"/>
          <p:cNvSpPr>
            <a:spLocks noChangeArrowheads="1"/>
          </p:cNvSpPr>
          <p:nvPr/>
        </p:nvSpPr>
        <p:spPr bwMode="auto">
          <a:xfrm>
            <a:off x="7874000" y="4391025"/>
            <a:ext cx="795338" cy="890587"/>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3</a:t>
            </a:r>
          </a:p>
        </p:txBody>
      </p:sp>
      <p:sp>
        <p:nvSpPr>
          <p:cNvPr id="13" name="Rectangle 134"/>
          <p:cNvSpPr>
            <a:spLocks noChangeArrowheads="1"/>
          </p:cNvSpPr>
          <p:nvPr/>
        </p:nvSpPr>
        <p:spPr bwMode="auto">
          <a:xfrm>
            <a:off x="5148263" y="4391025"/>
            <a:ext cx="2725737" cy="890587"/>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dirty="0">
                <a:cs typeface="Arial"/>
              </a:rPr>
              <a:t>Cameron, Alexis, Fatima</a:t>
            </a:r>
          </a:p>
        </p:txBody>
      </p:sp>
      <p:sp>
        <p:nvSpPr>
          <p:cNvPr id="14" name="Rectangle 132"/>
          <p:cNvSpPr>
            <a:spLocks noChangeArrowheads="1"/>
          </p:cNvSpPr>
          <p:nvPr/>
        </p:nvSpPr>
        <p:spPr bwMode="auto">
          <a:xfrm>
            <a:off x="3413125" y="4391025"/>
            <a:ext cx="1735138" cy="890587"/>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226 – 275</a:t>
            </a:r>
          </a:p>
        </p:txBody>
      </p:sp>
      <p:sp>
        <p:nvSpPr>
          <p:cNvPr id="15" name="Rectangle 128"/>
          <p:cNvSpPr>
            <a:spLocks noChangeArrowheads="1"/>
          </p:cNvSpPr>
          <p:nvPr/>
        </p:nvSpPr>
        <p:spPr bwMode="auto">
          <a:xfrm>
            <a:off x="7874000" y="3700462"/>
            <a:ext cx="795338" cy="690563"/>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2</a:t>
            </a:r>
          </a:p>
        </p:txBody>
      </p:sp>
      <p:sp>
        <p:nvSpPr>
          <p:cNvPr id="16" name="Rectangle 126"/>
          <p:cNvSpPr>
            <a:spLocks noChangeArrowheads="1"/>
          </p:cNvSpPr>
          <p:nvPr/>
        </p:nvSpPr>
        <p:spPr bwMode="auto">
          <a:xfrm>
            <a:off x="5148263" y="3700462"/>
            <a:ext cx="2725737" cy="690563"/>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dirty="0">
                <a:latin typeface="Arial"/>
                <a:cs typeface="Arial"/>
              </a:rPr>
              <a:t>Alexis, Fatima</a:t>
            </a:r>
          </a:p>
        </p:txBody>
      </p:sp>
      <p:sp>
        <p:nvSpPr>
          <p:cNvPr id="17" name="Rectangle 124"/>
          <p:cNvSpPr>
            <a:spLocks noChangeArrowheads="1"/>
          </p:cNvSpPr>
          <p:nvPr/>
        </p:nvSpPr>
        <p:spPr bwMode="auto">
          <a:xfrm>
            <a:off x="3413125" y="3700462"/>
            <a:ext cx="1735138" cy="690563"/>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276 – 350</a:t>
            </a:r>
          </a:p>
        </p:txBody>
      </p:sp>
      <p:sp>
        <p:nvSpPr>
          <p:cNvPr id="18" name="Rectangle 120"/>
          <p:cNvSpPr>
            <a:spLocks noChangeArrowheads="1"/>
          </p:cNvSpPr>
          <p:nvPr/>
        </p:nvSpPr>
        <p:spPr bwMode="auto">
          <a:xfrm>
            <a:off x="7874000" y="3009900"/>
            <a:ext cx="795338" cy="690562"/>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1</a:t>
            </a:r>
          </a:p>
        </p:txBody>
      </p:sp>
      <p:sp>
        <p:nvSpPr>
          <p:cNvPr id="19" name="Rectangle 118"/>
          <p:cNvSpPr>
            <a:spLocks noChangeArrowheads="1"/>
          </p:cNvSpPr>
          <p:nvPr/>
        </p:nvSpPr>
        <p:spPr bwMode="auto">
          <a:xfrm>
            <a:off x="5148263" y="3009900"/>
            <a:ext cx="2725737" cy="690562"/>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dirty="0">
                <a:latin typeface="Arial"/>
                <a:cs typeface="Arial"/>
              </a:rPr>
              <a:t>Fatima</a:t>
            </a:r>
          </a:p>
        </p:txBody>
      </p:sp>
      <p:sp>
        <p:nvSpPr>
          <p:cNvPr id="20" name="Rectangle 116"/>
          <p:cNvSpPr>
            <a:spLocks noChangeArrowheads="1"/>
          </p:cNvSpPr>
          <p:nvPr/>
        </p:nvSpPr>
        <p:spPr bwMode="auto">
          <a:xfrm>
            <a:off x="3413125" y="3009900"/>
            <a:ext cx="1735138" cy="690562"/>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351 – 400</a:t>
            </a:r>
          </a:p>
        </p:txBody>
      </p:sp>
      <p:sp>
        <p:nvSpPr>
          <p:cNvPr id="21" name="Rectangle 112"/>
          <p:cNvSpPr>
            <a:spLocks noChangeArrowheads="1"/>
          </p:cNvSpPr>
          <p:nvPr/>
        </p:nvSpPr>
        <p:spPr bwMode="auto">
          <a:xfrm>
            <a:off x="7874000" y="2319337"/>
            <a:ext cx="795338" cy="690563"/>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0</a:t>
            </a:r>
          </a:p>
        </p:txBody>
      </p:sp>
      <p:sp>
        <p:nvSpPr>
          <p:cNvPr id="22" name="Rectangle 110"/>
          <p:cNvSpPr>
            <a:spLocks noChangeArrowheads="1"/>
          </p:cNvSpPr>
          <p:nvPr/>
        </p:nvSpPr>
        <p:spPr bwMode="auto">
          <a:xfrm>
            <a:off x="5148263" y="2319337"/>
            <a:ext cx="2725737" cy="690563"/>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dirty="0">
                <a:latin typeface="Arial"/>
                <a:cs typeface="Arial"/>
              </a:rPr>
              <a:t>nobody</a:t>
            </a:r>
          </a:p>
        </p:txBody>
      </p:sp>
      <p:sp>
        <p:nvSpPr>
          <p:cNvPr id="23" name="Rectangle 108"/>
          <p:cNvSpPr>
            <a:spLocks noChangeArrowheads="1"/>
          </p:cNvSpPr>
          <p:nvPr/>
        </p:nvSpPr>
        <p:spPr bwMode="auto">
          <a:xfrm>
            <a:off x="3413125" y="2319337"/>
            <a:ext cx="1735138" cy="690563"/>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$401 &amp; up</a:t>
            </a:r>
          </a:p>
        </p:txBody>
      </p:sp>
      <p:sp>
        <p:nvSpPr>
          <p:cNvPr id="24" name="Rectangle 27"/>
          <p:cNvSpPr>
            <a:spLocks noChangeArrowheads="1"/>
          </p:cNvSpPr>
          <p:nvPr/>
        </p:nvSpPr>
        <p:spPr bwMode="auto">
          <a:xfrm>
            <a:off x="7874000" y="1428750"/>
            <a:ext cx="795338" cy="890587"/>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a:latin typeface="Arial"/>
                <a:cs typeface="Arial"/>
              </a:rPr>
              <a:t>Q</a:t>
            </a:r>
            <a:r>
              <a:rPr lang="en-US" sz="2500" b="1" i="1" baseline="30000">
                <a:latin typeface="Arial"/>
                <a:cs typeface="Arial"/>
              </a:rPr>
              <a:t>d</a:t>
            </a:r>
          </a:p>
        </p:txBody>
      </p:sp>
      <p:sp>
        <p:nvSpPr>
          <p:cNvPr id="25" name="Rectangle 26"/>
          <p:cNvSpPr>
            <a:spLocks noChangeArrowheads="1"/>
          </p:cNvSpPr>
          <p:nvPr/>
        </p:nvSpPr>
        <p:spPr bwMode="auto">
          <a:xfrm>
            <a:off x="5148263" y="1428750"/>
            <a:ext cx="2725737" cy="890587"/>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who buys</a:t>
            </a:r>
          </a:p>
        </p:txBody>
      </p:sp>
      <p:sp>
        <p:nvSpPr>
          <p:cNvPr id="26" name="Rectangle 25"/>
          <p:cNvSpPr>
            <a:spLocks noChangeArrowheads="1"/>
          </p:cNvSpPr>
          <p:nvPr/>
        </p:nvSpPr>
        <p:spPr bwMode="auto">
          <a:xfrm>
            <a:off x="3413125" y="1428750"/>
            <a:ext cx="1735138" cy="890587"/>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dirty="0">
                <a:latin typeface="Arial"/>
                <a:cs typeface="Arial"/>
              </a:rPr>
              <a:t>P</a:t>
            </a:r>
            <a:r>
              <a:rPr lang="en-US" sz="2500" dirty="0">
                <a:latin typeface="Arial"/>
                <a:cs typeface="Arial"/>
              </a:rPr>
              <a:t> (price </a:t>
            </a:r>
            <a:br>
              <a:rPr lang="en-US" sz="2500" dirty="0">
                <a:latin typeface="Arial"/>
                <a:cs typeface="Arial"/>
              </a:rPr>
            </a:br>
            <a:r>
              <a:rPr lang="en-US" sz="2500" dirty="0">
                <a:latin typeface="Arial"/>
                <a:cs typeface="Arial"/>
              </a:rPr>
              <a:t>of iPad)</a:t>
            </a:r>
          </a:p>
        </p:txBody>
      </p:sp>
      <p:sp>
        <p:nvSpPr>
          <p:cNvPr id="27" name="Line 37"/>
          <p:cNvSpPr>
            <a:spLocks noChangeShapeType="1"/>
          </p:cNvSpPr>
          <p:nvPr/>
        </p:nvSpPr>
        <p:spPr bwMode="auto">
          <a:xfrm>
            <a:off x="3413125" y="1428750"/>
            <a:ext cx="5256213" cy="0"/>
          </a:xfrm>
          <a:prstGeom prst="line">
            <a:avLst/>
          </a:prstGeom>
          <a:noFill/>
          <a:ln w="12700" cap="sq">
            <a:solidFill>
              <a:schemeClr val="tx1"/>
            </a:solidFill>
            <a:round/>
            <a:headEnd/>
            <a:tailEnd/>
          </a:ln>
        </p:spPr>
        <p:txBody>
          <a:bodyPr rIns="0" anchor="ctr"/>
          <a:lstStyle/>
          <a:p>
            <a:endParaRPr lang="en-US"/>
          </a:p>
        </p:txBody>
      </p:sp>
      <p:sp>
        <p:nvSpPr>
          <p:cNvPr id="28" name="Line 38"/>
          <p:cNvSpPr>
            <a:spLocks noChangeShapeType="1"/>
          </p:cNvSpPr>
          <p:nvPr/>
        </p:nvSpPr>
        <p:spPr bwMode="auto">
          <a:xfrm>
            <a:off x="3413125" y="2319337"/>
            <a:ext cx="5256213" cy="0"/>
          </a:xfrm>
          <a:prstGeom prst="line">
            <a:avLst/>
          </a:prstGeom>
          <a:noFill/>
          <a:ln w="12700">
            <a:solidFill>
              <a:schemeClr val="tx1"/>
            </a:solidFill>
            <a:round/>
            <a:headEnd/>
            <a:tailEnd/>
          </a:ln>
        </p:spPr>
        <p:txBody>
          <a:bodyPr rIns="0" anchor="ctr"/>
          <a:lstStyle/>
          <a:p>
            <a:endParaRPr lang="en-US"/>
          </a:p>
        </p:txBody>
      </p:sp>
      <p:sp>
        <p:nvSpPr>
          <p:cNvPr id="29" name="Line 41"/>
          <p:cNvSpPr>
            <a:spLocks noChangeShapeType="1"/>
          </p:cNvSpPr>
          <p:nvPr/>
        </p:nvSpPr>
        <p:spPr bwMode="auto">
          <a:xfrm>
            <a:off x="3413125" y="6172200"/>
            <a:ext cx="5256213" cy="0"/>
          </a:xfrm>
          <a:prstGeom prst="line">
            <a:avLst/>
          </a:prstGeom>
          <a:noFill/>
          <a:ln w="12700" cap="sq">
            <a:solidFill>
              <a:schemeClr val="tx1"/>
            </a:solidFill>
            <a:round/>
            <a:headEnd/>
            <a:tailEnd/>
          </a:ln>
        </p:spPr>
        <p:txBody>
          <a:bodyPr rIns="0" anchor="ctr"/>
          <a:lstStyle/>
          <a:p>
            <a:endParaRPr lang="en-US"/>
          </a:p>
        </p:txBody>
      </p:sp>
      <p:sp>
        <p:nvSpPr>
          <p:cNvPr id="30" name="Line 42"/>
          <p:cNvSpPr>
            <a:spLocks noChangeShapeType="1"/>
          </p:cNvSpPr>
          <p:nvPr/>
        </p:nvSpPr>
        <p:spPr bwMode="auto">
          <a:xfrm>
            <a:off x="3413125" y="1428750"/>
            <a:ext cx="0" cy="4743450"/>
          </a:xfrm>
          <a:prstGeom prst="line">
            <a:avLst/>
          </a:prstGeom>
          <a:noFill/>
          <a:ln w="12700" cap="sq">
            <a:solidFill>
              <a:schemeClr val="tx1"/>
            </a:solidFill>
            <a:round/>
            <a:headEnd/>
            <a:tailEnd/>
          </a:ln>
        </p:spPr>
        <p:txBody>
          <a:bodyPr rIns="0" anchor="ctr"/>
          <a:lstStyle/>
          <a:p>
            <a:endParaRPr lang="en-US"/>
          </a:p>
        </p:txBody>
      </p:sp>
      <p:sp>
        <p:nvSpPr>
          <p:cNvPr id="31" name="Line 43"/>
          <p:cNvSpPr>
            <a:spLocks noChangeShapeType="1"/>
          </p:cNvSpPr>
          <p:nvPr/>
        </p:nvSpPr>
        <p:spPr bwMode="auto">
          <a:xfrm>
            <a:off x="5148263" y="1428750"/>
            <a:ext cx="0" cy="4743450"/>
          </a:xfrm>
          <a:prstGeom prst="line">
            <a:avLst/>
          </a:prstGeom>
          <a:noFill/>
          <a:ln w="12700">
            <a:solidFill>
              <a:schemeClr val="tx1"/>
            </a:solidFill>
            <a:round/>
            <a:headEnd/>
            <a:tailEnd/>
          </a:ln>
        </p:spPr>
        <p:txBody>
          <a:bodyPr rIns="0" anchor="ctr"/>
          <a:lstStyle/>
          <a:p>
            <a:endParaRPr lang="en-US"/>
          </a:p>
        </p:txBody>
      </p:sp>
      <p:sp>
        <p:nvSpPr>
          <p:cNvPr id="32" name="Line 44"/>
          <p:cNvSpPr>
            <a:spLocks noChangeShapeType="1"/>
          </p:cNvSpPr>
          <p:nvPr/>
        </p:nvSpPr>
        <p:spPr bwMode="auto">
          <a:xfrm>
            <a:off x="7874000" y="1428750"/>
            <a:ext cx="0" cy="4743450"/>
          </a:xfrm>
          <a:prstGeom prst="line">
            <a:avLst/>
          </a:prstGeom>
          <a:noFill/>
          <a:ln w="12700">
            <a:solidFill>
              <a:schemeClr val="tx1"/>
            </a:solidFill>
            <a:round/>
            <a:headEnd/>
            <a:tailEnd/>
          </a:ln>
        </p:spPr>
        <p:txBody>
          <a:bodyPr rIns="0" anchor="ctr"/>
          <a:lstStyle/>
          <a:p>
            <a:endParaRPr lang="en-US"/>
          </a:p>
        </p:txBody>
      </p:sp>
      <p:sp>
        <p:nvSpPr>
          <p:cNvPr id="33" name="Line 45"/>
          <p:cNvSpPr>
            <a:spLocks noChangeShapeType="1"/>
          </p:cNvSpPr>
          <p:nvPr/>
        </p:nvSpPr>
        <p:spPr bwMode="auto">
          <a:xfrm>
            <a:off x="8669338" y="1428750"/>
            <a:ext cx="0" cy="4743450"/>
          </a:xfrm>
          <a:prstGeom prst="line">
            <a:avLst/>
          </a:prstGeom>
          <a:noFill/>
          <a:ln w="12700" cap="sq">
            <a:solidFill>
              <a:schemeClr val="tx1"/>
            </a:solidFill>
            <a:round/>
            <a:headEnd/>
            <a:tailEnd/>
          </a:ln>
        </p:spPr>
        <p:txBody>
          <a:bodyPr rIns="0" anchor="ctr"/>
          <a:lstStyle/>
          <a:p>
            <a:endParaRPr lang="en-US"/>
          </a:p>
        </p:txBody>
      </p:sp>
      <p:sp>
        <p:nvSpPr>
          <p:cNvPr id="34" name="Line 109"/>
          <p:cNvSpPr>
            <a:spLocks noChangeShapeType="1"/>
          </p:cNvSpPr>
          <p:nvPr/>
        </p:nvSpPr>
        <p:spPr bwMode="auto">
          <a:xfrm>
            <a:off x="3413125" y="3009900"/>
            <a:ext cx="5256213" cy="0"/>
          </a:xfrm>
          <a:prstGeom prst="line">
            <a:avLst/>
          </a:prstGeom>
          <a:noFill/>
          <a:ln w="12700">
            <a:solidFill>
              <a:schemeClr val="tx1"/>
            </a:solidFill>
            <a:round/>
            <a:headEnd/>
            <a:tailEnd/>
          </a:ln>
        </p:spPr>
        <p:txBody>
          <a:bodyPr rIns="0" anchor="ctr"/>
          <a:lstStyle/>
          <a:p>
            <a:endParaRPr lang="en-US"/>
          </a:p>
        </p:txBody>
      </p:sp>
      <p:sp>
        <p:nvSpPr>
          <p:cNvPr id="35" name="Line 117"/>
          <p:cNvSpPr>
            <a:spLocks noChangeShapeType="1"/>
          </p:cNvSpPr>
          <p:nvPr/>
        </p:nvSpPr>
        <p:spPr bwMode="auto">
          <a:xfrm>
            <a:off x="3413125" y="3700462"/>
            <a:ext cx="5256213" cy="0"/>
          </a:xfrm>
          <a:prstGeom prst="line">
            <a:avLst/>
          </a:prstGeom>
          <a:noFill/>
          <a:ln w="12700">
            <a:solidFill>
              <a:schemeClr val="tx1"/>
            </a:solidFill>
            <a:round/>
            <a:headEnd/>
            <a:tailEnd/>
          </a:ln>
        </p:spPr>
        <p:txBody>
          <a:bodyPr rIns="0" anchor="ctr"/>
          <a:lstStyle/>
          <a:p>
            <a:endParaRPr lang="en-US"/>
          </a:p>
        </p:txBody>
      </p:sp>
      <p:sp>
        <p:nvSpPr>
          <p:cNvPr id="36" name="Line 125"/>
          <p:cNvSpPr>
            <a:spLocks noChangeShapeType="1"/>
          </p:cNvSpPr>
          <p:nvPr/>
        </p:nvSpPr>
        <p:spPr bwMode="auto">
          <a:xfrm>
            <a:off x="3413125" y="4391025"/>
            <a:ext cx="5256213" cy="0"/>
          </a:xfrm>
          <a:prstGeom prst="line">
            <a:avLst/>
          </a:prstGeom>
          <a:noFill/>
          <a:ln w="12700">
            <a:solidFill>
              <a:schemeClr val="tx1"/>
            </a:solidFill>
            <a:round/>
            <a:headEnd/>
            <a:tailEnd/>
          </a:ln>
        </p:spPr>
        <p:txBody>
          <a:bodyPr rIns="0" anchor="ctr"/>
          <a:lstStyle/>
          <a:p>
            <a:endParaRPr lang="en-US"/>
          </a:p>
        </p:txBody>
      </p:sp>
      <p:sp>
        <p:nvSpPr>
          <p:cNvPr id="37" name="Line 133"/>
          <p:cNvSpPr>
            <a:spLocks noChangeShapeType="1"/>
          </p:cNvSpPr>
          <p:nvPr/>
        </p:nvSpPr>
        <p:spPr bwMode="auto">
          <a:xfrm>
            <a:off x="3413125" y="5281612"/>
            <a:ext cx="5256213" cy="0"/>
          </a:xfrm>
          <a:prstGeom prst="line">
            <a:avLst/>
          </a:prstGeom>
          <a:noFill/>
          <a:ln w="12700">
            <a:solidFill>
              <a:schemeClr val="tx1"/>
            </a:solidFill>
            <a:round/>
            <a:headEnd/>
            <a:tailEnd/>
          </a:ln>
        </p:spPr>
        <p:txBody>
          <a:bodyPr rIns="0" anchor="ctr"/>
          <a:lstStyle/>
          <a:p>
            <a:endParaRPr lang="en-US"/>
          </a:p>
        </p:txBody>
      </p:sp>
      <p:graphicFrame>
        <p:nvGraphicFramePr>
          <p:cNvPr id="38" name="Group 91"/>
          <p:cNvGraphicFramePr>
            <a:graphicFrameLocks noGrp="1"/>
          </p:cNvGraphicFramePr>
          <p:nvPr>
            <p:extLst>
              <p:ext uri="{D42A27DB-BD31-4B8C-83A1-F6EECF244321}">
                <p14:modId xmlns:p14="http://schemas.microsoft.com/office/powerpoint/2010/main" val="2483908822"/>
              </p:ext>
            </p:extLst>
          </p:nvPr>
        </p:nvGraphicFramePr>
        <p:xfrm>
          <a:off x="304800" y="2819400"/>
          <a:ext cx="2711450" cy="2932114"/>
        </p:xfrm>
        <a:graphic>
          <a:graphicData uri="http://schemas.openxmlformats.org/drawingml/2006/table">
            <a:tbl>
              <a:tblPr>
                <a:tableStyleId>{2D5ABB26-0587-4C30-8999-92F81FD0307C}</a:tableStyleId>
              </a:tblPr>
              <a:tblGrid>
                <a:gridCol w="1679575">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tblGrid>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Name</a:t>
                      </a:r>
                      <a:endParaRPr kumimoji="0" lang="en-US" sz="2600" b="0" i="1"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WTP</a:t>
                      </a:r>
                      <a:endParaRPr kumimoji="0" lang="en-US" sz="2600" b="0" i="1" u="none" strike="noStrike" cap="none" normalizeH="0" baseline="0" dirty="0">
                        <a:ln>
                          <a:noFill/>
                        </a:ln>
                        <a:solidFill>
                          <a:schemeClr val="tx1"/>
                        </a:solidFill>
                        <a:effectLst/>
                        <a:latin typeface="Arial" charset="0"/>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Alexis</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$350</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Cameron</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275</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Fatima</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400</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Jamir</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225</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bl>
          </a:graphicData>
        </a:graphic>
      </p:graphicFrame>
      <p:sp>
        <p:nvSpPr>
          <p:cNvPr id="5" name="Footer Placeholder 4">
            <a:extLst>
              <a:ext uri="{FF2B5EF4-FFF2-40B4-BE49-F238E27FC236}">
                <a16:creationId xmlns:a16="http://schemas.microsoft.com/office/drawing/2014/main" id="{9BDCC919-F4A1-A250-57A1-921D1212A34D}"/>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5752917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P spid="15" grpId="0"/>
      <p:bldP spid="16" grpId="0"/>
      <p:bldP spid="18" grpId="0"/>
      <p:bldP spid="19"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66"/>
          <p:cNvGraphicFramePr>
            <a:graphicFrameLocks noChangeAspect="1"/>
          </p:cNvGraphicFramePr>
          <p:nvPr>
            <p:extLst>
              <p:ext uri="{D42A27DB-BD31-4B8C-83A1-F6EECF244321}">
                <p14:modId xmlns:p14="http://schemas.microsoft.com/office/powerpoint/2010/main" val="2952182527"/>
              </p:ext>
            </p:extLst>
          </p:nvPr>
        </p:nvGraphicFramePr>
        <p:xfrm>
          <a:off x="214313" y="710539"/>
          <a:ext cx="5653087" cy="6223661"/>
        </p:xfrm>
        <a:graphic>
          <a:graphicData uri="http://schemas.openxmlformats.org/presentationml/2006/ole">
            <mc:AlternateContent xmlns:mc="http://schemas.openxmlformats.org/markup-compatibility/2006">
              <mc:Choice xmlns:v="urn:schemas-microsoft-com:vml" Requires="v">
                <p:oleObj name="Worksheet" r:id="rId3" imgW="4534118" imgH="5730240" progId="Excel.Sheet.8">
                  <p:embed/>
                </p:oleObj>
              </mc:Choice>
              <mc:Fallback>
                <p:oleObj name="Worksheet" r:id="rId3" imgW="4534118" imgH="5730240" progId="Excel.Sheet.8">
                  <p:embed/>
                  <p:pic>
                    <p:nvPicPr>
                      <p:cNvPr id="1026" name="Object 66"/>
                      <p:cNvPicPr>
                        <a:picLocks noChangeAspect="1" noChangeArrowheads="1"/>
                      </p:cNvPicPr>
                      <p:nvPr/>
                    </p:nvPicPr>
                    <p:blipFill>
                      <a:blip r:embed="rId4"/>
                      <a:srcRect/>
                      <a:stretch>
                        <a:fillRect/>
                      </a:stretch>
                    </p:blipFill>
                    <p:spPr bwMode="auto">
                      <a:xfrm>
                        <a:off x="214313" y="710539"/>
                        <a:ext cx="5653087" cy="6223661"/>
                      </a:xfrm>
                      <a:prstGeom prst="rect">
                        <a:avLst/>
                      </a:prstGeom>
                      <a:noFill/>
                    </p:spPr>
                  </p:pic>
                </p:oleObj>
              </mc:Fallback>
            </mc:AlternateContent>
          </a:graphicData>
        </a:graphic>
      </p:graphicFrame>
      <p:sp>
        <p:nvSpPr>
          <p:cNvPr id="71749" name="Line 69"/>
          <p:cNvSpPr>
            <a:spLocks noChangeShapeType="1"/>
          </p:cNvSpPr>
          <p:nvPr/>
        </p:nvSpPr>
        <p:spPr bwMode="auto">
          <a:xfrm flipV="1">
            <a:off x="1621879" y="1076325"/>
            <a:ext cx="0" cy="587375"/>
          </a:xfrm>
          <a:prstGeom prst="line">
            <a:avLst/>
          </a:prstGeom>
          <a:noFill/>
          <a:ln w="57150">
            <a:solidFill>
              <a:srgbClr val="0000FF"/>
            </a:solidFill>
            <a:round/>
            <a:headEnd/>
            <a:tailEnd/>
          </a:ln>
        </p:spPr>
        <p:txBody>
          <a:bodyPr/>
          <a:lstStyle/>
          <a:p>
            <a:endParaRPr lang="en-US"/>
          </a:p>
        </p:txBody>
      </p:sp>
      <p:sp>
        <p:nvSpPr>
          <p:cNvPr id="71750" name="Line 70"/>
          <p:cNvSpPr>
            <a:spLocks noChangeShapeType="1"/>
          </p:cNvSpPr>
          <p:nvPr/>
        </p:nvSpPr>
        <p:spPr bwMode="auto">
          <a:xfrm flipV="1">
            <a:off x="1613668" y="1651876"/>
            <a:ext cx="824723" cy="0"/>
          </a:xfrm>
          <a:prstGeom prst="line">
            <a:avLst/>
          </a:prstGeom>
          <a:noFill/>
          <a:ln w="57150">
            <a:solidFill>
              <a:srgbClr val="0000FF"/>
            </a:solidFill>
            <a:round/>
            <a:headEnd/>
            <a:tailEnd/>
          </a:ln>
        </p:spPr>
        <p:txBody>
          <a:bodyPr/>
          <a:lstStyle/>
          <a:p>
            <a:endParaRPr lang="en-US"/>
          </a:p>
        </p:txBody>
      </p:sp>
      <p:sp>
        <p:nvSpPr>
          <p:cNvPr id="1031" name="Rectangle 2"/>
          <p:cNvSpPr>
            <a:spLocks noGrp="1" noChangeArrowheads="1"/>
          </p:cNvSpPr>
          <p:nvPr>
            <p:ph type="title"/>
          </p:nvPr>
        </p:nvSpPr>
        <p:spPr/>
        <p:txBody>
          <a:bodyPr/>
          <a:lstStyle/>
          <a:p>
            <a:pPr eaLnBrk="1" hangingPunct="1"/>
            <a:r>
              <a:rPr lang="en-US" dirty="0"/>
              <a:t>EXAMPLE 1C: </a:t>
            </a:r>
            <a:r>
              <a:rPr lang="en-US" dirty="0">
                <a:solidFill>
                  <a:schemeClr val="tx1"/>
                </a:solidFill>
              </a:rPr>
              <a:t>The demand curve – 1 </a:t>
            </a:r>
          </a:p>
        </p:txBody>
      </p:sp>
      <p:sp>
        <p:nvSpPr>
          <p:cNvPr id="13" name="Slide Number Placeholder 12"/>
          <p:cNvSpPr>
            <a:spLocks noGrp="1"/>
          </p:cNvSpPr>
          <p:nvPr>
            <p:ph type="sldNum" sz="quarter" idx="10"/>
          </p:nvPr>
        </p:nvSpPr>
        <p:spPr/>
        <p:txBody>
          <a:bodyPr/>
          <a:lstStyle/>
          <a:p>
            <a:pPr>
              <a:defRPr/>
            </a:pPr>
            <a:fld id="{2F37425F-5E17-4209-B948-B5CE2119E408}" type="slidenum">
              <a:rPr lang="en-US" smtClean="0"/>
              <a:pPr>
                <a:defRPr/>
              </a:pPr>
              <a:t>7</a:t>
            </a:fld>
            <a:endParaRPr lang="en-US" dirty="0"/>
          </a:p>
        </p:txBody>
      </p:sp>
      <p:graphicFrame>
        <p:nvGraphicFramePr>
          <p:cNvPr id="71745" name="Group 65"/>
          <p:cNvGraphicFramePr>
            <a:graphicFrameLocks noGrp="1"/>
          </p:cNvGraphicFramePr>
          <p:nvPr>
            <p:extLst>
              <p:ext uri="{D42A27DB-BD31-4B8C-83A1-F6EECF244321}">
                <p14:modId xmlns:p14="http://schemas.microsoft.com/office/powerpoint/2010/main" val="210506822"/>
              </p:ext>
            </p:extLst>
          </p:nvPr>
        </p:nvGraphicFramePr>
        <p:xfrm>
          <a:off x="6146800" y="1370013"/>
          <a:ext cx="2530475" cy="4335465"/>
        </p:xfrm>
        <a:graphic>
          <a:graphicData uri="http://schemas.openxmlformats.org/drawingml/2006/table">
            <a:tbl>
              <a:tblPr/>
              <a:tblGrid>
                <a:gridCol w="1735138">
                  <a:extLst>
                    <a:ext uri="{9D8B030D-6E8A-4147-A177-3AD203B41FA5}">
                      <a16:colId xmlns:a16="http://schemas.microsoft.com/office/drawing/2014/main" val="20000"/>
                    </a:ext>
                  </a:extLst>
                </a:gridCol>
                <a:gridCol w="795337">
                  <a:extLst>
                    <a:ext uri="{9D8B030D-6E8A-4147-A177-3AD203B41FA5}">
                      <a16:colId xmlns:a16="http://schemas.microsoft.com/office/drawing/2014/main" val="20001"/>
                    </a:ext>
                  </a:extLst>
                </a:gridCol>
              </a:tblGrid>
              <a:tr h="88265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1" i="1" u="none" strike="noStrike" cap="none" normalizeH="0" baseline="0" dirty="0">
                          <a:ln>
                            <a:noFill/>
                          </a:ln>
                          <a:solidFill>
                            <a:schemeClr val="tx1"/>
                          </a:solidFill>
                          <a:effectLst/>
                          <a:latin typeface="Arial" charset="0"/>
                        </a:rPr>
                        <a:t>P</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1" i="1" u="none" strike="noStrike" cap="none" normalizeH="0" baseline="0" dirty="0" err="1">
                          <a:ln>
                            <a:noFill/>
                          </a:ln>
                          <a:solidFill>
                            <a:schemeClr val="tx1"/>
                          </a:solidFill>
                          <a:effectLst/>
                          <a:latin typeface="Arial" charset="0"/>
                        </a:rPr>
                        <a:t>Q</a:t>
                      </a:r>
                      <a:r>
                        <a:rPr kumimoji="0" lang="en-US" sz="2500" b="1" i="1" u="none" strike="noStrike" cap="none" normalizeH="0" baseline="30000" dirty="0" err="1">
                          <a:ln>
                            <a:noFill/>
                          </a:ln>
                          <a:solidFill>
                            <a:schemeClr val="tx1"/>
                          </a:solidFill>
                          <a:effectLst/>
                          <a:latin typeface="Arial" charset="0"/>
                        </a:rPr>
                        <a:t>d</a:t>
                      </a:r>
                      <a:endParaRPr kumimoji="0" lang="en-US" sz="2500" b="1" i="1" u="none" strike="noStrike" cap="none" normalizeH="0" baseline="30000" dirty="0">
                        <a:ln>
                          <a:noFill/>
                        </a:ln>
                        <a:solidFill>
                          <a:schemeClr val="tx1"/>
                        </a:solidFill>
                        <a:effectLst/>
                        <a:latin typeface="Arial"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$401 &amp; up</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0</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351 – 400</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1</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276 – 350</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2</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226 – 275</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3</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   0 – 225</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4</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55" name="Text Box 67"/>
          <p:cNvSpPr txBox="1">
            <a:spLocks noChangeArrowheads="1"/>
          </p:cNvSpPr>
          <p:nvPr/>
        </p:nvSpPr>
        <p:spPr bwMode="auto">
          <a:xfrm>
            <a:off x="97970" y="792597"/>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1056" name="Text Box 68"/>
          <p:cNvSpPr txBox="1">
            <a:spLocks noChangeArrowheads="1"/>
          </p:cNvSpPr>
          <p:nvPr/>
        </p:nvSpPr>
        <p:spPr bwMode="auto">
          <a:xfrm>
            <a:off x="5257800" y="5805488"/>
            <a:ext cx="474663" cy="519112"/>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sp>
        <p:nvSpPr>
          <p:cNvPr id="71764" name="Line 84"/>
          <p:cNvSpPr>
            <a:spLocks noChangeShapeType="1"/>
          </p:cNvSpPr>
          <p:nvPr/>
        </p:nvSpPr>
        <p:spPr bwMode="auto">
          <a:xfrm flipH="1" flipV="1">
            <a:off x="4770674" y="3537745"/>
            <a:ext cx="1" cy="2362200"/>
          </a:xfrm>
          <a:prstGeom prst="line">
            <a:avLst/>
          </a:prstGeom>
          <a:noFill/>
          <a:ln w="57150">
            <a:solidFill>
              <a:srgbClr val="0000FF"/>
            </a:solidFill>
            <a:round/>
            <a:headEnd/>
            <a:tailEnd/>
          </a:ln>
        </p:spPr>
        <p:txBody>
          <a:bodyPr/>
          <a:lstStyle/>
          <a:p>
            <a:endParaRPr lang="en-US"/>
          </a:p>
        </p:txBody>
      </p:sp>
      <p:sp>
        <p:nvSpPr>
          <p:cNvPr id="71767" name="Line 87"/>
          <p:cNvSpPr>
            <a:spLocks noChangeShapeType="1"/>
          </p:cNvSpPr>
          <p:nvPr/>
        </p:nvSpPr>
        <p:spPr bwMode="auto">
          <a:xfrm flipH="1" flipV="1">
            <a:off x="3959638" y="2940978"/>
            <a:ext cx="2762" cy="576801"/>
          </a:xfrm>
          <a:prstGeom prst="line">
            <a:avLst/>
          </a:prstGeom>
          <a:noFill/>
          <a:ln w="57150">
            <a:solidFill>
              <a:srgbClr val="0000FF"/>
            </a:solidFill>
            <a:round/>
            <a:headEnd/>
            <a:tailEnd/>
          </a:ln>
        </p:spPr>
        <p:txBody>
          <a:bodyPr/>
          <a:lstStyle/>
          <a:p>
            <a:endParaRPr lang="en-US"/>
          </a:p>
        </p:txBody>
      </p:sp>
      <p:sp>
        <p:nvSpPr>
          <p:cNvPr id="71768" name="Line 88"/>
          <p:cNvSpPr>
            <a:spLocks noChangeShapeType="1"/>
          </p:cNvSpPr>
          <p:nvPr/>
        </p:nvSpPr>
        <p:spPr bwMode="auto">
          <a:xfrm>
            <a:off x="3962400" y="3505200"/>
            <a:ext cx="808274" cy="14277"/>
          </a:xfrm>
          <a:prstGeom prst="line">
            <a:avLst/>
          </a:prstGeom>
          <a:noFill/>
          <a:ln w="57150">
            <a:solidFill>
              <a:srgbClr val="0000FF"/>
            </a:solidFill>
            <a:round/>
            <a:headEnd/>
            <a:tailEnd/>
          </a:ln>
        </p:spPr>
        <p:txBody>
          <a:bodyPr/>
          <a:lstStyle/>
          <a:p>
            <a:endParaRPr lang="en-US"/>
          </a:p>
        </p:txBody>
      </p:sp>
      <p:sp>
        <p:nvSpPr>
          <p:cNvPr id="71770" name="Line 90"/>
          <p:cNvSpPr>
            <a:spLocks noChangeShapeType="1"/>
          </p:cNvSpPr>
          <p:nvPr/>
        </p:nvSpPr>
        <p:spPr bwMode="auto">
          <a:xfrm flipV="1">
            <a:off x="3200400" y="2209800"/>
            <a:ext cx="0" cy="781050"/>
          </a:xfrm>
          <a:prstGeom prst="line">
            <a:avLst/>
          </a:prstGeom>
          <a:noFill/>
          <a:ln w="57150">
            <a:solidFill>
              <a:srgbClr val="0000FF"/>
            </a:solidFill>
            <a:round/>
            <a:headEnd/>
            <a:tailEnd/>
          </a:ln>
        </p:spPr>
        <p:txBody>
          <a:bodyPr/>
          <a:lstStyle/>
          <a:p>
            <a:endParaRPr lang="en-US"/>
          </a:p>
        </p:txBody>
      </p:sp>
      <p:sp>
        <p:nvSpPr>
          <p:cNvPr id="71771" name="Line 91"/>
          <p:cNvSpPr>
            <a:spLocks noChangeShapeType="1"/>
          </p:cNvSpPr>
          <p:nvPr/>
        </p:nvSpPr>
        <p:spPr bwMode="auto">
          <a:xfrm flipV="1">
            <a:off x="3190835" y="2983113"/>
            <a:ext cx="756476" cy="1"/>
          </a:xfrm>
          <a:prstGeom prst="line">
            <a:avLst/>
          </a:prstGeom>
          <a:noFill/>
          <a:ln w="57150">
            <a:solidFill>
              <a:srgbClr val="0000FF"/>
            </a:solidFill>
            <a:round/>
            <a:headEnd/>
            <a:tailEnd/>
          </a:ln>
        </p:spPr>
        <p:txBody>
          <a:bodyPr/>
          <a:lstStyle/>
          <a:p>
            <a:endParaRPr lang="en-US"/>
          </a:p>
        </p:txBody>
      </p:sp>
      <p:sp>
        <p:nvSpPr>
          <p:cNvPr id="71773" name="Line 93"/>
          <p:cNvSpPr>
            <a:spLocks noChangeShapeType="1"/>
          </p:cNvSpPr>
          <p:nvPr/>
        </p:nvSpPr>
        <p:spPr bwMode="auto">
          <a:xfrm flipV="1">
            <a:off x="2438391" y="1600200"/>
            <a:ext cx="0" cy="620712"/>
          </a:xfrm>
          <a:prstGeom prst="line">
            <a:avLst/>
          </a:prstGeom>
          <a:noFill/>
          <a:ln w="57150">
            <a:solidFill>
              <a:srgbClr val="0000FF"/>
            </a:solidFill>
            <a:round/>
            <a:headEnd/>
            <a:tailEnd/>
          </a:ln>
        </p:spPr>
        <p:txBody>
          <a:bodyPr/>
          <a:lstStyle/>
          <a:p>
            <a:endParaRPr lang="en-US"/>
          </a:p>
        </p:txBody>
      </p:sp>
      <p:sp>
        <p:nvSpPr>
          <p:cNvPr id="71774" name="Line 94"/>
          <p:cNvSpPr>
            <a:spLocks noChangeShapeType="1"/>
          </p:cNvSpPr>
          <p:nvPr/>
        </p:nvSpPr>
        <p:spPr bwMode="auto">
          <a:xfrm>
            <a:off x="2438401" y="2209800"/>
            <a:ext cx="762000" cy="0"/>
          </a:xfrm>
          <a:prstGeom prst="line">
            <a:avLst/>
          </a:prstGeom>
          <a:noFill/>
          <a:ln w="57150">
            <a:solidFill>
              <a:srgbClr val="0000FF"/>
            </a:solidFill>
            <a:round/>
            <a:headEnd/>
            <a:tailEnd/>
          </a:ln>
        </p:spPr>
        <p:txBody>
          <a:bodyPr/>
          <a:lstStyle/>
          <a:p>
            <a:endParaRPr lang="en-US" dirty="0"/>
          </a:p>
        </p:txBody>
      </p:sp>
      <p:grpSp>
        <p:nvGrpSpPr>
          <p:cNvPr id="2" name="Group 105"/>
          <p:cNvGrpSpPr>
            <a:grpSpLocks/>
          </p:cNvGrpSpPr>
          <p:nvPr/>
        </p:nvGrpSpPr>
        <p:grpSpPr bwMode="auto">
          <a:xfrm>
            <a:off x="6183313" y="2300288"/>
            <a:ext cx="2462212" cy="604837"/>
            <a:chOff x="2965" y="1248"/>
            <a:chExt cx="1050" cy="381"/>
          </a:xfrm>
        </p:grpSpPr>
        <p:sp>
          <p:nvSpPr>
            <p:cNvPr id="1089" name="Rectangle 104"/>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90" name="Rectangle 103"/>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3" name="Group 106"/>
          <p:cNvGrpSpPr>
            <a:grpSpLocks/>
          </p:cNvGrpSpPr>
          <p:nvPr/>
        </p:nvGrpSpPr>
        <p:grpSpPr bwMode="auto">
          <a:xfrm>
            <a:off x="6183313" y="2990850"/>
            <a:ext cx="2462212" cy="604838"/>
            <a:chOff x="2965" y="1248"/>
            <a:chExt cx="1050" cy="381"/>
          </a:xfrm>
        </p:grpSpPr>
        <p:sp>
          <p:nvSpPr>
            <p:cNvPr id="1087" name="Rectangle 107"/>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8" name="Rectangle 108"/>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4" name="Group 112"/>
          <p:cNvGrpSpPr>
            <a:grpSpLocks/>
          </p:cNvGrpSpPr>
          <p:nvPr/>
        </p:nvGrpSpPr>
        <p:grpSpPr bwMode="auto">
          <a:xfrm>
            <a:off x="6178550" y="3676650"/>
            <a:ext cx="2462213" cy="604838"/>
            <a:chOff x="2965" y="1248"/>
            <a:chExt cx="1050" cy="381"/>
          </a:xfrm>
        </p:grpSpPr>
        <p:sp>
          <p:nvSpPr>
            <p:cNvPr id="1085" name="Rectangle 113"/>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6" name="Rectangle 114"/>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5" name="Group 115"/>
          <p:cNvGrpSpPr>
            <a:grpSpLocks/>
          </p:cNvGrpSpPr>
          <p:nvPr/>
        </p:nvGrpSpPr>
        <p:grpSpPr bwMode="auto">
          <a:xfrm>
            <a:off x="6183313" y="4371975"/>
            <a:ext cx="2462212" cy="604838"/>
            <a:chOff x="2965" y="1248"/>
            <a:chExt cx="1050" cy="381"/>
          </a:xfrm>
        </p:grpSpPr>
        <p:sp>
          <p:nvSpPr>
            <p:cNvPr id="1083" name="Rectangle 116"/>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4" name="Rectangle 117"/>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6" name="Group 118"/>
          <p:cNvGrpSpPr>
            <a:grpSpLocks/>
          </p:cNvGrpSpPr>
          <p:nvPr/>
        </p:nvGrpSpPr>
        <p:grpSpPr bwMode="auto">
          <a:xfrm>
            <a:off x="6183313" y="5057775"/>
            <a:ext cx="2462212" cy="604838"/>
            <a:chOff x="2965" y="1248"/>
            <a:chExt cx="1050" cy="381"/>
          </a:xfrm>
        </p:grpSpPr>
        <p:sp>
          <p:nvSpPr>
            <p:cNvPr id="1081" name="Rectangle 119"/>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2" name="Rectangle 120"/>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7" name="Group 121"/>
          <p:cNvGrpSpPr>
            <a:grpSpLocks/>
          </p:cNvGrpSpPr>
          <p:nvPr/>
        </p:nvGrpSpPr>
        <p:grpSpPr bwMode="auto">
          <a:xfrm>
            <a:off x="7169150" y="5057775"/>
            <a:ext cx="1476375" cy="604838"/>
            <a:chOff x="2965" y="1248"/>
            <a:chExt cx="1050" cy="381"/>
          </a:xfrm>
        </p:grpSpPr>
        <p:sp>
          <p:nvSpPr>
            <p:cNvPr id="1079" name="Rectangle 122"/>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0" name="Rectangle 123"/>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8" name="Group 124"/>
          <p:cNvGrpSpPr>
            <a:grpSpLocks/>
          </p:cNvGrpSpPr>
          <p:nvPr/>
        </p:nvGrpSpPr>
        <p:grpSpPr bwMode="auto">
          <a:xfrm>
            <a:off x="7164388" y="4376738"/>
            <a:ext cx="1476375" cy="604837"/>
            <a:chOff x="2965" y="1248"/>
            <a:chExt cx="1050" cy="381"/>
          </a:xfrm>
        </p:grpSpPr>
        <p:sp>
          <p:nvSpPr>
            <p:cNvPr id="1077" name="Rectangle 125"/>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78" name="Rectangle 126"/>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9" name="Group 127"/>
          <p:cNvGrpSpPr>
            <a:grpSpLocks/>
          </p:cNvGrpSpPr>
          <p:nvPr/>
        </p:nvGrpSpPr>
        <p:grpSpPr bwMode="auto">
          <a:xfrm>
            <a:off x="7164388" y="3676650"/>
            <a:ext cx="1476375" cy="604838"/>
            <a:chOff x="2965" y="1248"/>
            <a:chExt cx="1050" cy="381"/>
          </a:xfrm>
        </p:grpSpPr>
        <p:sp>
          <p:nvSpPr>
            <p:cNvPr id="1075" name="Rectangle 128"/>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76" name="Rectangle 129"/>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10" name="Group 130"/>
          <p:cNvGrpSpPr>
            <a:grpSpLocks/>
          </p:cNvGrpSpPr>
          <p:nvPr/>
        </p:nvGrpSpPr>
        <p:grpSpPr bwMode="auto">
          <a:xfrm>
            <a:off x="7169150" y="2990850"/>
            <a:ext cx="1476375" cy="604838"/>
            <a:chOff x="2965" y="1248"/>
            <a:chExt cx="1050" cy="381"/>
          </a:xfrm>
        </p:grpSpPr>
        <p:sp>
          <p:nvSpPr>
            <p:cNvPr id="1073" name="Rectangle 131"/>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74" name="Rectangle 132"/>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sp>
        <p:nvSpPr>
          <p:cNvPr id="44" name="Line 93">
            <a:extLst>
              <a:ext uri="{FF2B5EF4-FFF2-40B4-BE49-F238E27FC236}">
                <a16:creationId xmlns:a16="http://schemas.microsoft.com/office/drawing/2014/main" id="{0E6BA53C-9B72-6094-C53B-6D23E2E78E52}"/>
              </a:ext>
            </a:extLst>
          </p:cNvPr>
          <p:cNvSpPr>
            <a:spLocks noChangeShapeType="1"/>
          </p:cNvSpPr>
          <p:nvPr/>
        </p:nvSpPr>
        <p:spPr bwMode="auto">
          <a:xfrm flipV="1">
            <a:off x="2412281" y="1676404"/>
            <a:ext cx="9566" cy="4223534"/>
          </a:xfrm>
          <a:prstGeom prst="line">
            <a:avLst/>
          </a:prstGeom>
          <a:noFill/>
          <a:ln w="12700">
            <a:solidFill>
              <a:schemeClr val="tx1"/>
            </a:solidFill>
            <a:prstDash val="dash"/>
            <a:round/>
            <a:headEnd/>
            <a:tailEnd/>
          </a:ln>
        </p:spPr>
        <p:txBody>
          <a:bodyPr/>
          <a:lstStyle/>
          <a:p>
            <a:endParaRPr lang="en-US"/>
          </a:p>
        </p:txBody>
      </p:sp>
      <p:sp>
        <p:nvSpPr>
          <p:cNvPr id="45" name="Line 93">
            <a:extLst>
              <a:ext uri="{FF2B5EF4-FFF2-40B4-BE49-F238E27FC236}">
                <a16:creationId xmlns:a16="http://schemas.microsoft.com/office/drawing/2014/main" id="{64B70C96-ECF4-5BB4-FD49-DDE8CBA14F75}"/>
              </a:ext>
            </a:extLst>
          </p:cNvPr>
          <p:cNvSpPr>
            <a:spLocks noChangeShapeType="1"/>
          </p:cNvSpPr>
          <p:nvPr/>
        </p:nvSpPr>
        <p:spPr bwMode="auto">
          <a:xfrm flipH="1" flipV="1">
            <a:off x="3195640" y="2177259"/>
            <a:ext cx="4760" cy="3690141"/>
          </a:xfrm>
          <a:prstGeom prst="line">
            <a:avLst/>
          </a:prstGeom>
          <a:noFill/>
          <a:ln w="12700">
            <a:solidFill>
              <a:schemeClr val="tx1"/>
            </a:solidFill>
            <a:prstDash val="dash"/>
            <a:round/>
            <a:headEnd/>
            <a:tailEnd/>
          </a:ln>
        </p:spPr>
        <p:txBody>
          <a:bodyPr/>
          <a:lstStyle/>
          <a:p>
            <a:endParaRPr lang="en-US"/>
          </a:p>
        </p:txBody>
      </p:sp>
      <p:sp>
        <p:nvSpPr>
          <p:cNvPr id="46" name="Line 93">
            <a:extLst>
              <a:ext uri="{FF2B5EF4-FFF2-40B4-BE49-F238E27FC236}">
                <a16:creationId xmlns:a16="http://schemas.microsoft.com/office/drawing/2014/main" id="{6C30151E-5038-D62E-691A-BA8DA5755EFA}"/>
              </a:ext>
            </a:extLst>
          </p:cNvPr>
          <p:cNvSpPr>
            <a:spLocks noChangeShapeType="1"/>
          </p:cNvSpPr>
          <p:nvPr/>
        </p:nvSpPr>
        <p:spPr bwMode="auto">
          <a:xfrm flipH="1" flipV="1">
            <a:off x="3962399" y="2953598"/>
            <a:ext cx="16661" cy="2946339"/>
          </a:xfrm>
          <a:prstGeom prst="line">
            <a:avLst/>
          </a:prstGeom>
          <a:noFill/>
          <a:ln w="12700">
            <a:solidFill>
              <a:schemeClr val="tx1"/>
            </a:solidFill>
            <a:prstDash val="dash"/>
            <a:round/>
            <a:headEnd/>
            <a:tailEnd/>
          </a:ln>
        </p:spPr>
        <p:txBody>
          <a:bodyPr/>
          <a:lstStyle/>
          <a:p>
            <a:endParaRPr lang="en-US"/>
          </a:p>
        </p:txBody>
      </p:sp>
      <p:sp>
        <p:nvSpPr>
          <p:cNvPr id="47" name="Line 93">
            <a:extLst>
              <a:ext uri="{FF2B5EF4-FFF2-40B4-BE49-F238E27FC236}">
                <a16:creationId xmlns:a16="http://schemas.microsoft.com/office/drawing/2014/main" id="{645FE9FF-1B8B-E6B2-0653-5EC2DF770F53}"/>
              </a:ext>
            </a:extLst>
          </p:cNvPr>
          <p:cNvSpPr>
            <a:spLocks noChangeShapeType="1"/>
          </p:cNvSpPr>
          <p:nvPr/>
        </p:nvSpPr>
        <p:spPr bwMode="auto">
          <a:xfrm flipV="1">
            <a:off x="1581460" y="2185277"/>
            <a:ext cx="1609375" cy="14367"/>
          </a:xfrm>
          <a:prstGeom prst="line">
            <a:avLst/>
          </a:prstGeom>
          <a:noFill/>
          <a:ln w="12700">
            <a:solidFill>
              <a:schemeClr val="tx1"/>
            </a:solidFill>
            <a:prstDash val="dash"/>
            <a:round/>
            <a:headEnd/>
            <a:tailEnd/>
          </a:ln>
        </p:spPr>
        <p:txBody>
          <a:bodyPr/>
          <a:lstStyle/>
          <a:p>
            <a:endParaRPr lang="en-US"/>
          </a:p>
        </p:txBody>
      </p:sp>
      <p:sp>
        <p:nvSpPr>
          <p:cNvPr id="48" name="Line 93">
            <a:extLst>
              <a:ext uri="{FF2B5EF4-FFF2-40B4-BE49-F238E27FC236}">
                <a16:creationId xmlns:a16="http://schemas.microsoft.com/office/drawing/2014/main" id="{F862747F-1DD5-E088-36B5-33313993E9C4}"/>
              </a:ext>
            </a:extLst>
          </p:cNvPr>
          <p:cNvSpPr>
            <a:spLocks noChangeShapeType="1"/>
          </p:cNvSpPr>
          <p:nvPr/>
        </p:nvSpPr>
        <p:spPr bwMode="auto">
          <a:xfrm flipV="1">
            <a:off x="1581460" y="2971800"/>
            <a:ext cx="2380940" cy="18247"/>
          </a:xfrm>
          <a:prstGeom prst="line">
            <a:avLst/>
          </a:prstGeom>
          <a:noFill/>
          <a:ln w="12700">
            <a:solidFill>
              <a:schemeClr val="tx1"/>
            </a:solidFill>
            <a:prstDash val="dash"/>
            <a:round/>
            <a:headEnd/>
            <a:tailEnd/>
          </a:ln>
        </p:spPr>
        <p:txBody>
          <a:bodyPr/>
          <a:lstStyle/>
          <a:p>
            <a:endParaRPr lang="en-US"/>
          </a:p>
        </p:txBody>
      </p:sp>
      <p:sp>
        <p:nvSpPr>
          <p:cNvPr id="49" name="Line 93">
            <a:extLst>
              <a:ext uri="{FF2B5EF4-FFF2-40B4-BE49-F238E27FC236}">
                <a16:creationId xmlns:a16="http://schemas.microsoft.com/office/drawing/2014/main" id="{12D964BE-168D-6B2E-9BDD-A73BFEA6CFB9}"/>
              </a:ext>
            </a:extLst>
          </p:cNvPr>
          <p:cNvSpPr>
            <a:spLocks noChangeShapeType="1"/>
          </p:cNvSpPr>
          <p:nvPr/>
        </p:nvSpPr>
        <p:spPr bwMode="auto">
          <a:xfrm flipV="1">
            <a:off x="1599697" y="3518221"/>
            <a:ext cx="3139227" cy="17115"/>
          </a:xfrm>
          <a:prstGeom prst="line">
            <a:avLst/>
          </a:prstGeom>
          <a:noFill/>
          <a:ln w="12700">
            <a:solidFill>
              <a:schemeClr val="tx1"/>
            </a:solidFill>
            <a:prstDash val="dash"/>
            <a:round/>
            <a:headEnd/>
            <a:tailEnd/>
          </a:ln>
        </p:spPr>
        <p:txBody>
          <a:bodyPr/>
          <a:lstStyle/>
          <a:p>
            <a:endParaRPr lang="en-US"/>
          </a:p>
        </p:txBody>
      </p:sp>
      <p:sp>
        <p:nvSpPr>
          <p:cNvPr id="11" name="Footer Placeholder 10">
            <a:extLst>
              <a:ext uri="{FF2B5EF4-FFF2-40B4-BE49-F238E27FC236}">
                <a16:creationId xmlns:a16="http://schemas.microsoft.com/office/drawing/2014/main" id="{F92A9437-0CBA-9360-B032-26A3E6FF05FB}"/>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310053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1749"/>
                                        </p:tgtEl>
                                        <p:attrNameLst>
                                          <p:attrName>style.visibility</p:attrName>
                                        </p:attrNameLst>
                                      </p:cBhvr>
                                      <p:to>
                                        <p:strVal val="visible"/>
                                      </p:to>
                                    </p:set>
                                    <p:animEffect transition="in" filter="wipe(up)">
                                      <p:cBhvr>
                                        <p:cTn id="10" dur="500"/>
                                        <p:tgtEl>
                                          <p:spTgt spid="7174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2"/>
                                        </p:tgtEl>
                                      </p:cBhvr>
                                    </p:animEffect>
                                    <p:set>
                                      <p:cBhvr>
                                        <p:cTn id="15" dur="1" fill="hold">
                                          <p:stCondLst>
                                            <p:cond delay="499"/>
                                          </p:stCondLst>
                                        </p:cTn>
                                        <p:tgtEl>
                                          <p:spTgt spid="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71750"/>
                                        </p:tgtEl>
                                        <p:attrNameLst>
                                          <p:attrName>style.visibility</p:attrName>
                                        </p:attrNameLst>
                                      </p:cBhvr>
                                      <p:to>
                                        <p:strVal val="visible"/>
                                      </p:to>
                                    </p:set>
                                    <p:animEffect transition="in" filter="wipe(left)">
                                      <p:cBhvr>
                                        <p:cTn id="23" dur="500"/>
                                        <p:tgtEl>
                                          <p:spTgt spid="7175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10"/>
                                        </p:tgtEl>
                                      </p:cBhvr>
                                    </p:animEffect>
                                    <p:set>
                                      <p:cBhvr>
                                        <p:cTn id="28" dur="1" fill="hold">
                                          <p:stCondLst>
                                            <p:cond delay="499"/>
                                          </p:stCondLst>
                                        </p:cTn>
                                        <p:tgtEl>
                                          <p:spTgt spid="10"/>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71773"/>
                                        </p:tgtEl>
                                        <p:attrNameLst>
                                          <p:attrName>style.visibility</p:attrName>
                                        </p:attrNameLst>
                                      </p:cBhvr>
                                      <p:to>
                                        <p:strVal val="visible"/>
                                      </p:to>
                                    </p:set>
                                    <p:animEffect transition="in" filter="wipe(up)">
                                      <p:cBhvr>
                                        <p:cTn id="36" dur="500"/>
                                        <p:tgtEl>
                                          <p:spTgt spid="71773"/>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wipe(up)">
                                      <p:cBhvr>
                                        <p:cTn id="39" dur="500"/>
                                        <p:tgtEl>
                                          <p:spTgt spid="4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3"/>
                                        </p:tgtEl>
                                      </p:cBhvr>
                                    </p:animEffect>
                                    <p:set>
                                      <p:cBhvr>
                                        <p:cTn id="44" dur="1" fill="hold">
                                          <p:stCondLst>
                                            <p:cond delay="499"/>
                                          </p:stCondLst>
                                        </p:cTn>
                                        <p:tgtEl>
                                          <p:spTgt spid="3"/>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500"/>
                                        <p:tgtEl>
                                          <p:spTgt spid="9"/>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71774"/>
                                        </p:tgtEl>
                                        <p:attrNameLst>
                                          <p:attrName>style.visibility</p:attrName>
                                        </p:attrNameLst>
                                      </p:cBhvr>
                                      <p:to>
                                        <p:strVal val="visible"/>
                                      </p:to>
                                    </p:set>
                                    <p:animEffect transition="in" filter="wipe(left)">
                                      <p:cBhvr>
                                        <p:cTn id="52" dur="500"/>
                                        <p:tgtEl>
                                          <p:spTgt spid="71774"/>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wipe(left)">
                                      <p:cBhvr>
                                        <p:cTn id="55" dur="500"/>
                                        <p:tgtEl>
                                          <p:spTgt spid="4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nodeType="clickEffect">
                                  <p:stCondLst>
                                    <p:cond delay="0"/>
                                  </p:stCondLst>
                                  <p:childTnLst>
                                    <p:animEffect transition="out" filter="fade">
                                      <p:cBhvr>
                                        <p:cTn id="59" dur="500"/>
                                        <p:tgtEl>
                                          <p:spTgt spid="9"/>
                                        </p:tgtEl>
                                      </p:cBhvr>
                                    </p:animEffect>
                                    <p:set>
                                      <p:cBhvr>
                                        <p:cTn id="60" dur="1" fill="hold">
                                          <p:stCondLst>
                                            <p:cond delay="499"/>
                                          </p:stCondLst>
                                        </p:cTn>
                                        <p:tgtEl>
                                          <p:spTgt spid="9"/>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fade">
                                      <p:cBhvr>
                                        <p:cTn id="65" dur="500"/>
                                        <p:tgtEl>
                                          <p:spTgt spid="4"/>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71770"/>
                                        </p:tgtEl>
                                        <p:attrNameLst>
                                          <p:attrName>style.visibility</p:attrName>
                                        </p:attrNameLst>
                                      </p:cBhvr>
                                      <p:to>
                                        <p:strVal val="visible"/>
                                      </p:to>
                                    </p:set>
                                    <p:animEffect transition="in" filter="wipe(up)">
                                      <p:cBhvr>
                                        <p:cTn id="68" dur="500"/>
                                        <p:tgtEl>
                                          <p:spTgt spid="71770"/>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wipe(up)">
                                      <p:cBhvr>
                                        <p:cTn id="71" dur="500"/>
                                        <p:tgtEl>
                                          <p:spTgt spid="4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nodeType="clickEffect">
                                  <p:stCondLst>
                                    <p:cond delay="0"/>
                                  </p:stCondLst>
                                  <p:childTnLst>
                                    <p:animEffect transition="out" filter="fade">
                                      <p:cBhvr>
                                        <p:cTn id="75" dur="500"/>
                                        <p:tgtEl>
                                          <p:spTgt spid="4"/>
                                        </p:tgtEl>
                                      </p:cBhvr>
                                    </p:animEffect>
                                    <p:set>
                                      <p:cBhvr>
                                        <p:cTn id="76" dur="1" fill="hold">
                                          <p:stCondLst>
                                            <p:cond delay="499"/>
                                          </p:stCondLst>
                                        </p:cTn>
                                        <p:tgtEl>
                                          <p:spTgt spid="4"/>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500"/>
                                        <p:tgtEl>
                                          <p:spTgt spid="8"/>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71771"/>
                                        </p:tgtEl>
                                        <p:attrNameLst>
                                          <p:attrName>style.visibility</p:attrName>
                                        </p:attrNameLst>
                                      </p:cBhvr>
                                      <p:to>
                                        <p:strVal val="visible"/>
                                      </p:to>
                                    </p:set>
                                    <p:animEffect transition="in" filter="wipe(left)">
                                      <p:cBhvr>
                                        <p:cTn id="84" dur="500"/>
                                        <p:tgtEl>
                                          <p:spTgt spid="71771"/>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animEffect transition="in" filter="wipe(left)">
                                      <p:cBhvr>
                                        <p:cTn id="87" dur="500"/>
                                        <p:tgtEl>
                                          <p:spTgt spid="4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nodeType="clickEffect">
                                  <p:stCondLst>
                                    <p:cond delay="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5"/>
                                        </p:tgtEl>
                                        <p:attrNameLst>
                                          <p:attrName>style.visibility</p:attrName>
                                        </p:attrNameLst>
                                      </p:cBhvr>
                                      <p:to>
                                        <p:strVal val="visible"/>
                                      </p:to>
                                    </p:set>
                                    <p:animEffect transition="in" filter="fade">
                                      <p:cBhvr>
                                        <p:cTn id="97" dur="500"/>
                                        <p:tgtEl>
                                          <p:spTgt spid="5"/>
                                        </p:tgtEl>
                                      </p:cBhvr>
                                    </p:animEffect>
                                  </p:childTnLst>
                                </p:cTn>
                              </p:par>
                              <p:par>
                                <p:cTn id="98" presetID="22" presetClass="entr" presetSubtype="1" fill="hold" grpId="0" nodeType="withEffect">
                                  <p:stCondLst>
                                    <p:cond delay="0"/>
                                  </p:stCondLst>
                                  <p:childTnLst>
                                    <p:set>
                                      <p:cBhvr>
                                        <p:cTn id="99" dur="1" fill="hold">
                                          <p:stCondLst>
                                            <p:cond delay="0"/>
                                          </p:stCondLst>
                                        </p:cTn>
                                        <p:tgtEl>
                                          <p:spTgt spid="71767"/>
                                        </p:tgtEl>
                                        <p:attrNameLst>
                                          <p:attrName>style.visibility</p:attrName>
                                        </p:attrNameLst>
                                      </p:cBhvr>
                                      <p:to>
                                        <p:strVal val="visible"/>
                                      </p:to>
                                    </p:set>
                                    <p:animEffect transition="in" filter="wipe(up)">
                                      <p:cBhvr>
                                        <p:cTn id="100" dur="500"/>
                                        <p:tgtEl>
                                          <p:spTgt spid="71767"/>
                                        </p:tgtEl>
                                      </p:cBhvr>
                                    </p:animEffect>
                                  </p:childTnLst>
                                </p:cTn>
                              </p:par>
                              <p:par>
                                <p:cTn id="101" presetID="22" presetClass="entr" presetSubtype="1"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wipe(up)">
                                      <p:cBhvr>
                                        <p:cTn id="103" dur="500"/>
                                        <p:tgtEl>
                                          <p:spTgt spid="46"/>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xit" presetSubtype="0" fill="hold" nodeType="clickEffect">
                                  <p:stCondLst>
                                    <p:cond delay="0"/>
                                  </p:stCondLst>
                                  <p:childTnLst>
                                    <p:animEffect transition="out" filter="fade">
                                      <p:cBhvr>
                                        <p:cTn id="107" dur="500"/>
                                        <p:tgtEl>
                                          <p:spTgt spid="5"/>
                                        </p:tgtEl>
                                      </p:cBhvr>
                                    </p:animEffect>
                                    <p:set>
                                      <p:cBhvr>
                                        <p:cTn id="108" dur="1" fill="hold">
                                          <p:stCondLst>
                                            <p:cond delay="499"/>
                                          </p:stCondLst>
                                        </p:cTn>
                                        <p:tgtEl>
                                          <p:spTgt spid="5"/>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7"/>
                                        </p:tgtEl>
                                        <p:attrNameLst>
                                          <p:attrName>style.visibility</p:attrName>
                                        </p:attrNameLst>
                                      </p:cBhvr>
                                      <p:to>
                                        <p:strVal val="visible"/>
                                      </p:to>
                                    </p:set>
                                    <p:animEffect transition="in" filter="fade">
                                      <p:cBhvr>
                                        <p:cTn id="113" dur="500"/>
                                        <p:tgtEl>
                                          <p:spTgt spid="7"/>
                                        </p:tgtEl>
                                      </p:cBhvr>
                                    </p:animEffect>
                                  </p:childTnLst>
                                </p:cTn>
                              </p:par>
                              <p:par>
                                <p:cTn id="114" presetID="22" presetClass="entr" presetSubtype="8" fill="hold" grpId="0" nodeType="withEffect">
                                  <p:stCondLst>
                                    <p:cond delay="0"/>
                                  </p:stCondLst>
                                  <p:childTnLst>
                                    <p:set>
                                      <p:cBhvr>
                                        <p:cTn id="115" dur="1" fill="hold">
                                          <p:stCondLst>
                                            <p:cond delay="0"/>
                                          </p:stCondLst>
                                        </p:cTn>
                                        <p:tgtEl>
                                          <p:spTgt spid="71768"/>
                                        </p:tgtEl>
                                        <p:attrNameLst>
                                          <p:attrName>style.visibility</p:attrName>
                                        </p:attrNameLst>
                                      </p:cBhvr>
                                      <p:to>
                                        <p:strVal val="visible"/>
                                      </p:to>
                                    </p:set>
                                    <p:animEffect transition="in" filter="wipe(left)">
                                      <p:cBhvr>
                                        <p:cTn id="116" dur="500"/>
                                        <p:tgtEl>
                                          <p:spTgt spid="71768"/>
                                        </p:tgtEl>
                                      </p:cBhvr>
                                    </p:animEffect>
                                  </p:childTnLst>
                                </p:cTn>
                              </p:par>
                              <p:par>
                                <p:cTn id="117" presetID="22" presetClass="entr" presetSubtype="8" fill="hold" grpId="0" nodeType="with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wipe(left)">
                                      <p:cBhvr>
                                        <p:cTn id="119" dur="500"/>
                                        <p:tgtEl>
                                          <p:spTgt spid="49"/>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xit" presetSubtype="0" fill="hold" nodeType="clickEffect">
                                  <p:stCondLst>
                                    <p:cond delay="0"/>
                                  </p:stCondLst>
                                  <p:childTnLst>
                                    <p:animEffect transition="out" filter="fade">
                                      <p:cBhvr>
                                        <p:cTn id="123" dur="500"/>
                                        <p:tgtEl>
                                          <p:spTgt spid="7"/>
                                        </p:tgtEl>
                                      </p:cBhvr>
                                    </p:animEffect>
                                    <p:set>
                                      <p:cBhvr>
                                        <p:cTn id="124" dur="1" fill="hold">
                                          <p:stCondLst>
                                            <p:cond delay="499"/>
                                          </p:stCondLst>
                                        </p:cTn>
                                        <p:tgtEl>
                                          <p:spTgt spid="7"/>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6"/>
                                        </p:tgtEl>
                                        <p:attrNameLst>
                                          <p:attrName>style.visibility</p:attrName>
                                        </p:attrNameLst>
                                      </p:cBhvr>
                                      <p:to>
                                        <p:strVal val="visible"/>
                                      </p:to>
                                    </p:set>
                                    <p:animEffect transition="in" filter="fade">
                                      <p:cBhvr>
                                        <p:cTn id="129" dur="500"/>
                                        <p:tgtEl>
                                          <p:spTgt spid="6"/>
                                        </p:tgtEl>
                                      </p:cBhvr>
                                    </p:animEffect>
                                  </p:childTnLst>
                                </p:cTn>
                              </p:par>
                              <p:par>
                                <p:cTn id="130" presetID="22" presetClass="entr" presetSubtype="1" fill="hold" grpId="0" nodeType="withEffect">
                                  <p:stCondLst>
                                    <p:cond delay="0"/>
                                  </p:stCondLst>
                                  <p:childTnLst>
                                    <p:set>
                                      <p:cBhvr>
                                        <p:cTn id="131" dur="1" fill="hold">
                                          <p:stCondLst>
                                            <p:cond delay="0"/>
                                          </p:stCondLst>
                                        </p:cTn>
                                        <p:tgtEl>
                                          <p:spTgt spid="71764"/>
                                        </p:tgtEl>
                                        <p:attrNameLst>
                                          <p:attrName>style.visibility</p:attrName>
                                        </p:attrNameLst>
                                      </p:cBhvr>
                                      <p:to>
                                        <p:strVal val="visible"/>
                                      </p:to>
                                    </p:set>
                                    <p:animEffect transition="in" filter="wipe(up)">
                                      <p:cBhvr>
                                        <p:cTn id="132" dur="500"/>
                                        <p:tgtEl>
                                          <p:spTgt spid="71764"/>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xit" presetSubtype="0" fill="hold" nodeType="clickEffect">
                                  <p:stCondLst>
                                    <p:cond delay="0"/>
                                  </p:stCondLst>
                                  <p:childTnLst>
                                    <p:animEffect transition="out" filter="fade">
                                      <p:cBhvr>
                                        <p:cTn id="136" dur="500"/>
                                        <p:tgtEl>
                                          <p:spTgt spid="6"/>
                                        </p:tgtEl>
                                      </p:cBhvr>
                                    </p:animEffect>
                                    <p:set>
                                      <p:cBhvr>
                                        <p:cTn id="13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9" grpId="0" animBg="1"/>
      <p:bldP spid="71750" grpId="0" animBg="1"/>
      <p:bldP spid="71764" grpId="0" animBg="1"/>
      <p:bldP spid="71767" grpId="0" animBg="1"/>
      <p:bldP spid="71768" grpId="0" animBg="1"/>
      <p:bldP spid="71770" grpId="0" animBg="1"/>
      <p:bldP spid="71771" grpId="0" animBg="1"/>
      <p:bldP spid="71773" grpId="0" animBg="1"/>
      <p:bldP spid="71774" grpId="0" animBg="1"/>
      <p:bldP spid="44" grpId="0" animBg="1"/>
      <p:bldP spid="45" grpId="0" animBg="1"/>
      <p:bldP spid="46" grpId="0" animBg="1"/>
      <p:bldP spid="47" grpId="0" animBg="1"/>
      <p:bldP spid="48" grpId="0" animBg="1"/>
      <p:bldP spid="49"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3" name="Rectangle 5"/>
          <p:cNvSpPr>
            <a:spLocks noGrp="1" noChangeArrowheads="1"/>
          </p:cNvSpPr>
          <p:nvPr>
            <p:ph type="title"/>
          </p:nvPr>
        </p:nvSpPr>
        <p:spPr/>
        <p:txBody>
          <a:bodyPr/>
          <a:lstStyle/>
          <a:p>
            <a:pPr algn="ctr" eaLnBrk="1" hangingPunct="1"/>
            <a:r>
              <a:rPr lang="en-US" dirty="0">
                <a:solidFill>
                  <a:srgbClr val="4E519E"/>
                </a:solidFill>
              </a:rPr>
              <a:t>About the staircase shape…</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8</a:t>
            </a:fld>
            <a:endParaRPr lang="en-US" dirty="0"/>
          </a:p>
        </p:txBody>
      </p:sp>
      <p:sp>
        <p:nvSpPr>
          <p:cNvPr id="20" name="Rectangle 6"/>
          <p:cNvSpPr>
            <a:spLocks noGrp="1" noChangeArrowheads="1"/>
          </p:cNvSpPr>
          <p:nvPr>
            <p:ph idx="12"/>
          </p:nvPr>
        </p:nvSpPr>
        <p:spPr>
          <a:xfrm>
            <a:off x="4991282" y="914400"/>
            <a:ext cx="3908665" cy="5257800"/>
          </a:xfrm>
        </p:spPr>
        <p:txBody>
          <a:bodyPr>
            <a:noAutofit/>
          </a:bodyPr>
          <a:lstStyle/>
          <a:p>
            <a:pPr marL="0" indent="0" eaLnBrk="1" hangingPunct="1">
              <a:lnSpc>
                <a:spcPct val="100000"/>
              </a:lnSpc>
              <a:buFont typeface="Wingdings" pitchFamily="2" charset="2"/>
              <a:buNone/>
            </a:pPr>
            <a:r>
              <a:rPr lang="en-US" sz="2800" dirty="0">
                <a:solidFill>
                  <a:srgbClr val="4E519E"/>
                </a:solidFill>
              </a:rPr>
              <a:t>This </a:t>
            </a:r>
            <a:r>
              <a:rPr lang="en-US" sz="2800" b="1" i="1" dirty="0">
                <a:solidFill>
                  <a:srgbClr val="4E519E"/>
                </a:solidFill>
              </a:rPr>
              <a:t>D</a:t>
            </a:r>
            <a:r>
              <a:rPr lang="en-US" sz="2800" dirty="0">
                <a:solidFill>
                  <a:srgbClr val="4E519E"/>
                </a:solidFill>
              </a:rPr>
              <a:t> curve looks like a staircase with 4 steps – one per buyer.</a:t>
            </a:r>
          </a:p>
          <a:p>
            <a:pPr marL="0" indent="0" eaLnBrk="1" hangingPunct="1">
              <a:buNone/>
            </a:pPr>
            <a:r>
              <a:rPr lang="en-US" sz="2800" dirty="0">
                <a:cs typeface="Arial"/>
              </a:rPr>
              <a:t>If there were a huge # of buyers,  as in a competitive market, there would be a huge # of very tiny steps, and it would look more like a smooth curve.</a:t>
            </a:r>
          </a:p>
          <a:p>
            <a:pPr eaLnBrk="1" hangingPunct="1"/>
            <a:endParaRPr lang="en-US" sz="2800" dirty="0">
              <a:cs typeface="Arial"/>
            </a:endParaRPr>
          </a:p>
          <a:p>
            <a:pPr marL="0" indent="0" eaLnBrk="1" hangingPunct="1">
              <a:lnSpc>
                <a:spcPct val="100000"/>
              </a:lnSpc>
              <a:buFont typeface="Wingdings" pitchFamily="2" charset="2"/>
              <a:buNone/>
            </a:pPr>
            <a:r>
              <a:rPr lang="en-US" sz="2800" dirty="0"/>
              <a:t> </a:t>
            </a:r>
          </a:p>
        </p:txBody>
      </p:sp>
      <p:grpSp>
        <p:nvGrpSpPr>
          <p:cNvPr id="3" name="Group 2">
            <a:extLst>
              <a:ext uri="{FF2B5EF4-FFF2-40B4-BE49-F238E27FC236}">
                <a16:creationId xmlns:a16="http://schemas.microsoft.com/office/drawing/2014/main" id="{56B55CD4-5351-FFDC-19CA-A80F3ED7EE5B}"/>
              </a:ext>
            </a:extLst>
          </p:cNvPr>
          <p:cNvGrpSpPr/>
          <p:nvPr/>
        </p:nvGrpSpPr>
        <p:grpSpPr>
          <a:xfrm>
            <a:off x="97970" y="673662"/>
            <a:ext cx="5769430" cy="6223661"/>
            <a:chOff x="97970" y="673662"/>
            <a:chExt cx="5769430" cy="6223661"/>
          </a:xfrm>
        </p:grpSpPr>
        <p:graphicFrame>
          <p:nvGraphicFramePr>
            <p:cNvPr id="36" name="Object 66">
              <a:extLst>
                <a:ext uri="{FF2B5EF4-FFF2-40B4-BE49-F238E27FC236}">
                  <a16:creationId xmlns:a16="http://schemas.microsoft.com/office/drawing/2014/main" id="{919F54B3-87D6-4240-1626-6664DD8006DE}"/>
                </a:ext>
              </a:extLst>
            </p:cNvPr>
            <p:cNvGraphicFramePr>
              <a:graphicFrameLocks noChangeAspect="1"/>
            </p:cNvGraphicFramePr>
            <p:nvPr>
              <p:extLst>
                <p:ext uri="{D42A27DB-BD31-4B8C-83A1-F6EECF244321}">
                  <p14:modId xmlns:p14="http://schemas.microsoft.com/office/powerpoint/2010/main" val="327658744"/>
                </p:ext>
              </p:extLst>
            </p:nvPr>
          </p:nvGraphicFramePr>
          <p:xfrm>
            <a:off x="214313" y="673662"/>
            <a:ext cx="5653087" cy="6223661"/>
          </p:xfrm>
          <a:graphic>
            <a:graphicData uri="http://schemas.openxmlformats.org/presentationml/2006/ole">
              <mc:AlternateContent xmlns:mc="http://schemas.openxmlformats.org/markup-compatibility/2006">
                <mc:Choice xmlns:v="urn:schemas-microsoft-com:vml" Requires="v">
                  <p:oleObj name="Worksheet" r:id="rId3" imgW="4534118" imgH="5730240" progId="Excel.Sheet.8">
                    <p:embed/>
                  </p:oleObj>
                </mc:Choice>
                <mc:Fallback>
                  <p:oleObj name="Worksheet" r:id="rId3" imgW="4534118" imgH="5730240" progId="Excel.Sheet.8">
                    <p:embed/>
                    <p:pic>
                      <p:nvPicPr>
                        <p:cNvPr id="36" name="Object 66">
                          <a:extLst>
                            <a:ext uri="{FF2B5EF4-FFF2-40B4-BE49-F238E27FC236}">
                              <a16:creationId xmlns:a16="http://schemas.microsoft.com/office/drawing/2014/main" id="{919F54B3-87D6-4240-1626-6664DD8006DE}"/>
                            </a:ext>
                          </a:extLst>
                        </p:cNvPr>
                        <p:cNvPicPr>
                          <a:picLocks noChangeAspect="1" noChangeArrowheads="1"/>
                        </p:cNvPicPr>
                        <p:nvPr/>
                      </p:nvPicPr>
                      <p:blipFill>
                        <a:blip r:embed="rId4"/>
                        <a:srcRect/>
                        <a:stretch>
                          <a:fillRect/>
                        </a:stretch>
                      </p:blipFill>
                      <p:spPr bwMode="auto">
                        <a:xfrm>
                          <a:off x="214313" y="673662"/>
                          <a:ext cx="5653087" cy="6223661"/>
                        </a:xfrm>
                        <a:prstGeom prst="rect">
                          <a:avLst/>
                        </a:prstGeom>
                        <a:noFill/>
                      </p:spPr>
                    </p:pic>
                  </p:oleObj>
                </mc:Fallback>
              </mc:AlternateContent>
            </a:graphicData>
          </a:graphic>
        </p:graphicFrame>
        <p:sp>
          <p:nvSpPr>
            <p:cNvPr id="37" name="Line 69">
              <a:extLst>
                <a:ext uri="{FF2B5EF4-FFF2-40B4-BE49-F238E27FC236}">
                  <a16:creationId xmlns:a16="http://schemas.microsoft.com/office/drawing/2014/main" id="{1C45AE42-4F49-061A-8232-71E5B545C430}"/>
                </a:ext>
              </a:extLst>
            </p:cNvPr>
            <p:cNvSpPr>
              <a:spLocks noChangeShapeType="1"/>
            </p:cNvSpPr>
            <p:nvPr/>
          </p:nvSpPr>
          <p:spPr bwMode="auto">
            <a:xfrm flipV="1">
              <a:off x="1621879" y="1076325"/>
              <a:ext cx="0" cy="587375"/>
            </a:xfrm>
            <a:prstGeom prst="line">
              <a:avLst/>
            </a:prstGeom>
            <a:noFill/>
            <a:ln w="57150">
              <a:solidFill>
                <a:srgbClr val="0000FF"/>
              </a:solidFill>
              <a:round/>
              <a:headEnd/>
              <a:tailEnd/>
            </a:ln>
          </p:spPr>
          <p:txBody>
            <a:bodyPr/>
            <a:lstStyle/>
            <a:p>
              <a:endParaRPr lang="en-US"/>
            </a:p>
          </p:txBody>
        </p:sp>
        <p:sp>
          <p:nvSpPr>
            <p:cNvPr id="38" name="Line 70">
              <a:extLst>
                <a:ext uri="{FF2B5EF4-FFF2-40B4-BE49-F238E27FC236}">
                  <a16:creationId xmlns:a16="http://schemas.microsoft.com/office/drawing/2014/main" id="{8B40B504-6628-6EF0-7D28-BE1969162713}"/>
                </a:ext>
              </a:extLst>
            </p:cNvPr>
            <p:cNvSpPr>
              <a:spLocks noChangeShapeType="1"/>
            </p:cNvSpPr>
            <p:nvPr/>
          </p:nvSpPr>
          <p:spPr bwMode="auto">
            <a:xfrm flipV="1">
              <a:off x="1613668" y="1651876"/>
              <a:ext cx="824723" cy="0"/>
            </a:xfrm>
            <a:prstGeom prst="line">
              <a:avLst/>
            </a:prstGeom>
            <a:noFill/>
            <a:ln w="57150">
              <a:solidFill>
                <a:srgbClr val="0000FF"/>
              </a:solidFill>
              <a:round/>
              <a:headEnd/>
              <a:tailEnd/>
            </a:ln>
          </p:spPr>
          <p:txBody>
            <a:bodyPr/>
            <a:lstStyle/>
            <a:p>
              <a:endParaRPr lang="en-US"/>
            </a:p>
          </p:txBody>
        </p:sp>
        <p:sp>
          <p:nvSpPr>
            <p:cNvPr id="39" name="Text Box 67">
              <a:extLst>
                <a:ext uri="{FF2B5EF4-FFF2-40B4-BE49-F238E27FC236}">
                  <a16:creationId xmlns:a16="http://schemas.microsoft.com/office/drawing/2014/main" id="{C3E3F704-9035-0662-8AFF-9BB6BAA82070}"/>
                </a:ext>
              </a:extLst>
            </p:cNvPr>
            <p:cNvSpPr txBox="1">
              <a:spLocks noChangeArrowheads="1"/>
            </p:cNvSpPr>
            <p:nvPr/>
          </p:nvSpPr>
          <p:spPr bwMode="auto">
            <a:xfrm>
              <a:off x="97970" y="792597"/>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40" name="Text Box 68">
              <a:extLst>
                <a:ext uri="{FF2B5EF4-FFF2-40B4-BE49-F238E27FC236}">
                  <a16:creationId xmlns:a16="http://schemas.microsoft.com/office/drawing/2014/main" id="{B9C0E8ED-11AC-6C89-0DCD-AE17B11909C5}"/>
                </a:ext>
              </a:extLst>
            </p:cNvPr>
            <p:cNvSpPr txBox="1">
              <a:spLocks noChangeArrowheads="1"/>
            </p:cNvSpPr>
            <p:nvPr/>
          </p:nvSpPr>
          <p:spPr bwMode="auto">
            <a:xfrm>
              <a:off x="5257800" y="5805488"/>
              <a:ext cx="474663" cy="519112"/>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sp>
          <p:nvSpPr>
            <p:cNvPr id="41" name="Line 84">
              <a:extLst>
                <a:ext uri="{FF2B5EF4-FFF2-40B4-BE49-F238E27FC236}">
                  <a16:creationId xmlns:a16="http://schemas.microsoft.com/office/drawing/2014/main" id="{C208DB39-2DFE-6D87-56EF-74CFD9D0A193}"/>
                </a:ext>
              </a:extLst>
            </p:cNvPr>
            <p:cNvSpPr>
              <a:spLocks noChangeShapeType="1"/>
            </p:cNvSpPr>
            <p:nvPr/>
          </p:nvSpPr>
          <p:spPr bwMode="auto">
            <a:xfrm flipH="1" flipV="1">
              <a:off x="4770674" y="3537745"/>
              <a:ext cx="1" cy="2362200"/>
            </a:xfrm>
            <a:prstGeom prst="line">
              <a:avLst/>
            </a:prstGeom>
            <a:noFill/>
            <a:ln w="57150">
              <a:solidFill>
                <a:srgbClr val="0000FF"/>
              </a:solidFill>
              <a:round/>
              <a:headEnd/>
              <a:tailEnd/>
            </a:ln>
          </p:spPr>
          <p:txBody>
            <a:bodyPr/>
            <a:lstStyle/>
            <a:p>
              <a:endParaRPr lang="en-US"/>
            </a:p>
          </p:txBody>
        </p:sp>
        <p:sp>
          <p:nvSpPr>
            <p:cNvPr id="42" name="Line 87">
              <a:extLst>
                <a:ext uri="{FF2B5EF4-FFF2-40B4-BE49-F238E27FC236}">
                  <a16:creationId xmlns:a16="http://schemas.microsoft.com/office/drawing/2014/main" id="{4F7B3D8F-81B8-70C4-AA10-0E88DCBE992B}"/>
                </a:ext>
              </a:extLst>
            </p:cNvPr>
            <p:cNvSpPr>
              <a:spLocks noChangeShapeType="1"/>
            </p:cNvSpPr>
            <p:nvPr/>
          </p:nvSpPr>
          <p:spPr bwMode="auto">
            <a:xfrm flipH="1" flipV="1">
              <a:off x="3959638" y="2940978"/>
              <a:ext cx="2762" cy="576801"/>
            </a:xfrm>
            <a:prstGeom prst="line">
              <a:avLst/>
            </a:prstGeom>
            <a:noFill/>
            <a:ln w="57150">
              <a:solidFill>
                <a:srgbClr val="0000FF"/>
              </a:solidFill>
              <a:round/>
              <a:headEnd/>
              <a:tailEnd/>
            </a:ln>
          </p:spPr>
          <p:txBody>
            <a:bodyPr/>
            <a:lstStyle/>
            <a:p>
              <a:endParaRPr lang="en-US"/>
            </a:p>
          </p:txBody>
        </p:sp>
        <p:sp>
          <p:nvSpPr>
            <p:cNvPr id="43" name="Line 88">
              <a:extLst>
                <a:ext uri="{FF2B5EF4-FFF2-40B4-BE49-F238E27FC236}">
                  <a16:creationId xmlns:a16="http://schemas.microsoft.com/office/drawing/2014/main" id="{1E1D42EF-2B01-92B3-C92D-4BE96BCA6E99}"/>
                </a:ext>
              </a:extLst>
            </p:cNvPr>
            <p:cNvSpPr>
              <a:spLocks noChangeShapeType="1"/>
            </p:cNvSpPr>
            <p:nvPr/>
          </p:nvSpPr>
          <p:spPr bwMode="auto">
            <a:xfrm>
              <a:off x="3962400" y="3505200"/>
              <a:ext cx="808274" cy="14277"/>
            </a:xfrm>
            <a:prstGeom prst="line">
              <a:avLst/>
            </a:prstGeom>
            <a:noFill/>
            <a:ln w="57150">
              <a:solidFill>
                <a:srgbClr val="0000FF"/>
              </a:solidFill>
              <a:round/>
              <a:headEnd/>
              <a:tailEnd/>
            </a:ln>
          </p:spPr>
          <p:txBody>
            <a:bodyPr/>
            <a:lstStyle/>
            <a:p>
              <a:endParaRPr lang="en-US"/>
            </a:p>
          </p:txBody>
        </p:sp>
        <p:sp>
          <p:nvSpPr>
            <p:cNvPr id="44" name="Line 90">
              <a:extLst>
                <a:ext uri="{FF2B5EF4-FFF2-40B4-BE49-F238E27FC236}">
                  <a16:creationId xmlns:a16="http://schemas.microsoft.com/office/drawing/2014/main" id="{79F216D2-0904-65DD-2829-EAC21C02DE81}"/>
                </a:ext>
              </a:extLst>
            </p:cNvPr>
            <p:cNvSpPr>
              <a:spLocks noChangeShapeType="1"/>
            </p:cNvSpPr>
            <p:nvPr/>
          </p:nvSpPr>
          <p:spPr bwMode="auto">
            <a:xfrm flipH="1" flipV="1">
              <a:off x="3190835" y="2153418"/>
              <a:ext cx="9565" cy="837432"/>
            </a:xfrm>
            <a:prstGeom prst="line">
              <a:avLst/>
            </a:prstGeom>
            <a:noFill/>
            <a:ln w="57150">
              <a:solidFill>
                <a:srgbClr val="0000FF"/>
              </a:solidFill>
              <a:round/>
              <a:headEnd/>
              <a:tailEnd/>
            </a:ln>
          </p:spPr>
          <p:txBody>
            <a:bodyPr/>
            <a:lstStyle/>
            <a:p>
              <a:endParaRPr lang="en-US"/>
            </a:p>
          </p:txBody>
        </p:sp>
        <p:sp>
          <p:nvSpPr>
            <p:cNvPr id="45" name="Line 91">
              <a:extLst>
                <a:ext uri="{FF2B5EF4-FFF2-40B4-BE49-F238E27FC236}">
                  <a16:creationId xmlns:a16="http://schemas.microsoft.com/office/drawing/2014/main" id="{A25CB2D2-E825-5990-B1D8-5DB8F6AD8443}"/>
                </a:ext>
              </a:extLst>
            </p:cNvPr>
            <p:cNvSpPr>
              <a:spLocks noChangeShapeType="1"/>
            </p:cNvSpPr>
            <p:nvPr/>
          </p:nvSpPr>
          <p:spPr bwMode="auto">
            <a:xfrm flipV="1">
              <a:off x="3190835" y="2983113"/>
              <a:ext cx="756476" cy="1"/>
            </a:xfrm>
            <a:prstGeom prst="line">
              <a:avLst/>
            </a:prstGeom>
            <a:noFill/>
            <a:ln w="57150">
              <a:solidFill>
                <a:srgbClr val="0000FF"/>
              </a:solidFill>
              <a:round/>
              <a:headEnd/>
              <a:tailEnd/>
            </a:ln>
          </p:spPr>
          <p:txBody>
            <a:bodyPr/>
            <a:lstStyle/>
            <a:p>
              <a:endParaRPr lang="en-US"/>
            </a:p>
          </p:txBody>
        </p:sp>
        <p:sp>
          <p:nvSpPr>
            <p:cNvPr id="46" name="Line 93">
              <a:extLst>
                <a:ext uri="{FF2B5EF4-FFF2-40B4-BE49-F238E27FC236}">
                  <a16:creationId xmlns:a16="http://schemas.microsoft.com/office/drawing/2014/main" id="{BB9F9C08-C8C7-C9CF-9AFD-7D272E7C6A78}"/>
                </a:ext>
              </a:extLst>
            </p:cNvPr>
            <p:cNvSpPr>
              <a:spLocks noChangeShapeType="1"/>
            </p:cNvSpPr>
            <p:nvPr/>
          </p:nvSpPr>
          <p:spPr bwMode="auto">
            <a:xfrm flipV="1">
              <a:off x="2438391" y="1663699"/>
              <a:ext cx="0" cy="503467"/>
            </a:xfrm>
            <a:prstGeom prst="line">
              <a:avLst/>
            </a:prstGeom>
            <a:noFill/>
            <a:ln w="57150">
              <a:solidFill>
                <a:srgbClr val="0000FF"/>
              </a:solidFill>
              <a:round/>
              <a:headEnd/>
              <a:tailEnd/>
            </a:ln>
          </p:spPr>
          <p:txBody>
            <a:bodyPr/>
            <a:lstStyle/>
            <a:p>
              <a:endParaRPr lang="en-US"/>
            </a:p>
          </p:txBody>
        </p:sp>
        <p:sp>
          <p:nvSpPr>
            <p:cNvPr id="47" name="Line 94">
              <a:extLst>
                <a:ext uri="{FF2B5EF4-FFF2-40B4-BE49-F238E27FC236}">
                  <a16:creationId xmlns:a16="http://schemas.microsoft.com/office/drawing/2014/main" id="{7EC22F3B-41A2-DB15-9428-AC56EB53A5C7}"/>
                </a:ext>
              </a:extLst>
            </p:cNvPr>
            <p:cNvSpPr>
              <a:spLocks noChangeShapeType="1"/>
            </p:cNvSpPr>
            <p:nvPr/>
          </p:nvSpPr>
          <p:spPr bwMode="auto">
            <a:xfrm>
              <a:off x="2438401" y="2159238"/>
              <a:ext cx="762000" cy="0"/>
            </a:xfrm>
            <a:prstGeom prst="line">
              <a:avLst/>
            </a:prstGeom>
            <a:noFill/>
            <a:ln w="57150">
              <a:solidFill>
                <a:srgbClr val="0000FF"/>
              </a:solidFill>
              <a:round/>
              <a:headEnd/>
              <a:tailEnd/>
            </a:ln>
          </p:spPr>
          <p:txBody>
            <a:bodyPr/>
            <a:lstStyle/>
            <a:p>
              <a:endParaRPr lang="en-US" dirty="0"/>
            </a:p>
          </p:txBody>
        </p:sp>
        <p:sp>
          <p:nvSpPr>
            <p:cNvPr id="48" name="Line 93">
              <a:extLst>
                <a:ext uri="{FF2B5EF4-FFF2-40B4-BE49-F238E27FC236}">
                  <a16:creationId xmlns:a16="http://schemas.microsoft.com/office/drawing/2014/main" id="{7AF79B9D-6281-6E20-E8E5-FE9F5D36B68E}"/>
                </a:ext>
              </a:extLst>
            </p:cNvPr>
            <p:cNvSpPr>
              <a:spLocks noChangeShapeType="1"/>
            </p:cNvSpPr>
            <p:nvPr/>
          </p:nvSpPr>
          <p:spPr bwMode="auto">
            <a:xfrm flipV="1">
              <a:off x="2428834" y="1676404"/>
              <a:ext cx="9566" cy="4223534"/>
            </a:xfrm>
            <a:prstGeom prst="line">
              <a:avLst/>
            </a:prstGeom>
            <a:noFill/>
            <a:ln w="12700">
              <a:solidFill>
                <a:schemeClr val="tx1"/>
              </a:solidFill>
              <a:prstDash val="dash"/>
              <a:round/>
              <a:headEnd/>
              <a:tailEnd/>
            </a:ln>
          </p:spPr>
          <p:txBody>
            <a:bodyPr/>
            <a:lstStyle/>
            <a:p>
              <a:endParaRPr lang="en-US"/>
            </a:p>
          </p:txBody>
        </p:sp>
        <p:sp>
          <p:nvSpPr>
            <p:cNvPr id="49" name="Line 93">
              <a:extLst>
                <a:ext uri="{FF2B5EF4-FFF2-40B4-BE49-F238E27FC236}">
                  <a16:creationId xmlns:a16="http://schemas.microsoft.com/office/drawing/2014/main" id="{7C8A09BE-9F14-9596-A9DA-6BED1A5AEEC3}"/>
                </a:ext>
              </a:extLst>
            </p:cNvPr>
            <p:cNvSpPr>
              <a:spLocks noChangeShapeType="1"/>
            </p:cNvSpPr>
            <p:nvPr/>
          </p:nvSpPr>
          <p:spPr bwMode="auto">
            <a:xfrm flipH="1" flipV="1">
              <a:off x="3195640" y="2177259"/>
              <a:ext cx="4760" cy="3690141"/>
            </a:xfrm>
            <a:prstGeom prst="line">
              <a:avLst/>
            </a:prstGeom>
            <a:noFill/>
            <a:ln w="12700">
              <a:solidFill>
                <a:schemeClr val="tx1"/>
              </a:solidFill>
              <a:prstDash val="dash"/>
              <a:round/>
              <a:headEnd/>
              <a:tailEnd/>
            </a:ln>
          </p:spPr>
          <p:txBody>
            <a:bodyPr/>
            <a:lstStyle/>
            <a:p>
              <a:endParaRPr lang="en-US" dirty="0"/>
            </a:p>
          </p:txBody>
        </p:sp>
        <p:sp>
          <p:nvSpPr>
            <p:cNvPr id="50" name="Line 93">
              <a:extLst>
                <a:ext uri="{FF2B5EF4-FFF2-40B4-BE49-F238E27FC236}">
                  <a16:creationId xmlns:a16="http://schemas.microsoft.com/office/drawing/2014/main" id="{817B64F6-14FD-B9AF-EB6B-A4EE7BFCE16D}"/>
                </a:ext>
              </a:extLst>
            </p:cNvPr>
            <p:cNvSpPr>
              <a:spLocks noChangeShapeType="1"/>
            </p:cNvSpPr>
            <p:nvPr/>
          </p:nvSpPr>
          <p:spPr bwMode="auto">
            <a:xfrm flipV="1">
              <a:off x="3972231" y="2940977"/>
              <a:ext cx="9565" cy="2958959"/>
            </a:xfrm>
            <a:prstGeom prst="line">
              <a:avLst/>
            </a:prstGeom>
            <a:noFill/>
            <a:ln w="12700">
              <a:solidFill>
                <a:schemeClr val="tx1"/>
              </a:solidFill>
              <a:prstDash val="dash"/>
              <a:round/>
              <a:headEnd/>
              <a:tailEnd/>
            </a:ln>
          </p:spPr>
          <p:txBody>
            <a:bodyPr/>
            <a:lstStyle/>
            <a:p>
              <a:endParaRPr lang="en-US"/>
            </a:p>
          </p:txBody>
        </p:sp>
        <p:sp>
          <p:nvSpPr>
            <p:cNvPr id="51" name="Line 93">
              <a:extLst>
                <a:ext uri="{FF2B5EF4-FFF2-40B4-BE49-F238E27FC236}">
                  <a16:creationId xmlns:a16="http://schemas.microsoft.com/office/drawing/2014/main" id="{E092ADB9-8FA0-EE42-D6FB-EAB046DB08DA}"/>
                </a:ext>
              </a:extLst>
            </p:cNvPr>
            <p:cNvSpPr>
              <a:spLocks noChangeShapeType="1"/>
            </p:cNvSpPr>
            <p:nvPr/>
          </p:nvSpPr>
          <p:spPr bwMode="auto">
            <a:xfrm flipV="1">
              <a:off x="1581460" y="2150692"/>
              <a:ext cx="1609375" cy="14367"/>
            </a:xfrm>
            <a:prstGeom prst="line">
              <a:avLst/>
            </a:prstGeom>
            <a:noFill/>
            <a:ln w="12700">
              <a:solidFill>
                <a:schemeClr val="tx1"/>
              </a:solidFill>
              <a:prstDash val="dash"/>
              <a:round/>
              <a:headEnd/>
              <a:tailEnd/>
            </a:ln>
          </p:spPr>
          <p:txBody>
            <a:bodyPr/>
            <a:lstStyle/>
            <a:p>
              <a:endParaRPr lang="en-US"/>
            </a:p>
          </p:txBody>
        </p:sp>
        <p:sp>
          <p:nvSpPr>
            <p:cNvPr id="52" name="Line 93">
              <a:extLst>
                <a:ext uri="{FF2B5EF4-FFF2-40B4-BE49-F238E27FC236}">
                  <a16:creationId xmlns:a16="http://schemas.microsoft.com/office/drawing/2014/main" id="{D463B407-BD3A-E487-6875-8ADD6351EE76}"/>
                </a:ext>
              </a:extLst>
            </p:cNvPr>
            <p:cNvSpPr>
              <a:spLocks noChangeShapeType="1"/>
            </p:cNvSpPr>
            <p:nvPr/>
          </p:nvSpPr>
          <p:spPr bwMode="auto">
            <a:xfrm flipV="1">
              <a:off x="1581460" y="2953553"/>
              <a:ext cx="2380940" cy="18247"/>
            </a:xfrm>
            <a:prstGeom prst="line">
              <a:avLst/>
            </a:prstGeom>
            <a:noFill/>
            <a:ln w="12700">
              <a:solidFill>
                <a:schemeClr val="tx1"/>
              </a:solidFill>
              <a:prstDash val="dash"/>
              <a:round/>
              <a:headEnd/>
              <a:tailEnd/>
            </a:ln>
          </p:spPr>
          <p:txBody>
            <a:bodyPr/>
            <a:lstStyle/>
            <a:p>
              <a:endParaRPr lang="en-US"/>
            </a:p>
          </p:txBody>
        </p:sp>
        <p:sp>
          <p:nvSpPr>
            <p:cNvPr id="53" name="Line 93">
              <a:extLst>
                <a:ext uri="{FF2B5EF4-FFF2-40B4-BE49-F238E27FC236}">
                  <a16:creationId xmlns:a16="http://schemas.microsoft.com/office/drawing/2014/main" id="{0AB8FDA5-FD93-C9B6-2E95-E7FFE5D1BB22}"/>
                </a:ext>
              </a:extLst>
            </p:cNvPr>
            <p:cNvSpPr>
              <a:spLocks noChangeShapeType="1"/>
            </p:cNvSpPr>
            <p:nvPr/>
          </p:nvSpPr>
          <p:spPr bwMode="auto">
            <a:xfrm flipV="1">
              <a:off x="1607739" y="3505200"/>
              <a:ext cx="3162934" cy="11313"/>
            </a:xfrm>
            <a:prstGeom prst="line">
              <a:avLst/>
            </a:prstGeom>
            <a:noFill/>
            <a:ln w="12700">
              <a:solidFill>
                <a:schemeClr val="tx1"/>
              </a:solidFill>
              <a:prstDash val="dash"/>
              <a:round/>
              <a:headEnd/>
              <a:tailEnd/>
            </a:ln>
          </p:spPr>
          <p:txBody>
            <a:bodyPr/>
            <a:lstStyle/>
            <a:p>
              <a:endParaRPr lang="en-US"/>
            </a:p>
          </p:txBody>
        </p:sp>
      </p:grpSp>
      <p:sp>
        <p:nvSpPr>
          <p:cNvPr id="2" name="Footer Placeholder 1">
            <a:extLst>
              <a:ext uri="{FF2B5EF4-FFF2-40B4-BE49-F238E27FC236}">
                <a16:creationId xmlns:a16="http://schemas.microsoft.com/office/drawing/2014/main" id="{4F51C636-178E-BABC-2092-D80559BA902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924205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left)">
                                      <p:cBhvr>
                                        <p:cTn id="7" dur="500"/>
                                        <p:tgtEl>
                                          <p:spTgt spid="20">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animEffect transition="in" filter="wipe(left)">
                                      <p:cBhvr>
                                        <p:cTn id="11" dur="500"/>
                                        <p:tgtEl>
                                          <p:spTgt spid="20">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0">
                                            <p:txEl>
                                              <p:pRg st="3" end="3"/>
                                            </p:txEl>
                                          </p:spTgt>
                                        </p:tgtEl>
                                        <p:attrNameLst>
                                          <p:attrName>style.visibility</p:attrName>
                                        </p:attrNameLst>
                                      </p:cBhvr>
                                      <p:to>
                                        <p:strVal val="visible"/>
                                      </p:to>
                                    </p:set>
                                    <p:animEffect transition="in" filter="wipe(left)">
                                      <p:cBhvr>
                                        <p:cTn id="15" dur="500"/>
                                        <p:tgtEl>
                                          <p:spTgt spid="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6"/>
          <p:cNvSpPr>
            <a:spLocks noGrp="1" noChangeArrowheads="1"/>
          </p:cNvSpPr>
          <p:nvPr>
            <p:ph type="title"/>
          </p:nvPr>
        </p:nvSpPr>
        <p:spPr/>
        <p:txBody>
          <a:bodyPr/>
          <a:lstStyle/>
          <a:p>
            <a:pPr eaLnBrk="1" hangingPunct="1"/>
            <a:r>
              <a:rPr lang="en-US" dirty="0"/>
              <a:t>EXAMPLE 1C: </a:t>
            </a:r>
            <a:r>
              <a:rPr lang="en-US" dirty="0">
                <a:solidFill>
                  <a:schemeClr val="tx1"/>
                </a:solidFill>
              </a:rPr>
              <a:t>The demand curve – 2 </a:t>
            </a:r>
          </a:p>
        </p:txBody>
      </p:sp>
      <p:sp>
        <p:nvSpPr>
          <p:cNvPr id="3078" name="Rectangle 7"/>
          <p:cNvSpPr>
            <a:spLocks noGrp="1" noChangeArrowheads="1"/>
          </p:cNvSpPr>
          <p:nvPr>
            <p:ph idx="1"/>
          </p:nvPr>
        </p:nvSpPr>
        <p:spPr>
          <a:xfrm>
            <a:off x="5600708" y="978098"/>
            <a:ext cx="3424651" cy="5317927"/>
          </a:xfrm>
        </p:spPr>
        <p:txBody>
          <a:bodyPr>
            <a:noAutofit/>
          </a:bodyPr>
          <a:lstStyle/>
          <a:p>
            <a:pPr marL="0" indent="0" eaLnBrk="1" hangingPunct="1">
              <a:lnSpc>
                <a:spcPct val="125000"/>
              </a:lnSpc>
              <a:buFont typeface="Wingdings" pitchFamily="2" charset="2"/>
              <a:buNone/>
            </a:pPr>
            <a:r>
              <a:rPr lang="en-US" sz="3000" dirty="0"/>
              <a:t>At any </a:t>
            </a:r>
            <a:r>
              <a:rPr lang="en-US" sz="3000" b="1" i="1" dirty="0"/>
              <a:t>Q</a:t>
            </a:r>
            <a:r>
              <a:rPr lang="en-US" sz="3000" dirty="0"/>
              <a:t>, the height of the </a:t>
            </a:r>
            <a:r>
              <a:rPr lang="en-US" sz="3000" b="1" i="1" dirty="0"/>
              <a:t>D</a:t>
            </a:r>
            <a:r>
              <a:rPr lang="en-US" sz="3000" dirty="0"/>
              <a:t> curve is the WTP of the </a:t>
            </a:r>
            <a:r>
              <a:rPr lang="en-US" sz="3000" b="1" i="1" dirty="0">
                <a:solidFill>
                  <a:srgbClr val="C00000"/>
                </a:solidFill>
              </a:rPr>
              <a:t>marginal buyer</a:t>
            </a:r>
            <a:r>
              <a:rPr lang="en-US" sz="3000" dirty="0">
                <a:solidFill>
                  <a:srgbClr val="C00000"/>
                </a:solidFill>
              </a:rPr>
              <a:t>,</a:t>
            </a:r>
            <a:r>
              <a:rPr lang="en-US" sz="3000" dirty="0"/>
              <a:t> </a:t>
            </a:r>
            <a:r>
              <a:rPr lang="en-US" sz="3000" dirty="0">
                <a:solidFill>
                  <a:srgbClr val="4E519E"/>
                </a:solidFill>
              </a:rPr>
              <a:t>the buyer who would leave the market if </a:t>
            </a:r>
            <a:r>
              <a:rPr lang="en-US" sz="3000" b="1" i="1" dirty="0">
                <a:solidFill>
                  <a:srgbClr val="4E519E"/>
                </a:solidFill>
              </a:rPr>
              <a:t>P</a:t>
            </a:r>
            <a:r>
              <a:rPr lang="en-US" sz="3000" dirty="0">
                <a:solidFill>
                  <a:srgbClr val="4E519E"/>
                </a:solidFill>
              </a:rPr>
              <a:t> were any higher.</a:t>
            </a:r>
          </a:p>
        </p:txBody>
      </p:sp>
      <p:sp>
        <p:nvSpPr>
          <p:cNvPr id="8" name="Slide Number Placeholder 7"/>
          <p:cNvSpPr>
            <a:spLocks noGrp="1"/>
          </p:cNvSpPr>
          <p:nvPr>
            <p:ph type="sldNum" sz="quarter" idx="10"/>
          </p:nvPr>
        </p:nvSpPr>
        <p:spPr/>
        <p:txBody>
          <a:bodyPr/>
          <a:lstStyle/>
          <a:p>
            <a:pPr>
              <a:defRPr/>
            </a:pPr>
            <a:fld id="{2F37425F-5E17-4209-B948-B5CE2119E408}" type="slidenum">
              <a:rPr lang="en-US" smtClean="0"/>
              <a:pPr>
                <a:defRPr/>
              </a:pPr>
              <a:t>9</a:t>
            </a:fld>
            <a:endParaRPr lang="en-US" dirty="0"/>
          </a:p>
        </p:txBody>
      </p:sp>
      <p:grpSp>
        <p:nvGrpSpPr>
          <p:cNvPr id="3" name="Group 20"/>
          <p:cNvGrpSpPr>
            <a:grpSpLocks/>
          </p:cNvGrpSpPr>
          <p:nvPr/>
        </p:nvGrpSpPr>
        <p:grpSpPr bwMode="auto">
          <a:xfrm>
            <a:off x="1960563" y="966786"/>
            <a:ext cx="2809874" cy="652463"/>
            <a:chOff x="1235" y="871"/>
            <a:chExt cx="1770" cy="411"/>
          </a:xfrm>
          <a:noFill/>
        </p:grpSpPr>
        <p:sp>
          <p:nvSpPr>
            <p:cNvPr id="3092" name="Arc 21"/>
            <p:cNvSpPr>
              <a:spLocks/>
            </p:cNvSpPr>
            <p:nvPr/>
          </p:nvSpPr>
          <p:spPr bwMode="auto">
            <a:xfrm flipV="1">
              <a:off x="1529" y="1157"/>
              <a:ext cx="618" cy="125"/>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grpFill/>
            <a:ln w="19050">
              <a:solidFill>
                <a:srgbClr val="4E519E"/>
              </a:solidFill>
              <a:round/>
              <a:headEnd type="triangle" w="lg" len="med"/>
              <a:tailEnd type="none" w="lg" len="med"/>
            </a:ln>
          </p:spPr>
          <p:txBody>
            <a:bodyPr wrap="none" anchor="ctr"/>
            <a:lstStyle/>
            <a:p>
              <a:endParaRPr lang="en-US">
                <a:solidFill>
                  <a:srgbClr val="4E519E"/>
                </a:solidFill>
                <a:latin typeface="Arial"/>
                <a:cs typeface="Arial"/>
              </a:endParaRPr>
            </a:p>
          </p:txBody>
        </p:sp>
        <p:sp>
          <p:nvSpPr>
            <p:cNvPr id="3093" name="Text Box 22"/>
            <p:cNvSpPr txBox="1">
              <a:spLocks noChangeArrowheads="1"/>
            </p:cNvSpPr>
            <p:nvPr/>
          </p:nvSpPr>
          <p:spPr bwMode="auto">
            <a:xfrm>
              <a:off x="1235" y="871"/>
              <a:ext cx="1770" cy="301"/>
            </a:xfrm>
            <a:prstGeom prst="rect">
              <a:avLst/>
            </a:prstGeom>
            <a:solidFill>
              <a:srgbClr val="E3F0FA"/>
            </a:solid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Fatima’s WTP</a:t>
              </a:r>
            </a:p>
          </p:txBody>
        </p:sp>
      </p:grpSp>
      <p:grpSp>
        <p:nvGrpSpPr>
          <p:cNvPr id="4" name="Group 23"/>
          <p:cNvGrpSpPr>
            <a:grpSpLocks/>
          </p:cNvGrpSpPr>
          <p:nvPr/>
        </p:nvGrpSpPr>
        <p:grpSpPr bwMode="auto">
          <a:xfrm>
            <a:off x="3268663" y="1600200"/>
            <a:ext cx="2217738" cy="862013"/>
            <a:chOff x="2149" y="1284"/>
            <a:chExt cx="1397" cy="543"/>
          </a:xfrm>
          <a:noFill/>
        </p:grpSpPr>
        <p:sp>
          <p:nvSpPr>
            <p:cNvPr id="3090" name="Arc 24"/>
            <p:cNvSpPr>
              <a:spLocks/>
            </p:cNvSpPr>
            <p:nvPr/>
          </p:nvSpPr>
          <p:spPr bwMode="auto">
            <a:xfrm flipV="1">
              <a:off x="2149" y="1596"/>
              <a:ext cx="427" cy="85"/>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grpFill/>
            <a:ln w="19050">
              <a:solidFill>
                <a:srgbClr val="4E519E"/>
              </a:solidFill>
              <a:round/>
              <a:headEnd type="triangle" w="lg" len="med"/>
              <a:tailEnd type="none" w="lg" len="med"/>
            </a:ln>
          </p:spPr>
          <p:txBody>
            <a:bodyPr wrap="none" anchor="ctr"/>
            <a:lstStyle/>
            <a:p>
              <a:endParaRPr lang="en-US">
                <a:solidFill>
                  <a:srgbClr val="4E519E"/>
                </a:solidFill>
                <a:latin typeface="Arial"/>
                <a:cs typeface="Arial"/>
              </a:endParaRPr>
            </a:p>
          </p:txBody>
        </p:sp>
        <p:sp>
          <p:nvSpPr>
            <p:cNvPr id="3091" name="Text Box 25"/>
            <p:cNvSpPr txBox="1">
              <a:spLocks noChangeArrowheads="1"/>
            </p:cNvSpPr>
            <p:nvPr/>
          </p:nvSpPr>
          <p:spPr bwMode="auto">
            <a:xfrm>
              <a:off x="2584" y="1284"/>
              <a:ext cx="962" cy="543"/>
            </a:xfrm>
            <a:prstGeom prst="rect">
              <a:avLst/>
            </a:prstGeom>
            <a:solidFill>
              <a:srgbClr val="E3F0FA"/>
            </a:solid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Alexis’ WTP</a:t>
              </a:r>
            </a:p>
          </p:txBody>
        </p:sp>
      </p:grpSp>
      <p:grpSp>
        <p:nvGrpSpPr>
          <p:cNvPr id="9" name="Group 8">
            <a:extLst>
              <a:ext uri="{FF2B5EF4-FFF2-40B4-BE49-F238E27FC236}">
                <a16:creationId xmlns:a16="http://schemas.microsoft.com/office/drawing/2014/main" id="{EA17504B-29B5-EDFA-574F-28A08C5E406E}"/>
              </a:ext>
            </a:extLst>
          </p:cNvPr>
          <p:cNvGrpSpPr/>
          <p:nvPr/>
        </p:nvGrpSpPr>
        <p:grpSpPr>
          <a:xfrm>
            <a:off x="66431" y="685800"/>
            <a:ext cx="5897807" cy="6223000"/>
            <a:chOff x="66431" y="685800"/>
            <a:chExt cx="5897807" cy="6223000"/>
          </a:xfrm>
        </p:grpSpPr>
        <p:graphicFrame>
          <p:nvGraphicFramePr>
            <p:cNvPr id="30" name="Object 66">
              <a:extLst>
                <a:ext uri="{FF2B5EF4-FFF2-40B4-BE49-F238E27FC236}">
                  <a16:creationId xmlns:a16="http://schemas.microsoft.com/office/drawing/2014/main" id="{7ADBA0CA-F59F-8F34-0BF8-59DD2CB537D4}"/>
                </a:ext>
              </a:extLst>
            </p:cNvPr>
            <p:cNvGraphicFramePr>
              <a:graphicFrameLocks noChangeAspect="1"/>
            </p:cNvGraphicFramePr>
            <p:nvPr>
              <p:extLst>
                <p:ext uri="{D42A27DB-BD31-4B8C-83A1-F6EECF244321}">
                  <p14:modId xmlns:p14="http://schemas.microsoft.com/office/powerpoint/2010/main" val="1940410342"/>
                </p:ext>
              </p:extLst>
            </p:nvPr>
          </p:nvGraphicFramePr>
          <p:xfrm>
            <a:off x="214313" y="685800"/>
            <a:ext cx="5653087" cy="6223000"/>
          </p:xfrm>
          <a:graphic>
            <a:graphicData uri="http://schemas.openxmlformats.org/presentationml/2006/ole">
              <mc:AlternateContent xmlns:mc="http://schemas.openxmlformats.org/markup-compatibility/2006">
                <mc:Choice xmlns:v="urn:schemas-microsoft-com:vml" Requires="v">
                  <p:oleObj name="Worksheet" r:id="rId3" imgW="4534118" imgH="5730240" progId="Excel.Sheet.8">
                    <p:embed/>
                  </p:oleObj>
                </mc:Choice>
                <mc:Fallback>
                  <p:oleObj name="Worksheet" r:id="rId3" imgW="4534118" imgH="5730240" progId="Excel.Sheet.8">
                    <p:embed/>
                    <p:pic>
                      <p:nvPicPr>
                        <p:cNvPr id="30" name="Object 66">
                          <a:extLst>
                            <a:ext uri="{FF2B5EF4-FFF2-40B4-BE49-F238E27FC236}">
                              <a16:creationId xmlns:a16="http://schemas.microsoft.com/office/drawing/2014/main" id="{7ADBA0CA-F59F-8F34-0BF8-59DD2CB537D4}"/>
                            </a:ext>
                          </a:extLst>
                        </p:cNvPr>
                        <p:cNvPicPr>
                          <a:picLocks noChangeAspect="1" noChangeArrowheads="1"/>
                        </p:cNvPicPr>
                        <p:nvPr/>
                      </p:nvPicPr>
                      <p:blipFill>
                        <a:blip r:embed="rId4"/>
                        <a:srcRect/>
                        <a:stretch>
                          <a:fillRect/>
                        </a:stretch>
                      </p:blipFill>
                      <p:spPr bwMode="auto">
                        <a:xfrm>
                          <a:off x="214313" y="685800"/>
                          <a:ext cx="5653087" cy="6223000"/>
                        </a:xfrm>
                        <a:prstGeom prst="rect">
                          <a:avLst/>
                        </a:prstGeom>
                        <a:noFill/>
                      </p:spPr>
                    </p:pic>
                  </p:oleObj>
                </mc:Fallback>
              </mc:AlternateContent>
            </a:graphicData>
          </a:graphic>
        </p:graphicFrame>
        <p:sp>
          <p:nvSpPr>
            <p:cNvPr id="31" name="Line 69">
              <a:extLst>
                <a:ext uri="{FF2B5EF4-FFF2-40B4-BE49-F238E27FC236}">
                  <a16:creationId xmlns:a16="http://schemas.microsoft.com/office/drawing/2014/main" id="{192CD4DD-22EA-C870-0500-D2C270358445}"/>
                </a:ext>
              </a:extLst>
            </p:cNvPr>
            <p:cNvSpPr>
              <a:spLocks noChangeShapeType="1"/>
            </p:cNvSpPr>
            <p:nvPr/>
          </p:nvSpPr>
          <p:spPr bwMode="auto">
            <a:xfrm flipV="1">
              <a:off x="1621879" y="1076325"/>
              <a:ext cx="0" cy="587375"/>
            </a:xfrm>
            <a:prstGeom prst="line">
              <a:avLst/>
            </a:prstGeom>
            <a:noFill/>
            <a:ln w="57150">
              <a:solidFill>
                <a:srgbClr val="0000FF"/>
              </a:solidFill>
              <a:round/>
              <a:headEnd/>
              <a:tailEnd/>
            </a:ln>
          </p:spPr>
          <p:txBody>
            <a:bodyPr/>
            <a:lstStyle/>
            <a:p>
              <a:endParaRPr lang="en-US"/>
            </a:p>
          </p:txBody>
        </p:sp>
        <p:sp>
          <p:nvSpPr>
            <p:cNvPr id="32" name="Line 70">
              <a:extLst>
                <a:ext uri="{FF2B5EF4-FFF2-40B4-BE49-F238E27FC236}">
                  <a16:creationId xmlns:a16="http://schemas.microsoft.com/office/drawing/2014/main" id="{ADB54A69-2689-68C7-B3A6-2DE18CACCC9D}"/>
                </a:ext>
              </a:extLst>
            </p:cNvPr>
            <p:cNvSpPr>
              <a:spLocks noChangeShapeType="1"/>
            </p:cNvSpPr>
            <p:nvPr/>
          </p:nvSpPr>
          <p:spPr bwMode="auto">
            <a:xfrm flipV="1">
              <a:off x="1613668" y="1651876"/>
              <a:ext cx="824723" cy="0"/>
            </a:xfrm>
            <a:prstGeom prst="line">
              <a:avLst/>
            </a:prstGeom>
            <a:noFill/>
            <a:ln w="57150">
              <a:solidFill>
                <a:srgbClr val="0000FF"/>
              </a:solidFill>
              <a:round/>
              <a:headEnd/>
              <a:tailEnd/>
            </a:ln>
          </p:spPr>
          <p:txBody>
            <a:bodyPr/>
            <a:lstStyle/>
            <a:p>
              <a:endParaRPr lang="en-US"/>
            </a:p>
          </p:txBody>
        </p:sp>
        <p:grpSp>
          <p:nvGrpSpPr>
            <p:cNvPr id="7" name="Group 6">
              <a:extLst>
                <a:ext uri="{FF2B5EF4-FFF2-40B4-BE49-F238E27FC236}">
                  <a16:creationId xmlns:a16="http://schemas.microsoft.com/office/drawing/2014/main" id="{A6C550FB-116D-C89C-EAF6-4E7C72EF0EEE}"/>
                </a:ext>
              </a:extLst>
            </p:cNvPr>
            <p:cNvGrpSpPr/>
            <p:nvPr/>
          </p:nvGrpSpPr>
          <p:grpSpPr>
            <a:xfrm>
              <a:off x="66431" y="850899"/>
              <a:ext cx="5897807" cy="5321301"/>
              <a:chOff x="66431" y="850899"/>
              <a:chExt cx="5897807" cy="5321301"/>
            </a:xfrm>
          </p:grpSpPr>
          <p:sp>
            <p:nvSpPr>
              <p:cNvPr id="3080" name="Text Box 9"/>
              <p:cNvSpPr txBox="1">
                <a:spLocks noChangeArrowheads="1"/>
              </p:cNvSpPr>
              <p:nvPr/>
            </p:nvSpPr>
            <p:spPr bwMode="auto">
              <a:xfrm>
                <a:off x="5489575" y="5653088"/>
                <a:ext cx="474663" cy="519112"/>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sp>
            <p:nvSpPr>
              <p:cNvPr id="33" name="Text Box 67">
                <a:extLst>
                  <a:ext uri="{FF2B5EF4-FFF2-40B4-BE49-F238E27FC236}">
                    <a16:creationId xmlns:a16="http://schemas.microsoft.com/office/drawing/2014/main" id="{237593C5-23FD-2B91-CD55-0BD706B5DD41}"/>
                  </a:ext>
                </a:extLst>
              </p:cNvPr>
              <p:cNvSpPr txBox="1">
                <a:spLocks noChangeArrowheads="1"/>
              </p:cNvSpPr>
              <p:nvPr/>
            </p:nvSpPr>
            <p:spPr bwMode="auto">
              <a:xfrm>
                <a:off x="66431" y="850899"/>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grpSp>
        <p:sp>
          <p:nvSpPr>
            <p:cNvPr id="35" name="Line 84">
              <a:extLst>
                <a:ext uri="{FF2B5EF4-FFF2-40B4-BE49-F238E27FC236}">
                  <a16:creationId xmlns:a16="http://schemas.microsoft.com/office/drawing/2014/main" id="{22B683AB-B8F5-4133-F77F-28FF4F0A4230}"/>
                </a:ext>
              </a:extLst>
            </p:cNvPr>
            <p:cNvSpPr>
              <a:spLocks noChangeShapeType="1"/>
            </p:cNvSpPr>
            <p:nvPr/>
          </p:nvSpPr>
          <p:spPr bwMode="auto">
            <a:xfrm flipH="1" flipV="1">
              <a:off x="4770674" y="3537745"/>
              <a:ext cx="1" cy="2362200"/>
            </a:xfrm>
            <a:prstGeom prst="line">
              <a:avLst/>
            </a:prstGeom>
            <a:noFill/>
            <a:ln w="57150">
              <a:solidFill>
                <a:srgbClr val="0000FF"/>
              </a:solidFill>
              <a:round/>
              <a:headEnd/>
              <a:tailEnd/>
            </a:ln>
          </p:spPr>
          <p:txBody>
            <a:bodyPr/>
            <a:lstStyle/>
            <a:p>
              <a:endParaRPr lang="en-US"/>
            </a:p>
          </p:txBody>
        </p:sp>
        <p:sp>
          <p:nvSpPr>
            <p:cNvPr id="36" name="Line 87">
              <a:extLst>
                <a:ext uri="{FF2B5EF4-FFF2-40B4-BE49-F238E27FC236}">
                  <a16:creationId xmlns:a16="http://schemas.microsoft.com/office/drawing/2014/main" id="{76BFCDEF-2B68-26F1-90B0-9ACB59C280EA}"/>
                </a:ext>
              </a:extLst>
            </p:cNvPr>
            <p:cNvSpPr>
              <a:spLocks noChangeShapeType="1"/>
            </p:cNvSpPr>
            <p:nvPr/>
          </p:nvSpPr>
          <p:spPr bwMode="auto">
            <a:xfrm flipH="1" flipV="1">
              <a:off x="3959638" y="2940978"/>
              <a:ext cx="2762" cy="576801"/>
            </a:xfrm>
            <a:prstGeom prst="line">
              <a:avLst/>
            </a:prstGeom>
            <a:noFill/>
            <a:ln w="57150">
              <a:solidFill>
                <a:srgbClr val="0000FF"/>
              </a:solidFill>
              <a:round/>
              <a:headEnd/>
              <a:tailEnd/>
            </a:ln>
          </p:spPr>
          <p:txBody>
            <a:bodyPr/>
            <a:lstStyle/>
            <a:p>
              <a:endParaRPr lang="en-US"/>
            </a:p>
          </p:txBody>
        </p:sp>
        <p:sp>
          <p:nvSpPr>
            <p:cNvPr id="37" name="Line 88">
              <a:extLst>
                <a:ext uri="{FF2B5EF4-FFF2-40B4-BE49-F238E27FC236}">
                  <a16:creationId xmlns:a16="http://schemas.microsoft.com/office/drawing/2014/main" id="{2F583CE9-4918-FD04-E69D-EA28617D39F0}"/>
                </a:ext>
              </a:extLst>
            </p:cNvPr>
            <p:cNvSpPr>
              <a:spLocks noChangeShapeType="1"/>
            </p:cNvSpPr>
            <p:nvPr/>
          </p:nvSpPr>
          <p:spPr bwMode="auto">
            <a:xfrm>
              <a:off x="3962400" y="3505200"/>
              <a:ext cx="808274" cy="14277"/>
            </a:xfrm>
            <a:prstGeom prst="line">
              <a:avLst/>
            </a:prstGeom>
            <a:noFill/>
            <a:ln w="57150">
              <a:solidFill>
                <a:srgbClr val="0000FF"/>
              </a:solidFill>
              <a:round/>
              <a:headEnd/>
              <a:tailEnd/>
            </a:ln>
          </p:spPr>
          <p:txBody>
            <a:bodyPr/>
            <a:lstStyle/>
            <a:p>
              <a:endParaRPr lang="en-US"/>
            </a:p>
          </p:txBody>
        </p:sp>
        <p:sp>
          <p:nvSpPr>
            <p:cNvPr id="38" name="Line 90">
              <a:extLst>
                <a:ext uri="{FF2B5EF4-FFF2-40B4-BE49-F238E27FC236}">
                  <a16:creationId xmlns:a16="http://schemas.microsoft.com/office/drawing/2014/main" id="{F9F53E17-58F0-A93A-EA09-060E44661714}"/>
                </a:ext>
              </a:extLst>
            </p:cNvPr>
            <p:cNvSpPr>
              <a:spLocks noChangeShapeType="1"/>
            </p:cNvSpPr>
            <p:nvPr/>
          </p:nvSpPr>
          <p:spPr bwMode="auto">
            <a:xfrm flipV="1">
              <a:off x="3200400" y="2209800"/>
              <a:ext cx="0" cy="781050"/>
            </a:xfrm>
            <a:prstGeom prst="line">
              <a:avLst/>
            </a:prstGeom>
            <a:noFill/>
            <a:ln w="57150">
              <a:solidFill>
                <a:srgbClr val="0000FF"/>
              </a:solidFill>
              <a:round/>
              <a:headEnd/>
              <a:tailEnd/>
            </a:ln>
          </p:spPr>
          <p:txBody>
            <a:bodyPr/>
            <a:lstStyle/>
            <a:p>
              <a:endParaRPr lang="en-US"/>
            </a:p>
          </p:txBody>
        </p:sp>
        <p:sp>
          <p:nvSpPr>
            <p:cNvPr id="39" name="Line 91">
              <a:extLst>
                <a:ext uri="{FF2B5EF4-FFF2-40B4-BE49-F238E27FC236}">
                  <a16:creationId xmlns:a16="http://schemas.microsoft.com/office/drawing/2014/main" id="{25AA6E93-2805-6326-54CE-8E9BA755618C}"/>
                </a:ext>
              </a:extLst>
            </p:cNvPr>
            <p:cNvSpPr>
              <a:spLocks noChangeShapeType="1"/>
            </p:cNvSpPr>
            <p:nvPr/>
          </p:nvSpPr>
          <p:spPr bwMode="auto">
            <a:xfrm flipV="1">
              <a:off x="3190835" y="2983113"/>
              <a:ext cx="756476" cy="1"/>
            </a:xfrm>
            <a:prstGeom prst="line">
              <a:avLst/>
            </a:prstGeom>
            <a:noFill/>
            <a:ln w="57150">
              <a:solidFill>
                <a:srgbClr val="0000FF"/>
              </a:solidFill>
              <a:round/>
              <a:headEnd/>
              <a:tailEnd/>
            </a:ln>
          </p:spPr>
          <p:txBody>
            <a:bodyPr/>
            <a:lstStyle/>
            <a:p>
              <a:endParaRPr lang="en-US"/>
            </a:p>
          </p:txBody>
        </p:sp>
        <p:sp>
          <p:nvSpPr>
            <p:cNvPr id="40" name="Line 93">
              <a:extLst>
                <a:ext uri="{FF2B5EF4-FFF2-40B4-BE49-F238E27FC236}">
                  <a16:creationId xmlns:a16="http://schemas.microsoft.com/office/drawing/2014/main" id="{69F30930-EE63-8F9D-BEFA-A9A4524E85AE}"/>
                </a:ext>
              </a:extLst>
            </p:cNvPr>
            <p:cNvSpPr>
              <a:spLocks noChangeShapeType="1"/>
            </p:cNvSpPr>
            <p:nvPr/>
          </p:nvSpPr>
          <p:spPr bwMode="auto">
            <a:xfrm flipV="1">
              <a:off x="2438391" y="1600200"/>
              <a:ext cx="0" cy="620712"/>
            </a:xfrm>
            <a:prstGeom prst="line">
              <a:avLst/>
            </a:prstGeom>
            <a:noFill/>
            <a:ln w="57150">
              <a:solidFill>
                <a:srgbClr val="0000FF"/>
              </a:solidFill>
              <a:round/>
              <a:headEnd/>
              <a:tailEnd/>
            </a:ln>
          </p:spPr>
          <p:txBody>
            <a:bodyPr/>
            <a:lstStyle/>
            <a:p>
              <a:endParaRPr lang="en-US"/>
            </a:p>
          </p:txBody>
        </p:sp>
        <p:sp>
          <p:nvSpPr>
            <p:cNvPr id="41" name="Line 94">
              <a:extLst>
                <a:ext uri="{FF2B5EF4-FFF2-40B4-BE49-F238E27FC236}">
                  <a16:creationId xmlns:a16="http://schemas.microsoft.com/office/drawing/2014/main" id="{99EDCF64-3F8C-6F01-785B-6AFF304A6FA7}"/>
                </a:ext>
              </a:extLst>
            </p:cNvPr>
            <p:cNvSpPr>
              <a:spLocks noChangeShapeType="1"/>
            </p:cNvSpPr>
            <p:nvPr/>
          </p:nvSpPr>
          <p:spPr bwMode="auto">
            <a:xfrm>
              <a:off x="2438401" y="2209800"/>
              <a:ext cx="762000" cy="0"/>
            </a:xfrm>
            <a:prstGeom prst="line">
              <a:avLst/>
            </a:prstGeom>
            <a:noFill/>
            <a:ln w="57150">
              <a:solidFill>
                <a:srgbClr val="0000FF"/>
              </a:solidFill>
              <a:round/>
              <a:headEnd/>
              <a:tailEnd/>
            </a:ln>
          </p:spPr>
          <p:txBody>
            <a:bodyPr/>
            <a:lstStyle/>
            <a:p>
              <a:endParaRPr lang="en-US" dirty="0"/>
            </a:p>
          </p:txBody>
        </p:sp>
        <p:sp>
          <p:nvSpPr>
            <p:cNvPr id="42" name="Line 93">
              <a:extLst>
                <a:ext uri="{FF2B5EF4-FFF2-40B4-BE49-F238E27FC236}">
                  <a16:creationId xmlns:a16="http://schemas.microsoft.com/office/drawing/2014/main" id="{658B9D57-F72C-0246-98F6-7C9020901DA6}"/>
                </a:ext>
              </a:extLst>
            </p:cNvPr>
            <p:cNvSpPr>
              <a:spLocks noChangeShapeType="1"/>
            </p:cNvSpPr>
            <p:nvPr/>
          </p:nvSpPr>
          <p:spPr bwMode="auto">
            <a:xfrm flipV="1">
              <a:off x="2412281" y="1676404"/>
              <a:ext cx="9566" cy="4223534"/>
            </a:xfrm>
            <a:prstGeom prst="line">
              <a:avLst/>
            </a:prstGeom>
            <a:noFill/>
            <a:ln w="12700">
              <a:solidFill>
                <a:schemeClr val="tx1"/>
              </a:solidFill>
              <a:prstDash val="dash"/>
              <a:round/>
              <a:headEnd/>
              <a:tailEnd/>
            </a:ln>
          </p:spPr>
          <p:txBody>
            <a:bodyPr/>
            <a:lstStyle/>
            <a:p>
              <a:endParaRPr lang="en-US"/>
            </a:p>
          </p:txBody>
        </p:sp>
        <p:sp>
          <p:nvSpPr>
            <p:cNvPr id="43" name="Line 93">
              <a:extLst>
                <a:ext uri="{FF2B5EF4-FFF2-40B4-BE49-F238E27FC236}">
                  <a16:creationId xmlns:a16="http://schemas.microsoft.com/office/drawing/2014/main" id="{9ACEBBD1-9584-F4BD-EB26-AD6684070E60}"/>
                </a:ext>
              </a:extLst>
            </p:cNvPr>
            <p:cNvSpPr>
              <a:spLocks noChangeShapeType="1"/>
            </p:cNvSpPr>
            <p:nvPr/>
          </p:nvSpPr>
          <p:spPr bwMode="auto">
            <a:xfrm flipH="1" flipV="1">
              <a:off x="3186347" y="2185277"/>
              <a:ext cx="4760" cy="3690141"/>
            </a:xfrm>
            <a:prstGeom prst="line">
              <a:avLst/>
            </a:prstGeom>
            <a:noFill/>
            <a:ln w="12700">
              <a:solidFill>
                <a:schemeClr val="tx1"/>
              </a:solidFill>
              <a:prstDash val="dash"/>
              <a:round/>
              <a:headEnd/>
              <a:tailEnd/>
            </a:ln>
          </p:spPr>
          <p:txBody>
            <a:bodyPr/>
            <a:lstStyle/>
            <a:p>
              <a:endParaRPr lang="en-US"/>
            </a:p>
          </p:txBody>
        </p:sp>
        <p:sp>
          <p:nvSpPr>
            <p:cNvPr id="44" name="Line 93">
              <a:extLst>
                <a:ext uri="{FF2B5EF4-FFF2-40B4-BE49-F238E27FC236}">
                  <a16:creationId xmlns:a16="http://schemas.microsoft.com/office/drawing/2014/main" id="{7C86CAC1-50FA-97E8-3CE6-01344827675C}"/>
                </a:ext>
              </a:extLst>
            </p:cNvPr>
            <p:cNvSpPr>
              <a:spLocks noChangeShapeType="1"/>
            </p:cNvSpPr>
            <p:nvPr/>
          </p:nvSpPr>
          <p:spPr bwMode="auto">
            <a:xfrm flipH="1" flipV="1">
              <a:off x="3962399" y="2953598"/>
              <a:ext cx="15079" cy="2932059"/>
            </a:xfrm>
            <a:prstGeom prst="line">
              <a:avLst/>
            </a:prstGeom>
            <a:noFill/>
            <a:ln w="12700">
              <a:solidFill>
                <a:schemeClr val="tx1"/>
              </a:solidFill>
              <a:prstDash val="dash"/>
              <a:round/>
              <a:headEnd/>
              <a:tailEnd/>
            </a:ln>
          </p:spPr>
          <p:txBody>
            <a:bodyPr/>
            <a:lstStyle/>
            <a:p>
              <a:endParaRPr lang="en-US"/>
            </a:p>
          </p:txBody>
        </p:sp>
        <p:sp>
          <p:nvSpPr>
            <p:cNvPr id="45" name="Line 93">
              <a:extLst>
                <a:ext uri="{FF2B5EF4-FFF2-40B4-BE49-F238E27FC236}">
                  <a16:creationId xmlns:a16="http://schemas.microsoft.com/office/drawing/2014/main" id="{D1100E10-D7DF-9DA1-752E-FD247E888E2F}"/>
                </a:ext>
              </a:extLst>
            </p:cNvPr>
            <p:cNvSpPr>
              <a:spLocks noChangeShapeType="1"/>
            </p:cNvSpPr>
            <p:nvPr/>
          </p:nvSpPr>
          <p:spPr bwMode="auto">
            <a:xfrm flipV="1">
              <a:off x="1581460" y="2185277"/>
              <a:ext cx="1609375" cy="14367"/>
            </a:xfrm>
            <a:prstGeom prst="line">
              <a:avLst/>
            </a:prstGeom>
            <a:noFill/>
            <a:ln w="12700">
              <a:solidFill>
                <a:schemeClr val="tx1"/>
              </a:solidFill>
              <a:prstDash val="dash"/>
              <a:round/>
              <a:headEnd/>
              <a:tailEnd/>
            </a:ln>
          </p:spPr>
          <p:txBody>
            <a:bodyPr/>
            <a:lstStyle/>
            <a:p>
              <a:endParaRPr lang="en-US"/>
            </a:p>
          </p:txBody>
        </p:sp>
        <p:sp>
          <p:nvSpPr>
            <p:cNvPr id="46" name="Line 93">
              <a:extLst>
                <a:ext uri="{FF2B5EF4-FFF2-40B4-BE49-F238E27FC236}">
                  <a16:creationId xmlns:a16="http://schemas.microsoft.com/office/drawing/2014/main" id="{E84D942E-9788-3C19-2FFB-AC0A53EB7096}"/>
                </a:ext>
              </a:extLst>
            </p:cNvPr>
            <p:cNvSpPr>
              <a:spLocks noChangeShapeType="1"/>
            </p:cNvSpPr>
            <p:nvPr/>
          </p:nvSpPr>
          <p:spPr bwMode="auto">
            <a:xfrm flipV="1">
              <a:off x="1581460" y="2971800"/>
              <a:ext cx="2380940" cy="18247"/>
            </a:xfrm>
            <a:prstGeom prst="line">
              <a:avLst/>
            </a:prstGeom>
            <a:noFill/>
            <a:ln w="12700">
              <a:solidFill>
                <a:schemeClr val="tx1"/>
              </a:solidFill>
              <a:prstDash val="dash"/>
              <a:round/>
              <a:headEnd/>
              <a:tailEnd/>
            </a:ln>
          </p:spPr>
          <p:txBody>
            <a:bodyPr/>
            <a:lstStyle/>
            <a:p>
              <a:endParaRPr lang="en-US"/>
            </a:p>
          </p:txBody>
        </p:sp>
        <p:sp>
          <p:nvSpPr>
            <p:cNvPr id="47" name="Line 93">
              <a:extLst>
                <a:ext uri="{FF2B5EF4-FFF2-40B4-BE49-F238E27FC236}">
                  <a16:creationId xmlns:a16="http://schemas.microsoft.com/office/drawing/2014/main" id="{0C635691-8D79-0D43-269C-6B120BEBC715}"/>
                </a:ext>
              </a:extLst>
            </p:cNvPr>
            <p:cNvSpPr>
              <a:spLocks noChangeShapeType="1"/>
            </p:cNvSpPr>
            <p:nvPr/>
          </p:nvSpPr>
          <p:spPr bwMode="auto">
            <a:xfrm flipV="1">
              <a:off x="1607739" y="3517779"/>
              <a:ext cx="3162934" cy="11313"/>
            </a:xfrm>
            <a:prstGeom prst="line">
              <a:avLst/>
            </a:prstGeom>
            <a:noFill/>
            <a:ln w="12700">
              <a:solidFill>
                <a:schemeClr val="tx1"/>
              </a:solidFill>
              <a:prstDash val="dash"/>
              <a:round/>
              <a:headEnd/>
              <a:tailEnd/>
            </a:ln>
          </p:spPr>
          <p:txBody>
            <a:bodyPr/>
            <a:lstStyle/>
            <a:p>
              <a:endParaRPr lang="en-US"/>
            </a:p>
          </p:txBody>
        </p:sp>
      </p:grpSp>
      <p:grpSp>
        <p:nvGrpSpPr>
          <p:cNvPr id="5" name="Group 26"/>
          <p:cNvGrpSpPr>
            <a:grpSpLocks/>
          </p:cNvGrpSpPr>
          <p:nvPr/>
        </p:nvGrpSpPr>
        <p:grpSpPr bwMode="auto">
          <a:xfrm>
            <a:off x="1676401" y="2987676"/>
            <a:ext cx="2270126" cy="974726"/>
            <a:chOff x="1174" y="2204"/>
            <a:chExt cx="1430" cy="614"/>
          </a:xfrm>
          <a:noFill/>
        </p:grpSpPr>
        <p:sp>
          <p:nvSpPr>
            <p:cNvPr id="3088" name="Arc 27"/>
            <p:cNvSpPr>
              <a:spLocks/>
            </p:cNvSpPr>
            <p:nvPr/>
          </p:nvSpPr>
          <p:spPr bwMode="auto">
            <a:xfrm flipV="1">
              <a:off x="2379" y="2204"/>
              <a:ext cx="225" cy="172"/>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grpFill/>
            <a:ln w="19050">
              <a:solidFill>
                <a:srgbClr val="4E519E"/>
              </a:solidFill>
              <a:round/>
              <a:headEnd type="none" w="med" len="med"/>
              <a:tailEnd type="triangle" w="med" len="med"/>
            </a:ln>
          </p:spPr>
          <p:txBody>
            <a:bodyPr wrap="none" anchor="ctr"/>
            <a:lstStyle/>
            <a:p>
              <a:endParaRPr lang="en-US">
                <a:solidFill>
                  <a:srgbClr val="4E519E"/>
                </a:solidFill>
                <a:latin typeface="Arial"/>
                <a:cs typeface="Arial"/>
              </a:endParaRPr>
            </a:p>
          </p:txBody>
        </p:sp>
        <p:sp>
          <p:nvSpPr>
            <p:cNvPr id="3089" name="Text Box 28"/>
            <p:cNvSpPr txBox="1">
              <a:spLocks noChangeArrowheads="1"/>
            </p:cNvSpPr>
            <p:nvPr/>
          </p:nvSpPr>
          <p:spPr bwMode="auto">
            <a:xfrm>
              <a:off x="1174" y="2275"/>
              <a:ext cx="1309" cy="543"/>
            </a:xfrm>
            <a:prstGeom prst="rect">
              <a:avLst/>
            </a:prstGeom>
            <a:solidFill>
              <a:srgbClr val="E3F0FA"/>
            </a:solidFill>
            <a:ln w="9525">
              <a:solidFill>
                <a:srgbClr val="4E519E"/>
              </a:solidFill>
              <a:miter lim="800000"/>
              <a:headEnd/>
              <a:tailEnd/>
            </a:ln>
          </p:spPr>
          <p:txBody>
            <a:bodyPr>
              <a:spAutoFit/>
            </a:bodyPr>
            <a:lstStyle/>
            <a:p>
              <a:pPr algn="ctr">
                <a:spcBef>
                  <a:spcPct val="50000"/>
                </a:spcBef>
              </a:pPr>
              <a:r>
                <a:rPr lang="en-US" sz="2500" dirty="0">
                  <a:solidFill>
                    <a:srgbClr val="4E519E"/>
                  </a:solidFill>
                  <a:latin typeface="Arial"/>
                  <a:cs typeface="Arial"/>
                </a:rPr>
                <a:t>Cameron’s WTP</a:t>
              </a:r>
            </a:p>
          </p:txBody>
        </p:sp>
      </p:grpSp>
      <p:grpSp>
        <p:nvGrpSpPr>
          <p:cNvPr id="6" name="Group 3"/>
          <p:cNvGrpSpPr>
            <a:grpSpLocks/>
          </p:cNvGrpSpPr>
          <p:nvPr/>
        </p:nvGrpSpPr>
        <p:grpSpPr bwMode="auto">
          <a:xfrm>
            <a:off x="1980405" y="3561178"/>
            <a:ext cx="2720976" cy="1109664"/>
            <a:chOff x="1668" y="2274"/>
            <a:chExt cx="1714" cy="699"/>
          </a:xfrm>
          <a:noFill/>
        </p:grpSpPr>
        <p:sp>
          <p:nvSpPr>
            <p:cNvPr id="3086" name="Arc 4"/>
            <p:cNvSpPr>
              <a:spLocks/>
            </p:cNvSpPr>
            <p:nvPr/>
          </p:nvSpPr>
          <p:spPr bwMode="auto">
            <a:xfrm flipV="1">
              <a:off x="2987" y="2274"/>
              <a:ext cx="395" cy="404"/>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grpFill/>
            <a:ln w="19050">
              <a:solidFill>
                <a:srgbClr val="4E519E"/>
              </a:solidFill>
              <a:round/>
              <a:headEnd type="none" w="med" len="med"/>
              <a:tailEnd type="triangle" w="med" len="med"/>
            </a:ln>
          </p:spPr>
          <p:txBody>
            <a:bodyPr wrap="none" anchor="ctr"/>
            <a:lstStyle/>
            <a:p>
              <a:endParaRPr lang="en-US">
                <a:solidFill>
                  <a:srgbClr val="4E519E"/>
                </a:solidFill>
                <a:latin typeface="Arial"/>
                <a:cs typeface="Arial"/>
              </a:endParaRPr>
            </a:p>
          </p:txBody>
        </p:sp>
        <p:sp>
          <p:nvSpPr>
            <p:cNvPr id="3087" name="Text Box 5"/>
            <p:cNvSpPr txBox="1">
              <a:spLocks noChangeArrowheads="1"/>
            </p:cNvSpPr>
            <p:nvPr/>
          </p:nvSpPr>
          <p:spPr bwMode="auto">
            <a:xfrm>
              <a:off x="1668" y="2672"/>
              <a:ext cx="1344" cy="301"/>
            </a:xfrm>
            <a:prstGeom prst="rect">
              <a:avLst/>
            </a:prstGeom>
            <a:solidFill>
              <a:srgbClr val="E3F0FA"/>
            </a:solid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Jamir’s WTP</a:t>
              </a:r>
            </a:p>
          </p:txBody>
        </p:sp>
      </p:grpSp>
      <p:sp>
        <p:nvSpPr>
          <p:cNvPr id="2" name="Footer Placeholder 1">
            <a:extLst>
              <a:ext uri="{FF2B5EF4-FFF2-40B4-BE49-F238E27FC236}">
                <a16:creationId xmlns:a16="http://schemas.microsoft.com/office/drawing/2014/main" id="{82D06528-F883-2FE1-A6C1-0042401E9555}"/>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0706008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Left)">
                                      <p:cBhvr>
                                        <p:cTn id="11" dur="500"/>
                                        <p:tgtEl>
                                          <p:spTgt spid="3"/>
                                        </p:tgtEl>
                                      </p:cBhvr>
                                    </p:animEffec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trips(downLeft)">
                                      <p:cBhvr>
                                        <p:cTn id="15" dur="500"/>
                                        <p:tgtEl>
                                          <p:spTgt spid="4"/>
                                        </p:tgtEl>
                                      </p:cBhvr>
                                    </p:animEffect>
                                  </p:childTnLst>
                                </p:cTn>
                              </p:par>
                            </p:childTnLst>
                          </p:cTn>
                        </p:par>
                        <p:par>
                          <p:cTn id="16" fill="hold">
                            <p:stCondLst>
                              <p:cond delay="1500"/>
                            </p:stCondLst>
                            <p:childTnLst>
                              <p:par>
                                <p:cTn id="17" presetID="18" presetClass="entr" presetSubtype="3"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trips(upRight)">
                                      <p:cBhvr>
                                        <p:cTn id="19" dur="500"/>
                                        <p:tgtEl>
                                          <p:spTgt spid="5"/>
                                        </p:tgtEl>
                                      </p:cBhvr>
                                    </p:animEffect>
                                  </p:childTnLst>
                                </p:cTn>
                              </p:par>
                            </p:childTnLst>
                          </p:cTn>
                        </p:par>
                        <p:par>
                          <p:cTn id="20" fill="hold">
                            <p:stCondLst>
                              <p:cond delay="2000"/>
                            </p:stCondLst>
                            <p:childTnLst>
                              <p:par>
                                <p:cTn id="21" presetID="18" presetClass="entr" presetSubtype="3"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strips(upRight)">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bldLvl="4"/>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rgbClr val="AE1221"/>
                </a:solidFill>
              </a:rPr>
              <a:t>EXAMPLE 1D: </a:t>
            </a:r>
            <a:r>
              <a:rPr lang="en-US" sz="3000" dirty="0">
                <a:solidFill>
                  <a:schemeClr val="tx1"/>
                </a:solidFill>
              </a:rPr>
              <a:t>Calculating consumer surplus (CS)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10</a:t>
            </a:fld>
            <a:endParaRPr lang="en-US"/>
          </a:p>
        </p:txBody>
      </p:sp>
      <p:sp>
        <p:nvSpPr>
          <p:cNvPr id="3" name="Content Placeholder 2"/>
          <p:cNvSpPr>
            <a:spLocks noGrp="1"/>
          </p:cNvSpPr>
          <p:nvPr>
            <p:ph idx="12"/>
          </p:nvPr>
        </p:nvSpPr>
        <p:spPr/>
        <p:txBody>
          <a:bodyPr>
            <a:normAutofit/>
          </a:bodyPr>
          <a:lstStyle/>
          <a:p>
            <a:pPr marL="0" indent="0">
              <a:buNone/>
            </a:pPr>
            <a:r>
              <a:rPr lang="en-US" sz="3600" b="1" i="1" dirty="0">
                <a:solidFill>
                  <a:srgbClr val="4E519E"/>
                </a:solidFill>
              </a:rPr>
              <a:t>CS</a:t>
            </a:r>
            <a:r>
              <a:rPr lang="en-US" sz="3600" dirty="0">
                <a:solidFill>
                  <a:srgbClr val="4E519E"/>
                </a:solidFill>
              </a:rPr>
              <a:t> = </a:t>
            </a:r>
            <a:r>
              <a:rPr lang="en-US" sz="3600" b="1" i="1" dirty="0">
                <a:solidFill>
                  <a:srgbClr val="4E519E"/>
                </a:solidFill>
              </a:rPr>
              <a:t>WTP</a:t>
            </a:r>
            <a:r>
              <a:rPr lang="en-US" sz="3600" dirty="0">
                <a:solidFill>
                  <a:srgbClr val="4E519E"/>
                </a:solidFill>
              </a:rPr>
              <a:t> - </a:t>
            </a:r>
            <a:r>
              <a:rPr lang="en-US" sz="3600" b="1" i="1" dirty="0">
                <a:solidFill>
                  <a:srgbClr val="4E519E"/>
                </a:solidFill>
              </a:rPr>
              <a:t>P</a:t>
            </a:r>
          </a:p>
        </p:txBody>
      </p:sp>
      <p:sp>
        <p:nvSpPr>
          <p:cNvPr id="6" name="Text Placeholder 5"/>
          <p:cNvSpPr>
            <a:spLocks noGrp="1"/>
          </p:cNvSpPr>
          <p:nvPr>
            <p:ph idx="4294967295"/>
          </p:nvPr>
        </p:nvSpPr>
        <p:spPr>
          <a:xfrm>
            <a:off x="3749675" y="1828800"/>
            <a:ext cx="5394325" cy="4343400"/>
          </a:xfrm>
        </p:spPr>
        <p:txBody>
          <a:bodyPr>
            <a:normAutofit/>
          </a:bodyPr>
          <a:lstStyle/>
          <a:p>
            <a:pPr marL="0" indent="0">
              <a:buNone/>
            </a:pPr>
            <a:r>
              <a:rPr lang="en-US" sz="3200" dirty="0">
                <a:solidFill>
                  <a:srgbClr val="4E519E"/>
                </a:solidFill>
              </a:rPr>
              <a:t>Suppose </a:t>
            </a:r>
            <a:r>
              <a:rPr lang="en-US" sz="3200" b="1" i="1" dirty="0">
                <a:solidFill>
                  <a:srgbClr val="4E519E"/>
                </a:solidFill>
              </a:rPr>
              <a:t>P</a:t>
            </a:r>
            <a:r>
              <a:rPr lang="en-US" sz="3200" dirty="0">
                <a:solidFill>
                  <a:srgbClr val="4E519E"/>
                </a:solidFill>
              </a:rPr>
              <a:t> = $360.  </a:t>
            </a:r>
          </a:p>
          <a:p>
            <a:r>
              <a:rPr lang="en-US" sz="3200" dirty="0">
                <a:solidFill>
                  <a:schemeClr val="tx1"/>
                </a:solidFill>
              </a:rPr>
              <a:t>Fatima’s </a:t>
            </a:r>
            <a:r>
              <a:rPr lang="en-US" sz="3200" b="1" i="1" dirty="0">
                <a:solidFill>
                  <a:schemeClr val="tx1"/>
                </a:solidFill>
              </a:rPr>
              <a:t>CS</a:t>
            </a:r>
            <a:r>
              <a:rPr lang="en-US" sz="3200" dirty="0">
                <a:solidFill>
                  <a:schemeClr val="tx1"/>
                </a:solidFill>
              </a:rPr>
              <a:t> = $400 – 360 = $40.</a:t>
            </a:r>
          </a:p>
          <a:p>
            <a:r>
              <a:rPr lang="en-US" sz="3200" dirty="0">
                <a:solidFill>
                  <a:schemeClr val="tx1"/>
                </a:solidFill>
              </a:rPr>
              <a:t>The others get no </a:t>
            </a:r>
            <a:r>
              <a:rPr lang="en-US" sz="3200" b="1" i="1" dirty="0">
                <a:solidFill>
                  <a:schemeClr val="tx1"/>
                </a:solidFill>
              </a:rPr>
              <a:t>CS</a:t>
            </a:r>
            <a:r>
              <a:rPr lang="en-US" sz="3200" dirty="0">
                <a:solidFill>
                  <a:schemeClr val="tx1"/>
                </a:solidFill>
              </a:rPr>
              <a:t> because they do not buy an iPad mini at this price.  </a:t>
            </a:r>
          </a:p>
          <a:p>
            <a:r>
              <a:rPr lang="en-US" sz="3200" dirty="0">
                <a:solidFill>
                  <a:srgbClr val="4E519E"/>
                </a:solidFill>
              </a:rPr>
              <a:t>Total </a:t>
            </a:r>
            <a:r>
              <a:rPr lang="en-US" sz="3200" b="1" i="1" dirty="0">
                <a:solidFill>
                  <a:srgbClr val="4E519E"/>
                </a:solidFill>
              </a:rPr>
              <a:t>CS</a:t>
            </a:r>
            <a:r>
              <a:rPr lang="en-US" sz="3200" dirty="0">
                <a:solidFill>
                  <a:srgbClr val="4E519E"/>
                </a:solidFill>
              </a:rPr>
              <a:t> = $40.</a:t>
            </a:r>
          </a:p>
        </p:txBody>
      </p:sp>
      <p:graphicFrame>
        <p:nvGraphicFramePr>
          <p:cNvPr id="8" name="Group 91"/>
          <p:cNvGraphicFramePr>
            <a:graphicFrameLocks noGrp="1"/>
          </p:cNvGraphicFramePr>
          <p:nvPr>
            <p:extLst>
              <p:ext uri="{D42A27DB-BD31-4B8C-83A1-F6EECF244321}">
                <p14:modId xmlns:p14="http://schemas.microsoft.com/office/powerpoint/2010/main" val="120682309"/>
              </p:ext>
            </p:extLst>
          </p:nvPr>
        </p:nvGraphicFramePr>
        <p:xfrm>
          <a:off x="412750" y="1944686"/>
          <a:ext cx="2711450" cy="2932114"/>
        </p:xfrm>
        <a:graphic>
          <a:graphicData uri="http://schemas.openxmlformats.org/drawingml/2006/table">
            <a:tbl>
              <a:tblPr>
                <a:tableStyleId>{2D5ABB26-0587-4C30-8999-92F81FD0307C}</a:tableStyleId>
              </a:tblPr>
              <a:tblGrid>
                <a:gridCol w="1679575">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tblGrid>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Name</a:t>
                      </a:r>
                      <a:endParaRPr kumimoji="0" lang="en-US" sz="2600" b="0" i="1"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WTP</a:t>
                      </a:r>
                      <a:endParaRPr kumimoji="0" lang="en-US" sz="2600" b="0" i="1" u="none" strike="noStrike" cap="none" normalizeH="0" baseline="0" dirty="0">
                        <a:ln>
                          <a:noFill/>
                        </a:ln>
                        <a:solidFill>
                          <a:schemeClr val="tx1"/>
                        </a:solidFill>
                        <a:effectLst/>
                        <a:latin typeface="Arial" charset="0"/>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Alexis</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$350</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Cameron</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275</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Fatima</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400</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Jamir</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tx1"/>
                          </a:solidFill>
                          <a:effectLst/>
                        </a:rPr>
                        <a:t>225</a:t>
                      </a:r>
                      <a:endParaRPr kumimoji="0" lang="en-US" sz="2600" b="0" i="0" u="none" strike="noStrike" cap="none" normalizeH="0" baseline="0" dirty="0">
                        <a:ln>
                          <a:noFill/>
                        </a:ln>
                        <a:solidFill>
                          <a:schemeClr val="tx1"/>
                        </a:solidFill>
                        <a:effectLst/>
                        <a:latin typeface="Arial" charset="0"/>
                      </a:endParaRP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bl>
          </a:graphicData>
        </a:graphic>
      </p:graphicFrame>
      <p:sp>
        <p:nvSpPr>
          <p:cNvPr id="5" name="Footer Placeholder 4">
            <a:extLst>
              <a:ext uri="{FF2B5EF4-FFF2-40B4-BE49-F238E27FC236}">
                <a16:creationId xmlns:a16="http://schemas.microsoft.com/office/drawing/2014/main" id="{2965C6D1-4DAF-F7DD-AE84-ECA534AA679E}"/>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467932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B4EEB72D-B4E2-27FA-107B-AA13F2ED17C0}"/>
              </a:ext>
            </a:extLst>
          </p:cNvPr>
          <p:cNvGrpSpPr/>
          <p:nvPr/>
        </p:nvGrpSpPr>
        <p:grpSpPr>
          <a:xfrm>
            <a:off x="579193" y="685800"/>
            <a:ext cx="5897807" cy="6223000"/>
            <a:chOff x="66431" y="685800"/>
            <a:chExt cx="5897807" cy="6223000"/>
          </a:xfrm>
        </p:grpSpPr>
        <p:graphicFrame>
          <p:nvGraphicFramePr>
            <p:cNvPr id="45" name="Object 66">
              <a:extLst>
                <a:ext uri="{FF2B5EF4-FFF2-40B4-BE49-F238E27FC236}">
                  <a16:creationId xmlns:a16="http://schemas.microsoft.com/office/drawing/2014/main" id="{67A0EE27-82F7-E2A3-1F26-0CF7539A88AF}"/>
                </a:ext>
              </a:extLst>
            </p:cNvPr>
            <p:cNvGraphicFramePr>
              <a:graphicFrameLocks noChangeAspect="1"/>
            </p:cNvGraphicFramePr>
            <p:nvPr>
              <p:extLst>
                <p:ext uri="{D42A27DB-BD31-4B8C-83A1-F6EECF244321}">
                  <p14:modId xmlns:p14="http://schemas.microsoft.com/office/powerpoint/2010/main" val="3505211455"/>
                </p:ext>
              </p:extLst>
            </p:nvPr>
          </p:nvGraphicFramePr>
          <p:xfrm>
            <a:off x="214313" y="685800"/>
            <a:ext cx="5653088" cy="6223000"/>
          </p:xfrm>
          <a:graphic>
            <a:graphicData uri="http://schemas.openxmlformats.org/presentationml/2006/ole">
              <mc:AlternateContent xmlns:mc="http://schemas.openxmlformats.org/markup-compatibility/2006">
                <mc:Choice xmlns:v="urn:schemas-microsoft-com:vml" Requires="v">
                  <p:oleObj name="Worksheet" r:id="rId3" imgW="4534118" imgH="5730240" progId="Excel.Sheet.8">
                    <p:embed/>
                  </p:oleObj>
                </mc:Choice>
                <mc:Fallback>
                  <p:oleObj name="Worksheet" r:id="rId3" imgW="4534118" imgH="5730240" progId="Excel.Sheet.8">
                    <p:embed/>
                    <p:pic>
                      <p:nvPicPr>
                        <p:cNvPr id="45" name="Object 66">
                          <a:extLst>
                            <a:ext uri="{FF2B5EF4-FFF2-40B4-BE49-F238E27FC236}">
                              <a16:creationId xmlns:a16="http://schemas.microsoft.com/office/drawing/2014/main" id="{67A0EE27-82F7-E2A3-1F26-0CF7539A88AF}"/>
                            </a:ext>
                          </a:extLst>
                        </p:cNvPr>
                        <p:cNvPicPr>
                          <a:picLocks noChangeAspect="1" noChangeArrowheads="1"/>
                        </p:cNvPicPr>
                        <p:nvPr/>
                      </p:nvPicPr>
                      <p:blipFill>
                        <a:blip r:embed="rId4"/>
                        <a:srcRect/>
                        <a:stretch>
                          <a:fillRect/>
                        </a:stretch>
                      </p:blipFill>
                      <p:spPr bwMode="auto">
                        <a:xfrm>
                          <a:off x="214313" y="685800"/>
                          <a:ext cx="5653088" cy="6223000"/>
                        </a:xfrm>
                        <a:prstGeom prst="rect">
                          <a:avLst/>
                        </a:prstGeom>
                        <a:noFill/>
                      </p:spPr>
                    </p:pic>
                  </p:oleObj>
                </mc:Fallback>
              </mc:AlternateContent>
            </a:graphicData>
          </a:graphic>
        </p:graphicFrame>
        <p:sp>
          <p:nvSpPr>
            <p:cNvPr id="46" name="Line 69">
              <a:extLst>
                <a:ext uri="{FF2B5EF4-FFF2-40B4-BE49-F238E27FC236}">
                  <a16:creationId xmlns:a16="http://schemas.microsoft.com/office/drawing/2014/main" id="{DF7F8BE7-0CAD-8AEF-63C1-B7491B705617}"/>
                </a:ext>
              </a:extLst>
            </p:cNvPr>
            <p:cNvSpPr>
              <a:spLocks noChangeShapeType="1"/>
            </p:cNvSpPr>
            <p:nvPr/>
          </p:nvSpPr>
          <p:spPr bwMode="auto">
            <a:xfrm flipV="1">
              <a:off x="1621879" y="1076325"/>
              <a:ext cx="0" cy="587375"/>
            </a:xfrm>
            <a:prstGeom prst="line">
              <a:avLst/>
            </a:prstGeom>
            <a:noFill/>
            <a:ln w="57150">
              <a:solidFill>
                <a:srgbClr val="0000FF"/>
              </a:solidFill>
              <a:round/>
              <a:headEnd/>
              <a:tailEnd/>
            </a:ln>
          </p:spPr>
          <p:txBody>
            <a:bodyPr/>
            <a:lstStyle/>
            <a:p>
              <a:endParaRPr lang="en-US"/>
            </a:p>
          </p:txBody>
        </p:sp>
        <p:sp>
          <p:nvSpPr>
            <p:cNvPr id="47" name="Line 70">
              <a:extLst>
                <a:ext uri="{FF2B5EF4-FFF2-40B4-BE49-F238E27FC236}">
                  <a16:creationId xmlns:a16="http://schemas.microsoft.com/office/drawing/2014/main" id="{42F6A868-27A1-91A0-D9B3-0280D6CFB702}"/>
                </a:ext>
              </a:extLst>
            </p:cNvPr>
            <p:cNvSpPr>
              <a:spLocks noChangeShapeType="1"/>
            </p:cNvSpPr>
            <p:nvPr/>
          </p:nvSpPr>
          <p:spPr bwMode="auto">
            <a:xfrm flipV="1">
              <a:off x="1613668" y="1651876"/>
              <a:ext cx="824723" cy="0"/>
            </a:xfrm>
            <a:prstGeom prst="line">
              <a:avLst/>
            </a:prstGeom>
            <a:noFill/>
            <a:ln w="57150">
              <a:solidFill>
                <a:srgbClr val="0000FF"/>
              </a:solidFill>
              <a:round/>
              <a:headEnd/>
              <a:tailEnd/>
            </a:ln>
          </p:spPr>
          <p:txBody>
            <a:bodyPr/>
            <a:lstStyle/>
            <a:p>
              <a:endParaRPr lang="en-US"/>
            </a:p>
          </p:txBody>
        </p:sp>
        <p:grpSp>
          <p:nvGrpSpPr>
            <p:cNvPr id="48" name="Group 47">
              <a:extLst>
                <a:ext uri="{FF2B5EF4-FFF2-40B4-BE49-F238E27FC236}">
                  <a16:creationId xmlns:a16="http://schemas.microsoft.com/office/drawing/2014/main" id="{89D909D3-5500-E34D-51D7-EB859E33F1D6}"/>
                </a:ext>
              </a:extLst>
            </p:cNvPr>
            <p:cNvGrpSpPr/>
            <p:nvPr/>
          </p:nvGrpSpPr>
          <p:grpSpPr>
            <a:xfrm>
              <a:off x="66431" y="850899"/>
              <a:ext cx="5897807" cy="5321301"/>
              <a:chOff x="66431" y="850899"/>
              <a:chExt cx="5897807" cy="5321301"/>
            </a:xfrm>
          </p:grpSpPr>
          <p:sp>
            <p:nvSpPr>
              <p:cNvPr id="62" name="Text Box 9">
                <a:extLst>
                  <a:ext uri="{FF2B5EF4-FFF2-40B4-BE49-F238E27FC236}">
                    <a16:creationId xmlns:a16="http://schemas.microsoft.com/office/drawing/2014/main" id="{A57F0884-0BA9-DF2E-16AA-2C7F36C07B4E}"/>
                  </a:ext>
                </a:extLst>
              </p:cNvPr>
              <p:cNvSpPr txBox="1">
                <a:spLocks noChangeArrowheads="1"/>
              </p:cNvSpPr>
              <p:nvPr/>
            </p:nvSpPr>
            <p:spPr bwMode="auto">
              <a:xfrm>
                <a:off x="5489575" y="5653088"/>
                <a:ext cx="474663" cy="519112"/>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sp>
            <p:nvSpPr>
              <p:cNvPr id="63" name="Text Box 67">
                <a:extLst>
                  <a:ext uri="{FF2B5EF4-FFF2-40B4-BE49-F238E27FC236}">
                    <a16:creationId xmlns:a16="http://schemas.microsoft.com/office/drawing/2014/main" id="{7548BB1B-187F-E60F-548E-3E2621E551CE}"/>
                  </a:ext>
                </a:extLst>
              </p:cNvPr>
              <p:cNvSpPr txBox="1">
                <a:spLocks noChangeArrowheads="1"/>
              </p:cNvSpPr>
              <p:nvPr/>
            </p:nvSpPr>
            <p:spPr bwMode="auto">
              <a:xfrm>
                <a:off x="66431" y="850899"/>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grpSp>
        <p:sp>
          <p:nvSpPr>
            <p:cNvPr id="49" name="Line 84">
              <a:extLst>
                <a:ext uri="{FF2B5EF4-FFF2-40B4-BE49-F238E27FC236}">
                  <a16:creationId xmlns:a16="http://schemas.microsoft.com/office/drawing/2014/main" id="{1E68D791-9F0E-5B35-DCB3-F84F6940E21D}"/>
                </a:ext>
              </a:extLst>
            </p:cNvPr>
            <p:cNvSpPr>
              <a:spLocks noChangeShapeType="1"/>
            </p:cNvSpPr>
            <p:nvPr/>
          </p:nvSpPr>
          <p:spPr bwMode="auto">
            <a:xfrm flipH="1" flipV="1">
              <a:off x="4770673" y="3481832"/>
              <a:ext cx="2" cy="2418113"/>
            </a:xfrm>
            <a:prstGeom prst="line">
              <a:avLst/>
            </a:prstGeom>
            <a:noFill/>
            <a:ln w="57150">
              <a:solidFill>
                <a:srgbClr val="0000FF"/>
              </a:solidFill>
              <a:round/>
              <a:headEnd/>
              <a:tailEnd/>
            </a:ln>
          </p:spPr>
          <p:txBody>
            <a:bodyPr/>
            <a:lstStyle/>
            <a:p>
              <a:endParaRPr lang="en-US"/>
            </a:p>
          </p:txBody>
        </p:sp>
        <p:sp>
          <p:nvSpPr>
            <p:cNvPr id="50" name="Line 87">
              <a:extLst>
                <a:ext uri="{FF2B5EF4-FFF2-40B4-BE49-F238E27FC236}">
                  <a16:creationId xmlns:a16="http://schemas.microsoft.com/office/drawing/2014/main" id="{679744C4-C896-5240-E6B5-92678778DD22}"/>
                </a:ext>
              </a:extLst>
            </p:cNvPr>
            <p:cNvSpPr>
              <a:spLocks noChangeShapeType="1"/>
            </p:cNvSpPr>
            <p:nvPr/>
          </p:nvSpPr>
          <p:spPr bwMode="auto">
            <a:xfrm flipH="1" flipV="1">
              <a:off x="3959638" y="2940978"/>
              <a:ext cx="2762" cy="576801"/>
            </a:xfrm>
            <a:prstGeom prst="line">
              <a:avLst/>
            </a:prstGeom>
            <a:noFill/>
            <a:ln w="57150">
              <a:solidFill>
                <a:srgbClr val="0000FF"/>
              </a:solidFill>
              <a:round/>
              <a:headEnd/>
              <a:tailEnd/>
            </a:ln>
          </p:spPr>
          <p:txBody>
            <a:bodyPr/>
            <a:lstStyle/>
            <a:p>
              <a:endParaRPr lang="en-US"/>
            </a:p>
          </p:txBody>
        </p:sp>
        <p:sp>
          <p:nvSpPr>
            <p:cNvPr id="51" name="Line 88">
              <a:extLst>
                <a:ext uri="{FF2B5EF4-FFF2-40B4-BE49-F238E27FC236}">
                  <a16:creationId xmlns:a16="http://schemas.microsoft.com/office/drawing/2014/main" id="{CB2F6CE4-B06A-171A-5552-F0F425E28E8A}"/>
                </a:ext>
              </a:extLst>
            </p:cNvPr>
            <p:cNvSpPr>
              <a:spLocks noChangeShapeType="1"/>
            </p:cNvSpPr>
            <p:nvPr/>
          </p:nvSpPr>
          <p:spPr bwMode="auto">
            <a:xfrm>
              <a:off x="3962400" y="3481832"/>
              <a:ext cx="808274" cy="14277"/>
            </a:xfrm>
            <a:prstGeom prst="line">
              <a:avLst/>
            </a:prstGeom>
            <a:noFill/>
            <a:ln w="57150">
              <a:solidFill>
                <a:srgbClr val="0000FF"/>
              </a:solidFill>
              <a:round/>
              <a:headEnd/>
              <a:tailEnd/>
            </a:ln>
          </p:spPr>
          <p:txBody>
            <a:bodyPr/>
            <a:lstStyle/>
            <a:p>
              <a:endParaRPr lang="en-US"/>
            </a:p>
          </p:txBody>
        </p:sp>
        <p:sp>
          <p:nvSpPr>
            <p:cNvPr id="52" name="Line 90">
              <a:extLst>
                <a:ext uri="{FF2B5EF4-FFF2-40B4-BE49-F238E27FC236}">
                  <a16:creationId xmlns:a16="http://schemas.microsoft.com/office/drawing/2014/main" id="{BEA0C60F-7E76-86CB-60AF-35DCEA04D8A4}"/>
                </a:ext>
              </a:extLst>
            </p:cNvPr>
            <p:cNvSpPr>
              <a:spLocks noChangeShapeType="1"/>
            </p:cNvSpPr>
            <p:nvPr/>
          </p:nvSpPr>
          <p:spPr bwMode="auto">
            <a:xfrm flipV="1">
              <a:off x="3200400" y="2209800"/>
              <a:ext cx="0" cy="781050"/>
            </a:xfrm>
            <a:prstGeom prst="line">
              <a:avLst/>
            </a:prstGeom>
            <a:noFill/>
            <a:ln w="57150">
              <a:solidFill>
                <a:srgbClr val="0000FF"/>
              </a:solidFill>
              <a:round/>
              <a:headEnd/>
              <a:tailEnd/>
            </a:ln>
          </p:spPr>
          <p:txBody>
            <a:bodyPr/>
            <a:lstStyle/>
            <a:p>
              <a:endParaRPr lang="en-US"/>
            </a:p>
          </p:txBody>
        </p:sp>
        <p:sp>
          <p:nvSpPr>
            <p:cNvPr id="53" name="Line 91">
              <a:extLst>
                <a:ext uri="{FF2B5EF4-FFF2-40B4-BE49-F238E27FC236}">
                  <a16:creationId xmlns:a16="http://schemas.microsoft.com/office/drawing/2014/main" id="{EB6F10D0-857E-3594-C332-5D493C7BE21D}"/>
                </a:ext>
              </a:extLst>
            </p:cNvPr>
            <p:cNvSpPr>
              <a:spLocks noChangeShapeType="1"/>
            </p:cNvSpPr>
            <p:nvPr/>
          </p:nvSpPr>
          <p:spPr bwMode="auto">
            <a:xfrm flipV="1">
              <a:off x="3190835" y="2983113"/>
              <a:ext cx="756476" cy="1"/>
            </a:xfrm>
            <a:prstGeom prst="line">
              <a:avLst/>
            </a:prstGeom>
            <a:noFill/>
            <a:ln w="57150">
              <a:solidFill>
                <a:srgbClr val="0000FF"/>
              </a:solidFill>
              <a:round/>
              <a:headEnd/>
              <a:tailEnd/>
            </a:ln>
          </p:spPr>
          <p:txBody>
            <a:bodyPr/>
            <a:lstStyle/>
            <a:p>
              <a:endParaRPr lang="en-US"/>
            </a:p>
          </p:txBody>
        </p:sp>
        <p:sp>
          <p:nvSpPr>
            <p:cNvPr id="54" name="Line 93">
              <a:extLst>
                <a:ext uri="{FF2B5EF4-FFF2-40B4-BE49-F238E27FC236}">
                  <a16:creationId xmlns:a16="http://schemas.microsoft.com/office/drawing/2014/main" id="{F7CFC9F3-EF3F-6938-E15F-E7410E58BAFA}"/>
                </a:ext>
              </a:extLst>
            </p:cNvPr>
            <p:cNvSpPr>
              <a:spLocks noChangeShapeType="1"/>
            </p:cNvSpPr>
            <p:nvPr/>
          </p:nvSpPr>
          <p:spPr bwMode="auto">
            <a:xfrm flipV="1">
              <a:off x="2438391" y="1600200"/>
              <a:ext cx="0" cy="620712"/>
            </a:xfrm>
            <a:prstGeom prst="line">
              <a:avLst/>
            </a:prstGeom>
            <a:noFill/>
            <a:ln w="57150">
              <a:solidFill>
                <a:srgbClr val="0000FF"/>
              </a:solidFill>
              <a:round/>
              <a:headEnd/>
              <a:tailEnd/>
            </a:ln>
          </p:spPr>
          <p:txBody>
            <a:bodyPr/>
            <a:lstStyle/>
            <a:p>
              <a:endParaRPr lang="en-US"/>
            </a:p>
          </p:txBody>
        </p:sp>
        <p:sp>
          <p:nvSpPr>
            <p:cNvPr id="55" name="Line 94">
              <a:extLst>
                <a:ext uri="{FF2B5EF4-FFF2-40B4-BE49-F238E27FC236}">
                  <a16:creationId xmlns:a16="http://schemas.microsoft.com/office/drawing/2014/main" id="{9E616750-B4B8-93F7-53BE-86A14EB0A734}"/>
                </a:ext>
              </a:extLst>
            </p:cNvPr>
            <p:cNvSpPr>
              <a:spLocks noChangeShapeType="1"/>
            </p:cNvSpPr>
            <p:nvPr/>
          </p:nvSpPr>
          <p:spPr bwMode="auto">
            <a:xfrm>
              <a:off x="2438401" y="2192706"/>
              <a:ext cx="762000" cy="0"/>
            </a:xfrm>
            <a:prstGeom prst="line">
              <a:avLst/>
            </a:prstGeom>
            <a:noFill/>
            <a:ln w="57150">
              <a:solidFill>
                <a:srgbClr val="0000FF"/>
              </a:solidFill>
              <a:round/>
              <a:headEnd/>
              <a:tailEnd/>
            </a:ln>
          </p:spPr>
          <p:txBody>
            <a:bodyPr/>
            <a:lstStyle/>
            <a:p>
              <a:endParaRPr lang="en-US" dirty="0"/>
            </a:p>
          </p:txBody>
        </p:sp>
        <p:sp>
          <p:nvSpPr>
            <p:cNvPr id="56" name="Line 93">
              <a:extLst>
                <a:ext uri="{FF2B5EF4-FFF2-40B4-BE49-F238E27FC236}">
                  <a16:creationId xmlns:a16="http://schemas.microsoft.com/office/drawing/2014/main" id="{F6A496C6-63E2-9506-8DDC-41E631E1CE05}"/>
                </a:ext>
              </a:extLst>
            </p:cNvPr>
            <p:cNvSpPr>
              <a:spLocks noChangeShapeType="1"/>
            </p:cNvSpPr>
            <p:nvPr/>
          </p:nvSpPr>
          <p:spPr bwMode="auto">
            <a:xfrm flipV="1">
              <a:off x="2412281" y="1676404"/>
              <a:ext cx="9566" cy="4223534"/>
            </a:xfrm>
            <a:prstGeom prst="line">
              <a:avLst/>
            </a:prstGeom>
            <a:noFill/>
            <a:ln w="12700">
              <a:solidFill>
                <a:schemeClr val="tx1"/>
              </a:solidFill>
              <a:prstDash val="dash"/>
              <a:round/>
              <a:headEnd/>
              <a:tailEnd/>
            </a:ln>
          </p:spPr>
          <p:txBody>
            <a:bodyPr/>
            <a:lstStyle/>
            <a:p>
              <a:endParaRPr lang="en-US"/>
            </a:p>
          </p:txBody>
        </p:sp>
        <p:sp>
          <p:nvSpPr>
            <p:cNvPr id="57" name="Line 93">
              <a:extLst>
                <a:ext uri="{FF2B5EF4-FFF2-40B4-BE49-F238E27FC236}">
                  <a16:creationId xmlns:a16="http://schemas.microsoft.com/office/drawing/2014/main" id="{1DACFD31-E377-55F3-73FB-9A037FF8CF5E}"/>
                </a:ext>
              </a:extLst>
            </p:cNvPr>
            <p:cNvSpPr>
              <a:spLocks noChangeShapeType="1"/>
            </p:cNvSpPr>
            <p:nvPr/>
          </p:nvSpPr>
          <p:spPr bwMode="auto">
            <a:xfrm flipH="1" flipV="1">
              <a:off x="3204594" y="2185277"/>
              <a:ext cx="4760" cy="3690141"/>
            </a:xfrm>
            <a:prstGeom prst="line">
              <a:avLst/>
            </a:prstGeom>
            <a:noFill/>
            <a:ln w="12700">
              <a:solidFill>
                <a:schemeClr val="tx1"/>
              </a:solidFill>
              <a:prstDash val="dash"/>
              <a:round/>
              <a:headEnd/>
              <a:tailEnd/>
            </a:ln>
          </p:spPr>
          <p:txBody>
            <a:bodyPr/>
            <a:lstStyle/>
            <a:p>
              <a:endParaRPr lang="en-US"/>
            </a:p>
          </p:txBody>
        </p:sp>
        <p:sp>
          <p:nvSpPr>
            <p:cNvPr id="58" name="Line 93">
              <a:extLst>
                <a:ext uri="{FF2B5EF4-FFF2-40B4-BE49-F238E27FC236}">
                  <a16:creationId xmlns:a16="http://schemas.microsoft.com/office/drawing/2014/main" id="{47BDB037-C409-3007-2B69-C8772DDE50BA}"/>
                </a:ext>
              </a:extLst>
            </p:cNvPr>
            <p:cNvSpPr>
              <a:spLocks noChangeShapeType="1"/>
            </p:cNvSpPr>
            <p:nvPr/>
          </p:nvSpPr>
          <p:spPr bwMode="auto">
            <a:xfrm flipH="1" flipV="1">
              <a:off x="3976722" y="2953598"/>
              <a:ext cx="15079" cy="2932059"/>
            </a:xfrm>
            <a:prstGeom prst="line">
              <a:avLst/>
            </a:prstGeom>
            <a:noFill/>
            <a:ln w="12700">
              <a:solidFill>
                <a:schemeClr val="tx1"/>
              </a:solidFill>
              <a:prstDash val="dash"/>
              <a:round/>
              <a:headEnd/>
              <a:tailEnd/>
            </a:ln>
          </p:spPr>
          <p:txBody>
            <a:bodyPr/>
            <a:lstStyle/>
            <a:p>
              <a:endParaRPr lang="en-US"/>
            </a:p>
          </p:txBody>
        </p:sp>
        <p:sp>
          <p:nvSpPr>
            <p:cNvPr id="59" name="Line 93">
              <a:extLst>
                <a:ext uri="{FF2B5EF4-FFF2-40B4-BE49-F238E27FC236}">
                  <a16:creationId xmlns:a16="http://schemas.microsoft.com/office/drawing/2014/main" id="{DF94E67B-9EE3-9F54-BE82-374198554186}"/>
                </a:ext>
              </a:extLst>
            </p:cNvPr>
            <p:cNvSpPr>
              <a:spLocks noChangeShapeType="1"/>
            </p:cNvSpPr>
            <p:nvPr/>
          </p:nvSpPr>
          <p:spPr bwMode="auto">
            <a:xfrm>
              <a:off x="1621879" y="2177658"/>
              <a:ext cx="1568956" cy="803"/>
            </a:xfrm>
            <a:prstGeom prst="line">
              <a:avLst/>
            </a:prstGeom>
            <a:noFill/>
            <a:ln w="12700">
              <a:solidFill>
                <a:schemeClr val="tx1"/>
              </a:solidFill>
              <a:prstDash val="dash"/>
              <a:round/>
              <a:headEnd/>
              <a:tailEnd/>
            </a:ln>
          </p:spPr>
          <p:txBody>
            <a:bodyPr/>
            <a:lstStyle/>
            <a:p>
              <a:endParaRPr lang="en-US"/>
            </a:p>
          </p:txBody>
        </p:sp>
        <p:sp>
          <p:nvSpPr>
            <p:cNvPr id="60" name="Line 93">
              <a:extLst>
                <a:ext uri="{FF2B5EF4-FFF2-40B4-BE49-F238E27FC236}">
                  <a16:creationId xmlns:a16="http://schemas.microsoft.com/office/drawing/2014/main" id="{E307BBFB-9E4E-61EB-43EB-FF7120B690BC}"/>
                </a:ext>
              </a:extLst>
            </p:cNvPr>
            <p:cNvSpPr>
              <a:spLocks noChangeShapeType="1"/>
            </p:cNvSpPr>
            <p:nvPr/>
          </p:nvSpPr>
          <p:spPr bwMode="auto">
            <a:xfrm flipV="1">
              <a:off x="1621878" y="2971800"/>
              <a:ext cx="2340521" cy="10508"/>
            </a:xfrm>
            <a:prstGeom prst="line">
              <a:avLst/>
            </a:prstGeom>
            <a:noFill/>
            <a:ln w="12700">
              <a:solidFill>
                <a:schemeClr val="tx1"/>
              </a:solidFill>
              <a:prstDash val="dash"/>
              <a:round/>
              <a:headEnd/>
              <a:tailEnd/>
            </a:ln>
          </p:spPr>
          <p:txBody>
            <a:bodyPr/>
            <a:lstStyle/>
            <a:p>
              <a:endParaRPr lang="en-US"/>
            </a:p>
          </p:txBody>
        </p:sp>
        <p:sp>
          <p:nvSpPr>
            <p:cNvPr id="61" name="Line 93">
              <a:extLst>
                <a:ext uri="{FF2B5EF4-FFF2-40B4-BE49-F238E27FC236}">
                  <a16:creationId xmlns:a16="http://schemas.microsoft.com/office/drawing/2014/main" id="{09FB205A-DF34-9F3B-641A-098B4C5F4B11}"/>
                </a:ext>
              </a:extLst>
            </p:cNvPr>
            <p:cNvSpPr>
              <a:spLocks noChangeShapeType="1"/>
            </p:cNvSpPr>
            <p:nvPr/>
          </p:nvSpPr>
          <p:spPr bwMode="auto">
            <a:xfrm flipV="1">
              <a:off x="1607739" y="3484753"/>
              <a:ext cx="3162934" cy="11313"/>
            </a:xfrm>
            <a:prstGeom prst="line">
              <a:avLst/>
            </a:prstGeom>
            <a:noFill/>
            <a:ln w="12700">
              <a:solidFill>
                <a:schemeClr val="tx1"/>
              </a:solidFill>
              <a:prstDash val="dash"/>
              <a:round/>
              <a:headEnd/>
              <a:tailEnd/>
            </a:ln>
          </p:spPr>
          <p:txBody>
            <a:bodyPr/>
            <a:lstStyle/>
            <a:p>
              <a:endParaRPr lang="en-US"/>
            </a:p>
          </p:txBody>
        </p:sp>
      </p:grpSp>
      <p:sp>
        <p:nvSpPr>
          <p:cNvPr id="4101" name="Rectangle 6"/>
          <p:cNvSpPr>
            <a:spLocks noGrp="1" noChangeArrowheads="1"/>
          </p:cNvSpPr>
          <p:nvPr>
            <p:ph type="title"/>
          </p:nvPr>
        </p:nvSpPr>
        <p:spPr/>
        <p:txBody>
          <a:bodyPr/>
          <a:lstStyle/>
          <a:p>
            <a:pPr eaLnBrk="1" hangingPunct="1"/>
            <a:r>
              <a:rPr lang="en-US" dirty="0">
                <a:solidFill>
                  <a:srgbClr val="AE1221"/>
                </a:solidFill>
              </a:rPr>
              <a:t>EXAMPLE 1E: </a:t>
            </a:r>
            <a:r>
              <a:rPr lang="en-US" b="1" i="1" dirty="0">
                <a:solidFill>
                  <a:schemeClr val="tx1"/>
                </a:solidFill>
              </a:rPr>
              <a:t>CS</a:t>
            </a:r>
            <a:r>
              <a:rPr lang="en-US" dirty="0">
                <a:solidFill>
                  <a:schemeClr val="tx1"/>
                </a:solidFill>
              </a:rPr>
              <a:t> and the demand curve</a:t>
            </a:r>
          </a:p>
        </p:txBody>
      </p:sp>
      <p:sp>
        <p:nvSpPr>
          <p:cNvPr id="6" name="Slide Number Placeholder 5"/>
          <p:cNvSpPr>
            <a:spLocks noGrp="1"/>
          </p:cNvSpPr>
          <p:nvPr>
            <p:ph type="sldNum" sz="quarter" idx="10"/>
          </p:nvPr>
        </p:nvSpPr>
        <p:spPr/>
        <p:txBody>
          <a:bodyPr/>
          <a:lstStyle/>
          <a:p>
            <a:pPr>
              <a:defRPr/>
            </a:pPr>
            <a:fld id="{2F37425F-5E17-4209-B948-B5CE2119E408}" type="slidenum">
              <a:rPr lang="en-US" smtClean="0"/>
              <a:pPr>
                <a:defRPr/>
              </a:pPr>
              <a:t>11</a:t>
            </a:fld>
            <a:endParaRPr lang="en-US" dirty="0"/>
          </a:p>
        </p:txBody>
      </p:sp>
      <p:sp>
        <p:nvSpPr>
          <p:cNvPr id="4" name="Text Placeholder 3"/>
          <p:cNvSpPr>
            <a:spLocks noGrp="1"/>
          </p:cNvSpPr>
          <p:nvPr>
            <p:ph idx="12"/>
          </p:nvPr>
        </p:nvSpPr>
        <p:spPr>
          <a:xfrm>
            <a:off x="5761741" y="1097756"/>
            <a:ext cx="3138206" cy="5074444"/>
          </a:xfrm>
        </p:spPr>
        <p:txBody>
          <a:bodyPr>
            <a:normAutofit/>
          </a:bodyPr>
          <a:lstStyle/>
          <a:p>
            <a:pPr>
              <a:spcBef>
                <a:spcPct val="40000"/>
              </a:spcBef>
              <a:buClr>
                <a:srgbClr val="00B85C"/>
              </a:buClr>
              <a:buSzPct val="120000"/>
              <a:buFont typeface="Wingdings" pitchFamily="2" charset="2"/>
              <a:buNone/>
            </a:pPr>
            <a:r>
              <a:rPr lang="en-US" b="1" i="1" dirty="0">
                <a:solidFill>
                  <a:srgbClr val="4E519E"/>
                </a:solidFill>
                <a:cs typeface="Arial"/>
              </a:rPr>
              <a:t>P</a:t>
            </a:r>
            <a:r>
              <a:rPr lang="en-US" dirty="0">
                <a:solidFill>
                  <a:srgbClr val="4E519E"/>
                </a:solidFill>
                <a:cs typeface="Arial"/>
              </a:rPr>
              <a:t> = $360  </a:t>
            </a:r>
          </a:p>
          <a:p>
            <a:pPr marL="0" indent="0">
              <a:spcBef>
                <a:spcPct val="40000"/>
              </a:spcBef>
              <a:buClr>
                <a:srgbClr val="00B85C"/>
              </a:buClr>
              <a:buSzPct val="120000"/>
              <a:buNone/>
            </a:pPr>
            <a:r>
              <a:rPr lang="en-US" dirty="0">
                <a:cs typeface="Arial"/>
              </a:rPr>
              <a:t>Fatima’s </a:t>
            </a:r>
            <a:r>
              <a:rPr lang="en-US" b="1" i="1" dirty="0">
                <a:solidFill>
                  <a:srgbClr val="4E519E"/>
                </a:solidFill>
                <a:cs typeface="Arial"/>
              </a:rPr>
              <a:t>CS</a:t>
            </a:r>
            <a:r>
              <a:rPr lang="en-US" dirty="0">
                <a:solidFill>
                  <a:srgbClr val="4E519E"/>
                </a:solidFill>
                <a:cs typeface="Arial"/>
              </a:rPr>
              <a:t> = WTP – P =  </a:t>
            </a:r>
            <a:br>
              <a:rPr lang="en-US" dirty="0">
                <a:cs typeface="Arial"/>
              </a:rPr>
            </a:br>
            <a:r>
              <a:rPr lang="en-US" dirty="0">
                <a:cs typeface="Arial"/>
              </a:rPr>
              <a:t>$400 – 360 = </a:t>
            </a:r>
            <a:r>
              <a:rPr lang="en-US" u="sng" dirty="0">
                <a:cs typeface="Arial"/>
              </a:rPr>
              <a:t>$40</a:t>
            </a:r>
            <a:endParaRPr lang="en-US" dirty="0">
              <a:cs typeface="Arial"/>
            </a:endParaRPr>
          </a:p>
          <a:p>
            <a:pPr>
              <a:spcBef>
                <a:spcPct val="40000"/>
              </a:spcBef>
              <a:buClr>
                <a:srgbClr val="00B85C"/>
              </a:buClr>
              <a:buSzPct val="120000"/>
              <a:buFont typeface="Wingdings" pitchFamily="2" charset="2"/>
              <a:buNone/>
            </a:pPr>
            <a:r>
              <a:rPr lang="en-US" dirty="0">
                <a:cs typeface="Arial"/>
              </a:rPr>
              <a:t>Total </a:t>
            </a:r>
            <a:r>
              <a:rPr lang="en-US" b="1" i="1" dirty="0">
                <a:cs typeface="Arial"/>
              </a:rPr>
              <a:t>CS</a:t>
            </a:r>
            <a:r>
              <a:rPr lang="en-US" dirty="0">
                <a:cs typeface="Arial"/>
              </a:rPr>
              <a:t> = </a:t>
            </a:r>
            <a:r>
              <a:rPr lang="en-US" u="sng" dirty="0">
                <a:cs typeface="Arial"/>
              </a:rPr>
              <a:t>$40</a:t>
            </a:r>
            <a:endParaRPr lang="en-US" dirty="0">
              <a:cs typeface="Arial"/>
            </a:endParaRPr>
          </a:p>
          <a:p>
            <a:endParaRPr lang="en-US" dirty="0"/>
          </a:p>
        </p:txBody>
      </p:sp>
      <p:grpSp>
        <p:nvGrpSpPr>
          <p:cNvPr id="3" name="Group 20"/>
          <p:cNvGrpSpPr>
            <a:grpSpLocks/>
          </p:cNvGrpSpPr>
          <p:nvPr/>
        </p:nvGrpSpPr>
        <p:grpSpPr bwMode="auto">
          <a:xfrm>
            <a:off x="2561310" y="893762"/>
            <a:ext cx="2600324" cy="747713"/>
            <a:chOff x="1344" y="563"/>
            <a:chExt cx="1638" cy="471"/>
          </a:xfrm>
        </p:grpSpPr>
        <p:sp>
          <p:nvSpPr>
            <p:cNvPr id="4110" name="Arc 21"/>
            <p:cNvSpPr>
              <a:spLocks/>
            </p:cNvSpPr>
            <p:nvPr/>
          </p:nvSpPr>
          <p:spPr bwMode="auto">
            <a:xfrm flipV="1">
              <a:off x="1564" y="822"/>
              <a:ext cx="389" cy="212"/>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rgbClr val="4E519E"/>
              </a:solidFill>
              <a:round/>
              <a:headEnd type="triangle" w="lg" len="med"/>
              <a:tailEnd type="none" w="lg" len="med"/>
            </a:ln>
          </p:spPr>
          <p:txBody>
            <a:bodyPr wrap="none" anchor="ctr"/>
            <a:lstStyle/>
            <a:p>
              <a:endParaRPr lang="en-US">
                <a:latin typeface="Arial"/>
                <a:cs typeface="Arial"/>
              </a:endParaRPr>
            </a:p>
          </p:txBody>
        </p:sp>
        <p:sp>
          <p:nvSpPr>
            <p:cNvPr id="4111" name="Text Box 22"/>
            <p:cNvSpPr txBox="1">
              <a:spLocks noChangeArrowheads="1"/>
            </p:cNvSpPr>
            <p:nvPr/>
          </p:nvSpPr>
          <p:spPr bwMode="auto">
            <a:xfrm>
              <a:off x="1344" y="563"/>
              <a:ext cx="1638" cy="301"/>
            </a:xfrm>
            <a:prstGeom prst="rect">
              <a:avLst/>
            </a:prstGeom>
            <a:solidFill>
              <a:srgbClr val="E3F0FA"/>
            </a:solid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Fatima’s WTP</a:t>
              </a:r>
            </a:p>
          </p:txBody>
        </p:sp>
      </p:grpSp>
      <p:sp>
        <p:nvSpPr>
          <p:cNvPr id="88100" name="Rectangle 36"/>
          <p:cNvSpPr>
            <a:spLocks noChangeArrowheads="1"/>
          </p:cNvSpPr>
          <p:nvPr/>
        </p:nvSpPr>
        <p:spPr bwMode="auto">
          <a:xfrm>
            <a:off x="2111650" y="1676400"/>
            <a:ext cx="829074" cy="381000"/>
          </a:xfrm>
          <a:prstGeom prst="rect">
            <a:avLst/>
          </a:prstGeom>
          <a:solidFill>
            <a:srgbClr val="00CC99"/>
          </a:solidFill>
          <a:ln w="9525">
            <a:noFill/>
            <a:miter lim="800000"/>
            <a:headEnd/>
            <a:tailEnd/>
          </a:ln>
        </p:spPr>
        <p:txBody>
          <a:bodyPr wrap="none" anchor="ctr"/>
          <a:lstStyle/>
          <a:p>
            <a:endParaRPr lang="en-US">
              <a:latin typeface="Arial"/>
              <a:cs typeface="Arial"/>
            </a:endParaRPr>
          </a:p>
        </p:txBody>
      </p:sp>
      <p:grpSp>
        <p:nvGrpSpPr>
          <p:cNvPr id="8" name="Group 7">
            <a:extLst>
              <a:ext uri="{FF2B5EF4-FFF2-40B4-BE49-F238E27FC236}">
                <a16:creationId xmlns:a16="http://schemas.microsoft.com/office/drawing/2014/main" id="{5E7ECE3B-E6AD-DC24-014C-8C2CDC408A43}"/>
              </a:ext>
            </a:extLst>
          </p:cNvPr>
          <p:cNvGrpSpPr/>
          <p:nvPr/>
        </p:nvGrpSpPr>
        <p:grpSpPr>
          <a:xfrm>
            <a:off x="120701" y="1676400"/>
            <a:ext cx="2845422" cy="461665"/>
            <a:chOff x="120701" y="1676400"/>
            <a:chExt cx="2845422" cy="461665"/>
          </a:xfrm>
        </p:grpSpPr>
        <p:grpSp>
          <p:nvGrpSpPr>
            <p:cNvPr id="5" name="Group 4">
              <a:extLst>
                <a:ext uri="{FF2B5EF4-FFF2-40B4-BE49-F238E27FC236}">
                  <a16:creationId xmlns:a16="http://schemas.microsoft.com/office/drawing/2014/main" id="{6D732B46-ED81-C0D8-2144-4A93ADF4314E}"/>
                </a:ext>
              </a:extLst>
            </p:cNvPr>
            <p:cNvGrpSpPr/>
            <p:nvPr/>
          </p:nvGrpSpPr>
          <p:grpSpPr>
            <a:xfrm>
              <a:off x="1534707" y="1932153"/>
              <a:ext cx="1431416" cy="129140"/>
              <a:chOff x="1030797" y="1932153"/>
              <a:chExt cx="1431416" cy="129140"/>
            </a:xfrm>
          </p:grpSpPr>
          <p:sp>
            <p:nvSpPr>
              <p:cNvPr id="88098" name="Line 34"/>
              <p:cNvSpPr>
                <a:spLocks noChangeShapeType="1"/>
              </p:cNvSpPr>
              <p:nvPr/>
            </p:nvSpPr>
            <p:spPr bwMode="auto">
              <a:xfrm>
                <a:off x="1599910" y="2057400"/>
                <a:ext cx="862303" cy="0"/>
              </a:xfrm>
              <a:prstGeom prst="line">
                <a:avLst/>
              </a:prstGeom>
              <a:noFill/>
              <a:ln w="38100">
                <a:solidFill>
                  <a:srgbClr val="4E519E"/>
                </a:solidFill>
                <a:round/>
                <a:headEnd/>
                <a:tailEnd/>
              </a:ln>
            </p:spPr>
            <p:txBody>
              <a:bodyPr/>
              <a:lstStyle/>
              <a:p>
                <a:endParaRPr lang="en-US">
                  <a:latin typeface="Arial"/>
                  <a:cs typeface="Arial"/>
                </a:endParaRPr>
              </a:p>
            </p:txBody>
          </p:sp>
          <p:sp>
            <p:nvSpPr>
              <p:cNvPr id="88101" name="Line 37"/>
              <p:cNvSpPr>
                <a:spLocks noChangeShapeType="1"/>
              </p:cNvSpPr>
              <p:nvPr/>
            </p:nvSpPr>
            <p:spPr bwMode="auto">
              <a:xfrm>
                <a:off x="1030797" y="1932153"/>
                <a:ext cx="585794" cy="129140"/>
              </a:xfrm>
              <a:prstGeom prst="line">
                <a:avLst/>
              </a:prstGeom>
              <a:noFill/>
              <a:ln w="38100">
                <a:solidFill>
                  <a:srgbClr val="4E519E"/>
                </a:solidFill>
                <a:round/>
                <a:headEnd/>
                <a:tailEnd type="triangle" w="lg" len="med"/>
              </a:ln>
            </p:spPr>
            <p:txBody>
              <a:bodyPr/>
              <a:lstStyle/>
              <a:p>
                <a:endParaRPr lang="en-US">
                  <a:latin typeface="Arial"/>
                  <a:cs typeface="Arial"/>
                </a:endParaRPr>
              </a:p>
            </p:txBody>
          </p:sp>
        </p:grpSp>
        <p:sp>
          <p:nvSpPr>
            <p:cNvPr id="7" name="TextBox 6">
              <a:extLst>
                <a:ext uri="{FF2B5EF4-FFF2-40B4-BE49-F238E27FC236}">
                  <a16:creationId xmlns:a16="http://schemas.microsoft.com/office/drawing/2014/main" id="{DD49E897-6BF4-A5F7-71F0-B71CA2AE5BDB}"/>
                </a:ext>
              </a:extLst>
            </p:cNvPr>
            <p:cNvSpPr txBox="1"/>
            <p:nvPr/>
          </p:nvSpPr>
          <p:spPr>
            <a:xfrm>
              <a:off x="120701" y="1676400"/>
              <a:ext cx="1595309" cy="461665"/>
            </a:xfrm>
            <a:prstGeom prst="rect">
              <a:avLst/>
            </a:prstGeom>
            <a:noFill/>
          </p:spPr>
          <p:txBody>
            <a:bodyPr wrap="none" rtlCol="0">
              <a:spAutoFit/>
            </a:bodyPr>
            <a:lstStyle/>
            <a:p>
              <a:r>
                <a:rPr lang="en-US" sz="2400" b="1" i="1" dirty="0">
                  <a:solidFill>
                    <a:srgbClr val="4E519E"/>
                  </a:solidFill>
                  <a:cs typeface="Arial"/>
                </a:rPr>
                <a:t>P</a:t>
              </a:r>
              <a:r>
                <a:rPr lang="en-US" sz="2400" dirty="0">
                  <a:solidFill>
                    <a:srgbClr val="4E519E"/>
                  </a:solidFill>
                  <a:cs typeface="Arial"/>
                </a:rPr>
                <a:t> = $360  </a:t>
              </a:r>
            </a:p>
          </p:txBody>
        </p:sp>
      </p:grpSp>
      <p:sp>
        <p:nvSpPr>
          <p:cNvPr id="2" name="Footer Placeholder 1">
            <a:extLst>
              <a:ext uri="{FF2B5EF4-FFF2-40B4-BE49-F238E27FC236}">
                <a16:creationId xmlns:a16="http://schemas.microsoft.com/office/drawing/2014/main" id="{56DDA10C-6DB8-F600-8E4B-5EFE40DED2E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6592403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wipe(left)">
                                      <p:cBhvr>
                                        <p:cTn id="16" dur="500"/>
                                        <p:tgtEl>
                                          <p:spTgt spid="4">
                                            <p:txEl>
                                              <p:pRg st="1" end="1"/>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88100"/>
                                        </p:tgtEl>
                                        <p:attrNameLst>
                                          <p:attrName>style.visibility</p:attrName>
                                        </p:attrNameLst>
                                      </p:cBhvr>
                                      <p:to>
                                        <p:strVal val="visible"/>
                                      </p:to>
                                    </p:set>
                                    <p:animEffect transition="in" filter="fade">
                                      <p:cBhvr>
                                        <p:cTn id="20" dur="500"/>
                                        <p:tgtEl>
                                          <p:spTgt spid="88100"/>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wipe(left)">
                                      <p:cBhvr>
                                        <p:cTn id="2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8100" grpId="0" uiExpan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7678AE45-1840-867C-31FD-C9C7F88F94C5}"/>
              </a:ext>
            </a:extLst>
          </p:cNvPr>
          <p:cNvGrpSpPr/>
          <p:nvPr/>
        </p:nvGrpSpPr>
        <p:grpSpPr>
          <a:xfrm>
            <a:off x="633168" y="787400"/>
            <a:ext cx="5767632" cy="6223000"/>
            <a:chOff x="196606" y="685800"/>
            <a:chExt cx="5767632" cy="6223000"/>
          </a:xfrm>
        </p:grpSpPr>
        <p:graphicFrame>
          <p:nvGraphicFramePr>
            <p:cNvPr id="29" name="Object 66">
              <a:extLst>
                <a:ext uri="{FF2B5EF4-FFF2-40B4-BE49-F238E27FC236}">
                  <a16:creationId xmlns:a16="http://schemas.microsoft.com/office/drawing/2014/main" id="{F9D6FB92-B2DE-CBE2-EA4C-E30FA51F5082}"/>
                </a:ext>
              </a:extLst>
            </p:cNvPr>
            <p:cNvGraphicFramePr>
              <a:graphicFrameLocks noChangeAspect="1"/>
            </p:cNvGraphicFramePr>
            <p:nvPr>
              <p:extLst>
                <p:ext uri="{D42A27DB-BD31-4B8C-83A1-F6EECF244321}">
                  <p14:modId xmlns:p14="http://schemas.microsoft.com/office/powerpoint/2010/main" val="1508236445"/>
                </p:ext>
              </p:extLst>
            </p:nvPr>
          </p:nvGraphicFramePr>
          <p:xfrm>
            <a:off x="214313" y="685800"/>
            <a:ext cx="5653087" cy="6223000"/>
          </p:xfrm>
          <a:graphic>
            <a:graphicData uri="http://schemas.openxmlformats.org/presentationml/2006/ole">
              <mc:AlternateContent xmlns:mc="http://schemas.openxmlformats.org/markup-compatibility/2006">
                <mc:Choice xmlns:v="urn:schemas-microsoft-com:vml" Requires="v">
                  <p:oleObj name="Worksheet" r:id="rId3" imgW="4534118" imgH="5730240" progId="Excel.Sheet.8">
                    <p:embed/>
                  </p:oleObj>
                </mc:Choice>
                <mc:Fallback>
                  <p:oleObj name="Worksheet" r:id="rId3" imgW="4534118" imgH="5730240" progId="Excel.Sheet.8">
                    <p:embed/>
                    <p:pic>
                      <p:nvPicPr>
                        <p:cNvPr id="29" name="Object 66">
                          <a:extLst>
                            <a:ext uri="{FF2B5EF4-FFF2-40B4-BE49-F238E27FC236}">
                              <a16:creationId xmlns:a16="http://schemas.microsoft.com/office/drawing/2014/main" id="{F9D6FB92-B2DE-CBE2-EA4C-E30FA51F5082}"/>
                            </a:ext>
                          </a:extLst>
                        </p:cNvPr>
                        <p:cNvPicPr>
                          <a:picLocks noChangeAspect="1" noChangeArrowheads="1"/>
                        </p:cNvPicPr>
                        <p:nvPr/>
                      </p:nvPicPr>
                      <p:blipFill>
                        <a:blip r:embed="rId4"/>
                        <a:srcRect/>
                        <a:stretch>
                          <a:fillRect/>
                        </a:stretch>
                      </p:blipFill>
                      <p:spPr bwMode="auto">
                        <a:xfrm>
                          <a:off x="214313" y="685800"/>
                          <a:ext cx="5653087" cy="6223000"/>
                        </a:xfrm>
                        <a:prstGeom prst="rect">
                          <a:avLst/>
                        </a:prstGeom>
                        <a:noFill/>
                      </p:spPr>
                    </p:pic>
                  </p:oleObj>
                </mc:Fallback>
              </mc:AlternateContent>
            </a:graphicData>
          </a:graphic>
        </p:graphicFrame>
        <p:sp>
          <p:nvSpPr>
            <p:cNvPr id="30" name="Line 69">
              <a:extLst>
                <a:ext uri="{FF2B5EF4-FFF2-40B4-BE49-F238E27FC236}">
                  <a16:creationId xmlns:a16="http://schemas.microsoft.com/office/drawing/2014/main" id="{7843CE3C-2785-B220-63A9-E7687CAC18F2}"/>
                </a:ext>
              </a:extLst>
            </p:cNvPr>
            <p:cNvSpPr>
              <a:spLocks noChangeShapeType="1"/>
            </p:cNvSpPr>
            <p:nvPr/>
          </p:nvSpPr>
          <p:spPr bwMode="auto">
            <a:xfrm flipV="1">
              <a:off x="1621879" y="1076325"/>
              <a:ext cx="0" cy="587375"/>
            </a:xfrm>
            <a:prstGeom prst="line">
              <a:avLst/>
            </a:prstGeom>
            <a:noFill/>
            <a:ln w="57150">
              <a:solidFill>
                <a:srgbClr val="0000FF"/>
              </a:solidFill>
              <a:round/>
              <a:headEnd/>
              <a:tailEnd/>
            </a:ln>
          </p:spPr>
          <p:txBody>
            <a:bodyPr/>
            <a:lstStyle/>
            <a:p>
              <a:endParaRPr lang="en-US"/>
            </a:p>
          </p:txBody>
        </p:sp>
        <p:sp>
          <p:nvSpPr>
            <p:cNvPr id="31" name="Line 70">
              <a:extLst>
                <a:ext uri="{FF2B5EF4-FFF2-40B4-BE49-F238E27FC236}">
                  <a16:creationId xmlns:a16="http://schemas.microsoft.com/office/drawing/2014/main" id="{3022F4D2-B5F7-EA9E-BBEB-C7D9EA47C17B}"/>
                </a:ext>
              </a:extLst>
            </p:cNvPr>
            <p:cNvSpPr>
              <a:spLocks noChangeShapeType="1"/>
            </p:cNvSpPr>
            <p:nvPr/>
          </p:nvSpPr>
          <p:spPr bwMode="auto">
            <a:xfrm flipV="1">
              <a:off x="1613668" y="1651876"/>
              <a:ext cx="824723" cy="0"/>
            </a:xfrm>
            <a:prstGeom prst="line">
              <a:avLst/>
            </a:prstGeom>
            <a:noFill/>
            <a:ln w="57150">
              <a:solidFill>
                <a:srgbClr val="0000FF"/>
              </a:solidFill>
              <a:round/>
              <a:headEnd/>
              <a:tailEnd/>
            </a:ln>
          </p:spPr>
          <p:txBody>
            <a:bodyPr/>
            <a:lstStyle/>
            <a:p>
              <a:endParaRPr lang="en-US"/>
            </a:p>
          </p:txBody>
        </p:sp>
        <p:grpSp>
          <p:nvGrpSpPr>
            <p:cNvPr id="32" name="Group 31">
              <a:extLst>
                <a:ext uri="{FF2B5EF4-FFF2-40B4-BE49-F238E27FC236}">
                  <a16:creationId xmlns:a16="http://schemas.microsoft.com/office/drawing/2014/main" id="{28DC0A7A-4244-A1E7-A11C-779A751B3B3B}"/>
                </a:ext>
              </a:extLst>
            </p:cNvPr>
            <p:cNvGrpSpPr/>
            <p:nvPr/>
          </p:nvGrpSpPr>
          <p:grpSpPr>
            <a:xfrm>
              <a:off x="196606" y="850899"/>
              <a:ext cx="5767632" cy="5321301"/>
              <a:chOff x="196606" y="850899"/>
              <a:chExt cx="5767632" cy="5321301"/>
            </a:xfrm>
          </p:grpSpPr>
          <p:sp>
            <p:nvSpPr>
              <p:cNvPr id="46" name="Text Box 9">
                <a:extLst>
                  <a:ext uri="{FF2B5EF4-FFF2-40B4-BE49-F238E27FC236}">
                    <a16:creationId xmlns:a16="http://schemas.microsoft.com/office/drawing/2014/main" id="{3D292F67-9EDE-3D06-57D4-3734E3FBAF23}"/>
                  </a:ext>
                </a:extLst>
              </p:cNvPr>
              <p:cNvSpPr txBox="1">
                <a:spLocks noChangeArrowheads="1"/>
              </p:cNvSpPr>
              <p:nvPr/>
            </p:nvSpPr>
            <p:spPr bwMode="auto">
              <a:xfrm>
                <a:off x="5489575" y="5653088"/>
                <a:ext cx="474663" cy="519112"/>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sp>
            <p:nvSpPr>
              <p:cNvPr id="47" name="Text Box 67">
                <a:extLst>
                  <a:ext uri="{FF2B5EF4-FFF2-40B4-BE49-F238E27FC236}">
                    <a16:creationId xmlns:a16="http://schemas.microsoft.com/office/drawing/2014/main" id="{A85C2B91-9DA7-AC56-EC33-323902C3A519}"/>
                  </a:ext>
                </a:extLst>
              </p:cNvPr>
              <p:cNvSpPr txBox="1">
                <a:spLocks noChangeArrowheads="1"/>
              </p:cNvSpPr>
              <p:nvPr/>
            </p:nvSpPr>
            <p:spPr bwMode="auto">
              <a:xfrm>
                <a:off x="196606" y="850899"/>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grpSp>
        <p:sp>
          <p:nvSpPr>
            <p:cNvPr id="33" name="Line 84">
              <a:extLst>
                <a:ext uri="{FF2B5EF4-FFF2-40B4-BE49-F238E27FC236}">
                  <a16:creationId xmlns:a16="http://schemas.microsoft.com/office/drawing/2014/main" id="{3071BEE8-825C-92FE-0324-A3F558E5776D}"/>
                </a:ext>
              </a:extLst>
            </p:cNvPr>
            <p:cNvSpPr>
              <a:spLocks noChangeShapeType="1"/>
            </p:cNvSpPr>
            <p:nvPr/>
          </p:nvSpPr>
          <p:spPr bwMode="auto">
            <a:xfrm flipH="1" flipV="1">
              <a:off x="4770674" y="3537745"/>
              <a:ext cx="1" cy="2362200"/>
            </a:xfrm>
            <a:prstGeom prst="line">
              <a:avLst/>
            </a:prstGeom>
            <a:noFill/>
            <a:ln w="57150">
              <a:solidFill>
                <a:srgbClr val="0000FF"/>
              </a:solidFill>
              <a:round/>
              <a:headEnd/>
              <a:tailEnd/>
            </a:ln>
          </p:spPr>
          <p:txBody>
            <a:bodyPr/>
            <a:lstStyle/>
            <a:p>
              <a:endParaRPr lang="en-US"/>
            </a:p>
          </p:txBody>
        </p:sp>
        <p:sp>
          <p:nvSpPr>
            <p:cNvPr id="34" name="Line 87">
              <a:extLst>
                <a:ext uri="{FF2B5EF4-FFF2-40B4-BE49-F238E27FC236}">
                  <a16:creationId xmlns:a16="http://schemas.microsoft.com/office/drawing/2014/main" id="{2225CB07-24C2-0E05-3ACE-88168650741B}"/>
                </a:ext>
              </a:extLst>
            </p:cNvPr>
            <p:cNvSpPr>
              <a:spLocks noChangeShapeType="1"/>
            </p:cNvSpPr>
            <p:nvPr/>
          </p:nvSpPr>
          <p:spPr bwMode="auto">
            <a:xfrm flipH="1" flipV="1">
              <a:off x="3959638" y="2940978"/>
              <a:ext cx="2762" cy="576801"/>
            </a:xfrm>
            <a:prstGeom prst="line">
              <a:avLst/>
            </a:prstGeom>
            <a:noFill/>
            <a:ln w="57150">
              <a:solidFill>
                <a:srgbClr val="0000FF"/>
              </a:solidFill>
              <a:round/>
              <a:headEnd/>
              <a:tailEnd/>
            </a:ln>
          </p:spPr>
          <p:txBody>
            <a:bodyPr/>
            <a:lstStyle/>
            <a:p>
              <a:endParaRPr lang="en-US"/>
            </a:p>
          </p:txBody>
        </p:sp>
        <p:sp>
          <p:nvSpPr>
            <p:cNvPr id="35" name="Line 88">
              <a:extLst>
                <a:ext uri="{FF2B5EF4-FFF2-40B4-BE49-F238E27FC236}">
                  <a16:creationId xmlns:a16="http://schemas.microsoft.com/office/drawing/2014/main" id="{14D8A46F-5720-2E91-22F5-9F8E9E8808D5}"/>
                </a:ext>
              </a:extLst>
            </p:cNvPr>
            <p:cNvSpPr>
              <a:spLocks noChangeShapeType="1"/>
            </p:cNvSpPr>
            <p:nvPr/>
          </p:nvSpPr>
          <p:spPr bwMode="auto">
            <a:xfrm>
              <a:off x="3962400" y="3505200"/>
              <a:ext cx="808274" cy="14277"/>
            </a:xfrm>
            <a:prstGeom prst="line">
              <a:avLst/>
            </a:prstGeom>
            <a:noFill/>
            <a:ln w="57150">
              <a:solidFill>
                <a:srgbClr val="0000FF"/>
              </a:solidFill>
              <a:round/>
              <a:headEnd/>
              <a:tailEnd/>
            </a:ln>
          </p:spPr>
          <p:txBody>
            <a:bodyPr/>
            <a:lstStyle/>
            <a:p>
              <a:endParaRPr lang="en-US"/>
            </a:p>
          </p:txBody>
        </p:sp>
        <p:sp>
          <p:nvSpPr>
            <p:cNvPr id="36" name="Line 90">
              <a:extLst>
                <a:ext uri="{FF2B5EF4-FFF2-40B4-BE49-F238E27FC236}">
                  <a16:creationId xmlns:a16="http://schemas.microsoft.com/office/drawing/2014/main" id="{A918DD13-D0F0-FFA9-685B-3CC556114D45}"/>
                </a:ext>
              </a:extLst>
            </p:cNvPr>
            <p:cNvSpPr>
              <a:spLocks noChangeShapeType="1"/>
            </p:cNvSpPr>
            <p:nvPr/>
          </p:nvSpPr>
          <p:spPr bwMode="auto">
            <a:xfrm flipV="1">
              <a:off x="3200400" y="2209800"/>
              <a:ext cx="0" cy="781050"/>
            </a:xfrm>
            <a:prstGeom prst="line">
              <a:avLst/>
            </a:prstGeom>
            <a:noFill/>
            <a:ln w="57150">
              <a:solidFill>
                <a:srgbClr val="0000FF"/>
              </a:solidFill>
              <a:round/>
              <a:headEnd/>
              <a:tailEnd/>
            </a:ln>
          </p:spPr>
          <p:txBody>
            <a:bodyPr/>
            <a:lstStyle/>
            <a:p>
              <a:endParaRPr lang="en-US"/>
            </a:p>
          </p:txBody>
        </p:sp>
        <p:sp>
          <p:nvSpPr>
            <p:cNvPr id="37" name="Line 91">
              <a:extLst>
                <a:ext uri="{FF2B5EF4-FFF2-40B4-BE49-F238E27FC236}">
                  <a16:creationId xmlns:a16="http://schemas.microsoft.com/office/drawing/2014/main" id="{8390B311-3A9B-52E1-664A-81787864A6EE}"/>
                </a:ext>
              </a:extLst>
            </p:cNvPr>
            <p:cNvSpPr>
              <a:spLocks noChangeShapeType="1"/>
            </p:cNvSpPr>
            <p:nvPr/>
          </p:nvSpPr>
          <p:spPr bwMode="auto">
            <a:xfrm flipV="1">
              <a:off x="3190835" y="2970233"/>
              <a:ext cx="756476" cy="1"/>
            </a:xfrm>
            <a:prstGeom prst="line">
              <a:avLst/>
            </a:prstGeom>
            <a:noFill/>
            <a:ln w="57150">
              <a:solidFill>
                <a:srgbClr val="0000FF"/>
              </a:solidFill>
              <a:round/>
              <a:headEnd/>
              <a:tailEnd/>
            </a:ln>
          </p:spPr>
          <p:txBody>
            <a:bodyPr/>
            <a:lstStyle/>
            <a:p>
              <a:endParaRPr lang="en-US"/>
            </a:p>
          </p:txBody>
        </p:sp>
        <p:sp>
          <p:nvSpPr>
            <p:cNvPr id="38" name="Line 93">
              <a:extLst>
                <a:ext uri="{FF2B5EF4-FFF2-40B4-BE49-F238E27FC236}">
                  <a16:creationId xmlns:a16="http://schemas.microsoft.com/office/drawing/2014/main" id="{5645F9EE-D8C5-3D3A-1069-2F8EE82DAD68}"/>
                </a:ext>
              </a:extLst>
            </p:cNvPr>
            <p:cNvSpPr>
              <a:spLocks noChangeShapeType="1"/>
            </p:cNvSpPr>
            <p:nvPr/>
          </p:nvSpPr>
          <p:spPr bwMode="auto">
            <a:xfrm flipV="1">
              <a:off x="2438391" y="1600200"/>
              <a:ext cx="0" cy="620712"/>
            </a:xfrm>
            <a:prstGeom prst="line">
              <a:avLst/>
            </a:prstGeom>
            <a:noFill/>
            <a:ln w="57150">
              <a:solidFill>
                <a:srgbClr val="0000FF"/>
              </a:solidFill>
              <a:round/>
              <a:headEnd/>
              <a:tailEnd/>
            </a:ln>
          </p:spPr>
          <p:txBody>
            <a:bodyPr/>
            <a:lstStyle/>
            <a:p>
              <a:endParaRPr lang="en-US"/>
            </a:p>
          </p:txBody>
        </p:sp>
        <p:sp>
          <p:nvSpPr>
            <p:cNvPr id="39" name="Line 94">
              <a:extLst>
                <a:ext uri="{FF2B5EF4-FFF2-40B4-BE49-F238E27FC236}">
                  <a16:creationId xmlns:a16="http://schemas.microsoft.com/office/drawing/2014/main" id="{12FDBFBC-8219-E111-BF0B-7297295407DD}"/>
                </a:ext>
              </a:extLst>
            </p:cNvPr>
            <p:cNvSpPr>
              <a:spLocks noChangeShapeType="1"/>
            </p:cNvSpPr>
            <p:nvPr/>
          </p:nvSpPr>
          <p:spPr bwMode="auto">
            <a:xfrm>
              <a:off x="2438401" y="2209800"/>
              <a:ext cx="762000" cy="0"/>
            </a:xfrm>
            <a:prstGeom prst="line">
              <a:avLst/>
            </a:prstGeom>
            <a:noFill/>
            <a:ln w="57150">
              <a:solidFill>
                <a:srgbClr val="0000FF"/>
              </a:solidFill>
              <a:round/>
              <a:headEnd/>
              <a:tailEnd/>
            </a:ln>
          </p:spPr>
          <p:txBody>
            <a:bodyPr/>
            <a:lstStyle/>
            <a:p>
              <a:endParaRPr lang="en-US" dirty="0"/>
            </a:p>
          </p:txBody>
        </p:sp>
        <p:sp>
          <p:nvSpPr>
            <p:cNvPr id="40" name="Line 93">
              <a:extLst>
                <a:ext uri="{FF2B5EF4-FFF2-40B4-BE49-F238E27FC236}">
                  <a16:creationId xmlns:a16="http://schemas.microsoft.com/office/drawing/2014/main" id="{0D4EA6AC-BB4E-952D-8B19-6052DC521C2A}"/>
                </a:ext>
              </a:extLst>
            </p:cNvPr>
            <p:cNvSpPr>
              <a:spLocks noChangeShapeType="1"/>
            </p:cNvSpPr>
            <p:nvPr/>
          </p:nvSpPr>
          <p:spPr bwMode="auto">
            <a:xfrm flipV="1">
              <a:off x="2412281" y="1676404"/>
              <a:ext cx="9566" cy="4223534"/>
            </a:xfrm>
            <a:prstGeom prst="line">
              <a:avLst/>
            </a:prstGeom>
            <a:noFill/>
            <a:ln w="12700">
              <a:solidFill>
                <a:schemeClr val="tx1"/>
              </a:solidFill>
              <a:prstDash val="dash"/>
              <a:round/>
              <a:headEnd/>
              <a:tailEnd/>
            </a:ln>
          </p:spPr>
          <p:txBody>
            <a:bodyPr/>
            <a:lstStyle/>
            <a:p>
              <a:endParaRPr lang="en-US"/>
            </a:p>
          </p:txBody>
        </p:sp>
        <p:sp>
          <p:nvSpPr>
            <p:cNvPr id="41" name="Line 93">
              <a:extLst>
                <a:ext uri="{FF2B5EF4-FFF2-40B4-BE49-F238E27FC236}">
                  <a16:creationId xmlns:a16="http://schemas.microsoft.com/office/drawing/2014/main" id="{F377A01C-0FE2-FE96-8C05-9441AC3B11F4}"/>
                </a:ext>
              </a:extLst>
            </p:cNvPr>
            <p:cNvSpPr>
              <a:spLocks noChangeShapeType="1"/>
            </p:cNvSpPr>
            <p:nvPr/>
          </p:nvSpPr>
          <p:spPr bwMode="auto">
            <a:xfrm flipH="1" flipV="1">
              <a:off x="3216278" y="2185277"/>
              <a:ext cx="4760" cy="3690141"/>
            </a:xfrm>
            <a:prstGeom prst="line">
              <a:avLst/>
            </a:prstGeom>
            <a:noFill/>
            <a:ln w="12700">
              <a:solidFill>
                <a:schemeClr val="tx1"/>
              </a:solidFill>
              <a:prstDash val="dash"/>
              <a:round/>
              <a:headEnd/>
              <a:tailEnd/>
            </a:ln>
          </p:spPr>
          <p:txBody>
            <a:bodyPr/>
            <a:lstStyle/>
            <a:p>
              <a:endParaRPr lang="en-US"/>
            </a:p>
          </p:txBody>
        </p:sp>
        <p:sp>
          <p:nvSpPr>
            <p:cNvPr id="42" name="Line 93">
              <a:extLst>
                <a:ext uri="{FF2B5EF4-FFF2-40B4-BE49-F238E27FC236}">
                  <a16:creationId xmlns:a16="http://schemas.microsoft.com/office/drawing/2014/main" id="{9E752A8D-13DC-BD5F-3A99-179C5898F5FA}"/>
                </a:ext>
              </a:extLst>
            </p:cNvPr>
            <p:cNvSpPr>
              <a:spLocks noChangeShapeType="1"/>
            </p:cNvSpPr>
            <p:nvPr/>
          </p:nvSpPr>
          <p:spPr bwMode="auto">
            <a:xfrm flipH="1" flipV="1">
              <a:off x="3967959" y="2953598"/>
              <a:ext cx="15079" cy="2932059"/>
            </a:xfrm>
            <a:prstGeom prst="line">
              <a:avLst/>
            </a:prstGeom>
            <a:noFill/>
            <a:ln w="12700">
              <a:solidFill>
                <a:schemeClr val="tx1"/>
              </a:solidFill>
              <a:prstDash val="dash"/>
              <a:round/>
              <a:headEnd/>
              <a:tailEnd/>
            </a:ln>
          </p:spPr>
          <p:txBody>
            <a:bodyPr/>
            <a:lstStyle/>
            <a:p>
              <a:endParaRPr lang="en-US"/>
            </a:p>
          </p:txBody>
        </p:sp>
        <p:sp>
          <p:nvSpPr>
            <p:cNvPr id="43" name="Line 93">
              <a:extLst>
                <a:ext uri="{FF2B5EF4-FFF2-40B4-BE49-F238E27FC236}">
                  <a16:creationId xmlns:a16="http://schemas.microsoft.com/office/drawing/2014/main" id="{018C69B9-12A4-BB93-B682-3757F9CD3510}"/>
                </a:ext>
              </a:extLst>
            </p:cNvPr>
            <p:cNvSpPr>
              <a:spLocks noChangeShapeType="1"/>
            </p:cNvSpPr>
            <p:nvPr/>
          </p:nvSpPr>
          <p:spPr bwMode="auto">
            <a:xfrm>
              <a:off x="1621879" y="2183597"/>
              <a:ext cx="1568956" cy="803"/>
            </a:xfrm>
            <a:prstGeom prst="line">
              <a:avLst/>
            </a:prstGeom>
            <a:noFill/>
            <a:ln w="12700">
              <a:solidFill>
                <a:schemeClr val="tx1"/>
              </a:solidFill>
              <a:prstDash val="dash"/>
              <a:round/>
              <a:headEnd/>
              <a:tailEnd/>
            </a:ln>
          </p:spPr>
          <p:txBody>
            <a:bodyPr/>
            <a:lstStyle/>
            <a:p>
              <a:endParaRPr lang="en-US"/>
            </a:p>
          </p:txBody>
        </p:sp>
        <p:sp>
          <p:nvSpPr>
            <p:cNvPr id="44" name="Line 93">
              <a:extLst>
                <a:ext uri="{FF2B5EF4-FFF2-40B4-BE49-F238E27FC236}">
                  <a16:creationId xmlns:a16="http://schemas.microsoft.com/office/drawing/2014/main" id="{C58C4DF4-2843-DA7E-CF7C-A26AC3A7A99B}"/>
                </a:ext>
              </a:extLst>
            </p:cNvPr>
            <p:cNvSpPr>
              <a:spLocks noChangeShapeType="1"/>
            </p:cNvSpPr>
            <p:nvPr/>
          </p:nvSpPr>
          <p:spPr bwMode="auto">
            <a:xfrm flipV="1">
              <a:off x="1621878" y="2946400"/>
              <a:ext cx="2340521" cy="10508"/>
            </a:xfrm>
            <a:prstGeom prst="line">
              <a:avLst/>
            </a:prstGeom>
            <a:noFill/>
            <a:ln w="12700">
              <a:solidFill>
                <a:schemeClr val="tx1"/>
              </a:solidFill>
              <a:prstDash val="dash"/>
              <a:round/>
              <a:headEnd/>
              <a:tailEnd/>
            </a:ln>
          </p:spPr>
          <p:txBody>
            <a:bodyPr/>
            <a:lstStyle/>
            <a:p>
              <a:endParaRPr lang="en-US"/>
            </a:p>
          </p:txBody>
        </p:sp>
        <p:sp>
          <p:nvSpPr>
            <p:cNvPr id="45" name="Line 93">
              <a:extLst>
                <a:ext uri="{FF2B5EF4-FFF2-40B4-BE49-F238E27FC236}">
                  <a16:creationId xmlns:a16="http://schemas.microsoft.com/office/drawing/2014/main" id="{C40AF16B-E428-E1EA-ABD7-DD5A27ADFE4C}"/>
                </a:ext>
              </a:extLst>
            </p:cNvPr>
            <p:cNvSpPr>
              <a:spLocks noChangeShapeType="1"/>
            </p:cNvSpPr>
            <p:nvPr/>
          </p:nvSpPr>
          <p:spPr bwMode="auto">
            <a:xfrm flipV="1">
              <a:off x="1607739" y="3479800"/>
              <a:ext cx="3162934" cy="11313"/>
            </a:xfrm>
            <a:prstGeom prst="line">
              <a:avLst/>
            </a:prstGeom>
            <a:noFill/>
            <a:ln w="12700">
              <a:solidFill>
                <a:schemeClr val="tx1"/>
              </a:solidFill>
              <a:prstDash val="dash"/>
              <a:round/>
              <a:headEnd/>
              <a:tailEnd/>
            </a:ln>
          </p:spPr>
          <p:txBody>
            <a:bodyPr/>
            <a:lstStyle/>
            <a:p>
              <a:endParaRPr lang="en-US"/>
            </a:p>
          </p:txBody>
        </p:sp>
      </p:grpSp>
      <p:sp>
        <p:nvSpPr>
          <p:cNvPr id="5125" name="Rectangle 3"/>
          <p:cNvSpPr>
            <a:spLocks noGrp="1" noChangeArrowheads="1"/>
          </p:cNvSpPr>
          <p:nvPr>
            <p:ph type="title"/>
          </p:nvPr>
        </p:nvSpPr>
        <p:spPr/>
        <p:txBody>
          <a:bodyPr/>
          <a:lstStyle/>
          <a:p>
            <a:pPr eaLnBrk="1" hangingPunct="1"/>
            <a:r>
              <a:rPr lang="en-US" dirty="0">
                <a:solidFill>
                  <a:srgbClr val="AE1221"/>
                </a:solidFill>
              </a:rPr>
              <a:t>EXAMPLE 1E: </a:t>
            </a:r>
            <a:r>
              <a:rPr lang="en-US" dirty="0">
                <a:solidFill>
                  <a:schemeClr val="tx1"/>
                </a:solidFill>
              </a:rPr>
              <a:t>A lower price increases </a:t>
            </a:r>
            <a:r>
              <a:rPr lang="en-US" b="1" i="1" dirty="0">
                <a:solidFill>
                  <a:schemeClr val="tx1"/>
                </a:solidFill>
              </a:rPr>
              <a:t>CS</a:t>
            </a:r>
          </a:p>
        </p:txBody>
      </p:sp>
      <p:sp>
        <p:nvSpPr>
          <p:cNvPr id="7" name="Slide Number Placeholder 6"/>
          <p:cNvSpPr>
            <a:spLocks noGrp="1"/>
          </p:cNvSpPr>
          <p:nvPr>
            <p:ph type="sldNum" sz="quarter" idx="10"/>
          </p:nvPr>
        </p:nvSpPr>
        <p:spPr/>
        <p:txBody>
          <a:bodyPr/>
          <a:lstStyle/>
          <a:p>
            <a:pPr>
              <a:defRPr/>
            </a:pPr>
            <a:fld id="{2F37425F-5E17-4209-B948-B5CE2119E408}" type="slidenum">
              <a:rPr lang="en-US" smtClean="0"/>
              <a:pPr>
                <a:defRPr/>
              </a:pPr>
              <a:t>12</a:t>
            </a:fld>
            <a:endParaRPr lang="en-US" dirty="0"/>
          </a:p>
        </p:txBody>
      </p:sp>
      <p:sp>
        <p:nvSpPr>
          <p:cNvPr id="5" name="Text Placeholder 4"/>
          <p:cNvSpPr>
            <a:spLocks noGrp="1"/>
          </p:cNvSpPr>
          <p:nvPr>
            <p:ph idx="12"/>
          </p:nvPr>
        </p:nvSpPr>
        <p:spPr>
          <a:xfrm>
            <a:off x="5406061" y="1097756"/>
            <a:ext cx="3663336" cy="5150643"/>
          </a:xfrm>
        </p:spPr>
        <p:txBody>
          <a:bodyPr>
            <a:noAutofit/>
          </a:bodyPr>
          <a:lstStyle/>
          <a:p>
            <a:pPr>
              <a:spcBef>
                <a:spcPct val="40000"/>
              </a:spcBef>
              <a:buClr>
                <a:srgbClr val="00B85C"/>
              </a:buClr>
              <a:buSzPct val="120000"/>
              <a:buFont typeface="Wingdings" pitchFamily="2" charset="2"/>
              <a:buNone/>
            </a:pPr>
            <a:r>
              <a:rPr lang="en-US" dirty="0">
                <a:cs typeface="Arial"/>
              </a:rPr>
              <a:t>Suppose </a:t>
            </a:r>
            <a:r>
              <a:rPr lang="en-US" b="1" i="1" dirty="0">
                <a:solidFill>
                  <a:srgbClr val="4E519E"/>
                </a:solidFill>
                <a:cs typeface="Arial"/>
              </a:rPr>
              <a:t>P</a:t>
            </a:r>
            <a:r>
              <a:rPr lang="en-US" dirty="0">
                <a:solidFill>
                  <a:srgbClr val="4E519E"/>
                </a:solidFill>
                <a:cs typeface="Arial"/>
              </a:rPr>
              <a:t> = $320  </a:t>
            </a:r>
            <a:endParaRPr lang="en-US" sz="1400" dirty="0">
              <a:cs typeface="Arial"/>
            </a:endParaRPr>
          </a:p>
          <a:p>
            <a:pPr>
              <a:spcBef>
                <a:spcPct val="40000"/>
              </a:spcBef>
              <a:buClr>
                <a:srgbClr val="00B85C"/>
              </a:buClr>
              <a:buSzPct val="120000"/>
              <a:buFont typeface="Wingdings" pitchFamily="2" charset="2"/>
              <a:buNone/>
            </a:pPr>
            <a:r>
              <a:rPr lang="en-US" dirty="0">
                <a:solidFill>
                  <a:srgbClr val="4E519E"/>
                </a:solidFill>
                <a:cs typeface="Arial"/>
              </a:rPr>
              <a:t>Fatima’s </a:t>
            </a:r>
            <a:r>
              <a:rPr lang="en-US" b="1" i="1" dirty="0">
                <a:solidFill>
                  <a:srgbClr val="4E519E"/>
                </a:solidFill>
                <a:cs typeface="Arial"/>
              </a:rPr>
              <a:t>CS</a:t>
            </a:r>
            <a:r>
              <a:rPr lang="en-US" dirty="0">
                <a:solidFill>
                  <a:srgbClr val="4E519E"/>
                </a:solidFill>
                <a:cs typeface="Arial"/>
              </a:rPr>
              <a:t> = WTP – P </a:t>
            </a:r>
            <a:r>
              <a:rPr lang="en-US" dirty="0">
                <a:cs typeface="Arial"/>
              </a:rPr>
              <a:t>= $400 – 320 = </a:t>
            </a:r>
            <a:r>
              <a:rPr lang="en-US" dirty="0">
                <a:solidFill>
                  <a:srgbClr val="C00000"/>
                </a:solidFill>
                <a:cs typeface="Arial"/>
              </a:rPr>
              <a:t>$80</a:t>
            </a:r>
          </a:p>
          <a:p>
            <a:pPr>
              <a:spcBef>
                <a:spcPct val="40000"/>
              </a:spcBef>
              <a:buClr>
                <a:srgbClr val="00B85C"/>
              </a:buClr>
              <a:buSzPct val="120000"/>
              <a:buFont typeface="Wingdings" pitchFamily="2" charset="2"/>
              <a:buNone/>
            </a:pPr>
            <a:r>
              <a:rPr lang="en-US" sz="1400" dirty="0">
                <a:cs typeface="Arial"/>
              </a:rPr>
              <a:t>   </a:t>
            </a:r>
            <a:r>
              <a:rPr lang="en-US" dirty="0">
                <a:solidFill>
                  <a:srgbClr val="4E519E"/>
                </a:solidFill>
                <a:cs typeface="Arial"/>
              </a:rPr>
              <a:t>Alexis’ </a:t>
            </a:r>
            <a:r>
              <a:rPr lang="en-US" b="1" i="1" dirty="0">
                <a:solidFill>
                  <a:srgbClr val="4E519E"/>
                </a:solidFill>
                <a:cs typeface="Arial"/>
              </a:rPr>
              <a:t>CS</a:t>
            </a:r>
            <a:r>
              <a:rPr lang="en-US" dirty="0">
                <a:solidFill>
                  <a:srgbClr val="4E519E"/>
                </a:solidFill>
                <a:cs typeface="Arial"/>
              </a:rPr>
              <a:t> = WTP – P </a:t>
            </a:r>
            <a:r>
              <a:rPr lang="en-US" dirty="0">
                <a:cs typeface="Arial"/>
              </a:rPr>
              <a:t>= $350 – 320 = </a:t>
            </a:r>
            <a:r>
              <a:rPr lang="en-US" dirty="0">
                <a:solidFill>
                  <a:srgbClr val="C00000"/>
                </a:solidFill>
                <a:cs typeface="Arial"/>
              </a:rPr>
              <a:t>$30</a:t>
            </a:r>
          </a:p>
          <a:p>
            <a:pPr>
              <a:spcBef>
                <a:spcPct val="40000"/>
              </a:spcBef>
              <a:buClr>
                <a:srgbClr val="00B85C"/>
              </a:buClr>
              <a:buSzPct val="120000"/>
              <a:buFont typeface="Wingdings" pitchFamily="2" charset="2"/>
              <a:buNone/>
            </a:pPr>
            <a:r>
              <a:rPr lang="en-US" sz="1100" dirty="0">
                <a:cs typeface="Arial"/>
              </a:rPr>
              <a:t>    </a:t>
            </a:r>
            <a:r>
              <a:rPr lang="en-US" dirty="0">
                <a:cs typeface="Arial"/>
              </a:rPr>
              <a:t>Total </a:t>
            </a:r>
            <a:r>
              <a:rPr lang="en-US" b="1" i="1" dirty="0">
                <a:cs typeface="Arial"/>
              </a:rPr>
              <a:t>CS</a:t>
            </a:r>
            <a:r>
              <a:rPr lang="en-US" dirty="0">
                <a:cs typeface="Arial"/>
              </a:rPr>
              <a:t> = </a:t>
            </a:r>
            <a:r>
              <a:rPr lang="en-US" dirty="0">
                <a:solidFill>
                  <a:srgbClr val="C00000"/>
                </a:solidFill>
                <a:cs typeface="Arial"/>
              </a:rPr>
              <a:t>$110</a:t>
            </a:r>
          </a:p>
          <a:p>
            <a:endParaRPr lang="en-US" dirty="0"/>
          </a:p>
        </p:txBody>
      </p:sp>
      <p:grpSp>
        <p:nvGrpSpPr>
          <p:cNvPr id="3" name="Group 16"/>
          <p:cNvGrpSpPr>
            <a:grpSpLocks/>
          </p:cNvGrpSpPr>
          <p:nvPr/>
        </p:nvGrpSpPr>
        <p:grpSpPr bwMode="auto">
          <a:xfrm>
            <a:off x="2765181" y="958850"/>
            <a:ext cx="2359024" cy="792163"/>
            <a:chOff x="1560" y="644"/>
            <a:chExt cx="1486" cy="499"/>
          </a:xfrm>
        </p:grpSpPr>
        <p:sp>
          <p:nvSpPr>
            <p:cNvPr id="5138" name="Arc 17"/>
            <p:cNvSpPr>
              <a:spLocks/>
            </p:cNvSpPr>
            <p:nvPr/>
          </p:nvSpPr>
          <p:spPr bwMode="auto">
            <a:xfrm flipV="1">
              <a:off x="1629" y="938"/>
              <a:ext cx="539" cy="205"/>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rgbClr val="4E519E"/>
              </a:solidFill>
              <a:round/>
              <a:headEnd type="triangle" w="lg" len="med"/>
              <a:tailEnd type="none" w="lg" len="med"/>
            </a:ln>
          </p:spPr>
          <p:txBody>
            <a:bodyPr wrap="none" anchor="ctr"/>
            <a:lstStyle/>
            <a:p>
              <a:endParaRPr lang="en-US">
                <a:latin typeface="Arial"/>
                <a:cs typeface="Arial"/>
              </a:endParaRPr>
            </a:p>
          </p:txBody>
        </p:sp>
        <p:sp>
          <p:nvSpPr>
            <p:cNvPr id="5139" name="Text Box 18"/>
            <p:cNvSpPr txBox="1">
              <a:spLocks noChangeArrowheads="1"/>
            </p:cNvSpPr>
            <p:nvPr/>
          </p:nvSpPr>
          <p:spPr bwMode="auto">
            <a:xfrm>
              <a:off x="1560" y="644"/>
              <a:ext cx="1486" cy="301"/>
            </a:xfrm>
            <a:prstGeom prst="rect">
              <a:avLst/>
            </a:prstGeom>
            <a:solidFill>
              <a:srgbClr val="E3F0FA"/>
            </a:solid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Fatima’s WTP</a:t>
              </a:r>
            </a:p>
          </p:txBody>
        </p:sp>
      </p:grpSp>
      <p:sp>
        <p:nvSpPr>
          <p:cNvPr id="90136" name="Rectangle 24"/>
          <p:cNvSpPr>
            <a:spLocks noChangeArrowheads="1"/>
          </p:cNvSpPr>
          <p:nvPr/>
        </p:nvSpPr>
        <p:spPr bwMode="auto">
          <a:xfrm>
            <a:off x="2057100" y="1752600"/>
            <a:ext cx="801310" cy="913594"/>
          </a:xfrm>
          <a:prstGeom prst="rect">
            <a:avLst/>
          </a:prstGeom>
          <a:solidFill>
            <a:srgbClr val="92D050"/>
          </a:solidFill>
          <a:ln w="9525">
            <a:noFill/>
            <a:miter lim="800000"/>
            <a:headEnd/>
            <a:tailEnd/>
          </a:ln>
        </p:spPr>
        <p:txBody>
          <a:bodyPr wrap="none" anchor="ctr"/>
          <a:lstStyle/>
          <a:p>
            <a:endParaRPr lang="en-US">
              <a:cs typeface="Arial" charset="0"/>
            </a:endParaRPr>
          </a:p>
        </p:txBody>
      </p:sp>
      <p:sp>
        <p:nvSpPr>
          <p:cNvPr id="90138" name="Rectangle 26"/>
          <p:cNvSpPr>
            <a:spLocks noChangeArrowheads="1"/>
          </p:cNvSpPr>
          <p:nvPr/>
        </p:nvSpPr>
        <p:spPr bwMode="auto">
          <a:xfrm>
            <a:off x="2848843" y="2320926"/>
            <a:ext cx="789462" cy="338338"/>
          </a:xfrm>
          <a:prstGeom prst="rect">
            <a:avLst/>
          </a:prstGeom>
          <a:solidFill>
            <a:srgbClr val="00B050"/>
          </a:solidFill>
          <a:ln w="9525">
            <a:noFill/>
            <a:miter lim="800000"/>
            <a:headEnd/>
            <a:tailEnd/>
          </a:ln>
        </p:spPr>
        <p:txBody>
          <a:bodyPr wrap="none" anchor="ctr"/>
          <a:lstStyle/>
          <a:p>
            <a:endParaRPr lang="en-US">
              <a:cs typeface="Arial" charset="0"/>
            </a:endParaRPr>
          </a:p>
        </p:txBody>
      </p:sp>
      <p:grpSp>
        <p:nvGrpSpPr>
          <p:cNvPr id="4" name="Group 19"/>
          <p:cNvGrpSpPr>
            <a:grpSpLocks/>
          </p:cNvGrpSpPr>
          <p:nvPr/>
        </p:nvGrpSpPr>
        <p:grpSpPr bwMode="auto">
          <a:xfrm>
            <a:off x="2179393" y="2335212"/>
            <a:ext cx="1417638" cy="1803402"/>
            <a:chOff x="1095" y="1471"/>
            <a:chExt cx="893" cy="1136"/>
          </a:xfrm>
        </p:grpSpPr>
        <p:sp>
          <p:nvSpPr>
            <p:cNvPr id="5137" name="Text Box 21"/>
            <p:cNvSpPr txBox="1">
              <a:spLocks noChangeArrowheads="1"/>
            </p:cNvSpPr>
            <p:nvPr/>
          </p:nvSpPr>
          <p:spPr bwMode="auto">
            <a:xfrm>
              <a:off x="1095" y="2064"/>
              <a:ext cx="893" cy="543"/>
            </a:xfrm>
            <a:prstGeom prst="rect">
              <a:avLst/>
            </a:prstGeom>
            <a:solidFill>
              <a:srgbClr val="E3F0FA"/>
            </a:solid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Alexis’ WTP</a:t>
              </a:r>
            </a:p>
          </p:txBody>
        </p:sp>
        <p:sp>
          <p:nvSpPr>
            <p:cNvPr id="5136" name="Arc 20"/>
            <p:cNvSpPr>
              <a:spLocks/>
            </p:cNvSpPr>
            <p:nvPr/>
          </p:nvSpPr>
          <p:spPr bwMode="auto">
            <a:xfrm flipV="1">
              <a:off x="1479" y="1471"/>
              <a:ext cx="456" cy="598"/>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rgbClr val="4E519E"/>
              </a:solidFill>
              <a:round/>
              <a:headEnd type="none" w="med" len="med"/>
              <a:tailEnd type="triangle" w="med" len="med"/>
            </a:ln>
          </p:spPr>
          <p:txBody>
            <a:bodyPr wrap="none" anchor="ctr"/>
            <a:lstStyle/>
            <a:p>
              <a:endParaRPr lang="en-US">
                <a:latin typeface="Arial"/>
                <a:cs typeface="Arial"/>
              </a:endParaRPr>
            </a:p>
          </p:txBody>
        </p:sp>
      </p:grpSp>
      <p:grpSp>
        <p:nvGrpSpPr>
          <p:cNvPr id="8" name="Group 7">
            <a:extLst>
              <a:ext uri="{FF2B5EF4-FFF2-40B4-BE49-F238E27FC236}">
                <a16:creationId xmlns:a16="http://schemas.microsoft.com/office/drawing/2014/main" id="{FE6731FB-BED4-4887-2A4B-000E79654AAB}"/>
              </a:ext>
            </a:extLst>
          </p:cNvPr>
          <p:cNvGrpSpPr/>
          <p:nvPr/>
        </p:nvGrpSpPr>
        <p:grpSpPr>
          <a:xfrm>
            <a:off x="152400" y="2286000"/>
            <a:ext cx="3465268" cy="461665"/>
            <a:chOff x="152400" y="2286000"/>
            <a:chExt cx="3465268" cy="461665"/>
          </a:xfrm>
        </p:grpSpPr>
        <p:grpSp>
          <p:nvGrpSpPr>
            <p:cNvPr id="6" name="Group 5">
              <a:extLst>
                <a:ext uri="{FF2B5EF4-FFF2-40B4-BE49-F238E27FC236}">
                  <a16:creationId xmlns:a16="http://schemas.microsoft.com/office/drawing/2014/main" id="{82FD6857-E804-B4E0-80EF-38953DB796F5}"/>
                </a:ext>
              </a:extLst>
            </p:cNvPr>
            <p:cNvGrpSpPr/>
            <p:nvPr/>
          </p:nvGrpSpPr>
          <p:grpSpPr>
            <a:xfrm>
              <a:off x="1524000" y="2590806"/>
              <a:ext cx="2093668" cy="76194"/>
              <a:chOff x="944807" y="2590806"/>
              <a:chExt cx="2093668" cy="76194"/>
            </a:xfrm>
          </p:grpSpPr>
          <p:sp>
            <p:nvSpPr>
              <p:cNvPr id="90135" name="Line 23"/>
              <p:cNvSpPr>
                <a:spLocks noChangeShapeType="1"/>
              </p:cNvSpPr>
              <p:nvPr/>
            </p:nvSpPr>
            <p:spPr bwMode="auto">
              <a:xfrm>
                <a:off x="1371600" y="2667000"/>
                <a:ext cx="1666875" cy="0"/>
              </a:xfrm>
              <a:prstGeom prst="line">
                <a:avLst/>
              </a:prstGeom>
              <a:noFill/>
              <a:ln w="38100">
                <a:solidFill>
                  <a:srgbClr val="4E519E"/>
                </a:solidFill>
                <a:round/>
                <a:headEnd/>
                <a:tailEnd/>
              </a:ln>
            </p:spPr>
            <p:txBody>
              <a:bodyPr/>
              <a:lstStyle/>
              <a:p>
                <a:endParaRPr lang="en-US"/>
              </a:p>
            </p:txBody>
          </p:sp>
          <p:sp>
            <p:nvSpPr>
              <p:cNvPr id="90137" name="Line 25"/>
              <p:cNvSpPr>
                <a:spLocks noChangeShapeType="1"/>
              </p:cNvSpPr>
              <p:nvPr/>
            </p:nvSpPr>
            <p:spPr bwMode="auto">
              <a:xfrm>
                <a:off x="944807" y="2590806"/>
                <a:ext cx="413853" cy="75388"/>
              </a:xfrm>
              <a:prstGeom prst="line">
                <a:avLst/>
              </a:prstGeom>
              <a:noFill/>
              <a:ln w="38100">
                <a:solidFill>
                  <a:srgbClr val="4E519E"/>
                </a:solidFill>
                <a:round/>
                <a:headEnd/>
                <a:tailEnd type="triangle" w="lg" len="med"/>
              </a:ln>
            </p:spPr>
            <p:txBody>
              <a:bodyPr/>
              <a:lstStyle/>
              <a:p>
                <a:endParaRPr lang="en-US"/>
              </a:p>
            </p:txBody>
          </p:sp>
        </p:grpSp>
        <p:sp>
          <p:nvSpPr>
            <p:cNvPr id="49" name="TextBox 48">
              <a:extLst>
                <a:ext uri="{FF2B5EF4-FFF2-40B4-BE49-F238E27FC236}">
                  <a16:creationId xmlns:a16="http://schemas.microsoft.com/office/drawing/2014/main" id="{30EFF736-404B-D08A-2AF0-56A53A15ED1E}"/>
                </a:ext>
              </a:extLst>
            </p:cNvPr>
            <p:cNvSpPr txBox="1"/>
            <p:nvPr/>
          </p:nvSpPr>
          <p:spPr>
            <a:xfrm>
              <a:off x="152400" y="2286000"/>
              <a:ext cx="1595309" cy="461665"/>
            </a:xfrm>
            <a:prstGeom prst="rect">
              <a:avLst/>
            </a:prstGeom>
            <a:noFill/>
          </p:spPr>
          <p:txBody>
            <a:bodyPr wrap="none" rtlCol="0">
              <a:spAutoFit/>
            </a:bodyPr>
            <a:lstStyle/>
            <a:p>
              <a:r>
                <a:rPr lang="en-US" sz="2400" b="1" i="1" dirty="0">
                  <a:solidFill>
                    <a:srgbClr val="4E519E"/>
                  </a:solidFill>
                  <a:cs typeface="Arial"/>
                </a:rPr>
                <a:t>P</a:t>
              </a:r>
              <a:r>
                <a:rPr lang="en-US" sz="2400" dirty="0">
                  <a:solidFill>
                    <a:srgbClr val="4E519E"/>
                  </a:solidFill>
                  <a:cs typeface="Arial"/>
                </a:rPr>
                <a:t> = $320  </a:t>
              </a:r>
            </a:p>
          </p:txBody>
        </p:sp>
      </p:grpSp>
      <p:sp>
        <p:nvSpPr>
          <p:cNvPr id="2" name="Footer Placeholder 1">
            <a:extLst>
              <a:ext uri="{FF2B5EF4-FFF2-40B4-BE49-F238E27FC236}">
                <a16:creationId xmlns:a16="http://schemas.microsoft.com/office/drawing/2014/main" id="{7E026829-822D-F694-9627-573AE27A7C6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8697166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wipe(left)">
                                      <p:cBhvr>
                                        <p:cTn id="16" dur="500"/>
                                        <p:tgtEl>
                                          <p:spTgt spid="5">
                                            <p:txEl>
                                              <p:pRg st="1" end="1"/>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90136"/>
                                        </p:tgtEl>
                                        <p:attrNameLst>
                                          <p:attrName>style.visibility</p:attrName>
                                        </p:attrNameLst>
                                      </p:cBhvr>
                                      <p:to>
                                        <p:strVal val="visible"/>
                                      </p:to>
                                    </p:set>
                                    <p:animEffect transition="in" filter="wipe(left)">
                                      <p:cBhvr>
                                        <p:cTn id="20" dur="500"/>
                                        <p:tgtEl>
                                          <p:spTgt spid="9013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wipe(left)">
                                      <p:cBhvr>
                                        <p:cTn id="25" dur="500"/>
                                        <p:tgtEl>
                                          <p:spTgt spid="5">
                                            <p:txEl>
                                              <p:pRg st="2" end="2"/>
                                            </p:tx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90138"/>
                                        </p:tgtEl>
                                        <p:attrNameLst>
                                          <p:attrName>style.visibility</p:attrName>
                                        </p:attrNameLst>
                                      </p:cBhvr>
                                      <p:to>
                                        <p:strVal val="visible"/>
                                      </p:to>
                                    </p:set>
                                    <p:animEffect transition="in" filter="wipe(left)">
                                      <p:cBhvr>
                                        <p:cTn id="29" dur="500"/>
                                        <p:tgtEl>
                                          <p:spTgt spid="9013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
                                            <p:txEl>
                                              <p:pRg st="3" end="3"/>
                                            </p:txEl>
                                          </p:spTgt>
                                        </p:tgtEl>
                                        <p:attrNameLst>
                                          <p:attrName>style.visibility</p:attrName>
                                        </p:attrNameLst>
                                      </p:cBhvr>
                                      <p:to>
                                        <p:strVal val="visible"/>
                                      </p:to>
                                    </p:set>
                                    <p:animEffect transition="in" filter="wipe(left)">
                                      <p:cBhvr>
                                        <p:cTn id="34"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90136" grpId="0" animBg="1"/>
      <p:bldP spid="9013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Consumer Surplus – 2 </a:t>
            </a:r>
          </a:p>
        </p:txBody>
      </p:sp>
      <p:sp>
        <p:nvSpPr>
          <p:cNvPr id="3" name="Content Placeholder 2"/>
          <p:cNvSpPr>
            <a:spLocks noGrp="1"/>
          </p:cNvSpPr>
          <p:nvPr>
            <p:ph idx="1"/>
          </p:nvPr>
        </p:nvSpPr>
        <p:spPr/>
        <p:txBody>
          <a:bodyPr/>
          <a:lstStyle/>
          <a:p>
            <a:r>
              <a:rPr lang="en-US" dirty="0"/>
              <a:t>Total consumer surplus </a:t>
            </a:r>
          </a:p>
          <a:p>
            <a:pPr lvl="1"/>
            <a:r>
              <a:rPr lang="en-US" dirty="0"/>
              <a:t>The area below the demand curve and above the price </a:t>
            </a:r>
          </a:p>
          <a:p>
            <a:pPr lvl="2"/>
            <a:r>
              <a:rPr lang="en-US" dirty="0"/>
              <a:t>The height of the demand curve = the value buyers place on the good (</a:t>
            </a:r>
            <a:r>
              <a:rPr lang="en-US" b="1" i="1" dirty="0"/>
              <a:t>WTP</a:t>
            </a:r>
            <a:r>
              <a:rPr lang="en-US" dirty="0"/>
              <a:t>)</a:t>
            </a:r>
          </a:p>
          <a:p>
            <a:pPr lvl="2"/>
            <a:r>
              <a:rPr lang="en-US" dirty="0"/>
              <a:t>Each buyer’s </a:t>
            </a:r>
            <a:r>
              <a:rPr lang="en-US" b="1" i="1" dirty="0"/>
              <a:t>CS</a:t>
            </a:r>
            <a:r>
              <a:rPr lang="en-US" dirty="0"/>
              <a:t>  =  </a:t>
            </a:r>
            <a:r>
              <a:rPr lang="en-US" b="1" i="1" dirty="0"/>
              <a:t>WTP</a:t>
            </a:r>
            <a:r>
              <a:rPr lang="en-US" dirty="0"/>
              <a:t>  –  </a:t>
            </a:r>
            <a:r>
              <a:rPr lang="en-US" b="1" i="1" dirty="0"/>
              <a:t>P</a:t>
            </a:r>
          </a:p>
          <a:p>
            <a:pPr lvl="2"/>
            <a:r>
              <a:rPr lang="en-US" dirty="0"/>
              <a:t>The sum of the consumer surplus of all buyers in the market</a:t>
            </a:r>
          </a:p>
          <a:p>
            <a:pPr lvl="2"/>
            <a:r>
              <a:rPr lang="en-US" dirty="0"/>
              <a:t>The benefit that buyers derive from a market as the buyers themselves perceive it.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13</a:t>
            </a:fld>
            <a:endParaRPr lang="en-US"/>
          </a:p>
        </p:txBody>
      </p:sp>
      <p:sp>
        <p:nvSpPr>
          <p:cNvPr id="5" name="Footer Placeholder 4">
            <a:extLst>
              <a:ext uri="{FF2B5EF4-FFF2-40B4-BE49-F238E27FC236}">
                <a16:creationId xmlns:a16="http://schemas.microsoft.com/office/drawing/2014/main" id="{F3497E4F-69CB-E837-06F8-610CF4609907}"/>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36128375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5"/>
          <p:cNvGrpSpPr>
            <a:grpSpLocks/>
          </p:cNvGrpSpPr>
          <p:nvPr/>
        </p:nvGrpSpPr>
        <p:grpSpPr bwMode="auto">
          <a:xfrm>
            <a:off x="3690938" y="1009650"/>
            <a:ext cx="5076825" cy="5295900"/>
            <a:chOff x="2325" y="636"/>
            <a:chExt cx="3198" cy="3336"/>
          </a:xfrm>
        </p:grpSpPr>
        <p:grpSp>
          <p:nvGrpSpPr>
            <p:cNvPr id="3" name="Group 2"/>
            <p:cNvGrpSpPr>
              <a:grpSpLocks/>
            </p:cNvGrpSpPr>
            <p:nvPr/>
          </p:nvGrpSpPr>
          <p:grpSpPr bwMode="auto">
            <a:xfrm>
              <a:off x="2386" y="636"/>
              <a:ext cx="3137" cy="3336"/>
              <a:chOff x="2386" y="636"/>
              <a:chExt cx="3137" cy="3336"/>
            </a:xfrm>
          </p:grpSpPr>
          <p:graphicFrame>
            <p:nvGraphicFramePr>
              <p:cNvPr id="7170"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717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94"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7195"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7193" name="Text Box 24"/>
            <p:cNvSpPr txBox="1">
              <a:spLocks noChangeArrowheads="1"/>
            </p:cNvSpPr>
            <p:nvPr/>
          </p:nvSpPr>
          <p:spPr bwMode="auto">
            <a:xfrm>
              <a:off x="2325" y="1052"/>
              <a:ext cx="276" cy="298"/>
            </a:xfrm>
            <a:prstGeom prst="rect">
              <a:avLst/>
            </a:prstGeom>
            <a:noFill/>
            <a:ln w="9525">
              <a:noFill/>
              <a:miter lim="800000"/>
              <a:headEnd/>
              <a:tailEnd/>
            </a:ln>
          </p:spPr>
          <p:txBody>
            <a:bodyPr>
              <a:spAutoFit/>
            </a:bodyPr>
            <a:lstStyle/>
            <a:p>
              <a:pPr>
                <a:spcBef>
                  <a:spcPct val="50000"/>
                </a:spcBef>
              </a:pPr>
              <a:r>
                <a:rPr lang="en-US" sz="2500">
                  <a:latin typeface="Arial"/>
                  <a:cs typeface="Arial"/>
                </a:rPr>
                <a:t>$</a:t>
              </a:r>
            </a:p>
          </p:txBody>
        </p:sp>
      </p:grpSp>
      <p:sp>
        <p:nvSpPr>
          <p:cNvPr id="7174" name="Rectangle 6"/>
          <p:cNvSpPr>
            <a:spLocks noGrp="1" noChangeArrowheads="1"/>
          </p:cNvSpPr>
          <p:nvPr>
            <p:ph type="title"/>
          </p:nvPr>
        </p:nvSpPr>
        <p:spPr/>
        <p:txBody>
          <a:bodyPr>
            <a:normAutofit/>
          </a:bodyPr>
          <a:lstStyle/>
          <a:p>
            <a:pPr eaLnBrk="1" hangingPunct="1"/>
            <a:r>
              <a:rPr lang="en-US" dirty="0"/>
              <a:t>EXAMPLE 2: </a:t>
            </a:r>
            <a:r>
              <a:rPr lang="en-US" dirty="0">
                <a:solidFill>
                  <a:schemeClr val="tx1"/>
                </a:solidFill>
              </a:rPr>
              <a:t>Consumer surplus for one buyer</a:t>
            </a:r>
          </a:p>
        </p:txBody>
      </p:sp>
      <p:sp>
        <p:nvSpPr>
          <p:cNvPr id="107527" name="Rectangle 7"/>
          <p:cNvSpPr>
            <a:spLocks noGrp="1" noChangeArrowheads="1"/>
          </p:cNvSpPr>
          <p:nvPr>
            <p:ph idx="1"/>
          </p:nvPr>
        </p:nvSpPr>
        <p:spPr>
          <a:xfrm>
            <a:off x="228601" y="1828800"/>
            <a:ext cx="3462338" cy="4381500"/>
          </a:xfrm>
          <a:noFill/>
        </p:spPr>
        <p:txBody>
          <a:bodyPr>
            <a:normAutofit lnSpcReduction="10000"/>
          </a:bodyPr>
          <a:lstStyle/>
          <a:p>
            <a:pPr marL="0" indent="0" eaLnBrk="1" hangingPunct="1">
              <a:buFont typeface="Wingdings" pitchFamily="2" charset="2"/>
              <a:buNone/>
            </a:pPr>
            <a:r>
              <a:rPr lang="en-US" sz="2800" dirty="0"/>
              <a:t>At </a:t>
            </a:r>
            <a:r>
              <a:rPr lang="en-US" sz="2800" b="1" i="1" dirty="0"/>
              <a:t>Q</a:t>
            </a:r>
            <a:r>
              <a:rPr lang="en-US" sz="2800" dirty="0"/>
              <a:t> = 5, the marginal buyer is willing to pay $50 for a T-shirt.  </a:t>
            </a:r>
          </a:p>
          <a:p>
            <a:pPr marL="0" indent="0" eaLnBrk="1" hangingPunct="1">
              <a:buFont typeface="Wingdings" pitchFamily="2" charset="2"/>
              <a:buNone/>
            </a:pPr>
            <a:endParaRPr lang="en-US" sz="2800" dirty="0"/>
          </a:p>
          <a:p>
            <a:pPr marL="0" indent="0" eaLnBrk="1" hangingPunct="1">
              <a:buFont typeface="Wingdings" pitchFamily="2" charset="2"/>
              <a:buNone/>
            </a:pPr>
            <a:r>
              <a:rPr lang="en-US" sz="2800" dirty="0">
                <a:solidFill>
                  <a:srgbClr val="4E519E"/>
                </a:solidFill>
              </a:rPr>
              <a:t>Suppose </a:t>
            </a:r>
            <a:r>
              <a:rPr lang="en-US" sz="2800" b="1" i="1" dirty="0">
                <a:solidFill>
                  <a:srgbClr val="4E519E"/>
                </a:solidFill>
              </a:rPr>
              <a:t>P</a:t>
            </a:r>
            <a:r>
              <a:rPr lang="en-US" sz="2800" dirty="0">
                <a:solidFill>
                  <a:srgbClr val="4E519E"/>
                </a:solidFill>
              </a:rPr>
              <a:t> = $30. </a:t>
            </a:r>
          </a:p>
          <a:p>
            <a:pPr marL="0" indent="0" eaLnBrk="1" hangingPunct="1">
              <a:buFont typeface="Wingdings" pitchFamily="2" charset="2"/>
              <a:buNone/>
            </a:pPr>
            <a:endParaRPr lang="en-US" sz="2800" dirty="0"/>
          </a:p>
          <a:p>
            <a:pPr marL="0" indent="0" eaLnBrk="1" hangingPunct="1">
              <a:buFont typeface="Wingdings" pitchFamily="2" charset="2"/>
              <a:buNone/>
            </a:pPr>
            <a:r>
              <a:rPr lang="en-US" sz="2800" dirty="0"/>
              <a:t>Then his consumer surplus = WTP – P = $20.  </a:t>
            </a:r>
          </a:p>
          <a:p>
            <a:pPr marL="0" indent="0" eaLnBrk="1" hangingPunct="1">
              <a:buFont typeface="Wingdings" pitchFamily="2" charset="2"/>
              <a:buNone/>
            </a:pPr>
            <a:endParaRPr lang="en-US" sz="2800" dirty="0"/>
          </a:p>
        </p:txBody>
      </p:sp>
      <p:sp>
        <p:nvSpPr>
          <p:cNvPr id="9" name="Slide Number Placeholder 8"/>
          <p:cNvSpPr>
            <a:spLocks noGrp="1"/>
          </p:cNvSpPr>
          <p:nvPr>
            <p:ph type="sldNum" sz="quarter" idx="10"/>
          </p:nvPr>
        </p:nvSpPr>
        <p:spPr/>
        <p:txBody>
          <a:bodyPr/>
          <a:lstStyle/>
          <a:p>
            <a:pPr>
              <a:defRPr/>
            </a:pPr>
            <a:fld id="{2F37425F-5E17-4209-B948-B5CE2119E408}" type="slidenum">
              <a:rPr lang="en-US" smtClean="0"/>
              <a:pPr>
                <a:defRPr/>
              </a:pPr>
              <a:t>14</a:t>
            </a:fld>
            <a:endParaRPr lang="en-US" dirty="0"/>
          </a:p>
        </p:txBody>
      </p:sp>
      <p:sp>
        <p:nvSpPr>
          <p:cNvPr id="107528" name="Text Box 8"/>
          <p:cNvSpPr txBox="1">
            <a:spLocks noChangeArrowheads="1"/>
          </p:cNvSpPr>
          <p:nvPr/>
        </p:nvSpPr>
        <p:spPr bwMode="auto">
          <a:xfrm>
            <a:off x="4800600" y="1351746"/>
            <a:ext cx="3690281" cy="477054"/>
          </a:xfrm>
          <a:prstGeom prst="rect">
            <a:avLst/>
          </a:prstGeom>
          <a:no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The demand for T-shirts</a:t>
            </a:r>
          </a:p>
        </p:txBody>
      </p:sp>
      <p:grpSp>
        <p:nvGrpSpPr>
          <p:cNvPr id="4" name="Group 9"/>
          <p:cNvGrpSpPr>
            <a:grpSpLocks/>
          </p:cNvGrpSpPr>
          <p:nvPr/>
        </p:nvGrpSpPr>
        <p:grpSpPr bwMode="auto">
          <a:xfrm>
            <a:off x="4583113" y="1887538"/>
            <a:ext cx="3438525" cy="3495675"/>
            <a:chOff x="2887" y="1189"/>
            <a:chExt cx="2166" cy="2202"/>
          </a:xfrm>
        </p:grpSpPr>
        <p:sp>
          <p:nvSpPr>
            <p:cNvPr id="7190" name="Line 10"/>
            <p:cNvSpPr>
              <a:spLocks noChangeShapeType="1"/>
            </p:cNvSpPr>
            <p:nvPr/>
          </p:nvSpPr>
          <p:spPr bwMode="auto">
            <a:xfrm>
              <a:off x="2887" y="1189"/>
              <a:ext cx="1901" cy="1990"/>
            </a:xfrm>
            <a:prstGeom prst="line">
              <a:avLst/>
            </a:prstGeom>
            <a:noFill/>
            <a:ln w="44450">
              <a:solidFill>
                <a:srgbClr val="0000FF"/>
              </a:solidFill>
              <a:round/>
              <a:headEnd/>
              <a:tailEnd/>
            </a:ln>
          </p:spPr>
          <p:txBody>
            <a:bodyPr/>
            <a:lstStyle/>
            <a:p>
              <a:endParaRPr lang="en-US">
                <a:latin typeface="Arial"/>
                <a:cs typeface="Arial"/>
              </a:endParaRPr>
            </a:p>
          </p:txBody>
        </p:sp>
        <p:sp>
          <p:nvSpPr>
            <p:cNvPr id="7191" name="Rectangle 11"/>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2"/>
          <p:cNvGrpSpPr>
            <a:grpSpLocks/>
          </p:cNvGrpSpPr>
          <p:nvPr/>
        </p:nvGrpSpPr>
        <p:grpSpPr bwMode="auto">
          <a:xfrm>
            <a:off x="7342191" y="4127501"/>
            <a:ext cx="1630363" cy="1166813"/>
            <a:chOff x="4625" y="2600"/>
            <a:chExt cx="1027" cy="735"/>
          </a:xfrm>
        </p:grpSpPr>
        <p:sp>
          <p:nvSpPr>
            <p:cNvPr id="7188" name="Text Box 13"/>
            <p:cNvSpPr txBox="1">
              <a:spLocks noChangeArrowheads="1"/>
            </p:cNvSpPr>
            <p:nvPr/>
          </p:nvSpPr>
          <p:spPr bwMode="auto">
            <a:xfrm>
              <a:off x="4625" y="2600"/>
              <a:ext cx="1027" cy="301"/>
            </a:xfrm>
            <a:prstGeom prst="rect">
              <a:avLst/>
            </a:prstGeom>
            <a:noFill/>
            <a:ln w="9525">
              <a:solidFill>
                <a:srgbClr val="4E519E"/>
              </a:solidFill>
              <a:miter lim="800000"/>
              <a:headEnd/>
              <a:tailEnd/>
            </a:ln>
          </p:spPr>
          <p:txBody>
            <a:bodyPr wrap="square">
              <a:spAutoFit/>
            </a:bodyPr>
            <a:lstStyle/>
            <a:p>
              <a:pPr algn="ctr">
                <a:spcBef>
                  <a:spcPct val="50000"/>
                </a:spcBef>
              </a:pPr>
              <a:r>
                <a:rPr lang="en-US" sz="2500" dirty="0">
                  <a:latin typeface="Arial"/>
                  <a:cs typeface="Arial"/>
                </a:rPr>
                <a:t>T-shirts</a:t>
              </a:r>
            </a:p>
          </p:txBody>
        </p:sp>
        <p:sp>
          <p:nvSpPr>
            <p:cNvPr id="7189" name="Line 14"/>
            <p:cNvSpPr>
              <a:spLocks noChangeShapeType="1"/>
            </p:cNvSpPr>
            <p:nvPr/>
          </p:nvSpPr>
          <p:spPr bwMode="auto">
            <a:xfrm>
              <a:off x="4989" y="2901"/>
              <a:ext cx="299" cy="434"/>
            </a:xfrm>
            <a:prstGeom prst="line">
              <a:avLst/>
            </a:prstGeom>
            <a:noFill/>
            <a:ln w="38100">
              <a:solidFill>
                <a:srgbClr val="4E519E"/>
              </a:solidFill>
              <a:round/>
              <a:headEnd/>
              <a:tailEnd type="triangle" w="lg" len="med"/>
            </a:ln>
          </p:spPr>
          <p:txBody>
            <a:bodyPr/>
            <a:lstStyle/>
            <a:p>
              <a:endParaRPr lang="en-US">
                <a:latin typeface="Arial"/>
                <a:cs typeface="Arial"/>
              </a:endParaRPr>
            </a:p>
          </p:txBody>
        </p:sp>
      </p:grpSp>
      <p:grpSp>
        <p:nvGrpSpPr>
          <p:cNvPr id="6" name="Group 15"/>
          <p:cNvGrpSpPr>
            <a:grpSpLocks/>
          </p:cNvGrpSpPr>
          <p:nvPr/>
        </p:nvGrpSpPr>
        <p:grpSpPr bwMode="auto">
          <a:xfrm>
            <a:off x="2001837" y="965200"/>
            <a:ext cx="2200275" cy="863600"/>
            <a:chOff x="1261" y="608"/>
            <a:chExt cx="1386" cy="544"/>
          </a:xfrm>
        </p:grpSpPr>
        <p:sp>
          <p:nvSpPr>
            <p:cNvPr id="7186" name="Line 16"/>
            <p:cNvSpPr>
              <a:spLocks noChangeShapeType="1"/>
            </p:cNvSpPr>
            <p:nvPr/>
          </p:nvSpPr>
          <p:spPr bwMode="auto">
            <a:xfrm>
              <a:off x="2156" y="880"/>
              <a:ext cx="491" cy="68"/>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7187" name="Text Box 17"/>
            <p:cNvSpPr txBox="1">
              <a:spLocks noChangeArrowheads="1"/>
            </p:cNvSpPr>
            <p:nvPr/>
          </p:nvSpPr>
          <p:spPr bwMode="auto">
            <a:xfrm>
              <a:off x="1261" y="608"/>
              <a:ext cx="899" cy="544"/>
            </a:xfrm>
            <a:prstGeom prst="rect">
              <a:avLst/>
            </a:prstGeom>
            <a:noFill/>
            <a:ln w="9525">
              <a:solidFill>
                <a:srgbClr val="4E519E"/>
              </a:solidFill>
              <a:miter lim="800000"/>
              <a:headEnd/>
              <a:tailEnd/>
            </a:ln>
          </p:spPr>
          <p:txBody>
            <a:bodyPr>
              <a:spAutoFit/>
            </a:bodyPr>
            <a:lstStyle/>
            <a:p>
              <a:pPr algn="ctr">
                <a:spcBef>
                  <a:spcPct val="50000"/>
                </a:spcBef>
              </a:pPr>
              <a:r>
                <a:rPr lang="en-US" sz="2500" dirty="0">
                  <a:latin typeface="Arial"/>
                  <a:cs typeface="Arial"/>
                </a:rPr>
                <a:t>Price </a:t>
              </a:r>
              <a:br>
                <a:rPr lang="en-US" sz="2500" dirty="0">
                  <a:latin typeface="Arial"/>
                  <a:cs typeface="Arial"/>
                </a:rPr>
              </a:br>
              <a:r>
                <a:rPr lang="en-US" sz="2500" dirty="0">
                  <a:latin typeface="Arial"/>
                  <a:cs typeface="Arial"/>
                </a:rPr>
                <a:t>per unit</a:t>
              </a:r>
            </a:p>
          </p:txBody>
        </p:sp>
      </p:grpSp>
      <p:sp>
        <p:nvSpPr>
          <p:cNvPr id="107538" name="Line 18"/>
          <p:cNvSpPr>
            <a:spLocks noChangeShapeType="1"/>
          </p:cNvSpPr>
          <p:nvPr/>
        </p:nvSpPr>
        <p:spPr bwMode="auto">
          <a:xfrm flipV="1">
            <a:off x="5151438" y="2486025"/>
            <a:ext cx="0" cy="2957513"/>
          </a:xfrm>
          <a:prstGeom prst="line">
            <a:avLst/>
          </a:prstGeom>
          <a:noFill/>
          <a:ln w="38100">
            <a:solidFill>
              <a:srgbClr val="00CC00"/>
            </a:solidFill>
            <a:round/>
            <a:headEnd/>
            <a:tailEnd type="triangle" w="lg" len="med"/>
          </a:ln>
        </p:spPr>
        <p:txBody>
          <a:bodyPr/>
          <a:lstStyle/>
          <a:p>
            <a:endParaRPr lang="en-US">
              <a:latin typeface="Arial"/>
              <a:cs typeface="Arial"/>
            </a:endParaRPr>
          </a:p>
        </p:txBody>
      </p:sp>
      <p:sp>
        <p:nvSpPr>
          <p:cNvPr id="107540" name="Line 20"/>
          <p:cNvSpPr>
            <a:spLocks noChangeShapeType="1"/>
          </p:cNvSpPr>
          <p:nvPr/>
        </p:nvSpPr>
        <p:spPr bwMode="auto">
          <a:xfrm flipV="1">
            <a:off x="5172075" y="2484438"/>
            <a:ext cx="0" cy="1185862"/>
          </a:xfrm>
          <a:prstGeom prst="line">
            <a:avLst/>
          </a:prstGeom>
          <a:noFill/>
          <a:ln w="38100">
            <a:solidFill>
              <a:srgbClr val="FF0000"/>
            </a:solidFill>
            <a:round/>
            <a:headEnd type="triangle" w="lg" len="med"/>
            <a:tailEnd type="triangle" w="lg" len="med"/>
          </a:ln>
        </p:spPr>
        <p:txBody>
          <a:bodyPr/>
          <a:lstStyle/>
          <a:p>
            <a:endParaRPr lang="en-US">
              <a:latin typeface="Arial"/>
              <a:cs typeface="Arial"/>
            </a:endParaRPr>
          </a:p>
        </p:txBody>
      </p:sp>
      <p:grpSp>
        <p:nvGrpSpPr>
          <p:cNvPr id="7" name="Group 22"/>
          <p:cNvGrpSpPr>
            <a:grpSpLocks/>
          </p:cNvGrpSpPr>
          <p:nvPr/>
        </p:nvGrpSpPr>
        <p:grpSpPr bwMode="auto">
          <a:xfrm>
            <a:off x="3881438" y="3475038"/>
            <a:ext cx="2398712" cy="393700"/>
            <a:chOff x="2445" y="2189"/>
            <a:chExt cx="1511" cy="248"/>
          </a:xfrm>
        </p:grpSpPr>
        <p:sp>
          <p:nvSpPr>
            <p:cNvPr id="7184" name="Line 19"/>
            <p:cNvSpPr>
              <a:spLocks noChangeShapeType="1"/>
            </p:cNvSpPr>
            <p:nvPr/>
          </p:nvSpPr>
          <p:spPr bwMode="auto">
            <a:xfrm>
              <a:off x="2771" y="2311"/>
              <a:ext cx="1185" cy="0"/>
            </a:xfrm>
            <a:prstGeom prst="line">
              <a:avLst/>
            </a:prstGeom>
            <a:noFill/>
            <a:ln w="38100">
              <a:solidFill>
                <a:srgbClr val="4E519E"/>
              </a:solidFill>
              <a:round/>
              <a:headEnd/>
              <a:tailEnd/>
            </a:ln>
          </p:spPr>
          <p:txBody>
            <a:bodyPr/>
            <a:lstStyle/>
            <a:p>
              <a:endParaRPr lang="en-US">
                <a:latin typeface="Arial"/>
                <a:cs typeface="Arial"/>
              </a:endParaRPr>
            </a:p>
          </p:txBody>
        </p:sp>
        <p:sp>
          <p:nvSpPr>
            <p:cNvPr id="7185" name="Rectangle 21"/>
            <p:cNvSpPr>
              <a:spLocks noChangeArrowheads="1"/>
            </p:cNvSpPr>
            <p:nvPr/>
          </p:nvSpPr>
          <p:spPr bwMode="auto">
            <a:xfrm>
              <a:off x="2445" y="2189"/>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107543" name="Line 23"/>
          <p:cNvSpPr>
            <a:spLocks noChangeShapeType="1"/>
          </p:cNvSpPr>
          <p:nvPr/>
        </p:nvSpPr>
        <p:spPr bwMode="auto">
          <a:xfrm>
            <a:off x="4586288" y="2484438"/>
            <a:ext cx="573087" cy="0"/>
          </a:xfrm>
          <a:prstGeom prst="line">
            <a:avLst/>
          </a:prstGeom>
          <a:noFill/>
          <a:ln w="12700">
            <a:solidFill>
              <a:srgbClr val="3333FF"/>
            </a:solidFill>
            <a:prstDash val="dash"/>
            <a:round/>
            <a:headEnd/>
            <a:tailEnd/>
          </a:ln>
        </p:spPr>
        <p:txBody>
          <a:bodyPr/>
          <a:lstStyle/>
          <a:p>
            <a:endParaRPr lang="en-US">
              <a:latin typeface="Arial"/>
              <a:cs typeface="Arial"/>
            </a:endParaRPr>
          </a:p>
        </p:txBody>
      </p:sp>
      <p:sp>
        <p:nvSpPr>
          <p:cNvPr id="8" name="Footer Placeholder 7">
            <a:extLst>
              <a:ext uri="{FF2B5EF4-FFF2-40B4-BE49-F238E27FC236}">
                <a16:creationId xmlns:a16="http://schemas.microsoft.com/office/drawing/2014/main" id="{05B00A9A-6D9B-02F7-CA5F-D817051BDCB3}"/>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05950229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7528"/>
                                        </p:tgtEl>
                                        <p:attrNameLst>
                                          <p:attrName>style.visibility</p:attrName>
                                        </p:attrNameLst>
                                      </p:cBhvr>
                                      <p:to>
                                        <p:strVal val="visible"/>
                                      </p:to>
                                    </p:set>
                                    <p:animEffect transition="in" filter="wipe(left)">
                                      <p:cBhvr>
                                        <p:cTn id="7" dur="500"/>
                                        <p:tgtEl>
                                          <p:spTgt spid="107528"/>
                                        </p:tgtEl>
                                      </p:cBhvr>
                                    </p:animEffect>
                                  </p:childTnLst>
                                </p:cTn>
                              </p:par>
                              <p:par>
                                <p:cTn id="8" presetID="18" presetClass="entr" presetSubtype="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trips(downRight)">
                                      <p:cBhvr>
                                        <p:cTn id="10" dur="500"/>
                                        <p:tgtEl>
                                          <p:spTgt spid="2"/>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5"/>
                                        </p:tgtEl>
                                      </p:cBhvr>
                                    </p:animEffect>
                                    <p:set>
                                      <p:cBhvr>
                                        <p:cTn id="25" dur="1" fill="hold">
                                          <p:stCondLst>
                                            <p:cond delay="499"/>
                                          </p:stCondLst>
                                        </p:cTn>
                                        <p:tgtEl>
                                          <p:spTgt spid="5"/>
                                        </p:tgtEl>
                                        <p:attrNameLst>
                                          <p:attrName>style.visibility</p:attrName>
                                        </p:attrNameLst>
                                      </p:cBhvr>
                                      <p:to>
                                        <p:strVal val="hidden"/>
                                      </p:to>
                                    </p:se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strips(downRigh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7527">
                                            <p:txEl>
                                              <p:pRg st="0" end="0"/>
                                            </p:txEl>
                                          </p:spTgt>
                                        </p:tgtEl>
                                        <p:attrNameLst>
                                          <p:attrName>style.visibility</p:attrName>
                                        </p:attrNameLst>
                                      </p:cBhvr>
                                      <p:to>
                                        <p:strVal val="visible"/>
                                      </p:to>
                                    </p:set>
                                    <p:animEffect transition="in" filter="wipe(left)">
                                      <p:cBhvr>
                                        <p:cTn id="34" dur="500"/>
                                        <p:tgtEl>
                                          <p:spTgt spid="107527">
                                            <p:txEl>
                                              <p:pRg st="0" end="0"/>
                                            </p:txEl>
                                          </p:spTgt>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107538"/>
                                        </p:tgtEl>
                                        <p:attrNameLst>
                                          <p:attrName>style.visibility</p:attrName>
                                        </p:attrNameLst>
                                      </p:cBhvr>
                                      <p:to>
                                        <p:strVal val="visible"/>
                                      </p:to>
                                    </p:set>
                                    <p:animEffect transition="in" filter="wipe(down)">
                                      <p:cBhvr>
                                        <p:cTn id="38" dur="500"/>
                                        <p:tgtEl>
                                          <p:spTgt spid="107538"/>
                                        </p:tgtEl>
                                      </p:cBhvr>
                                    </p:animEffect>
                                  </p:childTnLst>
                                </p:cTn>
                              </p:par>
                            </p:childTnLst>
                          </p:cTn>
                        </p:par>
                        <p:par>
                          <p:cTn id="39" fill="hold">
                            <p:stCondLst>
                              <p:cond delay="1000"/>
                            </p:stCondLst>
                            <p:childTnLst>
                              <p:par>
                                <p:cTn id="40" presetID="22" presetClass="entr" presetSubtype="2" fill="hold" grpId="0" nodeType="afterEffect">
                                  <p:stCondLst>
                                    <p:cond delay="0"/>
                                  </p:stCondLst>
                                  <p:childTnLst>
                                    <p:set>
                                      <p:cBhvr>
                                        <p:cTn id="41" dur="1" fill="hold">
                                          <p:stCondLst>
                                            <p:cond delay="0"/>
                                          </p:stCondLst>
                                        </p:cTn>
                                        <p:tgtEl>
                                          <p:spTgt spid="107543"/>
                                        </p:tgtEl>
                                        <p:attrNameLst>
                                          <p:attrName>style.visibility</p:attrName>
                                        </p:attrNameLst>
                                      </p:cBhvr>
                                      <p:to>
                                        <p:strVal val="visible"/>
                                      </p:to>
                                    </p:set>
                                    <p:animEffect transition="in" filter="wipe(right)">
                                      <p:cBhvr>
                                        <p:cTn id="42" dur="500"/>
                                        <p:tgtEl>
                                          <p:spTgt spid="10754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7527">
                                            <p:txEl>
                                              <p:pRg st="2" end="2"/>
                                            </p:txEl>
                                          </p:spTgt>
                                        </p:tgtEl>
                                        <p:attrNameLst>
                                          <p:attrName>style.visibility</p:attrName>
                                        </p:attrNameLst>
                                      </p:cBhvr>
                                      <p:to>
                                        <p:strVal val="visible"/>
                                      </p:to>
                                    </p:set>
                                    <p:animEffect transition="in" filter="wipe(left)">
                                      <p:cBhvr>
                                        <p:cTn id="47" dur="500"/>
                                        <p:tgtEl>
                                          <p:spTgt spid="107527">
                                            <p:txEl>
                                              <p:pRg st="2" end="2"/>
                                            </p:txEl>
                                          </p:spTgt>
                                        </p:tgtEl>
                                      </p:cBhvr>
                                    </p:animEffect>
                                  </p:childTnLst>
                                </p:cTn>
                              </p:par>
                            </p:childTnLst>
                          </p:cTn>
                        </p:par>
                        <p:par>
                          <p:cTn id="48" fill="hold">
                            <p:stCondLst>
                              <p:cond delay="500"/>
                            </p:stCondLst>
                            <p:childTnLst>
                              <p:par>
                                <p:cTn id="49" presetID="18" presetClass="entr" presetSubtype="6" fill="hold" nodeType="after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strips(downRight)">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07527">
                                            <p:txEl>
                                              <p:pRg st="4" end="4"/>
                                            </p:txEl>
                                          </p:spTgt>
                                        </p:tgtEl>
                                        <p:attrNameLst>
                                          <p:attrName>style.visibility</p:attrName>
                                        </p:attrNameLst>
                                      </p:cBhvr>
                                      <p:to>
                                        <p:strVal val="visible"/>
                                      </p:to>
                                    </p:set>
                                    <p:animEffect transition="in" filter="wipe(left)">
                                      <p:cBhvr>
                                        <p:cTn id="56" dur="500"/>
                                        <p:tgtEl>
                                          <p:spTgt spid="107527">
                                            <p:txEl>
                                              <p:pRg st="4" end="4"/>
                                            </p:txEl>
                                          </p:spTgt>
                                        </p:tgtEl>
                                      </p:cBhvr>
                                    </p:animEffect>
                                  </p:childTnLst>
                                </p:cTn>
                              </p:par>
                            </p:childTnLst>
                          </p:cTn>
                        </p:par>
                        <p:par>
                          <p:cTn id="57" fill="hold">
                            <p:stCondLst>
                              <p:cond delay="500"/>
                            </p:stCondLst>
                            <p:childTnLst>
                              <p:par>
                                <p:cTn id="58" presetID="4" presetClass="entr" presetSubtype="32" fill="hold" grpId="0" nodeType="afterEffect">
                                  <p:stCondLst>
                                    <p:cond delay="0"/>
                                  </p:stCondLst>
                                  <p:childTnLst>
                                    <p:set>
                                      <p:cBhvr>
                                        <p:cTn id="59" dur="1" fill="hold">
                                          <p:stCondLst>
                                            <p:cond delay="0"/>
                                          </p:stCondLst>
                                        </p:cTn>
                                        <p:tgtEl>
                                          <p:spTgt spid="107540"/>
                                        </p:tgtEl>
                                        <p:attrNameLst>
                                          <p:attrName>style.visibility</p:attrName>
                                        </p:attrNameLst>
                                      </p:cBhvr>
                                      <p:to>
                                        <p:strVal val="visible"/>
                                      </p:to>
                                    </p:set>
                                    <p:animEffect transition="in" filter="box(out)">
                                      <p:cBhvr>
                                        <p:cTn id="60" dur="500"/>
                                        <p:tgtEl>
                                          <p:spTgt spid="107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7" grpId="0" build="p" bldLvl="5"/>
      <p:bldP spid="107528" grpId="0" animBg="1"/>
      <p:bldP spid="107538" grpId="0" animBg="1"/>
      <p:bldP spid="107540" grpId="0" animBg="1"/>
      <p:bldP spid="107543"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87775" y="1009650"/>
            <a:ext cx="4979988" cy="5295900"/>
            <a:chOff x="2386" y="636"/>
            <a:chExt cx="3137" cy="3336"/>
          </a:xfrm>
        </p:grpSpPr>
        <p:graphicFrame>
          <p:nvGraphicFramePr>
            <p:cNvPr id="8194"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819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15"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8216"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8198" name="Rectangle 6"/>
          <p:cNvSpPr>
            <a:spLocks noGrp="1" noChangeArrowheads="1"/>
          </p:cNvSpPr>
          <p:nvPr>
            <p:ph type="title"/>
          </p:nvPr>
        </p:nvSpPr>
        <p:spPr/>
        <p:txBody>
          <a:bodyPr>
            <a:normAutofit/>
          </a:bodyPr>
          <a:lstStyle/>
          <a:p>
            <a:pPr eaLnBrk="1" hangingPunct="1"/>
            <a:r>
              <a:rPr lang="en-US" dirty="0"/>
              <a:t>EXAMPLE 2A: </a:t>
            </a:r>
            <a:r>
              <a:rPr lang="en-US" dirty="0">
                <a:solidFill>
                  <a:schemeClr val="tx1"/>
                </a:solidFill>
              </a:rPr>
              <a:t>Total consumer surplus</a:t>
            </a:r>
          </a:p>
        </p:txBody>
      </p:sp>
      <p:sp>
        <p:nvSpPr>
          <p:cNvPr id="113681" name="Rectangle 17"/>
          <p:cNvSpPr>
            <a:spLocks noGrp="1" noChangeArrowheads="1"/>
          </p:cNvSpPr>
          <p:nvPr>
            <p:ph idx="1"/>
          </p:nvPr>
        </p:nvSpPr>
        <p:spPr>
          <a:xfrm>
            <a:off x="228600" y="1054100"/>
            <a:ext cx="3534197" cy="5394325"/>
          </a:xfrm>
          <a:noFill/>
        </p:spPr>
        <p:txBody>
          <a:bodyPr>
            <a:noAutofit/>
          </a:bodyPr>
          <a:lstStyle/>
          <a:p>
            <a:pPr marL="0" indent="0" eaLnBrk="1" hangingPunct="1">
              <a:buFont typeface="Wingdings" pitchFamily="2" charset="2"/>
              <a:buNone/>
            </a:pPr>
            <a:r>
              <a:rPr lang="en-US" sz="2800" b="1" i="1" dirty="0">
                <a:solidFill>
                  <a:srgbClr val="4E519E"/>
                </a:solidFill>
              </a:rPr>
              <a:t>CS</a:t>
            </a:r>
            <a:r>
              <a:rPr lang="en-US" sz="2800" dirty="0">
                <a:solidFill>
                  <a:srgbClr val="4E519E"/>
                </a:solidFill>
              </a:rPr>
              <a:t> is the area between </a:t>
            </a:r>
            <a:r>
              <a:rPr lang="en-US" sz="2800" b="1" i="1" dirty="0">
                <a:solidFill>
                  <a:srgbClr val="4E519E"/>
                </a:solidFill>
              </a:rPr>
              <a:t>P</a:t>
            </a:r>
            <a:r>
              <a:rPr lang="en-US" sz="2800" dirty="0">
                <a:solidFill>
                  <a:srgbClr val="4E519E"/>
                </a:solidFill>
              </a:rPr>
              <a:t>  and the </a:t>
            </a:r>
            <a:r>
              <a:rPr lang="en-US" sz="2800" b="1" i="1" dirty="0">
                <a:solidFill>
                  <a:srgbClr val="4E519E"/>
                </a:solidFill>
              </a:rPr>
              <a:t>D</a:t>
            </a:r>
            <a:r>
              <a:rPr lang="en-US" sz="2800" dirty="0">
                <a:solidFill>
                  <a:srgbClr val="4E519E"/>
                </a:solidFill>
              </a:rPr>
              <a:t> curve, from 0 to </a:t>
            </a:r>
            <a:r>
              <a:rPr lang="en-US" sz="2800" b="1" i="1" dirty="0">
                <a:solidFill>
                  <a:srgbClr val="4E519E"/>
                </a:solidFill>
              </a:rPr>
              <a:t>Q</a:t>
            </a:r>
            <a:r>
              <a:rPr lang="en-US" sz="2800" dirty="0">
                <a:solidFill>
                  <a:srgbClr val="4E519E"/>
                </a:solidFill>
              </a:rPr>
              <a:t>. </a:t>
            </a:r>
          </a:p>
          <a:p>
            <a:pPr marL="0" indent="0" eaLnBrk="1" hangingPunct="1">
              <a:buFont typeface="Wingdings" pitchFamily="2" charset="2"/>
              <a:buNone/>
            </a:pPr>
            <a:r>
              <a:rPr lang="en-US" sz="2800" dirty="0">
                <a:solidFill>
                  <a:srgbClr val="C00000"/>
                </a:solidFill>
              </a:rPr>
              <a:t>Recall:  area of </a:t>
            </a:r>
            <a:br>
              <a:rPr lang="en-US" sz="2800" dirty="0">
                <a:solidFill>
                  <a:srgbClr val="C00000"/>
                </a:solidFill>
              </a:rPr>
            </a:br>
            <a:r>
              <a:rPr lang="en-US" sz="2800" dirty="0">
                <a:solidFill>
                  <a:srgbClr val="C00000"/>
                </a:solidFill>
              </a:rPr>
              <a:t>a triangle equals </a:t>
            </a:r>
            <a:br>
              <a:rPr lang="en-US" sz="2800" dirty="0">
                <a:solidFill>
                  <a:srgbClr val="C00000"/>
                </a:solidFill>
              </a:rPr>
            </a:br>
            <a:r>
              <a:rPr lang="en-US" sz="2800" dirty="0">
                <a:solidFill>
                  <a:srgbClr val="C00000"/>
                </a:solidFill>
              </a:rPr>
              <a:t>½ x base x height</a:t>
            </a:r>
          </a:p>
          <a:p>
            <a:pPr marL="0" indent="0" eaLnBrk="1" hangingPunct="1">
              <a:buFont typeface="Wingdings" pitchFamily="2" charset="2"/>
              <a:buNone/>
            </a:pPr>
            <a:r>
              <a:rPr lang="en-US" sz="2800" dirty="0"/>
              <a:t>Height =</a:t>
            </a:r>
            <a:br>
              <a:rPr lang="en-US" sz="2800" dirty="0"/>
            </a:br>
            <a:r>
              <a:rPr lang="en-US" sz="2800" dirty="0"/>
              <a:t>$60 – 30 = </a:t>
            </a:r>
            <a:r>
              <a:rPr lang="en-US" sz="2800" u="sng" dirty="0"/>
              <a:t>$30</a:t>
            </a:r>
            <a:r>
              <a:rPr lang="en-US" sz="2800" dirty="0"/>
              <a:t>. </a:t>
            </a:r>
          </a:p>
          <a:p>
            <a:pPr marL="0" indent="0" eaLnBrk="1" hangingPunct="1">
              <a:buFont typeface="Wingdings" pitchFamily="2" charset="2"/>
              <a:buNone/>
            </a:pPr>
            <a:r>
              <a:rPr lang="en-US" sz="2800" dirty="0"/>
              <a:t>So, </a:t>
            </a:r>
            <a:br>
              <a:rPr lang="en-US" sz="2800" dirty="0"/>
            </a:br>
            <a:r>
              <a:rPr lang="en-US" sz="2800" b="1" i="1" dirty="0"/>
              <a:t>CS</a:t>
            </a:r>
            <a:r>
              <a:rPr lang="en-US" sz="2800" dirty="0"/>
              <a:t> = ½ x 15 x $30 </a:t>
            </a:r>
            <a:br>
              <a:rPr lang="en-US" sz="2800" dirty="0"/>
            </a:br>
            <a:r>
              <a:rPr lang="en-US" sz="2800" dirty="0"/>
              <a:t>      = </a:t>
            </a:r>
            <a:r>
              <a:rPr lang="en-US" sz="2800" u="sng" dirty="0"/>
              <a:t>$225</a:t>
            </a:r>
            <a:r>
              <a:rPr lang="en-US" sz="2800" dirty="0"/>
              <a:t>.</a:t>
            </a:r>
          </a:p>
        </p:txBody>
      </p:sp>
      <p:sp>
        <p:nvSpPr>
          <p:cNvPr id="8" name="Slide Number Placeholder 7"/>
          <p:cNvSpPr>
            <a:spLocks noGrp="1"/>
          </p:cNvSpPr>
          <p:nvPr>
            <p:ph type="sldNum" sz="quarter" idx="10"/>
          </p:nvPr>
        </p:nvSpPr>
        <p:spPr/>
        <p:txBody>
          <a:bodyPr/>
          <a:lstStyle/>
          <a:p>
            <a:pPr>
              <a:defRPr/>
            </a:pPr>
            <a:fld id="{2F37425F-5E17-4209-B948-B5CE2119E408}" type="slidenum">
              <a:rPr lang="en-US" smtClean="0"/>
              <a:pPr>
                <a:defRPr/>
              </a:pPr>
              <a:t>15</a:t>
            </a:fld>
            <a:endParaRPr lang="en-US" dirty="0"/>
          </a:p>
        </p:txBody>
      </p:sp>
      <p:sp>
        <p:nvSpPr>
          <p:cNvPr id="8199" name="Text Box 7"/>
          <p:cNvSpPr txBox="1">
            <a:spLocks noChangeArrowheads="1"/>
          </p:cNvSpPr>
          <p:nvPr/>
        </p:nvSpPr>
        <p:spPr bwMode="auto">
          <a:xfrm>
            <a:off x="4725988" y="1054100"/>
            <a:ext cx="3813175" cy="1031051"/>
          </a:xfrm>
          <a:prstGeom prst="rect">
            <a:avLst/>
          </a:prstGeom>
          <a:no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The demand for T-shirts</a:t>
            </a:r>
          </a:p>
          <a:p>
            <a:pPr algn="ctr">
              <a:spcBef>
                <a:spcPct val="50000"/>
              </a:spcBef>
            </a:pPr>
            <a:r>
              <a:rPr lang="en-US" sz="2400" b="1" i="1" dirty="0">
                <a:solidFill>
                  <a:srgbClr val="4E519E"/>
                </a:solidFill>
              </a:rPr>
              <a:t>P</a:t>
            </a:r>
            <a:r>
              <a:rPr lang="en-US" sz="2400" dirty="0">
                <a:solidFill>
                  <a:srgbClr val="4E519E"/>
                </a:solidFill>
              </a:rPr>
              <a:t> = $30, </a:t>
            </a:r>
            <a:r>
              <a:rPr lang="en-US" sz="2400" b="1" i="1" dirty="0" err="1">
                <a:solidFill>
                  <a:srgbClr val="4E519E"/>
                </a:solidFill>
              </a:rPr>
              <a:t>Q</a:t>
            </a:r>
            <a:r>
              <a:rPr lang="en-US" sz="2400" b="1" i="1" baseline="30000" dirty="0" err="1">
                <a:solidFill>
                  <a:srgbClr val="4E519E"/>
                </a:solidFill>
              </a:rPr>
              <a:t>d</a:t>
            </a:r>
            <a:r>
              <a:rPr lang="en-US" sz="2400" dirty="0">
                <a:solidFill>
                  <a:srgbClr val="4E519E"/>
                </a:solidFill>
              </a:rPr>
              <a:t> = 15</a:t>
            </a:r>
            <a:endParaRPr lang="en-US" sz="2500" dirty="0">
              <a:solidFill>
                <a:srgbClr val="4E519E"/>
              </a:solidFill>
              <a:latin typeface="Arial"/>
              <a:cs typeface="Arial"/>
            </a:endParaRPr>
          </a:p>
        </p:txBody>
      </p:sp>
      <p:grpSp>
        <p:nvGrpSpPr>
          <p:cNvPr id="3" name="Group 8"/>
          <p:cNvGrpSpPr>
            <a:grpSpLocks/>
          </p:cNvGrpSpPr>
          <p:nvPr/>
        </p:nvGrpSpPr>
        <p:grpSpPr bwMode="auto">
          <a:xfrm>
            <a:off x="4583113" y="1887538"/>
            <a:ext cx="3438525" cy="3495675"/>
            <a:chOff x="2887" y="1189"/>
            <a:chExt cx="2166" cy="2202"/>
          </a:xfrm>
        </p:grpSpPr>
        <p:sp>
          <p:nvSpPr>
            <p:cNvPr id="8213" name="Line 9"/>
            <p:cNvSpPr>
              <a:spLocks noChangeShapeType="1"/>
            </p:cNvSpPr>
            <p:nvPr/>
          </p:nvSpPr>
          <p:spPr bwMode="auto">
            <a:xfrm>
              <a:off x="2887" y="1189"/>
              <a:ext cx="1901" cy="1990"/>
            </a:xfrm>
            <a:prstGeom prst="line">
              <a:avLst/>
            </a:prstGeom>
            <a:noFill/>
            <a:ln w="44450">
              <a:solidFill>
                <a:srgbClr val="0000FF"/>
              </a:solidFill>
              <a:round/>
              <a:headEnd/>
              <a:tailEnd/>
            </a:ln>
          </p:spPr>
          <p:txBody>
            <a:bodyPr/>
            <a:lstStyle/>
            <a:p>
              <a:endParaRPr lang="en-US">
                <a:latin typeface="Arial"/>
                <a:cs typeface="Arial"/>
              </a:endParaRPr>
            </a:p>
          </p:txBody>
        </p:sp>
        <p:sp>
          <p:nvSpPr>
            <p:cNvPr id="8214" name="Rectangle 10"/>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4" name="Group 20"/>
          <p:cNvGrpSpPr>
            <a:grpSpLocks/>
          </p:cNvGrpSpPr>
          <p:nvPr/>
        </p:nvGrpSpPr>
        <p:grpSpPr bwMode="auto">
          <a:xfrm>
            <a:off x="3881438" y="3475038"/>
            <a:ext cx="2398712" cy="393700"/>
            <a:chOff x="2445" y="2189"/>
            <a:chExt cx="1511" cy="248"/>
          </a:xfrm>
        </p:grpSpPr>
        <p:sp>
          <p:nvSpPr>
            <p:cNvPr id="8211" name="Line 21"/>
            <p:cNvSpPr>
              <a:spLocks noChangeShapeType="1"/>
            </p:cNvSpPr>
            <p:nvPr/>
          </p:nvSpPr>
          <p:spPr bwMode="auto">
            <a:xfrm>
              <a:off x="2771" y="2311"/>
              <a:ext cx="1185" cy="0"/>
            </a:xfrm>
            <a:prstGeom prst="line">
              <a:avLst/>
            </a:prstGeom>
            <a:noFill/>
            <a:ln w="12700">
              <a:solidFill>
                <a:srgbClr val="0000FF"/>
              </a:solidFill>
              <a:round/>
              <a:headEnd/>
              <a:tailEnd/>
            </a:ln>
          </p:spPr>
          <p:txBody>
            <a:bodyPr/>
            <a:lstStyle/>
            <a:p>
              <a:endParaRPr lang="en-US">
                <a:latin typeface="Arial"/>
                <a:cs typeface="Arial"/>
              </a:endParaRPr>
            </a:p>
          </p:txBody>
        </p:sp>
        <p:sp>
          <p:nvSpPr>
            <p:cNvPr id="8212" name="Rectangle 22"/>
            <p:cNvSpPr>
              <a:spLocks noChangeArrowheads="1"/>
            </p:cNvSpPr>
            <p:nvPr/>
          </p:nvSpPr>
          <p:spPr bwMode="auto">
            <a:xfrm>
              <a:off x="2445" y="2189"/>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113687" name="AutoShape 23"/>
          <p:cNvSpPr>
            <a:spLocks noChangeArrowheads="1"/>
          </p:cNvSpPr>
          <p:nvPr/>
        </p:nvSpPr>
        <p:spPr bwMode="auto">
          <a:xfrm>
            <a:off x="4597400" y="1930400"/>
            <a:ext cx="1657350" cy="1733550"/>
          </a:xfrm>
          <a:prstGeom prst="rtTriangle">
            <a:avLst/>
          </a:prstGeom>
          <a:solidFill>
            <a:srgbClr val="66CCFF"/>
          </a:solidFill>
          <a:ln w="9525">
            <a:noFill/>
            <a:miter lim="800000"/>
            <a:headEnd/>
            <a:tailEnd/>
          </a:ln>
        </p:spPr>
        <p:txBody>
          <a:bodyPr wrap="none" anchor="ctr"/>
          <a:lstStyle/>
          <a:p>
            <a:endParaRPr lang="en-US">
              <a:latin typeface="Arial"/>
              <a:cs typeface="Arial"/>
            </a:endParaRPr>
          </a:p>
        </p:txBody>
      </p:sp>
      <p:grpSp>
        <p:nvGrpSpPr>
          <p:cNvPr id="5" name="Group 27"/>
          <p:cNvGrpSpPr>
            <a:grpSpLocks/>
          </p:cNvGrpSpPr>
          <p:nvPr/>
        </p:nvGrpSpPr>
        <p:grpSpPr bwMode="auto">
          <a:xfrm>
            <a:off x="6029325" y="3673475"/>
            <a:ext cx="522288" cy="2473325"/>
            <a:chOff x="3798" y="2314"/>
            <a:chExt cx="329" cy="1558"/>
          </a:xfrm>
        </p:grpSpPr>
        <p:sp>
          <p:nvSpPr>
            <p:cNvPr id="8209" name="Line 25"/>
            <p:cNvSpPr>
              <a:spLocks noChangeShapeType="1"/>
            </p:cNvSpPr>
            <p:nvPr/>
          </p:nvSpPr>
          <p:spPr bwMode="auto">
            <a:xfrm rot="5400000">
              <a:off x="3306" y="2971"/>
              <a:ext cx="1314" cy="0"/>
            </a:xfrm>
            <a:prstGeom prst="line">
              <a:avLst/>
            </a:prstGeom>
            <a:noFill/>
            <a:ln w="12700">
              <a:solidFill>
                <a:srgbClr val="0000FF"/>
              </a:solidFill>
              <a:round/>
              <a:headEnd/>
              <a:tailEnd/>
            </a:ln>
          </p:spPr>
          <p:txBody>
            <a:bodyPr/>
            <a:lstStyle/>
            <a:p>
              <a:endParaRPr lang="en-US">
                <a:latin typeface="Arial"/>
                <a:cs typeface="Arial"/>
              </a:endParaRPr>
            </a:p>
          </p:txBody>
        </p:sp>
        <p:sp>
          <p:nvSpPr>
            <p:cNvPr id="8210" name="Rectangle 26"/>
            <p:cNvSpPr>
              <a:spLocks noChangeArrowheads="1"/>
            </p:cNvSpPr>
            <p:nvPr/>
          </p:nvSpPr>
          <p:spPr bwMode="auto">
            <a:xfrm>
              <a:off x="3798" y="3624"/>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grpSp>
        <p:nvGrpSpPr>
          <p:cNvPr id="6" name="Group 31"/>
          <p:cNvGrpSpPr>
            <a:grpSpLocks/>
          </p:cNvGrpSpPr>
          <p:nvPr/>
        </p:nvGrpSpPr>
        <p:grpSpPr bwMode="auto">
          <a:xfrm>
            <a:off x="3808413" y="1895475"/>
            <a:ext cx="735012" cy="1760538"/>
            <a:chOff x="2399" y="1194"/>
            <a:chExt cx="463" cy="1109"/>
          </a:xfrm>
        </p:grpSpPr>
        <p:sp>
          <p:nvSpPr>
            <p:cNvPr id="8207" name="AutoShape 29"/>
            <p:cNvSpPr>
              <a:spLocks/>
            </p:cNvSpPr>
            <p:nvPr/>
          </p:nvSpPr>
          <p:spPr bwMode="auto">
            <a:xfrm>
              <a:off x="2659" y="1194"/>
              <a:ext cx="203" cy="1109"/>
            </a:xfrm>
            <a:prstGeom prst="leftBrace">
              <a:avLst>
                <a:gd name="adj1" fmla="val 74535"/>
                <a:gd name="adj2" fmla="val 50676"/>
              </a:avLst>
            </a:prstGeom>
            <a:noFill/>
            <a:ln w="19050">
              <a:solidFill>
                <a:srgbClr val="FF0000"/>
              </a:solidFill>
              <a:round/>
              <a:headEnd/>
              <a:tailEnd/>
            </a:ln>
          </p:spPr>
          <p:txBody>
            <a:bodyPr wrap="none" anchor="ctr"/>
            <a:lstStyle/>
            <a:p>
              <a:endParaRPr lang="en-US">
                <a:latin typeface="Arial"/>
                <a:cs typeface="Arial"/>
              </a:endParaRPr>
            </a:p>
          </p:txBody>
        </p:sp>
        <p:sp>
          <p:nvSpPr>
            <p:cNvPr id="8208" name="Text Box 30"/>
            <p:cNvSpPr txBox="1">
              <a:spLocks noChangeArrowheads="1"/>
            </p:cNvSpPr>
            <p:nvPr/>
          </p:nvSpPr>
          <p:spPr bwMode="auto">
            <a:xfrm>
              <a:off x="2399" y="1599"/>
              <a:ext cx="231" cy="308"/>
            </a:xfrm>
            <a:prstGeom prst="rect">
              <a:avLst/>
            </a:prstGeom>
            <a:noFill/>
            <a:ln w="9525">
              <a:noFill/>
              <a:miter lim="800000"/>
              <a:headEnd/>
              <a:tailEnd/>
            </a:ln>
          </p:spPr>
          <p:txBody>
            <a:bodyPr>
              <a:spAutoFit/>
            </a:bodyPr>
            <a:lstStyle/>
            <a:p>
              <a:pPr algn="ctr">
                <a:spcBef>
                  <a:spcPct val="50000"/>
                </a:spcBef>
              </a:pPr>
              <a:r>
                <a:rPr lang="en-US" sz="2600" i="1">
                  <a:solidFill>
                    <a:srgbClr val="FF0000"/>
                  </a:solidFill>
                  <a:latin typeface="Arial"/>
                  <a:cs typeface="Arial"/>
                </a:rPr>
                <a:t>h</a:t>
              </a:r>
            </a:p>
          </p:txBody>
        </p:sp>
      </p:grpSp>
      <p:sp>
        <p:nvSpPr>
          <p:cNvPr id="8206" name="Text Box 32"/>
          <p:cNvSpPr txBox="1">
            <a:spLocks noChangeArrowheads="1"/>
          </p:cNvSpPr>
          <p:nvPr/>
        </p:nvSpPr>
        <p:spPr bwMode="auto">
          <a:xfrm>
            <a:off x="3690938" y="1670050"/>
            <a:ext cx="438150" cy="473075"/>
          </a:xfrm>
          <a:prstGeom prst="rect">
            <a:avLst/>
          </a:prstGeom>
          <a:noFill/>
          <a:ln w="9525">
            <a:noFill/>
            <a:miter lim="800000"/>
            <a:headEnd/>
            <a:tailEnd/>
          </a:ln>
        </p:spPr>
        <p:txBody>
          <a:bodyPr>
            <a:spAutoFit/>
          </a:bodyPr>
          <a:lstStyle/>
          <a:p>
            <a:pPr>
              <a:spcBef>
                <a:spcPct val="50000"/>
              </a:spcBef>
            </a:pPr>
            <a:r>
              <a:rPr lang="en-US" sz="2500">
                <a:latin typeface="Arial"/>
                <a:cs typeface="Arial"/>
              </a:rPr>
              <a:t>$</a:t>
            </a:r>
          </a:p>
        </p:txBody>
      </p:sp>
      <p:sp>
        <p:nvSpPr>
          <p:cNvPr id="7" name="Footer Placeholder 6">
            <a:extLst>
              <a:ext uri="{FF2B5EF4-FFF2-40B4-BE49-F238E27FC236}">
                <a16:creationId xmlns:a16="http://schemas.microsoft.com/office/drawing/2014/main" id="{D6500C3A-2C7F-9EAF-FAEC-7BA15765C3F5}"/>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73324643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3681">
                                            <p:txEl>
                                              <p:pRg st="0" end="0"/>
                                            </p:txEl>
                                          </p:spTgt>
                                        </p:tgtEl>
                                        <p:attrNameLst>
                                          <p:attrName>style.visibility</p:attrName>
                                        </p:attrNameLst>
                                      </p:cBhvr>
                                      <p:to>
                                        <p:strVal val="visible"/>
                                      </p:to>
                                    </p:set>
                                    <p:animEffect transition="in" filter="wipe(left)">
                                      <p:cBhvr>
                                        <p:cTn id="12" dur="500"/>
                                        <p:tgtEl>
                                          <p:spTgt spid="113681">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13687"/>
                                        </p:tgtEl>
                                        <p:attrNameLst>
                                          <p:attrName>style.visibility</p:attrName>
                                        </p:attrNameLst>
                                      </p:cBhvr>
                                      <p:to>
                                        <p:strVal val="visible"/>
                                      </p:to>
                                    </p:set>
                                    <p:animEffect transition="in" filter="fade">
                                      <p:cBhvr>
                                        <p:cTn id="16" dur="500"/>
                                        <p:tgtEl>
                                          <p:spTgt spid="11368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3681">
                                            <p:txEl>
                                              <p:pRg st="1" end="1"/>
                                            </p:txEl>
                                          </p:spTgt>
                                        </p:tgtEl>
                                        <p:attrNameLst>
                                          <p:attrName>style.visibility</p:attrName>
                                        </p:attrNameLst>
                                      </p:cBhvr>
                                      <p:to>
                                        <p:strVal val="visible"/>
                                      </p:to>
                                    </p:set>
                                    <p:animEffect transition="in" filter="wipe(left)">
                                      <p:cBhvr>
                                        <p:cTn id="21" dur="500"/>
                                        <p:tgtEl>
                                          <p:spTgt spid="113681">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3681">
                                            <p:txEl>
                                              <p:pRg st="2" end="2"/>
                                            </p:txEl>
                                          </p:spTgt>
                                        </p:tgtEl>
                                        <p:attrNameLst>
                                          <p:attrName>style.visibility</p:attrName>
                                        </p:attrNameLst>
                                      </p:cBhvr>
                                      <p:to>
                                        <p:strVal val="visible"/>
                                      </p:to>
                                    </p:set>
                                    <p:animEffect transition="in" filter="wipe(left)">
                                      <p:cBhvr>
                                        <p:cTn id="26" dur="500"/>
                                        <p:tgtEl>
                                          <p:spTgt spid="113681">
                                            <p:txEl>
                                              <p:pRg st="2" end="2"/>
                                            </p:txEl>
                                          </p:spTgt>
                                        </p:tgtEl>
                                      </p:cBhvr>
                                    </p:animEffect>
                                  </p:childTnLst>
                                </p:cTn>
                              </p:par>
                            </p:childTnLst>
                          </p:cTn>
                        </p:par>
                        <p:par>
                          <p:cTn id="27" fill="hold">
                            <p:stCondLst>
                              <p:cond delay="500"/>
                            </p:stCondLst>
                            <p:childTnLst>
                              <p:par>
                                <p:cTn id="28" presetID="18" presetClass="entr" presetSubtype="1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strips(down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3681">
                                            <p:txEl>
                                              <p:pRg st="3" end="3"/>
                                            </p:txEl>
                                          </p:spTgt>
                                        </p:tgtEl>
                                        <p:attrNameLst>
                                          <p:attrName>style.visibility</p:attrName>
                                        </p:attrNameLst>
                                      </p:cBhvr>
                                      <p:to>
                                        <p:strVal val="visible"/>
                                      </p:to>
                                    </p:set>
                                    <p:animEffect transition="in" filter="wipe(left)">
                                      <p:cBhvr>
                                        <p:cTn id="35" dur="500"/>
                                        <p:tgtEl>
                                          <p:spTgt spid="11368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81" grpId="0" uiExpand="1" build="p" bldLvl="5"/>
      <p:bldP spid="113687" grpId="0" uiExpand="1"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162300" y="1009650"/>
            <a:ext cx="4979988" cy="5295900"/>
            <a:chOff x="2386" y="636"/>
            <a:chExt cx="3137" cy="3336"/>
          </a:xfrm>
        </p:grpSpPr>
        <p:graphicFrame>
          <p:nvGraphicFramePr>
            <p:cNvPr id="9218"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921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44"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9245"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9222" name="AutoShape 15"/>
          <p:cNvSpPr>
            <a:spLocks noChangeArrowheads="1"/>
          </p:cNvSpPr>
          <p:nvPr/>
        </p:nvSpPr>
        <p:spPr bwMode="auto">
          <a:xfrm>
            <a:off x="3971925" y="1930400"/>
            <a:ext cx="1657350" cy="1733550"/>
          </a:xfrm>
          <a:prstGeom prst="rtTriangle">
            <a:avLst/>
          </a:prstGeom>
          <a:solidFill>
            <a:srgbClr val="66CCFF"/>
          </a:solidFill>
          <a:ln w="9525">
            <a:noFill/>
            <a:miter lim="800000"/>
            <a:headEnd/>
            <a:tailEnd/>
          </a:ln>
        </p:spPr>
        <p:txBody>
          <a:bodyPr wrap="none" anchor="ctr"/>
          <a:lstStyle/>
          <a:p>
            <a:endParaRPr lang="en-US">
              <a:latin typeface="Arial"/>
              <a:cs typeface="Arial"/>
            </a:endParaRPr>
          </a:p>
        </p:txBody>
      </p:sp>
      <p:sp>
        <p:nvSpPr>
          <p:cNvPr id="117785" name="AutoShape 25"/>
          <p:cNvSpPr>
            <a:spLocks noChangeArrowheads="1"/>
          </p:cNvSpPr>
          <p:nvPr/>
        </p:nvSpPr>
        <p:spPr bwMode="auto">
          <a:xfrm>
            <a:off x="5097463" y="3106738"/>
            <a:ext cx="528637" cy="554037"/>
          </a:xfrm>
          <a:prstGeom prst="rtTriangle">
            <a:avLst/>
          </a:prstGeom>
          <a:pattFill prst="wdUpDiag">
            <a:fgClr>
              <a:srgbClr val="33CCFF"/>
            </a:fgClr>
            <a:bgClr>
              <a:schemeClr val="bg1"/>
            </a:bgClr>
          </a:pattFill>
          <a:ln w="38100">
            <a:solidFill>
              <a:srgbClr val="0000FF"/>
            </a:solidFill>
            <a:miter lim="800000"/>
            <a:headEnd/>
            <a:tailEnd/>
          </a:ln>
        </p:spPr>
        <p:txBody>
          <a:bodyPr wrap="none" anchor="ctr"/>
          <a:lstStyle/>
          <a:p>
            <a:endParaRPr lang="en-US">
              <a:latin typeface="Arial"/>
              <a:cs typeface="Arial"/>
            </a:endParaRPr>
          </a:p>
        </p:txBody>
      </p:sp>
      <p:sp>
        <p:nvSpPr>
          <p:cNvPr id="117786" name="Rectangle 26"/>
          <p:cNvSpPr>
            <a:spLocks noChangeArrowheads="1"/>
          </p:cNvSpPr>
          <p:nvPr/>
        </p:nvSpPr>
        <p:spPr bwMode="auto">
          <a:xfrm>
            <a:off x="3968750" y="3082925"/>
            <a:ext cx="1111250" cy="581025"/>
          </a:xfrm>
          <a:prstGeom prst="rect">
            <a:avLst/>
          </a:prstGeom>
          <a:pattFill prst="wdDnDiag">
            <a:fgClr>
              <a:srgbClr val="00CC99"/>
            </a:fgClr>
            <a:bgClr>
              <a:schemeClr val="bg1"/>
            </a:bgClr>
          </a:pattFill>
          <a:ln w="38100">
            <a:solidFill>
              <a:srgbClr val="006600"/>
            </a:solidFill>
            <a:miter lim="800000"/>
            <a:headEnd/>
            <a:tailEnd/>
          </a:ln>
        </p:spPr>
        <p:txBody>
          <a:bodyPr wrap="none" anchor="ctr"/>
          <a:lstStyle/>
          <a:p>
            <a:endParaRPr lang="en-US">
              <a:latin typeface="Arial"/>
              <a:cs typeface="Arial"/>
            </a:endParaRPr>
          </a:p>
        </p:txBody>
      </p:sp>
      <p:sp>
        <p:nvSpPr>
          <p:cNvPr id="9225" name="Rectangle 6"/>
          <p:cNvSpPr>
            <a:spLocks noGrp="1" noChangeArrowheads="1"/>
          </p:cNvSpPr>
          <p:nvPr>
            <p:ph type="title"/>
          </p:nvPr>
        </p:nvSpPr>
        <p:spPr/>
        <p:txBody>
          <a:bodyPr/>
          <a:lstStyle/>
          <a:p>
            <a:pPr eaLnBrk="1" hangingPunct="1"/>
            <a:r>
              <a:rPr lang="en-US" dirty="0"/>
              <a:t>EXAMPLE 2B: </a:t>
            </a:r>
            <a:r>
              <a:rPr lang="en-US" dirty="0">
                <a:solidFill>
                  <a:schemeClr val="tx1"/>
                </a:solidFill>
              </a:rPr>
              <a:t>A higher price reduces </a:t>
            </a:r>
            <a:r>
              <a:rPr lang="en-US" b="1" i="1" dirty="0">
                <a:solidFill>
                  <a:schemeClr val="tx1"/>
                </a:solidFill>
              </a:rPr>
              <a:t>CS</a:t>
            </a:r>
          </a:p>
        </p:txBody>
      </p:sp>
      <p:sp>
        <p:nvSpPr>
          <p:cNvPr id="117771" name="Rectangle 11"/>
          <p:cNvSpPr>
            <a:spLocks noGrp="1" noChangeArrowheads="1"/>
          </p:cNvSpPr>
          <p:nvPr>
            <p:ph idx="1"/>
          </p:nvPr>
        </p:nvSpPr>
        <p:spPr>
          <a:xfrm>
            <a:off x="4953000" y="990600"/>
            <a:ext cx="4072359" cy="5305425"/>
          </a:xfrm>
          <a:noFill/>
        </p:spPr>
        <p:txBody>
          <a:bodyPr>
            <a:normAutofit/>
          </a:bodyPr>
          <a:lstStyle/>
          <a:p>
            <a:pPr marL="0" indent="0" eaLnBrk="1" hangingPunct="1">
              <a:spcBef>
                <a:spcPct val="40000"/>
              </a:spcBef>
              <a:buFont typeface="Wingdings" pitchFamily="2" charset="2"/>
              <a:buNone/>
            </a:pPr>
            <a:r>
              <a:rPr lang="en-US" sz="2800" dirty="0">
                <a:solidFill>
                  <a:srgbClr val="4E519E"/>
                </a:solidFill>
              </a:rPr>
              <a:t>If </a:t>
            </a:r>
            <a:r>
              <a:rPr lang="en-US" sz="2800" b="1" i="1" dirty="0">
                <a:solidFill>
                  <a:srgbClr val="4E519E"/>
                </a:solidFill>
              </a:rPr>
              <a:t>P</a:t>
            </a:r>
            <a:r>
              <a:rPr lang="en-US" sz="2800" dirty="0">
                <a:solidFill>
                  <a:srgbClr val="4E519E"/>
                </a:solidFill>
              </a:rPr>
              <a:t> rises to $40, </a:t>
            </a:r>
          </a:p>
          <a:p>
            <a:pPr marL="0" indent="0" eaLnBrk="1" hangingPunct="1">
              <a:spcBef>
                <a:spcPct val="30000"/>
              </a:spcBef>
              <a:buFont typeface="Wingdings" pitchFamily="2" charset="2"/>
              <a:buNone/>
            </a:pPr>
            <a:r>
              <a:rPr lang="en-US" sz="2800" b="1" i="1" dirty="0"/>
              <a:t>CS</a:t>
            </a:r>
            <a:r>
              <a:rPr lang="en-US" sz="2800" dirty="0"/>
              <a:t> = ½ x 10 x $20</a:t>
            </a:r>
            <a:br>
              <a:rPr lang="en-US" sz="2800" dirty="0"/>
            </a:br>
            <a:r>
              <a:rPr lang="en-US" sz="2800" dirty="0"/>
              <a:t>      = $100.</a:t>
            </a:r>
          </a:p>
          <a:p>
            <a:pPr marL="0" indent="0" eaLnBrk="1" hangingPunct="1">
              <a:spcBef>
                <a:spcPct val="40000"/>
              </a:spcBef>
              <a:buFont typeface="Wingdings" pitchFamily="2" charset="2"/>
              <a:buNone/>
            </a:pPr>
            <a:r>
              <a:rPr lang="en-US" sz="2800" dirty="0"/>
              <a:t>	Two reasons for 	the fall in </a:t>
            </a:r>
            <a:r>
              <a:rPr lang="en-US" sz="2800" b="1" i="1" dirty="0"/>
              <a:t>CS</a:t>
            </a:r>
            <a:r>
              <a:rPr lang="en-US" sz="2800" dirty="0"/>
              <a:t>.</a:t>
            </a:r>
          </a:p>
        </p:txBody>
      </p:sp>
      <p:sp>
        <p:nvSpPr>
          <p:cNvPr id="9" name="Slide Number Placeholder 8"/>
          <p:cNvSpPr>
            <a:spLocks noGrp="1"/>
          </p:cNvSpPr>
          <p:nvPr>
            <p:ph type="sldNum" sz="quarter" idx="10"/>
          </p:nvPr>
        </p:nvSpPr>
        <p:spPr/>
        <p:txBody>
          <a:bodyPr/>
          <a:lstStyle/>
          <a:p>
            <a:pPr>
              <a:defRPr/>
            </a:pPr>
            <a:fld id="{2F37425F-5E17-4209-B948-B5CE2119E408}" type="slidenum">
              <a:rPr lang="en-US" smtClean="0"/>
              <a:pPr>
                <a:defRPr/>
              </a:pPr>
              <a:t>16</a:t>
            </a:fld>
            <a:endParaRPr lang="en-US" dirty="0"/>
          </a:p>
        </p:txBody>
      </p:sp>
      <p:grpSp>
        <p:nvGrpSpPr>
          <p:cNvPr id="3" name="Group 8"/>
          <p:cNvGrpSpPr>
            <a:grpSpLocks/>
          </p:cNvGrpSpPr>
          <p:nvPr/>
        </p:nvGrpSpPr>
        <p:grpSpPr bwMode="auto">
          <a:xfrm>
            <a:off x="3957638" y="1887538"/>
            <a:ext cx="3438525" cy="3495675"/>
            <a:chOff x="2887" y="1189"/>
            <a:chExt cx="2166" cy="2202"/>
          </a:xfrm>
        </p:grpSpPr>
        <p:sp>
          <p:nvSpPr>
            <p:cNvPr id="9242" name="Line 9"/>
            <p:cNvSpPr>
              <a:spLocks noChangeShapeType="1"/>
            </p:cNvSpPr>
            <p:nvPr/>
          </p:nvSpPr>
          <p:spPr bwMode="auto">
            <a:xfrm>
              <a:off x="2887" y="1189"/>
              <a:ext cx="1901" cy="1990"/>
            </a:xfrm>
            <a:prstGeom prst="line">
              <a:avLst/>
            </a:prstGeom>
            <a:noFill/>
            <a:ln w="44450">
              <a:solidFill>
                <a:srgbClr val="0000FF"/>
              </a:solidFill>
              <a:round/>
              <a:headEnd/>
              <a:tailEnd/>
            </a:ln>
          </p:spPr>
          <p:txBody>
            <a:bodyPr/>
            <a:lstStyle/>
            <a:p>
              <a:endParaRPr lang="en-US">
                <a:latin typeface="Arial"/>
                <a:cs typeface="Arial"/>
              </a:endParaRPr>
            </a:p>
          </p:txBody>
        </p:sp>
        <p:sp>
          <p:nvSpPr>
            <p:cNvPr id="9243" name="Rectangle 10"/>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sp>
        <p:nvSpPr>
          <p:cNvPr id="9228" name="Line 13"/>
          <p:cNvSpPr>
            <a:spLocks noChangeShapeType="1"/>
          </p:cNvSpPr>
          <p:nvPr/>
        </p:nvSpPr>
        <p:spPr bwMode="auto">
          <a:xfrm>
            <a:off x="3959225" y="3668713"/>
            <a:ext cx="1695450" cy="0"/>
          </a:xfrm>
          <a:prstGeom prst="line">
            <a:avLst/>
          </a:prstGeom>
          <a:noFill/>
          <a:ln w="12700">
            <a:solidFill>
              <a:srgbClr val="0000FF"/>
            </a:solidFill>
            <a:round/>
            <a:headEnd/>
            <a:tailEnd/>
          </a:ln>
        </p:spPr>
        <p:txBody>
          <a:bodyPr/>
          <a:lstStyle/>
          <a:p>
            <a:endParaRPr lang="en-US">
              <a:latin typeface="Arial"/>
              <a:cs typeface="Arial"/>
            </a:endParaRPr>
          </a:p>
        </p:txBody>
      </p:sp>
      <p:grpSp>
        <p:nvGrpSpPr>
          <p:cNvPr id="4" name="Group 23"/>
          <p:cNvGrpSpPr>
            <a:grpSpLocks/>
          </p:cNvGrpSpPr>
          <p:nvPr/>
        </p:nvGrpSpPr>
        <p:grpSpPr bwMode="auto">
          <a:xfrm>
            <a:off x="3252788" y="2881313"/>
            <a:ext cx="2111375" cy="3265487"/>
            <a:chOff x="2443" y="1815"/>
            <a:chExt cx="1330" cy="2057"/>
          </a:xfrm>
        </p:grpSpPr>
        <p:sp>
          <p:nvSpPr>
            <p:cNvPr id="9237" name="Rectangle 17"/>
            <p:cNvSpPr>
              <a:spLocks noChangeArrowheads="1"/>
            </p:cNvSpPr>
            <p:nvPr/>
          </p:nvSpPr>
          <p:spPr bwMode="auto">
            <a:xfrm>
              <a:off x="3444" y="3624"/>
              <a:ext cx="329" cy="248"/>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nvGrpSpPr>
            <p:cNvPr id="5" name="Group 22"/>
            <p:cNvGrpSpPr>
              <a:grpSpLocks/>
            </p:cNvGrpSpPr>
            <p:nvPr/>
          </p:nvGrpSpPr>
          <p:grpSpPr bwMode="auto">
            <a:xfrm>
              <a:off x="2443" y="1815"/>
              <a:ext cx="1160" cy="248"/>
              <a:chOff x="2443" y="1815"/>
              <a:chExt cx="1160" cy="248"/>
            </a:xfrm>
          </p:grpSpPr>
          <p:sp>
            <p:nvSpPr>
              <p:cNvPr id="9240" name="Line 19"/>
              <p:cNvSpPr>
                <a:spLocks noChangeShapeType="1"/>
              </p:cNvSpPr>
              <p:nvPr/>
            </p:nvSpPr>
            <p:spPr bwMode="auto">
              <a:xfrm>
                <a:off x="2769" y="1937"/>
                <a:ext cx="834" cy="0"/>
              </a:xfrm>
              <a:prstGeom prst="line">
                <a:avLst/>
              </a:prstGeom>
              <a:noFill/>
              <a:ln w="12700">
                <a:solidFill>
                  <a:srgbClr val="FF0000"/>
                </a:solidFill>
                <a:round/>
                <a:headEnd/>
                <a:tailEnd/>
              </a:ln>
            </p:spPr>
            <p:txBody>
              <a:bodyPr/>
              <a:lstStyle/>
              <a:p>
                <a:endParaRPr lang="en-US">
                  <a:latin typeface="Arial"/>
                  <a:cs typeface="Arial"/>
                </a:endParaRPr>
              </a:p>
            </p:txBody>
          </p:sp>
          <p:sp>
            <p:nvSpPr>
              <p:cNvPr id="9241" name="Rectangle 20"/>
              <p:cNvSpPr>
                <a:spLocks noChangeArrowheads="1"/>
              </p:cNvSpPr>
              <p:nvPr/>
            </p:nvSpPr>
            <p:spPr bwMode="auto">
              <a:xfrm>
                <a:off x="2443" y="1815"/>
                <a:ext cx="329" cy="248"/>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sp>
          <p:nvSpPr>
            <p:cNvPr id="9239" name="Line 21"/>
            <p:cNvSpPr>
              <a:spLocks noChangeShapeType="1"/>
            </p:cNvSpPr>
            <p:nvPr/>
          </p:nvSpPr>
          <p:spPr bwMode="auto">
            <a:xfrm flipV="1">
              <a:off x="3600" y="1932"/>
              <a:ext cx="0" cy="1695"/>
            </a:xfrm>
            <a:prstGeom prst="line">
              <a:avLst/>
            </a:prstGeom>
            <a:noFill/>
            <a:ln w="12700">
              <a:solidFill>
                <a:srgbClr val="FF0000"/>
              </a:solidFill>
              <a:round/>
              <a:headEnd/>
              <a:tailEnd/>
            </a:ln>
          </p:spPr>
          <p:txBody>
            <a:bodyPr/>
            <a:lstStyle/>
            <a:p>
              <a:endParaRPr lang="en-US">
                <a:latin typeface="Arial"/>
                <a:cs typeface="Arial"/>
              </a:endParaRPr>
            </a:p>
          </p:txBody>
        </p:sp>
      </p:grpSp>
      <p:sp>
        <p:nvSpPr>
          <p:cNvPr id="117784" name="AutoShape 24"/>
          <p:cNvSpPr>
            <a:spLocks noChangeArrowheads="1"/>
          </p:cNvSpPr>
          <p:nvPr/>
        </p:nvSpPr>
        <p:spPr bwMode="auto">
          <a:xfrm>
            <a:off x="3967163" y="1924050"/>
            <a:ext cx="1100137" cy="1143000"/>
          </a:xfrm>
          <a:prstGeom prst="rtTriangle">
            <a:avLst/>
          </a:prstGeom>
          <a:solidFill>
            <a:srgbClr val="66FF66"/>
          </a:solidFill>
          <a:ln w="9525">
            <a:noFill/>
            <a:miter lim="800000"/>
            <a:headEnd/>
            <a:tailEnd/>
          </a:ln>
        </p:spPr>
        <p:txBody>
          <a:bodyPr wrap="none" anchor="ctr"/>
          <a:lstStyle/>
          <a:p>
            <a:endParaRPr lang="en-US">
              <a:latin typeface="Arial"/>
              <a:cs typeface="Arial"/>
            </a:endParaRPr>
          </a:p>
        </p:txBody>
      </p:sp>
      <p:grpSp>
        <p:nvGrpSpPr>
          <p:cNvPr id="6" name="Group 30"/>
          <p:cNvGrpSpPr>
            <a:grpSpLocks/>
          </p:cNvGrpSpPr>
          <p:nvPr/>
        </p:nvGrpSpPr>
        <p:grpSpPr bwMode="auto">
          <a:xfrm>
            <a:off x="341312" y="1863726"/>
            <a:ext cx="4943475" cy="1593850"/>
            <a:chOff x="609" y="1174"/>
            <a:chExt cx="3114" cy="1004"/>
          </a:xfrm>
        </p:grpSpPr>
        <p:sp>
          <p:nvSpPr>
            <p:cNvPr id="9235" name="Line 29"/>
            <p:cNvSpPr>
              <a:spLocks noChangeShapeType="1"/>
            </p:cNvSpPr>
            <p:nvPr/>
          </p:nvSpPr>
          <p:spPr bwMode="auto">
            <a:xfrm>
              <a:off x="2266" y="1632"/>
              <a:ext cx="1457" cy="546"/>
            </a:xfrm>
            <a:prstGeom prst="line">
              <a:avLst/>
            </a:prstGeom>
            <a:noFill/>
            <a:ln w="12700">
              <a:solidFill>
                <a:srgbClr val="0000FF"/>
              </a:solidFill>
              <a:round/>
              <a:headEnd/>
              <a:tailEnd type="none" w="lg" len="med"/>
            </a:ln>
          </p:spPr>
          <p:txBody>
            <a:bodyPr/>
            <a:lstStyle/>
            <a:p>
              <a:endParaRPr lang="en-US" sz="2000">
                <a:latin typeface="Arial"/>
                <a:cs typeface="Arial"/>
              </a:endParaRPr>
            </a:p>
          </p:txBody>
        </p:sp>
        <p:sp>
          <p:nvSpPr>
            <p:cNvPr id="9236" name="Text Box 27"/>
            <p:cNvSpPr txBox="1">
              <a:spLocks noChangeArrowheads="1"/>
            </p:cNvSpPr>
            <p:nvPr/>
          </p:nvSpPr>
          <p:spPr bwMode="auto">
            <a:xfrm>
              <a:off x="609" y="1174"/>
              <a:ext cx="1657" cy="756"/>
            </a:xfrm>
            <a:prstGeom prst="rect">
              <a:avLst/>
            </a:prstGeom>
            <a:noFill/>
            <a:ln w="9525">
              <a:solidFill>
                <a:srgbClr val="0000FF"/>
              </a:solidFill>
              <a:miter lim="800000"/>
              <a:headEnd/>
              <a:tailEnd/>
            </a:ln>
          </p:spPr>
          <p:txBody>
            <a:bodyPr>
              <a:spAutoFit/>
            </a:bodyPr>
            <a:lstStyle/>
            <a:p>
              <a:pPr>
                <a:spcBef>
                  <a:spcPct val="50000"/>
                </a:spcBef>
              </a:pPr>
              <a:r>
                <a:rPr lang="en-US" sz="2400" dirty="0">
                  <a:solidFill>
                    <a:srgbClr val="0000FF"/>
                  </a:solidFill>
                  <a:latin typeface="Arial"/>
                  <a:cs typeface="Arial"/>
                </a:rPr>
                <a:t>1. Fall in </a:t>
              </a:r>
              <a:r>
                <a:rPr lang="en-US" sz="2400" b="1" i="1" dirty="0">
                  <a:solidFill>
                    <a:srgbClr val="0000FF"/>
                  </a:solidFill>
                  <a:latin typeface="Arial"/>
                  <a:cs typeface="Arial"/>
                </a:rPr>
                <a:t>CS</a:t>
              </a:r>
              <a:r>
                <a:rPr lang="en-US" sz="2400" dirty="0">
                  <a:solidFill>
                    <a:srgbClr val="0000FF"/>
                  </a:solidFill>
                  <a:latin typeface="Arial"/>
                  <a:cs typeface="Arial"/>
                </a:rPr>
                <a:t> due to buyers leaving the market</a:t>
              </a:r>
            </a:p>
          </p:txBody>
        </p:sp>
      </p:grpSp>
      <p:grpSp>
        <p:nvGrpSpPr>
          <p:cNvPr id="7" name="Group 32"/>
          <p:cNvGrpSpPr>
            <a:grpSpLocks/>
          </p:cNvGrpSpPr>
          <p:nvPr/>
        </p:nvGrpSpPr>
        <p:grpSpPr bwMode="auto">
          <a:xfrm>
            <a:off x="341312" y="3514726"/>
            <a:ext cx="4140200" cy="2184401"/>
            <a:chOff x="609" y="2214"/>
            <a:chExt cx="2608" cy="1376"/>
          </a:xfrm>
        </p:grpSpPr>
        <p:sp>
          <p:nvSpPr>
            <p:cNvPr id="9233" name="Line 31"/>
            <p:cNvSpPr>
              <a:spLocks noChangeShapeType="1"/>
            </p:cNvSpPr>
            <p:nvPr/>
          </p:nvSpPr>
          <p:spPr bwMode="auto">
            <a:xfrm flipV="1">
              <a:off x="2252" y="2214"/>
              <a:ext cx="965" cy="523"/>
            </a:xfrm>
            <a:prstGeom prst="line">
              <a:avLst/>
            </a:prstGeom>
            <a:noFill/>
            <a:ln w="12700">
              <a:solidFill>
                <a:srgbClr val="006600"/>
              </a:solidFill>
              <a:round/>
              <a:headEnd/>
              <a:tailEnd/>
            </a:ln>
          </p:spPr>
          <p:txBody>
            <a:bodyPr/>
            <a:lstStyle/>
            <a:p>
              <a:endParaRPr lang="en-US" sz="2000">
                <a:latin typeface="Arial"/>
                <a:cs typeface="Arial"/>
              </a:endParaRPr>
            </a:p>
          </p:txBody>
        </p:sp>
        <p:sp>
          <p:nvSpPr>
            <p:cNvPr id="9234" name="Text Box 28"/>
            <p:cNvSpPr txBox="1">
              <a:spLocks noChangeArrowheads="1"/>
            </p:cNvSpPr>
            <p:nvPr/>
          </p:nvSpPr>
          <p:spPr bwMode="auto">
            <a:xfrm>
              <a:off x="609" y="2601"/>
              <a:ext cx="1657" cy="989"/>
            </a:xfrm>
            <a:prstGeom prst="rect">
              <a:avLst/>
            </a:prstGeom>
            <a:noFill/>
            <a:ln w="9525">
              <a:solidFill>
                <a:srgbClr val="006600"/>
              </a:solidFill>
              <a:miter lim="800000"/>
              <a:headEnd/>
              <a:tailEnd/>
            </a:ln>
          </p:spPr>
          <p:txBody>
            <a:bodyPr wrap="square">
              <a:spAutoFit/>
            </a:bodyPr>
            <a:lstStyle/>
            <a:p>
              <a:pPr>
                <a:spcBef>
                  <a:spcPct val="50000"/>
                </a:spcBef>
              </a:pPr>
              <a:r>
                <a:rPr lang="en-US" sz="2400" dirty="0">
                  <a:solidFill>
                    <a:srgbClr val="006600"/>
                  </a:solidFill>
                  <a:latin typeface="Arial"/>
                  <a:cs typeface="Arial"/>
                </a:rPr>
                <a:t>2. Fall in </a:t>
              </a:r>
              <a:r>
                <a:rPr lang="en-US" sz="2400" b="1" i="1" dirty="0">
                  <a:solidFill>
                    <a:srgbClr val="006600"/>
                  </a:solidFill>
                  <a:latin typeface="Arial"/>
                  <a:cs typeface="Arial"/>
                </a:rPr>
                <a:t>CS</a:t>
              </a:r>
              <a:r>
                <a:rPr lang="en-US" sz="2400" dirty="0">
                  <a:solidFill>
                    <a:srgbClr val="006600"/>
                  </a:solidFill>
                  <a:latin typeface="Arial"/>
                  <a:cs typeface="Arial"/>
                </a:rPr>
                <a:t> due to remaining buyers paying the higher </a:t>
              </a:r>
              <a:r>
                <a:rPr lang="en-US" sz="2400" b="1" i="1" dirty="0">
                  <a:solidFill>
                    <a:srgbClr val="006600"/>
                  </a:solidFill>
                  <a:latin typeface="Arial"/>
                  <a:cs typeface="Arial"/>
                </a:rPr>
                <a:t>P</a:t>
              </a:r>
            </a:p>
          </p:txBody>
        </p:sp>
      </p:grpSp>
      <p:sp>
        <p:nvSpPr>
          <p:cNvPr id="8" name="Footer Placeholder 7">
            <a:extLst>
              <a:ext uri="{FF2B5EF4-FFF2-40B4-BE49-F238E27FC236}">
                <a16:creationId xmlns:a16="http://schemas.microsoft.com/office/drawing/2014/main" id="{4847E342-11D7-8E09-EC2D-5991DAE60F6F}"/>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28461036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71">
                                            <p:txEl>
                                              <p:pRg st="0" end="0"/>
                                            </p:txEl>
                                          </p:spTgt>
                                        </p:tgtEl>
                                        <p:attrNameLst>
                                          <p:attrName>style.visibility</p:attrName>
                                        </p:attrNameLst>
                                      </p:cBhvr>
                                      <p:to>
                                        <p:strVal val="visible"/>
                                      </p:to>
                                    </p:set>
                                    <p:animEffect transition="in" filter="wipe(left)">
                                      <p:cBhvr>
                                        <p:cTn id="7" dur="500"/>
                                        <p:tgtEl>
                                          <p:spTgt spid="117771">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7771">
                                            <p:txEl>
                                              <p:pRg st="1" end="1"/>
                                            </p:txEl>
                                          </p:spTgt>
                                        </p:tgtEl>
                                        <p:attrNameLst>
                                          <p:attrName>style.visibility</p:attrName>
                                        </p:attrNameLst>
                                      </p:cBhvr>
                                      <p:to>
                                        <p:strVal val="visible"/>
                                      </p:to>
                                    </p:set>
                                    <p:animEffect transition="in" filter="wipe(left)">
                                      <p:cBhvr>
                                        <p:cTn id="16" dur="500"/>
                                        <p:tgtEl>
                                          <p:spTgt spid="117771">
                                            <p:txEl>
                                              <p:pRg st="1" end="1"/>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17784"/>
                                        </p:tgtEl>
                                        <p:attrNameLst>
                                          <p:attrName>style.visibility</p:attrName>
                                        </p:attrNameLst>
                                      </p:cBhvr>
                                      <p:to>
                                        <p:strVal val="visible"/>
                                      </p:to>
                                    </p:set>
                                    <p:animEffect transition="in" filter="fade">
                                      <p:cBhvr>
                                        <p:cTn id="20" dur="500"/>
                                        <p:tgtEl>
                                          <p:spTgt spid="11778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7771">
                                            <p:txEl>
                                              <p:pRg st="2" end="2"/>
                                            </p:txEl>
                                          </p:spTgt>
                                        </p:tgtEl>
                                        <p:attrNameLst>
                                          <p:attrName>style.visibility</p:attrName>
                                        </p:attrNameLst>
                                      </p:cBhvr>
                                      <p:to>
                                        <p:strVal val="visible"/>
                                      </p:to>
                                    </p:set>
                                    <p:animEffect transition="in" filter="wipe(left)">
                                      <p:cBhvr>
                                        <p:cTn id="25" dur="500"/>
                                        <p:tgtEl>
                                          <p:spTgt spid="117771">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7785"/>
                                        </p:tgtEl>
                                        <p:attrNameLst>
                                          <p:attrName>style.visibility</p:attrName>
                                        </p:attrNameLst>
                                      </p:cBhvr>
                                      <p:to>
                                        <p:strVal val="visible"/>
                                      </p:to>
                                    </p:set>
                                    <p:animEffect transition="in" filter="fade">
                                      <p:cBhvr>
                                        <p:cTn id="33" dur="500"/>
                                        <p:tgtEl>
                                          <p:spTgt spid="11778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7786"/>
                                        </p:tgtEl>
                                        <p:attrNameLst>
                                          <p:attrName>style.visibility</p:attrName>
                                        </p:attrNameLst>
                                      </p:cBhvr>
                                      <p:to>
                                        <p:strVal val="visible"/>
                                      </p:to>
                                    </p:set>
                                    <p:animEffect transition="in" filter="fade">
                                      <p:cBhvr>
                                        <p:cTn id="41" dur="500"/>
                                        <p:tgtEl>
                                          <p:spTgt spid="117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5" grpId="0" animBg="1"/>
      <p:bldP spid="117786" grpId="0" animBg="1"/>
      <p:bldP spid="117771" grpId="0" build="p" bldLvl="5"/>
      <p:bldP spid="11778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t>
            </a:r>
            <a:r>
              <a:rPr lang="en-US" dirty="0">
                <a:solidFill>
                  <a:schemeClr val="tx1"/>
                </a:solidFill>
              </a:rPr>
              <a:t>Consumer surplus</a:t>
            </a:r>
          </a:p>
        </p:txBody>
      </p:sp>
      <p:sp>
        <p:nvSpPr>
          <p:cNvPr id="3" name="Content Placeholder 2"/>
          <p:cNvSpPr>
            <a:spLocks noGrp="1"/>
          </p:cNvSpPr>
          <p:nvPr>
            <p:ph idx="1"/>
          </p:nvPr>
        </p:nvSpPr>
        <p:spPr>
          <a:xfrm>
            <a:off x="228600" y="914400"/>
            <a:ext cx="4072359" cy="5534025"/>
          </a:xfrm>
          <a:prstGeom prst="rect">
            <a:avLst/>
          </a:prstGeom>
        </p:spPr>
        <p:txBody>
          <a:bodyPr>
            <a:noAutofit/>
          </a:bodyPr>
          <a:lstStyle/>
          <a:p>
            <a:pPr marL="514350" indent="-514350">
              <a:spcBef>
                <a:spcPct val="45000"/>
              </a:spcBef>
              <a:buClr>
                <a:srgbClr val="C00000"/>
              </a:buClr>
              <a:buSzPct val="100000"/>
              <a:buFont typeface="+mj-lt"/>
              <a:buAutoNum type="alphaUcPeriod"/>
            </a:pPr>
            <a:r>
              <a:rPr lang="en-US" sz="2800" dirty="0">
                <a:solidFill>
                  <a:schemeClr val="tx1"/>
                </a:solidFill>
                <a:cs typeface="Arial"/>
              </a:rPr>
              <a:t>Find marginal buyer’s </a:t>
            </a:r>
            <a:r>
              <a:rPr lang="en-US" sz="2800" b="1" i="1" dirty="0">
                <a:solidFill>
                  <a:schemeClr val="tx1"/>
                </a:solidFill>
                <a:cs typeface="Arial"/>
              </a:rPr>
              <a:t>WTP</a:t>
            </a:r>
            <a:r>
              <a:rPr lang="en-US" sz="2800" dirty="0">
                <a:solidFill>
                  <a:schemeClr val="tx1"/>
                </a:solidFill>
                <a:cs typeface="Arial"/>
              </a:rPr>
              <a:t> at 	 </a:t>
            </a:r>
            <a:r>
              <a:rPr lang="en-US" sz="2800" b="1" i="1" dirty="0">
                <a:solidFill>
                  <a:schemeClr val="tx1"/>
                </a:solidFill>
                <a:cs typeface="Arial"/>
              </a:rPr>
              <a:t>Q</a:t>
            </a:r>
            <a:r>
              <a:rPr lang="en-US" sz="2800" dirty="0">
                <a:solidFill>
                  <a:schemeClr val="tx1"/>
                </a:solidFill>
                <a:cs typeface="Arial"/>
              </a:rPr>
              <a:t> = 10. </a:t>
            </a:r>
          </a:p>
          <a:p>
            <a:pPr marL="514350" indent="-514350">
              <a:spcBef>
                <a:spcPct val="45000"/>
              </a:spcBef>
              <a:buClr>
                <a:srgbClr val="C00000"/>
              </a:buClr>
              <a:buSzPct val="100000"/>
              <a:buFont typeface="+mj-lt"/>
              <a:buAutoNum type="alphaUcPeriod"/>
            </a:pPr>
            <a:r>
              <a:rPr lang="en-US" sz="2800" dirty="0">
                <a:solidFill>
                  <a:schemeClr val="tx1"/>
                </a:solidFill>
                <a:cs typeface="Arial"/>
              </a:rPr>
              <a:t>Find </a:t>
            </a:r>
            <a:r>
              <a:rPr lang="en-US" sz="2800" b="1" i="1" dirty="0">
                <a:solidFill>
                  <a:schemeClr val="tx1"/>
                </a:solidFill>
                <a:cs typeface="Arial"/>
              </a:rPr>
              <a:t>CS</a:t>
            </a:r>
            <a:r>
              <a:rPr lang="en-US" sz="2800" dirty="0">
                <a:solidFill>
                  <a:schemeClr val="tx1"/>
                </a:solidFill>
                <a:cs typeface="Arial"/>
              </a:rPr>
              <a:t> for </a:t>
            </a:r>
            <a:r>
              <a:rPr lang="en-US" sz="2800" b="1" i="1" dirty="0">
                <a:solidFill>
                  <a:schemeClr val="tx1"/>
                </a:solidFill>
                <a:cs typeface="Arial"/>
              </a:rPr>
              <a:t>P</a:t>
            </a:r>
            <a:r>
              <a:rPr lang="en-US" sz="2800" dirty="0">
                <a:solidFill>
                  <a:schemeClr val="tx1"/>
                </a:solidFill>
                <a:cs typeface="Arial"/>
              </a:rPr>
              <a:t> = $30</a:t>
            </a:r>
          </a:p>
          <a:p>
            <a:pPr marL="0" indent="0">
              <a:spcBef>
                <a:spcPct val="45000"/>
              </a:spcBef>
              <a:buClr>
                <a:srgbClr val="003399"/>
              </a:buClr>
              <a:buSzPct val="120000"/>
              <a:buNone/>
            </a:pPr>
            <a:r>
              <a:rPr lang="en-US" sz="2800" dirty="0">
                <a:solidFill>
                  <a:schemeClr val="tx1"/>
                </a:solidFill>
                <a:cs typeface="Arial"/>
              </a:rPr>
              <a:t>Suppose </a:t>
            </a:r>
            <a:r>
              <a:rPr lang="en-US" sz="2800" b="1" i="1" dirty="0">
                <a:solidFill>
                  <a:schemeClr val="tx1"/>
                </a:solidFill>
                <a:cs typeface="Arial"/>
              </a:rPr>
              <a:t>P</a:t>
            </a:r>
            <a:r>
              <a:rPr lang="en-US" sz="2800" dirty="0">
                <a:solidFill>
                  <a:schemeClr val="tx1"/>
                </a:solidFill>
                <a:cs typeface="Arial"/>
              </a:rPr>
              <a:t> falls to $20.</a:t>
            </a:r>
            <a:br>
              <a:rPr lang="en-US" sz="2800" dirty="0">
                <a:solidFill>
                  <a:schemeClr val="tx1"/>
                </a:solidFill>
                <a:cs typeface="Arial"/>
              </a:rPr>
            </a:br>
            <a:r>
              <a:rPr lang="en-US" sz="2800" dirty="0">
                <a:solidFill>
                  <a:schemeClr val="tx1"/>
                </a:solidFill>
                <a:cs typeface="Arial"/>
              </a:rPr>
              <a:t>How much will </a:t>
            </a:r>
            <a:r>
              <a:rPr lang="en-US" sz="2800" b="1" i="1" dirty="0">
                <a:solidFill>
                  <a:schemeClr val="tx1"/>
                </a:solidFill>
                <a:cs typeface="Arial"/>
              </a:rPr>
              <a:t>CS</a:t>
            </a:r>
            <a:r>
              <a:rPr lang="en-US" sz="2800" dirty="0">
                <a:solidFill>
                  <a:schemeClr val="tx1"/>
                </a:solidFill>
                <a:cs typeface="Arial"/>
              </a:rPr>
              <a:t> increase due to…</a:t>
            </a:r>
          </a:p>
          <a:p>
            <a:pPr marL="514350" indent="-514350">
              <a:buClr>
                <a:srgbClr val="C00000"/>
              </a:buClr>
              <a:buSzPct val="100000"/>
              <a:buFont typeface="+mj-lt"/>
              <a:buAutoNum type="alphaUcPeriod" startAt="3"/>
            </a:pPr>
            <a:r>
              <a:rPr lang="en-US" sz="2800" dirty="0">
                <a:solidFill>
                  <a:schemeClr val="tx1"/>
                </a:solidFill>
                <a:cs typeface="Arial"/>
              </a:rPr>
              <a:t>buyers entering </a:t>
            </a:r>
            <a:br>
              <a:rPr lang="en-US" sz="2800" dirty="0">
                <a:solidFill>
                  <a:schemeClr val="tx1"/>
                </a:solidFill>
                <a:cs typeface="Arial"/>
              </a:rPr>
            </a:br>
            <a:r>
              <a:rPr lang="en-US" sz="2800" dirty="0">
                <a:solidFill>
                  <a:schemeClr val="tx1"/>
                </a:solidFill>
                <a:cs typeface="Arial"/>
              </a:rPr>
              <a:t>the market</a:t>
            </a:r>
          </a:p>
          <a:p>
            <a:pPr marL="514350" indent="-514350">
              <a:buClr>
                <a:srgbClr val="C00000"/>
              </a:buClr>
              <a:buSzPct val="100000"/>
              <a:buFont typeface="+mj-lt"/>
              <a:buAutoNum type="alphaUcPeriod" startAt="3"/>
            </a:pPr>
            <a:r>
              <a:rPr lang="en-US" sz="2800" dirty="0">
                <a:solidFill>
                  <a:schemeClr val="tx1"/>
                </a:solidFill>
                <a:cs typeface="Arial"/>
              </a:rPr>
              <a:t>existing buyers paying lower price</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17</a:t>
            </a:fld>
            <a:endParaRPr lang="en-US"/>
          </a:p>
        </p:txBody>
      </p:sp>
      <p:grpSp>
        <p:nvGrpSpPr>
          <p:cNvPr id="25" name="Group 24"/>
          <p:cNvGrpSpPr/>
          <p:nvPr/>
        </p:nvGrpSpPr>
        <p:grpSpPr>
          <a:xfrm>
            <a:off x="4135437" y="719138"/>
            <a:ext cx="4856163" cy="5791200"/>
            <a:chOff x="4035425" y="906463"/>
            <a:chExt cx="4856163" cy="5791200"/>
          </a:xfrm>
        </p:grpSpPr>
        <p:graphicFrame>
          <p:nvGraphicFramePr>
            <p:cNvPr id="26" name="Object 67"/>
            <p:cNvGraphicFramePr>
              <a:graphicFrameLocks noChangeAspect="1"/>
            </p:cNvGraphicFramePr>
            <p:nvPr/>
          </p:nvGraphicFramePr>
          <p:xfrm>
            <a:off x="4070350" y="906463"/>
            <a:ext cx="4821238" cy="5791200"/>
          </p:xfrm>
          <a:graphic>
            <a:graphicData uri="http://schemas.openxmlformats.org/presentationml/2006/ole">
              <mc:AlternateContent xmlns:mc="http://schemas.openxmlformats.org/markup-compatibility/2006">
                <mc:Choice xmlns:v="urn:schemas-microsoft-com:vml" Requires="v">
                  <p:oleObj name="Worksheet" r:id="rId3" imgW="3390840" imgH="3705046" progId="Excel.Sheet.8">
                    <p:embed/>
                  </p:oleObj>
                </mc:Choice>
                <mc:Fallback>
                  <p:oleObj name="Worksheet" r:id="rId3" imgW="3390840" imgH="3705046" progId="Excel.Sheet.8">
                    <p:embed/>
                    <p:pic>
                      <p:nvPicPr>
                        <p:cNvPr id="26"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0350" y="906463"/>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27" name="Text Box 68" descr="Wide upward diagonal"/>
            <p:cNvSpPr txBox="1">
              <a:spLocks noChangeArrowheads="1"/>
            </p:cNvSpPr>
            <p:nvPr/>
          </p:nvSpPr>
          <p:spPr bwMode="auto">
            <a:xfrm>
              <a:off x="4198938" y="1054100"/>
              <a:ext cx="592137" cy="503238"/>
            </a:xfrm>
            <a:prstGeom prst="rect">
              <a:avLst/>
            </a:prstGeom>
            <a:ln w="9525">
              <a:noFill/>
              <a:miter lim="800000"/>
              <a:headEnd/>
              <a:tailEnd/>
            </a:ln>
          </p:spPr>
          <p:txBody>
            <a:bodyPr>
              <a:spAutoFit/>
            </a:bodyPr>
            <a:lstStyle/>
            <a:p>
              <a:pPr algn="ctr">
                <a:spcBef>
                  <a:spcPct val="50000"/>
                </a:spcBef>
              </a:pPr>
              <a:r>
                <a:rPr lang="en-US" sz="2700" b="1" i="1" dirty="0">
                  <a:latin typeface="Arial"/>
                  <a:cs typeface="Arial"/>
                </a:rPr>
                <a:t>P</a:t>
              </a:r>
            </a:p>
          </p:txBody>
        </p:sp>
        <p:sp useBgFill="1">
          <p:nvSpPr>
            <p:cNvPr id="28" name="Text Box 70" descr="Wide upward diagonal"/>
            <p:cNvSpPr txBox="1">
              <a:spLocks noChangeArrowheads="1"/>
            </p:cNvSpPr>
            <p:nvPr/>
          </p:nvSpPr>
          <p:spPr bwMode="auto">
            <a:xfrm>
              <a:off x="8277225" y="6051550"/>
              <a:ext cx="592138" cy="415498"/>
            </a:xfrm>
            <a:prstGeom prst="rect">
              <a:avLst/>
            </a:prstGeom>
            <a:ln w="9525">
              <a:noFill/>
              <a:miter lim="800000"/>
              <a:headEnd/>
              <a:tailEnd/>
            </a:ln>
          </p:spPr>
          <p:txBody>
            <a:bodyPr tIns="0" bIns="0">
              <a:spAutoFit/>
            </a:bodyPr>
            <a:lstStyle/>
            <a:p>
              <a:pPr algn="ctr">
                <a:spcBef>
                  <a:spcPct val="50000"/>
                </a:spcBef>
              </a:pPr>
              <a:r>
                <a:rPr lang="en-US" sz="2700" b="1" i="1" dirty="0">
                  <a:latin typeface="Arial"/>
                  <a:cs typeface="Arial"/>
                </a:rPr>
                <a:t>Q</a:t>
              </a:r>
            </a:p>
          </p:txBody>
        </p:sp>
        <p:sp>
          <p:nvSpPr>
            <p:cNvPr id="29" name="Text Box 71"/>
            <p:cNvSpPr txBox="1">
              <a:spLocks noChangeArrowheads="1"/>
            </p:cNvSpPr>
            <p:nvPr/>
          </p:nvSpPr>
          <p:spPr bwMode="auto">
            <a:xfrm>
              <a:off x="5251450" y="1298575"/>
              <a:ext cx="2909888" cy="488950"/>
            </a:xfrm>
            <a:prstGeom prst="rect">
              <a:avLst/>
            </a:prstGeom>
            <a:solidFill>
              <a:schemeClr val="bg1"/>
            </a:solidFill>
            <a:ln w="9525">
              <a:solidFill>
                <a:srgbClr val="4E519E"/>
              </a:solidFill>
              <a:miter lim="800000"/>
              <a:headEnd/>
              <a:tailEnd/>
            </a:ln>
          </p:spPr>
          <p:txBody>
            <a:bodyPr>
              <a:spAutoFit/>
            </a:bodyPr>
            <a:lstStyle/>
            <a:p>
              <a:pPr algn="ctr">
                <a:spcBef>
                  <a:spcPct val="50000"/>
                </a:spcBef>
              </a:pPr>
              <a:r>
                <a:rPr lang="en-US" sz="2600" i="1" dirty="0">
                  <a:solidFill>
                    <a:srgbClr val="4E519E"/>
                  </a:solidFill>
                  <a:latin typeface="Arial"/>
                  <a:cs typeface="Arial"/>
                </a:rPr>
                <a:t>demand curve</a:t>
              </a:r>
            </a:p>
          </p:txBody>
        </p:sp>
        <p:sp>
          <p:nvSpPr>
            <p:cNvPr id="30" name="Text Box 10"/>
            <p:cNvSpPr txBox="1">
              <a:spLocks noChangeArrowheads="1"/>
            </p:cNvSpPr>
            <p:nvPr/>
          </p:nvSpPr>
          <p:spPr bwMode="auto">
            <a:xfrm>
              <a:off x="4035425" y="1547813"/>
              <a:ext cx="438150" cy="473075"/>
            </a:xfrm>
            <a:prstGeom prst="rect">
              <a:avLst/>
            </a:prstGeom>
            <a:noFill/>
            <a:ln w="9525">
              <a:noFill/>
              <a:miter lim="800000"/>
              <a:headEnd/>
              <a:tailEnd/>
            </a:ln>
          </p:spPr>
          <p:txBody>
            <a:bodyPr>
              <a:spAutoFit/>
            </a:bodyPr>
            <a:lstStyle/>
            <a:p>
              <a:pPr>
                <a:spcBef>
                  <a:spcPct val="50000"/>
                </a:spcBef>
              </a:pPr>
              <a:r>
                <a:rPr lang="en-US" sz="2500">
                  <a:latin typeface="Arial"/>
                  <a:cs typeface="Arial"/>
                </a:rPr>
                <a:t>$</a:t>
              </a:r>
            </a:p>
          </p:txBody>
        </p:sp>
      </p:grpSp>
      <p:sp>
        <p:nvSpPr>
          <p:cNvPr id="5" name="Footer Placeholder 4">
            <a:extLst>
              <a:ext uri="{FF2B5EF4-FFF2-40B4-BE49-F238E27FC236}">
                <a16:creationId xmlns:a16="http://schemas.microsoft.com/office/drawing/2014/main" id="{DB95A583-4210-D914-4E25-B82DC463E51D}"/>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1934671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1: Answers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18</a:t>
            </a:fld>
            <a:endParaRPr lang="en-US"/>
          </a:p>
        </p:txBody>
      </p:sp>
      <p:sp>
        <p:nvSpPr>
          <p:cNvPr id="3" name="Content Placeholder 2"/>
          <p:cNvSpPr>
            <a:spLocks noGrp="1"/>
          </p:cNvSpPr>
          <p:nvPr>
            <p:ph idx="12"/>
          </p:nvPr>
        </p:nvSpPr>
        <p:spPr>
          <a:xfrm>
            <a:off x="174625" y="866775"/>
            <a:ext cx="4076699" cy="5467349"/>
          </a:xfrm>
        </p:spPr>
        <p:txBody>
          <a:bodyPr>
            <a:noAutofit/>
          </a:bodyPr>
          <a:lstStyle/>
          <a:p>
            <a:pPr marL="514350" indent="-514350">
              <a:spcBef>
                <a:spcPct val="45000"/>
              </a:spcBef>
              <a:buClr>
                <a:srgbClr val="C00000"/>
              </a:buClr>
              <a:buSzPct val="100000"/>
              <a:buFont typeface="+mj-lt"/>
              <a:buAutoNum type="alphaUcPeriod"/>
            </a:pPr>
            <a:r>
              <a:rPr lang="en-US" sz="2800" dirty="0">
                <a:solidFill>
                  <a:srgbClr val="4E519E"/>
                </a:solidFill>
                <a:cs typeface="Arial"/>
              </a:rPr>
              <a:t>At </a:t>
            </a:r>
            <a:r>
              <a:rPr lang="en-US" sz="2800" b="1" i="1" dirty="0">
                <a:solidFill>
                  <a:srgbClr val="4E519E"/>
                </a:solidFill>
                <a:cs typeface="Arial"/>
              </a:rPr>
              <a:t>Q</a:t>
            </a:r>
            <a:r>
              <a:rPr lang="en-US" sz="2800" dirty="0">
                <a:solidFill>
                  <a:srgbClr val="4E519E"/>
                </a:solidFill>
                <a:cs typeface="Arial"/>
              </a:rPr>
              <a:t> = 10, marginal buyer’s </a:t>
            </a:r>
            <a:r>
              <a:rPr lang="en-US" sz="2800" b="1" i="1" dirty="0">
                <a:solidFill>
                  <a:srgbClr val="4E519E"/>
                </a:solidFill>
                <a:cs typeface="Arial"/>
              </a:rPr>
              <a:t>WTP</a:t>
            </a:r>
            <a:r>
              <a:rPr lang="en-US" sz="2800" dirty="0">
                <a:solidFill>
                  <a:srgbClr val="4E519E"/>
                </a:solidFill>
                <a:cs typeface="Arial"/>
              </a:rPr>
              <a:t> is $30.</a:t>
            </a:r>
          </a:p>
          <a:p>
            <a:pPr marL="514350" indent="-514350">
              <a:spcBef>
                <a:spcPct val="45000"/>
              </a:spcBef>
              <a:buClr>
                <a:srgbClr val="C00000"/>
              </a:buClr>
              <a:buSzPct val="100000"/>
              <a:buFont typeface="+mj-lt"/>
              <a:buAutoNum type="alphaUcPeriod"/>
            </a:pPr>
            <a:r>
              <a:rPr lang="en-US" sz="2800" dirty="0">
                <a:solidFill>
                  <a:srgbClr val="4E519E"/>
                </a:solidFill>
                <a:cs typeface="Arial"/>
              </a:rPr>
              <a:t>If P = $30, </a:t>
            </a:r>
            <a:r>
              <a:rPr lang="en-US" sz="2800" b="1" i="1" dirty="0">
                <a:solidFill>
                  <a:srgbClr val="4E519E"/>
                </a:solidFill>
                <a:cs typeface="Arial"/>
              </a:rPr>
              <a:t>CS</a:t>
            </a:r>
            <a:r>
              <a:rPr lang="en-US" sz="2800" dirty="0">
                <a:solidFill>
                  <a:srgbClr val="4E519E"/>
                </a:solidFill>
                <a:cs typeface="Arial"/>
              </a:rPr>
              <a:t> = ½ x 10 x $10 = $50</a:t>
            </a:r>
          </a:p>
          <a:p>
            <a:pPr marL="0" indent="0">
              <a:spcBef>
                <a:spcPct val="45000"/>
              </a:spcBef>
              <a:buClr>
                <a:srgbClr val="003399"/>
              </a:buClr>
              <a:buSzPct val="120000"/>
              <a:buNone/>
            </a:pPr>
            <a:r>
              <a:rPr lang="en-US" sz="2800" b="1" i="1" dirty="0">
                <a:cs typeface="Arial"/>
              </a:rPr>
              <a:t>P</a:t>
            </a:r>
            <a:r>
              <a:rPr lang="en-US" sz="2800" dirty="0">
                <a:cs typeface="Arial"/>
              </a:rPr>
              <a:t>  falls to $20.</a:t>
            </a:r>
          </a:p>
          <a:p>
            <a:pPr marL="514350" indent="-514350">
              <a:buClr>
                <a:srgbClr val="C00000"/>
              </a:buClr>
              <a:buSzPct val="100000"/>
              <a:buFont typeface="+mj-lt"/>
              <a:buAutoNum type="alphaUcPeriod" startAt="3"/>
            </a:pPr>
            <a:r>
              <a:rPr lang="en-US" sz="2800" b="1" i="1" dirty="0">
                <a:solidFill>
                  <a:srgbClr val="4E519E"/>
                </a:solidFill>
                <a:cs typeface="Arial"/>
              </a:rPr>
              <a:t>CS</a:t>
            </a:r>
            <a:r>
              <a:rPr lang="en-US" sz="2800" dirty="0">
                <a:solidFill>
                  <a:srgbClr val="4E519E"/>
                </a:solidFill>
                <a:cs typeface="Arial"/>
              </a:rPr>
              <a:t> for the additional buyers = ½ x 10 x $10 = $50</a:t>
            </a:r>
          </a:p>
          <a:p>
            <a:pPr marL="514350" indent="-514350">
              <a:buClr>
                <a:srgbClr val="C00000"/>
              </a:buClr>
              <a:buSzPct val="100000"/>
              <a:buFont typeface="+mj-lt"/>
              <a:buAutoNum type="alphaUcPeriod" startAt="3"/>
            </a:pPr>
            <a:r>
              <a:rPr lang="en-US" sz="2800" dirty="0">
                <a:solidFill>
                  <a:srgbClr val="4E519E"/>
                </a:solidFill>
                <a:cs typeface="Arial"/>
              </a:rPr>
              <a:t>Increase in </a:t>
            </a:r>
            <a:r>
              <a:rPr lang="en-US" sz="2800" b="1" i="1" dirty="0">
                <a:solidFill>
                  <a:srgbClr val="4E519E"/>
                </a:solidFill>
                <a:cs typeface="Arial"/>
              </a:rPr>
              <a:t>CS</a:t>
            </a:r>
            <a:r>
              <a:rPr lang="en-US" sz="2800" dirty="0">
                <a:solidFill>
                  <a:srgbClr val="4E519E"/>
                </a:solidFill>
                <a:cs typeface="Arial"/>
              </a:rPr>
              <a:t> </a:t>
            </a:r>
            <a:br>
              <a:rPr lang="en-US" sz="2800" dirty="0">
                <a:solidFill>
                  <a:srgbClr val="4E519E"/>
                </a:solidFill>
                <a:cs typeface="Arial"/>
              </a:rPr>
            </a:br>
            <a:r>
              <a:rPr lang="en-US" sz="2800" dirty="0">
                <a:solidFill>
                  <a:srgbClr val="4E519E"/>
                </a:solidFill>
                <a:cs typeface="Arial"/>
              </a:rPr>
              <a:t>on initial 10 units</a:t>
            </a:r>
            <a:br>
              <a:rPr lang="en-US" sz="2800" dirty="0">
                <a:solidFill>
                  <a:srgbClr val="4E519E"/>
                </a:solidFill>
                <a:cs typeface="Arial"/>
              </a:rPr>
            </a:br>
            <a:r>
              <a:rPr lang="en-US" sz="2800" dirty="0">
                <a:solidFill>
                  <a:srgbClr val="4E519E"/>
                </a:solidFill>
                <a:cs typeface="Arial"/>
              </a:rPr>
              <a:t>= 10 x $10 = $100</a:t>
            </a:r>
          </a:p>
        </p:txBody>
      </p:sp>
      <p:grpSp>
        <p:nvGrpSpPr>
          <p:cNvPr id="25" name="Group 24"/>
          <p:cNvGrpSpPr/>
          <p:nvPr/>
        </p:nvGrpSpPr>
        <p:grpSpPr>
          <a:xfrm>
            <a:off x="4135437" y="719138"/>
            <a:ext cx="4856163" cy="5791200"/>
            <a:chOff x="4035425" y="906463"/>
            <a:chExt cx="4856163" cy="5791200"/>
          </a:xfrm>
        </p:grpSpPr>
        <p:graphicFrame>
          <p:nvGraphicFramePr>
            <p:cNvPr id="26" name="Object 67"/>
            <p:cNvGraphicFramePr>
              <a:graphicFrameLocks noChangeAspect="1"/>
            </p:cNvGraphicFramePr>
            <p:nvPr/>
          </p:nvGraphicFramePr>
          <p:xfrm>
            <a:off x="4070350" y="906463"/>
            <a:ext cx="4821238" cy="5791200"/>
          </p:xfrm>
          <a:graphic>
            <a:graphicData uri="http://schemas.openxmlformats.org/presentationml/2006/ole">
              <mc:AlternateContent xmlns:mc="http://schemas.openxmlformats.org/markup-compatibility/2006">
                <mc:Choice xmlns:v="urn:schemas-microsoft-com:vml" Requires="v">
                  <p:oleObj name="Worksheet" r:id="rId3" imgW="3390840" imgH="3705046" progId="Excel.Sheet.8">
                    <p:embed/>
                  </p:oleObj>
                </mc:Choice>
                <mc:Fallback>
                  <p:oleObj name="Worksheet" r:id="rId3" imgW="3390840" imgH="3705046" progId="Excel.Sheet.8">
                    <p:embed/>
                    <p:pic>
                      <p:nvPicPr>
                        <p:cNvPr id="26"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0350" y="906463"/>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27" name="Text Box 68" descr="Wide upward diagonal"/>
            <p:cNvSpPr txBox="1">
              <a:spLocks noChangeArrowheads="1"/>
            </p:cNvSpPr>
            <p:nvPr/>
          </p:nvSpPr>
          <p:spPr bwMode="auto">
            <a:xfrm>
              <a:off x="4198938" y="1054100"/>
              <a:ext cx="592137" cy="503238"/>
            </a:xfrm>
            <a:prstGeom prst="rect">
              <a:avLst/>
            </a:prstGeom>
            <a:ln w="9525">
              <a:noFill/>
              <a:miter lim="800000"/>
              <a:headEnd/>
              <a:tailEnd/>
            </a:ln>
          </p:spPr>
          <p:txBody>
            <a:bodyPr>
              <a:spAutoFit/>
            </a:bodyPr>
            <a:lstStyle/>
            <a:p>
              <a:pPr algn="ctr">
                <a:spcBef>
                  <a:spcPct val="50000"/>
                </a:spcBef>
              </a:pPr>
              <a:r>
                <a:rPr lang="en-US" sz="2700" b="1" i="1" dirty="0">
                  <a:latin typeface="Arial"/>
                  <a:cs typeface="Arial"/>
                </a:rPr>
                <a:t>P</a:t>
              </a:r>
            </a:p>
          </p:txBody>
        </p:sp>
        <p:sp useBgFill="1">
          <p:nvSpPr>
            <p:cNvPr id="28" name="Text Box 70" descr="Wide upward diagonal"/>
            <p:cNvSpPr txBox="1">
              <a:spLocks noChangeArrowheads="1"/>
            </p:cNvSpPr>
            <p:nvPr/>
          </p:nvSpPr>
          <p:spPr bwMode="auto">
            <a:xfrm>
              <a:off x="8277225" y="6051550"/>
              <a:ext cx="592138" cy="415498"/>
            </a:xfrm>
            <a:prstGeom prst="rect">
              <a:avLst/>
            </a:prstGeom>
            <a:ln w="9525">
              <a:noFill/>
              <a:miter lim="800000"/>
              <a:headEnd/>
              <a:tailEnd/>
            </a:ln>
          </p:spPr>
          <p:txBody>
            <a:bodyPr tIns="0" bIns="0">
              <a:spAutoFit/>
            </a:bodyPr>
            <a:lstStyle/>
            <a:p>
              <a:pPr algn="ctr">
                <a:spcBef>
                  <a:spcPct val="50000"/>
                </a:spcBef>
              </a:pPr>
              <a:r>
                <a:rPr lang="en-US" sz="2700" b="1" i="1" dirty="0">
                  <a:latin typeface="Arial"/>
                  <a:cs typeface="Arial"/>
                </a:rPr>
                <a:t>Q</a:t>
              </a:r>
            </a:p>
          </p:txBody>
        </p:sp>
        <p:sp>
          <p:nvSpPr>
            <p:cNvPr id="29" name="Text Box 71"/>
            <p:cNvSpPr txBox="1">
              <a:spLocks noChangeArrowheads="1"/>
            </p:cNvSpPr>
            <p:nvPr/>
          </p:nvSpPr>
          <p:spPr bwMode="auto">
            <a:xfrm>
              <a:off x="5251450" y="1298575"/>
              <a:ext cx="2909888" cy="488950"/>
            </a:xfrm>
            <a:prstGeom prst="rect">
              <a:avLst/>
            </a:prstGeom>
            <a:solidFill>
              <a:schemeClr val="bg1"/>
            </a:solidFill>
            <a:ln w="9525">
              <a:noFill/>
              <a:miter lim="800000"/>
              <a:headEnd/>
              <a:tailEnd/>
            </a:ln>
          </p:spPr>
          <p:txBody>
            <a:bodyPr>
              <a:spAutoFit/>
            </a:bodyPr>
            <a:lstStyle/>
            <a:p>
              <a:pPr algn="ctr">
                <a:spcBef>
                  <a:spcPct val="50000"/>
                </a:spcBef>
              </a:pPr>
              <a:r>
                <a:rPr lang="en-US" sz="2600" i="1" dirty="0">
                  <a:latin typeface="Arial"/>
                  <a:cs typeface="Arial"/>
                </a:rPr>
                <a:t>demand curve</a:t>
              </a:r>
            </a:p>
          </p:txBody>
        </p:sp>
        <p:sp>
          <p:nvSpPr>
            <p:cNvPr id="30" name="Text Box 10"/>
            <p:cNvSpPr txBox="1">
              <a:spLocks noChangeArrowheads="1"/>
            </p:cNvSpPr>
            <p:nvPr/>
          </p:nvSpPr>
          <p:spPr bwMode="auto">
            <a:xfrm>
              <a:off x="4035425" y="1547813"/>
              <a:ext cx="438150" cy="473075"/>
            </a:xfrm>
            <a:prstGeom prst="rect">
              <a:avLst/>
            </a:prstGeom>
            <a:noFill/>
            <a:ln w="9525">
              <a:noFill/>
              <a:miter lim="800000"/>
              <a:headEnd/>
              <a:tailEnd/>
            </a:ln>
          </p:spPr>
          <p:txBody>
            <a:bodyPr>
              <a:spAutoFit/>
            </a:bodyPr>
            <a:lstStyle/>
            <a:p>
              <a:pPr>
                <a:spcBef>
                  <a:spcPct val="50000"/>
                </a:spcBef>
              </a:pPr>
              <a:r>
                <a:rPr lang="en-US" sz="2500">
                  <a:latin typeface="Arial"/>
                  <a:cs typeface="Arial"/>
                </a:rPr>
                <a:t>$</a:t>
              </a:r>
            </a:p>
          </p:txBody>
        </p:sp>
      </p:grpSp>
      <p:grpSp>
        <p:nvGrpSpPr>
          <p:cNvPr id="12" name="Group 13"/>
          <p:cNvGrpSpPr>
            <a:grpSpLocks/>
          </p:cNvGrpSpPr>
          <p:nvPr/>
        </p:nvGrpSpPr>
        <p:grpSpPr bwMode="auto">
          <a:xfrm>
            <a:off x="4338638" y="3638550"/>
            <a:ext cx="3890962" cy="2679700"/>
            <a:chOff x="2645" y="2193"/>
            <a:chExt cx="2451" cy="1688"/>
          </a:xfrm>
        </p:grpSpPr>
        <p:grpSp>
          <p:nvGrpSpPr>
            <p:cNvPr id="13" name="Group 14"/>
            <p:cNvGrpSpPr>
              <a:grpSpLocks/>
            </p:cNvGrpSpPr>
            <p:nvPr/>
          </p:nvGrpSpPr>
          <p:grpSpPr bwMode="auto">
            <a:xfrm>
              <a:off x="2645" y="2193"/>
              <a:ext cx="2280" cy="248"/>
              <a:chOff x="2645" y="2193"/>
              <a:chExt cx="2280" cy="248"/>
            </a:xfrm>
          </p:grpSpPr>
          <p:sp>
            <p:nvSpPr>
              <p:cNvPr id="17" name="Line 15"/>
              <p:cNvSpPr>
                <a:spLocks noChangeShapeType="1"/>
              </p:cNvSpPr>
              <p:nvPr/>
            </p:nvSpPr>
            <p:spPr bwMode="auto">
              <a:xfrm>
                <a:off x="2971" y="2319"/>
                <a:ext cx="1954" cy="0"/>
              </a:xfrm>
              <a:prstGeom prst="line">
                <a:avLst/>
              </a:prstGeom>
              <a:noFill/>
              <a:ln w="19050">
                <a:solidFill>
                  <a:srgbClr val="FF0000"/>
                </a:solidFill>
                <a:round/>
                <a:headEnd/>
                <a:tailEnd/>
              </a:ln>
            </p:spPr>
            <p:txBody>
              <a:bodyPr/>
              <a:lstStyle/>
              <a:p>
                <a:endParaRPr lang="en-US">
                  <a:latin typeface="Arial"/>
                  <a:cs typeface="Arial"/>
                </a:endParaRPr>
              </a:p>
            </p:txBody>
          </p:sp>
          <p:sp>
            <p:nvSpPr>
              <p:cNvPr id="18" name="Rectangle 17"/>
              <p:cNvSpPr>
                <a:spLocks noChangeArrowheads="1"/>
              </p:cNvSpPr>
              <p:nvPr/>
            </p:nvSpPr>
            <p:spPr bwMode="auto">
              <a:xfrm>
                <a:off x="2645" y="2193"/>
                <a:ext cx="329" cy="248"/>
              </a:xfrm>
              <a:prstGeom prst="rect">
                <a:avLst/>
              </a:prstGeom>
              <a:noFill/>
              <a:ln w="19050">
                <a:solidFill>
                  <a:srgbClr val="FF0000"/>
                </a:solidFill>
                <a:miter lim="800000"/>
                <a:headEnd/>
                <a:tailEnd/>
              </a:ln>
            </p:spPr>
            <p:txBody>
              <a:bodyPr wrap="none" anchor="ctr"/>
              <a:lstStyle/>
              <a:p>
                <a:endParaRPr lang="en-US">
                  <a:latin typeface="Arial"/>
                  <a:cs typeface="Arial"/>
                </a:endParaRPr>
              </a:p>
            </p:txBody>
          </p:sp>
        </p:grpSp>
        <p:grpSp>
          <p:nvGrpSpPr>
            <p:cNvPr id="14" name="Group 17"/>
            <p:cNvGrpSpPr>
              <a:grpSpLocks/>
            </p:cNvGrpSpPr>
            <p:nvPr/>
          </p:nvGrpSpPr>
          <p:grpSpPr bwMode="auto">
            <a:xfrm>
              <a:off x="4767" y="2323"/>
              <a:ext cx="329" cy="1558"/>
              <a:chOff x="3798" y="2314"/>
              <a:chExt cx="329" cy="1558"/>
            </a:xfrm>
          </p:grpSpPr>
          <p:sp>
            <p:nvSpPr>
              <p:cNvPr id="15" name="Line 18"/>
              <p:cNvSpPr>
                <a:spLocks noChangeShapeType="1"/>
              </p:cNvSpPr>
              <p:nvPr/>
            </p:nvSpPr>
            <p:spPr bwMode="auto">
              <a:xfrm rot="5400000">
                <a:off x="3306" y="2971"/>
                <a:ext cx="1314" cy="0"/>
              </a:xfrm>
              <a:prstGeom prst="line">
                <a:avLst/>
              </a:prstGeom>
              <a:noFill/>
              <a:ln w="19050">
                <a:solidFill>
                  <a:srgbClr val="FF0000"/>
                </a:solidFill>
                <a:round/>
                <a:headEnd/>
                <a:tailEnd/>
              </a:ln>
            </p:spPr>
            <p:txBody>
              <a:bodyPr/>
              <a:lstStyle/>
              <a:p>
                <a:endParaRPr lang="en-US">
                  <a:latin typeface="Arial"/>
                  <a:cs typeface="Arial"/>
                </a:endParaRPr>
              </a:p>
            </p:txBody>
          </p:sp>
          <p:sp>
            <p:nvSpPr>
              <p:cNvPr id="16" name="Rectangle 19"/>
              <p:cNvSpPr>
                <a:spLocks noChangeArrowheads="1"/>
              </p:cNvSpPr>
              <p:nvPr/>
            </p:nvSpPr>
            <p:spPr bwMode="auto">
              <a:xfrm>
                <a:off x="3798" y="3624"/>
                <a:ext cx="329" cy="248"/>
              </a:xfrm>
              <a:prstGeom prst="rect">
                <a:avLst/>
              </a:prstGeom>
              <a:noFill/>
              <a:ln w="19050">
                <a:solidFill>
                  <a:srgbClr val="FF0000"/>
                </a:solidFill>
                <a:miter lim="800000"/>
                <a:headEnd/>
                <a:tailEnd/>
              </a:ln>
            </p:spPr>
            <p:txBody>
              <a:bodyPr wrap="none" anchor="ctr"/>
              <a:lstStyle/>
              <a:p>
                <a:endParaRPr lang="en-US">
                  <a:latin typeface="Arial"/>
                  <a:cs typeface="Arial"/>
                </a:endParaRPr>
              </a:p>
            </p:txBody>
          </p:sp>
        </p:grpSp>
      </p:grpSp>
      <p:sp>
        <p:nvSpPr>
          <p:cNvPr id="19" name="AutoShape 20"/>
          <p:cNvSpPr>
            <a:spLocks noChangeArrowheads="1"/>
          </p:cNvSpPr>
          <p:nvPr/>
        </p:nvSpPr>
        <p:spPr bwMode="auto">
          <a:xfrm>
            <a:off x="4981575" y="2057400"/>
            <a:ext cx="1454150" cy="885824"/>
          </a:xfrm>
          <a:prstGeom prst="rtTriangle">
            <a:avLst/>
          </a:prstGeom>
          <a:solidFill>
            <a:srgbClr val="3366FF">
              <a:alpha val="30196"/>
            </a:srgbClr>
          </a:solidFill>
          <a:ln w="9525">
            <a:noFill/>
            <a:miter lim="800000"/>
            <a:headEnd/>
            <a:tailEnd/>
          </a:ln>
        </p:spPr>
        <p:txBody>
          <a:bodyPr wrap="none" anchor="ctr"/>
          <a:lstStyle/>
          <a:p>
            <a:endParaRPr lang="en-US">
              <a:latin typeface="Arial"/>
              <a:cs typeface="Arial"/>
            </a:endParaRPr>
          </a:p>
        </p:txBody>
      </p:sp>
      <p:sp>
        <p:nvSpPr>
          <p:cNvPr id="32" name="AutoShape 27"/>
          <p:cNvSpPr>
            <a:spLocks noChangeArrowheads="1"/>
          </p:cNvSpPr>
          <p:nvPr/>
        </p:nvSpPr>
        <p:spPr bwMode="auto">
          <a:xfrm>
            <a:off x="6470650" y="2965450"/>
            <a:ext cx="1427163" cy="863600"/>
          </a:xfrm>
          <a:prstGeom prst="rtTriangle">
            <a:avLst/>
          </a:prstGeom>
          <a:pattFill prst="wdUpDiag">
            <a:fgClr>
              <a:srgbClr val="33CCFF"/>
            </a:fgClr>
            <a:bgClr>
              <a:schemeClr val="bg1"/>
            </a:bgClr>
          </a:pattFill>
          <a:ln w="9525">
            <a:noFill/>
            <a:miter lim="800000"/>
            <a:headEnd/>
            <a:tailEnd/>
          </a:ln>
        </p:spPr>
        <p:txBody>
          <a:bodyPr wrap="none" anchor="ctr"/>
          <a:lstStyle/>
          <a:p>
            <a:endParaRPr lang="en-US">
              <a:latin typeface="Arial"/>
              <a:cs typeface="Arial"/>
            </a:endParaRPr>
          </a:p>
        </p:txBody>
      </p:sp>
      <p:sp>
        <p:nvSpPr>
          <p:cNvPr id="33" name="Rectangle 28"/>
          <p:cNvSpPr>
            <a:spLocks noChangeArrowheads="1"/>
          </p:cNvSpPr>
          <p:nvPr/>
        </p:nvSpPr>
        <p:spPr bwMode="auto">
          <a:xfrm>
            <a:off x="4987925" y="2943225"/>
            <a:ext cx="1476375" cy="885825"/>
          </a:xfrm>
          <a:prstGeom prst="rect">
            <a:avLst/>
          </a:prstGeom>
          <a:pattFill prst="wdDnDiag">
            <a:fgClr>
              <a:srgbClr val="00CC99"/>
            </a:fgClr>
            <a:bgClr>
              <a:schemeClr val="bg1"/>
            </a:bgClr>
          </a:pattFill>
          <a:ln w="9525">
            <a:noFill/>
            <a:miter lim="800000"/>
            <a:headEnd/>
            <a:tailEnd/>
          </a:ln>
        </p:spPr>
        <p:txBody>
          <a:bodyPr wrap="none" anchor="ctr"/>
          <a:lstStyle/>
          <a:p>
            <a:endParaRPr lang="en-US">
              <a:latin typeface="Arial"/>
              <a:cs typeface="Arial"/>
            </a:endParaRPr>
          </a:p>
        </p:txBody>
      </p:sp>
      <p:grpSp>
        <p:nvGrpSpPr>
          <p:cNvPr id="20" name="Group 21"/>
          <p:cNvGrpSpPr>
            <a:grpSpLocks/>
          </p:cNvGrpSpPr>
          <p:nvPr/>
        </p:nvGrpSpPr>
        <p:grpSpPr bwMode="auto">
          <a:xfrm>
            <a:off x="4321175" y="2735263"/>
            <a:ext cx="2425700" cy="3598862"/>
            <a:chOff x="2646" y="1615"/>
            <a:chExt cx="1528" cy="2267"/>
          </a:xfrm>
        </p:grpSpPr>
        <p:sp>
          <p:nvSpPr>
            <p:cNvPr id="21" name="Rectangle 22"/>
            <p:cNvSpPr>
              <a:spLocks noChangeArrowheads="1"/>
            </p:cNvSpPr>
            <p:nvPr/>
          </p:nvSpPr>
          <p:spPr bwMode="auto">
            <a:xfrm>
              <a:off x="3845" y="3634"/>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nvGrpSpPr>
            <p:cNvPr id="22" name="Group 23"/>
            <p:cNvGrpSpPr>
              <a:grpSpLocks/>
            </p:cNvGrpSpPr>
            <p:nvPr/>
          </p:nvGrpSpPr>
          <p:grpSpPr bwMode="auto">
            <a:xfrm>
              <a:off x="2646" y="1615"/>
              <a:ext cx="1364" cy="248"/>
              <a:chOff x="2646" y="1615"/>
              <a:chExt cx="1364" cy="248"/>
            </a:xfrm>
          </p:grpSpPr>
          <p:sp>
            <p:nvSpPr>
              <p:cNvPr id="24" name="Line 24"/>
              <p:cNvSpPr>
                <a:spLocks noChangeShapeType="1"/>
              </p:cNvSpPr>
              <p:nvPr/>
            </p:nvSpPr>
            <p:spPr bwMode="auto">
              <a:xfrm flipV="1">
                <a:off x="2975" y="1749"/>
                <a:ext cx="1035" cy="0"/>
              </a:xfrm>
              <a:prstGeom prst="line">
                <a:avLst/>
              </a:prstGeom>
              <a:noFill/>
              <a:ln w="12700">
                <a:solidFill>
                  <a:srgbClr val="0000FF"/>
                </a:solidFill>
                <a:round/>
                <a:headEnd/>
                <a:tailEnd/>
              </a:ln>
            </p:spPr>
            <p:txBody>
              <a:bodyPr/>
              <a:lstStyle/>
              <a:p>
                <a:endParaRPr lang="en-US">
                  <a:latin typeface="Arial"/>
                  <a:cs typeface="Arial"/>
                </a:endParaRPr>
              </a:p>
            </p:txBody>
          </p:sp>
          <p:sp>
            <p:nvSpPr>
              <p:cNvPr id="31" name="Rectangle 25"/>
              <p:cNvSpPr>
                <a:spLocks noChangeArrowheads="1"/>
              </p:cNvSpPr>
              <p:nvPr/>
            </p:nvSpPr>
            <p:spPr bwMode="auto">
              <a:xfrm>
                <a:off x="2646" y="1615"/>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23" name="Line 26"/>
            <p:cNvSpPr>
              <a:spLocks noChangeShapeType="1"/>
            </p:cNvSpPr>
            <p:nvPr/>
          </p:nvSpPr>
          <p:spPr bwMode="auto">
            <a:xfrm flipV="1">
              <a:off x="4003" y="1732"/>
              <a:ext cx="0" cy="1905"/>
            </a:xfrm>
            <a:prstGeom prst="line">
              <a:avLst/>
            </a:prstGeom>
            <a:noFill/>
            <a:ln w="19050">
              <a:solidFill>
                <a:srgbClr val="0000FF"/>
              </a:solidFill>
              <a:round/>
              <a:headEnd/>
              <a:tailEnd/>
            </a:ln>
          </p:spPr>
          <p:txBody>
            <a:bodyPr/>
            <a:lstStyle/>
            <a:p>
              <a:endParaRPr lang="en-US">
                <a:latin typeface="Arial"/>
                <a:cs typeface="Arial"/>
              </a:endParaRPr>
            </a:p>
          </p:txBody>
        </p:sp>
      </p:grpSp>
      <p:sp>
        <p:nvSpPr>
          <p:cNvPr id="5" name="Footer Placeholder 4">
            <a:extLst>
              <a:ext uri="{FF2B5EF4-FFF2-40B4-BE49-F238E27FC236}">
                <a16:creationId xmlns:a16="http://schemas.microsoft.com/office/drawing/2014/main" id="{5E628842-9065-EA5A-C8EB-623ADA87FFB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5952376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trips(upLeft)">
                                      <p:cBhvr>
                                        <p:cTn id="7" dur="500"/>
                                        <p:tgtEl>
                                          <p:spTgt spid="2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left)">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strips(downRigh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wipe(left)">
                                      <p:cBhvr>
                                        <p:cTn id="38" dur="500"/>
                                        <p:tgtEl>
                                          <p:spTgt spid="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wipe(left)">
                                      <p:cBhvr>
                                        <p:cTn id="4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9" grpId="0" uiExpand="1" animBg="1"/>
      <p:bldP spid="32" grpId="0" uiExpand="1" animBg="1"/>
      <p:bldP spid="33" grpId="0" uiExpan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ctr"/>
          <a:lstStyle/>
          <a:p>
            <a:r>
              <a:rPr lang="en-US" altLang="en-US" dirty="0"/>
              <a:t>Producer Surplus – 1 </a:t>
            </a:r>
          </a:p>
        </p:txBody>
      </p:sp>
      <p:sp>
        <p:nvSpPr>
          <p:cNvPr id="20483" name="Content Placeholder 2"/>
          <p:cNvSpPr>
            <a:spLocks noGrp="1"/>
          </p:cNvSpPr>
          <p:nvPr>
            <p:ph idx="1"/>
          </p:nvPr>
        </p:nvSpPr>
        <p:spPr/>
        <p:txBody>
          <a:bodyPr/>
          <a:lstStyle/>
          <a:p>
            <a:r>
              <a:rPr lang="en-US" altLang="en-US" dirty="0"/>
              <a:t>Cost</a:t>
            </a:r>
          </a:p>
          <a:p>
            <a:pPr lvl="1"/>
            <a:r>
              <a:rPr lang="en-US" altLang="en-US" dirty="0"/>
              <a:t>The value of everything a seller must give up to produce a good</a:t>
            </a:r>
          </a:p>
          <a:p>
            <a:pPr lvl="2"/>
            <a:r>
              <a:rPr lang="en-US" altLang="en-US" dirty="0"/>
              <a:t>Including opportunity cost</a:t>
            </a:r>
          </a:p>
          <a:p>
            <a:r>
              <a:rPr lang="en-US" altLang="en-US" dirty="0"/>
              <a:t>Willingness to sell, </a:t>
            </a:r>
            <a:r>
              <a:rPr lang="en-US" altLang="en-US" b="1" i="1" dirty="0"/>
              <a:t>WTS</a:t>
            </a:r>
            <a:r>
              <a:rPr lang="en-US" altLang="en-US" dirty="0"/>
              <a:t> = Cost</a:t>
            </a:r>
            <a:endParaRPr lang="en-US" altLang="en-US" b="1" i="1" dirty="0"/>
          </a:p>
          <a:p>
            <a:pPr lvl="1"/>
            <a:r>
              <a:rPr lang="en-US" altLang="en-US" dirty="0"/>
              <a:t>The lowest price accepted by a seller for one unit of a good or service</a:t>
            </a:r>
          </a:p>
          <a:p>
            <a:pPr lvl="2"/>
            <a:r>
              <a:rPr lang="en-US" altLang="en-US" dirty="0"/>
              <a:t>The cost is a measure of WTS: produce and sell the good/service only if the price &gt; cost</a:t>
            </a:r>
          </a:p>
        </p:txBody>
      </p:sp>
      <p:sp>
        <p:nvSpPr>
          <p:cNvPr id="204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08BBEAE8-CB98-40C4-A50F-711C79966977}" type="slidenum">
              <a:rPr lang="en-US" altLang="en-US" sz="1200" smtClean="0">
                <a:solidFill>
                  <a:srgbClr val="002060"/>
                </a:solidFill>
              </a:rPr>
              <a:pPr algn="ctr" eaLnBrk="1" hangingPunct="1"/>
              <a:t>19</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97B90DC1-037A-FCE4-35EE-7D06E079DE00}"/>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705684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ctr"/>
          <a:lstStyle/>
          <a:p>
            <a:r>
              <a:rPr lang="en-US" altLang="en-US" dirty="0"/>
              <a:t>Producer Surplus – 2 </a:t>
            </a:r>
          </a:p>
        </p:txBody>
      </p:sp>
      <p:sp>
        <p:nvSpPr>
          <p:cNvPr id="20483" name="Content Placeholder 2"/>
          <p:cNvSpPr>
            <a:spLocks noGrp="1"/>
          </p:cNvSpPr>
          <p:nvPr>
            <p:ph idx="1"/>
          </p:nvPr>
        </p:nvSpPr>
        <p:spPr>
          <a:prstGeom prst="rect">
            <a:avLst/>
          </a:prstGeom>
        </p:spPr>
        <p:txBody>
          <a:bodyPr/>
          <a:lstStyle/>
          <a:p>
            <a:r>
              <a:rPr lang="en-US" altLang="en-US" dirty="0"/>
              <a:t>Producer surplus, </a:t>
            </a:r>
            <a:r>
              <a:rPr lang="en-US" altLang="en-US" b="1" i="1" dirty="0"/>
              <a:t>PS</a:t>
            </a:r>
            <a:r>
              <a:rPr lang="en-US" altLang="en-US" dirty="0"/>
              <a:t> = </a:t>
            </a:r>
            <a:r>
              <a:rPr lang="en-US" altLang="en-US" b="1" i="1" dirty="0"/>
              <a:t>P</a:t>
            </a:r>
            <a:r>
              <a:rPr lang="en-US" altLang="en-US" dirty="0"/>
              <a:t> – cost</a:t>
            </a:r>
          </a:p>
          <a:p>
            <a:pPr lvl="1"/>
            <a:r>
              <a:rPr lang="en-US" altLang="en-US" dirty="0"/>
              <a:t>Amount a seller is paid for a good minus the seller’s cost of providing it</a:t>
            </a:r>
          </a:p>
          <a:p>
            <a:pPr lvl="1"/>
            <a:r>
              <a:rPr lang="en-US" altLang="en-US" dirty="0"/>
              <a:t>Price received minus willingness to sell</a:t>
            </a:r>
          </a:p>
          <a:p>
            <a:pPr lvl="1"/>
            <a:r>
              <a:rPr lang="en-US" altLang="en-US" dirty="0"/>
              <a:t>Measures the benefit sellers receive from participating in a market</a:t>
            </a:r>
          </a:p>
        </p:txBody>
      </p:sp>
      <p:sp>
        <p:nvSpPr>
          <p:cNvPr id="2048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08BBEAE8-CB98-40C4-A50F-711C79966977}" type="slidenum">
              <a:rPr lang="en-US" altLang="en-US" sz="1200" smtClean="0">
                <a:solidFill>
                  <a:srgbClr val="002060"/>
                </a:solidFill>
              </a:rPr>
              <a:pPr algn="ctr" eaLnBrk="1" hangingPunct="1"/>
              <a:t>20</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940048E3-972D-A00D-35DD-691F1F7B25C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96870409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ctr"/>
          <a:lstStyle/>
          <a:p>
            <a:r>
              <a:rPr lang="en-US" altLang="en-US" sz="3000" dirty="0">
                <a:solidFill>
                  <a:srgbClr val="AE1221"/>
                </a:solidFill>
              </a:rPr>
              <a:t>EXAMPLE 3A: </a:t>
            </a:r>
            <a:r>
              <a:rPr lang="en-US" altLang="en-US" sz="3000" dirty="0">
                <a:solidFill>
                  <a:schemeClr val="tx1"/>
                </a:solidFill>
              </a:rPr>
              <a:t>Cost and willingness to sell (WTS)</a:t>
            </a:r>
          </a:p>
        </p:txBody>
      </p:sp>
      <p:sp>
        <p:nvSpPr>
          <p:cNvPr id="204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08BBEAE8-CB98-40C4-A50F-711C79966977}" type="slidenum">
              <a:rPr lang="en-US" altLang="en-US" sz="1200" smtClean="0">
                <a:solidFill>
                  <a:srgbClr val="002060"/>
                </a:solidFill>
              </a:rPr>
              <a:pPr algn="ctr" eaLnBrk="1" hangingPunct="1"/>
              <a:t>21</a:t>
            </a:fld>
            <a:endParaRPr lang="en-US" altLang="en-US" sz="1200">
              <a:solidFill>
                <a:srgbClr val="002060"/>
              </a:solidFill>
            </a:endParaRPr>
          </a:p>
        </p:txBody>
      </p:sp>
      <p:sp>
        <p:nvSpPr>
          <p:cNvPr id="20483" name="Content Placeholder 2"/>
          <p:cNvSpPr>
            <a:spLocks noGrp="1"/>
          </p:cNvSpPr>
          <p:nvPr>
            <p:ph idx="12"/>
          </p:nvPr>
        </p:nvSpPr>
        <p:spPr>
          <a:xfrm>
            <a:off x="228600" y="914400"/>
            <a:ext cx="8686797" cy="2117721"/>
          </a:xfrm>
        </p:spPr>
        <p:txBody>
          <a:bodyPr>
            <a:normAutofit/>
          </a:bodyPr>
          <a:lstStyle/>
          <a:p>
            <a:pPr marL="0" indent="0">
              <a:buNone/>
            </a:pPr>
            <a:r>
              <a:rPr lang="en-US" altLang="en-US" sz="2800" dirty="0">
                <a:solidFill>
                  <a:srgbClr val="4E519E"/>
                </a:solidFill>
              </a:rPr>
              <a:t>You are the lucky owner of 3 properties with identical lawns that need mowing. There are 3 lawn-mowing business in town that you can hire. The table below shows their willingness to sell:</a:t>
            </a:r>
          </a:p>
        </p:txBody>
      </p:sp>
      <p:sp>
        <p:nvSpPr>
          <p:cNvPr id="3" name="Footer Placeholder 2">
            <a:extLst>
              <a:ext uri="{FF2B5EF4-FFF2-40B4-BE49-F238E27FC236}">
                <a16:creationId xmlns:a16="http://schemas.microsoft.com/office/drawing/2014/main" id="{E4B7957B-76E2-6042-903B-7EE53BEFB57E}"/>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Content Placeholder 1"/>
          <p:cNvSpPr>
            <a:spLocks noGrp="1"/>
          </p:cNvSpPr>
          <p:nvPr>
            <p:ph idx="4294967295"/>
          </p:nvPr>
        </p:nvSpPr>
        <p:spPr>
          <a:xfrm>
            <a:off x="304800" y="2743200"/>
            <a:ext cx="4800599" cy="1082673"/>
          </a:xfrm>
        </p:spPr>
        <p:txBody>
          <a:bodyPr>
            <a:normAutofit/>
          </a:bodyPr>
          <a:lstStyle/>
          <a:p>
            <a:pPr marL="0" indent="0">
              <a:buNone/>
            </a:pPr>
            <a:r>
              <a:rPr lang="en-US" altLang="en-US" sz="2800" dirty="0">
                <a:solidFill>
                  <a:srgbClr val="C00000"/>
                </a:solidFill>
              </a:rPr>
              <a:t>Q: </a:t>
            </a:r>
            <a:r>
              <a:rPr lang="en-US" altLang="en-US" sz="2800" dirty="0">
                <a:solidFill>
                  <a:schemeClr val="tx1"/>
                </a:solidFill>
              </a:rPr>
              <a:t>Derive the supply schedule from the cost data.</a:t>
            </a:r>
          </a:p>
          <a:p>
            <a:endParaRPr lang="en-US" sz="2800" dirty="0">
              <a:solidFill>
                <a:schemeClr val="tx1"/>
              </a:solidFill>
            </a:endParaRPr>
          </a:p>
        </p:txBody>
      </p:sp>
      <p:graphicFrame>
        <p:nvGraphicFramePr>
          <p:cNvPr id="7" name="Group 94"/>
          <p:cNvGraphicFramePr>
            <a:graphicFrameLocks noGrp="1"/>
          </p:cNvGraphicFramePr>
          <p:nvPr>
            <p:extLst>
              <p:ext uri="{D42A27DB-BD31-4B8C-83A1-F6EECF244321}">
                <p14:modId xmlns:p14="http://schemas.microsoft.com/office/powerpoint/2010/main" val="37367326"/>
              </p:ext>
            </p:extLst>
          </p:nvPr>
        </p:nvGraphicFramePr>
        <p:xfrm>
          <a:off x="609599" y="3825873"/>
          <a:ext cx="2433638" cy="2346326"/>
        </p:xfrm>
        <a:graphic>
          <a:graphicData uri="http://schemas.openxmlformats.org/drawingml/2006/table">
            <a:tbl>
              <a:tblPr/>
              <a:tblGrid>
                <a:gridCol w="1385888">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tblGrid>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1" u="none" strike="noStrike" cap="none" normalizeH="0" baseline="0" dirty="0">
                          <a:ln>
                            <a:noFill/>
                          </a:ln>
                          <a:solidFill>
                            <a:schemeClr val="tx1"/>
                          </a:solidFill>
                          <a:effectLst/>
                          <a:latin typeface="Arial" charset="0"/>
                        </a:rPr>
                        <a:t>Name</a:t>
                      </a: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1" u="none" strike="noStrike" cap="none" normalizeH="0" baseline="0" dirty="0">
                          <a:ln>
                            <a:noFill/>
                          </a:ln>
                          <a:solidFill>
                            <a:schemeClr val="tx1"/>
                          </a:solidFill>
                          <a:effectLst/>
                          <a:latin typeface="Arial" charset="0"/>
                        </a:rPr>
                        <a:t>cost</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err="1">
                          <a:ln>
                            <a:noFill/>
                          </a:ln>
                          <a:solidFill>
                            <a:schemeClr val="tx1"/>
                          </a:solidFill>
                          <a:effectLst/>
                          <a:latin typeface="Arial" charset="0"/>
                        </a:rPr>
                        <a:t>Jin</a:t>
                      </a:r>
                      <a:endParaRPr kumimoji="0" lang="en-US" sz="2600" b="0" i="0" u="none" strike="noStrike" cap="none" normalizeH="0" baseline="0" dirty="0">
                        <a:ln>
                          <a:noFill/>
                        </a:ln>
                        <a:solidFill>
                          <a:schemeClr val="tx1"/>
                        </a:solidFill>
                        <a:effectLst/>
                        <a:latin typeface="Arial" charset="0"/>
                      </a:endParaRP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a:ln>
                            <a:noFill/>
                          </a:ln>
                          <a:solidFill>
                            <a:schemeClr val="tx1"/>
                          </a:solidFill>
                          <a:effectLst/>
                          <a:latin typeface="Arial" charset="0"/>
                        </a:rPr>
                        <a:t>$100</a:t>
                      </a: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a:ln>
                            <a:noFill/>
                          </a:ln>
                          <a:solidFill>
                            <a:schemeClr val="tx1"/>
                          </a:solidFill>
                          <a:effectLst/>
                          <a:latin typeface="Arial" charset="0"/>
                        </a:rPr>
                        <a:t>Jada</a:t>
                      </a: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E3F0FA"/>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a:ln>
                            <a:noFill/>
                          </a:ln>
                          <a:solidFill>
                            <a:schemeClr val="tx1"/>
                          </a:solidFill>
                          <a:effectLst/>
                          <a:latin typeface="Arial" charset="0"/>
                        </a:rPr>
                        <a:t>200</a:t>
                      </a: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a:ln>
                            <a:noFill/>
                          </a:ln>
                          <a:solidFill>
                            <a:schemeClr val="tx1"/>
                          </a:solidFill>
                          <a:effectLst/>
                          <a:latin typeface="Arial" charset="0"/>
                        </a:rPr>
                        <a:t>Chris</a:t>
                      </a:r>
                    </a:p>
                  </a:txBody>
                  <a:tcPr marL="13716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a:ln>
                            <a:noFill/>
                          </a:ln>
                          <a:solidFill>
                            <a:schemeClr val="tx1"/>
                          </a:solidFill>
                          <a:effectLst/>
                          <a:latin typeface="Arial" charset="0"/>
                        </a:rPr>
                        <a:t>350</a:t>
                      </a:r>
                    </a:p>
                  </a:txBody>
                  <a:tcPr marR="18288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Rectangle 4"/>
          <p:cNvSpPr>
            <a:spLocks noChangeArrowheads="1"/>
          </p:cNvSpPr>
          <p:nvPr/>
        </p:nvSpPr>
        <p:spPr bwMode="auto">
          <a:xfrm>
            <a:off x="7739063" y="5548312"/>
            <a:ext cx="795337" cy="690563"/>
          </a:xfrm>
          <a:prstGeom prst="rect">
            <a:avLst/>
          </a:prstGeom>
          <a:solidFill>
            <a:srgbClr val="E3F0FA"/>
          </a:solid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3</a:t>
            </a:r>
          </a:p>
        </p:txBody>
      </p:sp>
      <p:sp>
        <p:nvSpPr>
          <p:cNvPr id="10" name="Rectangle 5"/>
          <p:cNvSpPr>
            <a:spLocks noChangeArrowheads="1"/>
          </p:cNvSpPr>
          <p:nvPr/>
        </p:nvSpPr>
        <p:spPr bwMode="auto">
          <a:xfrm>
            <a:off x="5486395" y="5548312"/>
            <a:ext cx="2252668" cy="690563"/>
          </a:xfrm>
          <a:prstGeom prst="rect">
            <a:avLst/>
          </a:prstGeom>
          <a:solidFill>
            <a:srgbClr val="E3F0FA"/>
          </a:solid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350 &amp; up</a:t>
            </a:r>
          </a:p>
        </p:txBody>
      </p:sp>
      <p:sp>
        <p:nvSpPr>
          <p:cNvPr id="11" name="Rectangle 6"/>
          <p:cNvSpPr>
            <a:spLocks noChangeArrowheads="1"/>
          </p:cNvSpPr>
          <p:nvPr/>
        </p:nvSpPr>
        <p:spPr bwMode="auto">
          <a:xfrm>
            <a:off x="7739063" y="4857750"/>
            <a:ext cx="795337" cy="690562"/>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2</a:t>
            </a:r>
          </a:p>
        </p:txBody>
      </p:sp>
      <p:sp>
        <p:nvSpPr>
          <p:cNvPr id="12" name="Rectangle 7"/>
          <p:cNvSpPr>
            <a:spLocks noChangeArrowheads="1"/>
          </p:cNvSpPr>
          <p:nvPr/>
        </p:nvSpPr>
        <p:spPr bwMode="auto">
          <a:xfrm>
            <a:off x="5486396" y="4857750"/>
            <a:ext cx="2252667" cy="690562"/>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200 – 349</a:t>
            </a:r>
          </a:p>
        </p:txBody>
      </p:sp>
      <p:sp>
        <p:nvSpPr>
          <p:cNvPr id="13" name="Rectangle 8"/>
          <p:cNvSpPr>
            <a:spLocks noChangeArrowheads="1"/>
          </p:cNvSpPr>
          <p:nvPr/>
        </p:nvSpPr>
        <p:spPr bwMode="auto">
          <a:xfrm>
            <a:off x="7739063" y="4167187"/>
            <a:ext cx="795337" cy="690563"/>
          </a:xfrm>
          <a:prstGeom prst="rect">
            <a:avLst/>
          </a:prstGeom>
          <a:solidFill>
            <a:srgbClr val="E3F0FA"/>
          </a:solid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1</a:t>
            </a:r>
          </a:p>
        </p:txBody>
      </p:sp>
      <p:sp>
        <p:nvSpPr>
          <p:cNvPr id="14" name="Rectangle 9"/>
          <p:cNvSpPr>
            <a:spLocks noChangeArrowheads="1"/>
          </p:cNvSpPr>
          <p:nvPr/>
        </p:nvSpPr>
        <p:spPr bwMode="auto">
          <a:xfrm>
            <a:off x="5486397" y="4167187"/>
            <a:ext cx="2252666" cy="690563"/>
          </a:xfrm>
          <a:prstGeom prst="rect">
            <a:avLst/>
          </a:prstGeom>
          <a:solidFill>
            <a:srgbClr val="E3F0FA"/>
          </a:solid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100 – 199</a:t>
            </a:r>
          </a:p>
        </p:txBody>
      </p:sp>
      <p:sp>
        <p:nvSpPr>
          <p:cNvPr id="15" name="Rectangle 10"/>
          <p:cNvSpPr>
            <a:spLocks noChangeArrowheads="1"/>
          </p:cNvSpPr>
          <p:nvPr/>
        </p:nvSpPr>
        <p:spPr bwMode="auto">
          <a:xfrm>
            <a:off x="7739063" y="3476625"/>
            <a:ext cx="795337" cy="690562"/>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0</a:t>
            </a:r>
          </a:p>
        </p:txBody>
      </p:sp>
      <p:sp>
        <p:nvSpPr>
          <p:cNvPr id="16" name="Rectangle 11"/>
          <p:cNvSpPr>
            <a:spLocks noChangeArrowheads="1"/>
          </p:cNvSpPr>
          <p:nvPr/>
        </p:nvSpPr>
        <p:spPr bwMode="auto">
          <a:xfrm>
            <a:off x="5486398" y="3476625"/>
            <a:ext cx="2252665" cy="690562"/>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$0 – 99</a:t>
            </a:r>
          </a:p>
        </p:txBody>
      </p:sp>
      <p:sp>
        <p:nvSpPr>
          <p:cNvPr id="17" name="Rectangle 12"/>
          <p:cNvSpPr>
            <a:spLocks noChangeArrowheads="1"/>
          </p:cNvSpPr>
          <p:nvPr/>
        </p:nvSpPr>
        <p:spPr bwMode="auto">
          <a:xfrm>
            <a:off x="7739063" y="2895600"/>
            <a:ext cx="795337" cy="581025"/>
          </a:xfrm>
          <a:prstGeom prst="rect">
            <a:avLst/>
          </a:prstGeom>
          <a:solidFill>
            <a:srgbClr val="E3F0FA"/>
          </a:solid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a:latin typeface="Arial"/>
                <a:cs typeface="Arial"/>
              </a:rPr>
              <a:t>Q</a:t>
            </a:r>
            <a:r>
              <a:rPr lang="en-US" sz="2500" b="1" i="1" baseline="30000">
                <a:latin typeface="Arial"/>
                <a:cs typeface="Arial"/>
              </a:rPr>
              <a:t>s</a:t>
            </a:r>
          </a:p>
        </p:txBody>
      </p:sp>
      <p:sp>
        <p:nvSpPr>
          <p:cNvPr id="18" name="Rectangle 13"/>
          <p:cNvSpPr>
            <a:spLocks noChangeArrowheads="1"/>
          </p:cNvSpPr>
          <p:nvPr/>
        </p:nvSpPr>
        <p:spPr bwMode="auto">
          <a:xfrm>
            <a:off x="5486399" y="2895600"/>
            <a:ext cx="2252664" cy="581025"/>
          </a:xfrm>
          <a:prstGeom prst="rect">
            <a:avLst/>
          </a:prstGeom>
          <a:solidFill>
            <a:srgbClr val="E3F0FA"/>
          </a:solid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dirty="0">
                <a:latin typeface="Arial"/>
                <a:cs typeface="Arial"/>
              </a:rPr>
              <a:t>P</a:t>
            </a:r>
          </a:p>
        </p:txBody>
      </p:sp>
      <p:sp>
        <p:nvSpPr>
          <p:cNvPr id="19" name="Line 14"/>
          <p:cNvSpPr>
            <a:spLocks noChangeShapeType="1"/>
          </p:cNvSpPr>
          <p:nvPr/>
        </p:nvSpPr>
        <p:spPr bwMode="auto">
          <a:xfrm>
            <a:off x="5486399" y="2895600"/>
            <a:ext cx="3048001" cy="0"/>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20" name="Line 15"/>
          <p:cNvSpPr>
            <a:spLocks noChangeShapeType="1"/>
          </p:cNvSpPr>
          <p:nvPr/>
        </p:nvSpPr>
        <p:spPr bwMode="auto">
          <a:xfrm>
            <a:off x="5486399" y="3476625"/>
            <a:ext cx="3048001" cy="0"/>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21" name="Line 16"/>
          <p:cNvSpPr>
            <a:spLocks noChangeShapeType="1"/>
          </p:cNvSpPr>
          <p:nvPr/>
        </p:nvSpPr>
        <p:spPr bwMode="auto">
          <a:xfrm>
            <a:off x="5486397" y="6238872"/>
            <a:ext cx="3048004" cy="3"/>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22" name="Line 17"/>
          <p:cNvSpPr>
            <a:spLocks noChangeShapeType="1"/>
          </p:cNvSpPr>
          <p:nvPr/>
        </p:nvSpPr>
        <p:spPr bwMode="auto">
          <a:xfrm>
            <a:off x="5486400" y="2895600"/>
            <a:ext cx="0" cy="3343275"/>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23" name="Line 18"/>
          <p:cNvSpPr>
            <a:spLocks noChangeShapeType="1"/>
          </p:cNvSpPr>
          <p:nvPr/>
        </p:nvSpPr>
        <p:spPr bwMode="auto">
          <a:xfrm>
            <a:off x="7739063" y="2895600"/>
            <a:ext cx="0" cy="3343275"/>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24" name="Line 19"/>
          <p:cNvSpPr>
            <a:spLocks noChangeShapeType="1"/>
          </p:cNvSpPr>
          <p:nvPr/>
        </p:nvSpPr>
        <p:spPr bwMode="auto">
          <a:xfrm>
            <a:off x="8534400" y="2895600"/>
            <a:ext cx="0" cy="3343275"/>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25" name="Line 20"/>
          <p:cNvSpPr>
            <a:spLocks noChangeShapeType="1"/>
          </p:cNvSpPr>
          <p:nvPr/>
        </p:nvSpPr>
        <p:spPr bwMode="auto">
          <a:xfrm>
            <a:off x="5486399" y="4167186"/>
            <a:ext cx="3048001" cy="1"/>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26" name="Line 21"/>
          <p:cNvSpPr>
            <a:spLocks noChangeShapeType="1"/>
          </p:cNvSpPr>
          <p:nvPr/>
        </p:nvSpPr>
        <p:spPr bwMode="auto">
          <a:xfrm>
            <a:off x="5486399" y="4857747"/>
            <a:ext cx="3048001" cy="3"/>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27" name="Line 22"/>
          <p:cNvSpPr>
            <a:spLocks noChangeShapeType="1"/>
          </p:cNvSpPr>
          <p:nvPr/>
        </p:nvSpPr>
        <p:spPr bwMode="auto">
          <a:xfrm>
            <a:off x="5486397" y="5548312"/>
            <a:ext cx="3048003" cy="0"/>
          </a:xfrm>
          <a:prstGeom prst="line">
            <a:avLst/>
          </a:prstGeom>
          <a:noFill/>
          <a:ln w="12700">
            <a:solidFill>
              <a:schemeClr val="tx1"/>
            </a:solidFill>
            <a:round/>
            <a:headEnd/>
            <a:tailEnd/>
          </a:ln>
        </p:spPr>
        <p:txBody>
          <a:bodyPr rIns="0" anchor="ctr"/>
          <a:lstStyle/>
          <a:p>
            <a:endParaRPr lang="en-US">
              <a:latin typeface="Arial"/>
              <a:cs typeface="Arial"/>
            </a:endParaRPr>
          </a:p>
        </p:txBody>
      </p:sp>
    </p:spTree>
    <p:extLst>
      <p:ext uri="{BB962C8B-B14F-4D97-AF65-F5344CB8AC3E}">
        <p14:creationId xmlns:p14="http://schemas.microsoft.com/office/powerpoint/2010/main" val="117964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left)">
                                      <p:cBhvr>
                                        <p:cTn id="7" dur="500"/>
                                        <p:tgtEl>
                                          <p:spTgt spid="2048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left)">
                                      <p:cBhvr>
                                        <p:cTn id="39" dur="500"/>
                                        <p:tgtEl>
                                          <p:spTgt spid="20"/>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left)">
                                      <p:cBhvr>
                                        <p:cTn id="42" dur="500"/>
                                        <p:tgtEl>
                                          <p:spTgt spid="21"/>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left)">
                                      <p:cBhvr>
                                        <p:cTn id="45" dur="500"/>
                                        <p:tgtEl>
                                          <p:spTgt spid="22"/>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left)">
                                      <p:cBhvr>
                                        <p:cTn id="48" dur="500"/>
                                        <p:tgtEl>
                                          <p:spTgt spid="23"/>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left)">
                                      <p:cBhvr>
                                        <p:cTn id="51" dur="500"/>
                                        <p:tgtEl>
                                          <p:spTgt spid="24"/>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wipe(left)">
                                      <p:cBhvr>
                                        <p:cTn id="60" dur="500"/>
                                        <p:tgtEl>
                                          <p:spTgt spid="2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wipe(left)">
                                      <p:cBhvr>
                                        <p:cTn id="65" dur="500"/>
                                        <p:tgtEl>
                                          <p:spTgt spid="1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wipe(left)">
                                      <p:cBhvr>
                                        <p:cTn id="70" dur="500"/>
                                        <p:tgtEl>
                                          <p:spTgt spid="1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wipe(left)">
                                      <p:cBhvr>
                                        <p:cTn id="75" dur="500"/>
                                        <p:tgtEl>
                                          <p:spTgt spid="1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9"/>
                                        </p:tgtEl>
                                        <p:attrNameLst>
                                          <p:attrName>style.visibility</p:attrName>
                                        </p:attrNameLst>
                                      </p:cBhvr>
                                      <p:to>
                                        <p:strVal val="visible"/>
                                      </p:to>
                                    </p:set>
                                    <p:animEffect transition="in" filter="wipe(left)">
                                      <p:cBhvr>
                                        <p:cTn id="8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P spid="2" grpId="0" build="p"/>
      <p:bldP spid="9" grpId="0" animBg="1"/>
      <p:bldP spid="10" grpId="0" animBg="1"/>
      <p:bldP spid="11" grpId="0"/>
      <p:bldP spid="12" grpId="0"/>
      <p:bldP spid="13" grpId="0" animBg="1"/>
      <p:bldP spid="14" grpId="0" animBg="1"/>
      <p:bldP spid="15" grpId="0"/>
      <p:bldP spid="16" grpId="0"/>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B478D07-0A3F-CAD7-3C22-35DCC628758B}"/>
              </a:ext>
            </a:extLst>
          </p:cNvPr>
          <p:cNvGrpSpPr/>
          <p:nvPr/>
        </p:nvGrpSpPr>
        <p:grpSpPr>
          <a:xfrm>
            <a:off x="381001" y="883443"/>
            <a:ext cx="4267199" cy="5441157"/>
            <a:chOff x="381001" y="654843"/>
            <a:chExt cx="4267199" cy="5441157"/>
          </a:xfrm>
        </p:grpSpPr>
        <p:sp>
          <p:nvSpPr>
            <p:cNvPr id="46" name="Text Box 4">
              <a:extLst>
                <a:ext uri="{FF2B5EF4-FFF2-40B4-BE49-F238E27FC236}">
                  <a16:creationId xmlns:a16="http://schemas.microsoft.com/office/drawing/2014/main" id="{8B056EE0-7EB3-A934-AC34-5B542BCA1DF7}"/>
                </a:ext>
              </a:extLst>
            </p:cNvPr>
            <p:cNvSpPr txBox="1">
              <a:spLocks noChangeArrowheads="1"/>
            </p:cNvSpPr>
            <p:nvPr/>
          </p:nvSpPr>
          <p:spPr bwMode="auto">
            <a:xfrm>
              <a:off x="965201" y="654843"/>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graphicFrame>
          <p:nvGraphicFramePr>
            <p:cNvPr id="47" name="Content Placeholder 7">
              <a:extLst>
                <a:ext uri="{FF2B5EF4-FFF2-40B4-BE49-F238E27FC236}">
                  <a16:creationId xmlns:a16="http://schemas.microsoft.com/office/drawing/2014/main" id="{04650019-0BB1-BD27-1841-D5D3F5C36725}"/>
                </a:ext>
              </a:extLst>
            </p:cNvPr>
            <p:cNvGraphicFramePr>
              <a:graphicFrameLocks/>
            </p:cNvGraphicFramePr>
            <p:nvPr>
              <p:extLst>
                <p:ext uri="{D42A27DB-BD31-4B8C-83A1-F6EECF244321}">
                  <p14:modId xmlns:p14="http://schemas.microsoft.com/office/powerpoint/2010/main" val="2333836311"/>
                </p:ext>
              </p:extLst>
            </p:nvPr>
          </p:nvGraphicFramePr>
          <p:xfrm>
            <a:off x="381001" y="1066800"/>
            <a:ext cx="4267199"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45" name="Text Box 5">
              <a:extLst>
                <a:ext uri="{FF2B5EF4-FFF2-40B4-BE49-F238E27FC236}">
                  <a16:creationId xmlns:a16="http://schemas.microsoft.com/office/drawing/2014/main" id="{9BC57BA4-B925-7EE1-0637-4972F466E133}"/>
                </a:ext>
              </a:extLst>
            </p:cNvPr>
            <p:cNvSpPr txBox="1">
              <a:spLocks noChangeArrowheads="1"/>
            </p:cNvSpPr>
            <p:nvPr/>
          </p:nvSpPr>
          <p:spPr bwMode="auto">
            <a:xfrm>
              <a:off x="4120638" y="5576887"/>
              <a:ext cx="474662" cy="519113"/>
            </a:xfrm>
            <a:prstGeom prst="rect">
              <a:avLst/>
            </a:prstGeom>
            <a:solidFill>
              <a:schemeClr val="bg1"/>
            </a:solidFill>
            <a:ln w="9525">
              <a:noFill/>
              <a:miter lim="800000"/>
              <a:headEnd/>
              <a:tailEnd/>
            </a:ln>
          </p:spPr>
          <p:txBody>
            <a:bodyPr>
              <a:spAutoFit/>
            </a:bodyPr>
            <a:lstStyle/>
            <a:p>
              <a:pPr>
                <a:spcBef>
                  <a:spcPct val="50000"/>
                </a:spcBef>
              </a:pPr>
              <a:r>
                <a:rPr lang="en-US" sz="2800" b="1" i="1" dirty="0">
                  <a:latin typeface="Arial"/>
                  <a:cs typeface="Arial"/>
                </a:rPr>
                <a:t>Q</a:t>
              </a:r>
            </a:p>
          </p:txBody>
        </p:sp>
      </p:grpSp>
      <p:sp>
        <p:nvSpPr>
          <p:cNvPr id="12293" name="Rectangle 3"/>
          <p:cNvSpPr>
            <a:spLocks noGrp="1" noChangeArrowheads="1"/>
          </p:cNvSpPr>
          <p:nvPr>
            <p:ph type="title"/>
          </p:nvPr>
        </p:nvSpPr>
        <p:spPr/>
        <p:txBody>
          <a:bodyPr/>
          <a:lstStyle/>
          <a:p>
            <a:pPr eaLnBrk="1" hangingPunct="1"/>
            <a:r>
              <a:rPr lang="en-US" dirty="0"/>
              <a:t>EXAMPLE 3B: </a:t>
            </a:r>
            <a:r>
              <a:rPr lang="en-US" dirty="0">
                <a:solidFill>
                  <a:schemeClr val="tx1"/>
                </a:solidFill>
              </a:rPr>
              <a:t>The supply curve – 1 </a:t>
            </a:r>
          </a:p>
        </p:txBody>
      </p:sp>
      <p:sp>
        <p:nvSpPr>
          <p:cNvPr id="5" name="Slide Number Placeholder 4"/>
          <p:cNvSpPr>
            <a:spLocks noGrp="1"/>
          </p:cNvSpPr>
          <p:nvPr>
            <p:ph type="sldNum" sz="quarter" idx="10"/>
          </p:nvPr>
        </p:nvSpPr>
        <p:spPr/>
        <p:txBody>
          <a:bodyPr/>
          <a:lstStyle/>
          <a:p>
            <a:pPr>
              <a:defRPr/>
            </a:pPr>
            <a:fld id="{2F37425F-5E17-4209-B948-B5CE2119E408}" type="slidenum">
              <a:rPr lang="en-US" smtClean="0"/>
              <a:pPr>
                <a:defRPr/>
              </a:pPr>
              <a:t>22</a:t>
            </a:fld>
            <a:endParaRPr lang="en-US" dirty="0"/>
          </a:p>
        </p:txBody>
      </p:sp>
      <p:grpSp>
        <p:nvGrpSpPr>
          <p:cNvPr id="3" name="Group 42"/>
          <p:cNvGrpSpPr>
            <a:grpSpLocks/>
          </p:cNvGrpSpPr>
          <p:nvPr/>
        </p:nvGrpSpPr>
        <p:grpSpPr bwMode="auto">
          <a:xfrm>
            <a:off x="1336676" y="1371600"/>
            <a:ext cx="2320925" cy="4273550"/>
            <a:chOff x="842" y="717"/>
            <a:chExt cx="1462" cy="2692"/>
          </a:xfrm>
        </p:grpSpPr>
        <p:sp>
          <p:nvSpPr>
            <p:cNvPr id="12324" name="Line 6"/>
            <p:cNvSpPr>
              <a:spLocks noChangeShapeType="1"/>
            </p:cNvSpPr>
            <p:nvPr/>
          </p:nvSpPr>
          <p:spPr bwMode="auto">
            <a:xfrm flipV="1">
              <a:off x="1337" y="2121"/>
              <a:ext cx="3" cy="662"/>
            </a:xfrm>
            <a:prstGeom prst="line">
              <a:avLst/>
            </a:prstGeom>
            <a:noFill/>
            <a:ln w="57150">
              <a:solidFill>
                <a:srgbClr val="FF0000"/>
              </a:solidFill>
              <a:round/>
              <a:headEnd/>
              <a:tailEnd/>
            </a:ln>
          </p:spPr>
          <p:txBody>
            <a:bodyPr/>
            <a:lstStyle/>
            <a:p>
              <a:endParaRPr lang="en-US"/>
            </a:p>
          </p:txBody>
        </p:sp>
        <p:sp>
          <p:nvSpPr>
            <p:cNvPr id="12325" name="Line 7"/>
            <p:cNvSpPr>
              <a:spLocks noChangeShapeType="1"/>
            </p:cNvSpPr>
            <p:nvPr/>
          </p:nvSpPr>
          <p:spPr bwMode="auto">
            <a:xfrm flipV="1">
              <a:off x="1824" y="1152"/>
              <a:ext cx="0" cy="982"/>
            </a:xfrm>
            <a:prstGeom prst="line">
              <a:avLst/>
            </a:prstGeom>
            <a:noFill/>
            <a:ln w="57150">
              <a:solidFill>
                <a:srgbClr val="FF0000"/>
              </a:solidFill>
              <a:round/>
              <a:headEnd/>
              <a:tailEnd/>
            </a:ln>
          </p:spPr>
          <p:txBody>
            <a:bodyPr/>
            <a:lstStyle/>
            <a:p>
              <a:endParaRPr lang="en-US"/>
            </a:p>
          </p:txBody>
        </p:sp>
        <p:sp>
          <p:nvSpPr>
            <p:cNvPr id="12326" name="Line 8"/>
            <p:cNvSpPr>
              <a:spLocks noChangeShapeType="1"/>
            </p:cNvSpPr>
            <p:nvPr/>
          </p:nvSpPr>
          <p:spPr bwMode="auto">
            <a:xfrm flipV="1">
              <a:off x="842" y="2755"/>
              <a:ext cx="505" cy="0"/>
            </a:xfrm>
            <a:custGeom>
              <a:avLst/>
              <a:gdLst>
                <a:gd name="connsiteX0" fmla="*/ 0 w 10000"/>
                <a:gd name="connsiteY0" fmla="*/ 0 h 10000"/>
                <a:gd name="connsiteX1" fmla="*/ 10000 w 10000"/>
                <a:gd name="connsiteY1" fmla="*/ 10000 h 10000"/>
                <a:gd name="connsiteX0" fmla="*/ 0 w 9844"/>
                <a:gd name="connsiteY0" fmla="*/ 0 h 0"/>
                <a:gd name="connsiteX1" fmla="*/ 9844 w 9844"/>
                <a:gd name="connsiteY1" fmla="*/ -7620 h 0"/>
              </a:gdLst>
              <a:ahLst/>
              <a:cxnLst>
                <a:cxn ang="0">
                  <a:pos x="connsiteX0" y="connsiteY0"/>
                </a:cxn>
                <a:cxn ang="0">
                  <a:pos x="connsiteX1" y="connsiteY1"/>
                </a:cxn>
              </a:cxnLst>
              <a:rect l="l" t="t" r="r" b="b"/>
              <a:pathLst>
                <a:path w="9844">
                  <a:moveTo>
                    <a:pt x="0" y="0"/>
                  </a:moveTo>
                  <a:cubicBezTo>
                    <a:pt x="3333" y="3333"/>
                    <a:pt x="6511" y="-10953"/>
                    <a:pt x="9844" y="-7620"/>
                  </a:cubicBezTo>
                </a:path>
              </a:pathLst>
            </a:custGeom>
            <a:noFill/>
            <a:ln w="57150">
              <a:solidFill>
                <a:srgbClr val="FF0000"/>
              </a:solidFill>
              <a:round/>
              <a:headEnd/>
              <a:tailEnd/>
            </a:ln>
          </p:spPr>
          <p:txBody>
            <a:bodyPr/>
            <a:lstStyle/>
            <a:p>
              <a:endParaRPr lang="en-US" dirty="0"/>
            </a:p>
          </p:txBody>
        </p:sp>
        <p:sp>
          <p:nvSpPr>
            <p:cNvPr id="12327" name="Line 9"/>
            <p:cNvSpPr>
              <a:spLocks noChangeShapeType="1"/>
            </p:cNvSpPr>
            <p:nvPr/>
          </p:nvSpPr>
          <p:spPr bwMode="auto">
            <a:xfrm flipH="1" flipV="1">
              <a:off x="859" y="2751"/>
              <a:ext cx="0" cy="658"/>
            </a:xfrm>
            <a:custGeom>
              <a:avLst/>
              <a:gdLst>
                <a:gd name="connsiteX0" fmla="*/ 0 w 10000"/>
                <a:gd name="connsiteY0" fmla="*/ 0 h 10000"/>
                <a:gd name="connsiteX1" fmla="*/ 10000 w 10000"/>
                <a:gd name="connsiteY1" fmla="*/ 10000 h 10000"/>
                <a:gd name="connsiteX0" fmla="*/ 0 w 0"/>
                <a:gd name="connsiteY0" fmla="*/ 0 h 10484"/>
                <a:gd name="connsiteX1" fmla="*/ 2540 w 0"/>
                <a:gd name="connsiteY1" fmla="*/ 10484 h 10484"/>
              </a:gdLst>
              <a:ahLst/>
              <a:cxnLst>
                <a:cxn ang="0">
                  <a:pos x="connsiteX0" y="connsiteY0"/>
                </a:cxn>
                <a:cxn ang="0">
                  <a:pos x="connsiteX1" y="connsiteY1"/>
                </a:cxn>
              </a:cxnLst>
              <a:rect l="l" t="t" r="r" b="b"/>
              <a:pathLst>
                <a:path h="10484">
                  <a:moveTo>
                    <a:pt x="0" y="0"/>
                  </a:moveTo>
                  <a:cubicBezTo>
                    <a:pt x="3333" y="3333"/>
                    <a:pt x="-793" y="7151"/>
                    <a:pt x="2540" y="10484"/>
                  </a:cubicBezTo>
                </a:path>
              </a:pathLst>
            </a:custGeom>
            <a:noFill/>
            <a:ln w="57150">
              <a:solidFill>
                <a:srgbClr val="FF0000"/>
              </a:solidFill>
              <a:round/>
              <a:headEnd/>
              <a:tailEnd/>
            </a:ln>
          </p:spPr>
          <p:txBody>
            <a:bodyPr/>
            <a:lstStyle/>
            <a:p>
              <a:endParaRPr lang="en-US"/>
            </a:p>
          </p:txBody>
        </p:sp>
        <p:sp>
          <p:nvSpPr>
            <p:cNvPr id="12328" name="Line 10"/>
            <p:cNvSpPr>
              <a:spLocks noChangeShapeType="1"/>
            </p:cNvSpPr>
            <p:nvPr/>
          </p:nvSpPr>
          <p:spPr bwMode="auto">
            <a:xfrm>
              <a:off x="1355" y="2109"/>
              <a:ext cx="469" cy="4"/>
            </a:xfrm>
            <a:prstGeom prst="line">
              <a:avLst/>
            </a:prstGeom>
            <a:noFill/>
            <a:ln w="57150">
              <a:solidFill>
                <a:srgbClr val="FF0000"/>
              </a:solidFill>
              <a:round/>
              <a:headEnd/>
              <a:tailEnd/>
            </a:ln>
          </p:spPr>
          <p:txBody>
            <a:bodyPr/>
            <a:lstStyle/>
            <a:p>
              <a:endParaRPr lang="en-US"/>
            </a:p>
          </p:txBody>
        </p:sp>
        <p:sp>
          <p:nvSpPr>
            <p:cNvPr id="12329" name="Line 11"/>
            <p:cNvSpPr>
              <a:spLocks noChangeShapeType="1"/>
            </p:cNvSpPr>
            <p:nvPr/>
          </p:nvSpPr>
          <p:spPr bwMode="auto">
            <a:xfrm>
              <a:off x="1824" y="1149"/>
              <a:ext cx="480" cy="0"/>
            </a:xfrm>
            <a:prstGeom prst="line">
              <a:avLst/>
            </a:prstGeom>
            <a:noFill/>
            <a:ln w="57150">
              <a:solidFill>
                <a:srgbClr val="FF0000"/>
              </a:solidFill>
              <a:round/>
              <a:headEnd/>
              <a:tailEnd/>
            </a:ln>
          </p:spPr>
          <p:txBody>
            <a:bodyPr/>
            <a:lstStyle/>
            <a:p>
              <a:endParaRPr lang="en-US"/>
            </a:p>
          </p:txBody>
        </p:sp>
        <p:sp>
          <p:nvSpPr>
            <p:cNvPr id="12330" name="Line 12"/>
            <p:cNvSpPr>
              <a:spLocks noChangeShapeType="1"/>
            </p:cNvSpPr>
            <p:nvPr/>
          </p:nvSpPr>
          <p:spPr bwMode="auto">
            <a:xfrm flipV="1">
              <a:off x="2304" y="717"/>
              <a:ext cx="0" cy="461"/>
            </a:xfrm>
            <a:prstGeom prst="line">
              <a:avLst/>
            </a:prstGeom>
            <a:noFill/>
            <a:ln w="57150">
              <a:solidFill>
                <a:srgbClr val="FF0000"/>
              </a:solidFill>
              <a:round/>
              <a:headEnd/>
              <a:tailEnd/>
            </a:ln>
          </p:spPr>
          <p:txBody>
            <a:bodyPr/>
            <a:lstStyle/>
            <a:p>
              <a:endParaRPr lang="en-US"/>
            </a:p>
          </p:txBody>
        </p:sp>
      </p:grpSp>
      <p:sp>
        <p:nvSpPr>
          <p:cNvPr id="134188" name="AutoShape 44"/>
          <p:cNvSpPr>
            <a:spLocks/>
          </p:cNvSpPr>
          <p:nvPr/>
        </p:nvSpPr>
        <p:spPr bwMode="auto">
          <a:xfrm>
            <a:off x="1446692" y="4648200"/>
            <a:ext cx="182562" cy="933449"/>
          </a:xfrm>
          <a:prstGeom prst="rightBrace">
            <a:avLst>
              <a:gd name="adj1" fmla="val 39565"/>
              <a:gd name="adj2" fmla="val 50000"/>
            </a:avLst>
          </a:prstGeom>
          <a:noFill/>
          <a:ln w="28575">
            <a:solidFill>
              <a:srgbClr val="4E519E"/>
            </a:solidFill>
            <a:round/>
            <a:headEnd/>
            <a:tailEnd/>
          </a:ln>
        </p:spPr>
        <p:txBody>
          <a:bodyPr wrap="none" anchor="ctr"/>
          <a:lstStyle/>
          <a:p>
            <a:endParaRPr lang="en-US">
              <a:cs typeface="Arial" charset="0"/>
            </a:endParaRPr>
          </a:p>
        </p:txBody>
      </p:sp>
      <p:sp>
        <p:nvSpPr>
          <p:cNvPr id="134189" name="Line 45"/>
          <p:cNvSpPr>
            <a:spLocks noChangeShapeType="1"/>
          </p:cNvSpPr>
          <p:nvPr/>
        </p:nvSpPr>
        <p:spPr bwMode="auto">
          <a:xfrm>
            <a:off x="4957763" y="2433638"/>
            <a:ext cx="739775" cy="0"/>
          </a:xfrm>
          <a:prstGeom prst="line">
            <a:avLst/>
          </a:prstGeom>
          <a:noFill/>
          <a:ln w="76200">
            <a:solidFill>
              <a:srgbClr val="4E519E"/>
            </a:solidFill>
            <a:round/>
            <a:headEnd/>
            <a:tailEnd type="triangle" w="lg" len="med"/>
          </a:ln>
        </p:spPr>
        <p:txBody>
          <a:bodyPr/>
          <a:lstStyle/>
          <a:p>
            <a:endParaRPr lang="en-US"/>
          </a:p>
        </p:txBody>
      </p:sp>
      <p:sp>
        <p:nvSpPr>
          <p:cNvPr id="134190" name="Line 46"/>
          <p:cNvSpPr>
            <a:spLocks noChangeShapeType="1"/>
          </p:cNvSpPr>
          <p:nvPr/>
        </p:nvSpPr>
        <p:spPr bwMode="auto">
          <a:xfrm>
            <a:off x="4959350" y="3108325"/>
            <a:ext cx="739775" cy="0"/>
          </a:xfrm>
          <a:prstGeom prst="line">
            <a:avLst/>
          </a:prstGeom>
          <a:noFill/>
          <a:ln w="76200">
            <a:solidFill>
              <a:srgbClr val="4E519E"/>
            </a:solidFill>
            <a:round/>
            <a:headEnd/>
            <a:tailEnd type="triangle" w="lg" len="med"/>
          </a:ln>
        </p:spPr>
        <p:txBody>
          <a:bodyPr/>
          <a:lstStyle/>
          <a:p>
            <a:endParaRPr lang="en-US"/>
          </a:p>
        </p:txBody>
      </p:sp>
      <p:sp>
        <p:nvSpPr>
          <p:cNvPr id="134191" name="Line 47"/>
          <p:cNvSpPr>
            <a:spLocks noChangeShapeType="1"/>
          </p:cNvSpPr>
          <p:nvPr/>
        </p:nvSpPr>
        <p:spPr bwMode="auto">
          <a:xfrm>
            <a:off x="4953000" y="3840163"/>
            <a:ext cx="739775" cy="0"/>
          </a:xfrm>
          <a:prstGeom prst="line">
            <a:avLst/>
          </a:prstGeom>
          <a:noFill/>
          <a:ln w="76200">
            <a:solidFill>
              <a:srgbClr val="4E519E"/>
            </a:solidFill>
            <a:round/>
            <a:headEnd/>
            <a:tailEnd type="triangle" w="lg" len="med"/>
          </a:ln>
        </p:spPr>
        <p:txBody>
          <a:bodyPr/>
          <a:lstStyle/>
          <a:p>
            <a:endParaRPr lang="en-US"/>
          </a:p>
        </p:txBody>
      </p:sp>
      <p:sp>
        <p:nvSpPr>
          <p:cNvPr id="134192" name="Line 48"/>
          <p:cNvSpPr>
            <a:spLocks noChangeShapeType="1"/>
          </p:cNvSpPr>
          <p:nvPr/>
        </p:nvSpPr>
        <p:spPr bwMode="auto">
          <a:xfrm>
            <a:off x="4953000" y="4508500"/>
            <a:ext cx="739775" cy="0"/>
          </a:xfrm>
          <a:prstGeom prst="line">
            <a:avLst/>
          </a:prstGeom>
          <a:noFill/>
          <a:ln w="76200">
            <a:solidFill>
              <a:srgbClr val="4E519E"/>
            </a:solidFill>
            <a:round/>
            <a:headEnd/>
            <a:tailEnd type="triangle" w="lg" len="med"/>
          </a:ln>
        </p:spPr>
        <p:txBody>
          <a:bodyPr/>
          <a:lstStyle/>
          <a:p>
            <a:endParaRPr lang="en-US"/>
          </a:p>
        </p:txBody>
      </p:sp>
      <p:sp>
        <p:nvSpPr>
          <p:cNvPr id="134193" name="AutoShape 49"/>
          <p:cNvSpPr>
            <a:spLocks/>
          </p:cNvSpPr>
          <p:nvPr/>
        </p:nvSpPr>
        <p:spPr bwMode="auto">
          <a:xfrm>
            <a:off x="2206625" y="3657605"/>
            <a:ext cx="182563" cy="990596"/>
          </a:xfrm>
          <a:prstGeom prst="rightBrace">
            <a:avLst>
              <a:gd name="adj1" fmla="val 39565"/>
              <a:gd name="adj2" fmla="val 50000"/>
            </a:avLst>
          </a:prstGeom>
          <a:noFill/>
          <a:ln w="28575">
            <a:solidFill>
              <a:srgbClr val="4E519E"/>
            </a:solidFill>
            <a:round/>
            <a:headEnd/>
            <a:tailEnd/>
          </a:ln>
        </p:spPr>
        <p:txBody>
          <a:bodyPr wrap="none" anchor="ctr"/>
          <a:lstStyle/>
          <a:p>
            <a:endParaRPr lang="en-US">
              <a:cs typeface="Arial" charset="0"/>
            </a:endParaRPr>
          </a:p>
        </p:txBody>
      </p:sp>
      <p:sp>
        <p:nvSpPr>
          <p:cNvPr id="134194" name="AutoShape 50"/>
          <p:cNvSpPr>
            <a:spLocks/>
          </p:cNvSpPr>
          <p:nvPr/>
        </p:nvSpPr>
        <p:spPr bwMode="auto">
          <a:xfrm>
            <a:off x="3017838" y="2138679"/>
            <a:ext cx="182562" cy="1442721"/>
          </a:xfrm>
          <a:prstGeom prst="rightBrace">
            <a:avLst>
              <a:gd name="adj1" fmla="val 59493"/>
              <a:gd name="adj2" fmla="val 50000"/>
            </a:avLst>
          </a:prstGeom>
          <a:noFill/>
          <a:ln w="28575">
            <a:solidFill>
              <a:srgbClr val="4E519E"/>
            </a:solidFill>
            <a:round/>
            <a:headEnd/>
            <a:tailEnd/>
          </a:ln>
        </p:spPr>
        <p:txBody>
          <a:bodyPr wrap="none" anchor="ctr"/>
          <a:lstStyle/>
          <a:p>
            <a:endParaRPr lang="en-US">
              <a:cs typeface="Arial" charset="0"/>
            </a:endParaRPr>
          </a:p>
        </p:txBody>
      </p:sp>
      <p:sp>
        <p:nvSpPr>
          <p:cNvPr id="134195" name="AutoShape 51"/>
          <p:cNvSpPr>
            <a:spLocks/>
          </p:cNvSpPr>
          <p:nvPr/>
        </p:nvSpPr>
        <p:spPr bwMode="auto">
          <a:xfrm>
            <a:off x="3824288" y="1371600"/>
            <a:ext cx="182562" cy="685799"/>
          </a:xfrm>
          <a:prstGeom prst="rightBrace">
            <a:avLst>
              <a:gd name="adj1" fmla="val 31812"/>
              <a:gd name="adj2" fmla="val 50000"/>
            </a:avLst>
          </a:prstGeom>
          <a:noFill/>
          <a:ln w="28575">
            <a:solidFill>
              <a:srgbClr val="4E519E"/>
            </a:solidFill>
            <a:round/>
            <a:headEnd/>
            <a:tailEnd/>
          </a:ln>
        </p:spPr>
        <p:txBody>
          <a:bodyPr wrap="none" anchor="ctr"/>
          <a:lstStyle/>
          <a:p>
            <a:endParaRPr lang="en-US">
              <a:cs typeface="Arial" charset="0"/>
            </a:endParaRPr>
          </a:p>
        </p:txBody>
      </p:sp>
      <p:grpSp>
        <p:nvGrpSpPr>
          <p:cNvPr id="4" name="Group 3">
            <a:extLst>
              <a:ext uri="{FF2B5EF4-FFF2-40B4-BE49-F238E27FC236}">
                <a16:creationId xmlns:a16="http://schemas.microsoft.com/office/drawing/2014/main" id="{EBBFA14E-C268-75A7-AC09-047E154A7D7A}"/>
              </a:ext>
            </a:extLst>
          </p:cNvPr>
          <p:cNvGrpSpPr/>
          <p:nvPr/>
        </p:nvGrpSpPr>
        <p:grpSpPr>
          <a:xfrm>
            <a:off x="5714994" y="1524000"/>
            <a:ext cx="3048006" cy="3343275"/>
            <a:chOff x="6095994" y="1600200"/>
            <a:chExt cx="3048006" cy="3343275"/>
          </a:xfrm>
        </p:grpSpPr>
        <p:sp>
          <p:nvSpPr>
            <p:cNvPr id="25" name="Rectangle 4">
              <a:extLst>
                <a:ext uri="{FF2B5EF4-FFF2-40B4-BE49-F238E27FC236}">
                  <a16:creationId xmlns:a16="http://schemas.microsoft.com/office/drawing/2014/main" id="{D0B3C1A7-1E17-DDC6-5D62-69E73D298318}"/>
                </a:ext>
              </a:extLst>
            </p:cNvPr>
            <p:cNvSpPr>
              <a:spLocks noChangeArrowheads="1"/>
            </p:cNvSpPr>
            <p:nvPr/>
          </p:nvSpPr>
          <p:spPr bwMode="auto">
            <a:xfrm>
              <a:off x="8348662" y="4252912"/>
              <a:ext cx="795337" cy="690563"/>
            </a:xfrm>
            <a:prstGeom prst="rect">
              <a:avLst/>
            </a:prstGeom>
            <a:solidFill>
              <a:srgbClr val="E3F0FA"/>
            </a:solid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3</a:t>
              </a:r>
            </a:p>
          </p:txBody>
        </p:sp>
        <p:sp>
          <p:nvSpPr>
            <p:cNvPr id="26" name="Rectangle 5">
              <a:extLst>
                <a:ext uri="{FF2B5EF4-FFF2-40B4-BE49-F238E27FC236}">
                  <a16:creationId xmlns:a16="http://schemas.microsoft.com/office/drawing/2014/main" id="{21DAC5CB-9CB4-D9BD-E41C-1322E97C103E}"/>
                </a:ext>
              </a:extLst>
            </p:cNvPr>
            <p:cNvSpPr>
              <a:spLocks noChangeArrowheads="1"/>
            </p:cNvSpPr>
            <p:nvPr/>
          </p:nvSpPr>
          <p:spPr bwMode="auto">
            <a:xfrm>
              <a:off x="6095994" y="4252912"/>
              <a:ext cx="2252668" cy="690563"/>
            </a:xfrm>
            <a:prstGeom prst="rect">
              <a:avLst/>
            </a:prstGeom>
            <a:solidFill>
              <a:srgbClr val="E3F0FA"/>
            </a:solid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350 &amp; up</a:t>
              </a:r>
            </a:p>
          </p:txBody>
        </p:sp>
        <p:sp>
          <p:nvSpPr>
            <p:cNvPr id="27" name="Rectangle 6">
              <a:extLst>
                <a:ext uri="{FF2B5EF4-FFF2-40B4-BE49-F238E27FC236}">
                  <a16:creationId xmlns:a16="http://schemas.microsoft.com/office/drawing/2014/main" id="{29CA0419-2758-B302-D7BC-BCE63A2D21FE}"/>
                </a:ext>
              </a:extLst>
            </p:cNvPr>
            <p:cNvSpPr>
              <a:spLocks noChangeArrowheads="1"/>
            </p:cNvSpPr>
            <p:nvPr/>
          </p:nvSpPr>
          <p:spPr bwMode="auto">
            <a:xfrm>
              <a:off x="8348662" y="3562350"/>
              <a:ext cx="795337" cy="690562"/>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2</a:t>
              </a:r>
            </a:p>
          </p:txBody>
        </p:sp>
        <p:sp>
          <p:nvSpPr>
            <p:cNvPr id="28" name="Rectangle 7">
              <a:extLst>
                <a:ext uri="{FF2B5EF4-FFF2-40B4-BE49-F238E27FC236}">
                  <a16:creationId xmlns:a16="http://schemas.microsoft.com/office/drawing/2014/main" id="{382877E0-52CB-EF02-0DA1-15918D6101A2}"/>
                </a:ext>
              </a:extLst>
            </p:cNvPr>
            <p:cNvSpPr>
              <a:spLocks noChangeArrowheads="1"/>
            </p:cNvSpPr>
            <p:nvPr/>
          </p:nvSpPr>
          <p:spPr bwMode="auto">
            <a:xfrm>
              <a:off x="6095995" y="3562350"/>
              <a:ext cx="2252667" cy="690562"/>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200 – 349</a:t>
              </a:r>
            </a:p>
          </p:txBody>
        </p:sp>
        <p:sp>
          <p:nvSpPr>
            <p:cNvPr id="29" name="Rectangle 8">
              <a:extLst>
                <a:ext uri="{FF2B5EF4-FFF2-40B4-BE49-F238E27FC236}">
                  <a16:creationId xmlns:a16="http://schemas.microsoft.com/office/drawing/2014/main" id="{8AB9D679-959E-3B3A-682A-8867BD1912B8}"/>
                </a:ext>
              </a:extLst>
            </p:cNvPr>
            <p:cNvSpPr>
              <a:spLocks noChangeArrowheads="1"/>
            </p:cNvSpPr>
            <p:nvPr/>
          </p:nvSpPr>
          <p:spPr bwMode="auto">
            <a:xfrm>
              <a:off x="8348662" y="2871787"/>
              <a:ext cx="795337" cy="690563"/>
            </a:xfrm>
            <a:prstGeom prst="rect">
              <a:avLst/>
            </a:prstGeom>
            <a:solidFill>
              <a:srgbClr val="E3F0FA"/>
            </a:solid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1</a:t>
              </a:r>
            </a:p>
          </p:txBody>
        </p:sp>
        <p:sp>
          <p:nvSpPr>
            <p:cNvPr id="30" name="Rectangle 9">
              <a:extLst>
                <a:ext uri="{FF2B5EF4-FFF2-40B4-BE49-F238E27FC236}">
                  <a16:creationId xmlns:a16="http://schemas.microsoft.com/office/drawing/2014/main" id="{7BFE1FDB-200C-750E-AAD2-709C142C144A}"/>
                </a:ext>
              </a:extLst>
            </p:cNvPr>
            <p:cNvSpPr>
              <a:spLocks noChangeArrowheads="1"/>
            </p:cNvSpPr>
            <p:nvPr/>
          </p:nvSpPr>
          <p:spPr bwMode="auto">
            <a:xfrm>
              <a:off x="6095996" y="2871787"/>
              <a:ext cx="2252666" cy="690563"/>
            </a:xfrm>
            <a:prstGeom prst="rect">
              <a:avLst/>
            </a:prstGeom>
            <a:solidFill>
              <a:srgbClr val="E3F0FA"/>
            </a:solid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100 – 199</a:t>
              </a:r>
            </a:p>
          </p:txBody>
        </p:sp>
        <p:sp>
          <p:nvSpPr>
            <p:cNvPr id="31" name="Rectangle 10">
              <a:extLst>
                <a:ext uri="{FF2B5EF4-FFF2-40B4-BE49-F238E27FC236}">
                  <a16:creationId xmlns:a16="http://schemas.microsoft.com/office/drawing/2014/main" id="{BD4532A6-C1B0-B376-CFA1-C5B634CD0411}"/>
                </a:ext>
              </a:extLst>
            </p:cNvPr>
            <p:cNvSpPr>
              <a:spLocks noChangeArrowheads="1"/>
            </p:cNvSpPr>
            <p:nvPr/>
          </p:nvSpPr>
          <p:spPr bwMode="auto">
            <a:xfrm>
              <a:off x="8348662" y="2181225"/>
              <a:ext cx="795337" cy="690562"/>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0</a:t>
              </a:r>
            </a:p>
          </p:txBody>
        </p:sp>
        <p:sp>
          <p:nvSpPr>
            <p:cNvPr id="32" name="Rectangle 11">
              <a:extLst>
                <a:ext uri="{FF2B5EF4-FFF2-40B4-BE49-F238E27FC236}">
                  <a16:creationId xmlns:a16="http://schemas.microsoft.com/office/drawing/2014/main" id="{68939F8E-DB22-4358-8EC1-A503A9C54A2C}"/>
                </a:ext>
              </a:extLst>
            </p:cNvPr>
            <p:cNvSpPr>
              <a:spLocks noChangeArrowheads="1"/>
            </p:cNvSpPr>
            <p:nvPr/>
          </p:nvSpPr>
          <p:spPr bwMode="auto">
            <a:xfrm>
              <a:off x="6095997" y="2181225"/>
              <a:ext cx="2252665" cy="690562"/>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$0 – 99</a:t>
              </a:r>
            </a:p>
          </p:txBody>
        </p:sp>
        <p:sp>
          <p:nvSpPr>
            <p:cNvPr id="33" name="Rectangle 12">
              <a:extLst>
                <a:ext uri="{FF2B5EF4-FFF2-40B4-BE49-F238E27FC236}">
                  <a16:creationId xmlns:a16="http://schemas.microsoft.com/office/drawing/2014/main" id="{DDBF29C8-D391-4A1C-03AB-AFC4C1DDE9E3}"/>
                </a:ext>
              </a:extLst>
            </p:cNvPr>
            <p:cNvSpPr>
              <a:spLocks noChangeArrowheads="1"/>
            </p:cNvSpPr>
            <p:nvPr/>
          </p:nvSpPr>
          <p:spPr bwMode="auto">
            <a:xfrm>
              <a:off x="8348662" y="1600200"/>
              <a:ext cx="795337" cy="581025"/>
            </a:xfrm>
            <a:prstGeom prst="rect">
              <a:avLst/>
            </a:prstGeom>
            <a:solidFill>
              <a:srgbClr val="E3F0FA"/>
            </a:solid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a:latin typeface="Arial"/>
                  <a:cs typeface="Arial"/>
                </a:rPr>
                <a:t>Q</a:t>
              </a:r>
              <a:r>
                <a:rPr lang="en-US" sz="2500" b="1" i="1" baseline="30000">
                  <a:latin typeface="Arial"/>
                  <a:cs typeface="Arial"/>
                </a:rPr>
                <a:t>s</a:t>
              </a:r>
            </a:p>
          </p:txBody>
        </p:sp>
        <p:sp>
          <p:nvSpPr>
            <p:cNvPr id="34" name="Rectangle 13">
              <a:extLst>
                <a:ext uri="{FF2B5EF4-FFF2-40B4-BE49-F238E27FC236}">
                  <a16:creationId xmlns:a16="http://schemas.microsoft.com/office/drawing/2014/main" id="{E303B1A2-96A2-1C1B-B232-F5D0EC3C6AA3}"/>
                </a:ext>
              </a:extLst>
            </p:cNvPr>
            <p:cNvSpPr>
              <a:spLocks noChangeArrowheads="1"/>
            </p:cNvSpPr>
            <p:nvPr/>
          </p:nvSpPr>
          <p:spPr bwMode="auto">
            <a:xfrm>
              <a:off x="6095998" y="1600200"/>
              <a:ext cx="2252664" cy="581025"/>
            </a:xfrm>
            <a:prstGeom prst="rect">
              <a:avLst/>
            </a:prstGeom>
            <a:solidFill>
              <a:srgbClr val="E3F0FA"/>
            </a:solid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dirty="0">
                  <a:latin typeface="Arial"/>
                  <a:cs typeface="Arial"/>
                </a:rPr>
                <a:t>P</a:t>
              </a:r>
            </a:p>
          </p:txBody>
        </p:sp>
        <p:sp>
          <p:nvSpPr>
            <p:cNvPr id="35" name="Line 14">
              <a:extLst>
                <a:ext uri="{FF2B5EF4-FFF2-40B4-BE49-F238E27FC236}">
                  <a16:creationId xmlns:a16="http://schemas.microsoft.com/office/drawing/2014/main" id="{9F030BC8-C29F-CF8F-EE58-EADB8D6700FE}"/>
                </a:ext>
              </a:extLst>
            </p:cNvPr>
            <p:cNvSpPr>
              <a:spLocks noChangeShapeType="1"/>
            </p:cNvSpPr>
            <p:nvPr/>
          </p:nvSpPr>
          <p:spPr bwMode="auto">
            <a:xfrm>
              <a:off x="6095998" y="1600200"/>
              <a:ext cx="3048001" cy="0"/>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36" name="Line 15">
              <a:extLst>
                <a:ext uri="{FF2B5EF4-FFF2-40B4-BE49-F238E27FC236}">
                  <a16:creationId xmlns:a16="http://schemas.microsoft.com/office/drawing/2014/main" id="{3C6918BB-8C0E-9108-0A20-34BB370000C1}"/>
                </a:ext>
              </a:extLst>
            </p:cNvPr>
            <p:cNvSpPr>
              <a:spLocks noChangeShapeType="1"/>
            </p:cNvSpPr>
            <p:nvPr/>
          </p:nvSpPr>
          <p:spPr bwMode="auto">
            <a:xfrm>
              <a:off x="6095998" y="2181225"/>
              <a:ext cx="3048001" cy="0"/>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37" name="Line 16">
              <a:extLst>
                <a:ext uri="{FF2B5EF4-FFF2-40B4-BE49-F238E27FC236}">
                  <a16:creationId xmlns:a16="http://schemas.microsoft.com/office/drawing/2014/main" id="{185BABDB-4A23-B44F-6262-8CE11906CF33}"/>
                </a:ext>
              </a:extLst>
            </p:cNvPr>
            <p:cNvSpPr>
              <a:spLocks noChangeShapeType="1"/>
            </p:cNvSpPr>
            <p:nvPr/>
          </p:nvSpPr>
          <p:spPr bwMode="auto">
            <a:xfrm>
              <a:off x="6095996" y="4943472"/>
              <a:ext cx="3048004" cy="3"/>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38" name="Line 17">
              <a:extLst>
                <a:ext uri="{FF2B5EF4-FFF2-40B4-BE49-F238E27FC236}">
                  <a16:creationId xmlns:a16="http://schemas.microsoft.com/office/drawing/2014/main" id="{AA224B29-2926-0F2C-DB26-ACC82136372D}"/>
                </a:ext>
              </a:extLst>
            </p:cNvPr>
            <p:cNvSpPr>
              <a:spLocks noChangeShapeType="1"/>
            </p:cNvSpPr>
            <p:nvPr/>
          </p:nvSpPr>
          <p:spPr bwMode="auto">
            <a:xfrm>
              <a:off x="6095999" y="1600200"/>
              <a:ext cx="0" cy="3343275"/>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39" name="Line 18">
              <a:extLst>
                <a:ext uri="{FF2B5EF4-FFF2-40B4-BE49-F238E27FC236}">
                  <a16:creationId xmlns:a16="http://schemas.microsoft.com/office/drawing/2014/main" id="{B0D47C62-CE2D-1BDF-BF15-4186C47D52F1}"/>
                </a:ext>
              </a:extLst>
            </p:cNvPr>
            <p:cNvSpPr>
              <a:spLocks noChangeShapeType="1"/>
            </p:cNvSpPr>
            <p:nvPr/>
          </p:nvSpPr>
          <p:spPr bwMode="auto">
            <a:xfrm>
              <a:off x="8348662" y="1600200"/>
              <a:ext cx="0" cy="3343275"/>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40" name="Line 19">
              <a:extLst>
                <a:ext uri="{FF2B5EF4-FFF2-40B4-BE49-F238E27FC236}">
                  <a16:creationId xmlns:a16="http://schemas.microsoft.com/office/drawing/2014/main" id="{F8C37834-B7DF-7457-0AA2-32DF0AE666DB}"/>
                </a:ext>
              </a:extLst>
            </p:cNvPr>
            <p:cNvSpPr>
              <a:spLocks noChangeShapeType="1"/>
            </p:cNvSpPr>
            <p:nvPr/>
          </p:nvSpPr>
          <p:spPr bwMode="auto">
            <a:xfrm>
              <a:off x="9143999" y="1600200"/>
              <a:ext cx="0" cy="3343275"/>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41" name="Line 20">
              <a:extLst>
                <a:ext uri="{FF2B5EF4-FFF2-40B4-BE49-F238E27FC236}">
                  <a16:creationId xmlns:a16="http://schemas.microsoft.com/office/drawing/2014/main" id="{154AB7B6-0337-E25C-E817-E046FCFA0846}"/>
                </a:ext>
              </a:extLst>
            </p:cNvPr>
            <p:cNvSpPr>
              <a:spLocks noChangeShapeType="1"/>
            </p:cNvSpPr>
            <p:nvPr/>
          </p:nvSpPr>
          <p:spPr bwMode="auto">
            <a:xfrm>
              <a:off x="6095998" y="2871786"/>
              <a:ext cx="3048001" cy="1"/>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42" name="Line 21">
              <a:extLst>
                <a:ext uri="{FF2B5EF4-FFF2-40B4-BE49-F238E27FC236}">
                  <a16:creationId xmlns:a16="http://schemas.microsoft.com/office/drawing/2014/main" id="{34FEB233-48CE-4681-245D-6062230FB783}"/>
                </a:ext>
              </a:extLst>
            </p:cNvPr>
            <p:cNvSpPr>
              <a:spLocks noChangeShapeType="1"/>
            </p:cNvSpPr>
            <p:nvPr/>
          </p:nvSpPr>
          <p:spPr bwMode="auto">
            <a:xfrm>
              <a:off x="6095998" y="3562347"/>
              <a:ext cx="3048001" cy="3"/>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43" name="Line 22">
              <a:extLst>
                <a:ext uri="{FF2B5EF4-FFF2-40B4-BE49-F238E27FC236}">
                  <a16:creationId xmlns:a16="http://schemas.microsoft.com/office/drawing/2014/main" id="{26A065BD-1DB6-574D-EC01-272439C2E05D}"/>
                </a:ext>
              </a:extLst>
            </p:cNvPr>
            <p:cNvSpPr>
              <a:spLocks noChangeShapeType="1"/>
            </p:cNvSpPr>
            <p:nvPr/>
          </p:nvSpPr>
          <p:spPr bwMode="auto">
            <a:xfrm>
              <a:off x="6095996" y="4252912"/>
              <a:ext cx="3048003" cy="0"/>
            </a:xfrm>
            <a:prstGeom prst="line">
              <a:avLst/>
            </a:prstGeom>
            <a:noFill/>
            <a:ln w="12700">
              <a:solidFill>
                <a:schemeClr val="tx1"/>
              </a:solidFill>
              <a:round/>
              <a:headEnd/>
              <a:tailEnd/>
            </a:ln>
          </p:spPr>
          <p:txBody>
            <a:bodyPr rIns="0" anchor="ctr"/>
            <a:lstStyle/>
            <a:p>
              <a:endParaRPr lang="en-US">
                <a:latin typeface="Arial"/>
                <a:cs typeface="Arial"/>
              </a:endParaRPr>
            </a:p>
          </p:txBody>
        </p:sp>
      </p:grpSp>
      <p:sp>
        <p:nvSpPr>
          <p:cNvPr id="49" name="Line 8">
            <a:extLst>
              <a:ext uri="{FF2B5EF4-FFF2-40B4-BE49-F238E27FC236}">
                <a16:creationId xmlns:a16="http://schemas.microsoft.com/office/drawing/2014/main" id="{91A540F9-0240-6AF3-E895-F44D11CC1686}"/>
              </a:ext>
            </a:extLst>
          </p:cNvPr>
          <p:cNvSpPr>
            <a:spLocks noChangeShapeType="1"/>
          </p:cNvSpPr>
          <p:nvPr/>
        </p:nvSpPr>
        <p:spPr bwMode="auto">
          <a:xfrm>
            <a:off x="1308101" y="2057400"/>
            <a:ext cx="2349496" cy="5078"/>
          </a:xfrm>
          <a:prstGeom prst="line">
            <a:avLst/>
          </a:prstGeom>
          <a:noFill/>
          <a:ln w="12700">
            <a:solidFill>
              <a:schemeClr val="tx1"/>
            </a:solidFill>
            <a:prstDash val="dash"/>
            <a:round/>
            <a:headEnd/>
            <a:tailEnd/>
          </a:ln>
        </p:spPr>
        <p:txBody>
          <a:bodyPr/>
          <a:lstStyle/>
          <a:p>
            <a:endParaRPr lang="en-US" dirty="0"/>
          </a:p>
        </p:txBody>
      </p:sp>
      <p:sp>
        <p:nvSpPr>
          <p:cNvPr id="51" name="Line 8">
            <a:extLst>
              <a:ext uri="{FF2B5EF4-FFF2-40B4-BE49-F238E27FC236}">
                <a16:creationId xmlns:a16="http://schemas.microsoft.com/office/drawing/2014/main" id="{13673649-5473-DE22-6702-27732CF1D9CD}"/>
              </a:ext>
            </a:extLst>
          </p:cNvPr>
          <p:cNvSpPr>
            <a:spLocks noChangeShapeType="1"/>
          </p:cNvSpPr>
          <p:nvPr/>
        </p:nvSpPr>
        <p:spPr bwMode="auto">
          <a:xfrm>
            <a:off x="1363663" y="3586479"/>
            <a:ext cx="1531938" cy="1272"/>
          </a:xfrm>
          <a:prstGeom prst="line">
            <a:avLst/>
          </a:prstGeom>
          <a:noFill/>
          <a:ln w="12700">
            <a:solidFill>
              <a:schemeClr val="tx1"/>
            </a:solidFill>
            <a:prstDash val="dash"/>
            <a:round/>
            <a:headEnd/>
            <a:tailEnd/>
          </a:ln>
        </p:spPr>
        <p:txBody>
          <a:bodyPr/>
          <a:lstStyle/>
          <a:p>
            <a:endParaRPr lang="en-US"/>
          </a:p>
        </p:txBody>
      </p:sp>
      <p:sp>
        <p:nvSpPr>
          <p:cNvPr id="52" name="Line 6">
            <a:extLst>
              <a:ext uri="{FF2B5EF4-FFF2-40B4-BE49-F238E27FC236}">
                <a16:creationId xmlns:a16="http://schemas.microsoft.com/office/drawing/2014/main" id="{C290F5E0-3A0D-5489-1570-9BCE650662E6}"/>
              </a:ext>
            </a:extLst>
          </p:cNvPr>
          <p:cNvSpPr>
            <a:spLocks noChangeShapeType="1"/>
          </p:cNvSpPr>
          <p:nvPr/>
        </p:nvSpPr>
        <p:spPr bwMode="auto">
          <a:xfrm flipH="1" flipV="1">
            <a:off x="2122488" y="4613274"/>
            <a:ext cx="11112" cy="1031873"/>
          </a:xfrm>
          <a:prstGeom prst="line">
            <a:avLst/>
          </a:prstGeom>
          <a:noFill/>
          <a:ln w="12700">
            <a:solidFill>
              <a:schemeClr val="tx1"/>
            </a:solidFill>
            <a:prstDash val="dash"/>
            <a:round/>
            <a:headEnd/>
            <a:tailEnd/>
          </a:ln>
        </p:spPr>
        <p:txBody>
          <a:bodyPr/>
          <a:lstStyle/>
          <a:p>
            <a:endParaRPr lang="en-US" dirty="0"/>
          </a:p>
        </p:txBody>
      </p:sp>
      <p:sp>
        <p:nvSpPr>
          <p:cNvPr id="53" name="Line 6">
            <a:extLst>
              <a:ext uri="{FF2B5EF4-FFF2-40B4-BE49-F238E27FC236}">
                <a16:creationId xmlns:a16="http://schemas.microsoft.com/office/drawing/2014/main" id="{E6673570-CD58-6C0A-E4B5-49B0FD4C403D}"/>
              </a:ext>
            </a:extLst>
          </p:cNvPr>
          <p:cNvSpPr>
            <a:spLocks noChangeShapeType="1"/>
          </p:cNvSpPr>
          <p:nvPr/>
        </p:nvSpPr>
        <p:spPr bwMode="auto">
          <a:xfrm flipH="1" flipV="1">
            <a:off x="2886076" y="3586478"/>
            <a:ext cx="9526" cy="2030094"/>
          </a:xfrm>
          <a:prstGeom prst="line">
            <a:avLst/>
          </a:prstGeom>
          <a:noFill/>
          <a:ln w="12700">
            <a:solidFill>
              <a:schemeClr val="tx1"/>
            </a:solidFill>
            <a:prstDash val="dash"/>
            <a:round/>
            <a:headEnd/>
            <a:tailEnd/>
          </a:ln>
        </p:spPr>
        <p:txBody>
          <a:bodyPr/>
          <a:lstStyle/>
          <a:p>
            <a:endParaRPr lang="en-US"/>
          </a:p>
        </p:txBody>
      </p:sp>
      <p:sp>
        <p:nvSpPr>
          <p:cNvPr id="54" name="Line 6">
            <a:extLst>
              <a:ext uri="{FF2B5EF4-FFF2-40B4-BE49-F238E27FC236}">
                <a16:creationId xmlns:a16="http://schemas.microsoft.com/office/drawing/2014/main" id="{A4E9BD92-4A0A-0E17-5687-49CA7ACE70F4}"/>
              </a:ext>
            </a:extLst>
          </p:cNvPr>
          <p:cNvSpPr>
            <a:spLocks noChangeShapeType="1"/>
          </p:cNvSpPr>
          <p:nvPr/>
        </p:nvSpPr>
        <p:spPr bwMode="auto">
          <a:xfrm flipH="1" flipV="1">
            <a:off x="3635381" y="2052321"/>
            <a:ext cx="22219" cy="3564252"/>
          </a:xfrm>
          <a:prstGeom prst="line">
            <a:avLst/>
          </a:prstGeom>
          <a:noFill/>
          <a:ln w="12700">
            <a:solidFill>
              <a:schemeClr val="tx1"/>
            </a:solidFill>
            <a:prstDash val="dash"/>
            <a:round/>
            <a:headEnd/>
            <a:tailEnd/>
          </a:ln>
        </p:spPr>
        <p:txBody>
          <a:bodyPr/>
          <a:lstStyle/>
          <a:p>
            <a:endParaRPr lang="en-US"/>
          </a:p>
        </p:txBody>
      </p:sp>
      <p:sp>
        <p:nvSpPr>
          <p:cNvPr id="2" name="Footer Placeholder 1">
            <a:extLst>
              <a:ext uri="{FF2B5EF4-FFF2-40B4-BE49-F238E27FC236}">
                <a16:creationId xmlns:a16="http://schemas.microsoft.com/office/drawing/2014/main" id="{551D69AE-DC00-2B51-684E-397A5E3D7A1E}"/>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0287210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upRight)">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4189"/>
                                        </p:tgtEl>
                                        <p:attrNameLst>
                                          <p:attrName>style.visibility</p:attrName>
                                        </p:attrNameLst>
                                      </p:cBhvr>
                                      <p:to>
                                        <p:strVal val="visible"/>
                                      </p:to>
                                    </p:set>
                                    <p:animEffect transition="in" filter="fade">
                                      <p:cBhvr>
                                        <p:cTn id="12" dur="500"/>
                                        <p:tgtEl>
                                          <p:spTgt spid="134189"/>
                                        </p:tgtEl>
                                      </p:cBhvr>
                                    </p:animEffect>
                                  </p:childTnLst>
                                </p:cTn>
                              </p:par>
                              <p:par>
                                <p:cTn id="13" presetID="18" presetClass="entr" presetSubtype="12" fill="hold" grpId="0" nodeType="withEffect">
                                  <p:stCondLst>
                                    <p:cond delay="0"/>
                                  </p:stCondLst>
                                  <p:childTnLst>
                                    <p:set>
                                      <p:cBhvr>
                                        <p:cTn id="14" dur="1" fill="hold">
                                          <p:stCondLst>
                                            <p:cond delay="0"/>
                                          </p:stCondLst>
                                        </p:cTn>
                                        <p:tgtEl>
                                          <p:spTgt spid="134188"/>
                                        </p:tgtEl>
                                        <p:attrNameLst>
                                          <p:attrName>style.visibility</p:attrName>
                                        </p:attrNameLst>
                                      </p:cBhvr>
                                      <p:to>
                                        <p:strVal val="visible"/>
                                      </p:to>
                                    </p:set>
                                    <p:animEffect transition="in" filter="strips(downLeft)">
                                      <p:cBhvr>
                                        <p:cTn id="15" dur="500"/>
                                        <p:tgtEl>
                                          <p:spTgt spid="13418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134189"/>
                                        </p:tgtEl>
                                      </p:cBhvr>
                                    </p:animEffect>
                                    <p:set>
                                      <p:cBhvr>
                                        <p:cTn id="20" dur="1" fill="hold">
                                          <p:stCondLst>
                                            <p:cond delay="499"/>
                                          </p:stCondLst>
                                        </p:cTn>
                                        <p:tgtEl>
                                          <p:spTgt spid="134189"/>
                                        </p:tgtEl>
                                        <p:attrNameLst>
                                          <p:attrName>style.visibility</p:attrName>
                                        </p:attrNameLst>
                                      </p:cBhvr>
                                      <p:to>
                                        <p:strVal val="hidden"/>
                                      </p:to>
                                    </p:set>
                                  </p:childTnLst>
                                </p:cTn>
                              </p:par>
                              <p:par>
                                <p:cTn id="21" presetID="10" presetClass="exit" presetSubtype="0" fill="hold" grpId="1" nodeType="withEffect">
                                  <p:stCondLst>
                                    <p:cond delay="0"/>
                                  </p:stCondLst>
                                  <p:childTnLst>
                                    <p:animEffect transition="out" filter="fade">
                                      <p:cBhvr>
                                        <p:cTn id="22" dur="500"/>
                                        <p:tgtEl>
                                          <p:spTgt spid="134188"/>
                                        </p:tgtEl>
                                      </p:cBhvr>
                                    </p:animEffect>
                                    <p:set>
                                      <p:cBhvr>
                                        <p:cTn id="23" dur="1" fill="hold">
                                          <p:stCondLst>
                                            <p:cond delay="499"/>
                                          </p:stCondLst>
                                        </p:cTn>
                                        <p:tgtEl>
                                          <p:spTgt spid="134188"/>
                                        </p:tgtEl>
                                        <p:attrNameLst>
                                          <p:attrName>style.visibility</p:attrName>
                                        </p:attrNameLst>
                                      </p:cBhvr>
                                      <p:to>
                                        <p:strVal val="hidden"/>
                                      </p:to>
                                    </p:se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134190"/>
                                        </p:tgtEl>
                                        <p:attrNameLst>
                                          <p:attrName>style.visibility</p:attrName>
                                        </p:attrNameLst>
                                      </p:cBhvr>
                                      <p:to>
                                        <p:strVal val="visible"/>
                                      </p:to>
                                    </p:set>
                                    <p:animEffect transition="in" filter="fade">
                                      <p:cBhvr>
                                        <p:cTn id="27" dur="500"/>
                                        <p:tgtEl>
                                          <p:spTgt spid="134190"/>
                                        </p:tgtEl>
                                      </p:cBhvr>
                                    </p:animEffect>
                                  </p:childTnLst>
                                </p:cTn>
                              </p:par>
                              <p:par>
                                <p:cTn id="28" presetID="18" presetClass="entr" presetSubtype="12" fill="hold" grpId="0" nodeType="withEffect">
                                  <p:stCondLst>
                                    <p:cond delay="0"/>
                                  </p:stCondLst>
                                  <p:childTnLst>
                                    <p:set>
                                      <p:cBhvr>
                                        <p:cTn id="29" dur="1" fill="hold">
                                          <p:stCondLst>
                                            <p:cond delay="0"/>
                                          </p:stCondLst>
                                        </p:cTn>
                                        <p:tgtEl>
                                          <p:spTgt spid="134193"/>
                                        </p:tgtEl>
                                        <p:attrNameLst>
                                          <p:attrName>style.visibility</p:attrName>
                                        </p:attrNameLst>
                                      </p:cBhvr>
                                      <p:to>
                                        <p:strVal val="visible"/>
                                      </p:to>
                                    </p:set>
                                    <p:animEffect transition="in" filter="strips(downLeft)">
                                      <p:cBhvr>
                                        <p:cTn id="30" dur="500"/>
                                        <p:tgtEl>
                                          <p:spTgt spid="134193"/>
                                        </p:tgtEl>
                                      </p:cBhvr>
                                    </p:animEffect>
                                  </p:childTnLst>
                                </p:cTn>
                              </p:par>
                            </p:childTnLst>
                          </p:cTn>
                        </p:par>
                        <p:par>
                          <p:cTn id="31" fill="hold">
                            <p:stCondLst>
                              <p:cond delay="1000"/>
                            </p:stCondLst>
                            <p:childTnLst>
                              <p:par>
                                <p:cTn id="32" presetID="22" presetClass="entr" presetSubtype="4" fill="hold" grpId="0" nodeType="after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wipe(down)">
                                      <p:cBhvr>
                                        <p:cTn id="34" dur="500"/>
                                        <p:tgtEl>
                                          <p:spTgt spid="52"/>
                                        </p:tgtEl>
                                      </p:cBhvr>
                                    </p:animEffect>
                                  </p:childTnLst>
                                </p:cTn>
                              </p:par>
                            </p:childTnLst>
                          </p:cTn>
                        </p:par>
                        <p:par>
                          <p:cTn id="35" fill="hold">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wipe(left)">
                                      <p:cBhvr>
                                        <p:cTn id="38" dur="500"/>
                                        <p:tgtEl>
                                          <p:spTgt spid="5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grpId="1" nodeType="clickEffect">
                                  <p:stCondLst>
                                    <p:cond delay="0"/>
                                  </p:stCondLst>
                                  <p:childTnLst>
                                    <p:animEffect transition="out" filter="fade">
                                      <p:cBhvr>
                                        <p:cTn id="42" dur="500"/>
                                        <p:tgtEl>
                                          <p:spTgt spid="134190"/>
                                        </p:tgtEl>
                                      </p:cBhvr>
                                    </p:animEffect>
                                    <p:set>
                                      <p:cBhvr>
                                        <p:cTn id="43" dur="1" fill="hold">
                                          <p:stCondLst>
                                            <p:cond delay="499"/>
                                          </p:stCondLst>
                                        </p:cTn>
                                        <p:tgtEl>
                                          <p:spTgt spid="134190"/>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500"/>
                                        <p:tgtEl>
                                          <p:spTgt spid="134193"/>
                                        </p:tgtEl>
                                      </p:cBhvr>
                                    </p:animEffect>
                                    <p:set>
                                      <p:cBhvr>
                                        <p:cTn id="46" dur="1" fill="hold">
                                          <p:stCondLst>
                                            <p:cond delay="499"/>
                                          </p:stCondLst>
                                        </p:cTn>
                                        <p:tgtEl>
                                          <p:spTgt spid="134193"/>
                                        </p:tgtEl>
                                        <p:attrNameLst>
                                          <p:attrName>style.visibility</p:attrName>
                                        </p:attrNameLst>
                                      </p:cBhvr>
                                      <p:to>
                                        <p:strVal val="hidden"/>
                                      </p:to>
                                    </p:set>
                                  </p:childTnLst>
                                </p:cTn>
                              </p:par>
                            </p:childTnLst>
                          </p:cTn>
                        </p:par>
                        <p:par>
                          <p:cTn id="47" fill="hold">
                            <p:stCondLst>
                              <p:cond delay="500"/>
                            </p:stCondLst>
                            <p:childTnLst>
                              <p:par>
                                <p:cTn id="48" presetID="10" presetClass="entr" presetSubtype="0" fill="hold" grpId="0" nodeType="afterEffect">
                                  <p:stCondLst>
                                    <p:cond delay="0"/>
                                  </p:stCondLst>
                                  <p:childTnLst>
                                    <p:set>
                                      <p:cBhvr>
                                        <p:cTn id="49" dur="1" fill="hold">
                                          <p:stCondLst>
                                            <p:cond delay="0"/>
                                          </p:stCondLst>
                                        </p:cTn>
                                        <p:tgtEl>
                                          <p:spTgt spid="134191"/>
                                        </p:tgtEl>
                                        <p:attrNameLst>
                                          <p:attrName>style.visibility</p:attrName>
                                        </p:attrNameLst>
                                      </p:cBhvr>
                                      <p:to>
                                        <p:strVal val="visible"/>
                                      </p:to>
                                    </p:set>
                                    <p:animEffect transition="in" filter="fade">
                                      <p:cBhvr>
                                        <p:cTn id="50" dur="500"/>
                                        <p:tgtEl>
                                          <p:spTgt spid="134191"/>
                                        </p:tgtEl>
                                      </p:cBhvr>
                                    </p:animEffect>
                                  </p:childTnLst>
                                </p:cTn>
                              </p:par>
                              <p:par>
                                <p:cTn id="51" presetID="18" presetClass="entr" presetSubtype="12" fill="hold" grpId="0" nodeType="withEffect">
                                  <p:stCondLst>
                                    <p:cond delay="0"/>
                                  </p:stCondLst>
                                  <p:childTnLst>
                                    <p:set>
                                      <p:cBhvr>
                                        <p:cTn id="52" dur="1" fill="hold">
                                          <p:stCondLst>
                                            <p:cond delay="0"/>
                                          </p:stCondLst>
                                        </p:cTn>
                                        <p:tgtEl>
                                          <p:spTgt spid="134194"/>
                                        </p:tgtEl>
                                        <p:attrNameLst>
                                          <p:attrName>style.visibility</p:attrName>
                                        </p:attrNameLst>
                                      </p:cBhvr>
                                      <p:to>
                                        <p:strVal val="visible"/>
                                      </p:to>
                                    </p:set>
                                    <p:animEffect transition="in" filter="strips(downLeft)">
                                      <p:cBhvr>
                                        <p:cTn id="53" dur="500"/>
                                        <p:tgtEl>
                                          <p:spTgt spid="134194"/>
                                        </p:tgtEl>
                                      </p:cBhvr>
                                    </p:animEffect>
                                  </p:childTnLst>
                                </p:cTn>
                              </p:par>
                            </p:childTnLst>
                          </p:cTn>
                        </p:par>
                        <p:par>
                          <p:cTn id="54" fill="hold">
                            <p:stCondLst>
                              <p:cond delay="1000"/>
                            </p:stCondLst>
                            <p:childTnLst>
                              <p:par>
                                <p:cTn id="55" presetID="22" presetClass="entr" presetSubtype="4" fill="hold" grpId="0"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wipe(down)">
                                      <p:cBhvr>
                                        <p:cTn id="57" dur="500"/>
                                        <p:tgtEl>
                                          <p:spTgt spid="53"/>
                                        </p:tgtEl>
                                      </p:cBhvr>
                                    </p:animEffect>
                                  </p:childTnLst>
                                </p:cTn>
                              </p:par>
                            </p:childTnLst>
                          </p:cTn>
                        </p:par>
                        <p:par>
                          <p:cTn id="58" fill="hold">
                            <p:stCondLst>
                              <p:cond delay="1500"/>
                            </p:stCondLst>
                            <p:childTnLst>
                              <p:par>
                                <p:cTn id="59" presetID="22" presetClass="entr" presetSubtype="8" fill="hold" grpId="0" nodeType="after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wipe(left)">
                                      <p:cBhvr>
                                        <p:cTn id="61" dur="500"/>
                                        <p:tgtEl>
                                          <p:spTgt spid="4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grpId="1" nodeType="clickEffect">
                                  <p:stCondLst>
                                    <p:cond delay="0"/>
                                  </p:stCondLst>
                                  <p:childTnLst>
                                    <p:animEffect transition="out" filter="fade">
                                      <p:cBhvr>
                                        <p:cTn id="65" dur="500"/>
                                        <p:tgtEl>
                                          <p:spTgt spid="134191"/>
                                        </p:tgtEl>
                                      </p:cBhvr>
                                    </p:animEffect>
                                    <p:set>
                                      <p:cBhvr>
                                        <p:cTn id="66" dur="1" fill="hold">
                                          <p:stCondLst>
                                            <p:cond delay="499"/>
                                          </p:stCondLst>
                                        </p:cTn>
                                        <p:tgtEl>
                                          <p:spTgt spid="134191"/>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500"/>
                                        <p:tgtEl>
                                          <p:spTgt spid="134194"/>
                                        </p:tgtEl>
                                      </p:cBhvr>
                                    </p:animEffect>
                                    <p:set>
                                      <p:cBhvr>
                                        <p:cTn id="69" dur="1" fill="hold">
                                          <p:stCondLst>
                                            <p:cond delay="499"/>
                                          </p:stCondLst>
                                        </p:cTn>
                                        <p:tgtEl>
                                          <p:spTgt spid="134194"/>
                                        </p:tgtEl>
                                        <p:attrNameLst>
                                          <p:attrName>style.visibility</p:attrName>
                                        </p:attrNameLst>
                                      </p:cBhvr>
                                      <p:to>
                                        <p:strVal val="hidden"/>
                                      </p:to>
                                    </p:set>
                                  </p:childTnLst>
                                </p:cTn>
                              </p:par>
                            </p:childTnLst>
                          </p:cTn>
                        </p:par>
                        <p:par>
                          <p:cTn id="70" fill="hold">
                            <p:stCondLst>
                              <p:cond delay="500"/>
                            </p:stCondLst>
                            <p:childTnLst>
                              <p:par>
                                <p:cTn id="71" presetID="10" presetClass="entr" presetSubtype="0" fill="hold" grpId="0" nodeType="afterEffect">
                                  <p:stCondLst>
                                    <p:cond delay="0"/>
                                  </p:stCondLst>
                                  <p:childTnLst>
                                    <p:set>
                                      <p:cBhvr>
                                        <p:cTn id="72" dur="1" fill="hold">
                                          <p:stCondLst>
                                            <p:cond delay="0"/>
                                          </p:stCondLst>
                                        </p:cTn>
                                        <p:tgtEl>
                                          <p:spTgt spid="134192"/>
                                        </p:tgtEl>
                                        <p:attrNameLst>
                                          <p:attrName>style.visibility</p:attrName>
                                        </p:attrNameLst>
                                      </p:cBhvr>
                                      <p:to>
                                        <p:strVal val="visible"/>
                                      </p:to>
                                    </p:set>
                                    <p:animEffect transition="in" filter="fade">
                                      <p:cBhvr>
                                        <p:cTn id="73" dur="500"/>
                                        <p:tgtEl>
                                          <p:spTgt spid="134192"/>
                                        </p:tgtEl>
                                      </p:cBhvr>
                                    </p:animEffect>
                                  </p:childTnLst>
                                </p:cTn>
                              </p:par>
                              <p:par>
                                <p:cTn id="74" presetID="18" presetClass="entr" presetSubtype="12" fill="hold" grpId="0" nodeType="withEffect">
                                  <p:stCondLst>
                                    <p:cond delay="0"/>
                                  </p:stCondLst>
                                  <p:childTnLst>
                                    <p:set>
                                      <p:cBhvr>
                                        <p:cTn id="75" dur="1" fill="hold">
                                          <p:stCondLst>
                                            <p:cond delay="0"/>
                                          </p:stCondLst>
                                        </p:cTn>
                                        <p:tgtEl>
                                          <p:spTgt spid="134195"/>
                                        </p:tgtEl>
                                        <p:attrNameLst>
                                          <p:attrName>style.visibility</p:attrName>
                                        </p:attrNameLst>
                                      </p:cBhvr>
                                      <p:to>
                                        <p:strVal val="visible"/>
                                      </p:to>
                                    </p:set>
                                    <p:animEffect transition="in" filter="strips(downLeft)">
                                      <p:cBhvr>
                                        <p:cTn id="76" dur="500"/>
                                        <p:tgtEl>
                                          <p:spTgt spid="134195"/>
                                        </p:tgtEl>
                                      </p:cBhvr>
                                    </p:animEffect>
                                  </p:childTnLst>
                                </p:cTn>
                              </p:par>
                            </p:childTnLst>
                          </p:cTn>
                        </p:par>
                        <p:par>
                          <p:cTn id="77" fill="hold">
                            <p:stCondLst>
                              <p:cond delay="1000"/>
                            </p:stCondLst>
                            <p:childTnLst>
                              <p:par>
                                <p:cTn id="78" presetID="22" presetClass="entr" presetSubtype="4" fill="hold" grpId="0" nodeType="afterEffect">
                                  <p:stCondLst>
                                    <p:cond delay="0"/>
                                  </p:stCondLst>
                                  <p:childTnLst>
                                    <p:set>
                                      <p:cBhvr>
                                        <p:cTn id="79" dur="1" fill="hold">
                                          <p:stCondLst>
                                            <p:cond delay="0"/>
                                          </p:stCondLst>
                                        </p:cTn>
                                        <p:tgtEl>
                                          <p:spTgt spid="54"/>
                                        </p:tgtEl>
                                        <p:attrNameLst>
                                          <p:attrName>style.visibility</p:attrName>
                                        </p:attrNameLst>
                                      </p:cBhvr>
                                      <p:to>
                                        <p:strVal val="visible"/>
                                      </p:to>
                                    </p:set>
                                    <p:animEffect transition="in" filter="wipe(down)">
                                      <p:cBhvr>
                                        <p:cTn id="80" dur="500"/>
                                        <p:tgtEl>
                                          <p:spTgt spid="5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xit" presetSubtype="0" fill="hold" grpId="1" nodeType="clickEffect">
                                  <p:stCondLst>
                                    <p:cond delay="0"/>
                                  </p:stCondLst>
                                  <p:childTnLst>
                                    <p:animEffect transition="out" filter="fade">
                                      <p:cBhvr>
                                        <p:cTn id="84" dur="500"/>
                                        <p:tgtEl>
                                          <p:spTgt spid="134192"/>
                                        </p:tgtEl>
                                      </p:cBhvr>
                                    </p:animEffect>
                                    <p:set>
                                      <p:cBhvr>
                                        <p:cTn id="85" dur="1" fill="hold">
                                          <p:stCondLst>
                                            <p:cond delay="499"/>
                                          </p:stCondLst>
                                        </p:cTn>
                                        <p:tgtEl>
                                          <p:spTgt spid="134192"/>
                                        </p:tgtEl>
                                        <p:attrNameLst>
                                          <p:attrName>style.visibility</p:attrName>
                                        </p:attrNameLst>
                                      </p:cBhvr>
                                      <p:to>
                                        <p:strVal val="hidden"/>
                                      </p:to>
                                    </p:set>
                                  </p:childTnLst>
                                </p:cTn>
                              </p:par>
                              <p:par>
                                <p:cTn id="86" presetID="10" presetClass="exit" presetSubtype="0" fill="hold" grpId="1" nodeType="withEffect">
                                  <p:stCondLst>
                                    <p:cond delay="0"/>
                                  </p:stCondLst>
                                  <p:childTnLst>
                                    <p:animEffect transition="out" filter="fade">
                                      <p:cBhvr>
                                        <p:cTn id="87" dur="500"/>
                                        <p:tgtEl>
                                          <p:spTgt spid="134195"/>
                                        </p:tgtEl>
                                      </p:cBhvr>
                                    </p:animEffect>
                                    <p:set>
                                      <p:cBhvr>
                                        <p:cTn id="88" dur="1" fill="hold">
                                          <p:stCondLst>
                                            <p:cond delay="499"/>
                                          </p:stCondLst>
                                        </p:cTn>
                                        <p:tgtEl>
                                          <p:spTgt spid="1341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88" grpId="0" animBg="1"/>
      <p:bldP spid="134188" grpId="1" animBg="1"/>
      <p:bldP spid="134189" grpId="0" animBg="1"/>
      <p:bldP spid="134189" grpId="1" animBg="1"/>
      <p:bldP spid="134190" grpId="0" animBg="1"/>
      <p:bldP spid="134190" grpId="1" animBg="1"/>
      <p:bldP spid="134191" grpId="0" animBg="1"/>
      <p:bldP spid="134191" grpId="1" animBg="1"/>
      <p:bldP spid="134192" grpId="0" animBg="1"/>
      <p:bldP spid="134192" grpId="1" animBg="1"/>
      <p:bldP spid="134193" grpId="0" animBg="1"/>
      <p:bldP spid="134193" grpId="1" animBg="1"/>
      <p:bldP spid="134194" grpId="0" animBg="1"/>
      <p:bldP spid="134194" grpId="1" animBg="1"/>
      <p:bldP spid="134195" grpId="0" animBg="1"/>
      <p:bldP spid="134195" grpId="1" animBg="1"/>
      <p:bldP spid="49" grpId="0" animBg="1"/>
      <p:bldP spid="51" grpId="0" animBg="1"/>
      <p:bldP spid="52" grpId="0" animBg="1"/>
      <p:bldP spid="53" grpId="0" animBg="1"/>
      <p:bldP spid="5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3"/>
          <p:cNvSpPr>
            <a:spLocks noGrp="1" noChangeArrowheads="1"/>
          </p:cNvSpPr>
          <p:nvPr>
            <p:ph type="title"/>
          </p:nvPr>
        </p:nvSpPr>
        <p:spPr/>
        <p:txBody>
          <a:bodyPr/>
          <a:lstStyle/>
          <a:p>
            <a:pPr eaLnBrk="1" hangingPunct="1"/>
            <a:r>
              <a:rPr lang="en-US" dirty="0"/>
              <a:t>EXAMPLE 3B: </a:t>
            </a:r>
            <a:r>
              <a:rPr lang="en-US" dirty="0">
                <a:solidFill>
                  <a:schemeClr val="tx1"/>
                </a:solidFill>
              </a:rPr>
              <a:t>The supply curve – 2 </a:t>
            </a:r>
          </a:p>
        </p:txBody>
      </p:sp>
      <p:sp>
        <p:nvSpPr>
          <p:cNvPr id="5" name="Text Placeholder 4"/>
          <p:cNvSpPr>
            <a:spLocks noGrp="1"/>
          </p:cNvSpPr>
          <p:nvPr>
            <p:ph idx="1"/>
          </p:nvPr>
        </p:nvSpPr>
        <p:spPr>
          <a:xfrm>
            <a:off x="5719763" y="979488"/>
            <a:ext cx="3305596" cy="5316537"/>
          </a:xfrm>
        </p:spPr>
        <p:txBody>
          <a:bodyPr/>
          <a:lstStyle/>
          <a:p>
            <a:pPr marL="0" indent="0">
              <a:buNone/>
            </a:pPr>
            <a:r>
              <a:rPr lang="en-US" sz="2800" dirty="0">
                <a:cs typeface="Arial"/>
              </a:rPr>
              <a:t>At each </a:t>
            </a:r>
            <a:r>
              <a:rPr lang="en-US" sz="2800" b="1" i="1" dirty="0">
                <a:cs typeface="Arial"/>
              </a:rPr>
              <a:t>Q</a:t>
            </a:r>
            <a:r>
              <a:rPr lang="en-US" sz="2800" dirty="0">
                <a:cs typeface="Arial"/>
              </a:rPr>
              <a:t>, the height of the </a:t>
            </a:r>
            <a:r>
              <a:rPr lang="en-US" sz="2800" b="1" i="1" dirty="0">
                <a:cs typeface="Arial"/>
              </a:rPr>
              <a:t>S</a:t>
            </a:r>
            <a:r>
              <a:rPr lang="en-US" sz="2800" dirty="0">
                <a:cs typeface="Arial"/>
              </a:rPr>
              <a:t> curve is the cost of the </a:t>
            </a:r>
            <a:r>
              <a:rPr lang="en-US" sz="2800" b="1" i="1" dirty="0">
                <a:solidFill>
                  <a:srgbClr val="C00000"/>
                </a:solidFill>
                <a:cs typeface="Arial"/>
              </a:rPr>
              <a:t>marginal seller</a:t>
            </a:r>
            <a:r>
              <a:rPr lang="en-US" sz="2800" dirty="0">
                <a:cs typeface="Arial"/>
              </a:rPr>
              <a:t>, </a:t>
            </a:r>
            <a:r>
              <a:rPr lang="en-US" sz="2800" dirty="0">
                <a:solidFill>
                  <a:srgbClr val="4E519E"/>
                </a:solidFill>
                <a:cs typeface="Arial"/>
              </a:rPr>
              <a:t>the seller who would leave the market if the price were any lower.</a:t>
            </a:r>
          </a:p>
          <a:p>
            <a:endParaRPr lang="en-US" sz="2800" dirty="0"/>
          </a:p>
        </p:txBody>
      </p:sp>
      <p:sp>
        <p:nvSpPr>
          <p:cNvPr id="7" name="Slide Number Placeholder 6"/>
          <p:cNvSpPr>
            <a:spLocks noGrp="1"/>
          </p:cNvSpPr>
          <p:nvPr>
            <p:ph type="sldNum" sz="quarter" idx="10"/>
          </p:nvPr>
        </p:nvSpPr>
        <p:spPr/>
        <p:txBody>
          <a:bodyPr/>
          <a:lstStyle/>
          <a:p>
            <a:pPr>
              <a:defRPr/>
            </a:pPr>
            <a:fld id="{2F37425F-5E17-4209-B948-B5CE2119E408}" type="slidenum">
              <a:rPr lang="en-US" smtClean="0"/>
              <a:pPr>
                <a:defRPr/>
              </a:pPr>
              <a:t>23</a:t>
            </a:fld>
            <a:endParaRPr lang="en-US" dirty="0"/>
          </a:p>
        </p:txBody>
      </p:sp>
      <p:sp>
        <p:nvSpPr>
          <p:cNvPr id="146451" name="Text Box 19"/>
          <p:cNvSpPr txBox="1">
            <a:spLocks noChangeArrowheads="1"/>
          </p:cNvSpPr>
          <p:nvPr/>
        </p:nvSpPr>
        <p:spPr bwMode="auto">
          <a:xfrm>
            <a:off x="6059488" y="1285875"/>
            <a:ext cx="2759075" cy="483337"/>
          </a:xfrm>
          <a:prstGeom prst="rect">
            <a:avLst/>
          </a:prstGeom>
          <a:noFill/>
          <a:ln w="9525">
            <a:noFill/>
            <a:miter lim="800000"/>
            <a:headEnd/>
            <a:tailEnd/>
          </a:ln>
        </p:spPr>
        <p:txBody>
          <a:bodyPr>
            <a:spAutoFit/>
          </a:bodyPr>
          <a:lstStyle/>
          <a:p>
            <a:pPr>
              <a:lnSpc>
                <a:spcPct val="105000"/>
              </a:lnSpc>
              <a:spcBef>
                <a:spcPct val="40000"/>
              </a:spcBef>
            </a:pPr>
            <a:endParaRPr lang="en-US" sz="2600" dirty="0">
              <a:latin typeface="Arial"/>
              <a:cs typeface="Arial"/>
            </a:endParaRPr>
          </a:p>
        </p:txBody>
      </p:sp>
      <p:grpSp>
        <p:nvGrpSpPr>
          <p:cNvPr id="2" name="Group 23"/>
          <p:cNvGrpSpPr>
            <a:grpSpLocks/>
          </p:cNvGrpSpPr>
          <p:nvPr/>
        </p:nvGrpSpPr>
        <p:grpSpPr bwMode="auto">
          <a:xfrm>
            <a:off x="3687115" y="1612446"/>
            <a:ext cx="1836738" cy="863600"/>
            <a:chOff x="2446" y="1110"/>
            <a:chExt cx="1157" cy="544"/>
          </a:xfrm>
        </p:grpSpPr>
        <p:sp>
          <p:nvSpPr>
            <p:cNvPr id="13335" name="Line 24"/>
            <p:cNvSpPr>
              <a:spLocks noChangeShapeType="1"/>
            </p:cNvSpPr>
            <p:nvPr/>
          </p:nvSpPr>
          <p:spPr bwMode="auto">
            <a:xfrm flipH="1">
              <a:off x="2446" y="1387"/>
              <a:ext cx="337" cy="0"/>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13336" name="Text Box 25"/>
            <p:cNvSpPr txBox="1">
              <a:spLocks noChangeArrowheads="1"/>
            </p:cNvSpPr>
            <p:nvPr/>
          </p:nvSpPr>
          <p:spPr bwMode="auto">
            <a:xfrm>
              <a:off x="2668" y="1110"/>
              <a:ext cx="935" cy="544"/>
            </a:xfrm>
            <a:prstGeom prst="rect">
              <a:avLst/>
            </a:prstGeom>
            <a:solidFill>
              <a:srgbClr val="E3F0FA"/>
            </a:solidFill>
            <a:ln w="9525">
              <a:solidFill>
                <a:srgbClr val="4E519E"/>
              </a:solidFill>
              <a:miter lim="800000"/>
              <a:headEnd/>
              <a:tailEnd/>
            </a:ln>
          </p:spPr>
          <p:txBody>
            <a:bodyPr>
              <a:spAutoFit/>
            </a:bodyPr>
            <a:lstStyle/>
            <a:p>
              <a:pPr algn="ctr">
                <a:spcBef>
                  <a:spcPct val="50000"/>
                </a:spcBef>
              </a:pPr>
              <a:r>
                <a:rPr lang="en-US" sz="2500" dirty="0">
                  <a:solidFill>
                    <a:srgbClr val="4E519E"/>
                  </a:solidFill>
                  <a:latin typeface="Arial"/>
                  <a:cs typeface="Arial"/>
                </a:rPr>
                <a:t>Chris’ </a:t>
              </a:r>
              <a:br>
                <a:rPr lang="en-US" sz="2500" dirty="0">
                  <a:solidFill>
                    <a:srgbClr val="4E519E"/>
                  </a:solidFill>
                  <a:latin typeface="Arial"/>
                  <a:cs typeface="Arial"/>
                </a:rPr>
              </a:br>
              <a:r>
                <a:rPr lang="en-US" sz="2500" dirty="0">
                  <a:solidFill>
                    <a:srgbClr val="4E519E"/>
                  </a:solidFill>
                  <a:latin typeface="Arial"/>
                  <a:cs typeface="Arial"/>
                </a:rPr>
                <a:t>cost</a:t>
              </a:r>
            </a:p>
          </p:txBody>
        </p:sp>
      </p:grpSp>
      <p:grpSp>
        <p:nvGrpSpPr>
          <p:cNvPr id="3" name="Group 26"/>
          <p:cNvGrpSpPr>
            <a:grpSpLocks/>
          </p:cNvGrpSpPr>
          <p:nvPr/>
        </p:nvGrpSpPr>
        <p:grpSpPr bwMode="auto">
          <a:xfrm>
            <a:off x="2969985" y="3090408"/>
            <a:ext cx="1819275" cy="863600"/>
            <a:chOff x="1936" y="1896"/>
            <a:chExt cx="1146" cy="544"/>
          </a:xfrm>
        </p:grpSpPr>
        <p:sp>
          <p:nvSpPr>
            <p:cNvPr id="13333" name="Line 27"/>
            <p:cNvSpPr>
              <a:spLocks noChangeShapeType="1"/>
            </p:cNvSpPr>
            <p:nvPr/>
          </p:nvSpPr>
          <p:spPr bwMode="auto">
            <a:xfrm flipH="1">
              <a:off x="1936" y="2225"/>
              <a:ext cx="337" cy="0"/>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13334" name="Text Box 28"/>
            <p:cNvSpPr txBox="1">
              <a:spLocks noChangeArrowheads="1"/>
            </p:cNvSpPr>
            <p:nvPr/>
          </p:nvSpPr>
          <p:spPr bwMode="auto">
            <a:xfrm>
              <a:off x="2205" y="1896"/>
              <a:ext cx="877" cy="544"/>
            </a:xfrm>
            <a:prstGeom prst="rect">
              <a:avLst/>
            </a:prstGeom>
            <a:solidFill>
              <a:srgbClr val="E3F0FA"/>
            </a:solidFill>
            <a:ln w="9525">
              <a:solidFill>
                <a:srgbClr val="4E519E"/>
              </a:solidFill>
              <a:miter lim="800000"/>
              <a:headEnd/>
              <a:tailEnd/>
            </a:ln>
          </p:spPr>
          <p:txBody>
            <a:bodyPr>
              <a:spAutoFit/>
            </a:bodyPr>
            <a:lstStyle/>
            <a:p>
              <a:pPr algn="ctr">
                <a:spcBef>
                  <a:spcPct val="50000"/>
                </a:spcBef>
              </a:pPr>
              <a:r>
                <a:rPr lang="en-US" sz="2500" dirty="0">
                  <a:solidFill>
                    <a:srgbClr val="4E519E"/>
                  </a:solidFill>
                  <a:latin typeface="Arial"/>
                  <a:cs typeface="Arial"/>
                </a:rPr>
                <a:t>Jada’s cost</a:t>
              </a:r>
            </a:p>
          </p:txBody>
        </p:sp>
      </p:grpSp>
      <p:grpSp>
        <p:nvGrpSpPr>
          <p:cNvPr id="4" name="Group 29"/>
          <p:cNvGrpSpPr>
            <a:grpSpLocks/>
          </p:cNvGrpSpPr>
          <p:nvPr/>
        </p:nvGrpSpPr>
        <p:grpSpPr bwMode="auto">
          <a:xfrm>
            <a:off x="2192338" y="4364038"/>
            <a:ext cx="2578100" cy="482600"/>
            <a:chOff x="1426" y="2644"/>
            <a:chExt cx="1624" cy="304"/>
          </a:xfrm>
        </p:grpSpPr>
        <p:sp>
          <p:nvSpPr>
            <p:cNvPr id="13331" name="Line 30"/>
            <p:cNvSpPr>
              <a:spLocks noChangeShapeType="1"/>
            </p:cNvSpPr>
            <p:nvPr/>
          </p:nvSpPr>
          <p:spPr bwMode="auto">
            <a:xfrm flipH="1">
              <a:off x="1426" y="2796"/>
              <a:ext cx="337" cy="0"/>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13332" name="Text Box 31"/>
            <p:cNvSpPr txBox="1">
              <a:spLocks noChangeArrowheads="1"/>
            </p:cNvSpPr>
            <p:nvPr/>
          </p:nvSpPr>
          <p:spPr bwMode="auto">
            <a:xfrm>
              <a:off x="1702" y="2644"/>
              <a:ext cx="1348" cy="304"/>
            </a:xfrm>
            <a:prstGeom prst="rect">
              <a:avLst/>
            </a:prstGeom>
            <a:solidFill>
              <a:srgbClr val="E3F0FA"/>
            </a:solidFill>
            <a:ln w="9525">
              <a:solidFill>
                <a:srgbClr val="4E519E"/>
              </a:solidFill>
              <a:miter lim="800000"/>
              <a:headEnd/>
              <a:tailEnd/>
            </a:ln>
          </p:spPr>
          <p:txBody>
            <a:bodyPr>
              <a:spAutoFit/>
            </a:bodyPr>
            <a:lstStyle/>
            <a:p>
              <a:pPr algn="ctr">
                <a:spcBef>
                  <a:spcPct val="50000"/>
                </a:spcBef>
              </a:pPr>
              <a:r>
                <a:rPr lang="en-US" sz="2500" dirty="0" err="1">
                  <a:solidFill>
                    <a:srgbClr val="4E519E"/>
                  </a:solidFill>
                  <a:latin typeface="Arial"/>
                  <a:cs typeface="Arial"/>
                </a:rPr>
                <a:t>Jin’s</a:t>
              </a:r>
              <a:r>
                <a:rPr lang="en-US" sz="2500" dirty="0">
                  <a:solidFill>
                    <a:srgbClr val="4E519E"/>
                  </a:solidFill>
                  <a:latin typeface="Arial"/>
                  <a:cs typeface="Arial"/>
                </a:rPr>
                <a:t> cost</a:t>
              </a:r>
            </a:p>
          </p:txBody>
        </p:sp>
      </p:grpSp>
      <p:grpSp>
        <p:nvGrpSpPr>
          <p:cNvPr id="6" name="Group 5">
            <a:extLst>
              <a:ext uri="{FF2B5EF4-FFF2-40B4-BE49-F238E27FC236}">
                <a16:creationId xmlns:a16="http://schemas.microsoft.com/office/drawing/2014/main" id="{783BCAB2-B837-143F-A675-22BEF53E5B0C}"/>
              </a:ext>
            </a:extLst>
          </p:cNvPr>
          <p:cNvGrpSpPr/>
          <p:nvPr/>
        </p:nvGrpSpPr>
        <p:grpSpPr>
          <a:xfrm>
            <a:off x="381001" y="883443"/>
            <a:ext cx="4267199" cy="5441157"/>
            <a:chOff x="381001" y="883443"/>
            <a:chExt cx="4267199" cy="5441157"/>
          </a:xfrm>
        </p:grpSpPr>
        <p:grpSp>
          <p:nvGrpSpPr>
            <p:cNvPr id="46" name="Group 45">
              <a:extLst>
                <a:ext uri="{FF2B5EF4-FFF2-40B4-BE49-F238E27FC236}">
                  <a16:creationId xmlns:a16="http://schemas.microsoft.com/office/drawing/2014/main" id="{751B262F-D084-DA07-C4A5-58BA33C60373}"/>
                </a:ext>
              </a:extLst>
            </p:cNvPr>
            <p:cNvGrpSpPr/>
            <p:nvPr/>
          </p:nvGrpSpPr>
          <p:grpSpPr>
            <a:xfrm>
              <a:off x="381001" y="883443"/>
              <a:ext cx="4267199" cy="5441157"/>
              <a:chOff x="381001" y="654843"/>
              <a:chExt cx="4267199" cy="5441157"/>
            </a:xfrm>
          </p:grpSpPr>
          <p:graphicFrame>
            <p:nvGraphicFramePr>
              <p:cNvPr id="48" name="Content Placeholder 7">
                <a:extLst>
                  <a:ext uri="{FF2B5EF4-FFF2-40B4-BE49-F238E27FC236}">
                    <a16:creationId xmlns:a16="http://schemas.microsoft.com/office/drawing/2014/main" id="{BAF7EFA6-C972-90F7-D0B6-ECA1BE72903E}"/>
                  </a:ext>
                </a:extLst>
              </p:cNvPr>
              <p:cNvGraphicFramePr>
                <a:graphicFrameLocks/>
              </p:cNvGraphicFramePr>
              <p:nvPr>
                <p:extLst>
                  <p:ext uri="{D42A27DB-BD31-4B8C-83A1-F6EECF244321}">
                    <p14:modId xmlns:p14="http://schemas.microsoft.com/office/powerpoint/2010/main" val="1676625031"/>
                  </p:ext>
                </p:extLst>
              </p:nvPr>
            </p:nvGraphicFramePr>
            <p:xfrm>
              <a:off x="381001" y="1066800"/>
              <a:ext cx="4267199"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47" name="Text Box 4">
                <a:extLst>
                  <a:ext uri="{FF2B5EF4-FFF2-40B4-BE49-F238E27FC236}">
                    <a16:creationId xmlns:a16="http://schemas.microsoft.com/office/drawing/2014/main" id="{9CA0F0E6-A46D-20BC-99B0-EADA991F49D0}"/>
                  </a:ext>
                </a:extLst>
              </p:cNvPr>
              <p:cNvSpPr txBox="1">
                <a:spLocks noChangeArrowheads="1"/>
              </p:cNvSpPr>
              <p:nvPr/>
            </p:nvSpPr>
            <p:spPr bwMode="auto">
              <a:xfrm>
                <a:off x="965201" y="654843"/>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49" name="Text Box 5">
                <a:extLst>
                  <a:ext uri="{FF2B5EF4-FFF2-40B4-BE49-F238E27FC236}">
                    <a16:creationId xmlns:a16="http://schemas.microsoft.com/office/drawing/2014/main" id="{5F361535-DDFC-D0ED-2144-2DDFA5AB92A0}"/>
                  </a:ext>
                </a:extLst>
              </p:cNvPr>
              <p:cNvSpPr txBox="1">
                <a:spLocks noChangeArrowheads="1"/>
              </p:cNvSpPr>
              <p:nvPr/>
            </p:nvSpPr>
            <p:spPr bwMode="auto">
              <a:xfrm>
                <a:off x="4120638" y="5576887"/>
                <a:ext cx="474662" cy="519113"/>
              </a:xfrm>
              <a:prstGeom prst="rect">
                <a:avLst/>
              </a:prstGeom>
              <a:solidFill>
                <a:schemeClr val="bg1"/>
              </a:solidFill>
              <a:ln w="9525">
                <a:noFill/>
                <a:miter lim="800000"/>
                <a:headEnd/>
                <a:tailEnd/>
              </a:ln>
            </p:spPr>
            <p:txBody>
              <a:bodyPr>
                <a:spAutoFit/>
              </a:bodyPr>
              <a:lstStyle/>
              <a:p>
                <a:pPr>
                  <a:spcBef>
                    <a:spcPct val="50000"/>
                  </a:spcBef>
                </a:pPr>
                <a:r>
                  <a:rPr lang="en-US" sz="2800" b="1" i="1" dirty="0">
                    <a:latin typeface="Arial"/>
                    <a:cs typeface="Arial"/>
                  </a:rPr>
                  <a:t>Q</a:t>
                </a:r>
              </a:p>
            </p:txBody>
          </p:sp>
        </p:grpSp>
        <p:grpSp>
          <p:nvGrpSpPr>
            <p:cNvPr id="50" name="Group 42">
              <a:extLst>
                <a:ext uri="{FF2B5EF4-FFF2-40B4-BE49-F238E27FC236}">
                  <a16:creationId xmlns:a16="http://schemas.microsoft.com/office/drawing/2014/main" id="{858D99F9-11DD-1813-ABEB-4D3E05B12393}"/>
                </a:ext>
              </a:extLst>
            </p:cNvPr>
            <p:cNvGrpSpPr>
              <a:grpSpLocks/>
            </p:cNvGrpSpPr>
            <p:nvPr/>
          </p:nvGrpSpPr>
          <p:grpSpPr bwMode="auto">
            <a:xfrm>
              <a:off x="1336676" y="1371600"/>
              <a:ext cx="2320925" cy="4273550"/>
              <a:chOff x="842" y="717"/>
              <a:chExt cx="1462" cy="2692"/>
            </a:xfrm>
          </p:grpSpPr>
          <p:sp>
            <p:nvSpPr>
              <p:cNvPr id="51" name="Line 6">
                <a:extLst>
                  <a:ext uri="{FF2B5EF4-FFF2-40B4-BE49-F238E27FC236}">
                    <a16:creationId xmlns:a16="http://schemas.microsoft.com/office/drawing/2014/main" id="{69B93354-48C4-D0D2-D3F0-5D9622CCC556}"/>
                  </a:ext>
                </a:extLst>
              </p:cNvPr>
              <p:cNvSpPr>
                <a:spLocks noChangeShapeType="1"/>
              </p:cNvSpPr>
              <p:nvPr/>
            </p:nvSpPr>
            <p:spPr bwMode="auto">
              <a:xfrm flipV="1">
                <a:off x="1337" y="2121"/>
                <a:ext cx="3" cy="662"/>
              </a:xfrm>
              <a:prstGeom prst="line">
                <a:avLst/>
              </a:prstGeom>
              <a:noFill/>
              <a:ln w="57150">
                <a:solidFill>
                  <a:srgbClr val="FF0000"/>
                </a:solidFill>
                <a:round/>
                <a:headEnd/>
                <a:tailEnd/>
              </a:ln>
            </p:spPr>
            <p:txBody>
              <a:bodyPr/>
              <a:lstStyle/>
              <a:p>
                <a:endParaRPr lang="en-US"/>
              </a:p>
            </p:txBody>
          </p:sp>
          <p:sp>
            <p:nvSpPr>
              <p:cNvPr id="52" name="Line 7">
                <a:extLst>
                  <a:ext uri="{FF2B5EF4-FFF2-40B4-BE49-F238E27FC236}">
                    <a16:creationId xmlns:a16="http://schemas.microsoft.com/office/drawing/2014/main" id="{62C1218E-E8CF-0911-99D4-F6CAF795F276}"/>
                  </a:ext>
                </a:extLst>
              </p:cNvPr>
              <p:cNvSpPr>
                <a:spLocks noChangeShapeType="1"/>
              </p:cNvSpPr>
              <p:nvPr/>
            </p:nvSpPr>
            <p:spPr bwMode="auto">
              <a:xfrm flipV="1">
                <a:off x="1824" y="1152"/>
                <a:ext cx="0" cy="982"/>
              </a:xfrm>
              <a:prstGeom prst="line">
                <a:avLst/>
              </a:prstGeom>
              <a:noFill/>
              <a:ln w="57150">
                <a:solidFill>
                  <a:srgbClr val="FF0000"/>
                </a:solidFill>
                <a:round/>
                <a:headEnd/>
                <a:tailEnd/>
              </a:ln>
            </p:spPr>
            <p:txBody>
              <a:bodyPr/>
              <a:lstStyle/>
              <a:p>
                <a:endParaRPr lang="en-US"/>
              </a:p>
            </p:txBody>
          </p:sp>
          <p:sp>
            <p:nvSpPr>
              <p:cNvPr id="53" name="Line 8">
                <a:extLst>
                  <a:ext uri="{FF2B5EF4-FFF2-40B4-BE49-F238E27FC236}">
                    <a16:creationId xmlns:a16="http://schemas.microsoft.com/office/drawing/2014/main" id="{73FCDAD7-74FA-0BCA-2819-8BFB1F6557ED}"/>
                  </a:ext>
                </a:extLst>
              </p:cNvPr>
              <p:cNvSpPr>
                <a:spLocks noChangeShapeType="1"/>
              </p:cNvSpPr>
              <p:nvPr/>
            </p:nvSpPr>
            <p:spPr bwMode="auto">
              <a:xfrm flipV="1">
                <a:off x="842" y="2755"/>
                <a:ext cx="505" cy="0"/>
              </a:xfrm>
              <a:custGeom>
                <a:avLst/>
                <a:gdLst>
                  <a:gd name="connsiteX0" fmla="*/ 0 w 10000"/>
                  <a:gd name="connsiteY0" fmla="*/ 0 h 10000"/>
                  <a:gd name="connsiteX1" fmla="*/ 10000 w 10000"/>
                  <a:gd name="connsiteY1" fmla="*/ 10000 h 10000"/>
                  <a:gd name="connsiteX0" fmla="*/ 0 w 9844"/>
                  <a:gd name="connsiteY0" fmla="*/ 0 h 0"/>
                  <a:gd name="connsiteX1" fmla="*/ 9844 w 9844"/>
                  <a:gd name="connsiteY1" fmla="*/ -7620 h 0"/>
                </a:gdLst>
                <a:ahLst/>
                <a:cxnLst>
                  <a:cxn ang="0">
                    <a:pos x="connsiteX0" y="connsiteY0"/>
                  </a:cxn>
                  <a:cxn ang="0">
                    <a:pos x="connsiteX1" y="connsiteY1"/>
                  </a:cxn>
                </a:cxnLst>
                <a:rect l="l" t="t" r="r" b="b"/>
                <a:pathLst>
                  <a:path w="9844">
                    <a:moveTo>
                      <a:pt x="0" y="0"/>
                    </a:moveTo>
                    <a:cubicBezTo>
                      <a:pt x="3333" y="3333"/>
                      <a:pt x="6511" y="-10953"/>
                      <a:pt x="9844" y="-7620"/>
                    </a:cubicBezTo>
                  </a:path>
                </a:pathLst>
              </a:custGeom>
              <a:noFill/>
              <a:ln w="57150">
                <a:solidFill>
                  <a:srgbClr val="FF0000"/>
                </a:solidFill>
                <a:round/>
                <a:headEnd/>
                <a:tailEnd/>
              </a:ln>
            </p:spPr>
            <p:txBody>
              <a:bodyPr/>
              <a:lstStyle/>
              <a:p>
                <a:endParaRPr lang="en-US" dirty="0"/>
              </a:p>
            </p:txBody>
          </p:sp>
          <p:sp>
            <p:nvSpPr>
              <p:cNvPr id="54" name="Line 9">
                <a:extLst>
                  <a:ext uri="{FF2B5EF4-FFF2-40B4-BE49-F238E27FC236}">
                    <a16:creationId xmlns:a16="http://schemas.microsoft.com/office/drawing/2014/main" id="{7882FF1E-9109-F42C-2AFD-6419F1C9602E}"/>
                  </a:ext>
                </a:extLst>
              </p:cNvPr>
              <p:cNvSpPr>
                <a:spLocks noChangeShapeType="1"/>
              </p:cNvSpPr>
              <p:nvPr/>
            </p:nvSpPr>
            <p:spPr bwMode="auto">
              <a:xfrm flipH="1" flipV="1">
                <a:off x="859" y="2751"/>
                <a:ext cx="0" cy="658"/>
              </a:xfrm>
              <a:custGeom>
                <a:avLst/>
                <a:gdLst>
                  <a:gd name="connsiteX0" fmla="*/ 0 w 10000"/>
                  <a:gd name="connsiteY0" fmla="*/ 0 h 10000"/>
                  <a:gd name="connsiteX1" fmla="*/ 10000 w 10000"/>
                  <a:gd name="connsiteY1" fmla="*/ 10000 h 10000"/>
                  <a:gd name="connsiteX0" fmla="*/ 0 w 0"/>
                  <a:gd name="connsiteY0" fmla="*/ 0 h 10484"/>
                  <a:gd name="connsiteX1" fmla="*/ 2540 w 0"/>
                  <a:gd name="connsiteY1" fmla="*/ 10484 h 10484"/>
                </a:gdLst>
                <a:ahLst/>
                <a:cxnLst>
                  <a:cxn ang="0">
                    <a:pos x="connsiteX0" y="connsiteY0"/>
                  </a:cxn>
                  <a:cxn ang="0">
                    <a:pos x="connsiteX1" y="connsiteY1"/>
                  </a:cxn>
                </a:cxnLst>
                <a:rect l="l" t="t" r="r" b="b"/>
                <a:pathLst>
                  <a:path h="10484">
                    <a:moveTo>
                      <a:pt x="0" y="0"/>
                    </a:moveTo>
                    <a:cubicBezTo>
                      <a:pt x="3333" y="3333"/>
                      <a:pt x="-793" y="7151"/>
                      <a:pt x="2540" y="10484"/>
                    </a:cubicBezTo>
                  </a:path>
                </a:pathLst>
              </a:custGeom>
              <a:noFill/>
              <a:ln w="57150">
                <a:solidFill>
                  <a:srgbClr val="FF0000"/>
                </a:solidFill>
                <a:round/>
                <a:headEnd/>
                <a:tailEnd/>
              </a:ln>
            </p:spPr>
            <p:txBody>
              <a:bodyPr/>
              <a:lstStyle/>
              <a:p>
                <a:endParaRPr lang="en-US"/>
              </a:p>
            </p:txBody>
          </p:sp>
          <p:sp>
            <p:nvSpPr>
              <p:cNvPr id="55" name="Line 10">
                <a:extLst>
                  <a:ext uri="{FF2B5EF4-FFF2-40B4-BE49-F238E27FC236}">
                    <a16:creationId xmlns:a16="http://schemas.microsoft.com/office/drawing/2014/main" id="{B29FE929-D049-2D07-7E9D-3A918B38E471}"/>
                  </a:ext>
                </a:extLst>
              </p:cNvPr>
              <p:cNvSpPr>
                <a:spLocks noChangeShapeType="1"/>
              </p:cNvSpPr>
              <p:nvPr/>
            </p:nvSpPr>
            <p:spPr bwMode="auto">
              <a:xfrm>
                <a:off x="1355" y="2109"/>
                <a:ext cx="469" cy="4"/>
              </a:xfrm>
              <a:prstGeom prst="line">
                <a:avLst/>
              </a:prstGeom>
              <a:noFill/>
              <a:ln w="57150">
                <a:solidFill>
                  <a:srgbClr val="FF0000"/>
                </a:solidFill>
                <a:round/>
                <a:headEnd/>
                <a:tailEnd/>
              </a:ln>
            </p:spPr>
            <p:txBody>
              <a:bodyPr/>
              <a:lstStyle/>
              <a:p>
                <a:endParaRPr lang="en-US"/>
              </a:p>
            </p:txBody>
          </p:sp>
          <p:sp>
            <p:nvSpPr>
              <p:cNvPr id="56" name="Line 11">
                <a:extLst>
                  <a:ext uri="{FF2B5EF4-FFF2-40B4-BE49-F238E27FC236}">
                    <a16:creationId xmlns:a16="http://schemas.microsoft.com/office/drawing/2014/main" id="{31FD2292-AA95-2EAE-D169-7A7A7DDC7D9E}"/>
                  </a:ext>
                </a:extLst>
              </p:cNvPr>
              <p:cNvSpPr>
                <a:spLocks noChangeShapeType="1"/>
              </p:cNvSpPr>
              <p:nvPr/>
            </p:nvSpPr>
            <p:spPr bwMode="auto">
              <a:xfrm>
                <a:off x="1824" y="1149"/>
                <a:ext cx="480" cy="0"/>
              </a:xfrm>
              <a:prstGeom prst="line">
                <a:avLst/>
              </a:prstGeom>
              <a:noFill/>
              <a:ln w="57150">
                <a:solidFill>
                  <a:srgbClr val="FF0000"/>
                </a:solidFill>
                <a:round/>
                <a:headEnd/>
                <a:tailEnd/>
              </a:ln>
            </p:spPr>
            <p:txBody>
              <a:bodyPr/>
              <a:lstStyle/>
              <a:p>
                <a:endParaRPr lang="en-US"/>
              </a:p>
            </p:txBody>
          </p:sp>
          <p:sp>
            <p:nvSpPr>
              <p:cNvPr id="57" name="Line 12">
                <a:extLst>
                  <a:ext uri="{FF2B5EF4-FFF2-40B4-BE49-F238E27FC236}">
                    <a16:creationId xmlns:a16="http://schemas.microsoft.com/office/drawing/2014/main" id="{C7458853-9295-3BF3-B512-223F45DE21AA}"/>
                  </a:ext>
                </a:extLst>
              </p:cNvPr>
              <p:cNvSpPr>
                <a:spLocks noChangeShapeType="1"/>
              </p:cNvSpPr>
              <p:nvPr/>
            </p:nvSpPr>
            <p:spPr bwMode="auto">
              <a:xfrm flipV="1">
                <a:off x="2304" y="717"/>
                <a:ext cx="0" cy="461"/>
              </a:xfrm>
              <a:prstGeom prst="line">
                <a:avLst/>
              </a:prstGeom>
              <a:noFill/>
              <a:ln w="57150">
                <a:solidFill>
                  <a:srgbClr val="FF0000"/>
                </a:solidFill>
                <a:round/>
                <a:headEnd/>
                <a:tailEnd/>
              </a:ln>
            </p:spPr>
            <p:txBody>
              <a:bodyPr/>
              <a:lstStyle/>
              <a:p>
                <a:endParaRPr lang="en-US"/>
              </a:p>
            </p:txBody>
          </p:sp>
        </p:grpSp>
        <p:sp>
          <p:nvSpPr>
            <p:cNvPr id="62" name="Line 8">
              <a:extLst>
                <a:ext uri="{FF2B5EF4-FFF2-40B4-BE49-F238E27FC236}">
                  <a16:creationId xmlns:a16="http://schemas.microsoft.com/office/drawing/2014/main" id="{81E3E5FE-E7C6-E15C-1BE3-F9DF393F1C4E}"/>
                </a:ext>
              </a:extLst>
            </p:cNvPr>
            <p:cNvSpPr>
              <a:spLocks noChangeShapeType="1"/>
            </p:cNvSpPr>
            <p:nvPr/>
          </p:nvSpPr>
          <p:spPr bwMode="auto">
            <a:xfrm>
              <a:off x="1308101" y="2057400"/>
              <a:ext cx="2349496" cy="5078"/>
            </a:xfrm>
            <a:prstGeom prst="line">
              <a:avLst/>
            </a:prstGeom>
            <a:noFill/>
            <a:ln w="12700">
              <a:solidFill>
                <a:schemeClr val="tx1"/>
              </a:solidFill>
              <a:prstDash val="dash"/>
              <a:round/>
              <a:headEnd/>
              <a:tailEnd/>
            </a:ln>
          </p:spPr>
          <p:txBody>
            <a:bodyPr/>
            <a:lstStyle/>
            <a:p>
              <a:endParaRPr lang="en-US" dirty="0"/>
            </a:p>
          </p:txBody>
        </p:sp>
        <p:sp>
          <p:nvSpPr>
            <p:cNvPr id="63" name="Line 8">
              <a:extLst>
                <a:ext uri="{FF2B5EF4-FFF2-40B4-BE49-F238E27FC236}">
                  <a16:creationId xmlns:a16="http://schemas.microsoft.com/office/drawing/2014/main" id="{AB30FAF6-1B18-1C94-AD8A-5A53D5AE4B82}"/>
                </a:ext>
              </a:extLst>
            </p:cNvPr>
            <p:cNvSpPr>
              <a:spLocks noChangeShapeType="1"/>
            </p:cNvSpPr>
            <p:nvPr/>
          </p:nvSpPr>
          <p:spPr bwMode="auto">
            <a:xfrm>
              <a:off x="1363663" y="3586479"/>
              <a:ext cx="1531938" cy="1272"/>
            </a:xfrm>
            <a:prstGeom prst="line">
              <a:avLst/>
            </a:prstGeom>
            <a:noFill/>
            <a:ln w="12700">
              <a:solidFill>
                <a:schemeClr val="tx1"/>
              </a:solidFill>
              <a:prstDash val="dash"/>
              <a:round/>
              <a:headEnd/>
              <a:tailEnd/>
            </a:ln>
          </p:spPr>
          <p:txBody>
            <a:bodyPr/>
            <a:lstStyle/>
            <a:p>
              <a:endParaRPr lang="en-US"/>
            </a:p>
          </p:txBody>
        </p:sp>
        <p:sp>
          <p:nvSpPr>
            <p:cNvPr id="64" name="Line 6">
              <a:extLst>
                <a:ext uri="{FF2B5EF4-FFF2-40B4-BE49-F238E27FC236}">
                  <a16:creationId xmlns:a16="http://schemas.microsoft.com/office/drawing/2014/main" id="{7F8D455E-3E5F-B56C-DAD7-FC584A1F3693}"/>
                </a:ext>
              </a:extLst>
            </p:cNvPr>
            <p:cNvSpPr>
              <a:spLocks noChangeShapeType="1"/>
            </p:cNvSpPr>
            <p:nvPr/>
          </p:nvSpPr>
          <p:spPr bwMode="auto">
            <a:xfrm flipH="1" flipV="1">
              <a:off x="2122488" y="4613274"/>
              <a:ext cx="11112" cy="1031873"/>
            </a:xfrm>
            <a:prstGeom prst="line">
              <a:avLst/>
            </a:prstGeom>
            <a:noFill/>
            <a:ln w="12700">
              <a:solidFill>
                <a:schemeClr val="tx1"/>
              </a:solidFill>
              <a:prstDash val="dash"/>
              <a:round/>
              <a:headEnd/>
              <a:tailEnd/>
            </a:ln>
          </p:spPr>
          <p:txBody>
            <a:bodyPr/>
            <a:lstStyle/>
            <a:p>
              <a:endParaRPr lang="en-US" dirty="0"/>
            </a:p>
          </p:txBody>
        </p:sp>
        <p:sp>
          <p:nvSpPr>
            <p:cNvPr id="65" name="Line 6">
              <a:extLst>
                <a:ext uri="{FF2B5EF4-FFF2-40B4-BE49-F238E27FC236}">
                  <a16:creationId xmlns:a16="http://schemas.microsoft.com/office/drawing/2014/main" id="{91983DE4-CF68-84B4-88A8-E0F3AF26D8E4}"/>
                </a:ext>
              </a:extLst>
            </p:cNvPr>
            <p:cNvSpPr>
              <a:spLocks noChangeShapeType="1"/>
            </p:cNvSpPr>
            <p:nvPr/>
          </p:nvSpPr>
          <p:spPr bwMode="auto">
            <a:xfrm flipH="1" flipV="1">
              <a:off x="2886076" y="3586478"/>
              <a:ext cx="9526" cy="2030094"/>
            </a:xfrm>
            <a:prstGeom prst="line">
              <a:avLst/>
            </a:prstGeom>
            <a:noFill/>
            <a:ln w="12700">
              <a:solidFill>
                <a:schemeClr val="tx1"/>
              </a:solidFill>
              <a:prstDash val="dash"/>
              <a:round/>
              <a:headEnd/>
              <a:tailEnd/>
            </a:ln>
          </p:spPr>
          <p:txBody>
            <a:bodyPr/>
            <a:lstStyle/>
            <a:p>
              <a:endParaRPr lang="en-US"/>
            </a:p>
          </p:txBody>
        </p:sp>
        <p:sp>
          <p:nvSpPr>
            <p:cNvPr id="66" name="Line 6">
              <a:extLst>
                <a:ext uri="{FF2B5EF4-FFF2-40B4-BE49-F238E27FC236}">
                  <a16:creationId xmlns:a16="http://schemas.microsoft.com/office/drawing/2014/main" id="{88CD30E8-C7E8-3276-3454-56ACC71F2CD9}"/>
                </a:ext>
              </a:extLst>
            </p:cNvPr>
            <p:cNvSpPr>
              <a:spLocks noChangeShapeType="1"/>
            </p:cNvSpPr>
            <p:nvPr/>
          </p:nvSpPr>
          <p:spPr bwMode="auto">
            <a:xfrm flipH="1" flipV="1">
              <a:off x="3635381" y="2052321"/>
              <a:ext cx="22219" cy="3564252"/>
            </a:xfrm>
            <a:prstGeom prst="line">
              <a:avLst/>
            </a:prstGeom>
            <a:noFill/>
            <a:ln w="12700">
              <a:solidFill>
                <a:schemeClr val="tx1"/>
              </a:solidFill>
              <a:prstDash val="dash"/>
              <a:round/>
              <a:headEnd/>
              <a:tailEnd/>
            </a:ln>
          </p:spPr>
          <p:txBody>
            <a:bodyPr/>
            <a:lstStyle/>
            <a:p>
              <a:endParaRPr lang="en-US"/>
            </a:p>
          </p:txBody>
        </p:sp>
      </p:grpSp>
      <p:sp>
        <p:nvSpPr>
          <p:cNvPr id="8" name="Footer Placeholder 7">
            <a:extLst>
              <a:ext uri="{FF2B5EF4-FFF2-40B4-BE49-F238E27FC236}">
                <a16:creationId xmlns:a16="http://schemas.microsoft.com/office/drawing/2014/main" id="{FC1C0161-20E5-820F-6ACE-36288EAC5E04}"/>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166090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146451">
                                            <p:txEl>
                                              <p:pRg st="0" end="0"/>
                                            </p:txEl>
                                          </p:spTgt>
                                        </p:tgtEl>
                                        <p:attrNameLst>
                                          <p:attrName>style.visibility</p:attrName>
                                        </p:attrNameLst>
                                      </p:cBhvr>
                                      <p:to>
                                        <p:strVal val="visible"/>
                                      </p:to>
                                    </p:set>
                                    <p:animEffect transition="in" filter="wipe(left)">
                                      <p:cBhvr>
                                        <p:cTn id="7" dur="500"/>
                                        <p:tgtEl>
                                          <p:spTgt spid="146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trips(down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trips(down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5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69" name="Rectangle 33"/>
          <p:cNvSpPr>
            <a:spLocks noChangeArrowheads="1"/>
          </p:cNvSpPr>
          <p:nvPr/>
        </p:nvSpPr>
        <p:spPr bwMode="auto">
          <a:xfrm>
            <a:off x="2117730" y="3090408"/>
            <a:ext cx="785624" cy="489722"/>
          </a:xfrm>
          <a:prstGeom prst="rect">
            <a:avLst/>
          </a:prstGeom>
          <a:solidFill>
            <a:srgbClr val="92D050"/>
          </a:solidFill>
          <a:ln w="9525">
            <a:noFill/>
            <a:miter lim="800000"/>
            <a:headEnd/>
            <a:tailEnd/>
          </a:ln>
        </p:spPr>
        <p:txBody>
          <a:bodyPr wrap="none" anchor="ctr"/>
          <a:lstStyle/>
          <a:p>
            <a:endParaRPr lang="en-US">
              <a:latin typeface="Arial"/>
              <a:cs typeface="Arial"/>
            </a:endParaRPr>
          </a:p>
        </p:txBody>
      </p:sp>
      <p:sp>
        <p:nvSpPr>
          <p:cNvPr id="142368" name="Rectangle 32"/>
          <p:cNvSpPr>
            <a:spLocks noChangeArrowheads="1"/>
          </p:cNvSpPr>
          <p:nvPr/>
        </p:nvSpPr>
        <p:spPr bwMode="auto">
          <a:xfrm>
            <a:off x="1365249" y="3097213"/>
            <a:ext cx="778059" cy="1509712"/>
          </a:xfrm>
          <a:prstGeom prst="rect">
            <a:avLst/>
          </a:prstGeom>
          <a:solidFill>
            <a:srgbClr val="99CCFF"/>
          </a:solidFill>
          <a:ln w="9525">
            <a:noFill/>
            <a:miter lim="800000"/>
            <a:headEnd/>
            <a:tailEnd/>
          </a:ln>
        </p:spPr>
        <p:txBody>
          <a:bodyPr wrap="none" anchor="ctr"/>
          <a:lstStyle/>
          <a:p>
            <a:endParaRPr lang="en-US">
              <a:latin typeface="Arial"/>
              <a:cs typeface="Arial"/>
            </a:endParaRPr>
          </a:p>
        </p:txBody>
      </p:sp>
      <p:grpSp>
        <p:nvGrpSpPr>
          <p:cNvPr id="65" name="Group 64">
            <a:extLst>
              <a:ext uri="{FF2B5EF4-FFF2-40B4-BE49-F238E27FC236}">
                <a16:creationId xmlns:a16="http://schemas.microsoft.com/office/drawing/2014/main" id="{4BB5A3F2-DC08-DE5F-A9A7-97F6C6A1DB35}"/>
              </a:ext>
            </a:extLst>
          </p:cNvPr>
          <p:cNvGrpSpPr/>
          <p:nvPr/>
        </p:nvGrpSpPr>
        <p:grpSpPr>
          <a:xfrm>
            <a:off x="381001" y="883443"/>
            <a:ext cx="4267199" cy="5441157"/>
            <a:chOff x="381001" y="883443"/>
            <a:chExt cx="4267199" cy="5441157"/>
          </a:xfrm>
        </p:grpSpPr>
        <p:grpSp>
          <p:nvGrpSpPr>
            <p:cNvPr id="66" name="Group 65">
              <a:extLst>
                <a:ext uri="{FF2B5EF4-FFF2-40B4-BE49-F238E27FC236}">
                  <a16:creationId xmlns:a16="http://schemas.microsoft.com/office/drawing/2014/main" id="{ED755B02-D688-193F-9690-4FAE0F0AFECD}"/>
                </a:ext>
              </a:extLst>
            </p:cNvPr>
            <p:cNvGrpSpPr/>
            <p:nvPr/>
          </p:nvGrpSpPr>
          <p:grpSpPr>
            <a:xfrm>
              <a:off x="381001" y="883443"/>
              <a:ext cx="4267199" cy="5441157"/>
              <a:chOff x="381001" y="654843"/>
              <a:chExt cx="4267199" cy="5441157"/>
            </a:xfrm>
          </p:grpSpPr>
          <p:graphicFrame>
            <p:nvGraphicFramePr>
              <p:cNvPr id="80" name="Content Placeholder 7">
                <a:extLst>
                  <a:ext uri="{FF2B5EF4-FFF2-40B4-BE49-F238E27FC236}">
                    <a16:creationId xmlns:a16="http://schemas.microsoft.com/office/drawing/2014/main" id="{682F3CFB-20D9-267D-5FCB-535FC7E66B9A}"/>
                  </a:ext>
                </a:extLst>
              </p:cNvPr>
              <p:cNvGraphicFramePr>
                <a:graphicFrameLocks/>
              </p:cNvGraphicFramePr>
              <p:nvPr>
                <p:extLst>
                  <p:ext uri="{D42A27DB-BD31-4B8C-83A1-F6EECF244321}">
                    <p14:modId xmlns:p14="http://schemas.microsoft.com/office/powerpoint/2010/main" val="2341349949"/>
                  </p:ext>
                </p:extLst>
              </p:nvPr>
            </p:nvGraphicFramePr>
            <p:xfrm>
              <a:off x="381001" y="1066800"/>
              <a:ext cx="4267199"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81" name="Text Box 4">
                <a:extLst>
                  <a:ext uri="{FF2B5EF4-FFF2-40B4-BE49-F238E27FC236}">
                    <a16:creationId xmlns:a16="http://schemas.microsoft.com/office/drawing/2014/main" id="{4DB8A590-00B0-DA1B-0218-D4807688E77C}"/>
                  </a:ext>
                </a:extLst>
              </p:cNvPr>
              <p:cNvSpPr txBox="1">
                <a:spLocks noChangeArrowheads="1"/>
              </p:cNvSpPr>
              <p:nvPr/>
            </p:nvSpPr>
            <p:spPr bwMode="auto">
              <a:xfrm>
                <a:off x="965201" y="654843"/>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82" name="Text Box 5">
                <a:extLst>
                  <a:ext uri="{FF2B5EF4-FFF2-40B4-BE49-F238E27FC236}">
                    <a16:creationId xmlns:a16="http://schemas.microsoft.com/office/drawing/2014/main" id="{2404A7ED-F243-E539-B88B-2F271E635292}"/>
                  </a:ext>
                </a:extLst>
              </p:cNvPr>
              <p:cNvSpPr txBox="1">
                <a:spLocks noChangeArrowheads="1"/>
              </p:cNvSpPr>
              <p:nvPr/>
            </p:nvSpPr>
            <p:spPr bwMode="auto">
              <a:xfrm>
                <a:off x="4120638" y="5576887"/>
                <a:ext cx="474662" cy="519113"/>
              </a:xfrm>
              <a:prstGeom prst="rect">
                <a:avLst/>
              </a:prstGeom>
              <a:solidFill>
                <a:schemeClr val="bg1"/>
              </a:solidFill>
              <a:ln w="9525">
                <a:noFill/>
                <a:miter lim="800000"/>
                <a:headEnd/>
                <a:tailEnd/>
              </a:ln>
            </p:spPr>
            <p:txBody>
              <a:bodyPr>
                <a:spAutoFit/>
              </a:bodyPr>
              <a:lstStyle/>
              <a:p>
                <a:pPr>
                  <a:spcBef>
                    <a:spcPct val="50000"/>
                  </a:spcBef>
                </a:pPr>
                <a:r>
                  <a:rPr lang="en-US" sz="2800" b="1" i="1" dirty="0">
                    <a:latin typeface="Arial"/>
                    <a:cs typeface="Arial"/>
                  </a:rPr>
                  <a:t>Q</a:t>
                </a:r>
              </a:p>
            </p:txBody>
          </p:sp>
        </p:grpSp>
        <p:grpSp>
          <p:nvGrpSpPr>
            <p:cNvPr id="67" name="Group 42">
              <a:extLst>
                <a:ext uri="{FF2B5EF4-FFF2-40B4-BE49-F238E27FC236}">
                  <a16:creationId xmlns:a16="http://schemas.microsoft.com/office/drawing/2014/main" id="{669A60A2-E8EE-48A3-4199-3923A79D211A}"/>
                </a:ext>
              </a:extLst>
            </p:cNvPr>
            <p:cNvGrpSpPr>
              <a:grpSpLocks/>
            </p:cNvGrpSpPr>
            <p:nvPr/>
          </p:nvGrpSpPr>
          <p:grpSpPr bwMode="auto">
            <a:xfrm>
              <a:off x="1336676" y="1371600"/>
              <a:ext cx="2320925" cy="4273550"/>
              <a:chOff x="842" y="717"/>
              <a:chExt cx="1462" cy="2692"/>
            </a:xfrm>
          </p:grpSpPr>
          <p:sp>
            <p:nvSpPr>
              <p:cNvPr id="75" name="Line 8">
                <a:extLst>
                  <a:ext uri="{FF2B5EF4-FFF2-40B4-BE49-F238E27FC236}">
                    <a16:creationId xmlns:a16="http://schemas.microsoft.com/office/drawing/2014/main" id="{CBFE3C3A-09FF-D81C-5835-922745304E40}"/>
                  </a:ext>
                </a:extLst>
              </p:cNvPr>
              <p:cNvSpPr>
                <a:spLocks noChangeShapeType="1"/>
              </p:cNvSpPr>
              <p:nvPr/>
            </p:nvSpPr>
            <p:spPr bwMode="auto">
              <a:xfrm flipV="1">
                <a:off x="842" y="2755"/>
                <a:ext cx="505" cy="0"/>
              </a:xfrm>
              <a:custGeom>
                <a:avLst/>
                <a:gdLst>
                  <a:gd name="connsiteX0" fmla="*/ 0 w 10000"/>
                  <a:gd name="connsiteY0" fmla="*/ 0 h 10000"/>
                  <a:gd name="connsiteX1" fmla="*/ 10000 w 10000"/>
                  <a:gd name="connsiteY1" fmla="*/ 10000 h 10000"/>
                  <a:gd name="connsiteX0" fmla="*/ 0 w 9844"/>
                  <a:gd name="connsiteY0" fmla="*/ 0 h 0"/>
                  <a:gd name="connsiteX1" fmla="*/ 9844 w 9844"/>
                  <a:gd name="connsiteY1" fmla="*/ -7620 h 0"/>
                </a:gdLst>
                <a:ahLst/>
                <a:cxnLst>
                  <a:cxn ang="0">
                    <a:pos x="connsiteX0" y="connsiteY0"/>
                  </a:cxn>
                  <a:cxn ang="0">
                    <a:pos x="connsiteX1" y="connsiteY1"/>
                  </a:cxn>
                </a:cxnLst>
                <a:rect l="l" t="t" r="r" b="b"/>
                <a:pathLst>
                  <a:path w="9844">
                    <a:moveTo>
                      <a:pt x="0" y="0"/>
                    </a:moveTo>
                    <a:cubicBezTo>
                      <a:pt x="3333" y="3333"/>
                      <a:pt x="6511" y="-10953"/>
                      <a:pt x="9844" y="-7620"/>
                    </a:cubicBezTo>
                  </a:path>
                </a:pathLst>
              </a:custGeom>
              <a:noFill/>
              <a:ln w="57150">
                <a:solidFill>
                  <a:srgbClr val="FF0000"/>
                </a:solidFill>
                <a:round/>
                <a:headEnd/>
                <a:tailEnd/>
              </a:ln>
            </p:spPr>
            <p:txBody>
              <a:bodyPr/>
              <a:lstStyle/>
              <a:p>
                <a:endParaRPr lang="en-US" dirty="0"/>
              </a:p>
            </p:txBody>
          </p:sp>
          <p:sp>
            <p:nvSpPr>
              <p:cNvPr id="76" name="Line 9">
                <a:extLst>
                  <a:ext uri="{FF2B5EF4-FFF2-40B4-BE49-F238E27FC236}">
                    <a16:creationId xmlns:a16="http://schemas.microsoft.com/office/drawing/2014/main" id="{16B8B4C4-2526-37ED-509D-51BAE1DD2143}"/>
                  </a:ext>
                </a:extLst>
              </p:cNvPr>
              <p:cNvSpPr>
                <a:spLocks noChangeShapeType="1"/>
              </p:cNvSpPr>
              <p:nvPr/>
            </p:nvSpPr>
            <p:spPr bwMode="auto">
              <a:xfrm flipH="1" flipV="1">
                <a:off x="859" y="2751"/>
                <a:ext cx="0" cy="658"/>
              </a:xfrm>
              <a:custGeom>
                <a:avLst/>
                <a:gdLst>
                  <a:gd name="connsiteX0" fmla="*/ 0 w 10000"/>
                  <a:gd name="connsiteY0" fmla="*/ 0 h 10000"/>
                  <a:gd name="connsiteX1" fmla="*/ 10000 w 10000"/>
                  <a:gd name="connsiteY1" fmla="*/ 10000 h 10000"/>
                  <a:gd name="connsiteX0" fmla="*/ 0 w 0"/>
                  <a:gd name="connsiteY0" fmla="*/ 0 h 10484"/>
                  <a:gd name="connsiteX1" fmla="*/ 2540 w 0"/>
                  <a:gd name="connsiteY1" fmla="*/ 10484 h 10484"/>
                </a:gdLst>
                <a:ahLst/>
                <a:cxnLst>
                  <a:cxn ang="0">
                    <a:pos x="connsiteX0" y="connsiteY0"/>
                  </a:cxn>
                  <a:cxn ang="0">
                    <a:pos x="connsiteX1" y="connsiteY1"/>
                  </a:cxn>
                </a:cxnLst>
                <a:rect l="l" t="t" r="r" b="b"/>
                <a:pathLst>
                  <a:path h="10484">
                    <a:moveTo>
                      <a:pt x="0" y="0"/>
                    </a:moveTo>
                    <a:cubicBezTo>
                      <a:pt x="3333" y="3333"/>
                      <a:pt x="-793" y="7151"/>
                      <a:pt x="2540" y="10484"/>
                    </a:cubicBezTo>
                  </a:path>
                </a:pathLst>
              </a:custGeom>
              <a:noFill/>
              <a:ln w="57150">
                <a:solidFill>
                  <a:srgbClr val="FF0000"/>
                </a:solidFill>
                <a:round/>
                <a:headEnd/>
                <a:tailEnd/>
              </a:ln>
            </p:spPr>
            <p:txBody>
              <a:bodyPr/>
              <a:lstStyle/>
              <a:p>
                <a:endParaRPr lang="en-US"/>
              </a:p>
            </p:txBody>
          </p:sp>
          <p:sp>
            <p:nvSpPr>
              <p:cNvPr id="77" name="Line 10">
                <a:extLst>
                  <a:ext uri="{FF2B5EF4-FFF2-40B4-BE49-F238E27FC236}">
                    <a16:creationId xmlns:a16="http://schemas.microsoft.com/office/drawing/2014/main" id="{A32FC1AB-DD2F-622A-BD6D-246A2FE7676E}"/>
                  </a:ext>
                </a:extLst>
              </p:cNvPr>
              <p:cNvSpPr>
                <a:spLocks noChangeShapeType="1"/>
              </p:cNvSpPr>
              <p:nvPr/>
            </p:nvSpPr>
            <p:spPr bwMode="auto">
              <a:xfrm>
                <a:off x="1355" y="2109"/>
                <a:ext cx="469" cy="4"/>
              </a:xfrm>
              <a:prstGeom prst="line">
                <a:avLst/>
              </a:prstGeom>
              <a:noFill/>
              <a:ln w="57150">
                <a:solidFill>
                  <a:srgbClr val="FF0000"/>
                </a:solidFill>
                <a:round/>
                <a:headEnd/>
                <a:tailEnd/>
              </a:ln>
            </p:spPr>
            <p:txBody>
              <a:bodyPr/>
              <a:lstStyle/>
              <a:p>
                <a:endParaRPr lang="en-US"/>
              </a:p>
            </p:txBody>
          </p:sp>
          <p:sp>
            <p:nvSpPr>
              <p:cNvPr id="78" name="Line 11">
                <a:extLst>
                  <a:ext uri="{FF2B5EF4-FFF2-40B4-BE49-F238E27FC236}">
                    <a16:creationId xmlns:a16="http://schemas.microsoft.com/office/drawing/2014/main" id="{A2E59CA3-315A-978D-E6F5-015158EB5CBC}"/>
                  </a:ext>
                </a:extLst>
              </p:cNvPr>
              <p:cNvSpPr>
                <a:spLocks noChangeShapeType="1"/>
              </p:cNvSpPr>
              <p:nvPr/>
            </p:nvSpPr>
            <p:spPr bwMode="auto">
              <a:xfrm>
                <a:off x="1824" y="1149"/>
                <a:ext cx="480" cy="0"/>
              </a:xfrm>
              <a:prstGeom prst="line">
                <a:avLst/>
              </a:prstGeom>
              <a:noFill/>
              <a:ln w="57150">
                <a:solidFill>
                  <a:srgbClr val="FF0000"/>
                </a:solidFill>
                <a:round/>
                <a:headEnd/>
                <a:tailEnd/>
              </a:ln>
            </p:spPr>
            <p:txBody>
              <a:bodyPr/>
              <a:lstStyle/>
              <a:p>
                <a:endParaRPr lang="en-US"/>
              </a:p>
            </p:txBody>
          </p:sp>
          <p:sp>
            <p:nvSpPr>
              <p:cNvPr id="79" name="Line 12">
                <a:extLst>
                  <a:ext uri="{FF2B5EF4-FFF2-40B4-BE49-F238E27FC236}">
                    <a16:creationId xmlns:a16="http://schemas.microsoft.com/office/drawing/2014/main" id="{9257E35A-B139-42BF-9918-C23FD55F800C}"/>
                  </a:ext>
                </a:extLst>
              </p:cNvPr>
              <p:cNvSpPr>
                <a:spLocks noChangeShapeType="1"/>
              </p:cNvSpPr>
              <p:nvPr/>
            </p:nvSpPr>
            <p:spPr bwMode="auto">
              <a:xfrm flipV="1">
                <a:off x="2304" y="717"/>
                <a:ext cx="0" cy="461"/>
              </a:xfrm>
              <a:prstGeom prst="line">
                <a:avLst/>
              </a:prstGeom>
              <a:noFill/>
              <a:ln w="57150">
                <a:solidFill>
                  <a:srgbClr val="FF0000"/>
                </a:solidFill>
                <a:round/>
                <a:headEnd/>
                <a:tailEnd/>
              </a:ln>
            </p:spPr>
            <p:txBody>
              <a:bodyPr/>
              <a:lstStyle/>
              <a:p>
                <a:endParaRPr lang="en-US"/>
              </a:p>
            </p:txBody>
          </p:sp>
          <p:sp>
            <p:nvSpPr>
              <p:cNvPr id="73" name="Line 6">
                <a:extLst>
                  <a:ext uri="{FF2B5EF4-FFF2-40B4-BE49-F238E27FC236}">
                    <a16:creationId xmlns:a16="http://schemas.microsoft.com/office/drawing/2014/main" id="{E3E807E0-83D0-1055-BD84-F5A1B626E1D0}"/>
                  </a:ext>
                </a:extLst>
              </p:cNvPr>
              <p:cNvSpPr>
                <a:spLocks noChangeShapeType="1"/>
              </p:cNvSpPr>
              <p:nvPr/>
            </p:nvSpPr>
            <p:spPr bwMode="auto">
              <a:xfrm flipV="1">
                <a:off x="1337" y="2102"/>
                <a:ext cx="4" cy="675"/>
              </a:xfrm>
              <a:prstGeom prst="line">
                <a:avLst/>
              </a:prstGeom>
              <a:noFill/>
              <a:ln w="57150">
                <a:solidFill>
                  <a:srgbClr val="FF0000"/>
                </a:solidFill>
                <a:round/>
                <a:headEnd/>
                <a:tailEnd/>
              </a:ln>
            </p:spPr>
            <p:txBody>
              <a:bodyPr/>
              <a:lstStyle/>
              <a:p>
                <a:endParaRPr lang="en-US"/>
              </a:p>
            </p:txBody>
          </p:sp>
          <p:sp>
            <p:nvSpPr>
              <p:cNvPr id="74" name="Line 7">
                <a:extLst>
                  <a:ext uri="{FF2B5EF4-FFF2-40B4-BE49-F238E27FC236}">
                    <a16:creationId xmlns:a16="http://schemas.microsoft.com/office/drawing/2014/main" id="{728B4628-288D-9C9E-E0D8-B25E137CFFFE}"/>
                  </a:ext>
                </a:extLst>
              </p:cNvPr>
              <p:cNvSpPr>
                <a:spLocks noChangeShapeType="1"/>
              </p:cNvSpPr>
              <p:nvPr/>
            </p:nvSpPr>
            <p:spPr bwMode="auto">
              <a:xfrm flipV="1">
                <a:off x="1824" y="1152"/>
                <a:ext cx="0" cy="982"/>
              </a:xfrm>
              <a:prstGeom prst="line">
                <a:avLst/>
              </a:prstGeom>
              <a:noFill/>
              <a:ln w="57150">
                <a:solidFill>
                  <a:srgbClr val="FF0000"/>
                </a:solidFill>
                <a:round/>
                <a:headEnd/>
                <a:tailEnd/>
              </a:ln>
            </p:spPr>
            <p:txBody>
              <a:bodyPr/>
              <a:lstStyle/>
              <a:p>
                <a:endParaRPr lang="en-US"/>
              </a:p>
            </p:txBody>
          </p:sp>
        </p:grpSp>
        <p:sp>
          <p:nvSpPr>
            <p:cNvPr id="68" name="Line 8">
              <a:extLst>
                <a:ext uri="{FF2B5EF4-FFF2-40B4-BE49-F238E27FC236}">
                  <a16:creationId xmlns:a16="http://schemas.microsoft.com/office/drawing/2014/main" id="{16947B57-4168-9ED1-750D-0E387F6974FC}"/>
                </a:ext>
              </a:extLst>
            </p:cNvPr>
            <p:cNvSpPr>
              <a:spLocks noChangeShapeType="1"/>
            </p:cNvSpPr>
            <p:nvPr/>
          </p:nvSpPr>
          <p:spPr bwMode="auto">
            <a:xfrm>
              <a:off x="1308101" y="2057400"/>
              <a:ext cx="2349496" cy="5078"/>
            </a:xfrm>
            <a:prstGeom prst="line">
              <a:avLst/>
            </a:prstGeom>
            <a:noFill/>
            <a:ln w="12700">
              <a:solidFill>
                <a:schemeClr val="tx1"/>
              </a:solidFill>
              <a:prstDash val="dash"/>
              <a:round/>
              <a:headEnd/>
              <a:tailEnd/>
            </a:ln>
          </p:spPr>
          <p:txBody>
            <a:bodyPr/>
            <a:lstStyle/>
            <a:p>
              <a:endParaRPr lang="en-US" dirty="0"/>
            </a:p>
          </p:txBody>
        </p:sp>
        <p:sp>
          <p:nvSpPr>
            <p:cNvPr id="69" name="Line 8">
              <a:extLst>
                <a:ext uri="{FF2B5EF4-FFF2-40B4-BE49-F238E27FC236}">
                  <a16:creationId xmlns:a16="http://schemas.microsoft.com/office/drawing/2014/main" id="{E20A0ED4-FC32-ECCB-1011-C440F259F01E}"/>
                </a:ext>
              </a:extLst>
            </p:cNvPr>
            <p:cNvSpPr>
              <a:spLocks noChangeShapeType="1"/>
            </p:cNvSpPr>
            <p:nvPr/>
          </p:nvSpPr>
          <p:spPr bwMode="auto">
            <a:xfrm>
              <a:off x="1363663" y="3586479"/>
              <a:ext cx="1531938" cy="1272"/>
            </a:xfrm>
            <a:prstGeom prst="line">
              <a:avLst/>
            </a:prstGeom>
            <a:noFill/>
            <a:ln w="12700">
              <a:solidFill>
                <a:schemeClr val="tx1"/>
              </a:solidFill>
              <a:prstDash val="dash"/>
              <a:round/>
              <a:headEnd/>
              <a:tailEnd/>
            </a:ln>
          </p:spPr>
          <p:txBody>
            <a:bodyPr/>
            <a:lstStyle/>
            <a:p>
              <a:endParaRPr lang="en-US"/>
            </a:p>
          </p:txBody>
        </p:sp>
        <p:sp>
          <p:nvSpPr>
            <p:cNvPr id="70" name="Line 6">
              <a:extLst>
                <a:ext uri="{FF2B5EF4-FFF2-40B4-BE49-F238E27FC236}">
                  <a16:creationId xmlns:a16="http://schemas.microsoft.com/office/drawing/2014/main" id="{E2A26793-367B-BB0B-9E92-FAB3B44E7B63}"/>
                </a:ext>
              </a:extLst>
            </p:cNvPr>
            <p:cNvSpPr>
              <a:spLocks noChangeShapeType="1"/>
            </p:cNvSpPr>
            <p:nvPr/>
          </p:nvSpPr>
          <p:spPr bwMode="auto">
            <a:xfrm flipH="1" flipV="1">
              <a:off x="2122488" y="4613274"/>
              <a:ext cx="11112" cy="1031873"/>
            </a:xfrm>
            <a:prstGeom prst="line">
              <a:avLst/>
            </a:prstGeom>
            <a:noFill/>
            <a:ln w="12700">
              <a:solidFill>
                <a:schemeClr val="tx1"/>
              </a:solidFill>
              <a:prstDash val="dash"/>
              <a:round/>
              <a:headEnd/>
              <a:tailEnd/>
            </a:ln>
          </p:spPr>
          <p:txBody>
            <a:bodyPr/>
            <a:lstStyle/>
            <a:p>
              <a:endParaRPr lang="en-US" dirty="0"/>
            </a:p>
          </p:txBody>
        </p:sp>
        <p:sp>
          <p:nvSpPr>
            <p:cNvPr id="71" name="Line 6">
              <a:extLst>
                <a:ext uri="{FF2B5EF4-FFF2-40B4-BE49-F238E27FC236}">
                  <a16:creationId xmlns:a16="http://schemas.microsoft.com/office/drawing/2014/main" id="{84820E87-B034-EEB0-B53C-5F21C5C58433}"/>
                </a:ext>
              </a:extLst>
            </p:cNvPr>
            <p:cNvSpPr>
              <a:spLocks noChangeShapeType="1"/>
            </p:cNvSpPr>
            <p:nvPr/>
          </p:nvSpPr>
          <p:spPr bwMode="auto">
            <a:xfrm flipH="1" flipV="1">
              <a:off x="2886076" y="3586478"/>
              <a:ext cx="9526" cy="2030094"/>
            </a:xfrm>
            <a:prstGeom prst="line">
              <a:avLst/>
            </a:prstGeom>
            <a:noFill/>
            <a:ln w="12700">
              <a:solidFill>
                <a:schemeClr val="tx1"/>
              </a:solidFill>
              <a:prstDash val="dash"/>
              <a:round/>
              <a:headEnd/>
              <a:tailEnd/>
            </a:ln>
          </p:spPr>
          <p:txBody>
            <a:bodyPr/>
            <a:lstStyle/>
            <a:p>
              <a:endParaRPr lang="en-US"/>
            </a:p>
          </p:txBody>
        </p:sp>
        <p:sp>
          <p:nvSpPr>
            <p:cNvPr id="72" name="Line 6">
              <a:extLst>
                <a:ext uri="{FF2B5EF4-FFF2-40B4-BE49-F238E27FC236}">
                  <a16:creationId xmlns:a16="http://schemas.microsoft.com/office/drawing/2014/main" id="{F7E80350-B7A0-2994-9C95-14C7841BCA85}"/>
                </a:ext>
              </a:extLst>
            </p:cNvPr>
            <p:cNvSpPr>
              <a:spLocks noChangeShapeType="1"/>
            </p:cNvSpPr>
            <p:nvPr/>
          </p:nvSpPr>
          <p:spPr bwMode="auto">
            <a:xfrm flipH="1" flipV="1">
              <a:off x="3635381" y="2052321"/>
              <a:ext cx="22219" cy="3564252"/>
            </a:xfrm>
            <a:prstGeom prst="line">
              <a:avLst/>
            </a:prstGeom>
            <a:noFill/>
            <a:ln w="12700">
              <a:solidFill>
                <a:schemeClr val="tx1"/>
              </a:solidFill>
              <a:prstDash val="dash"/>
              <a:round/>
              <a:headEnd/>
              <a:tailEnd/>
            </a:ln>
          </p:spPr>
          <p:txBody>
            <a:bodyPr/>
            <a:lstStyle/>
            <a:p>
              <a:endParaRPr lang="en-US"/>
            </a:p>
          </p:txBody>
        </p:sp>
      </p:grpSp>
      <p:sp>
        <p:nvSpPr>
          <p:cNvPr id="15367" name="Rectangle 3"/>
          <p:cNvSpPr>
            <a:spLocks noGrp="1" noChangeArrowheads="1"/>
          </p:cNvSpPr>
          <p:nvPr>
            <p:ph type="title"/>
          </p:nvPr>
        </p:nvSpPr>
        <p:spPr/>
        <p:txBody>
          <a:bodyPr/>
          <a:lstStyle/>
          <a:p>
            <a:pPr eaLnBrk="1" hangingPunct="1"/>
            <a:r>
              <a:rPr lang="en-US" dirty="0">
                <a:solidFill>
                  <a:srgbClr val="AE1221"/>
                </a:solidFill>
              </a:rPr>
              <a:t>EXAMPLE 3C: </a:t>
            </a:r>
            <a:r>
              <a:rPr lang="en-US" dirty="0">
                <a:solidFill>
                  <a:schemeClr val="tx1"/>
                </a:solidFill>
              </a:rPr>
              <a:t>Producer surplus &amp; the </a:t>
            </a:r>
            <a:r>
              <a:rPr lang="en-US" b="1" i="1" dirty="0">
                <a:solidFill>
                  <a:schemeClr val="tx1"/>
                </a:solidFill>
              </a:rPr>
              <a:t>S</a:t>
            </a:r>
            <a:r>
              <a:rPr lang="en-US" dirty="0">
                <a:solidFill>
                  <a:schemeClr val="tx1"/>
                </a:solidFill>
              </a:rPr>
              <a:t> curve</a:t>
            </a:r>
          </a:p>
        </p:txBody>
      </p:sp>
      <p:sp>
        <p:nvSpPr>
          <p:cNvPr id="8" name="Slide Number Placeholder 7"/>
          <p:cNvSpPr>
            <a:spLocks noGrp="1"/>
          </p:cNvSpPr>
          <p:nvPr>
            <p:ph type="sldNum" sz="quarter" idx="10"/>
          </p:nvPr>
        </p:nvSpPr>
        <p:spPr/>
        <p:txBody>
          <a:bodyPr/>
          <a:lstStyle/>
          <a:p>
            <a:pPr>
              <a:defRPr/>
            </a:pPr>
            <a:fld id="{2F37425F-5E17-4209-B948-B5CE2119E408}" type="slidenum">
              <a:rPr lang="en-US" smtClean="0"/>
              <a:pPr>
                <a:defRPr/>
              </a:pPr>
              <a:t>24</a:t>
            </a:fld>
            <a:endParaRPr lang="en-US" dirty="0"/>
          </a:p>
        </p:txBody>
      </p:sp>
      <p:sp>
        <p:nvSpPr>
          <p:cNvPr id="6" name="Text Placeholder 5"/>
          <p:cNvSpPr>
            <a:spLocks noGrp="1"/>
          </p:cNvSpPr>
          <p:nvPr>
            <p:ph idx="12"/>
          </p:nvPr>
        </p:nvSpPr>
        <p:spPr>
          <a:xfrm>
            <a:off x="5638801" y="939362"/>
            <a:ext cx="3476624" cy="5385237"/>
          </a:xfrm>
        </p:spPr>
        <p:txBody>
          <a:bodyPr>
            <a:noAutofit/>
          </a:bodyPr>
          <a:lstStyle/>
          <a:p>
            <a:pPr marL="114300" indent="0">
              <a:buNone/>
            </a:pPr>
            <a:r>
              <a:rPr lang="en-US" sz="2800" b="1" i="1" dirty="0">
                <a:solidFill>
                  <a:srgbClr val="AE1221"/>
                </a:solidFill>
                <a:cs typeface="Arial"/>
              </a:rPr>
              <a:t>PS</a:t>
            </a:r>
            <a:r>
              <a:rPr lang="en-US" sz="2800" dirty="0">
                <a:solidFill>
                  <a:srgbClr val="AE1221"/>
                </a:solidFill>
                <a:cs typeface="Arial"/>
              </a:rPr>
              <a:t> = </a:t>
            </a:r>
            <a:r>
              <a:rPr lang="en-US" sz="2800" b="1" i="1" dirty="0">
                <a:solidFill>
                  <a:srgbClr val="AE1221"/>
                </a:solidFill>
                <a:cs typeface="Arial"/>
              </a:rPr>
              <a:t>P</a:t>
            </a:r>
            <a:r>
              <a:rPr lang="en-US" sz="2800" dirty="0">
                <a:solidFill>
                  <a:srgbClr val="AE1221"/>
                </a:solidFill>
                <a:cs typeface="Arial"/>
              </a:rPr>
              <a:t> – cost</a:t>
            </a:r>
          </a:p>
          <a:p>
            <a:pPr marL="114300" indent="0">
              <a:spcBef>
                <a:spcPct val="50000"/>
              </a:spcBef>
              <a:buNone/>
            </a:pPr>
            <a:r>
              <a:rPr lang="en-US" sz="2800" dirty="0">
                <a:solidFill>
                  <a:srgbClr val="4E519E"/>
                </a:solidFill>
                <a:cs typeface="Arial"/>
              </a:rPr>
              <a:t>Suppose </a:t>
            </a:r>
            <a:r>
              <a:rPr lang="en-US" sz="2800" b="1" i="1" dirty="0">
                <a:solidFill>
                  <a:srgbClr val="4E519E"/>
                </a:solidFill>
                <a:cs typeface="Arial"/>
              </a:rPr>
              <a:t>P</a:t>
            </a:r>
            <a:r>
              <a:rPr lang="en-US" sz="2800" dirty="0">
                <a:solidFill>
                  <a:srgbClr val="4E519E"/>
                </a:solidFill>
                <a:cs typeface="Arial"/>
              </a:rPr>
              <a:t> = $250.</a:t>
            </a:r>
          </a:p>
          <a:p>
            <a:pPr marL="114300" indent="0">
              <a:spcBef>
                <a:spcPct val="50000"/>
              </a:spcBef>
              <a:buNone/>
            </a:pPr>
            <a:r>
              <a:rPr lang="en-US" sz="2800" dirty="0" err="1">
                <a:cs typeface="Arial"/>
              </a:rPr>
              <a:t>Jin’s</a:t>
            </a:r>
            <a:r>
              <a:rPr lang="en-US" sz="2800" dirty="0">
                <a:cs typeface="Arial"/>
              </a:rPr>
              <a:t> </a:t>
            </a:r>
            <a:r>
              <a:rPr lang="en-US" sz="2800" b="1" i="1" dirty="0">
                <a:cs typeface="Arial"/>
              </a:rPr>
              <a:t>PS</a:t>
            </a:r>
            <a:r>
              <a:rPr lang="en-US" sz="2800" dirty="0">
                <a:cs typeface="Arial"/>
              </a:rPr>
              <a:t> = 250 – 100 = $150</a:t>
            </a:r>
          </a:p>
          <a:p>
            <a:pPr marL="114300" indent="0">
              <a:spcBef>
                <a:spcPct val="50000"/>
              </a:spcBef>
              <a:buNone/>
            </a:pPr>
            <a:r>
              <a:rPr lang="en-US" sz="2800" dirty="0">
                <a:cs typeface="Arial"/>
              </a:rPr>
              <a:t>Jada’s </a:t>
            </a:r>
            <a:r>
              <a:rPr lang="en-US" sz="2800" b="1" i="1" dirty="0">
                <a:cs typeface="Arial"/>
              </a:rPr>
              <a:t>PS</a:t>
            </a:r>
            <a:r>
              <a:rPr lang="en-US" sz="2800" dirty="0">
                <a:cs typeface="Arial"/>
              </a:rPr>
              <a:t> = 250 – 200 = $50</a:t>
            </a:r>
          </a:p>
          <a:p>
            <a:pPr marL="114300" indent="0">
              <a:spcBef>
                <a:spcPct val="50000"/>
              </a:spcBef>
              <a:buNone/>
            </a:pPr>
            <a:r>
              <a:rPr lang="en-US" sz="2800" dirty="0">
                <a:cs typeface="Arial"/>
              </a:rPr>
              <a:t>Chris’ </a:t>
            </a:r>
            <a:r>
              <a:rPr lang="en-US" sz="2800" b="1" i="1" dirty="0">
                <a:cs typeface="Arial"/>
              </a:rPr>
              <a:t>PS</a:t>
            </a:r>
            <a:r>
              <a:rPr lang="en-US" sz="2800" dirty="0">
                <a:cs typeface="Arial"/>
              </a:rPr>
              <a:t> = $0</a:t>
            </a:r>
          </a:p>
          <a:p>
            <a:pPr marL="114300" indent="0">
              <a:spcBef>
                <a:spcPct val="50000"/>
              </a:spcBef>
              <a:buNone/>
            </a:pPr>
            <a:r>
              <a:rPr lang="en-US" sz="2800" dirty="0">
                <a:cs typeface="Arial"/>
              </a:rPr>
              <a:t>Total </a:t>
            </a:r>
            <a:r>
              <a:rPr lang="en-US" sz="2800" b="1" i="1" dirty="0">
                <a:cs typeface="Arial"/>
              </a:rPr>
              <a:t>PS</a:t>
            </a:r>
            <a:r>
              <a:rPr lang="en-US" sz="2800" dirty="0">
                <a:cs typeface="Arial"/>
              </a:rPr>
              <a:t> = $200</a:t>
            </a:r>
          </a:p>
          <a:p>
            <a:pPr marL="0" indent="0">
              <a:buNone/>
            </a:pPr>
            <a:endParaRPr lang="en-US" sz="2800" dirty="0">
              <a:cs typeface="Arial"/>
            </a:endParaRPr>
          </a:p>
          <a:p>
            <a:pPr marL="0" indent="0">
              <a:buNone/>
            </a:pPr>
            <a:endParaRPr lang="en-US" sz="2800" dirty="0"/>
          </a:p>
        </p:txBody>
      </p:sp>
      <p:grpSp>
        <p:nvGrpSpPr>
          <p:cNvPr id="2" name="Group 38"/>
          <p:cNvGrpSpPr>
            <a:grpSpLocks/>
          </p:cNvGrpSpPr>
          <p:nvPr/>
        </p:nvGrpSpPr>
        <p:grpSpPr bwMode="auto">
          <a:xfrm>
            <a:off x="509588" y="3094038"/>
            <a:ext cx="2454275" cy="0"/>
            <a:chOff x="321" y="1949"/>
            <a:chExt cx="1546" cy="0"/>
          </a:xfrm>
        </p:grpSpPr>
        <p:sp>
          <p:nvSpPr>
            <p:cNvPr id="15390" name="Line 29"/>
            <p:cNvSpPr>
              <a:spLocks noChangeShapeType="1"/>
            </p:cNvSpPr>
            <p:nvPr/>
          </p:nvSpPr>
          <p:spPr bwMode="auto">
            <a:xfrm>
              <a:off x="321" y="1949"/>
              <a:ext cx="520" cy="0"/>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15391" name="Line 30"/>
            <p:cNvSpPr>
              <a:spLocks noChangeShapeType="1"/>
            </p:cNvSpPr>
            <p:nvPr/>
          </p:nvSpPr>
          <p:spPr bwMode="auto">
            <a:xfrm>
              <a:off x="859" y="1949"/>
              <a:ext cx="1008" cy="0"/>
            </a:xfrm>
            <a:prstGeom prst="line">
              <a:avLst/>
            </a:prstGeom>
            <a:noFill/>
            <a:ln w="38100">
              <a:solidFill>
                <a:srgbClr val="4E519E"/>
              </a:solidFill>
              <a:round/>
              <a:headEnd/>
              <a:tailEnd/>
            </a:ln>
          </p:spPr>
          <p:txBody>
            <a:bodyPr/>
            <a:lstStyle/>
            <a:p>
              <a:endParaRPr lang="en-US">
                <a:latin typeface="Arial"/>
                <a:cs typeface="Arial"/>
              </a:endParaRPr>
            </a:p>
          </p:txBody>
        </p:sp>
      </p:grpSp>
      <p:grpSp>
        <p:nvGrpSpPr>
          <p:cNvPr id="56" name="Group 23">
            <a:extLst>
              <a:ext uri="{FF2B5EF4-FFF2-40B4-BE49-F238E27FC236}">
                <a16:creationId xmlns:a16="http://schemas.microsoft.com/office/drawing/2014/main" id="{E2E36138-11BB-8556-2C29-D83E9D7B0DE4}"/>
              </a:ext>
            </a:extLst>
          </p:cNvPr>
          <p:cNvGrpSpPr>
            <a:grpSpLocks/>
          </p:cNvGrpSpPr>
          <p:nvPr/>
        </p:nvGrpSpPr>
        <p:grpSpPr bwMode="auto">
          <a:xfrm>
            <a:off x="3687115" y="1612446"/>
            <a:ext cx="1836738" cy="863600"/>
            <a:chOff x="2446" y="1110"/>
            <a:chExt cx="1157" cy="544"/>
          </a:xfrm>
        </p:grpSpPr>
        <p:sp>
          <p:nvSpPr>
            <p:cNvPr id="57" name="Line 24">
              <a:extLst>
                <a:ext uri="{FF2B5EF4-FFF2-40B4-BE49-F238E27FC236}">
                  <a16:creationId xmlns:a16="http://schemas.microsoft.com/office/drawing/2014/main" id="{52DD75E8-422B-086C-36A8-70E205E66B53}"/>
                </a:ext>
              </a:extLst>
            </p:cNvPr>
            <p:cNvSpPr>
              <a:spLocks noChangeShapeType="1"/>
            </p:cNvSpPr>
            <p:nvPr/>
          </p:nvSpPr>
          <p:spPr bwMode="auto">
            <a:xfrm flipH="1">
              <a:off x="2446" y="1387"/>
              <a:ext cx="337" cy="0"/>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58" name="Text Box 25">
              <a:extLst>
                <a:ext uri="{FF2B5EF4-FFF2-40B4-BE49-F238E27FC236}">
                  <a16:creationId xmlns:a16="http://schemas.microsoft.com/office/drawing/2014/main" id="{55DA6175-4E92-24C1-2FC5-8F997D6EA9BC}"/>
                </a:ext>
              </a:extLst>
            </p:cNvPr>
            <p:cNvSpPr txBox="1">
              <a:spLocks noChangeArrowheads="1"/>
            </p:cNvSpPr>
            <p:nvPr/>
          </p:nvSpPr>
          <p:spPr bwMode="auto">
            <a:xfrm>
              <a:off x="2668" y="1110"/>
              <a:ext cx="935" cy="544"/>
            </a:xfrm>
            <a:prstGeom prst="rect">
              <a:avLst/>
            </a:prstGeom>
            <a:solidFill>
              <a:srgbClr val="E3F0FA"/>
            </a:solidFill>
            <a:ln w="9525">
              <a:solidFill>
                <a:srgbClr val="4E519E"/>
              </a:solidFill>
              <a:miter lim="800000"/>
              <a:headEnd/>
              <a:tailEnd/>
            </a:ln>
          </p:spPr>
          <p:txBody>
            <a:bodyPr>
              <a:spAutoFit/>
            </a:bodyPr>
            <a:lstStyle/>
            <a:p>
              <a:pPr algn="ctr">
                <a:spcBef>
                  <a:spcPct val="50000"/>
                </a:spcBef>
              </a:pPr>
              <a:r>
                <a:rPr lang="en-US" sz="2500" dirty="0">
                  <a:solidFill>
                    <a:srgbClr val="4E519E"/>
                  </a:solidFill>
                  <a:latin typeface="Arial"/>
                  <a:cs typeface="Arial"/>
                </a:rPr>
                <a:t>Chris’ </a:t>
              </a:r>
              <a:br>
                <a:rPr lang="en-US" sz="2500" dirty="0">
                  <a:solidFill>
                    <a:srgbClr val="4E519E"/>
                  </a:solidFill>
                  <a:latin typeface="Arial"/>
                  <a:cs typeface="Arial"/>
                </a:rPr>
              </a:br>
              <a:r>
                <a:rPr lang="en-US" sz="2500" dirty="0">
                  <a:solidFill>
                    <a:srgbClr val="4E519E"/>
                  </a:solidFill>
                  <a:latin typeface="Arial"/>
                  <a:cs typeface="Arial"/>
                </a:rPr>
                <a:t>cost</a:t>
              </a:r>
            </a:p>
          </p:txBody>
        </p:sp>
      </p:grpSp>
      <p:grpSp>
        <p:nvGrpSpPr>
          <p:cNvPr id="59" name="Group 26">
            <a:extLst>
              <a:ext uri="{FF2B5EF4-FFF2-40B4-BE49-F238E27FC236}">
                <a16:creationId xmlns:a16="http://schemas.microsoft.com/office/drawing/2014/main" id="{8E781429-46D8-FFF6-C283-71A55A2C1A11}"/>
              </a:ext>
            </a:extLst>
          </p:cNvPr>
          <p:cNvGrpSpPr>
            <a:grpSpLocks/>
          </p:cNvGrpSpPr>
          <p:nvPr/>
        </p:nvGrpSpPr>
        <p:grpSpPr bwMode="auto">
          <a:xfrm>
            <a:off x="2969985" y="3090408"/>
            <a:ext cx="1819275" cy="863600"/>
            <a:chOff x="1936" y="1896"/>
            <a:chExt cx="1146" cy="544"/>
          </a:xfrm>
        </p:grpSpPr>
        <p:sp>
          <p:nvSpPr>
            <p:cNvPr id="60" name="Line 27">
              <a:extLst>
                <a:ext uri="{FF2B5EF4-FFF2-40B4-BE49-F238E27FC236}">
                  <a16:creationId xmlns:a16="http://schemas.microsoft.com/office/drawing/2014/main" id="{6C889B51-D27A-6500-E260-46E71E623F89}"/>
                </a:ext>
              </a:extLst>
            </p:cNvPr>
            <p:cNvSpPr>
              <a:spLocks noChangeShapeType="1"/>
            </p:cNvSpPr>
            <p:nvPr/>
          </p:nvSpPr>
          <p:spPr bwMode="auto">
            <a:xfrm flipH="1">
              <a:off x="1936" y="2225"/>
              <a:ext cx="337" cy="0"/>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61" name="Text Box 28">
              <a:extLst>
                <a:ext uri="{FF2B5EF4-FFF2-40B4-BE49-F238E27FC236}">
                  <a16:creationId xmlns:a16="http://schemas.microsoft.com/office/drawing/2014/main" id="{1B6B7786-E9DF-150D-A4E3-5DDE03C915F5}"/>
                </a:ext>
              </a:extLst>
            </p:cNvPr>
            <p:cNvSpPr txBox="1">
              <a:spLocks noChangeArrowheads="1"/>
            </p:cNvSpPr>
            <p:nvPr/>
          </p:nvSpPr>
          <p:spPr bwMode="auto">
            <a:xfrm>
              <a:off x="2205" y="1896"/>
              <a:ext cx="877" cy="544"/>
            </a:xfrm>
            <a:prstGeom prst="rect">
              <a:avLst/>
            </a:prstGeom>
            <a:solidFill>
              <a:srgbClr val="E3F0FA"/>
            </a:solidFill>
            <a:ln w="9525">
              <a:solidFill>
                <a:srgbClr val="4E519E"/>
              </a:solidFill>
              <a:miter lim="800000"/>
              <a:headEnd/>
              <a:tailEnd/>
            </a:ln>
          </p:spPr>
          <p:txBody>
            <a:bodyPr>
              <a:spAutoFit/>
            </a:bodyPr>
            <a:lstStyle/>
            <a:p>
              <a:pPr algn="ctr">
                <a:spcBef>
                  <a:spcPct val="50000"/>
                </a:spcBef>
              </a:pPr>
              <a:r>
                <a:rPr lang="en-US" sz="2500" dirty="0">
                  <a:solidFill>
                    <a:srgbClr val="4E519E"/>
                  </a:solidFill>
                  <a:latin typeface="Arial"/>
                  <a:cs typeface="Arial"/>
                </a:rPr>
                <a:t>Jada’s cost</a:t>
              </a:r>
            </a:p>
          </p:txBody>
        </p:sp>
      </p:grpSp>
      <p:grpSp>
        <p:nvGrpSpPr>
          <p:cNvPr id="62" name="Group 29">
            <a:extLst>
              <a:ext uri="{FF2B5EF4-FFF2-40B4-BE49-F238E27FC236}">
                <a16:creationId xmlns:a16="http://schemas.microsoft.com/office/drawing/2014/main" id="{44FEC5F3-1326-8A4C-C3FB-A9E8F7F2D356}"/>
              </a:ext>
            </a:extLst>
          </p:cNvPr>
          <p:cNvGrpSpPr>
            <a:grpSpLocks/>
          </p:cNvGrpSpPr>
          <p:nvPr/>
        </p:nvGrpSpPr>
        <p:grpSpPr bwMode="auto">
          <a:xfrm>
            <a:off x="2192338" y="4364038"/>
            <a:ext cx="2578100" cy="482600"/>
            <a:chOff x="1426" y="2644"/>
            <a:chExt cx="1624" cy="304"/>
          </a:xfrm>
        </p:grpSpPr>
        <p:sp>
          <p:nvSpPr>
            <p:cNvPr id="63" name="Line 30">
              <a:extLst>
                <a:ext uri="{FF2B5EF4-FFF2-40B4-BE49-F238E27FC236}">
                  <a16:creationId xmlns:a16="http://schemas.microsoft.com/office/drawing/2014/main" id="{916A0CE0-0450-AB86-524D-2CBFA93F21ED}"/>
                </a:ext>
              </a:extLst>
            </p:cNvPr>
            <p:cNvSpPr>
              <a:spLocks noChangeShapeType="1"/>
            </p:cNvSpPr>
            <p:nvPr/>
          </p:nvSpPr>
          <p:spPr bwMode="auto">
            <a:xfrm flipH="1">
              <a:off x="1426" y="2796"/>
              <a:ext cx="337" cy="0"/>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64" name="Text Box 31">
              <a:extLst>
                <a:ext uri="{FF2B5EF4-FFF2-40B4-BE49-F238E27FC236}">
                  <a16:creationId xmlns:a16="http://schemas.microsoft.com/office/drawing/2014/main" id="{47346A25-A198-86FC-3186-32B914D7CE8C}"/>
                </a:ext>
              </a:extLst>
            </p:cNvPr>
            <p:cNvSpPr txBox="1">
              <a:spLocks noChangeArrowheads="1"/>
            </p:cNvSpPr>
            <p:nvPr/>
          </p:nvSpPr>
          <p:spPr bwMode="auto">
            <a:xfrm>
              <a:off x="1702" y="2644"/>
              <a:ext cx="1348" cy="304"/>
            </a:xfrm>
            <a:prstGeom prst="rect">
              <a:avLst/>
            </a:prstGeom>
            <a:solidFill>
              <a:srgbClr val="E3F0FA"/>
            </a:solidFill>
            <a:ln w="9525">
              <a:solidFill>
                <a:srgbClr val="4E519E"/>
              </a:solidFill>
              <a:miter lim="800000"/>
              <a:headEnd/>
              <a:tailEnd/>
            </a:ln>
          </p:spPr>
          <p:txBody>
            <a:bodyPr>
              <a:spAutoFit/>
            </a:bodyPr>
            <a:lstStyle/>
            <a:p>
              <a:pPr algn="ctr">
                <a:spcBef>
                  <a:spcPct val="50000"/>
                </a:spcBef>
              </a:pPr>
              <a:r>
                <a:rPr lang="en-US" sz="2500" dirty="0" err="1">
                  <a:solidFill>
                    <a:srgbClr val="4E519E"/>
                  </a:solidFill>
                  <a:latin typeface="Arial"/>
                  <a:cs typeface="Arial"/>
                </a:rPr>
                <a:t>Jin’s</a:t>
              </a:r>
              <a:r>
                <a:rPr lang="en-US" sz="2500" dirty="0">
                  <a:solidFill>
                    <a:srgbClr val="4E519E"/>
                  </a:solidFill>
                  <a:latin typeface="Arial"/>
                  <a:cs typeface="Arial"/>
                </a:rPr>
                <a:t> cost</a:t>
              </a:r>
            </a:p>
          </p:txBody>
        </p:sp>
      </p:grpSp>
      <p:sp>
        <p:nvSpPr>
          <p:cNvPr id="3" name="Footer Placeholder 2">
            <a:extLst>
              <a:ext uri="{FF2B5EF4-FFF2-40B4-BE49-F238E27FC236}">
                <a16:creationId xmlns:a16="http://schemas.microsoft.com/office/drawing/2014/main" id="{04AF46C5-0C45-2B71-AACB-E3485B94EC5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8413663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wipe(left)">
                                      <p:cBhvr>
                                        <p:cTn id="21" dur="500"/>
                                        <p:tgtEl>
                                          <p:spTgt spid="6">
                                            <p:txEl>
                                              <p:pRg st="2" end="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2368"/>
                                        </p:tgtEl>
                                        <p:attrNameLst>
                                          <p:attrName>style.visibility</p:attrName>
                                        </p:attrNameLst>
                                      </p:cBhvr>
                                      <p:to>
                                        <p:strVal val="visible"/>
                                      </p:to>
                                    </p:set>
                                    <p:animEffect transition="in" filter="fade">
                                      <p:cBhvr>
                                        <p:cTn id="24" dur="500"/>
                                        <p:tgtEl>
                                          <p:spTgt spid="14236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142368"/>
                                        </p:tgtEl>
                                      </p:cBhvr>
                                    </p:animEffect>
                                    <p:set>
                                      <p:cBhvr>
                                        <p:cTn id="29" dur="1" fill="hold">
                                          <p:stCondLst>
                                            <p:cond delay="499"/>
                                          </p:stCondLst>
                                        </p:cTn>
                                        <p:tgtEl>
                                          <p:spTgt spid="142368"/>
                                        </p:tgtEl>
                                        <p:attrNameLst>
                                          <p:attrName>style.visibility</p:attrName>
                                        </p:attrNameLst>
                                      </p:cBhvr>
                                      <p:to>
                                        <p:strVal val="hidden"/>
                                      </p:to>
                                    </p:se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wipe(left)">
                                      <p:cBhvr>
                                        <p:cTn id="33" dur="500"/>
                                        <p:tgtEl>
                                          <p:spTgt spid="6">
                                            <p:txEl>
                                              <p:pRg st="3" end="3"/>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2369"/>
                                        </p:tgtEl>
                                        <p:attrNameLst>
                                          <p:attrName>style.visibility</p:attrName>
                                        </p:attrNameLst>
                                      </p:cBhvr>
                                      <p:to>
                                        <p:strVal val="visible"/>
                                      </p:to>
                                    </p:set>
                                    <p:animEffect transition="in" filter="fade">
                                      <p:cBhvr>
                                        <p:cTn id="36" dur="500"/>
                                        <p:tgtEl>
                                          <p:spTgt spid="14236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
                                            <p:txEl>
                                              <p:pRg st="4" end="4"/>
                                            </p:txEl>
                                          </p:spTgt>
                                        </p:tgtEl>
                                        <p:attrNameLst>
                                          <p:attrName>style.visibility</p:attrName>
                                        </p:attrNameLst>
                                      </p:cBhvr>
                                      <p:to>
                                        <p:strVal val="visible"/>
                                      </p:to>
                                    </p:set>
                                    <p:animEffect transition="in" filter="wipe(left)">
                                      <p:cBhvr>
                                        <p:cTn id="41" dur="500"/>
                                        <p:tgtEl>
                                          <p:spTgt spid="6">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2" nodeType="clickEffect">
                                  <p:stCondLst>
                                    <p:cond delay="0"/>
                                  </p:stCondLst>
                                  <p:childTnLst>
                                    <p:set>
                                      <p:cBhvr>
                                        <p:cTn id="45" dur="1" fill="hold">
                                          <p:stCondLst>
                                            <p:cond delay="0"/>
                                          </p:stCondLst>
                                        </p:cTn>
                                        <p:tgtEl>
                                          <p:spTgt spid="142368"/>
                                        </p:tgtEl>
                                        <p:attrNameLst>
                                          <p:attrName>style.visibility</p:attrName>
                                        </p:attrNameLst>
                                      </p:cBhvr>
                                      <p:to>
                                        <p:strVal val="visible"/>
                                      </p:to>
                                    </p:set>
                                    <p:animEffect transition="in" filter="fade">
                                      <p:cBhvr>
                                        <p:cTn id="46" dur="500"/>
                                        <p:tgtEl>
                                          <p:spTgt spid="142368"/>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6">
                                            <p:txEl>
                                              <p:pRg st="5" end="5"/>
                                            </p:txEl>
                                          </p:spTgt>
                                        </p:tgtEl>
                                        <p:attrNameLst>
                                          <p:attrName>style.visibility</p:attrName>
                                        </p:attrNameLst>
                                      </p:cBhvr>
                                      <p:to>
                                        <p:strVal val="visible"/>
                                      </p:to>
                                    </p:set>
                                    <p:animEffect transition="in" filter="wipe(left)">
                                      <p:cBhvr>
                                        <p:cTn id="50"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69" grpId="0" uiExpand="1" animBg="1"/>
      <p:bldP spid="142368" grpId="0" uiExpand="1" animBg="1"/>
      <p:bldP spid="142368" grpId="1" uiExpand="1" animBg="1"/>
      <p:bldP spid="142368" grpId="2" uiExpand="1" animBg="1"/>
      <p:bldP spid="6"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ctr"/>
          <a:lstStyle/>
          <a:p>
            <a:r>
              <a:rPr lang="en-US" altLang="en-US" dirty="0"/>
              <a:t>Producer Surplus – 3 </a:t>
            </a:r>
          </a:p>
        </p:txBody>
      </p:sp>
      <p:sp>
        <p:nvSpPr>
          <p:cNvPr id="20483" name="Content Placeholder 2"/>
          <p:cNvSpPr>
            <a:spLocks noGrp="1"/>
          </p:cNvSpPr>
          <p:nvPr>
            <p:ph idx="1"/>
          </p:nvPr>
        </p:nvSpPr>
        <p:spPr>
          <a:prstGeom prst="rect">
            <a:avLst/>
          </a:prstGeom>
        </p:spPr>
        <p:txBody>
          <a:bodyPr/>
          <a:lstStyle/>
          <a:p>
            <a:r>
              <a:rPr lang="en-US" altLang="en-US" dirty="0"/>
              <a:t>Producer surplus, </a:t>
            </a:r>
            <a:r>
              <a:rPr lang="en-US" altLang="en-US" b="1" i="1" dirty="0"/>
              <a:t>PS</a:t>
            </a:r>
            <a:r>
              <a:rPr lang="en-US" altLang="en-US" dirty="0"/>
              <a:t> = </a:t>
            </a:r>
            <a:r>
              <a:rPr lang="en-US" altLang="en-US" b="1" i="1" dirty="0"/>
              <a:t>P</a:t>
            </a:r>
            <a:r>
              <a:rPr lang="en-US" altLang="en-US" dirty="0"/>
              <a:t> - cost</a:t>
            </a:r>
          </a:p>
          <a:p>
            <a:pPr lvl="1"/>
            <a:r>
              <a:rPr lang="en-US" altLang="en-US" dirty="0"/>
              <a:t>The area below the price and above the supply curve </a:t>
            </a:r>
          </a:p>
          <a:p>
            <a:pPr lvl="2"/>
            <a:r>
              <a:rPr lang="en-US" altLang="en-US" dirty="0"/>
              <a:t>The height of the supply curve measures sellers’ costs</a:t>
            </a:r>
          </a:p>
          <a:p>
            <a:pPr lvl="2"/>
            <a:r>
              <a:rPr lang="en-US" altLang="en-US" dirty="0"/>
              <a:t>Each seller’s </a:t>
            </a:r>
            <a:r>
              <a:rPr lang="en-US" altLang="en-US" b="1" i="1" dirty="0"/>
              <a:t>PS</a:t>
            </a:r>
            <a:r>
              <a:rPr lang="en-US" altLang="en-US" dirty="0"/>
              <a:t> = </a:t>
            </a:r>
            <a:r>
              <a:rPr lang="en-US" altLang="en-US" b="1" i="1" dirty="0"/>
              <a:t>P</a:t>
            </a:r>
            <a:r>
              <a:rPr lang="en-US" altLang="en-US" dirty="0"/>
              <a:t> – cost</a:t>
            </a:r>
          </a:p>
          <a:p>
            <a:pPr lvl="2"/>
            <a:r>
              <a:rPr lang="en-US" altLang="en-US" dirty="0"/>
              <a:t>Total area is the sum of the producer surplus of all sellers</a:t>
            </a:r>
          </a:p>
        </p:txBody>
      </p:sp>
      <p:sp>
        <p:nvSpPr>
          <p:cNvPr id="2048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08BBEAE8-CB98-40C4-A50F-711C79966977}" type="slidenum">
              <a:rPr lang="en-US" altLang="en-US" sz="1200" smtClean="0">
                <a:solidFill>
                  <a:srgbClr val="002060"/>
                </a:solidFill>
              </a:rPr>
              <a:pPr algn="ctr" eaLnBrk="1" hangingPunct="1"/>
              <a:t>25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7AF4B0FB-688E-C62A-78A2-8C3545DE1727}"/>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98106772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87775" y="1009650"/>
            <a:ext cx="4979988" cy="5295900"/>
            <a:chOff x="2386" y="636"/>
            <a:chExt cx="3137" cy="3336"/>
          </a:xfrm>
        </p:grpSpPr>
        <p:graphicFrame>
          <p:nvGraphicFramePr>
            <p:cNvPr id="16386"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1638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08"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16409"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16390" name="Rectangle 6"/>
          <p:cNvSpPr>
            <a:spLocks noGrp="1" noChangeArrowheads="1"/>
          </p:cNvSpPr>
          <p:nvPr>
            <p:ph type="title"/>
          </p:nvPr>
        </p:nvSpPr>
        <p:spPr/>
        <p:txBody>
          <a:bodyPr>
            <a:normAutofit/>
          </a:bodyPr>
          <a:lstStyle/>
          <a:p>
            <a:pPr eaLnBrk="1" hangingPunct="1"/>
            <a:r>
              <a:rPr lang="en-US" dirty="0"/>
              <a:t>EXAMPLE 4A: </a:t>
            </a:r>
            <a:r>
              <a:rPr lang="en-US" dirty="0">
                <a:solidFill>
                  <a:schemeClr val="tx1"/>
                </a:solidFill>
              </a:rPr>
              <a:t>Producer surplus for one sellers</a:t>
            </a:r>
          </a:p>
        </p:txBody>
      </p:sp>
      <p:sp>
        <p:nvSpPr>
          <p:cNvPr id="150545" name="Rectangle 17"/>
          <p:cNvSpPr>
            <a:spLocks noGrp="1" noChangeArrowheads="1"/>
          </p:cNvSpPr>
          <p:nvPr>
            <p:ph idx="1"/>
          </p:nvPr>
        </p:nvSpPr>
        <p:spPr>
          <a:xfrm>
            <a:off x="304800" y="2209800"/>
            <a:ext cx="3534197" cy="4558236"/>
          </a:xfrm>
          <a:noFill/>
        </p:spPr>
        <p:txBody>
          <a:bodyPr>
            <a:normAutofit/>
          </a:bodyPr>
          <a:lstStyle/>
          <a:p>
            <a:pPr marL="0" indent="0" eaLnBrk="1" hangingPunct="1">
              <a:buFont typeface="Wingdings" pitchFamily="2" charset="2"/>
              <a:buNone/>
            </a:pPr>
            <a:r>
              <a:rPr lang="en-US" sz="2800" dirty="0">
                <a:solidFill>
                  <a:srgbClr val="4E519E"/>
                </a:solidFill>
              </a:rPr>
              <a:t>Suppose </a:t>
            </a:r>
            <a:r>
              <a:rPr lang="en-US" sz="2800" b="1" i="1" dirty="0">
                <a:solidFill>
                  <a:srgbClr val="4E519E"/>
                </a:solidFill>
              </a:rPr>
              <a:t>P</a:t>
            </a:r>
            <a:r>
              <a:rPr lang="en-US" sz="2800" dirty="0">
                <a:solidFill>
                  <a:srgbClr val="4E519E"/>
                </a:solidFill>
              </a:rPr>
              <a:t> = $40. </a:t>
            </a:r>
          </a:p>
          <a:p>
            <a:pPr marL="0" indent="0" eaLnBrk="1" hangingPunct="1">
              <a:buFont typeface="Wingdings" pitchFamily="2" charset="2"/>
              <a:buNone/>
            </a:pPr>
            <a:endParaRPr lang="en-US" sz="2800" dirty="0"/>
          </a:p>
          <a:p>
            <a:pPr marL="0" indent="0" eaLnBrk="1" hangingPunct="1">
              <a:buFont typeface="Wingdings" pitchFamily="2" charset="2"/>
              <a:buNone/>
            </a:pPr>
            <a:r>
              <a:rPr lang="en-US" sz="2800" dirty="0"/>
              <a:t>At </a:t>
            </a:r>
            <a:r>
              <a:rPr lang="en-US" sz="2800" b="1" i="1" dirty="0"/>
              <a:t>Q</a:t>
            </a:r>
            <a:r>
              <a:rPr lang="en-US" sz="2800" dirty="0"/>
              <a:t> = 15, the marginal seller’s cost is $30, and her producer surplus is = P – cost =  $10.  </a:t>
            </a:r>
          </a:p>
          <a:p>
            <a:pPr marL="0" indent="0" eaLnBrk="1" hangingPunct="1">
              <a:buFont typeface="Wingdings" pitchFamily="2" charset="2"/>
              <a:buNone/>
            </a:pPr>
            <a:endParaRPr lang="en-US" sz="2800" dirty="0"/>
          </a:p>
        </p:txBody>
      </p:sp>
      <p:sp>
        <p:nvSpPr>
          <p:cNvPr id="8" name="Slide Number Placeholder 7"/>
          <p:cNvSpPr>
            <a:spLocks noGrp="1"/>
          </p:cNvSpPr>
          <p:nvPr>
            <p:ph type="sldNum" sz="quarter" idx="10"/>
          </p:nvPr>
        </p:nvSpPr>
        <p:spPr/>
        <p:txBody>
          <a:bodyPr/>
          <a:lstStyle/>
          <a:p>
            <a:pPr>
              <a:defRPr/>
            </a:pPr>
            <a:fld id="{2F37425F-5E17-4209-B948-B5CE2119E408}" type="slidenum">
              <a:rPr lang="en-US" smtClean="0"/>
              <a:pPr>
                <a:defRPr/>
              </a:pPr>
              <a:t>26</a:t>
            </a:fld>
            <a:endParaRPr lang="en-US" dirty="0"/>
          </a:p>
        </p:txBody>
      </p:sp>
      <p:sp>
        <p:nvSpPr>
          <p:cNvPr id="16391" name="Text Box 7"/>
          <p:cNvSpPr txBox="1">
            <a:spLocks noChangeArrowheads="1"/>
          </p:cNvSpPr>
          <p:nvPr/>
        </p:nvSpPr>
        <p:spPr bwMode="auto">
          <a:xfrm>
            <a:off x="5068888" y="1054100"/>
            <a:ext cx="3470275" cy="473075"/>
          </a:xfrm>
          <a:prstGeom prst="rect">
            <a:avLst/>
          </a:prstGeom>
          <a:noFill/>
          <a:ln w="9525">
            <a:solidFill>
              <a:srgbClr val="4E519E"/>
            </a:solidFill>
            <a:miter lim="800000"/>
            <a:headEnd/>
            <a:tailEnd/>
          </a:ln>
        </p:spPr>
        <p:txBody>
          <a:bodyPr>
            <a:spAutoFit/>
          </a:bodyPr>
          <a:lstStyle/>
          <a:p>
            <a:pPr algn="ctr">
              <a:spcBef>
                <a:spcPct val="50000"/>
              </a:spcBef>
            </a:pPr>
            <a:r>
              <a:rPr lang="en-US" sz="2500" dirty="0">
                <a:solidFill>
                  <a:srgbClr val="4E519E"/>
                </a:solidFill>
                <a:latin typeface="Arial"/>
                <a:cs typeface="Arial"/>
              </a:rPr>
              <a:t>The supply of T-shirts</a:t>
            </a:r>
          </a:p>
        </p:txBody>
      </p:sp>
      <p:grpSp>
        <p:nvGrpSpPr>
          <p:cNvPr id="3" name="Group 33"/>
          <p:cNvGrpSpPr>
            <a:grpSpLocks/>
          </p:cNvGrpSpPr>
          <p:nvPr/>
        </p:nvGrpSpPr>
        <p:grpSpPr bwMode="auto">
          <a:xfrm>
            <a:off x="4586288" y="2178050"/>
            <a:ext cx="4219575" cy="2386013"/>
            <a:chOff x="2889" y="1372"/>
            <a:chExt cx="2658" cy="1503"/>
          </a:xfrm>
        </p:grpSpPr>
        <p:sp>
          <p:nvSpPr>
            <p:cNvPr id="16406" name="Line 9"/>
            <p:cNvSpPr>
              <a:spLocks noChangeShapeType="1"/>
            </p:cNvSpPr>
            <p:nvPr/>
          </p:nvSpPr>
          <p:spPr bwMode="auto">
            <a:xfrm flipV="1">
              <a:off x="2889" y="1614"/>
              <a:ext cx="2401" cy="1261"/>
            </a:xfrm>
            <a:prstGeom prst="line">
              <a:avLst/>
            </a:prstGeom>
            <a:noFill/>
            <a:ln w="44450">
              <a:solidFill>
                <a:srgbClr val="FF0000"/>
              </a:solidFill>
              <a:round/>
              <a:headEnd/>
              <a:tailEnd/>
            </a:ln>
          </p:spPr>
          <p:txBody>
            <a:bodyPr/>
            <a:lstStyle/>
            <a:p>
              <a:endParaRPr lang="en-US">
                <a:latin typeface="Arial"/>
                <a:cs typeface="Arial"/>
              </a:endParaRPr>
            </a:p>
          </p:txBody>
        </p:sp>
        <p:sp>
          <p:nvSpPr>
            <p:cNvPr id="16407" name="Rectangle 10"/>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1"/>
          <p:cNvGrpSpPr>
            <a:grpSpLocks/>
          </p:cNvGrpSpPr>
          <p:nvPr/>
        </p:nvGrpSpPr>
        <p:grpSpPr bwMode="auto">
          <a:xfrm>
            <a:off x="7380291" y="4081461"/>
            <a:ext cx="1554163" cy="1212850"/>
            <a:chOff x="4649" y="2571"/>
            <a:chExt cx="979" cy="764"/>
          </a:xfrm>
        </p:grpSpPr>
        <p:sp>
          <p:nvSpPr>
            <p:cNvPr id="16404" name="Text Box 12"/>
            <p:cNvSpPr txBox="1">
              <a:spLocks noChangeArrowheads="1"/>
            </p:cNvSpPr>
            <p:nvPr/>
          </p:nvSpPr>
          <p:spPr bwMode="auto">
            <a:xfrm>
              <a:off x="4649" y="2571"/>
              <a:ext cx="979" cy="301"/>
            </a:xfrm>
            <a:prstGeom prst="rect">
              <a:avLst/>
            </a:prstGeom>
            <a:no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T-shirts</a:t>
              </a:r>
            </a:p>
          </p:txBody>
        </p:sp>
        <p:sp>
          <p:nvSpPr>
            <p:cNvPr id="16405" name="Line 13"/>
            <p:cNvSpPr>
              <a:spLocks noChangeShapeType="1"/>
            </p:cNvSpPr>
            <p:nvPr/>
          </p:nvSpPr>
          <p:spPr bwMode="auto">
            <a:xfrm>
              <a:off x="4989" y="2901"/>
              <a:ext cx="299" cy="434"/>
            </a:xfrm>
            <a:prstGeom prst="line">
              <a:avLst/>
            </a:prstGeom>
            <a:noFill/>
            <a:ln w="38100">
              <a:solidFill>
                <a:srgbClr val="4E519E"/>
              </a:solidFill>
              <a:round/>
              <a:headEnd/>
              <a:tailEnd type="triangle" w="lg" len="med"/>
            </a:ln>
          </p:spPr>
          <p:txBody>
            <a:bodyPr/>
            <a:lstStyle/>
            <a:p>
              <a:endParaRPr lang="en-US">
                <a:latin typeface="Arial"/>
                <a:cs typeface="Arial"/>
              </a:endParaRPr>
            </a:p>
          </p:txBody>
        </p:sp>
      </p:grpSp>
      <p:grpSp>
        <p:nvGrpSpPr>
          <p:cNvPr id="5" name="Group 14"/>
          <p:cNvGrpSpPr>
            <a:grpSpLocks/>
          </p:cNvGrpSpPr>
          <p:nvPr/>
        </p:nvGrpSpPr>
        <p:grpSpPr bwMode="auto">
          <a:xfrm>
            <a:off x="1905000" y="1098550"/>
            <a:ext cx="2400300" cy="862013"/>
            <a:chOff x="1200" y="692"/>
            <a:chExt cx="1512" cy="543"/>
          </a:xfrm>
        </p:grpSpPr>
        <p:sp>
          <p:nvSpPr>
            <p:cNvPr id="16402" name="Line 15"/>
            <p:cNvSpPr>
              <a:spLocks noChangeShapeType="1"/>
            </p:cNvSpPr>
            <p:nvPr/>
          </p:nvSpPr>
          <p:spPr bwMode="auto">
            <a:xfrm flipV="1">
              <a:off x="2159" y="896"/>
              <a:ext cx="553" cy="105"/>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16403" name="Text Box 16"/>
            <p:cNvSpPr txBox="1">
              <a:spLocks noChangeArrowheads="1"/>
            </p:cNvSpPr>
            <p:nvPr/>
          </p:nvSpPr>
          <p:spPr bwMode="auto">
            <a:xfrm>
              <a:off x="1200" y="692"/>
              <a:ext cx="1147" cy="543"/>
            </a:xfrm>
            <a:prstGeom prst="rect">
              <a:avLst/>
            </a:prstGeom>
            <a:noFill/>
            <a:ln w="9525">
              <a:solidFill>
                <a:srgbClr val="4E519E"/>
              </a:solidFill>
              <a:miter lim="800000"/>
              <a:headEnd/>
              <a:tailEnd/>
            </a:ln>
          </p:spPr>
          <p:txBody>
            <a:bodyPr wrap="square">
              <a:spAutoFit/>
            </a:bodyPr>
            <a:lstStyle/>
            <a:p>
              <a:pPr algn="ctr">
                <a:spcBef>
                  <a:spcPct val="50000"/>
                </a:spcBef>
              </a:pPr>
              <a:r>
                <a:rPr lang="en-US" sz="2500" dirty="0">
                  <a:solidFill>
                    <a:srgbClr val="4E519E"/>
                  </a:solidFill>
                  <a:latin typeface="Arial"/>
                  <a:cs typeface="Arial"/>
                </a:rPr>
                <a:t>Price </a:t>
              </a:r>
              <a:br>
                <a:rPr lang="en-US" sz="2500" dirty="0">
                  <a:solidFill>
                    <a:srgbClr val="4E519E"/>
                  </a:solidFill>
                  <a:latin typeface="Arial"/>
                  <a:cs typeface="Arial"/>
                </a:rPr>
              </a:br>
              <a:r>
                <a:rPr lang="en-US" sz="2500" dirty="0">
                  <a:solidFill>
                    <a:srgbClr val="4E519E"/>
                  </a:solidFill>
                  <a:latin typeface="Arial"/>
                  <a:cs typeface="Arial"/>
                </a:rPr>
                <a:t>per unit</a:t>
              </a:r>
            </a:p>
          </p:txBody>
        </p:sp>
      </p:grpSp>
      <p:grpSp>
        <p:nvGrpSpPr>
          <p:cNvPr id="6" name="Group 34"/>
          <p:cNvGrpSpPr>
            <a:grpSpLocks/>
          </p:cNvGrpSpPr>
          <p:nvPr/>
        </p:nvGrpSpPr>
        <p:grpSpPr bwMode="auto">
          <a:xfrm>
            <a:off x="3881438" y="2882900"/>
            <a:ext cx="3544887" cy="393700"/>
            <a:chOff x="2445" y="1816"/>
            <a:chExt cx="2233" cy="248"/>
          </a:xfrm>
        </p:grpSpPr>
        <p:sp>
          <p:nvSpPr>
            <p:cNvPr id="16400" name="Line 21"/>
            <p:cNvSpPr>
              <a:spLocks noChangeShapeType="1"/>
            </p:cNvSpPr>
            <p:nvPr/>
          </p:nvSpPr>
          <p:spPr bwMode="auto">
            <a:xfrm>
              <a:off x="2771" y="1938"/>
              <a:ext cx="1907" cy="0"/>
            </a:xfrm>
            <a:prstGeom prst="line">
              <a:avLst/>
            </a:prstGeom>
            <a:noFill/>
            <a:ln w="12700">
              <a:solidFill>
                <a:srgbClr val="0000FF"/>
              </a:solidFill>
              <a:round/>
              <a:headEnd/>
              <a:tailEnd/>
            </a:ln>
          </p:spPr>
          <p:txBody>
            <a:bodyPr/>
            <a:lstStyle/>
            <a:p>
              <a:endParaRPr lang="en-US">
                <a:latin typeface="Arial"/>
                <a:cs typeface="Arial"/>
              </a:endParaRPr>
            </a:p>
          </p:txBody>
        </p:sp>
        <p:sp>
          <p:nvSpPr>
            <p:cNvPr id="16401" name="Rectangle 22"/>
            <p:cNvSpPr>
              <a:spLocks noChangeArrowheads="1"/>
            </p:cNvSpPr>
            <p:nvPr/>
          </p:nvSpPr>
          <p:spPr bwMode="auto">
            <a:xfrm>
              <a:off x="2445" y="1816"/>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150547" name="Line 19"/>
          <p:cNvSpPr>
            <a:spLocks noChangeShapeType="1"/>
          </p:cNvSpPr>
          <p:nvPr/>
        </p:nvSpPr>
        <p:spPr bwMode="auto">
          <a:xfrm flipV="1">
            <a:off x="6281738" y="3073400"/>
            <a:ext cx="0" cy="592138"/>
          </a:xfrm>
          <a:prstGeom prst="line">
            <a:avLst/>
          </a:prstGeom>
          <a:noFill/>
          <a:ln w="38100">
            <a:solidFill>
              <a:srgbClr val="FF0000"/>
            </a:solidFill>
            <a:round/>
            <a:headEnd type="triangle" w="lg" len="med"/>
            <a:tailEnd type="triangle" w="lg" len="med"/>
          </a:ln>
        </p:spPr>
        <p:txBody>
          <a:bodyPr/>
          <a:lstStyle/>
          <a:p>
            <a:endParaRPr lang="en-US">
              <a:latin typeface="Arial"/>
              <a:cs typeface="Arial"/>
            </a:endParaRPr>
          </a:p>
        </p:txBody>
      </p:sp>
      <p:sp>
        <p:nvSpPr>
          <p:cNvPr id="150546" name="Line 18"/>
          <p:cNvSpPr>
            <a:spLocks noChangeShapeType="1"/>
          </p:cNvSpPr>
          <p:nvPr/>
        </p:nvSpPr>
        <p:spPr bwMode="auto">
          <a:xfrm flipH="1" flipV="1">
            <a:off x="6283325" y="3675063"/>
            <a:ext cx="7938" cy="1770062"/>
          </a:xfrm>
          <a:prstGeom prst="line">
            <a:avLst/>
          </a:prstGeom>
          <a:noFill/>
          <a:ln w="38100">
            <a:solidFill>
              <a:srgbClr val="00CC00"/>
            </a:solidFill>
            <a:round/>
            <a:headEnd/>
            <a:tailEnd type="triangle" w="lg" len="med"/>
          </a:ln>
        </p:spPr>
        <p:txBody>
          <a:bodyPr/>
          <a:lstStyle/>
          <a:p>
            <a:endParaRPr lang="en-US">
              <a:latin typeface="Arial"/>
              <a:cs typeface="Arial"/>
            </a:endParaRPr>
          </a:p>
        </p:txBody>
      </p:sp>
      <p:sp>
        <p:nvSpPr>
          <p:cNvPr id="150566" name="Line 38"/>
          <p:cNvSpPr>
            <a:spLocks noChangeShapeType="1"/>
          </p:cNvSpPr>
          <p:nvPr/>
        </p:nvSpPr>
        <p:spPr bwMode="auto">
          <a:xfrm>
            <a:off x="4586288" y="3670300"/>
            <a:ext cx="1697037" cy="0"/>
          </a:xfrm>
          <a:prstGeom prst="line">
            <a:avLst/>
          </a:prstGeom>
          <a:noFill/>
          <a:ln w="12700">
            <a:solidFill>
              <a:srgbClr val="3333FF"/>
            </a:solidFill>
            <a:prstDash val="lgDash"/>
            <a:round/>
            <a:headEnd/>
            <a:tailEnd/>
          </a:ln>
        </p:spPr>
        <p:txBody>
          <a:bodyPr/>
          <a:lstStyle/>
          <a:p>
            <a:endParaRPr lang="en-US">
              <a:latin typeface="Arial"/>
              <a:cs typeface="Arial"/>
            </a:endParaRPr>
          </a:p>
        </p:txBody>
      </p:sp>
      <p:sp>
        <p:nvSpPr>
          <p:cNvPr id="7" name="Footer Placeholder 6">
            <a:extLst>
              <a:ext uri="{FF2B5EF4-FFF2-40B4-BE49-F238E27FC236}">
                <a16:creationId xmlns:a16="http://schemas.microsoft.com/office/drawing/2014/main" id="{3F30BE94-4B40-C919-C21F-399759F7C699}"/>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24742400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50545">
                                            <p:txEl>
                                              <p:pRg st="0" end="0"/>
                                            </p:txEl>
                                          </p:spTgt>
                                        </p:tgtEl>
                                        <p:attrNameLst>
                                          <p:attrName>style.visibility</p:attrName>
                                        </p:attrNameLst>
                                      </p:cBhvr>
                                      <p:to>
                                        <p:strVal val="visible"/>
                                      </p:to>
                                    </p:set>
                                    <p:animEffect transition="in" filter="wipe(left)">
                                      <p:cBhvr>
                                        <p:cTn id="14" dur="500"/>
                                        <p:tgtEl>
                                          <p:spTgt spid="150545">
                                            <p:txEl>
                                              <p:pRg st="0" end="0"/>
                                            </p:txEl>
                                          </p:spTgt>
                                        </p:tgtEl>
                                      </p:cBhvr>
                                    </p:animEffect>
                                  </p:childTnLst>
                                </p:cTn>
                              </p:par>
                            </p:childTnLst>
                          </p:cTn>
                        </p:par>
                        <p:par>
                          <p:cTn id="15" fill="hold">
                            <p:stCondLst>
                              <p:cond delay="1000"/>
                            </p:stCondLst>
                            <p:childTnLst>
                              <p:par>
                                <p:cTn id="16" presetID="18" presetClass="entr" presetSubtype="6"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strips(downRigh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0545">
                                            <p:txEl>
                                              <p:pRg st="2" end="2"/>
                                            </p:txEl>
                                          </p:spTgt>
                                        </p:tgtEl>
                                        <p:attrNameLst>
                                          <p:attrName>style.visibility</p:attrName>
                                        </p:attrNameLst>
                                      </p:cBhvr>
                                      <p:to>
                                        <p:strVal val="visible"/>
                                      </p:to>
                                    </p:set>
                                    <p:animEffect transition="in" filter="wipe(left)">
                                      <p:cBhvr>
                                        <p:cTn id="23" dur="500"/>
                                        <p:tgtEl>
                                          <p:spTgt spid="150545">
                                            <p:txEl>
                                              <p:pRg st="2" end="2"/>
                                            </p:txEl>
                                          </p:spTgt>
                                        </p:tgtEl>
                                      </p:cBhvr>
                                    </p:animEffect>
                                  </p:childTnLst>
                                </p:cTn>
                              </p:par>
                            </p:childTnLst>
                          </p:cTn>
                        </p:par>
                        <p:par>
                          <p:cTn id="24" fill="hold">
                            <p:stCondLst>
                              <p:cond delay="500"/>
                            </p:stCondLst>
                            <p:childTnLst>
                              <p:par>
                                <p:cTn id="25" presetID="22" presetClass="entr" presetSubtype="4" fill="hold" grpId="0" nodeType="afterEffect">
                                  <p:stCondLst>
                                    <p:cond delay="0"/>
                                  </p:stCondLst>
                                  <p:childTnLst>
                                    <p:set>
                                      <p:cBhvr>
                                        <p:cTn id="26" dur="1" fill="hold">
                                          <p:stCondLst>
                                            <p:cond delay="0"/>
                                          </p:stCondLst>
                                        </p:cTn>
                                        <p:tgtEl>
                                          <p:spTgt spid="150546"/>
                                        </p:tgtEl>
                                        <p:attrNameLst>
                                          <p:attrName>style.visibility</p:attrName>
                                        </p:attrNameLst>
                                      </p:cBhvr>
                                      <p:to>
                                        <p:strVal val="visible"/>
                                      </p:to>
                                    </p:set>
                                    <p:animEffect transition="in" filter="wipe(down)">
                                      <p:cBhvr>
                                        <p:cTn id="27" dur="500"/>
                                        <p:tgtEl>
                                          <p:spTgt spid="150546"/>
                                        </p:tgtEl>
                                      </p:cBhvr>
                                    </p:animEffect>
                                  </p:childTnLst>
                                </p:cTn>
                              </p:par>
                            </p:childTnLst>
                          </p:cTn>
                        </p:par>
                        <p:par>
                          <p:cTn id="28" fill="hold">
                            <p:stCondLst>
                              <p:cond delay="1000"/>
                            </p:stCondLst>
                            <p:childTnLst>
                              <p:par>
                                <p:cTn id="29" presetID="22" presetClass="entr" presetSubtype="2" fill="hold" grpId="0" nodeType="afterEffect">
                                  <p:stCondLst>
                                    <p:cond delay="0"/>
                                  </p:stCondLst>
                                  <p:childTnLst>
                                    <p:set>
                                      <p:cBhvr>
                                        <p:cTn id="30" dur="1" fill="hold">
                                          <p:stCondLst>
                                            <p:cond delay="0"/>
                                          </p:stCondLst>
                                        </p:cTn>
                                        <p:tgtEl>
                                          <p:spTgt spid="150566"/>
                                        </p:tgtEl>
                                        <p:attrNameLst>
                                          <p:attrName>style.visibility</p:attrName>
                                        </p:attrNameLst>
                                      </p:cBhvr>
                                      <p:to>
                                        <p:strVal val="visible"/>
                                      </p:to>
                                    </p:set>
                                    <p:animEffect transition="in" filter="wipe(right)">
                                      <p:cBhvr>
                                        <p:cTn id="31" dur="500"/>
                                        <p:tgtEl>
                                          <p:spTgt spid="150566"/>
                                        </p:tgtEl>
                                      </p:cBhvr>
                                    </p:animEffect>
                                  </p:childTnLst>
                                </p:cTn>
                              </p:par>
                            </p:childTnLst>
                          </p:cTn>
                        </p:par>
                        <p:par>
                          <p:cTn id="32" fill="hold">
                            <p:stCondLst>
                              <p:cond delay="1500"/>
                            </p:stCondLst>
                            <p:childTnLst>
                              <p:par>
                                <p:cTn id="33" presetID="4" presetClass="entr" presetSubtype="32" fill="hold" grpId="0" nodeType="afterEffect">
                                  <p:stCondLst>
                                    <p:cond delay="0"/>
                                  </p:stCondLst>
                                  <p:childTnLst>
                                    <p:set>
                                      <p:cBhvr>
                                        <p:cTn id="34" dur="1" fill="hold">
                                          <p:stCondLst>
                                            <p:cond delay="0"/>
                                          </p:stCondLst>
                                        </p:cTn>
                                        <p:tgtEl>
                                          <p:spTgt spid="150547"/>
                                        </p:tgtEl>
                                        <p:attrNameLst>
                                          <p:attrName>style.visibility</p:attrName>
                                        </p:attrNameLst>
                                      </p:cBhvr>
                                      <p:to>
                                        <p:strVal val="visible"/>
                                      </p:to>
                                    </p:set>
                                    <p:animEffect transition="in" filter="box(out)">
                                      <p:cBhvr>
                                        <p:cTn id="35" dur="500"/>
                                        <p:tgtEl>
                                          <p:spTgt spid="150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45" grpId="0" build="p" bldLvl="5"/>
      <p:bldP spid="150547" grpId="0" animBg="1"/>
      <p:bldP spid="150546" grpId="0" animBg="1"/>
      <p:bldP spid="150566"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87775" y="1009650"/>
            <a:ext cx="4979988" cy="5295900"/>
            <a:chOff x="2386" y="636"/>
            <a:chExt cx="3137" cy="3336"/>
          </a:xfrm>
        </p:grpSpPr>
        <p:graphicFrame>
          <p:nvGraphicFramePr>
            <p:cNvPr id="17410"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1741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29"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17430"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164891" name="AutoShape 27"/>
          <p:cNvSpPr>
            <a:spLocks noChangeArrowheads="1"/>
          </p:cNvSpPr>
          <p:nvPr/>
        </p:nvSpPr>
        <p:spPr bwMode="auto">
          <a:xfrm flipV="1">
            <a:off x="4594225" y="3082925"/>
            <a:ext cx="2800350" cy="1455738"/>
          </a:xfrm>
          <a:prstGeom prst="rtTriangle">
            <a:avLst/>
          </a:prstGeom>
          <a:solidFill>
            <a:srgbClr val="66FF66"/>
          </a:solidFill>
          <a:ln w="9525">
            <a:noFill/>
            <a:miter lim="800000"/>
            <a:headEnd/>
            <a:tailEnd/>
          </a:ln>
        </p:spPr>
        <p:txBody>
          <a:bodyPr wrap="none" anchor="ctr"/>
          <a:lstStyle/>
          <a:p>
            <a:endParaRPr lang="en-US">
              <a:latin typeface="Arial"/>
              <a:cs typeface="Arial"/>
            </a:endParaRPr>
          </a:p>
        </p:txBody>
      </p:sp>
      <p:sp>
        <p:nvSpPr>
          <p:cNvPr id="17415" name="Rectangle 6"/>
          <p:cNvSpPr>
            <a:spLocks noGrp="1" noChangeArrowheads="1"/>
          </p:cNvSpPr>
          <p:nvPr>
            <p:ph type="title"/>
          </p:nvPr>
        </p:nvSpPr>
        <p:spPr/>
        <p:txBody>
          <a:bodyPr>
            <a:normAutofit/>
          </a:bodyPr>
          <a:lstStyle/>
          <a:p>
            <a:pPr eaLnBrk="1" hangingPunct="1"/>
            <a:r>
              <a:rPr lang="en-US" dirty="0"/>
              <a:t>EXAMPLE 4B: </a:t>
            </a:r>
            <a:r>
              <a:rPr lang="en-US" dirty="0">
                <a:solidFill>
                  <a:schemeClr val="tx1"/>
                </a:solidFill>
              </a:rPr>
              <a:t>Total producer surplus</a:t>
            </a:r>
          </a:p>
        </p:txBody>
      </p:sp>
      <p:sp>
        <p:nvSpPr>
          <p:cNvPr id="164881" name="Rectangle 17"/>
          <p:cNvSpPr>
            <a:spLocks noGrp="1" noChangeArrowheads="1"/>
          </p:cNvSpPr>
          <p:nvPr>
            <p:ph idx="1"/>
          </p:nvPr>
        </p:nvSpPr>
        <p:spPr>
          <a:xfrm>
            <a:off x="347241" y="914400"/>
            <a:ext cx="3310359" cy="5534025"/>
          </a:xfrm>
          <a:noFill/>
        </p:spPr>
        <p:txBody>
          <a:bodyPr>
            <a:normAutofit/>
          </a:bodyPr>
          <a:lstStyle/>
          <a:p>
            <a:pPr marL="0" indent="0" eaLnBrk="1" hangingPunct="1">
              <a:lnSpc>
                <a:spcPct val="100000"/>
              </a:lnSpc>
              <a:spcBef>
                <a:spcPct val="0"/>
              </a:spcBef>
              <a:buClrTx/>
              <a:buSzTx/>
              <a:buFontTx/>
              <a:buNone/>
            </a:pPr>
            <a:r>
              <a:rPr lang="en-US" sz="2800" b="1" i="1" dirty="0">
                <a:solidFill>
                  <a:srgbClr val="4E519E"/>
                </a:solidFill>
              </a:rPr>
              <a:t>PS</a:t>
            </a:r>
            <a:r>
              <a:rPr lang="en-US" sz="2800" dirty="0">
                <a:solidFill>
                  <a:srgbClr val="4E519E"/>
                </a:solidFill>
              </a:rPr>
              <a:t> is the area between </a:t>
            </a:r>
            <a:r>
              <a:rPr lang="en-US" sz="2800" b="1" i="1" dirty="0">
                <a:solidFill>
                  <a:srgbClr val="4E519E"/>
                </a:solidFill>
              </a:rPr>
              <a:t>P</a:t>
            </a:r>
            <a:r>
              <a:rPr lang="en-US" sz="2800" dirty="0">
                <a:solidFill>
                  <a:srgbClr val="4E519E"/>
                </a:solidFill>
              </a:rPr>
              <a:t> and the </a:t>
            </a:r>
            <a:r>
              <a:rPr lang="en-US" sz="2800" b="1" i="1" dirty="0">
                <a:solidFill>
                  <a:srgbClr val="4E519E"/>
                </a:solidFill>
              </a:rPr>
              <a:t>S</a:t>
            </a:r>
            <a:r>
              <a:rPr lang="en-US" sz="2800" dirty="0">
                <a:solidFill>
                  <a:srgbClr val="4E519E"/>
                </a:solidFill>
              </a:rPr>
              <a:t> curve, from 0 to </a:t>
            </a:r>
            <a:r>
              <a:rPr lang="en-US" sz="2800" b="1" i="1" dirty="0">
                <a:solidFill>
                  <a:srgbClr val="4E519E"/>
                </a:solidFill>
              </a:rPr>
              <a:t>Q</a:t>
            </a:r>
            <a:r>
              <a:rPr lang="en-US" sz="2800" dirty="0">
                <a:solidFill>
                  <a:srgbClr val="4E519E"/>
                </a:solidFill>
              </a:rPr>
              <a:t>.</a:t>
            </a:r>
          </a:p>
          <a:p>
            <a:pPr marL="0" indent="0" eaLnBrk="1" hangingPunct="1">
              <a:spcBef>
                <a:spcPct val="50000"/>
              </a:spcBef>
              <a:buClrTx/>
              <a:buSzTx/>
              <a:buFontTx/>
              <a:buNone/>
            </a:pPr>
            <a:r>
              <a:rPr lang="en-US" sz="2800" dirty="0"/>
              <a:t>The height of this triangle is $40 – 15 = $25.</a:t>
            </a:r>
          </a:p>
          <a:p>
            <a:pPr marL="0" indent="0" eaLnBrk="1" hangingPunct="1">
              <a:spcBef>
                <a:spcPct val="50000"/>
              </a:spcBef>
              <a:buClrTx/>
              <a:buSzTx/>
              <a:buFontTx/>
              <a:buNone/>
            </a:pPr>
            <a:r>
              <a:rPr lang="en-US" sz="2800" dirty="0"/>
              <a:t>So, </a:t>
            </a:r>
            <a:br>
              <a:rPr lang="en-US" sz="2800" dirty="0"/>
            </a:br>
            <a:r>
              <a:rPr lang="en-US" sz="2800" b="1" i="1" dirty="0"/>
              <a:t>PS</a:t>
            </a:r>
            <a:r>
              <a:rPr lang="en-US" sz="2800" dirty="0"/>
              <a:t> = ½ x </a:t>
            </a:r>
            <a:r>
              <a:rPr lang="en-US" sz="2800" i="1" dirty="0"/>
              <a:t>b</a:t>
            </a:r>
            <a:r>
              <a:rPr lang="en-US" sz="2800" dirty="0"/>
              <a:t> x </a:t>
            </a:r>
            <a:r>
              <a:rPr lang="en-US" sz="2800" i="1" dirty="0"/>
              <a:t>h</a:t>
            </a:r>
            <a:br>
              <a:rPr lang="en-US" sz="2800" dirty="0"/>
            </a:br>
            <a:r>
              <a:rPr lang="en-US" sz="2800" dirty="0"/>
              <a:t>      = ½ x 25 x $25</a:t>
            </a:r>
            <a:br>
              <a:rPr lang="en-US" sz="2800" dirty="0"/>
            </a:br>
            <a:r>
              <a:rPr lang="en-US" sz="2800" dirty="0"/>
              <a:t>      = </a:t>
            </a:r>
            <a:r>
              <a:rPr lang="en-US" sz="2800" u="sng" dirty="0"/>
              <a:t>$312.50</a:t>
            </a:r>
          </a:p>
          <a:p>
            <a:pPr marL="0" indent="0" eaLnBrk="1" hangingPunct="1">
              <a:lnSpc>
                <a:spcPct val="100000"/>
              </a:lnSpc>
              <a:spcBef>
                <a:spcPct val="0"/>
              </a:spcBef>
              <a:buClrTx/>
              <a:buSzTx/>
              <a:buFontTx/>
              <a:buNone/>
            </a:pPr>
            <a:endParaRPr lang="en-US" sz="2800" dirty="0"/>
          </a:p>
        </p:txBody>
      </p:sp>
      <p:sp>
        <p:nvSpPr>
          <p:cNvPr id="7" name="Slide Number Placeholder 6"/>
          <p:cNvSpPr>
            <a:spLocks noGrp="1"/>
          </p:cNvSpPr>
          <p:nvPr>
            <p:ph type="sldNum" sz="quarter" idx="10"/>
          </p:nvPr>
        </p:nvSpPr>
        <p:spPr/>
        <p:txBody>
          <a:bodyPr/>
          <a:lstStyle/>
          <a:p>
            <a:pPr>
              <a:defRPr/>
            </a:pPr>
            <a:fld id="{2F37425F-5E17-4209-B948-B5CE2119E408}" type="slidenum">
              <a:rPr lang="en-US" smtClean="0"/>
              <a:pPr>
                <a:defRPr/>
              </a:pPr>
              <a:t>27</a:t>
            </a:fld>
            <a:endParaRPr lang="en-US" dirty="0"/>
          </a:p>
        </p:txBody>
      </p:sp>
      <p:sp>
        <p:nvSpPr>
          <p:cNvPr id="17416" name="Text Box 7"/>
          <p:cNvSpPr txBox="1">
            <a:spLocks noChangeArrowheads="1"/>
          </p:cNvSpPr>
          <p:nvPr/>
        </p:nvSpPr>
        <p:spPr bwMode="auto">
          <a:xfrm>
            <a:off x="5068888" y="1054100"/>
            <a:ext cx="3470275" cy="473075"/>
          </a:xfrm>
          <a:prstGeom prst="rect">
            <a:avLst/>
          </a:prstGeom>
          <a:noFill/>
          <a:ln w="9525">
            <a:solidFill>
              <a:srgbClr val="4E519E"/>
            </a:solidFill>
            <a:miter lim="800000"/>
            <a:headEnd/>
            <a:tailEnd/>
          </a:ln>
        </p:spPr>
        <p:txBody>
          <a:bodyPr>
            <a:spAutoFit/>
          </a:bodyPr>
          <a:lstStyle/>
          <a:p>
            <a:pPr algn="ctr">
              <a:spcBef>
                <a:spcPct val="50000"/>
              </a:spcBef>
            </a:pPr>
            <a:r>
              <a:rPr lang="en-US" sz="2500" dirty="0">
                <a:solidFill>
                  <a:srgbClr val="4E519E"/>
                </a:solidFill>
                <a:latin typeface="Arial"/>
                <a:cs typeface="Arial"/>
              </a:rPr>
              <a:t>The supply of T-shirts</a:t>
            </a:r>
          </a:p>
        </p:txBody>
      </p:sp>
      <p:grpSp>
        <p:nvGrpSpPr>
          <p:cNvPr id="3" name="Group 8"/>
          <p:cNvGrpSpPr>
            <a:grpSpLocks/>
          </p:cNvGrpSpPr>
          <p:nvPr/>
        </p:nvGrpSpPr>
        <p:grpSpPr bwMode="auto">
          <a:xfrm>
            <a:off x="4586288" y="2178050"/>
            <a:ext cx="4219575" cy="2386013"/>
            <a:chOff x="2889" y="1372"/>
            <a:chExt cx="2658" cy="1503"/>
          </a:xfrm>
        </p:grpSpPr>
        <p:sp>
          <p:nvSpPr>
            <p:cNvPr id="17427" name="Line 9"/>
            <p:cNvSpPr>
              <a:spLocks noChangeShapeType="1"/>
            </p:cNvSpPr>
            <p:nvPr/>
          </p:nvSpPr>
          <p:spPr bwMode="auto">
            <a:xfrm flipV="1">
              <a:off x="2889" y="1614"/>
              <a:ext cx="2401" cy="1261"/>
            </a:xfrm>
            <a:prstGeom prst="line">
              <a:avLst/>
            </a:prstGeom>
            <a:noFill/>
            <a:ln w="44450">
              <a:solidFill>
                <a:srgbClr val="FF0000"/>
              </a:solidFill>
              <a:round/>
              <a:headEnd/>
              <a:tailEnd/>
            </a:ln>
          </p:spPr>
          <p:txBody>
            <a:bodyPr/>
            <a:lstStyle/>
            <a:p>
              <a:endParaRPr lang="en-US">
                <a:latin typeface="Arial"/>
                <a:cs typeface="Arial"/>
              </a:endParaRPr>
            </a:p>
          </p:txBody>
        </p:sp>
        <p:sp>
          <p:nvSpPr>
            <p:cNvPr id="17428" name="Rectangle 10"/>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8"/>
          <p:cNvGrpSpPr>
            <a:grpSpLocks/>
          </p:cNvGrpSpPr>
          <p:nvPr/>
        </p:nvGrpSpPr>
        <p:grpSpPr bwMode="auto">
          <a:xfrm>
            <a:off x="3881438" y="2882900"/>
            <a:ext cx="3544887" cy="393700"/>
            <a:chOff x="2445" y="1816"/>
            <a:chExt cx="2233" cy="248"/>
          </a:xfrm>
        </p:grpSpPr>
        <p:sp>
          <p:nvSpPr>
            <p:cNvPr id="17425" name="Line 19"/>
            <p:cNvSpPr>
              <a:spLocks noChangeShapeType="1"/>
            </p:cNvSpPr>
            <p:nvPr/>
          </p:nvSpPr>
          <p:spPr bwMode="auto">
            <a:xfrm>
              <a:off x="2771" y="1938"/>
              <a:ext cx="1907" cy="0"/>
            </a:xfrm>
            <a:prstGeom prst="line">
              <a:avLst/>
            </a:prstGeom>
            <a:noFill/>
            <a:ln w="12700">
              <a:solidFill>
                <a:srgbClr val="0000FF"/>
              </a:solidFill>
              <a:round/>
              <a:headEnd/>
              <a:tailEnd/>
            </a:ln>
          </p:spPr>
          <p:txBody>
            <a:bodyPr/>
            <a:lstStyle/>
            <a:p>
              <a:endParaRPr lang="en-US">
                <a:latin typeface="Arial"/>
                <a:cs typeface="Arial"/>
              </a:endParaRPr>
            </a:p>
          </p:txBody>
        </p:sp>
        <p:sp>
          <p:nvSpPr>
            <p:cNvPr id="17426" name="Rectangle 20"/>
            <p:cNvSpPr>
              <a:spLocks noChangeArrowheads="1"/>
            </p:cNvSpPr>
            <p:nvPr/>
          </p:nvSpPr>
          <p:spPr bwMode="auto">
            <a:xfrm>
              <a:off x="2445" y="1816"/>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17420" name="Line 25"/>
          <p:cNvSpPr>
            <a:spLocks noChangeShapeType="1"/>
          </p:cNvSpPr>
          <p:nvPr/>
        </p:nvSpPr>
        <p:spPr bwMode="auto">
          <a:xfrm rot="5400000">
            <a:off x="6082506" y="4418807"/>
            <a:ext cx="2681287" cy="0"/>
          </a:xfrm>
          <a:prstGeom prst="line">
            <a:avLst/>
          </a:prstGeom>
          <a:noFill/>
          <a:ln w="12700">
            <a:solidFill>
              <a:srgbClr val="0000FF"/>
            </a:solidFill>
            <a:round/>
            <a:headEnd/>
            <a:tailEnd/>
          </a:ln>
        </p:spPr>
        <p:txBody>
          <a:bodyPr/>
          <a:lstStyle/>
          <a:p>
            <a:endParaRPr lang="en-US">
              <a:latin typeface="Arial"/>
              <a:cs typeface="Arial"/>
            </a:endParaRPr>
          </a:p>
        </p:txBody>
      </p:sp>
      <p:sp>
        <p:nvSpPr>
          <p:cNvPr id="17421" name="Rectangle 26"/>
          <p:cNvSpPr>
            <a:spLocks noChangeArrowheads="1"/>
          </p:cNvSpPr>
          <p:nvPr/>
        </p:nvSpPr>
        <p:spPr bwMode="auto">
          <a:xfrm>
            <a:off x="7161213" y="5764213"/>
            <a:ext cx="522287" cy="393700"/>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nvGrpSpPr>
          <p:cNvPr id="5" name="Group 30"/>
          <p:cNvGrpSpPr>
            <a:grpSpLocks/>
          </p:cNvGrpSpPr>
          <p:nvPr/>
        </p:nvGrpSpPr>
        <p:grpSpPr bwMode="auto">
          <a:xfrm>
            <a:off x="3803650" y="3086100"/>
            <a:ext cx="739775" cy="1477963"/>
            <a:chOff x="2396" y="1944"/>
            <a:chExt cx="466" cy="931"/>
          </a:xfrm>
        </p:grpSpPr>
        <p:sp>
          <p:nvSpPr>
            <p:cNvPr id="17423" name="AutoShape 28"/>
            <p:cNvSpPr>
              <a:spLocks/>
            </p:cNvSpPr>
            <p:nvPr/>
          </p:nvSpPr>
          <p:spPr bwMode="auto">
            <a:xfrm>
              <a:off x="2659" y="1944"/>
              <a:ext cx="203" cy="931"/>
            </a:xfrm>
            <a:prstGeom prst="leftBrace">
              <a:avLst>
                <a:gd name="adj1" fmla="val 62572"/>
                <a:gd name="adj2" fmla="val 58968"/>
              </a:avLst>
            </a:prstGeom>
            <a:noFill/>
            <a:ln w="19050">
              <a:solidFill>
                <a:srgbClr val="FF0000"/>
              </a:solidFill>
              <a:round/>
              <a:headEnd/>
              <a:tailEnd/>
            </a:ln>
          </p:spPr>
          <p:txBody>
            <a:bodyPr wrap="none" anchor="ctr"/>
            <a:lstStyle/>
            <a:p>
              <a:endParaRPr lang="en-US">
                <a:latin typeface="Arial"/>
                <a:cs typeface="Arial"/>
              </a:endParaRPr>
            </a:p>
          </p:txBody>
        </p:sp>
        <p:sp>
          <p:nvSpPr>
            <p:cNvPr id="17424" name="Text Box 29"/>
            <p:cNvSpPr txBox="1">
              <a:spLocks noChangeArrowheads="1"/>
            </p:cNvSpPr>
            <p:nvPr/>
          </p:nvSpPr>
          <p:spPr bwMode="auto">
            <a:xfrm>
              <a:off x="2396" y="2336"/>
              <a:ext cx="231" cy="308"/>
            </a:xfrm>
            <a:prstGeom prst="rect">
              <a:avLst/>
            </a:prstGeom>
            <a:noFill/>
            <a:ln w="9525">
              <a:noFill/>
              <a:miter lim="800000"/>
              <a:headEnd/>
              <a:tailEnd/>
            </a:ln>
          </p:spPr>
          <p:txBody>
            <a:bodyPr>
              <a:spAutoFit/>
            </a:bodyPr>
            <a:lstStyle/>
            <a:p>
              <a:pPr algn="ctr">
                <a:spcBef>
                  <a:spcPct val="50000"/>
                </a:spcBef>
              </a:pPr>
              <a:r>
                <a:rPr lang="en-US" sz="2600" i="1">
                  <a:solidFill>
                    <a:srgbClr val="FF0000"/>
                  </a:solidFill>
                  <a:latin typeface="Arial"/>
                  <a:cs typeface="Arial"/>
                </a:rPr>
                <a:t>h</a:t>
              </a:r>
            </a:p>
          </p:txBody>
        </p:sp>
      </p:grpSp>
      <p:sp>
        <p:nvSpPr>
          <p:cNvPr id="6" name="Footer Placeholder 5">
            <a:extLst>
              <a:ext uri="{FF2B5EF4-FFF2-40B4-BE49-F238E27FC236}">
                <a16:creationId xmlns:a16="http://schemas.microsoft.com/office/drawing/2014/main" id="{295DFA13-3734-B80D-D708-4491067B11D9}"/>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9614002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81">
                                            <p:txEl>
                                              <p:pRg st="0" end="0"/>
                                            </p:txEl>
                                          </p:spTgt>
                                        </p:tgtEl>
                                        <p:attrNameLst>
                                          <p:attrName>style.visibility</p:attrName>
                                        </p:attrNameLst>
                                      </p:cBhvr>
                                      <p:to>
                                        <p:strVal val="visible"/>
                                      </p:to>
                                    </p:set>
                                    <p:animEffect transition="in" filter="wipe(left)">
                                      <p:cBhvr>
                                        <p:cTn id="7" dur="500"/>
                                        <p:tgtEl>
                                          <p:spTgt spid="164881">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4891"/>
                                        </p:tgtEl>
                                        <p:attrNameLst>
                                          <p:attrName>style.visibility</p:attrName>
                                        </p:attrNameLst>
                                      </p:cBhvr>
                                      <p:to>
                                        <p:strVal val="visible"/>
                                      </p:to>
                                    </p:set>
                                    <p:animEffect transition="in" filter="fade">
                                      <p:cBhvr>
                                        <p:cTn id="11" dur="500"/>
                                        <p:tgtEl>
                                          <p:spTgt spid="16489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4881">
                                            <p:txEl>
                                              <p:pRg st="1" end="1"/>
                                            </p:txEl>
                                          </p:spTgt>
                                        </p:tgtEl>
                                        <p:attrNameLst>
                                          <p:attrName>style.visibility</p:attrName>
                                        </p:attrNameLst>
                                      </p:cBhvr>
                                      <p:to>
                                        <p:strVal val="visible"/>
                                      </p:to>
                                    </p:set>
                                    <p:animEffect transition="in" filter="wipe(left)">
                                      <p:cBhvr>
                                        <p:cTn id="16" dur="500"/>
                                        <p:tgtEl>
                                          <p:spTgt spid="164881">
                                            <p:txEl>
                                              <p:pRg st="1" end="1"/>
                                            </p:txEl>
                                          </p:spTgt>
                                        </p:tgtEl>
                                      </p:cBhvr>
                                    </p:animEffect>
                                  </p:childTnLst>
                                </p:cTn>
                              </p:par>
                            </p:childTnLst>
                          </p:cTn>
                        </p:par>
                        <p:par>
                          <p:cTn id="17" fill="hold">
                            <p:stCondLst>
                              <p:cond delay="500"/>
                            </p:stCondLst>
                            <p:childTnLst>
                              <p:par>
                                <p:cTn id="18" presetID="18" presetClass="entr" presetSubtype="12"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trips(down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4881">
                                            <p:txEl>
                                              <p:pRg st="2" end="2"/>
                                            </p:txEl>
                                          </p:spTgt>
                                        </p:tgtEl>
                                        <p:attrNameLst>
                                          <p:attrName>style.visibility</p:attrName>
                                        </p:attrNameLst>
                                      </p:cBhvr>
                                      <p:to>
                                        <p:strVal val="visible"/>
                                      </p:to>
                                    </p:set>
                                    <p:animEffect transition="in" filter="wipe(left)">
                                      <p:cBhvr>
                                        <p:cTn id="25" dur="500"/>
                                        <p:tgtEl>
                                          <p:spTgt spid="1648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91" grpId="0" animBg="1"/>
      <p:bldP spid="164881" grpId="0" build="p" bldLvl="5"/>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87775" y="1009650"/>
            <a:ext cx="4979988" cy="5295900"/>
            <a:chOff x="2386" y="636"/>
            <a:chExt cx="3137" cy="3336"/>
          </a:xfrm>
        </p:grpSpPr>
        <p:graphicFrame>
          <p:nvGraphicFramePr>
            <p:cNvPr id="18434"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1843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61"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18462"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18438" name="AutoShape 6"/>
          <p:cNvSpPr>
            <a:spLocks noChangeArrowheads="1"/>
          </p:cNvSpPr>
          <p:nvPr/>
        </p:nvSpPr>
        <p:spPr bwMode="auto">
          <a:xfrm flipV="1">
            <a:off x="4594225" y="3082925"/>
            <a:ext cx="2800350" cy="1455738"/>
          </a:xfrm>
          <a:prstGeom prst="rtTriangle">
            <a:avLst/>
          </a:prstGeom>
          <a:solidFill>
            <a:srgbClr val="66FF66"/>
          </a:solidFill>
          <a:ln w="9525">
            <a:noFill/>
            <a:miter lim="800000"/>
            <a:headEnd/>
            <a:tailEnd/>
          </a:ln>
        </p:spPr>
        <p:txBody>
          <a:bodyPr wrap="none" anchor="ctr"/>
          <a:lstStyle/>
          <a:p>
            <a:endParaRPr lang="en-US">
              <a:latin typeface="Arial"/>
              <a:cs typeface="Arial"/>
            </a:endParaRPr>
          </a:p>
        </p:txBody>
      </p:sp>
      <p:sp>
        <p:nvSpPr>
          <p:cNvPr id="18439" name="Rectangle 7"/>
          <p:cNvSpPr>
            <a:spLocks noGrp="1" noChangeArrowheads="1"/>
          </p:cNvSpPr>
          <p:nvPr>
            <p:ph type="title"/>
          </p:nvPr>
        </p:nvSpPr>
        <p:spPr/>
        <p:txBody>
          <a:bodyPr/>
          <a:lstStyle/>
          <a:p>
            <a:pPr eaLnBrk="1" hangingPunct="1"/>
            <a:r>
              <a:rPr lang="en-US" dirty="0"/>
              <a:t>EXAMPLE 4C: </a:t>
            </a:r>
            <a:r>
              <a:rPr lang="en-US" dirty="0">
                <a:solidFill>
                  <a:schemeClr val="tx1"/>
                </a:solidFill>
              </a:rPr>
              <a:t>A lower price reduces </a:t>
            </a:r>
            <a:r>
              <a:rPr lang="en-US" b="1" i="1" dirty="0">
                <a:solidFill>
                  <a:schemeClr val="tx1"/>
                </a:solidFill>
              </a:rPr>
              <a:t>PS</a:t>
            </a:r>
          </a:p>
        </p:txBody>
      </p:sp>
      <p:sp>
        <p:nvSpPr>
          <p:cNvPr id="166924" name="Rectangle 12"/>
          <p:cNvSpPr>
            <a:spLocks noGrp="1" noChangeArrowheads="1"/>
          </p:cNvSpPr>
          <p:nvPr>
            <p:ph idx="1"/>
          </p:nvPr>
        </p:nvSpPr>
        <p:spPr>
          <a:xfrm>
            <a:off x="347241" y="914400"/>
            <a:ext cx="3538959" cy="5534025"/>
          </a:xfrm>
          <a:noFill/>
        </p:spPr>
        <p:txBody>
          <a:bodyPr/>
          <a:lstStyle/>
          <a:p>
            <a:pPr marL="0" indent="0" eaLnBrk="1" hangingPunct="1">
              <a:lnSpc>
                <a:spcPct val="100000"/>
              </a:lnSpc>
              <a:spcBef>
                <a:spcPct val="0"/>
              </a:spcBef>
              <a:buClrTx/>
              <a:buSzTx/>
              <a:buFontTx/>
              <a:buNone/>
            </a:pPr>
            <a:r>
              <a:rPr lang="en-US" sz="3000" dirty="0">
                <a:solidFill>
                  <a:srgbClr val="4E519E"/>
                </a:solidFill>
              </a:rPr>
              <a:t>If </a:t>
            </a:r>
            <a:r>
              <a:rPr lang="en-US" sz="3000" b="1" i="1" dirty="0">
                <a:solidFill>
                  <a:srgbClr val="4E519E"/>
                </a:solidFill>
              </a:rPr>
              <a:t>P</a:t>
            </a:r>
            <a:r>
              <a:rPr lang="en-US" sz="3000" dirty="0">
                <a:solidFill>
                  <a:srgbClr val="4E519E"/>
                </a:solidFill>
              </a:rPr>
              <a:t>  falls to $30,</a:t>
            </a:r>
          </a:p>
          <a:p>
            <a:pPr marL="0" indent="0" eaLnBrk="1" hangingPunct="1">
              <a:spcBef>
                <a:spcPct val="30000"/>
              </a:spcBef>
              <a:buFont typeface="Wingdings" pitchFamily="2" charset="2"/>
              <a:buNone/>
            </a:pPr>
            <a:r>
              <a:rPr lang="en-US" sz="2900" b="1" i="1" dirty="0"/>
              <a:t>PS</a:t>
            </a:r>
            <a:r>
              <a:rPr lang="en-US" sz="2900" dirty="0"/>
              <a:t> = ½ x 15 x $15</a:t>
            </a:r>
            <a:br>
              <a:rPr lang="en-US" sz="2900" dirty="0"/>
            </a:br>
            <a:r>
              <a:rPr lang="en-US" sz="2900" dirty="0"/>
              <a:t>      = </a:t>
            </a:r>
            <a:r>
              <a:rPr lang="en-US" sz="2900" u="sng" dirty="0"/>
              <a:t>$112.50</a:t>
            </a:r>
          </a:p>
          <a:p>
            <a:pPr marL="0" indent="0" eaLnBrk="1" hangingPunct="1">
              <a:spcBef>
                <a:spcPct val="40000"/>
              </a:spcBef>
              <a:buFont typeface="Wingdings" pitchFamily="2" charset="2"/>
              <a:buNone/>
            </a:pPr>
            <a:r>
              <a:rPr lang="en-US" sz="2900" dirty="0"/>
              <a:t>Two reasons for the fall in </a:t>
            </a:r>
            <a:r>
              <a:rPr lang="en-US" sz="2900" b="1" i="1" dirty="0"/>
              <a:t>PS</a:t>
            </a:r>
            <a:r>
              <a:rPr lang="en-US" sz="2900" dirty="0"/>
              <a:t>.</a:t>
            </a:r>
          </a:p>
        </p:txBody>
      </p:sp>
      <p:sp>
        <p:nvSpPr>
          <p:cNvPr id="10" name="Slide Number Placeholder 9"/>
          <p:cNvSpPr>
            <a:spLocks noGrp="1"/>
          </p:cNvSpPr>
          <p:nvPr>
            <p:ph type="sldNum" sz="quarter" idx="10"/>
          </p:nvPr>
        </p:nvSpPr>
        <p:spPr/>
        <p:txBody>
          <a:bodyPr/>
          <a:lstStyle/>
          <a:p>
            <a:pPr>
              <a:defRPr/>
            </a:pPr>
            <a:fld id="{2F37425F-5E17-4209-B948-B5CE2119E408}" type="slidenum">
              <a:rPr lang="en-US" smtClean="0"/>
              <a:pPr>
                <a:defRPr/>
              </a:pPr>
              <a:t>28</a:t>
            </a:fld>
            <a:endParaRPr lang="en-US" dirty="0"/>
          </a:p>
        </p:txBody>
      </p:sp>
      <p:sp>
        <p:nvSpPr>
          <p:cNvPr id="18441" name="Line 14"/>
          <p:cNvSpPr>
            <a:spLocks noChangeShapeType="1"/>
          </p:cNvSpPr>
          <p:nvPr/>
        </p:nvSpPr>
        <p:spPr bwMode="auto">
          <a:xfrm>
            <a:off x="4586288" y="3076575"/>
            <a:ext cx="2835275" cy="0"/>
          </a:xfrm>
          <a:prstGeom prst="line">
            <a:avLst/>
          </a:prstGeom>
          <a:noFill/>
          <a:ln w="12700">
            <a:solidFill>
              <a:srgbClr val="0000FF"/>
            </a:solidFill>
            <a:round/>
            <a:headEnd/>
            <a:tailEnd/>
          </a:ln>
        </p:spPr>
        <p:txBody>
          <a:bodyPr/>
          <a:lstStyle/>
          <a:p>
            <a:endParaRPr lang="en-US">
              <a:latin typeface="Arial"/>
              <a:cs typeface="Arial"/>
            </a:endParaRPr>
          </a:p>
        </p:txBody>
      </p:sp>
      <p:sp>
        <p:nvSpPr>
          <p:cNvPr id="166936" name="AutoShape 24"/>
          <p:cNvSpPr>
            <a:spLocks noChangeArrowheads="1"/>
          </p:cNvSpPr>
          <p:nvPr/>
        </p:nvSpPr>
        <p:spPr bwMode="auto">
          <a:xfrm flipV="1">
            <a:off x="4592638" y="3675063"/>
            <a:ext cx="1665287" cy="876300"/>
          </a:xfrm>
          <a:prstGeom prst="rtTriangle">
            <a:avLst/>
          </a:prstGeom>
          <a:solidFill>
            <a:srgbClr val="FFFF99"/>
          </a:solidFill>
          <a:ln w="9525">
            <a:noFill/>
            <a:miter lim="800000"/>
            <a:headEnd/>
            <a:tailEnd/>
          </a:ln>
        </p:spPr>
        <p:txBody>
          <a:bodyPr wrap="none" anchor="ctr"/>
          <a:lstStyle/>
          <a:p>
            <a:endParaRPr lang="en-US">
              <a:latin typeface="Arial"/>
              <a:cs typeface="Arial"/>
            </a:endParaRPr>
          </a:p>
        </p:txBody>
      </p:sp>
      <p:grpSp>
        <p:nvGrpSpPr>
          <p:cNvPr id="3" name="Group 9"/>
          <p:cNvGrpSpPr>
            <a:grpSpLocks/>
          </p:cNvGrpSpPr>
          <p:nvPr/>
        </p:nvGrpSpPr>
        <p:grpSpPr bwMode="auto">
          <a:xfrm>
            <a:off x="4586288" y="2178050"/>
            <a:ext cx="4219575" cy="2386013"/>
            <a:chOff x="2889" y="1372"/>
            <a:chExt cx="2658" cy="1503"/>
          </a:xfrm>
        </p:grpSpPr>
        <p:sp>
          <p:nvSpPr>
            <p:cNvPr id="18459" name="Line 10"/>
            <p:cNvSpPr>
              <a:spLocks noChangeShapeType="1"/>
            </p:cNvSpPr>
            <p:nvPr/>
          </p:nvSpPr>
          <p:spPr bwMode="auto">
            <a:xfrm flipV="1">
              <a:off x="2889" y="1614"/>
              <a:ext cx="2401" cy="1261"/>
            </a:xfrm>
            <a:prstGeom prst="line">
              <a:avLst/>
            </a:prstGeom>
            <a:noFill/>
            <a:ln w="44450">
              <a:solidFill>
                <a:srgbClr val="FF0000"/>
              </a:solidFill>
              <a:round/>
              <a:headEnd/>
              <a:tailEnd/>
            </a:ln>
          </p:spPr>
          <p:txBody>
            <a:bodyPr/>
            <a:lstStyle/>
            <a:p>
              <a:endParaRPr lang="en-US">
                <a:latin typeface="Arial"/>
                <a:cs typeface="Arial"/>
              </a:endParaRPr>
            </a:p>
          </p:txBody>
        </p:sp>
        <p:sp>
          <p:nvSpPr>
            <p:cNvPr id="18460" name="Rectangle 11"/>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23"/>
          <p:cNvGrpSpPr>
            <a:grpSpLocks/>
          </p:cNvGrpSpPr>
          <p:nvPr/>
        </p:nvGrpSpPr>
        <p:grpSpPr bwMode="auto">
          <a:xfrm>
            <a:off x="3886200" y="3476625"/>
            <a:ext cx="2674938" cy="2676525"/>
            <a:chOff x="2448" y="2190"/>
            <a:chExt cx="1685" cy="1686"/>
          </a:xfrm>
        </p:grpSpPr>
        <p:grpSp>
          <p:nvGrpSpPr>
            <p:cNvPr id="5" name="Group 22"/>
            <p:cNvGrpSpPr>
              <a:grpSpLocks/>
            </p:cNvGrpSpPr>
            <p:nvPr/>
          </p:nvGrpSpPr>
          <p:grpSpPr bwMode="auto">
            <a:xfrm>
              <a:off x="3804" y="2302"/>
              <a:ext cx="329" cy="1574"/>
              <a:chOff x="3804" y="2302"/>
              <a:chExt cx="329" cy="1574"/>
            </a:xfrm>
          </p:grpSpPr>
          <p:sp>
            <p:nvSpPr>
              <p:cNvPr id="18457" name="Line 16"/>
              <p:cNvSpPr>
                <a:spLocks noChangeShapeType="1"/>
              </p:cNvSpPr>
              <p:nvPr/>
            </p:nvSpPr>
            <p:spPr bwMode="auto">
              <a:xfrm rot="5400000">
                <a:off x="3299" y="2965"/>
                <a:ext cx="1326" cy="0"/>
              </a:xfrm>
              <a:prstGeom prst="line">
                <a:avLst/>
              </a:prstGeom>
              <a:noFill/>
              <a:ln w="12700">
                <a:solidFill>
                  <a:srgbClr val="FF0000"/>
                </a:solidFill>
                <a:round/>
                <a:headEnd/>
                <a:tailEnd/>
              </a:ln>
            </p:spPr>
            <p:txBody>
              <a:bodyPr/>
              <a:lstStyle/>
              <a:p>
                <a:endParaRPr lang="en-US">
                  <a:latin typeface="Arial"/>
                  <a:cs typeface="Arial"/>
                </a:endParaRPr>
              </a:p>
            </p:txBody>
          </p:sp>
          <p:sp>
            <p:nvSpPr>
              <p:cNvPr id="18458" name="Rectangle 17"/>
              <p:cNvSpPr>
                <a:spLocks noChangeArrowheads="1"/>
              </p:cNvSpPr>
              <p:nvPr/>
            </p:nvSpPr>
            <p:spPr bwMode="auto">
              <a:xfrm>
                <a:off x="3804" y="3628"/>
                <a:ext cx="329" cy="248"/>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grpSp>
          <p:nvGrpSpPr>
            <p:cNvPr id="6" name="Group 21"/>
            <p:cNvGrpSpPr>
              <a:grpSpLocks/>
            </p:cNvGrpSpPr>
            <p:nvPr/>
          </p:nvGrpSpPr>
          <p:grpSpPr bwMode="auto">
            <a:xfrm>
              <a:off x="2448" y="2190"/>
              <a:ext cx="1517" cy="248"/>
              <a:chOff x="2448" y="2190"/>
              <a:chExt cx="1517" cy="248"/>
            </a:xfrm>
          </p:grpSpPr>
          <p:sp>
            <p:nvSpPr>
              <p:cNvPr id="18455" name="Line 19"/>
              <p:cNvSpPr>
                <a:spLocks noChangeShapeType="1"/>
              </p:cNvSpPr>
              <p:nvPr/>
            </p:nvSpPr>
            <p:spPr bwMode="auto">
              <a:xfrm>
                <a:off x="2774" y="2312"/>
                <a:ext cx="1191" cy="0"/>
              </a:xfrm>
              <a:prstGeom prst="line">
                <a:avLst/>
              </a:prstGeom>
              <a:noFill/>
              <a:ln w="12700">
                <a:solidFill>
                  <a:srgbClr val="FF0000"/>
                </a:solidFill>
                <a:round/>
                <a:headEnd/>
                <a:tailEnd/>
              </a:ln>
            </p:spPr>
            <p:txBody>
              <a:bodyPr/>
              <a:lstStyle/>
              <a:p>
                <a:endParaRPr lang="en-US">
                  <a:latin typeface="Arial"/>
                  <a:cs typeface="Arial"/>
                </a:endParaRPr>
              </a:p>
            </p:txBody>
          </p:sp>
          <p:sp>
            <p:nvSpPr>
              <p:cNvPr id="18456" name="Rectangle 20"/>
              <p:cNvSpPr>
                <a:spLocks noChangeArrowheads="1"/>
              </p:cNvSpPr>
              <p:nvPr/>
            </p:nvSpPr>
            <p:spPr bwMode="auto">
              <a:xfrm>
                <a:off x="2448" y="2190"/>
                <a:ext cx="329" cy="248"/>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grpSp>
      <p:sp>
        <p:nvSpPr>
          <p:cNvPr id="166937" name="AutoShape 25"/>
          <p:cNvSpPr>
            <a:spLocks noChangeArrowheads="1"/>
          </p:cNvSpPr>
          <p:nvPr/>
        </p:nvSpPr>
        <p:spPr bwMode="auto">
          <a:xfrm flipV="1">
            <a:off x="6292850" y="3086100"/>
            <a:ext cx="1068388" cy="552450"/>
          </a:xfrm>
          <a:prstGeom prst="rtTriangle">
            <a:avLst/>
          </a:prstGeom>
          <a:pattFill prst="wdUpDiag">
            <a:fgClr>
              <a:srgbClr val="33CCFF"/>
            </a:fgClr>
            <a:bgClr>
              <a:schemeClr val="bg1"/>
            </a:bgClr>
          </a:pattFill>
          <a:ln w="38100">
            <a:solidFill>
              <a:srgbClr val="0000FF"/>
            </a:solidFill>
            <a:miter lim="800000"/>
            <a:headEnd/>
            <a:tailEnd/>
          </a:ln>
        </p:spPr>
        <p:txBody>
          <a:bodyPr wrap="none" anchor="ctr"/>
          <a:lstStyle/>
          <a:p>
            <a:endParaRPr lang="en-US">
              <a:latin typeface="Arial"/>
              <a:cs typeface="Arial"/>
            </a:endParaRPr>
          </a:p>
        </p:txBody>
      </p:sp>
      <p:sp>
        <p:nvSpPr>
          <p:cNvPr id="166938" name="Rectangle 26"/>
          <p:cNvSpPr>
            <a:spLocks noChangeArrowheads="1"/>
          </p:cNvSpPr>
          <p:nvPr/>
        </p:nvSpPr>
        <p:spPr bwMode="auto">
          <a:xfrm>
            <a:off x="4594225" y="3089275"/>
            <a:ext cx="1692275" cy="568325"/>
          </a:xfrm>
          <a:prstGeom prst="rect">
            <a:avLst/>
          </a:prstGeom>
          <a:pattFill prst="wdDnDiag">
            <a:fgClr>
              <a:srgbClr val="00CC99"/>
            </a:fgClr>
            <a:bgClr>
              <a:schemeClr val="bg1"/>
            </a:bgClr>
          </a:pattFill>
          <a:ln w="38100">
            <a:solidFill>
              <a:srgbClr val="006600"/>
            </a:solidFill>
            <a:miter lim="800000"/>
            <a:headEnd/>
            <a:tailEnd/>
          </a:ln>
        </p:spPr>
        <p:txBody>
          <a:bodyPr wrap="none" anchor="ctr"/>
          <a:lstStyle/>
          <a:p>
            <a:endParaRPr lang="en-US">
              <a:latin typeface="Arial"/>
              <a:cs typeface="Arial"/>
            </a:endParaRPr>
          </a:p>
        </p:txBody>
      </p:sp>
      <p:grpSp>
        <p:nvGrpSpPr>
          <p:cNvPr id="7" name="Group 34"/>
          <p:cNvGrpSpPr>
            <a:grpSpLocks/>
          </p:cNvGrpSpPr>
          <p:nvPr/>
        </p:nvGrpSpPr>
        <p:grpSpPr bwMode="auto">
          <a:xfrm>
            <a:off x="5511800" y="1160464"/>
            <a:ext cx="2630488" cy="2084388"/>
            <a:chOff x="3472" y="731"/>
            <a:chExt cx="1657" cy="1313"/>
          </a:xfrm>
        </p:grpSpPr>
        <p:sp>
          <p:nvSpPr>
            <p:cNvPr id="18451" name="Line 28"/>
            <p:cNvSpPr>
              <a:spLocks noChangeShapeType="1"/>
            </p:cNvSpPr>
            <p:nvPr/>
          </p:nvSpPr>
          <p:spPr bwMode="auto">
            <a:xfrm flipV="1">
              <a:off x="4224" y="1485"/>
              <a:ext cx="77" cy="559"/>
            </a:xfrm>
            <a:prstGeom prst="line">
              <a:avLst/>
            </a:prstGeom>
            <a:noFill/>
            <a:ln w="12700">
              <a:solidFill>
                <a:srgbClr val="0000FF"/>
              </a:solidFill>
              <a:round/>
              <a:headEnd/>
              <a:tailEnd type="none" w="lg" len="med"/>
            </a:ln>
          </p:spPr>
          <p:txBody>
            <a:bodyPr/>
            <a:lstStyle/>
            <a:p>
              <a:endParaRPr lang="en-US">
                <a:latin typeface="Arial"/>
                <a:cs typeface="Arial"/>
              </a:endParaRPr>
            </a:p>
          </p:txBody>
        </p:sp>
        <p:sp>
          <p:nvSpPr>
            <p:cNvPr id="18452" name="Text Box 29"/>
            <p:cNvSpPr txBox="1">
              <a:spLocks noChangeArrowheads="1"/>
            </p:cNvSpPr>
            <p:nvPr/>
          </p:nvSpPr>
          <p:spPr bwMode="auto">
            <a:xfrm>
              <a:off x="3472" y="731"/>
              <a:ext cx="1657" cy="756"/>
            </a:xfrm>
            <a:prstGeom prst="rect">
              <a:avLst/>
            </a:prstGeom>
            <a:noFill/>
            <a:ln w="9525">
              <a:solidFill>
                <a:srgbClr val="0000FF"/>
              </a:solidFill>
              <a:miter lim="800000"/>
              <a:headEnd/>
              <a:tailEnd/>
            </a:ln>
          </p:spPr>
          <p:txBody>
            <a:bodyPr>
              <a:spAutoFit/>
            </a:bodyPr>
            <a:lstStyle/>
            <a:p>
              <a:pPr marL="403225" indent="-403225">
                <a:spcBef>
                  <a:spcPct val="50000"/>
                </a:spcBef>
              </a:pPr>
              <a:r>
                <a:rPr lang="en-US" sz="2400" dirty="0">
                  <a:solidFill>
                    <a:srgbClr val="0000FF"/>
                  </a:solidFill>
                  <a:latin typeface="Arial"/>
                  <a:cs typeface="Arial"/>
                </a:rPr>
                <a:t>1. 	Fall in </a:t>
              </a:r>
              <a:r>
                <a:rPr lang="en-US" sz="2400" b="1" i="1" dirty="0">
                  <a:solidFill>
                    <a:srgbClr val="0000FF"/>
                  </a:solidFill>
                  <a:latin typeface="Arial"/>
                  <a:cs typeface="Arial"/>
                </a:rPr>
                <a:t>PS</a:t>
              </a:r>
              <a:r>
                <a:rPr lang="en-US" sz="2400" dirty="0">
                  <a:solidFill>
                    <a:srgbClr val="0000FF"/>
                  </a:solidFill>
                  <a:latin typeface="Arial"/>
                  <a:cs typeface="Arial"/>
                </a:rPr>
                <a:t> </a:t>
              </a:r>
              <a:br>
                <a:rPr lang="en-US" sz="2400" dirty="0">
                  <a:solidFill>
                    <a:srgbClr val="0000FF"/>
                  </a:solidFill>
                  <a:latin typeface="Arial"/>
                  <a:cs typeface="Arial"/>
                </a:rPr>
              </a:br>
              <a:r>
                <a:rPr lang="en-US" sz="2400" dirty="0">
                  <a:solidFill>
                    <a:srgbClr val="0000FF"/>
                  </a:solidFill>
                  <a:latin typeface="Arial"/>
                  <a:cs typeface="Arial"/>
                </a:rPr>
                <a:t>due to sellers leaving market</a:t>
              </a:r>
            </a:p>
          </p:txBody>
        </p:sp>
      </p:grpSp>
      <p:grpSp>
        <p:nvGrpSpPr>
          <p:cNvPr id="8" name="Group 33"/>
          <p:cNvGrpSpPr>
            <a:grpSpLocks/>
          </p:cNvGrpSpPr>
          <p:nvPr/>
        </p:nvGrpSpPr>
        <p:grpSpPr bwMode="auto">
          <a:xfrm>
            <a:off x="587375" y="3454400"/>
            <a:ext cx="4602163" cy="1885950"/>
            <a:chOff x="370" y="2176"/>
            <a:chExt cx="2899" cy="1188"/>
          </a:xfrm>
        </p:grpSpPr>
        <p:sp>
          <p:nvSpPr>
            <p:cNvPr id="18449" name="Line 31"/>
            <p:cNvSpPr>
              <a:spLocks noChangeShapeType="1"/>
            </p:cNvSpPr>
            <p:nvPr/>
          </p:nvSpPr>
          <p:spPr bwMode="auto">
            <a:xfrm flipV="1">
              <a:off x="2237" y="2176"/>
              <a:ext cx="1032" cy="699"/>
            </a:xfrm>
            <a:prstGeom prst="line">
              <a:avLst/>
            </a:prstGeom>
            <a:noFill/>
            <a:ln w="12700">
              <a:solidFill>
                <a:srgbClr val="006600"/>
              </a:solidFill>
              <a:round/>
              <a:headEnd/>
              <a:tailEnd/>
            </a:ln>
          </p:spPr>
          <p:txBody>
            <a:bodyPr/>
            <a:lstStyle/>
            <a:p>
              <a:endParaRPr lang="en-US">
                <a:latin typeface="Arial"/>
                <a:cs typeface="Arial"/>
              </a:endParaRPr>
            </a:p>
          </p:txBody>
        </p:sp>
        <p:sp>
          <p:nvSpPr>
            <p:cNvPr id="18450" name="Text Box 32"/>
            <p:cNvSpPr txBox="1">
              <a:spLocks noChangeArrowheads="1"/>
            </p:cNvSpPr>
            <p:nvPr/>
          </p:nvSpPr>
          <p:spPr bwMode="auto">
            <a:xfrm>
              <a:off x="370" y="2608"/>
              <a:ext cx="1867" cy="756"/>
            </a:xfrm>
            <a:prstGeom prst="rect">
              <a:avLst/>
            </a:prstGeom>
            <a:noFill/>
            <a:ln w="9525">
              <a:solidFill>
                <a:srgbClr val="006600"/>
              </a:solidFill>
              <a:miter lim="800000"/>
              <a:headEnd/>
              <a:tailEnd/>
            </a:ln>
          </p:spPr>
          <p:txBody>
            <a:bodyPr>
              <a:spAutoFit/>
            </a:bodyPr>
            <a:lstStyle/>
            <a:p>
              <a:pPr marL="403225" indent="-403225">
                <a:spcBef>
                  <a:spcPct val="50000"/>
                </a:spcBef>
              </a:pPr>
              <a:r>
                <a:rPr lang="en-US" sz="2400" dirty="0">
                  <a:solidFill>
                    <a:srgbClr val="006600"/>
                  </a:solidFill>
                  <a:latin typeface="Arial"/>
                  <a:cs typeface="Arial"/>
                </a:rPr>
                <a:t>2. 	Fall in </a:t>
              </a:r>
              <a:r>
                <a:rPr lang="en-US" sz="2400" b="1" i="1" dirty="0">
                  <a:solidFill>
                    <a:srgbClr val="006600"/>
                  </a:solidFill>
                  <a:latin typeface="Arial"/>
                  <a:cs typeface="Arial"/>
                </a:rPr>
                <a:t>PS</a:t>
              </a:r>
              <a:r>
                <a:rPr lang="en-US" sz="2400" dirty="0">
                  <a:solidFill>
                    <a:srgbClr val="006600"/>
                  </a:solidFill>
                  <a:latin typeface="Arial"/>
                  <a:cs typeface="Arial"/>
                </a:rPr>
                <a:t> due to remaining sellers</a:t>
              </a:r>
              <a:br>
                <a:rPr lang="en-US" sz="2400" dirty="0">
                  <a:solidFill>
                    <a:srgbClr val="006600"/>
                  </a:solidFill>
                  <a:latin typeface="Arial"/>
                  <a:cs typeface="Arial"/>
                </a:rPr>
              </a:br>
              <a:r>
                <a:rPr lang="en-US" sz="2400" dirty="0">
                  <a:solidFill>
                    <a:srgbClr val="006600"/>
                  </a:solidFill>
                  <a:latin typeface="Arial"/>
                  <a:cs typeface="Arial"/>
                </a:rPr>
                <a:t>getting lower </a:t>
              </a:r>
              <a:r>
                <a:rPr lang="en-US" sz="2400" b="1" i="1" dirty="0">
                  <a:solidFill>
                    <a:srgbClr val="006600"/>
                  </a:solidFill>
                  <a:latin typeface="Arial"/>
                  <a:cs typeface="Arial"/>
                </a:rPr>
                <a:t>P</a:t>
              </a:r>
            </a:p>
          </p:txBody>
        </p:sp>
      </p:grpSp>
      <p:sp>
        <p:nvSpPr>
          <p:cNvPr id="9" name="Footer Placeholder 8">
            <a:extLst>
              <a:ext uri="{FF2B5EF4-FFF2-40B4-BE49-F238E27FC236}">
                <a16:creationId xmlns:a16="http://schemas.microsoft.com/office/drawing/2014/main" id="{291C46A5-3112-90D8-1CC6-EDA8F0C6F3F2}"/>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96428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24">
                                            <p:txEl>
                                              <p:pRg st="0" end="0"/>
                                            </p:txEl>
                                          </p:spTgt>
                                        </p:tgtEl>
                                        <p:attrNameLst>
                                          <p:attrName>style.visibility</p:attrName>
                                        </p:attrNameLst>
                                      </p:cBhvr>
                                      <p:to>
                                        <p:strVal val="visible"/>
                                      </p:to>
                                    </p:set>
                                    <p:animEffect transition="in" filter="wipe(left)">
                                      <p:cBhvr>
                                        <p:cTn id="7" dur="500"/>
                                        <p:tgtEl>
                                          <p:spTgt spid="166924">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6924">
                                            <p:txEl>
                                              <p:pRg st="1" end="1"/>
                                            </p:txEl>
                                          </p:spTgt>
                                        </p:tgtEl>
                                        <p:attrNameLst>
                                          <p:attrName>style.visibility</p:attrName>
                                        </p:attrNameLst>
                                      </p:cBhvr>
                                      <p:to>
                                        <p:strVal val="visible"/>
                                      </p:to>
                                    </p:set>
                                    <p:animEffect transition="in" filter="wipe(left)">
                                      <p:cBhvr>
                                        <p:cTn id="16" dur="500"/>
                                        <p:tgtEl>
                                          <p:spTgt spid="166924">
                                            <p:txEl>
                                              <p:pRg st="1" end="1"/>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66936"/>
                                        </p:tgtEl>
                                        <p:attrNameLst>
                                          <p:attrName>style.visibility</p:attrName>
                                        </p:attrNameLst>
                                      </p:cBhvr>
                                      <p:to>
                                        <p:strVal val="visible"/>
                                      </p:to>
                                    </p:set>
                                    <p:animEffect transition="in" filter="fade">
                                      <p:cBhvr>
                                        <p:cTn id="20" dur="500"/>
                                        <p:tgtEl>
                                          <p:spTgt spid="16693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6924">
                                            <p:txEl>
                                              <p:pRg st="2" end="2"/>
                                            </p:txEl>
                                          </p:spTgt>
                                        </p:tgtEl>
                                        <p:attrNameLst>
                                          <p:attrName>style.visibility</p:attrName>
                                        </p:attrNameLst>
                                      </p:cBhvr>
                                      <p:to>
                                        <p:strVal val="visible"/>
                                      </p:to>
                                    </p:set>
                                    <p:animEffect transition="in" filter="wipe(left)">
                                      <p:cBhvr>
                                        <p:cTn id="25" dur="500"/>
                                        <p:tgtEl>
                                          <p:spTgt spid="166924">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6937"/>
                                        </p:tgtEl>
                                        <p:attrNameLst>
                                          <p:attrName>style.visibility</p:attrName>
                                        </p:attrNameLst>
                                      </p:cBhvr>
                                      <p:to>
                                        <p:strVal val="visible"/>
                                      </p:to>
                                    </p:set>
                                    <p:animEffect transition="in" filter="fade">
                                      <p:cBhvr>
                                        <p:cTn id="33" dur="500"/>
                                        <p:tgtEl>
                                          <p:spTgt spid="16693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6938"/>
                                        </p:tgtEl>
                                        <p:attrNameLst>
                                          <p:attrName>style.visibility</p:attrName>
                                        </p:attrNameLst>
                                      </p:cBhvr>
                                      <p:to>
                                        <p:strVal val="visible"/>
                                      </p:to>
                                    </p:set>
                                    <p:animEffect transition="in" filter="fade">
                                      <p:cBhvr>
                                        <p:cTn id="41" dur="500"/>
                                        <p:tgtEl>
                                          <p:spTgt spid="166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24" grpId="0" build="p"/>
      <p:bldP spid="166936" grpId="0" animBg="1"/>
      <p:bldP spid="166937" grpId="0" animBg="1"/>
      <p:bldP spid="16693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 </a:t>
            </a:r>
            <a:r>
              <a:rPr lang="en-US" dirty="0">
                <a:solidFill>
                  <a:schemeClr val="tx1"/>
                </a:solidFill>
              </a:rPr>
              <a:t>Producer surplus</a:t>
            </a:r>
          </a:p>
        </p:txBody>
      </p:sp>
      <p:sp>
        <p:nvSpPr>
          <p:cNvPr id="3" name="Content Placeholder 2"/>
          <p:cNvSpPr>
            <a:spLocks noGrp="1"/>
          </p:cNvSpPr>
          <p:nvPr>
            <p:ph idx="1"/>
          </p:nvPr>
        </p:nvSpPr>
        <p:spPr>
          <a:xfrm>
            <a:off x="152401" y="932656"/>
            <a:ext cx="4114799" cy="5515769"/>
          </a:xfrm>
          <a:prstGeom prst="rect">
            <a:avLst/>
          </a:prstGeom>
        </p:spPr>
        <p:txBody>
          <a:bodyPr>
            <a:noAutofit/>
          </a:bodyPr>
          <a:lstStyle/>
          <a:p>
            <a:pPr marL="514350" indent="-514350">
              <a:buClr>
                <a:srgbClr val="C00000"/>
              </a:buClr>
              <a:buFont typeface="+mj-lt"/>
              <a:buAutoNum type="alphaUcPeriod"/>
            </a:pPr>
            <a:r>
              <a:rPr lang="en-US" sz="2800" dirty="0">
                <a:solidFill>
                  <a:schemeClr val="tx1"/>
                </a:solidFill>
              </a:rPr>
              <a:t>Find marginal seller’s cost at </a:t>
            </a:r>
            <a:r>
              <a:rPr lang="en-US" sz="2800" b="1" i="1" dirty="0">
                <a:solidFill>
                  <a:schemeClr val="tx1"/>
                </a:solidFill>
              </a:rPr>
              <a:t>Q</a:t>
            </a:r>
            <a:r>
              <a:rPr lang="en-US" sz="2800" dirty="0">
                <a:solidFill>
                  <a:schemeClr val="tx1"/>
                </a:solidFill>
              </a:rPr>
              <a:t> = 10. </a:t>
            </a:r>
          </a:p>
          <a:p>
            <a:pPr marL="514350" indent="-514350">
              <a:buClr>
                <a:srgbClr val="C00000"/>
              </a:buClr>
              <a:buFont typeface="+mj-lt"/>
              <a:buAutoNum type="alphaUcPeriod"/>
            </a:pPr>
            <a:r>
              <a:rPr lang="en-US" sz="2800" dirty="0">
                <a:solidFill>
                  <a:schemeClr val="tx1"/>
                </a:solidFill>
              </a:rPr>
              <a:t>Find total </a:t>
            </a:r>
            <a:r>
              <a:rPr lang="en-US" sz="2800" b="1" i="1" dirty="0">
                <a:solidFill>
                  <a:schemeClr val="tx1"/>
                </a:solidFill>
              </a:rPr>
              <a:t>PS</a:t>
            </a:r>
            <a:r>
              <a:rPr lang="en-US" sz="2800" dirty="0">
                <a:solidFill>
                  <a:schemeClr val="tx1"/>
                </a:solidFill>
              </a:rPr>
              <a:t> for 	 </a:t>
            </a:r>
            <a:r>
              <a:rPr lang="en-US" sz="2800" b="1" i="1" dirty="0">
                <a:solidFill>
                  <a:schemeClr val="tx1"/>
                </a:solidFill>
              </a:rPr>
              <a:t>P</a:t>
            </a:r>
            <a:r>
              <a:rPr lang="en-US" sz="2800" dirty="0">
                <a:solidFill>
                  <a:schemeClr val="tx1"/>
                </a:solidFill>
              </a:rPr>
              <a:t> = $20.</a:t>
            </a:r>
          </a:p>
          <a:p>
            <a:pPr marL="0" indent="0">
              <a:buNone/>
            </a:pPr>
            <a:r>
              <a:rPr lang="en-US" sz="2800" dirty="0">
                <a:solidFill>
                  <a:schemeClr val="tx1"/>
                </a:solidFill>
              </a:rPr>
              <a:t>Suppose </a:t>
            </a:r>
            <a:r>
              <a:rPr lang="en-US" sz="2800" b="1" i="1" dirty="0">
                <a:solidFill>
                  <a:schemeClr val="tx1"/>
                </a:solidFill>
              </a:rPr>
              <a:t>P</a:t>
            </a:r>
            <a:r>
              <a:rPr lang="en-US" sz="2800" dirty="0">
                <a:solidFill>
                  <a:schemeClr val="tx1"/>
                </a:solidFill>
              </a:rPr>
              <a:t> rises to $30. Find the increase in </a:t>
            </a:r>
            <a:r>
              <a:rPr lang="en-US" sz="2800" b="1" i="1" dirty="0">
                <a:solidFill>
                  <a:schemeClr val="tx1"/>
                </a:solidFill>
              </a:rPr>
              <a:t>PS</a:t>
            </a:r>
            <a:r>
              <a:rPr lang="en-US" sz="2800" dirty="0">
                <a:solidFill>
                  <a:schemeClr val="tx1"/>
                </a:solidFill>
              </a:rPr>
              <a:t> due to: </a:t>
            </a:r>
          </a:p>
          <a:p>
            <a:pPr marL="514350" indent="-514350">
              <a:buClr>
                <a:srgbClr val="C00000"/>
              </a:buClr>
              <a:buFont typeface="+mj-lt"/>
              <a:buAutoNum type="alphaUcPeriod" startAt="3"/>
            </a:pPr>
            <a:r>
              <a:rPr lang="en-US" sz="2800" dirty="0">
                <a:solidFill>
                  <a:schemeClr val="tx1"/>
                </a:solidFill>
              </a:rPr>
              <a:t>selling 5 additional units</a:t>
            </a:r>
          </a:p>
          <a:p>
            <a:pPr marL="514350" indent="-514350">
              <a:buClr>
                <a:srgbClr val="C00000"/>
              </a:buClr>
              <a:buFont typeface="+mj-lt"/>
              <a:buAutoNum type="alphaUcPeriod" startAt="3"/>
            </a:pPr>
            <a:r>
              <a:rPr lang="en-US" sz="2800" dirty="0">
                <a:solidFill>
                  <a:schemeClr val="tx1"/>
                </a:solidFill>
              </a:rPr>
              <a:t>getting a higher price on the initial 10 units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29</a:t>
            </a:fld>
            <a:endParaRPr lang="en-US"/>
          </a:p>
        </p:txBody>
      </p:sp>
      <p:grpSp>
        <p:nvGrpSpPr>
          <p:cNvPr id="6" name="Group 5"/>
          <p:cNvGrpSpPr/>
          <p:nvPr/>
        </p:nvGrpSpPr>
        <p:grpSpPr>
          <a:xfrm>
            <a:off x="4191000" y="685800"/>
            <a:ext cx="4821238" cy="5791200"/>
            <a:chOff x="4092575" y="917575"/>
            <a:chExt cx="4821238" cy="5791200"/>
          </a:xfrm>
        </p:grpSpPr>
        <p:graphicFrame>
          <p:nvGraphicFramePr>
            <p:cNvPr id="7" name="Object 8"/>
            <p:cNvGraphicFramePr>
              <a:graphicFrameLocks noChangeAspect="1"/>
            </p:cNvGraphicFramePr>
            <p:nvPr/>
          </p:nvGraphicFramePr>
          <p:xfrm>
            <a:off x="4092575" y="917575"/>
            <a:ext cx="4821238" cy="5791200"/>
          </p:xfrm>
          <a:graphic>
            <a:graphicData uri="http://schemas.openxmlformats.org/presentationml/2006/ole">
              <mc:AlternateContent xmlns:mc="http://schemas.openxmlformats.org/markup-compatibility/2006">
                <mc:Choice xmlns:v="urn:schemas-microsoft-com:vml" Requires="v">
                  <p:oleObj name="Worksheet" r:id="rId3" imgW="3447931" imgH="3952994" progId="Excel.Sheet.8">
                    <p:embed/>
                  </p:oleObj>
                </mc:Choice>
                <mc:Fallback>
                  <p:oleObj name="Worksheet" r:id="rId3" imgW="3447931" imgH="3952994" progId="Excel.Sheet.8">
                    <p:embed/>
                    <p:pic>
                      <p:nvPicPr>
                        <p:cNvPr id="7"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2575" y="917575"/>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8" name="Text Box 9" descr="Wide upward diagonal"/>
            <p:cNvSpPr txBox="1">
              <a:spLocks noChangeArrowheads="1"/>
            </p:cNvSpPr>
            <p:nvPr/>
          </p:nvSpPr>
          <p:spPr bwMode="auto">
            <a:xfrm>
              <a:off x="4221163" y="1065213"/>
              <a:ext cx="592137" cy="503237"/>
            </a:xfrm>
            <a:prstGeom prst="rect">
              <a:avLst/>
            </a:prstGeom>
            <a:ln w="9525">
              <a:noFill/>
              <a:miter lim="800000"/>
              <a:headEnd/>
              <a:tailEnd/>
            </a:ln>
          </p:spPr>
          <p:txBody>
            <a:bodyPr>
              <a:spAutoFit/>
            </a:bodyPr>
            <a:lstStyle/>
            <a:p>
              <a:pPr algn="ctr">
                <a:spcBef>
                  <a:spcPct val="50000"/>
                </a:spcBef>
              </a:pPr>
              <a:r>
                <a:rPr lang="en-US" sz="2700" b="1" i="1" dirty="0">
                  <a:latin typeface="Arial"/>
                  <a:cs typeface="Arial"/>
                </a:rPr>
                <a:t>P</a:t>
              </a:r>
            </a:p>
          </p:txBody>
        </p:sp>
        <p:sp>
          <p:nvSpPr>
            <p:cNvPr id="9" name="Text Box 10" descr="Wide upward diagonal"/>
            <p:cNvSpPr txBox="1">
              <a:spLocks noChangeArrowheads="1"/>
            </p:cNvSpPr>
            <p:nvPr/>
          </p:nvSpPr>
          <p:spPr bwMode="auto">
            <a:xfrm>
              <a:off x="8245475" y="6029325"/>
              <a:ext cx="592138" cy="503238"/>
            </a:xfrm>
            <a:prstGeom prst="rect">
              <a:avLst/>
            </a:prstGeom>
            <a:solidFill>
              <a:schemeClr val="bg1"/>
            </a:solidFill>
            <a:ln w="9525">
              <a:noFill/>
              <a:miter lim="800000"/>
              <a:headEnd/>
              <a:tailEnd/>
            </a:ln>
          </p:spPr>
          <p:txBody>
            <a:bodyPr>
              <a:spAutoFit/>
            </a:bodyPr>
            <a:lstStyle/>
            <a:p>
              <a:pPr algn="ctr">
                <a:spcBef>
                  <a:spcPct val="50000"/>
                </a:spcBef>
              </a:pPr>
              <a:r>
                <a:rPr lang="en-US" sz="2700" b="1" i="1" dirty="0">
                  <a:latin typeface="Arial"/>
                  <a:cs typeface="Arial"/>
                </a:rPr>
                <a:t>Q</a:t>
              </a:r>
            </a:p>
          </p:txBody>
        </p:sp>
        <p:sp>
          <p:nvSpPr>
            <p:cNvPr id="10" name="Text Box 11"/>
            <p:cNvSpPr txBox="1">
              <a:spLocks noChangeArrowheads="1"/>
            </p:cNvSpPr>
            <p:nvPr/>
          </p:nvSpPr>
          <p:spPr bwMode="auto">
            <a:xfrm>
              <a:off x="5273675" y="1309688"/>
              <a:ext cx="2909888" cy="488950"/>
            </a:xfrm>
            <a:prstGeom prst="rect">
              <a:avLst/>
            </a:prstGeom>
            <a:solidFill>
              <a:schemeClr val="bg1"/>
            </a:solidFill>
            <a:ln w="9525">
              <a:solidFill>
                <a:srgbClr val="4E519E"/>
              </a:solidFill>
              <a:miter lim="800000"/>
              <a:headEnd/>
              <a:tailEnd/>
            </a:ln>
          </p:spPr>
          <p:txBody>
            <a:bodyPr>
              <a:spAutoFit/>
            </a:bodyPr>
            <a:lstStyle/>
            <a:p>
              <a:pPr algn="ctr">
                <a:spcBef>
                  <a:spcPct val="50000"/>
                </a:spcBef>
              </a:pPr>
              <a:r>
                <a:rPr lang="en-US" sz="2600" i="1" dirty="0">
                  <a:solidFill>
                    <a:srgbClr val="4E519E"/>
                  </a:solidFill>
                  <a:latin typeface="Arial"/>
                  <a:cs typeface="Arial"/>
                </a:rPr>
                <a:t>supply curve</a:t>
              </a:r>
            </a:p>
          </p:txBody>
        </p:sp>
      </p:grpSp>
      <p:sp>
        <p:nvSpPr>
          <p:cNvPr id="5" name="Footer Placeholder 4">
            <a:extLst>
              <a:ext uri="{FF2B5EF4-FFF2-40B4-BE49-F238E27FC236}">
                <a16:creationId xmlns:a16="http://schemas.microsoft.com/office/drawing/2014/main" id="{3332BE07-8B9A-ED9B-4B8C-5913AD078DFE}"/>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85066788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2: Answers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30</a:t>
            </a:fld>
            <a:endParaRPr lang="en-US"/>
          </a:p>
        </p:txBody>
      </p:sp>
      <p:sp>
        <p:nvSpPr>
          <p:cNvPr id="3" name="Content Placeholder 2"/>
          <p:cNvSpPr>
            <a:spLocks noGrp="1"/>
          </p:cNvSpPr>
          <p:nvPr>
            <p:ph idx="12"/>
          </p:nvPr>
        </p:nvSpPr>
        <p:spPr>
          <a:xfrm>
            <a:off x="152400" y="909638"/>
            <a:ext cx="4375150" cy="5467350"/>
          </a:xfrm>
        </p:spPr>
        <p:txBody>
          <a:bodyPr>
            <a:normAutofit lnSpcReduction="10000"/>
          </a:bodyPr>
          <a:lstStyle/>
          <a:p>
            <a:pPr marL="514350" indent="-514350">
              <a:buClr>
                <a:srgbClr val="C00000"/>
              </a:buClr>
              <a:buFont typeface="+mj-lt"/>
              <a:buAutoNum type="alphaUcPeriod"/>
            </a:pPr>
            <a:r>
              <a:rPr lang="en-US" sz="2800" dirty="0">
                <a:solidFill>
                  <a:srgbClr val="4E519E"/>
                </a:solidFill>
              </a:rPr>
              <a:t>At </a:t>
            </a:r>
            <a:r>
              <a:rPr lang="en-US" sz="2800" b="1" i="1" dirty="0">
                <a:solidFill>
                  <a:srgbClr val="4E519E"/>
                </a:solidFill>
              </a:rPr>
              <a:t>Q</a:t>
            </a:r>
            <a:r>
              <a:rPr lang="en-US" sz="2800" dirty="0">
                <a:solidFill>
                  <a:srgbClr val="4E519E"/>
                </a:solidFill>
              </a:rPr>
              <a:t> = 10, </a:t>
            </a:r>
            <a:br>
              <a:rPr lang="en-US" sz="2800" dirty="0">
                <a:solidFill>
                  <a:srgbClr val="4E519E"/>
                </a:solidFill>
              </a:rPr>
            </a:br>
            <a:r>
              <a:rPr lang="en-US" sz="2800" dirty="0">
                <a:solidFill>
                  <a:srgbClr val="4E519E"/>
                </a:solidFill>
              </a:rPr>
              <a:t>marginal cost = $20 </a:t>
            </a:r>
          </a:p>
          <a:p>
            <a:pPr marL="514350" indent="-514350">
              <a:buClr>
                <a:srgbClr val="C00000"/>
              </a:buClr>
              <a:buFont typeface="+mj-lt"/>
              <a:buAutoNum type="alphaUcPeriod"/>
            </a:pPr>
            <a:r>
              <a:rPr lang="en-US" sz="2800" dirty="0">
                <a:solidFill>
                  <a:srgbClr val="4E519E"/>
                </a:solidFill>
              </a:rPr>
              <a:t>If P = $20, </a:t>
            </a:r>
          </a:p>
          <a:p>
            <a:pPr marL="0" indent="0">
              <a:buClr>
                <a:srgbClr val="C00000"/>
              </a:buClr>
              <a:buNone/>
            </a:pPr>
            <a:r>
              <a:rPr lang="en-US" sz="2800" b="1" i="1" dirty="0">
                <a:solidFill>
                  <a:srgbClr val="4E519E"/>
                </a:solidFill>
              </a:rPr>
              <a:t>PS</a:t>
            </a:r>
            <a:r>
              <a:rPr lang="en-US" sz="2800" dirty="0">
                <a:solidFill>
                  <a:srgbClr val="4E519E"/>
                </a:solidFill>
              </a:rPr>
              <a:t> = ½ x 10 x $20 </a:t>
            </a:r>
            <a:br>
              <a:rPr lang="en-US" sz="2800" dirty="0">
                <a:solidFill>
                  <a:srgbClr val="4E519E"/>
                </a:solidFill>
              </a:rPr>
            </a:br>
            <a:r>
              <a:rPr lang="en-US" sz="2800" dirty="0">
                <a:solidFill>
                  <a:srgbClr val="4E519E"/>
                </a:solidFill>
              </a:rPr>
              <a:t>  = $100</a:t>
            </a:r>
          </a:p>
          <a:p>
            <a:pPr marL="0" indent="0">
              <a:buNone/>
            </a:pPr>
            <a:r>
              <a:rPr lang="en-US" sz="2800" b="1" i="1" dirty="0"/>
              <a:t>P</a:t>
            </a:r>
            <a:r>
              <a:rPr lang="en-US" sz="2800" dirty="0"/>
              <a:t> rises to $30. </a:t>
            </a:r>
          </a:p>
          <a:p>
            <a:pPr marL="514350" indent="-514350">
              <a:buClr>
                <a:srgbClr val="C00000"/>
              </a:buClr>
              <a:buFont typeface="+mj-lt"/>
              <a:buAutoNum type="alphaUcPeriod" startAt="3"/>
            </a:pPr>
            <a:r>
              <a:rPr lang="en-US" sz="2800" b="1" i="1" dirty="0">
                <a:solidFill>
                  <a:srgbClr val="4E519E"/>
                </a:solidFill>
              </a:rPr>
              <a:t>PS</a:t>
            </a:r>
            <a:r>
              <a:rPr lang="en-US" sz="2800" dirty="0">
                <a:solidFill>
                  <a:srgbClr val="4E519E"/>
                </a:solidFill>
              </a:rPr>
              <a:t> on </a:t>
            </a:r>
            <a:br>
              <a:rPr lang="en-US" sz="2800" dirty="0">
                <a:solidFill>
                  <a:srgbClr val="4E519E"/>
                </a:solidFill>
              </a:rPr>
            </a:br>
            <a:r>
              <a:rPr lang="en-US" sz="2800" dirty="0">
                <a:solidFill>
                  <a:srgbClr val="4E519E"/>
                </a:solidFill>
              </a:rPr>
              <a:t>additional units sold</a:t>
            </a:r>
            <a:br>
              <a:rPr lang="en-US" sz="2800" dirty="0">
                <a:solidFill>
                  <a:srgbClr val="4E519E"/>
                </a:solidFill>
              </a:rPr>
            </a:br>
            <a:r>
              <a:rPr lang="en-US" sz="2800" dirty="0">
                <a:solidFill>
                  <a:srgbClr val="4E519E"/>
                </a:solidFill>
              </a:rPr>
              <a:t>= ½ x 5 x $10 = $25</a:t>
            </a:r>
          </a:p>
          <a:p>
            <a:pPr marL="514350" indent="-514350">
              <a:buClr>
                <a:srgbClr val="C00000"/>
              </a:buClr>
              <a:buFont typeface="+mj-lt"/>
              <a:buAutoNum type="alphaUcPeriod" startAt="3"/>
            </a:pPr>
            <a:r>
              <a:rPr lang="en-US" sz="2800" dirty="0">
                <a:solidFill>
                  <a:srgbClr val="4E519E"/>
                </a:solidFill>
              </a:rPr>
              <a:t>Increase in </a:t>
            </a:r>
            <a:r>
              <a:rPr lang="en-US" sz="2800" b="1" i="1" dirty="0">
                <a:solidFill>
                  <a:srgbClr val="4E519E"/>
                </a:solidFill>
              </a:rPr>
              <a:t>PS</a:t>
            </a:r>
            <a:r>
              <a:rPr lang="en-US" sz="2800" dirty="0">
                <a:solidFill>
                  <a:srgbClr val="4E519E"/>
                </a:solidFill>
              </a:rPr>
              <a:t> </a:t>
            </a:r>
            <a:br>
              <a:rPr lang="en-US" sz="2800" dirty="0">
                <a:solidFill>
                  <a:srgbClr val="4E519E"/>
                </a:solidFill>
              </a:rPr>
            </a:br>
            <a:r>
              <a:rPr lang="en-US" sz="2800" dirty="0">
                <a:solidFill>
                  <a:srgbClr val="4E519E"/>
                </a:solidFill>
              </a:rPr>
              <a:t>on initial 10 units</a:t>
            </a:r>
            <a:br>
              <a:rPr lang="en-US" sz="2800" dirty="0">
                <a:solidFill>
                  <a:srgbClr val="4E519E"/>
                </a:solidFill>
              </a:rPr>
            </a:br>
            <a:r>
              <a:rPr lang="en-US" sz="2800" dirty="0">
                <a:solidFill>
                  <a:srgbClr val="4E519E"/>
                </a:solidFill>
              </a:rPr>
              <a:t>= 10 x $10 = $100</a:t>
            </a:r>
          </a:p>
        </p:txBody>
      </p:sp>
      <p:grpSp>
        <p:nvGrpSpPr>
          <p:cNvPr id="6" name="Group 5"/>
          <p:cNvGrpSpPr/>
          <p:nvPr/>
        </p:nvGrpSpPr>
        <p:grpSpPr>
          <a:xfrm>
            <a:off x="4191000" y="685800"/>
            <a:ext cx="4821238" cy="5791200"/>
            <a:chOff x="4092575" y="917575"/>
            <a:chExt cx="4821238" cy="5791200"/>
          </a:xfrm>
        </p:grpSpPr>
        <p:graphicFrame>
          <p:nvGraphicFramePr>
            <p:cNvPr id="7" name="Object 8"/>
            <p:cNvGraphicFramePr>
              <a:graphicFrameLocks noChangeAspect="1"/>
            </p:cNvGraphicFramePr>
            <p:nvPr/>
          </p:nvGraphicFramePr>
          <p:xfrm>
            <a:off x="4092575" y="917575"/>
            <a:ext cx="4821238" cy="5791200"/>
          </p:xfrm>
          <a:graphic>
            <a:graphicData uri="http://schemas.openxmlformats.org/presentationml/2006/ole">
              <mc:AlternateContent xmlns:mc="http://schemas.openxmlformats.org/markup-compatibility/2006">
                <mc:Choice xmlns:v="urn:schemas-microsoft-com:vml" Requires="v">
                  <p:oleObj name="Worksheet" r:id="rId3" imgW="3447931" imgH="3952994" progId="Excel.Sheet.8">
                    <p:embed/>
                  </p:oleObj>
                </mc:Choice>
                <mc:Fallback>
                  <p:oleObj name="Worksheet" r:id="rId3" imgW="3447931" imgH="3952994" progId="Excel.Sheet.8">
                    <p:embed/>
                    <p:pic>
                      <p:nvPicPr>
                        <p:cNvPr id="7"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2575" y="917575"/>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8" name="Text Box 9" descr="Wide upward diagonal"/>
            <p:cNvSpPr txBox="1">
              <a:spLocks noChangeArrowheads="1"/>
            </p:cNvSpPr>
            <p:nvPr/>
          </p:nvSpPr>
          <p:spPr bwMode="auto">
            <a:xfrm>
              <a:off x="4221163" y="1176338"/>
              <a:ext cx="592137" cy="503237"/>
            </a:xfrm>
            <a:prstGeom prst="rect">
              <a:avLst/>
            </a:prstGeom>
            <a:ln w="9525">
              <a:noFill/>
              <a:miter lim="800000"/>
              <a:headEnd/>
              <a:tailEnd/>
            </a:ln>
          </p:spPr>
          <p:txBody>
            <a:bodyPr>
              <a:spAutoFit/>
            </a:bodyPr>
            <a:lstStyle/>
            <a:p>
              <a:pPr algn="ctr">
                <a:spcBef>
                  <a:spcPct val="50000"/>
                </a:spcBef>
              </a:pPr>
              <a:r>
                <a:rPr lang="en-US" sz="2700" b="1" i="1" dirty="0">
                  <a:latin typeface="Arial"/>
                  <a:cs typeface="Arial"/>
                </a:rPr>
                <a:t>P</a:t>
              </a:r>
            </a:p>
          </p:txBody>
        </p:sp>
        <p:sp>
          <p:nvSpPr>
            <p:cNvPr id="9" name="Text Box 10" descr="Wide upward diagonal"/>
            <p:cNvSpPr txBox="1">
              <a:spLocks noChangeArrowheads="1"/>
            </p:cNvSpPr>
            <p:nvPr/>
          </p:nvSpPr>
          <p:spPr bwMode="auto">
            <a:xfrm>
              <a:off x="8169275" y="6029325"/>
              <a:ext cx="592138" cy="503238"/>
            </a:xfrm>
            <a:prstGeom prst="rect">
              <a:avLst/>
            </a:prstGeom>
            <a:solidFill>
              <a:schemeClr val="bg1"/>
            </a:solidFill>
            <a:ln w="9525">
              <a:noFill/>
              <a:miter lim="800000"/>
              <a:headEnd/>
              <a:tailEnd/>
            </a:ln>
          </p:spPr>
          <p:txBody>
            <a:bodyPr>
              <a:spAutoFit/>
            </a:bodyPr>
            <a:lstStyle/>
            <a:p>
              <a:pPr algn="ctr">
                <a:spcBef>
                  <a:spcPct val="50000"/>
                </a:spcBef>
              </a:pPr>
              <a:r>
                <a:rPr lang="en-US" sz="2700" b="1" i="1" dirty="0">
                  <a:latin typeface="Arial"/>
                  <a:cs typeface="Arial"/>
                </a:rPr>
                <a:t>Q</a:t>
              </a:r>
            </a:p>
          </p:txBody>
        </p:sp>
        <p:sp>
          <p:nvSpPr>
            <p:cNvPr id="10" name="Text Box 11"/>
            <p:cNvSpPr txBox="1">
              <a:spLocks noChangeArrowheads="1"/>
            </p:cNvSpPr>
            <p:nvPr/>
          </p:nvSpPr>
          <p:spPr bwMode="auto">
            <a:xfrm>
              <a:off x="5273675" y="1309688"/>
              <a:ext cx="2909888" cy="488950"/>
            </a:xfrm>
            <a:prstGeom prst="rect">
              <a:avLst/>
            </a:prstGeom>
            <a:solidFill>
              <a:schemeClr val="bg1"/>
            </a:solidFill>
            <a:ln w="9525">
              <a:noFill/>
              <a:miter lim="800000"/>
              <a:headEnd/>
              <a:tailEnd/>
            </a:ln>
          </p:spPr>
          <p:txBody>
            <a:bodyPr>
              <a:spAutoFit/>
            </a:bodyPr>
            <a:lstStyle/>
            <a:p>
              <a:pPr algn="ctr">
                <a:spcBef>
                  <a:spcPct val="50000"/>
                </a:spcBef>
              </a:pPr>
              <a:r>
                <a:rPr lang="en-US" sz="2600" i="1" dirty="0">
                  <a:latin typeface="Arial"/>
                  <a:cs typeface="Arial"/>
                </a:rPr>
                <a:t>supply curve</a:t>
              </a:r>
            </a:p>
          </p:txBody>
        </p:sp>
      </p:grpSp>
      <p:grpSp>
        <p:nvGrpSpPr>
          <p:cNvPr id="11" name="Group 12"/>
          <p:cNvGrpSpPr>
            <a:grpSpLocks/>
          </p:cNvGrpSpPr>
          <p:nvPr/>
        </p:nvGrpSpPr>
        <p:grpSpPr bwMode="auto">
          <a:xfrm>
            <a:off x="4367213" y="2720975"/>
            <a:ext cx="3146425" cy="3602038"/>
            <a:chOff x="2648" y="1612"/>
            <a:chExt cx="1982" cy="2269"/>
          </a:xfrm>
        </p:grpSpPr>
        <p:grpSp>
          <p:nvGrpSpPr>
            <p:cNvPr id="12" name="Group 13"/>
            <p:cNvGrpSpPr>
              <a:grpSpLocks/>
            </p:cNvGrpSpPr>
            <p:nvPr/>
          </p:nvGrpSpPr>
          <p:grpSpPr bwMode="auto">
            <a:xfrm>
              <a:off x="2648" y="1612"/>
              <a:ext cx="1812" cy="248"/>
              <a:chOff x="2648" y="1612"/>
              <a:chExt cx="1812" cy="248"/>
            </a:xfrm>
          </p:grpSpPr>
          <p:sp>
            <p:nvSpPr>
              <p:cNvPr id="16" name="Line 14"/>
              <p:cNvSpPr>
                <a:spLocks noChangeShapeType="1"/>
              </p:cNvSpPr>
              <p:nvPr/>
            </p:nvSpPr>
            <p:spPr bwMode="auto">
              <a:xfrm>
                <a:off x="2974" y="1738"/>
                <a:ext cx="1486" cy="0"/>
              </a:xfrm>
              <a:prstGeom prst="line">
                <a:avLst/>
              </a:prstGeom>
              <a:noFill/>
              <a:ln w="19050">
                <a:solidFill>
                  <a:srgbClr val="FF0000"/>
                </a:solidFill>
                <a:round/>
                <a:headEnd/>
                <a:tailEnd/>
              </a:ln>
            </p:spPr>
            <p:txBody>
              <a:bodyPr/>
              <a:lstStyle/>
              <a:p>
                <a:endParaRPr lang="en-US">
                  <a:latin typeface="Arial"/>
                  <a:cs typeface="Arial"/>
                </a:endParaRPr>
              </a:p>
            </p:txBody>
          </p:sp>
          <p:sp>
            <p:nvSpPr>
              <p:cNvPr id="17" name="Rectangle 16"/>
              <p:cNvSpPr>
                <a:spLocks noChangeArrowheads="1"/>
              </p:cNvSpPr>
              <p:nvPr/>
            </p:nvSpPr>
            <p:spPr bwMode="auto">
              <a:xfrm>
                <a:off x="2648" y="1612"/>
                <a:ext cx="329" cy="248"/>
              </a:xfrm>
              <a:prstGeom prst="rect">
                <a:avLst/>
              </a:prstGeom>
              <a:noFill/>
              <a:ln w="19050">
                <a:solidFill>
                  <a:srgbClr val="FF0000"/>
                </a:solidFill>
                <a:miter lim="800000"/>
                <a:headEnd/>
                <a:tailEnd/>
              </a:ln>
            </p:spPr>
            <p:txBody>
              <a:bodyPr wrap="none" anchor="ctr"/>
              <a:lstStyle/>
              <a:p>
                <a:endParaRPr lang="en-US">
                  <a:latin typeface="Arial"/>
                  <a:cs typeface="Arial"/>
                </a:endParaRPr>
              </a:p>
            </p:txBody>
          </p:sp>
        </p:grpSp>
        <p:grpSp>
          <p:nvGrpSpPr>
            <p:cNvPr id="13" name="Group 16"/>
            <p:cNvGrpSpPr>
              <a:grpSpLocks/>
            </p:cNvGrpSpPr>
            <p:nvPr/>
          </p:nvGrpSpPr>
          <p:grpSpPr bwMode="auto">
            <a:xfrm>
              <a:off x="4301" y="1735"/>
              <a:ext cx="329" cy="2146"/>
              <a:chOff x="4301" y="1735"/>
              <a:chExt cx="329" cy="2146"/>
            </a:xfrm>
          </p:grpSpPr>
          <p:sp>
            <p:nvSpPr>
              <p:cNvPr id="14" name="Line 17"/>
              <p:cNvSpPr>
                <a:spLocks noChangeShapeType="1"/>
              </p:cNvSpPr>
              <p:nvPr/>
            </p:nvSpPr>
            <p:spPr bwMode="auto">
              <a:xfrm rot="16200000" flipH="1">
                <a:off x="3514" y="2684"/>
                <a:ext cx="1902" cy="3"/>
              </a:xfrm>
              <a:prstGeom prst="line">
                <a:avLst/>
              </a:prstGeom>
              <a:noFill/>
              <a:ln w="19050">
                <a:solidFill>
                  <a:srgbClr val="FF0000"/>
                </a:solidFill>
                <a:round/>
                <a:headEnd/>
                <a:tailEnd/>
              </a:ln>
            </p:spPr>
            <p:txBody>
              <a:bodyPr/>
              <a:lstStyle/>
              <a:p>
                <a:endParaRPr lang="en-US">
                  <a:latin typeface="Arial"/>
                  <a:cs typeface="Arial"/>
                </a:endParaRPr>
              </a:p>
            </p:txBody>
          </p:sp>
          <p:sp>
            <p:nvSpPr>
              <p:cNvPr id="15" name="Rectangle 18"/>
              <p:cNvSpPr>
                <a:spLocks noChangeArrowheads="1"/>
              </p:cNvSpPr>
              <p:nvPr/>
            </p:nvSpPr>
            <p:spPr bwMode="auto">
              <a:xfrm>
                <a:off x="4301" y="3633"/>
                <a:ext cx="329" cy="248"/>
              </a:xfrm>
              <a:prstGeom prst="rect">
                <a:avLst/>
              </a:prstGeom>
              <a:noFill/>
              <a:ln w="19050">
                <a:solidFill>
                  <a:srgbClr val="FF0000"/>
                </a:solidFill>
                <a:miter lim="800000"/>
                <a:headEnd/>
                <a:tailEnd/>
              </a:ln>
            </p:spPr>
            <p:txBody>
              <a:bodyPr wrap="none" anchor="ctr"/>
              <a:lstStyle/>
              <a:p>
                <a:endParaRPr lang="en-US">
                  <a:latin typeface="Arial"/>
                  <a:cs typeface="Arial"/>
                </a:endParaRPr>
              </a:p>
            </p:txBody>
          </p:sp>
        </p:grpSp>
      </p:grpSp>
      <p:grpSp>
        <p:nvGrpSpPr>
          <p:cNvPr id="18" name="Group 19"/>
          <p:cNvGrpSpPr>
            <a:grpSpLocks/>
          </p:cNvGrpSpPr>
          <p:nvPr/>
        </p:nvGrpSpPr>
        <p:grpSpPr bwMode="auto">
          <a:xfrm>
            <a:off x="4364038" y="3648075"/>
            <a:ext cx="2425700" cy="2676525"/>
            <a:chOff x="2646" y="2196"/>
            <a:chExt cx="1528" cy="1686"/>
          </a:xfrm>
        </p:grpSpPr>
        <p:sp>
          <p:nvSpPr>
            <p:cNvPr id="19" name="Rectangle 20"/>
            <p:cNvSpPr>
              <a:spLocks noChangeArrowheads="1"/>
            </p:cNvSpPr>
            <p:nvPr/>
          </p:nvSpPr>
          <p:spPr bwMode="auto">
            <a:xfrm>
              <a:off x="3845" y="3634"/>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nvGrpSpPr>
            <p:cNvPr id="20" name="Group 21"/>
            <p:cNvGrpSpPr>
              <a:grpSpLocks/>
            </p:cNvGrpSpPr>
            <p:nvPr/>
          </p:nvGrpSpPr>
          <p:grpSpPr bwMode="auto">
            <a:xfrm>
              <a:off x="2646" y="2196"/>
              <a:ext cx="1361" cy="248"/>
              <a:chOff x="2646" y="1615"/>
              <a:chExt cx="1361" cy="248"/>
            </a:xfrm>
          </p:grpSpPr>
          <p:sp>
            <p:nvSpPr>
              <p:cNvPr id="22" name="Line 22"/>
              <p:cNvSpPr>
                <a:spLocks noChangeShapeType="1"/>
              </p:cNvSpPr>
              <p:nvPr/>
            </p:nvSpPr>
            <p:spPr bwMode="auto">
              <a:xfrm flipV="1">
                <a:off x="2972" y="1737"/>
                <a:ext cx="1035"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3" name="Rectangle 23"/>
              <p:cNvSpPr>
                <a:spLocks noChangeArrowheads="1"/>
              </p:cNvSpPr>
              <p:nvPr/>
            </p:nvSpPr>
            <p:spPr bwMode="auto">
              <a:xfrm>
                <a:off x="2646" y="1615"/>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21" name="Line 24"/>
            <p:cNvSpPr>
              <a:spLocks noChangeShapeType="1"/>
            </p:cNvSpPr>
            <p:nvPr/>
          </p:nvSpPr>
          <p:spPr bwMode="auto">
            <a:xfrm flipV="1">
              <a:off x="4003" y="2317"/>
              <a:ext cx="0" cy="1320"/>
            </a:xfrm>
            <a:prstGeom prst="line">
              <a:avLst/>
            </a:prstGeom>
            <a:noFill/>
            <a:ln w="19050">
              <a:solidFill>
                <a:srgbClr val="0000FF"/>
              </a:solidFill>
              <a:round/>
              <a:headEnd/>
              <a:tailEnd/>
            </a:ln>
          </p:spPr>
          <p:txBody>
            <a:bodyPr/>
            <a:lstStyle/>
            <a:p>
              <a:endParaRPr lang="en-US">
                <a:latin typeface="Arial"/>
                <a:cs typeface="Arial"/>
              </a:endParaRPr>
            </a:p>
          </p:txBody>
        </p:sp>
      </p:grpSp>
      <p:sp>
        <p:nvSpPr>
          <p:cNvPr id="24" name="Rectangle 25"/>
          <p:cNvSpPr>
            <a:spLocks noChangeArrowheads="1"/>
          </p:cNvSpPr>
          <p:nvPr/>
        </p:nvSpPr>
        <p:spPr bwMode="auto">
          <a:xfrm>
            <a:off x="5029200" y="2932113"/>
            <a:ext cx="1473201" cy="896937"/>
          </a:xfrm>
          <a:prstGeom prst="rect">
            <a:avLst/>
          </a:prstGeom>
          <a:pattFill prst="wdDnDiag">
            <a:fgClr>
              <a:srgbClr val="00CC99"/>
            </a:fgClr>
            <a:bgClr>
              <a:schemeClr val="bg1"/>
            </a:bgClr>
          </a:pattFill>
          <a:ln w="9525">
            <a:noFill/>
            <a:miter lim="800000"/>
            <a:headEnd/>
            <a:tailEnd/>
          </a:ln>
        </p:spPr>
        <p:txBody>
          <a:bodyPr wrap="none" anchor="ctr"/>
          <a:lstStyle/>
          <a:p>
            <a:endParaRPr lang="en-US">
              <a:latin typeface="Arial"/>
              <a:cs typeface="Arial"/>
            </a:endParaRPr>
          </a:p>
        </p:txBody>
      </p:sp>
      <p:sp>
        <p:nvSpPr>
          <p:cNvPr id="25" name="AutoShape 26"/>
          <p:cNvSpPr>
            <a:spLocks noChangeArrowheads="1"/>
          </p:cNvSpPr>
          <p:nvPr/>
        </p:nvSpPr>
        <p:spPr bwMode="auto">
          <a:xfrm flipV="1">
            <a:off x="6499226" y="2935286"/>
            <a:ext cx="703262" cy="893763"/>
          </a:xfrm>
          <a:prstGeom prst="rtTriangle">
            <a:avLst/>
          </a:prstGeom>
          <a:pattFill prst="dkHorz">
            <a:fgClr>
              <a:srgbClr val="33CCFF"/>
            </a:fgClr>
            <a:bgClr>
              <a:schemeClr val="bg1"/>
            </a:bgClr>
          </a:pattFill>
          <a:ln w="9525">
            <a:noFill/>
            <a:miter lim="800000"/>
            <a:headEnd/>
            <a:tailEnd/>
          </a:ln>
        </p:spPr>
        <p:txBody>
          <a:bodyPr rot="10800000" wrap="none" anchor="ctr"/>
          <a:lstStyle/>
          <a:p>
            <a:endParaRPr lang="en-US">
              <a:latin typeface="Arial"/>
              <a:cs typeface="Arial"/>
            </a:endParaRPr>
          </a:p>
        </p:txBody>
      </p:sp>
      <p:sp>
        <p:nvSpPr>
          <p:cNvPr id="26" name="AutoShape 27"/>
          <p:cNvSpPr>
            <a:spLocks noChangeArrowheads="1"/>
          </p:cNvSpPr>
          <p:nvPr/>
        </p:nvSpPr>
        <p:spPr bwMode="auto">
          <a:xfrm flipV="1">
            <a:off x="5029200" y="3852862"/>
            <a:ext cx="1470026" cy="1762125"/>
          </a:xfrm>
          <a:prstGeom prst="rtTriangle">
            <a:avLst/>
          </a:prstGeom>
          <a:solidFill>
            <a:srgbClr val="66FF33">
              <a:alpha val="90000"/>
            </a:srgbClr>
          </a:solidFill>
          <a:ln w="9525">
            <a:noFill/>
            <a:miter lim="800000"/>
            <a:headEnd/>
            <a:tailEnd/>
          </a:ln>
        </p:spPr>
        <p:txBody>
          <a:bodyPr rot="10800000" wrap="none" anchor="ctr"/>
          <a:lstStyle/>
          <a:p>
            <a:endParaRPr lang="en-US">
              <a:latin typeface="Arial"/>
              <a:cs typeface="Arial"/>
            </a:endParaRPr>
          </a:p>
        </p:txBody>
      </p:sp>
      <p:sp>
        <p:nvSpPr>
          <p:cNvPr id="5" name="Footer Placeholder 4">
            <a:extLst>
              <a:ext uri="{FF2B5EF4-FFF2-40B4-BE49-F238E27FC236}">
                <a16:creationId xmlns:a16="http://schemas.microsoft.com/office/drawing/2014/main" id="{84C94C2D-183C-BBBB-EF5C-B3637B3B5C0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499928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upLeft)">
                                      <p:cBhvr>
                                        <p:cTn id="7" dur="500"/>
                                        <p:tgtEl>
                                          <p:spTgt spid="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left)">
                                      <p:cBhvr>
                                        <p:cTn id="20" dur="500"/>
                                        <p:tgtEl>
                                          <p:spTgt spid="3">
                                            <p:txEl>
                                              <p:pRg st="1" end="1"/>
                                            </p:txEl>
                                          </p:spTgt>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wipe(left)">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wipe(left)">
                                      <p:cBhvr>
                                        <p:cTn id="29" dur="500"/>
                                        <p:tgtEl>
                                          <p:spTgt spid="3">
                                            <p:txEl>
                                              <p:pRg st="3" end="3"/>
                                            </p:txEl>
                                          </p:spTgt>
                                        </p:tgtEl>
                                      </p:cBhvr>
                                    </p:animEffect>
                                  </p:childTnLst>
                                </p:cTn>
                              </p:par>
                            </p:childTnLst>
                          </p:cTn>
                        </p:par>
                        <p:par>
                          <p:cTn id="30" fill="hold">
                            <p:stCondLst>
                              <p:cond delay="500"/>
                            </p:stCondLst>
                            <p:childTnLst>
                              <p:par>
                                <p:cTn id="31" presetID="18" presetClass="entr" presetSubtype="6"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strips(downRight)">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wipe(left)">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animEffect transition="in" filter="wipe(left)">
                                      <p:cBhvr>
                                        <p:cTn id="5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4" grpId="0" uiExpand="1" animBg="1"/>
      <p:bldP spid="25" grpId="0" uiExpand="1" animBg="1"/>
      <p:bldP spid="26" grpId="0" uiExpan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Benevolent Social Planners – 1 </a:t>
            </a:r>
          </a:p>
        </p:txBody>
      </p:sp>
      <p:sp>
        <p:nvSpPr>
          <p:cNvPr id="3" name="Content Placeholder 2"/>
          <p:cNvSpPr>
            <a:spLocks noGrp="1"/>
          </p:cNvSpPr>
          <p:nvPr>
            <p:ph idx="1"/>
          </p:nvPr>
        </p:nvSpPr>
        <p:spPr>
          <a:prstGeom prst="rect">
            <a:avLst/>
          </a:prstGeom>
        </p:spPr>
        <p:txBody>
          <a:bodyPr/>
          <a:lstStyle/>
          <a:p>
            <a:r>
              <a:rPr lang="en-US" dirty="0"/>
              <a:t>Benevolent social planners (BSP)</a:t>
            </a:r>
          </a:p>
          <a:p>
            <a:pPr lvl="1"/>
            <a:r>
              <a:rPr lang="en-US" dirty="0"/>
              <a:t>Hypothetical committee: all-knowing, all-powerful, well-intentioned</a:t>
            </a:r>
          </a:p>
          <a:p>
            <a:pPr lvl="1"/>
            <a:r>
              <a:rPr lang="en-US" dirty="0"/>
              <a:t>Want to maximize the economic well-being of everyone in society</a:t>
            </a:r>
          </a:p>
          <a:p>
            <a:pPr lvl="2"/>
            <a:r>
              <a:rPr lang="en-US" dirty="0"/>
              <a:t>Total surplus = Consumer surplus + Producer surplus</a:t>
            </a:r>
          </a:p>
          <a:p>
            <a:pPr lvl="1"/>
            <a:r>
              <a:rPr lang="en-US" dirty="0"/>
              <a:t>Evaluate market outcomes</a:t>
            </a:r>
          </a:p>
          <a:p>
            <a:pPr lvl="1"/>
            <a:r>
              <a:rPr lang="en-US" dirty="0"/>
              <a:t>Care about efficiency and equality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31</a:t>
            </a:fld>
            <a:endParaRPr lang="en-US"/>
          </a:p>
        </p:txBody>
      </p:sp>
      <p:sp>
        <p:nvSpPr>
          <p:cNvPr id="5" name="Footer Placeholder 4">
            <a:extLst>
              <a:ext uri="{FF2B5EF4-FFF2-40B4-BE49-F238E27FC236}">
                <a16:creationId xmlns:a16="http://schemas.microsoft.com/office/drawing/2014/main" id="{E504BF3A-5C71-801E-E2CC-AE6A5F050DB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02833495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Benevolent Social Planners – 2 </a:t>
            </a:r>
          </a:p>
        </p:txBody>
      </p:sp>
      <p:sp>
        <p:nvSpPr>
          <p:cNvPr id="3" name="Content Placeholder 2"/>
          <p:cNvSpPr>
            <a:spLocks noGrp="1"/>
          </p:cNvSpPr>
          <p:nvPr>
            <p:ph idx="1"/>
          </p:nvPr>
        </p:nvSpPr>
        <p:spPr>
          <a:prstGeom prst="rect">
            <a:avLst/>
          </a:prstGeom>
        </p:spPr>
        <p:txBody>
          <a:bodyPr/>
          <a:lstStyle/>
          <a:p>
            <a:r>
              <a:rPr lang="en-US" dirty="0"/>
              <a:t>Allocation of resources – desirable?</a:t>
            </a:r>
          </a:p>
          <a:p>
            <a:pPr lvl="1"/>
            <a:r>
              <a:rPr lang="en-US" dirty="0"/>
              <a:t>Competitive markets</a:t>
            </a:r>
          </a:p>
          <a:p>
            <a:pPr lvl="2"/>
            <a:r>
              <a:rPr lang="en-US" dirty="0"/>
              <a:t>Determined by interactions of many self-interested buyers and sellers</a:t>
            </a:r>
          </a:p>
          <a:p>
            <a:pPr lvl="1"/>
            <a:r>
              <a:rPr lang="en-US" dirty="0"/>
              <a:t>Total surplus – measure of society’s well-being</a:t>
            </a:r>
          </a:p>
          <a:p>
            <a:pPr lvl="2"/>
            <a:r>
              <a:rPr lang="en-US" dirty="0"/>
              <a:t>To consider whether the market’s allocation is efficient</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32</a:t>
            </a:fld>
            <a:endParaRPr lang="en-US"/>
          </a:p>
        </p:txBody>
      </p:sp>
      <p:sp>
        <p:nvSpPr>
          <p:cNvPr id="5" name="Footer Placeholder 4">
            <a:extLst>
              <a:ext uri="{FF2B5EF4-FFF2-40B4-BE49-F238E27FC236}">
                <a16:creationId xmlns:a16="http://schemas.microsoft.com/office/drawing/2014/main" id="{75E4BF3F-B296-6EFC-AA4D-A670EFE4E6BF}"/>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51053361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wrap="square" anchor="ctr"/>
          <a:lstStyle/>
          <a:p>
            <a:r>
              <a:rPr lang="en-US" altLang="en-US" dirty="0"/>
              <a:t>Market Efficiency – 1 </a:t>
            </a:r>
          </a:p>
        </p:txBody>
      </p:sp>
      <p:sp>
        <p:nvSpPr>
          <p:cNvPr id="29699" name="Content Placeholder 2"/>
          <p:cNvSpPr>
            <a:spLocks noGrp="1"/>
          </p:cNvSpPr>
          <p:nvPr>
            <p:ph idx="1"/>
          </p:nvPr>
        </p:nvSpPr>
        <p:spPr>
          <a:prstGeom prst="rect">
            <a:avLst/>
          </a:prstGeom>
        </p:spPr>
        <p:txBody>
          <a:bodyPr/>
          <a:lstStyle/>
          <a:p>
            <a:r>
              <a:rPr lang="en-US" altLang="en-US" dirty="0"/>
              <a:t>Total surplus = </a:t>
            </a:r>
            <a:r>
              <a:rPr lang="en-US" altLang="en-US" b="1" i="1" dirty="0"/>
              <a:t>CS</a:t>
            </a:r>
            <a:r>
              <a:rPr lang="en-US" altLang="en-US" dirty="0"/>
              <a:t> + </a:t>
            </a:r>
            <a:r>
              <a:rPr lang="en-US" altLang="en-US" b="1" i="1" dirty="0"/>
              <a:t>PS</a:t>
            </a:r>
          </a:p>
          <a:p>
            <a:pPr lvl="1"/>
            <a:r>
              <a:rPr lang="en-US" altLang="en-US" dirty="0"/>
              <a:t>Consumer surplus = Value to buyers – Amount paid by buyers </a:t>
            </a:r>
          </a:p>
          <a:p>
            <a:pPr lvl="2"/>
            <a:r>
              <a:rPr lang="en-US" altLang="en-US" dirty="0"/>
              <a:t>Buyers’ gains from participating in the market</a:t>
            </a:r>
          </a:p>
          <a:p>
            <a:pPr lvl="1"/>
            <a:r>
              <a:rPr lang="en-US" altLang="en-US" dirty="0"/>
              <a:t>Producer surplus = Amount received by sellers – Cost to sellers</a:t>
            </a:r>
          </a:p>
          <a:p>
            <a:pPr lvl="2"/>
            <a:r>
              <a:rPr lang="en-US" altLang="en-US" dirty="0"/>
              <a:t>Sellers’ gains from participating in the market</a:t>
            </a:r>
          </a:p>
          <a:p>
            <a:pPr marL="0" indent="0">
              <a:buNone/>
            </a:pPr>
            <a:r>
              <a:rPr lang="en-US" altLang="en-US" sz="3100" dirty="0"/>
              <a:t>Total surplus = Value to buyers – Cost to sellers</a:t>
            </a:r>
          </a:p>
        </p:txBody>
      </p:sp>
      <p:sp>
        <p:nvSpPr>
          <p:cNvPr id="29701"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CA873697-49A1-4F74-8149-D45F189870EE}" type="slidenum">
              <a:rPr lang="en-US" altLang="en-US" sz="1200" smtClean="0">
                <a:solidFill>
                  <a:srgbClr val="002060"/>
                </a:solidFill>
              </a:rPr>
              <a:pPr algn="ctr" eaLnBrk="1" hangingPunct="1"/>
              <a:t>33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9EB6F7E6-3AC6-E58A-1442-902A383E7667}"/>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7721443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wrap="square" anchor="ctr"/>
          <a:lstStyle/>
          <a:p>
            <a:r>
              <a:rPr lang="en-US" altLang="en-US" dirty="0"/>
              <a:t>Market Efficiency – 2 </a:t>
            </a:r>
          </a:p>
        </p:txBody>
      </p:sp>
      <p:sp>
        <p:nvSpPr>
          <p:cNvPr id="29699" name="Content Placeholder 2"/>
          <p:cNvSpPr>
            <a:spLocks noGrp="1"/>
          </p:cNvSpPr>
          <p:nvPr>
            <p:ph idx="1"/>
          </p:nvPr>
        </p:nvSpPr>
        <p:spPr>
          <a:prstGeom prst="rect">
            <a:avLst/>
          </a:prstGeom>
        </p:spPr>
        <p:txBody>
          <a:bodyPr/>
          <a:lstStyle/>
          <a:p>
            <a:r>
              <a:rPr lang="en-US" altLang="en-US" dirty="0"/>
              <a:t>Efficiency </a:t>
            </a:r>
          </a:p>
          <a:p>
            <a:pPr lvl="1"/>
            <a:r>
              <a:rPr lang="en-US" altLang="en-US" dirty="0"/>
              <a:t>The allocation of resources maximizes total surplus  </a:t>
            </a:r>
          </a:p>
          <a:p>
            <a:pPr lvl="1"/>
            <a:r>
              <a:rPr lang="en-US" altLang="en-US" dirty="0"/>
              <a:t>Is the pie as big as possible?</a:t>
            </a:r>
          </a:p>
          <a:p>
            <a:r>
              <a:rPr lang="en-US" altLang="en-US" dirty="0"/>
              <a:t>Equality </a:t>
            </a:r>
          </a:p>
          <a:p>
            <a:pPr lvl="1"/>
            <a:r>
              <a:rPr lang="en-US" altLang="en-US" dirty="0"/>
              <a:t>Distribute economic prosperity uniformly among the members of society</a:t>
            </a:r>
          </a:p>
          <a:p>
            <a:pPr lvl="1"/>
            <a:r>
              <a:rPr lang="en-US" altLang="en-US" sz="3100" dirty="0"/>
              <a:t>Every member of society gets an equal slice of the pie?</a:t>
            </a:r>
          </a:p>
        </p:txBody>
      </p:sp>
      <p:sp>
        <p:nvSpPr>
          <p:cNvPr id="29701"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CA873697-49A1-4F74-8149-D45F189870EE}" type="slidenum">
              <a:rPr lang="en-US" altLang="en-US" sz="1200" smtClean="0">
                <a:solidFill>
                  <a:srgbClr val="002060"/>
                </a:solidFill>
              </a:rPr>
              <a:pPr algn="ctr" eaLnBrk="1" hangingPunct="1"/>
              <a:t>34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38F6C1FE-3E90-7ADA-18DF-5C303873313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06808790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the Market Equilibrium</a:t>
            </a:r>
          </a:p>
        </p:txBody>
      </p:sp>
      <p:sp>
        <p:nvSpPr>
          <p:cNvPr id="3" name="Content Placeholder 2"/>
          <p:cNvSpPr>
            <a:spLocks noGrp="1"/>
          </p:cNvSpPr>
          <p:nvPr>
            <p:ph idx="1"/>
          </p:nvPr>
        </p:nvSpPr>
        <p:spPr>
          <a:prstGeom prst="rect">
            <a:avLst/>
          </a:prstGeom>
        </p:spPr>
        <p:txBody>
          <a:bodyPr/>
          <a:lstStyle/>
          <a:p>
            <a:pPr marL="0" indent="0">
              <a:buNone/>
            </a:pPr>
            <a:r>
              <a:rPr lang="en-US" sz="3200" dirty="0"/>
              <a:t>Competitive Markets:</a:t>
            </a:r>
          </a:p>
          <a:p>
            <a:pPr marL="571500" indent="-514350">
              <a:buFont typeface="+mj-lt"/>
              <a:buAutoNum type="arabicPeriod"/>
            </a:pPr>
            <a:r>
              <a:rPr lang="en-US" sz="2800" dirty="0">
                <a:solidFill>
                  <a:schemeClr val="tx1"/>
                </a:solidFill>
              </a:rPr>
              <a:t>Allocate the supply of goods to the buyers who value them most, as measured by their WTP </a:t>
            </a:r>
          </a:p>
          <a:p>
            <a:pPr marL="571500" indent="-514350">
              <a:buFont typeface="+mj-lt"/>
              <a:buAutoNum type="arabicPeriod"/>
            </a:pPr>
            <a:r>
              <a:rPr lang="en-US" sz="2800" dirty="0">
                <a:solidFill>
                  <a:schemeClr val="tx1"/>
                </a:solidFill>
              </a:rPr>
              <a:t>Allocate the demand for goods to the sellers who can produce them at the lowest cost</a:t>
            </a:r>
          </a:p>
          <a:p>
            <a:pPr marL="571500" indent="-514350">
              <a:buFont typeface="+mj-lt"/>
              <a:buAutoNum type="arabicPeriod"/>
            </a:pPr>
            <a:r>
              <a:rPr lang="en-US" sz="2800" dirty="0">
                <a:solidFill>
                  <a:schemeClr val="tx1"/>
                </a:solidFill>
              </a:rPr>
              <a:t>At equilibrium, produce the quantity of goods that maximizes the sum of consumer and producer surplus</a:t>
            </a:r>
          </a:p>
          <a:p>
            <a:pPr marL="971550" lvl="1" indent="-514350"/>
            <a:r>
              <a:rPr lang="en-US" sz="2800" dirty="0"/>
              <a:t>Raising or lowering the quantity of a good would not increase total surplus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35</a:t>
            </a:fld>
            <a:endParaRPr lang="en-US"/>
          </a:p>
        </p:txBody>
      </p:sp>
      <p:sp>
        <p:nvSpPr>
          <p:cNvPr id="5" name="Footer Placeholder 4">
            <a:extLst>
              <a:ext uri="{FF2B5EF4-FFF2-40B4-BE49-F238E27FC236}">
                <a16:creationId xmlns:a16="http://schemas.microsoft.com/office/drawing/2014/main" id="{F8567E99-B417-98A0-B7D5-9EBEA26D8A9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67161464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9" name="Rectangle 2"/>
          <p:cNvSpPr>
            <a:spLocks noGrp="1" noChangeArrowheads="1"/>
          </p:cNvSpPr>
          <p:nvPr>
            <p:ph type="title"/>
          </p:nvPr>
        </p:nvSpPr>
        <p:spPr/>
        <p:txBody>
          <a:bodyPr>
            <a:normAutofit/>
          </a:bodyPr>
          <a:lstStyle/>
          <a:p>
            <a:pPr eaLnBrk="1" hangingPunct="1"/>
            <a:r>
              <a:rPr lang="en-US" dirty="0"/>
              <a:t>EXAMPLE 5: </a:t>
            </a:r>
            <a:r>
              <a:rPr lang="en-US" dirty="0">
                <a:solidFill>
                  <a:schemeClr val="tx1"/>
                </a:solidFill>
              </a:rPr>
              <a:t>Evaluating the market equilibrium</a:t>
            </a:r>
          </a:p>
        </p:txBody>
      </p:sp>
      <p:sp>
        <p:nvSpPr>
          <p:cNvPr id="188419" name="Rectangle 3"/>
          <p:cNvSpPr>
            <a:spLocks noGrp="1" noChangeArrowheads="1"/>
          </p:cNvSpPr>
          <p:nvPr>
            <p:ph idx="1"/>
          </p:nvPr>
        </p:nvSpPr>
        <p:spPr>
          <a:xfrm>
            <a:off x="228600" y="914400"/>
            <a:ext cx="3809999" cy="5534025"/>
          </a:xfrm>
        </p:spPr>
        <p:txBody>
          <a:bodyPr>
            <a:normAutofit/>
          </a:bodyPr>
          <a:lstStyle/>
          <a:p>
            <a:pPr marL="0" indent="0" eaLnBrk="1" hangingPunct="1">
              <a:buFont typeface="Wingdings" pitchFamily="2" charset="2"/>
              <a:buNone/>
            </a:pPr>
            <a:r>
              <a:rPr lang="en-US" dirty="0"/>
              <a:t>Market equilibrium:</a:t>
            </a:r>
            <a:br>
              <a:rPr lang="en-US" dirty="0"/>
            </a:br>
            <a:r>
              <a:rPr lang="en-US" dirty="0"/>
              <a:t>  </a:t>
            </a:r>
            <a:r>
              <a:rPr lang="en-US" b="1" i="1" dirty="0"/>
              <a:t>P</a:t>
            </a:r>
            <a:r>
              <a:rPr lang="en-US" dirty="0"/>
              <a:t> = $30 </a:t>
            </a:r>
            <a:br>
              <a:rPr lang="en-US" dirty="0"/>
            </a:br>
            <a:r>
              <a:rPr lang="en-US" dirty="0"/>
              <a:t>  </a:t>
            </a:r>
            <a:r>
              <a:rPr lang="en-US" b="1" i="1" dirty="0"/>
              <a:t>Q</a:t>
            </a:r>
            <a:r>
              <a:rPr lang="en-US" dirty="0"/>
              <a:t> = 15</a:t>
            </a:r>
          </a:p>
          <a:p>
            <a:pPr marL="0" indent="0" eaLnBrk="1" hangingPunct="1">
              <a:buFont typeface="Wingdings" pitchFamily="2" charset="2"/>
              <a:buNone/>
            </a:pPr>
            <a:r>
              <a:rPr lang="en-US" dirty="0"/>
              <a:t>Total surplus </a:t>
            </a:r>
            <a:r>
              <a:rPr lang="en-US" b="1" i="1" dirty="0"/>
              <a:t>TS</a:t>
            </a:r>
            <a:br>
              <a:rPr lang="en-US" dirty="0"/>
            </a:br>
            <a:r>
              <a:rPr lang="en-US" dirty="0"/>
              <a:t>   =  </a:t>
            </a:r>
            <a:r>
              <a:rPr lang="en-US" b="1" i="1" dirty="0"/>
              <a:t>CS</a:t>
            </a:r>
            <a:r>
              <a:rPr lang="en-US" dirty="0"/>
              <a:t> + </a:t>
            </a:r>
            <a:r>
              <a:rPr lang="en-US" b="1" i="1" dirty="0"/>
              <a:t>PS</a:t>
            </a:r>
          </a:p>
          <a:p>
            <a:pPr marL="0" indent="0" eaLnBrk="1" hangingPunct="1">
              <a:buFont typeface="Wingdings" pitchFamily="2" charset="2"/>
              <a:buNone/>
            </a:pPr>
            <a:endParaRPr lang="en-US" dirty="0"/>
          </a:p>
          <a:p>
            <a:pPr marL="0" indent="0" eaLnBrk="1" hangingPunct="1">
              <a:buFont typeface="Wingdings" pitchFamily="2" charset="2"/>
              <a:buNone/>
            </a:pPr>
            <a:r>
              <a:rPr lang="en-US" dirty="0">
                <a:solidFill>
                  <a:srgbClr val="4E519E"/>
                </a:solidFill>
              </a:rPr>
              <a:t>Is the market equilibrium efficient?</a:t>
            </a:r>
          </a:p>
        </p:txBody>
      </p:sp>
      <p:sp>
        <p:nvSpPr>
          <p:cNvPr id="11" name="Slide Number Placeholder 10"/>
          <p:cNvSpPr>
            <a:spLocks noGrp="1"/>
          </p:cNvSpPr>
          <p:nvPr>
            <p:ph type="sldNum" sz="quarter" idx="10"/>
          </p:nvPr>
        </p:nvSpPr>
        <p:spPr/>
        <p:txBody>
          <a:bodyPr/>
          <a:lstStyle/>
          <a:p>
            <a:pPr>
              <a:defRPr/>
            </a:pPr>
            <a:fld id="{2F37425F-5E17-4209-B948-B5CE2119E408}" type="slidenum">
              <a:rPr lang="en-US" smtClean="0"/>
              <a:pPr>
                <a:defRPr/>
              </a:pPr>
              <a:t>36</a:t>
            </a:fld>
            <a:endParaRPr lang="en-US" dirty="0"/>
          </a:p>
        </p:txBody>
      </p:sp>
      <p:grpSp>
        <p:nvGrpSpPr>
          <p:cNvPr id="2" name="Group 4"/>
          <p:cNvGrpSpPr>
            <a:grpSpLocks/>
          </p:cNvGrpSpPr>
          <p:nvPr/>
        </p:nvGrpSpPr>
        <p:grpSpPr bwMode="auto">
          <a:xfrm>
            <a:off x="3787775" y="1009650"/>
            <a:ext cx="4979988" cy="5295900"/>
            <a:chOff x="2386" y="636"/>
            <a:chExt cx="3137" cy="3336"/>
          </a:xfrm>
        </p:grpSpPr>
        <p:graphicFrame>
          <p:nvGraphicFramePr>
            <p:cNvPr id="21506" name="Object 5"/>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150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p:spPr>
                    </p:pic>
                  </p:oleObj>
                </mc:Fallback>
              </mc:AlternateContent>
            </a:graphicData>
          </a:graphic>
        </p:graphicFrame>
        <p:sp>
          <p:nvSpPr>
            <p:cNvPr id="21532" name="Rectangle 6"/>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1533" name="Rectangle 7"/>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dirty="0">
                  <a:latin typeface="Arial"/>
                  <a:cs typeface="Arial"/>
                </a:rPr>
                <a:t>Q</a:t>
              </a:r>
            </a:p>
          </p:txBody>
        </p:sp>
      </p:grpSp>
      <p:grpSp>
        <p:nvGrpSpPr>
          <p:cNvPr id="3" name="Group 9"/>
          <p:cNvGrpSpPr>
            <a:grpSpLocks/>
          </p:cNvGrpSpPr>
          <p:nvPr/>
        </p:nvGrpSpPr>
        <p:grpSpPr bwMode="auto">
          <a:xfrm>
            <a:off x="4586288" y="2178050"/>
            <a:ext cx="4219575" cy="2386013"/>
            <a:chOff x="2889" y="1372"/>
            <a:chExt cx="2658" cy="1503"/>
          </a:xfrm>
        </p:grpSpPr>
        <p:sp>
          <p:nvSpPr>
            <p:cNvPr id="21530" name="Line 10"/>
            <p:cNvSpPr>
              <a:spLocks noChangeShapeType="1"/>
            </p:cNvSpPr>
            <p:nvPr/>
          </p:nvSpPr>
          <p:spPr bwMode="auto">
            <a:xfrm flipV="1">
              <a:off x="2889" y="1614"/>
              <a:ext cx="2401" cy="1261"/>
            </a:xfrm>
            <a:prstGeom prst="line">
              <a:avLst/>
            </a:prstGeom>
            <a:noFill/>
            <a:ln w="44450">
              <a:solidFill>
                <a:srgbClr val="FF0000"/>
              </a:solidFill>
              <a:round/>
              <a:headEnd/>
              <a:tailEnd/>
            </a:ln>
          </p:spPr>
          <p:txBody>
            <a:bodyPr/>
            <a:lstStyle/>
            <a:p>
              <a:endParaRPr lang="en-US">
                <a:latin typeface="Arial"/>
                <a:cs typeface="Arial"/>
              </a:endParaRPr>
            </a:p>
          </p:txBody>
        </p:sp>
        <p:sp>
          <p:nvSpPr>
            <p:cNvPr id="21531" name="Rectangle 11"/>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2"/>
          <p:cNvGrpSpPr>
            <a:grpSpLocks/>
          </p:cNvGrpSpPr>
          <p:nvPr/>
        </p:nvGrpSpPr>
        <p:grpSpPr bwMode="auto">
          <a:xfrm>
            <a:off x="4583113" y="1887538"/>
            <a:ext cx="3438525" cy="3495675"/>
            <a:chOff x="2887" y="1189"/>
            <a:chExt cx="2166" cy="2202"/>
          </a:xfrm>
        </p:grpSpPr>
        <p:sp>
          <p:nvSpPr>
            <p:cNvPr id="21528" name="Line 13"/>
            <p:cNvSpPr>
              <a:spLocks noChangeShapeType="1"/>
            </p:cNvSpPr>
            <p:nvPr/>
          </p:nvSpPr>
          <p:spPr bwMode="auto">
            <a:xfrm>
              <a:off x="2887" y="1189"/>
              <a:ext cx="1901" cy="1990"/>
            </a:xfrm>
            <a:prstGeom prst="line">
              <a:avLst/>
            </a:prstGeom>
            <a:noFill/>
            <a:ln w="44450">
              <a:solidFill>
                <a:srgbClr val="0000FF"/>
              </a:solidFill>
              <a:round/>
              <a:headEnd/>
              <a:tailEnd/>
            </a:ln>
          </p:spPr>
          <p:txBody>
            <a:bodyPr/>
            <a:lstStyle/>
            <a:p>
              <a:endParaRPr lang="en-US">
                <a:latin typeface="Arial"/>
                <a:cs typeface="Arial"/>
              </a:endParaRPr>
            </a:p>
          </p:txBody>
        </p:sp>
        <p:sp>
          <p:nvSpPr>
            <p:cNvPr id="21529" name="Rectangle 14"/>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9"/>
          <p:cNvGrpSpPr>
            <a:grpSpLocks/>
          </p:cNvGrpSpPr>
          <p:nvPr/>
        </p:nvGrpSpPr>
        <p:grpSpPr bwMode="auto">
          <a:xfrm>
            <a:off x="3886200" y="3476625"/>
            <a:ext cx="2674938" cy="2676525"/>
            <a:chOff x="2448" y="2190"/>
            <a:chExt cx="1685" cy="1686"/>
          </a:xfrm>
        </p:grpSpPr>
        <p:grpSp>
          <p:nvGrpSpPr>
            <p:cNvPr id="6" name="Group 20"/>
            <p:cNvGrpSpPr>
              <a:grpSpLocks/>
            </p:cNvGrpSpPr>
            <p:nvPr/>
          </p:nvGrpSpPr>
          <p:grpSpPr bwMode="auto">
            <a:xfrm>
              <a:off x="3804" y="2302"/>
              <a:ext cx="329" cy="1574"/>
              <a:chOff x="3804" y="2302"/>
              <a:chExt cx="329" cy="1574"/>
            </a:xfrm>
          </p:grpSpPr>
          <p:sp>
            <p:nvSpPr>
              <p:cNvPr id="21526" name="Line 21"/>
              <p:cNvSpPr>
                <a:spLocks noChangeShapeType="1"/>
              </p:cNvSpPr>
              <p:nvPr/>
            </p:nvSpPr>
            <p:spPr bwMode="auto">
              <a:xfrm rot="5400000">
                <a:off x="3299" y="2965"/>
                <a:ext cx="1326" cy="0"/>
              </a:xfrm>
              <a:prstGeom prst="line">
                <a:avLst/>
              </a:prstGeom>
              <a:noFill/>
              <a:ln w="12700">
                <a:solidFill>
                  <a:srgbClr val="4E519E"/>
                </a:solidFill>
                <a:round/>
                <a:headEnd/>
                <a:tailEnd/>
              </a:ln>
            </p:spPr>
            <p:txBody>
              <a:bodyPr/>
              <a:lstStyle/>
              <a:p>
                <a:endParaRPr lang="en-US">
                  <a:latin typeface="Arial"/>
                  <a:cs typeface="Arial"/>
                </a:endParaRPr>
              </a:p>
            </p:txBody>
          </p:sp>
          <p:sp>
            <p:nvSpPr>
              <p:cNvPr id="21527" name="Rectangle 22"/>
              <p:cNvSpPr>
                <a:spLocks noChangeArrowheads="1"/>
              </p:cNvSpPr>
              <p:nvPr/>
            </p:nvSpPr>
            <p:spPr bwMode="auto">
              <a:xfrm>
                <a:off x="3804" y="3628"/>
                <a:ext cx="329" cy="248"/>
              </a:xfrm>
              <a:prstGeom prst="rect">
                <a:avLst/>
              </a:prstGeom>
              <a:noFill/>
              <a:ln w="12700">
                <a:solidFill>
                  <a:srgbClr val="4E519E"/>
                </a:solidFill>
                <a:miter lim="800000"/>
                <a:headEnd/>
                <a:tailEnd/>
              </a:ln>
            </p:spPr>
            <p:txBody>
              <a:bodyPr wrap="none" anchor="ctr"/>
              <a:lstStyle/>
              <a:p>
                <a:endParaRPr lang="en-US">
                  <a:latin typeface="Arial"/>
                  <a:cs typeface="Arial"/>
                </a:endParaRPr>
              </a:p>
            </p:txBody>
          </p:sp>
        </p:grpSp>
        <p:grpSp>
          <p:nvGrpSpPr>
            <p:cNvPr id="7" name="Group 23"/>
            <p:cNvGrpSpPr>
              <a:grpSpLocks/>
            </p:cNvGrpSpPr>
            <p:nvPr/>
          </p:nvGrpSpPr>
          <p:grpSpPr bwMode="auto">
            <a:xfrm>
              <a:off x="2448" y="2190"/>
              <a:ext cx="1517" cy="248"/>
              <a:chOff x="2448" y="2190"/>
              <a:chExt cx="1517" cy="248"/>
            </a:xfrm>
          </p:grpSpPr>
          <p:sp>
            <p:nvSpPr>
              <p:cNvPr id="21524" name="Line 24"/>
              <p:cNvSpPr>
                <a:spLocks noChangeShapeType="1"/>
              </p:cNvSpPr>
              <p:nvPr/>
            </p:nvSpPr>
            <p:spPr bwMode="auto">
              <a:xfrm>
                <a:off x="2774" y="2312"/>
                <a:ext cx="1191" cy="0"/>
              </a:xfrm>
              <a:prstGeom prst="line">
                <a:avLst/>
              </a:prstGeom>
              <a:noFill/>
              <a:ln w="12700">
                <a:solidFill>
                  <a:srgbClr val="4E519E"/>
                </a:solidFill>
                <a:round/>
                <a:headEnd/>
                <a:tailEnd/>
              </a:ln>
            </p:spPr>
            <p:txBody>
              <a:bodyPr/>
              <a:lstStyle/>
              <a:p>
                <a:endParaRPr lang="en-US">
                  <a:latin typeface="Arial"/>
                  <a:cs typeface="Arial"/>
                </a:endParaRPr>
              </a:p>
            </p:txBody>
          </p:sp>
          <p:sp>
            <p:nvSpPr>
              <p:cNvPr id="21525" name="Rectangle 25"/>
              <p:cNvSpPr>
                <a:spLocks noChangeArrowheads="1"/>
              </p:cNvSpPr>
              <p:nvPr/>
            </p:nvSpPr>
            <p:spPr bwMode="auto">
              <a:xfrm>
                <a:off x="2448" y="2190"/>
                <a:ext cx="329" cy="248"/>
              </a:xfrm>
              <a:prstGeom prst="rect">
                <a:avLst/>
              </a:prstGeom>
              <a:noFill/>
              <a:ln w="12700">
                <a:solidFill>
                  <a:srgbClr val="4E519E"/>
                </a:solidFill>
                <a:miter lim="800000"/>
                <a:headEnd/>
                <a:tailEnd/>
              </a:ln>
            </p:spPr>
            <p:txBody>
              <a:bodyPr wrap="none" anchor="ctr"/>
              <a:lstStyle/>
              <a:p>
                <a:endParaRPr lang="en-US">
                  <a:latin typeface="Arial"/>
                  <a:cs typeface="Arial"/>
                </a:endParaRPr>
              </a:p>
            </p:txBody>
          </p:sp>
        </p:grpSp>
      </p:grpSp>
      <p:grpSp>
        <p:nvGrpSpPr>
          <p:cNvPr id="8" name="Group 29"/>
          <p:cNvGrpSpPr>
            <a:grpSpLocks/>
          </p:cNvGrpSpPr>
          <p:nvPr/>
        </p:nvGrpSpPr>
        <p:grpSpPr bwMode="auto">
          <a:xfrm>
            <a:off x="4597400" y="1930400"/>
            <a:ext cx="1657350" cy="1733550"/>
            <a:chOff x="2896" y="1216"/>
            <a:chExt cx="1044" cy="1092"/>
          </a:xfrm>
        </p:grpSpPr>
        <p:sp>
          <p:nvSpPr>
            <p:cNvPr id="21520" name="AutoShape 15"/>
            <p:cNvSpPr>
              <a:spLocks noChangeArrowheads="1"/>
            </p:cNvSpPr>
            <p:nvPr/>
          </p:nvSpPr>
          <p:spPr bwMode="auto">
            <a:xfrm>
              <a:off x="2896" y="1216"/>
              <a:ext cx="1044" cy="1092"/>
            </a:xfrm>
            <a:prstGeom prst="rtTriangle">
              <a:avLst/>
            </a:prstGeom>
            <a:solidFill>
              <a:srgbClr val="66CCFF"/>
            </a:solidFill>
            <a:ln w="9525">
              <a:noFill/>
              <a:miter lim="800000"/>
              <a:headEnd/>
              <a:tailEnd/>
            </a:ln>
          </p:spPr>
          <p:txBody>
            <a:bodyPr wrap="none" anchor="ctr"/>
            <a:lstStyle/>
            <a:p>
              <a:endParaRPr lang="en-US">
                <a:latin typeface="Arial"/>
                <a:cs typeface="Arial"/>
              </a:endParaRPr>
            </a:p>
          </p:txBody>
        </p:sp>
        <p:sp>
          <p:nvSpPr>
            <p:cNvPr id="21521" name="Text Box 27"/>
            <p:cNvSpPr txBox="1">
              <a:spLocks noChangeArrowheads="1"/>
            </p:cNvSpPr>
            <p:nvPr/>
          </p:nvSpPr>
          <p:spPr bwMode="auto">
            <a:xfrm>
              <a:off x="3001" y="1876"/>
              <a:ext cx="442" cy="308"/>
            </a:xfrm>
            <a:prstGeom prst="rect">
              <a:avLst/>
            </a:prstGeom>
            <a:noFill/>
            <a:ln w="9525">
              <a:noFill/>
              <a:miter lim="800000"/>
              <a:headEnd/>
              <a:tailEnd/>
            </a:ln>
          </p:spPr>
          <p:txBody>
            <a:bodyPr>
              <a:spAutoFit/>
            </a:bodyPr>
            <a:lstStyle/>
            <a:p>
              <a:pPr>
                <a:spcBef>
                  <a:spcPct val="50000"/>
                </a:spcBef>
              </a:pPr>
              <a:r>
                <a:rPr lang="en-US" sz="2600" b="1">
                  <a:latin typeface="Arial"/>
                  <a:cs typeface="Arial"/>
                </a:rPr>
                <a:t>CS</a:t>
              </a:r>
            </a:p>
          </p:txBody>
        </p:sp>
      </p:grpSp>
      <p:grpSp>
        <p:nvGrpSpPr>
          <p:cNvPr id="9" name="Group 31"/>
          <p:cNvGrpSpPr>
            <a:grpSpLocks/>
          </p:cNvGrpSpPr>
          <p:nvPr/>
        </p:nvGrpSpPr>
        <p:grpSpPr bwMode="auto">
          <a:xfrm>
            <a:off x="4592638" y="3675063"/>
            <a:ext cx="1665287" cy="876300"/>
            <a:chOff x="2893" y="2315"/>
            <a:chExt cx="1049" cy="552"/>
          </a:xfrm>
        </p:grpSpPr>
        <p:sp>
          <p:nvSpPr>
            <p:cNvPr id="21518" name="AutoShape 26"/>
            <p:cNvSpPr>
              <a:spLocks noChangeArrowheads="1"/>
            </p:cNvSpPr>
            <p:nvPr/>
          </p:nvSpPr>
          <p:spPr bwMode="auto">
            <a:xfrm flipV="1">
              <a:off x="2893" y="2315"/>
              <a:ext cx="1049" cy="552"/>
            </a:xfrm>
            <a:prstGeom prst="rtTriangle">
              <a:avLst/>
            </a:prstGeom>
            <a:solidFill>
              <a:srgbClr val="FFFF99"/>
            </a:solidFill>
            <a:ln w="9525">
              <a:noFill/>
              <a:miter lim="800000"/>
              <a:headEnd/>
              <a:tailEnd/>
            </a:ln>
          </p:spPr>
          <p:txBody>
            <a:bodyPr wrap="none" anchor="ctr"/>
            <a:lstStyle/>
            <a:p>
              <a:endParaRPr lang="en-US">
                <a:latin typeface="Arial"/>
                <a:cs typeface="Arial"/>
              </a:endParaRPr>
            </a:p>
          </p:txBody>
        </p:sp>
        <p:sp>
          <p:nvSpPr>
            <p:cNvPr id="21519" name="Text Box 28"/>
            <p:cNvSpPr txBox="1">
              <a:spLocks noChangeArrowheads="1"/>
            </p:cNvSpPr>
            <p:nvPr/>
          </p:nvSpPr>
          <p:spPr bwMode="auto">
            <a:xfrm>
              <a:off x="2995" y="2345"/>
              <a:ext cx="398" cy="308"/>
            </a:xfrm>
            <a:prstGeom prst="rect">
              <a:avLst/>
            </a:prstGeom>
            <a:noFill/>
            <a:ln w="9525">
              <a:noFill/>
              <a:miter lim="800000"/>
              <a:headEnd/>
              <a:tailEnd/>
            </a:ln>
          </p:spPr>
          <p:txBody>
            <a:bodyPr>
              <a:spAutoFit/>
            </a:bodyPr>
            <a:lstStyle/>
            <a:p>
              <a:pPr>
                <a:spcBef>
                  <a:spcPct val="50000"/>
                </a:spcBef>
              </a:pPr>
              <a:r>
                <a:rPr lang="en-US" sz="2600" b="1">
                  <a:latin typeface="Arial"/>
                  <a:cs typeface="Arial"/>
                </a:rPr>
                <a:t>PS</a:t>
              </a:r>
            </a:p>
          </p:txBody>
        </p:sp>
      </p:grpSp>
      <p:sp>
        <p:nvSpPr>
          <p:cNvPr id="188448" name="AutoShape 32"/>
          <p:cNvSpPr>
            <a:spLocks noChangeArrowheads="1"/>
          </p:cNvSpPr>
          <p:nvPr/>
        </p:nvSpPr>
        <p:spPr bwMode="auto">
          <a:xfrm rot="5400000">
            <a:off x="4144962" y="2436813"/>
            <a:ext cx="2549525" cy="1619250"/>
          </a:xfrm>
          <a:prstGeom prst="triangle">
            <a:avLst>
              <a:gd name="adj" fmla="val 66435"/>
            </a:avLst>
          </a:prstGeom>
          <a:noFill/>
          <a:ln w="38100">
            <a:solidFill>
              <a:srgbClr val="4E519E"/>
            </a:solidFill>
            <a:miter lim="800000"/>
            <a:headEnd/>
            <a:tailEnd/>
          </a:ln>
        </p:spPr>
        <p:txBody>
          <a:bodyPr wrap="none" anchor="ctr"/>
          <a:lstStyle/>
          <a:p>
            <a:endParaRPr lang="en-US">
              <a:latin typeface="Arial"/>
              <a:cs typeface="Arial"/>
            </a:endParaRPr>
          </a:p>
        </p:txBody>
      </p:sp>
      <p:sp>
        <p:nvSpPr>
          <p:cNvPr id="10" name="Footer Placeholder 9">
            <a:extLst>
              <a:ext uri="{FF2B5EF4-FFF2-40B4-BE49-F238E27FC236}">
                <a16:creationId xmlns:a16="http://schemas.microsoft.com/office/drawing/2014/main" id="{2E0A6187-C1C1-9F1A-ADE5-008C633844F9}"/>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61882637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wipe(left)">
                                      <p:cBhvr>
                                        <p:cTn id="7" dur="500"/>
                                        <p:tgtEl>
                                          <p:spTgt spid="188419">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8419">
                                            <p:txEl>
                                              <p:pRg st="1" end="1"/>
                                            </p:txEl>
                                          </p:spTgt>
                                        </p:tgtEl>
                                        <p:attrNameLst>
                                          <p:attrName>style.visibility</p:attrName>
                                        </p:attrNameLst>
                                      </p:cBhvr>
                                      <p:to>
                                        <p:strVal val="visible"/>
                                      </p:to>
                                    </p:set>
                                    <p:animEffect transition="in" filter="wipe(left)">
                                      <p:cBhvr>
                                        <p:cTn id="26" dur="500"/>
                                        <p:tgtEl>
                                          <p:spTgt spid="188419">
                                            <p:txEl>
                                              <p:pRg st="1" end="1"/>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8448"/>
                                        </p:tgtEl>
                                        <p:attrNameLst>
                                          <p:attrName>style.visibility</p:attrName>
                                        </p:attrNameLst>
                                      </p:cBhvr>
                                      <p:to>
                                        <p:strVal val="visible"/>
                                      </p:to>
                                    </p:set>
                                    <p:animEffect transition="in" filter="fade">
                                      <p:cBhvr>
                                        <p:cTn id="29" dur="500"/>
                                        <p:tgtEl>
                                          <p:spTgt spid="18844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88419">
                                            <p:txEl>
                                              <p:pRg st="3" end="3"/>
                                            </p:txEl>
                                          </p:spTgt>
                                        </p:tgtEl>
                                        <p:attrNameLst>
                                          <p:attrName>style.visibility</p:attrName>
                                        </p:attrNameLst>
                                      </p:cBhvr>
                                      <p:to>
                                        <p:strVal val="visible"/>
                                      </p:to>
                                    </p:set>
                                    <p:animEffect transition="in" filter="wipe(left)">
                                      <p:cBhvr>
                                        <p:cTn id="34" dur="500"/>
                                        <p:tgtEl>
                                          <p:spTgt spid="188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bldLvl="5"/>
      <p:bldP spid="188448"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a:xfrm>
            <a:off x="0" y="100939"/>
            <a:ext cx="9144000" cy="661061"/>
          </a:xfrm>
        </p:spPr>
        <p:txBody>
          <a:bodyPr>
            <a:normAutofit/>
          </a:bodyPr>
          <a:lstStyle/>
          <a:p>
            <a:pPr eaLnBrk="1" hangingPunct="1"/>
            <a:r>
              <a:rPr lang="en-US" dirty="0"/>
              <a:t>EXAMPLE 5A: </a:t>
            </a:r>
            <a:r>
              <a:rPr lang="en-US" dirty="0">
                <a:solidFill>
                  <a:schemeClr val="tx1"/>
                </a:solidFill>
              </a:rPr>
              <a:t>Which buyers consume the good?</a:t>
            </a:r>
          </a:p>
        </p:txBody>
      </p:sp>
      <p:sp>
        <p:nvSpPr>
          <p:cNvPr id="189469" name="Rectangle 29"/>
          <p:cNvSpPr>
            <a:spLocks noGrp="1" noChangeArrowheads="1"/>
          </p:cNvSpPr>
          <p:nvPr>
            <p:ph idx="1"/>
          </p:nvPr>
        </p:nvSpPr>
        <p:spPr>
          <a:xfrm>
            <a:off x="152400" y="914400"/>
            <a:ext cx="3657600" cy="5715000"/>
          </a:xfrm>
        </p:spPr>
        <p:txBody>
          <a:bodyPr>
            <a:normAutofit/>
          </a:bodyPr>
          <a:lstStyle/>
          <a:p>
            <a:pPr marL="0" indent="0" eaLnBrk="1" hangingPunct="1">
              <a:spcBef>
                <a:spcPct val="60000"/>
              </a:spcBef>
              <a:buFont typeface="Wingdings" pitchFamily="2" charset="2"/>
              <a:buNone/>
            </a:pPr>
            <a:r>
              <a:rPr lang="en-US" sz="2800" dirty="0"/>
              <a:t>Every buyer whose </a:t>
            </a:r>
            <a:r>
              <a:rPr lang="en-US" sz="2800" b="1" i="1" dirty="0"/>
              <a:t>WTP</a:t>
            </a:r>
            <a:r>
              <a:rPr lang="en-US" sz="2800" dirty="0"/>
              <a:t> is ≥ $30 will buy. </a:t>
            </a:r>
          </a:p>
          <a:p>
            <a:pPr marL="0" indent="0" eaLnBrk="1" hangingPunct="1">
              <a:spcBef>
                <a:spcPct val="60000"/>
              </a:spcBef>
              <a:buFont typeface="Wingdings" pitchFamily="2" charset="2"/>
              <a:buNone/>
            </a:pPr>
            <a:r>
              <a:rPr lang="en-US" sz="2800" dirty="0"/>
              <a:t>Every buyer whose </a:t>
            </a:r>
            <a:r>
              <a:rPr lang="en-US" sz="2800" b="1" i="1" dirty="0"/>
              <a:t>WTP</a:t>
            </a:r>
            <a:r>
              <a:rPr lang="en-US" sz="2800" dirty="0"/>
              <a:t> is &lt; $30 will not.</a:t>
            </a:r>
            <a:endParaRPr lang="en-US" sz="2800" b="1" i="1" dirty="0">
              <a:solidFill>
                <a:srgbClr val="FF0000"/>
              </a:solidFill>
            </a:endParaRPr>
          </a:p>
          <a:p>
            <a:pPr marL="0" indent="0" eaLnBrk="1" hangingPunct="1">
              <a:spcBef>
                <a:spcPct val="60000"/>
              </a:spcBef>
              <a:buFont typeface="Wingdings" pitchFamily="2" charset="2"/>
              <a:buNone/>
            </a:pPr>
            <a:r>
              <a:rPr lang="en-US" sz="3000" dirty="0">
                <a:solidFill>
                  <a:srgbClr val="4E519E"/>
                </a:solidFill>
              </a:rPr>
              <a:t>The buyers who value the good most highly are the ones who consume it. </a:t>
            </a:r>
          </a:p>
        </p:txBody>
      </p:sp>
      <p:sp>
        <p:nvSpPr>
          <p:cNvPr id="9" name="Slide Number Placeholder 8"/>
          <p:cNvSpPr>
            <a:spLocks noGrp="1"/>
          </p:cNvSpPr>
          <p:nvPr>
            <p:ph type="sldNum" sz="quarter" idx="10"/>
          </p:nvPr>
        </p:nvSpPr>
        <p:spPr/>
        <p:txBody>
          <a:bodyPr/>
          <a:lstStyle/>
          <a:p>
            <a:pPr>
              <a:defRPr/>
            </a:pPr>
            <a:fld id="{2F37425F-5E17-4209-B948-B5CE2119E408}" type="slidenum">
              <a:rPr lang="en-US" smtClean="0"/>
              <a:pPr>
                <a:defRPr/>
              </a:pPr>
              <a:t>37</a:t>
            </a:fld>
            <a:endParaRPr lang="en-US" dirty="0"/>
          </a:p>
        </p:txBody>
      </p:sp>
      <p:grpSp>
        <p:nvGrpSpPr>
          <p:cNvPr id="2" name="Group 4"/>
          <p:cNvGrpSpPr>
            <a:grpSpLocks/>
          </p:cNvGrpSpPr>
          <p:nvPr/>
        </p:nvGrpSpPr>
        <p:grpSpPr bwMode="auto">
          <a:xfrm>
            <a:off x="3787775" y="1009650"/>
            <a:ext cx="4953000" cy="5295900"/>
            <a:chOff x="2386" y="636"/>
            <a:chExt cx="3120" cy="3336"/>
          </a:xfrm>
        </p:grpSpPr>
        <p:graphicFrame>
          <p:nvGraphicFramePr>
            <p:cNvPr id="22530" name="Object 5"/>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253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51" name="Rectangle 6"/>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2552" name="Rectangle 7"/>
            <p:cNvSpPr>
              <a:spLocks noChangeArrowheads="1"/>
            </p:cNvSpPr>
            <p:nvPr/>
          </p:nvSpPr>
          <p:spPr bwMode="auto">
            <a:xfrm>
              <a:off x="5136" y="3312"/>
              <a:ext cx="305" cy="317"/>
            </a:xfrm>
            <a:prstGeom prst="rect">
              <a:avLst/>
            </a:prstGeom>
            <a:solidFill>
              <a:schemeClr val="bg1"/>
            </a:solidFill>
            <a:ln w="9525">
              <a:noFill/>
              <a:miter lim="800000"/>
              <a:headEnd/>
              <a:tailEnd/>
            </a:ln>
          </p:spPr>
          <p:txBody>
            <a:bodyPr>
              <a:spAutoFit/>
            </a:bodyPr>
            <a:lstStyle/>
            <a:p>
              <a:r>
                <a:rPr lang="en-US" sz="2700" b="1" i="1" dirty="0">
                  <a:latin typeface="Arial"/>
                  <a:cs typeface="Arial"/>
                </a:rPr>
                <a:t>Q</a:t>
              </a:r>
            </a:p>
          </p:txBody>
        </p:sp>
      </p:grpSp>
      <p:grpSp>
        <p:nvGrpSpPr>
          <p:cNvPr id="3" name="Group 8"/>
          <p:cNvGrpSpPr>
            <a:grpSpLocks/>
          </p:cNvGrpSpPr>
          <p:nvPr/>
        </p:nvGrpSpPr>
        <p:grpSpPr bwMode="auto">
          <a:xfrm>
            <a:off x="4586288" y="2178050"/>
            <a:ext cx="4219575" cy="2386013"/>
            <a:chOff x="2889" y="1372"/>
            <a:chExt cx="2658" cy="1503"/>
          </a:xfrm>
        </p:grpSpPr>
        <p:sp>
          <p:nvSpPr>
            <p:cNvPr id="22549" name="Line 9"/>
            <p:cNvSpPr>
              <a:spLocks noChangeShapeType="1"/>
            </p:cNvSpPr>
            <p:nvPr/>
          </p:nvSpPr>
          <p:spPr bwMode="auto">
            <a:xfrm flipV="1">
              <a:off x="2889" y="1614"/>
              <a:ext cx="2401" cy="1261"/>
            </a:xfrm>
            <a:prstGeom prst="line">
              <a:avLst/>
            </a:prstGeom>
            <a:noFill/>
            <a:ln w="44450">
              <a:solidFill>
                <a:srgbClr val="FF0000"/>
              </a:solidFill>
              <a:round/>
              <a:headEnd/>
              <a:tailEnd/>
            </a:ln>
          </p:spPr>
          <p:txBody>
            <a:bodyPr/>
            <a:lstStyle/>
            <a:p>
              <a:endParaRPr lang="en-US">
                <a:latin typeface="Arial"/>
                <a:cs typeface="Arial"/>
              </a:endParaRPr>
            </a:p>
          </p:txBody>
        </p:sp>
        <p:sp>
          <p:nvSpPr>
            <p:cNvPr id="22550" name="Rectangle 10"/>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dirty="0">
                  <a:latin typeface="Arial"/>
                  <a:cs typeface="Arial"/>
                </a:rPr>
                <a:t>S</a:t>
              </a:r>
            </a:p>
          </p:txBody>
        </p:sp>
      </p:grpSp>
      <p:grpSp>
        <p:nvGrpSpPr>
          <p:cNvPr id="4" name="Group 11"/>
          <p:cNvGrpSpPr>
            <a:grpSpLocks/>
          </p:cNvGrpSpPr>
          <p:nvPr/>
        </p:nvGrpSpPr>
        <p:grpSpPr bwMode="auto">
          <a:xfrm>
            <a:off x="4583113" y="1887538"/>
            <a:ext cx="3438525" cy="3495675"/>
            <a:chOff x="2887" y="1189"/>
            <a:chExt cx="2166" cy="2202"/>
          </a:xfrm>
        </p:grpSpPr>
        <p:sp>
          <p:nvSpPr>
            <p:cNvPr id="22547" name="Line 12"/>
            <p:cNvSpPr>
              <a:spLocks noChangeShapeType="1"/>
            </p:cNvSpPr>
            <p:nvPr/>
          </p:nvSpPr>
          <p:spPr bwMode="auto">
            <a:xfrm>
              <a:off x="2887" y="1189"/>
              <a:ext cx="1901" cy="1990"/>
            </a:xfrm>
            <a:prstGeom prst="line">
              <a:avLst/>
            </a:prstGeom>
            <a:noFill/>
            <a:ln w="44450">
              <a:solidFill>
                <a:srgbClr val="0000FF"/>
              </a:solidFill>
              <a:round/>
              <a:headEnd/>
              <a:tailEnd/>
            </a:ln>
          </p:spPr>
          <p:txBody>
            <a:bodyPr/>
            <a:lstStyle/>
            <a:p>
              <a:endParaRPr lang="en-US">
                <a:latin typeface="Arial"/>
                <a:cs typeface="Arial"/>
              </a:endParaRPr>
            </a:p>
          </p:txBody>
        </p:sp>
        <p:sp>
          <p:nvSpPr>
            <p:cNvPr id="22548" name="Rectangle 13"/>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4"/>
          <p:cNvGrpSpPr>
            <a:grpSpLocks/>
          </p:cNvGrpSpPr>
          <p:nvPr/>
        </p:nvGrpSpPr>
        <p:grpSpPr bwMode="auto">
          <a:xfrm>
            <a:off x="3886200" y="3476625"/>
            <a:ext cx="2674938" cy="2676525"/>
            <a:chOff x="2448" y="2190"/>
            <a:chExt cx="1685" cy="1686"/>
          </a:xfrm>
        </p:grpSpPr>
        <p:grpSp>
          <p:nvGrpSpPr>
            <p:cNvPr id="6" name="Group 15"/>
            <p:cNvGrpSpPr>
              <a:grpSpLocks/>
            </p:cNvGrpSpPr>
            <p:nvPr/>
          </p:nvGrpSpPr>
          <p:grpSpPr bwMode="auto">
            <a:xfrm>
              <a:off x="3804" y="2302"/>
              <a:ext cx="329" cy="1574"/>
              <a:chOff x="3804" y="2302"/>
              <a:chExt cx="329" cy="1574"/>
            </a:xfrm>
          </p:grpSpPr>
          <p:sp>
            <p:nvSpPr>
              <p:cNvPr id="22545" name="Line 16"/>
              <p:cNvSpPr>
                <a:spLocks noChangeShapeType="1"/>
              </p:cNvSpPr>
              <p:nvPr/>
            </p:nvSpPr>
            <p:spPr bwMode="auto">
              <a:xfrm rot="5400000">
                <a:off x="3299" y="2965"/>
                <a:ext cx="1326" cy="0"/>
              </a:xfrm>
              <a:prstGeom prst="line">
                <a:avLst/>
              </a:prstGeom>
              <a:noFill/>
              <a:ln w="12700">
                <a:solidFill>
                  <a:srgbClr val="4E519E"/>
                </a:solidFill>
                <a:round/>
                <a:headEnd/>
                <a:tailEnd/>
              </a:ln>
            </p:spPr>
            <p:txBody>
              <a:bodyPr/>
              <a:lstStyle/>
              <a:p>
                <a:endParaRPr lang="en-US">
                  <a:latin typeface="Arial"/>
                  <a:cs typeface="Arial"/>
                </a:endParaRPr>
              </a:p>
            </p:txBody>
          </p:sp>
          <p:sp>
            <p:nvSpPr>
              <p:cNvPr id="22546" name="Rectangle 17"/>
              <p:cNvSpPr>
                <a:spLocks noChangeArrowheads="1"/>
              </p:cNvSpPr>
              <p:nvPr/>
            </p:nvSpPr>
            <p:spPr bwMode="auto">
              <a:xfrm>
                <a:off x="3804" y="3628"/>
                <a:ext cx="329" cy="248"/>
              </a:xfrm>
              <a:prstGeom prst="rect">
                <a:avLst/>
              </a:prstGeom>
              <a:noFill/>
              <a:ln w="12700">
                <a:solidFill>
                  <a:srgbClr val="4E519E"/>
                </a:solidFill>
                <a:miter lim="800000"/>
                <a:headEnd/>
                <a:tailEnd/>
              </a:ln>
            </p:spPr>
            <p:txBody>
              <a:bodyPr wrap="none" anchor="ctr"/>
              <a:lstStyle/>
              <a:p>
                <a:endParaRPr lang="en-US">
                  <a:latin typeface="Arial"/>
                  <a:cs typeface="Arial"/>
                </a:endParaRPr>
              </a:p>
            </p:txBody>
          </p:sp>
        </p:grpSp>
        <p:grpSp>
          <p:nvGrpSpPr>
            <p:cNvPr id="7" name="Group 18"/>
            <p:cNvGrpSpPr>
              <a:grpSpLocks/>
            </p:cNvGrpSpPr>
            <p:nvPr/>
          </p:nvGrpSpPr>
          <p:grpSpPr bwMode="auto">
            <a:xfrm>
              <a:off x="2448" y="2190"/>
              <a:ext cx="1517" cy="248"/>
              <a:chOff x="2448" y="2190"/>
              <a:chExt cx="1517" cy="248"/>
            </a:xfrm>
          </p:grpSpPr>
          <p:sp>
            <p:nvSpPr>
              <p:cNvPr id="22543" name="Line 19"/>
              <p:cNvSpPr>
                <a:spLocks noChangeShapeType="1"/>
              </p:cNvSpPr>
              <p:nvPr/>
            </p:nvSpPr>
            <p:spPr bwMode="auto">
              <a:xfrm>
                <a:off x="2774" y="2312"/>
                <a:ext cx="1191" cy="0"/>
              </a:xfrm>
              <a:prstGeom prst="line">
                <a:avLst/>
              </a:prstGeom>
              <a:noFill/>
              <a:ln w="12700">
                <a:solidFill>
                  <a:srgbClr val="4E519E"/>
                </a:solidFill>
                <a:round/>
                <a:headEnd/>
                <a:tailEnd/>
              </a:ln>
            </p:spPr>
            <p:txBody>
              <a:bodyPr/>
              <a:lstStyle/>
              <a:p>
                <a:endParaRPr lang="en-US">
                  <a:latin typeface="Arial"/>
                  <a:cs typeface="Arial"/>
                </a:endParaRPr>
              </a:p>
            </p:txBody>
          </p:sp>
          <p:sp>
            <p:nvSpPr>
              <p:cNvPr id="22544" name="Rectangle 20"/>
              <p:cNvSpPr>
                <a:spLocks noChangeArrowheads="1"/>
              </p:cNvSpPr>
              <p:nvPr/>
            </p:nvSpPr>
            <p:spPr bwMode="auto">
              <a:xfrm>
                <a:off x="2448" y="2190"/>
                <a:ext cx="329" cy="248"/>
              </a:xfrm>
              <a:prstGeom prst="rect">
                <a:avLst/>
              </a:prstGeom>
              <a:noFill/>
              <a:ln w="12700">
                <a:solidFill>
                  <a:srgbClr val="4E519E"/>
                </a:solidFill>
                <a:miter lim="800000"/>
                <a:headEnd/>
                <a:tailEnd/>
              </a:ln>
            </p:spPr>
            <p:txBody>
              <a:bodyPr wrap="none" anchor="ctr"/>
              <a:lstStyle/>
              <a:p>
                <a:endParaRPr lang="en-US">
                  <a:latin typeface="Arial"/>
                  <a:cs typeface="Arial"/>
                </a:endParaRPr>
              </a:p>
            </p:txBody>
          </p:sp>
        </p:grpSp>
      </p:grpSp>
      <p:sp>
        <p:nvSpPr>
          <p:cNvPr id="189470" name="AutoShape 30"/>
          <p:cNvSpPr>
            <a:spLocks/>
          </p:cNvSpPr>
          <p:nvPr/>
        </p:nvSpPr>
        <p:spPr bwMode="auto">
          <a:xfrm rot="-2625674">
            <a:off x="5422900" y="1408113"/>
            <a:ext cx="280988" cy="2478087"/>
          </a:xfrm>
          <a:prstGeom prst="rightBrace">
            <a:avLst>
              <a:gd name="adj1" fmla="val 73493"/>
              <a:gd name="adj2" fmla="val 50000"/>
            </a:avLst>
          </a:prstGeom>
          <a:noFill/>
          <a:ln w="19050">
            <a:solidFill>
              <a:srgbClr val="4E519E"/>
            </a:solidFill>
            <a:round/>
            <a:headEnd/>
            <a:tailEnd/>
          </a:ln>
        </p:spPr>
        <p:txBody>
          <a:bodyPr wrap="none" anchor="ctr"/>
          <a:lstStyle/>
          <a:p>
            <a:endParaRPr lang="en-US">
              <a:latin typeface="Arial"/>
              <a:cs typeface="Arial"/>
            </a:endParaRPr>
          </a:p>
        </p:txBody>
      </p:sp>
      <p:sp>
        <p:nvSpPr>
          <p:cNvPr id="189471" name="AutoShape 31"/>
          <p:cNvSpPr>
            <a:spLocks/>
          </p:cNvSpPr>
          <p:nvPr/>
        </p:nvSpPr>
        <p:spPr bwMode="auto">
          <a:xfrm rot="-2625674">
            <a:off x="6938963" y="3302000"/>
            <a:ext cx="280987" cy="1858963"/>
          </a:xfrm>
          <a:prstGeom prst="rightBrace">
            <a:avLst>
              <a:gd name="adj1" fmla="val 55132"/>
              <a:gd name="adj2" fmla="val 50000"/>
            </a:avLst>
          </a:prstGeom>
          <a:noFill/>
          <a:ln w="19050">
            <a:solidFill>
              <a:srgbClr val="4E519E"/>
            </a:solidFill>
            <a:round/>
            <a:headEnd/>
            <a:tailEnd/>
          </a:ln>
        </p:spPr>
        <p:txBody>
          <a:bodyPr wrap="none" anchor="ctr"/>
          <a:lstStyle/>
          <a:p>
            <a:endParaRPr lang="en-US">
              <a:latin typeface="Arial"/>
              <a:cs typeface="Arial"/>
            </a:endParaRPr>
          </a:p>
        </p:txBody>
      </p:sp>
      <p:sp>
        <p:nvSpPr>
          <p:cNvPr id="8" name="Footer Placeholder 7">
            <a:extLst>
              <a:ext uri="{FF2B5EF4-FFF2-40B4-BE49-F238E27FC236}">
                <a16:creationId xmlns:a16="http://schemas.microsoft.com/office/drawing/2014/main" id="{E3D8BF35-EC8E-A769-EB17-92ABA77CF1D1}"/>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071759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69">
                                            <p:txEl>
                                              <p:pRg st="0" end="0"/>
                                            </p:txEl>
                                          </p:spTgt>
                                        </p:tgtEl>
                                        <p:attrNameLst>
                                          <p:attrName>style.visibility</p:attrName>
                                        </p:attrNameLst>
                                      </p:cBhvr>
                                      <p:to>
                                        <p:strVal val="visible"/>
                                      </p:to>
                                    </p:set>
                                    <p:animEffect transition="in" filter="wipe(left)">
                                      <p:cBhvr>
                                        <p:cTn id="7" dur="500"/>
                                        <p:tgtEl>
                                          <p:spTgt spid="189469">
                                            <p:txEl>
                                              <p:pRg st="0" end="0"/>
                                            </p:txEl>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189470"/>
                                        </p:tgtEl>
                                        <p:attrNameLst>
                                          <p:attrName>style.visibility</p:attrName>
                                        </p:attrNameLst>
                                      </p:cBhvr>
                                      <p:to>
                                        <p:strVal val="visible"/>
                                      </p:to>
                                    </p:set>
                                    <p:animEffect transition="in" filter="strips(downRight)">
                                      <p:cBhvr>
                                        <p:cTn id="10" dur="500"/>
                                        <p:tgtEl>
                                          <p:spTgt spid="18947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89470"/>
                                        </p:tgtEl>
                                        <p:attrNameLst>
                                          <p:attrName>style.visibility</p:attrName>
                                        </p:attrNameLst>
                                      </p:cBhvr>
                                      <p:to>
                                        <p:strVal val="hidden"/>
                                      </p:to>
                                    </p:set>
                                  </p:childTnLst>
                                </p:cTn>
                              </p:par>
                              <p:par>
                                <p:cTn id="15" presetID="22" presetClass="entr" presetSubtype="8" fill="hold" grpId="0" nodeType="withEffect">
                                  <p:stCondLst>
                                    <p:cond delay="0"/>
                                  </p:stCondLst>
                                  <p:childTnLst>
                                    <p:set>
                                      <p:cBhvr>
                                        <p:cTn id="16" dur="1" fill="hold">
                                          <p:stCondLst>
                                            <p:cond delay="0"/>
                                          </p:stCondLst>
                                        </p:cTn>
                                        <p:tgtEl>
                                          <p:spTgt spid="189469">
                                            <p:txEl>
                                              <p:pRg st="1" end="1"/>
                                            </p:txEl>
                                          </p:spTgt>
                                        </p:tgtEl>
                                        <p:attrNameLst>
                                          <p:attrName>style.visibility</p:attrName>
                                        </p:attrNameLst>
                                      </p:cBhvr>
                                      <p:to>
                                        <p:strVal val="visible"/>
                                      </p:to>
                                    </p:set>
                                    <p:animEffect transition="in" filter="wipe(left)">
                                      <p:cBhvr>
                                        <p:cTn id="17" dur="500"/>
                                        <p:tgtEl>
                                          <p:spTgt spid="189469">
                                            <p:txEl>
                                              <p:pRg st="1" end="1"/>
                                            </p:txEl>
                                          </p:spTgt>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189471"/>
                                        </p:tgtEl>
                                        <p:attrNameLst>
                                          <p:attrName>style.visibility</p:attrName>
                                        </p:attrNameLst>
                                      </p:cBhvr>
                                      <p:to>
                                        <p:strVal val="visible"/>
                                      </p:to>
                                    </p:set>
                                    <p:animEffect transition="in" filter="strips(downRight)">
                                      <p:cBhvr>
                                        <p:cTn id="20" dur="500"/>
                                        <p:tgtEl>
                                          <p:spTgt spid="18947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89471"/>
                                        </p:tgtEl>
                                        <p:attrNameLst>
                                          <p:attrName>style.visibility</p:attrName>
                                        </p:attrNameLst>
                                      </p:cBhvr>
                                      <p:to>
                                        <p:strVal val="hidden"/>
                                      </p:to>
                                    </p:set>
                                  </p:childTnLst>
                                </p:cTn>
                              </p:par>
                              <p:par>
                                <p:cTn id="25" presetID="22" presetClass="entr" presetSubtype="8" fill="hold" grpId="0" nodeType="withEffect">
                                  <p:stCondLst>
                                    <p:cond delay="0"/>
                                  </p:stCondLst>
                                  <p:childTnLst>
                                    <p:set>
                                      <p:cBhvr>
                                        <p:cTn id="26" dur="1" fill="hold">
                                          <p:stCondLst>
                                            <p:cond delay="0"/>
                                          </p:stCondLst>
                                        </p:cTn>
                                        <p:tgtEl>
                                          <p:spTgt spid="189469">
                                            <p:txEl>
                                              <p:pRg st="2" end="2"/>
                                            </p:txEl>
                                          </p:spTgt>
                                        </p:tgtEl>
                                        <p:attrNameLst>
                                          <p:attrName>style.visibility</p:attrName>
                                        </p:attrNameLst>
                                      </p:cBhvr>
                                      <p:to>
                                        <p:strVal val="visible"/>
                                      </p:to>
                                    </p:set>
                                    <p:animEffect transition="in" filter="wipe(left)">
                                      <p:cBhvr>
                                        <p:cTn id="27" dur="500"/>
                                        <p:tgtEl>
                                          <p:spTgt spid="18946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69" grpId="0" uiExpand="1" build="p" bldLvl="5"/>
      <p:bldP spid="189470" grpId="0" uiExpand="1" animBg="1"/>
      <p:bldP spid="189470" grpId="1" uiExpand="1" animBg="1"/>
      <p:bldP spid="189471" grpId="0" uiExpand="1" animBg="1"/>
      <p:bldP spid="189471" grpId="1" uiExpand="1"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normAutofit/>
          </a:bodyPr>
          <a:lstStyle/>
          <a:p>
            <a:pPr eaLnBrk="1" hangingPunct="1"/>
            <a:r>
              <a:rPr lang="en-US" dirty="0"/>
              <a:t>EXAMPLE 5B: </a:t>
            </a:r>
            <a:r>
              <a:rPr lang="en-US" dirty="0">
                <a:solidFill>
                  <a:schemeClr val="tx1"/>
                </a:solidFill>
              </a:rPr>
              <a:t>Which sellers produce the good?</a:t>
            </a:r>
          </a:p>
        </p:txBody>
      </p:sp>
      <p:sp>
        <p:nvSpPr>
          <p:cNvPr id="200724" name="Rectangle 20"/>
          <p:cNvSpPr>
            <a:spLocks noGrp="1" noChangeArrowheads="1"/>
          </p:cNvSpPr>
          <p:nvPr>
            <p:ph idx="1"/>
          </p:nvPr>
        </p:nvSpPr>
        <p:spPr>
          <a:xfrm>
            <a:off x="228601" y="990600"/>
            <a:ext cx="3657600" cy="5381625"/>
          </a:xfrm>
        </p:spPr>
        <p:txBody>
          <a:bodyPr/>
          <a:lstStyle/>
          <a:p>
            <a:pPr marL="0" indent="0" eaLnBrk="1" hangingPunct="1">
              <a:buFont typeface="Wingdings" pitchFamily="2" charset="2"/>
              <a:buNone/>
            </a:pPr>
            <a:r>
              <a:rPr lang="en-US" sz="2800" dirty="0"/>
              <a:t>Every seller whose cost is ≤ $30 will produce the good. </a:t>
            </a:r>
          </a:p>
          <a:p>
            <a:pPr marL="0" indent="0" eaLnBrk="1" hangingPunct="1">
              <a:buFont typeface="Wingdings" pitchFamily="2" charset="2"/>
              <a:buNone/>
            </a:pPr>
            <a:endParaRPr lang="en-US" sz="2800" dirty="0"/>
          </a:p>
          <a:p>
            <a:pPr marL="0" indent="0" eaLnBrk="1" hangingPunct="1">
              <a:buFont typeface="Wingdings" pitchFamily="2" charset="2"/>
              <a:buNone/>
            </a:pPr>
            <a:r>
              <a:rPr lang="en-US" sz="2800" dirty="0"/>
              <a:t>Every seller whose cost is &gt; $30 will not.  </a:t>
            </a:r>
          </a:p>
          <a:p>
            <a:pPr marL="0" indent="0" eaLnBrk="1" hangingPunct="1">
              <a:buFont typeface="Wingdings" pitchFamily="2" charset="2"/>
              <a:buNone/>
            </a:pPr>
            <a:endParaRPr lang="en-US" sz="2800" dirty="0"/>
          </a:p>
          <a:p>
            <a:pPr marL="0" indent="0" eaLnBrk="1" hangingPunct="1">
              <a:buFont typeface="Wingdings" pitchFamily="2" charset="2"/>
              <a:buNone/>
            </a:pPr>
            <a:r>
              <a:rPr lang="en-US" sz="3000" dirty="0">
                <a:solidFill>
                  <a:srgbClr val="4E519E"/>
                </a:solidFill>
              </a:rPr>
              <a:t>The sellers with the lowest cost produce the good.</a:t>
            </a:r>
          </a:p>
        </p:txBody>
      </p:sp>
      <p:sp>
        <p:nvSpPr>
          <p:cNvPr id="9" name="Slide Number Placeholder 8"/>
          <p:cNvSpPr>
            <a:spLocks noGrp="1"/>
          </p:cNvSpPr>
          <p:nvPr>
            <p:ph type="sldNum" sz="quarter" idx="10"/>
          </p:nvPr>
        </p:nvSpPr>
        <p:spPr/>
        <p:txBody>
          <a:bodyPr/>
          <a:lstStyle/>
          <a:p>
            <a:pPr>
              <a:defRPr/>
            </a:pPr>
            <a:fld id="{2F37425F-5E17-4209-B948-B5CE2119E408}" type="slidenum">
              <a:rPr lang="en-US" smtClean="0"/>
              <a:pPr>
                <a:defRPr/>
              </a:pPr>
              <a:t>38</a:t>
            </a:fld>
            <a:endParaRPr lang="en-US" dirty="0"/>
          </a:p>
        </p:txBody>
      </p:sp>
      <p:grpSp>
        <p:nvGrpSpPr>
          <p:cNvPr id="2" name="Group 3"/>
          <p:cNvGrpSpPr>
            <a:grpSpLocks/>
          </p:cNvGrpSpPr>
          <p:nvPr/>
        </p:nvGrpSpPr>
        <p:grpSpPr bwMode="auto">
          <a:xfrm>
            <a:off x="3787775" y="1009650"/>
            <a:ext cx="4979988" cy="5295900"/>
            <a:chOff x="2386" y="636"/>
            <a:chExt cx="3137" cy="3336"/>
          </a:xfrm>
        </p:grpSpPr>
        <p:graphicFrame>
          <p:nvGraphicFramePr>
            <p:cNvPr id="23554" name="Object 4"/>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355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75" name="Rectangle 5"/>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3576" name="Rectangle 6"/>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grpSp>
        <p:nvGrpSpPr>
          <p:cNvPr id="3" name="Group 7"/>
          <p:cNvGrpSpPr>
            <a:grpSpLocks/>
          </p:cNvGrpSpPr>
          <p:nvPr/>
        </p:nvGrpSpPr>
        <p:grpSpPr bwMode="auto">
          <a:xfrm>
            <a:off x="4586288" y="2178050"/>
            <a:ext cx="4219575" cy="2386013"/>
            <a:chOff x="2889" y="1372"/>
            <a:chExt cx="2658" cy="1503"/>
          </a:xfrm>
        </p:grpSpPr>
        <p:sp>
          <p:nvSpPr>
            <p:cNvPr id="23574" name="Rectangle 9"/>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sp>
          <p:nvSpPr>
            <p:cNvPr id="23573" name="Line 8"/>
            <p:cNvSpPr>
              <a:spLocks noChangeShapeType="1"/>
            </p:cNvSpPr>
            <p:nvPr/>
          </p:nvSpPr>
          <p:spPr bwMode="auto">
            <a:xfrm flipV="1">
              <a:off x="2889" y="1614"/>
              <a:ext cx="2401" cy="1261"/>
            </a:xfrm>
            <a:prstGeom prst="line">
              <a:avLst/>
            </a:prstGeom>
            <a:noFill/>
            <a:ln w="44450">
              <a:solidFill>
                <a:srgbClr val="FF0000"/>
              </a:solidFill>
              <a:round/>
              <a:headEnd/>
              <a:tailEnd/>
            </a:ln>
          </p:spPr>
          <p:txBody>
            <a:bodyPr/>
            <a:lstStyle/>
            <a:p>
              <a:endParaRPr lang="en-US">
                <a:latin typeface="Arial"/>
                <a:cs typeface="Arial"/>
              </a:endParaRPr>
            </a:p>
          </p:txBody>
        </p:sp>
      </p:grpSp>
      <p:grpSp>
        <p:nvGrpSpPr>
          <p:cNvPr id="4" name="Group 10"/>
          <p:cNvGrpSpPr>
            <a:grpSpLocks/>
          </p:cNvGrpSpPr>
          <p:nvPr/>
        </p:nvGrpSpPr>
        <p:grpSpPr bwMode="auto">
          <a:xfrm>
            <a:off x="4583113" y="1887538"/>
            <a:ext cx="3438525" cy="3495675"/>
            <a:chOff x="2887" y="1189"/>
            <a:chExt cx="2166" cy="2202"/>
          </a:xfrm>
        </p:grpSpPr>
        <p:sp>
          <p:nvSpPr>
            <p:cNvPr id="23571" name="Line 11"/>
            <p:cNvSpPr>
              <a:spLocks noChangeShapeType="1"/>
            </p:cNvSpPr>
            <p:nvPr/>
          </p:nvSpPr>
          <p:spPr bwMode="auto">
            <a:xfrm>
              <a:off x="2887" y="1189"/>
              <a:ext cx="1901" cy="1990"/>
            </a:xfrm>
            <a:prstGeom prst="line">
              <a:avLst/>
            </a:prstGeom>
            <a:noFill/>
            <a:ln w="44450">
              <a:solidFill>
                <a:srgbClr val="0000FF"/>
              </a:solidFill>
              <a:round/>
              <a:headEnd/>
              <a:tailEnd/>
            </a:ln>
          </p:spPr>
          <p:txBody>
            <a:bodyPr/>
            <a:lstStyle/>
            <a:p>
              <a:endParaRPr lang="en-US">
                <a:latin typeface="Arial"/>
                <a:cs typeface="Arial"/>
              </a:endParaRPr>
            </a:p>
          </p:txBody>
        </p:sp>
        <p:sp>
          <p:nvSpPr>
            <p:cNvPr id="23572" name="Rectangle 12"/>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dirty="0">
                  <a:latin typeface="Arial"/>
                  <a:cs typeface="Arial"/>
                </a:rPr>
                <a:t>D</a:t>
              </a:r>
            </a:p>
          </p:txBody>
        </p:sp>
      </p:grpSp>
      <p:grpSp>
        <p:nvGrpSpPr>
          <p:cNvPr id="5" name="Group 13"/>
          <p:cNvGrpSpPr>
            <a:grpSpLocks/>
          </p:cNvGrpSpPr>
          <p:nvPr/>
        </p:nvGrpSpPr>
        <p:grpSpPr bwMode="auto">
          <a:xfrm>
            <a:off x="3886200" y="3476625"/>
            <a:ext cx="2674938" cy="2676525"/>
            <a:chOff x="2448" y="2190"/>
            <a:chExt cx="1685" cy="1686"/>
          </a:xfrm>
        </p:grpSpPr>
        <p:grpSp>
          <p:nvGrpSpPr>
            <p:cNvPr id="6" name="Group 14"/>
            <p:cNvGrpSpPr>
              <a:grpSpLocks/>
            </p:cNvGrpSpPr>
            <p:nvPr/>
          </p:nvGrpSpPr>
          <p:grpSpPr bwMode="auto">
            <a:xfrm>
              <a:off x="3804" y="2302"/>
              <a:ext cx="329" cy="1574"/>
              <a:chOff x="3804" y="2302"/>
              <a:chExt cx="329" cy="1574"/>
            </a:xfrm>
          </p:grpSpPr>
          <p:sp>
            <p:nvSpPr>
              <p:cNvPr id="23569" name="Line 15"/>
              <p:cNvSpPr>
                <a:spLocks noChangeShapeType="1"/>
              </p:cNvSpPr>
              <p:nvPr/>
            </p:nvSpPr>
            <p:spPr bwMode="auto">
              <a:xfrm rot="5400000">
                <a:off x="3299" y="2965"/>
                <a:ext cx="1326" cy="0"/>
              </a:xfrm>
              <a:prstGeom prst="line">
                <a:avLst/>
              </a:prstGeom>
              <a:noFill/>
              <a:ln w="12700">
                <a:solidFill>
                  <a:srgbClr val="4E519E"/>
                </a:solidFill>
                <a:round/>
                <a:headEnd/>
                <a:tailEnd/>
              </a:ln>
            </p:spPr>
            <p:txBody>
              <a:bodyPr/>
              <a:lstStyle/>
              <a:p>
                <a:endParaRPr lang="en-US">
                  <a:latin typeface="Arial"/>
                  <a:cs typeface="Arial"/>
                </a:endParaRPr>
              </a:p>
            </p:txBody>
          </p:sp>
          <p:sp>
            <p:nvSpPr>
              <p:cNvPr id="23570" name="Rectangle 16"/>
              <p:cNvSpPr>
                <a:spLocks noChangeArrowheads="1"/>
              </p:cNvSpPr>
              <p:nvPr/>
            </p:nvSpPr>
            <p:spPr bwMode="auto">
              <a:xfrm>
                <a:off x="3804" y="3628"/>
                <a:ext cx="329" cy="248"/>
              </a:xfrm>
              <a:prstGeom prst="rect">
                <a:avLst/>
              </a:prstGeom>
              <a:noFill/>
              <a:ln w="12700">
                <a:solidFill>
                  <a:srgbClr val="4E519E"/>
                </a:solidFill>
                <a:miter lim="800000"/>
                <a:headEnd/>
                <a:tailEnd/>
              </a:ln>
            </p:spPr>
            <p:txBody>
              <a:bodyPr wrap="none" anchor="ctr"/>
              <a:lstStyle/>
              <a:p>
                <a:endParaRPr lang="en-US">
                  <a:latin typeface="Arial"/>
                  <a:cs typeface="Arial"/>
                </a:endParaRPr>
              </a:p>
            </p:txBody>
          </p:sp>
        </p:grpSp>
        <p:grpSp>
          <p:nvGrpSpPr>
            <p:cNvPr id="7" name="Group 17"/>
            <p:cNvGrpSpPr>
              <a:grpSpLocks/>
            </p:cNvGrpSpPr>
            <p:nvPr/>
          </p:nvGrpSpPr>
          <p:grpSpPr bwMode="auto">
            <a:xfrm>
              <a:off x="2448" y="2190"/>
              <a:ext cx="1517" cy="248"/>
              <a:chOff x="2448" y="2190"/>
              <a:chExt cx="1517" cy="248"/>
            </a:xfrm>
          </p:grpSpPr>
          <p:sp>
            <p:nvSpPr>
              <p:cNvPr id="23567" name="Line 18"/>
              <p:cNvSpPr>
                <a:spLocks noChangeShapeType="1"/>
              </p:cNvSpPr>
              <p:nvPr/>
            </p:nvSpPr>
            <p:spPr bwMode="auto">
              <a:xfrm>
                <a:off x="2774" y="2312"/>
                <a:ext cx="1191" cy="0"/>
              </a:xfrm>
              <a:prstGeom prst="line">
                <a:avLst/>
              </a:prstGeom>
              <a:noFill/>
              <a:ln w="12700">
                <a:solidFill>
                  <a:srgbClr val="4E519E"/>
                </a:solidFill>
                <a:round/>
                <a:headEnd/>
                <a:tailEnd/>
              </a:ln>
            </p:spPr>
            <p:txBody>
              <a:bodyPr/>
              <a:lstStyle/>
              <a:p>
                <a:endParaRPr lang="en-US">
                  <a:latin typeface="Arial"/>
                  <a:cs typeface="Arial"/>
                </a:endParaRPr>
              </a:p>
            </p:txBody>
          </p:sp>
          <p:sp>
            <p:nvSpPr>
              <p:cNvPr id="23568" name="Rectangle 19"/>
              <p:cNvSpPr>
                <a:spLocks noChangeArrowheads="1"/>
              </p:cNvSpPr>
              <p:nvPr/>
            </p:nvSpPr>
            <p:spPr bwMode="auto">
              <a:xfrm>
                <a:off x="2448" y="2190"/>
                <a:ext cx="329" cy="248"/>
              </a:xfrm>
              <a:prstGeom prst="rect">
                <a:avLst/>
              </a:prstGeom>
              <a:noFill/>
              <a:ln w="12700">
                <a:solidFill>
                  <a:srgbClr val="4E519E"/>
                </a:solidFill>
                <a:miter lim="800000"/>
                <a:headEnd/>
                <a:tailEnd/>
              </a:ln>
            </p:spPr>
            <p:txBody>
              <a:bodyPr wrap="none" anchor="ctr"/>
              <a:lstStyle/>
              <a:p>
                <a:endParaRPr lang="en-US">
                  <a:latin typeface="Arial"/>
                  <a:cs typeface="Arial"/>
                </a:endParaRPr>
              </a:p>
            </p:txBody>
          </p:sp>
        </p:grpSp>
      </p:grpSp>
      <p:sp>
        <p:nvSpPr>
          <p:cNvPr id="200725" name="AutoShape 21"/>
          <p:cNvSpPr>
            <a:spLocks/>
          </p:cNvSpPr>
          <p:nvPr/>
        </p:nvSpPr>
        <p:spPr bwMode="auto">
          <a:xfrm rot="3720000">
            <a:off x="7295356" y="2093119"/>
            <a:ext cx="280988" cy="2355850"/>
          </a:xfrm>
          <a:prstGeom prst="rightBrace">
            <a:avLst>
              <a:gd name="adj1" fmla="val 69868"/>
              <a:gd name="adj2" fmla="val 50000"/>
            </a:avLst>
          </a:prstGeom>
          <a:noFill/>
          <a:ln w="19050">
            <a:solidFill>
              <a:srgbClr val="4E519E"/>
            </a:solidFill>
            <a:round/>
            <a:headEnd/>
            <a:tailEnd/>
          </a:ln>
        </p:spPr>
        <p:txBody>
          <a:bodyPr wrap="none" anchor="ctr"/>
          <a:lstStyle/>
          <a:p>
            <a:endParaRPr lang="en-US">
              <a:latin typeface="Arial"/>
              <a:cs typeface="Arial"/>
            </a:endParaRPr>
          </a:p>
        </p:txBody>
      </p:sp>
      <p:sp>
        <p:nvSpPr>
          <p:cNvPr id="200726" name="AutoShape 22"/>
          <p:cNvSpPr>
            <a:spLocks/>
          </p:cNvSpPr>
          <p:nvPr/>
        </p:nvSpPr>
        <p:spPr bwMode="auto">
          <a:xfrm rot="3720000">
            <a:off x="5375275" y="3348038"/>
            <a:ext cx="280987" cy="1893888"/>
          </a:xfrm>
          <a:prstGeom prst="rightBrace">
            <a:avLst>
              <a:gd name="adj1" fmla="val 56168"/>
              <a:gd name="adj2" fmla="val 50000"/>
            </a:avLst>
          </a:prstGeom>
          <a:noFill/>
          <a:ln w="19050">
            <a:solidFill>
              <a:srgbClr val="4E519E"/>
            </a:solidFill>
            <a:round/>
            <a:headEnd/>
            <a:tailEnd/>
          </a:ln>
        </p:spPr>
        <p:txBody>
          <a:bodyPr wrap="none" anchor="ctr"/>
          <a:lstStyle/>
          <a:p>
            <a:endParaRPr lang="en-US">
              <a:latin typeface="Arial"/>
              <a:cs typeface="Arial"/>
            </a:endParaRPr>
          </a:p>
        </p:txBody>
      </p:sp>
      <p:sp>
        <p:nvSpPr>
          <p:cNvPr id="8" name="Footer Placeholder 7">
            <a:extLst>
              <a:ext uri="{FF2B5EF4-FFF2-40B4-BE49-F238E27FC236}">
                <a16:creationId xmlns:a16="http://schemas.microsoft.com/office/drawing/2014/main" id="{30DC73EA-2F5C-3738-9929-7D7564F73889}"/>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2094139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0724">
                                            <p:txEl>
                                              <p:pRg st="0" end="0"/>
                                            </p:txEl>
                                          </p:spTgt>
                                        </p:tgtEl>
                                        <p:attrNameLst>
                                          <p:attrName>style.visibility</p:attrName>
                                        </p:attrNameLst>
                                      </p:cBhvr>
                                      <p:to>
                                        <p:strVal val="visible"/>
                                      </p:to>
                                    </p:set>
                                    <p:animEffect transition="in" filter="wipe(left)">
                                      <p:cBhvr>
                                        <p:cTn id="7" dur="500"/>
                                        <p:tgtEl>
                                          <p:spTgt spid="200724">
                                            <p:txEl>
                                              <p:pRg st="0" end="0"/>
                                            </p:txEl>
                                          </p:spTgt>
                                        </p:tgtEl>
                                      </p:cBhvr>
                                    </p:animEffect>
                                  </p:childTnLst>
                                </p:cTn>
                              </p:par>
                              <p:par>
                                <p:cTn id="8" presetID="18" presetClass="entr" presetSubtype="3" fill="hold" grpId="0" nodeType="withEffect">
                                  <p:stCondLst>
                                    <p:cond delay="0"/>
                                  </p:stCondLst>
                                  <p:childTnLst>
                                    <p:set>
                                      <p:cBhvr>
                                        <p:cTn id="9" dur="1" fill="hold">
                                          <p:stCondLst>
                                            <p:cond delay="0"/>
                                          </p:stCondLst>
                                        </p:cTn>
                                        <p:tgtEl>
                                          <p:spTgt spid="200726"/>
                                        </p:tgtEl>
                                        <p:attrNameLst>
                                          <p:attrName>style.visibility</p:attrName>
                                        </p:attrNameLst>
                                      </p:cBhvr>
                                      <p:to>
                                        <p:strVal val="visible"/>
                                      </p:to>
                                    </p:set>
                                    <p:animEffect transition="in" filter="strips(upRight)">
                                      <p:cBhvr>
                                        <p:cTn id="10" dur="500"/>
                                        <p:tgtEl>
                                          <p:spTgt spid="20072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00726"/>
                                        </p:tgtEl>
                                        <p:attrNameLst>
                                          <p:attrName>style.visibility</p:attrName>
                                        </p:attrNameLst>
                                      </p:cBhvr>
                                      <p:to>
                                        <p:strVal val="hidden"/>
                                      </p:to>
                                    </p:set>
                                  </p:childTnLst>
                                </p:cTn>
                              </p:par>
                              <p:par>
                                <p:cTn id="15" presetID="22" presetClass="entr" presetSubtype="8" fill="hold" grpId="0" nodeType="withEffect">
                                  <p:stCondLst>
                                    <p:cond delay="0"/>
                                  </p:stCondLst>
                                  <p:childTnLst>
                                    <p:set>
                                      <p:cBhvr>
                                        <p:cTn id="16" dur="1" fill="hold">
                                          <p:stCondLst>
                                            <p:cond delay="0"/>
                                          </p:stCondLst>
                                        </p:cTn>
                                        <p:tgtEl>
                                          <p:spTgt spid="200724">
                                            <p:txEl>
                                              <p:pRg st="2" end="2"/>
                                            </p:txEl>
                                          </p:spTgt>
                                        </p:tgtEl>
                                        <p:attrNameLst>
                                          <p:attrName>style.visibility</p:attrName>
                                        </p:attrNameLst>
                                      </p:cBhvr>
                                      <p:to>
                                        <p:strVal val="visible"/>
                                      </p:to>
                                    </p:set>
                                    <p:animEffect transition="in" filter="wipe(left)">
                                      <p:cBhvr>
                                        <p:cTn id="17" dur="500"/>
                                        <p:tgtEl>
                                          <p:spTgt spid="200724">
                                            <p:txEl>
                                              <p:pRg st="2" end="2"/>
                                            </p:txEl>
                                          </p:spTgt>
                                        </p:tgtEl>
                                      </p:cBhvr>
                                    </p:animEffect>
                                  </p:childTnLst>
                                </p:cTn>
                              </p:par>
                              <p:par>
                                <p:cTn id="18" presetID="18" presetClass="entr" presetSubtype="3" fill="hold" grpId="0" nodeType="withEffect">
                                  <p:stCondLst>
                                    <p:cond delay="0"/>
                                  </p:stCondLst>
                                  <p:childTnLst>
                                    <p:set>
                                      <p:cBhvr>
                                        <p:cTn id="19" dur="1" fill="hold">
                                          <p:stCondLst>
                                            <p:cond delay="0"/>
                                          </p:stCondLst>
                                        </p:cTn>
                                        <p:tgtEl>
                                          <p:spTgt spid="200725"/>
                                        </p:tgtEl>
                                        <p:attrNameLst>
                                          <p:attrName>style.visibility</p:attrName>
                                        </p:attrNameLst>
                                      </p:cBhvr>
                                      <p:to>
                                        <p:strVal val="visible"/>
                                      </p:to>
                                    </p:set>
                                    <p:animEffect transition="in" filter="strips(upRight)">
                                      <p:cBhvr>
                                        <p:cTn id="20" dur="500"/>
                                        <p:tgtEl>
                                          <p:spTgt spid="2007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200725"/>
                                        </p:tgtEl>
                                        <p:attrNameLst>
                                          <p:attrName>style.visibility</p:attrName>
                                        </p:attrNameLst>
                                      </p:cBhvr>
                                      <p:to>
                                        <p:strVal val="hidden"/>
                                      </p:to>
                                    </p:set>
                                  </p:childTnLst>
                                </p:cTn>
                              </p:par>
                              <p:par>
                                <p:cTn id="25" presetID="22" presetClass="entr" presetSubtype="8" fill="hold" grpId="0" nodeType="withEffect">
                                  <p:stCondLst>
                                    <p:cond delay="0"/>
                                  </p:stCondLst>
                                  <p:childTnLst>
                                    <p:set>
                                      <p:cBhvr>
                                        <p:cTn id="26" dur="1" fill="hold">
                                          <p:stCondLst>
                                            <p:cond delay="0"/>
                                          </p:stCondLst>
                                        </p:cTn>
                                        <p:tgtEl>
                                          <p:spTgt spid="200724">
                                            <p:txEl>
                                              <p:pRg st="4" end="4"/>
                                            </p:txEl>
                                          </p:spTgt>
                                        </p:tgtEl>
                                        <p:attrNameLst>
                                          <p:attrName>style.visibility</p:attrName>
                                        </p:attrNameLst>
                                      </p:cBhvr>
                                      <p:to>
                                        <p:strVal val="visible"/>
                                      </p:to>
                                    </p:set>
                                    <p:animEffect transition="in" filter="wipe(left)">
                                      <p:cBhvr>
                                        <p:cTn id="27" dur="500"/>
                                        <p:tgtEl>
                                          <p:spTgt spid="2007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24" grpId="0" build="p" bldLvl="5"/>
      <p:bldP spid="200725" grpId="0" animBg="1"/>
      <p:bldP spid="200725" grpId="1" animBg="1"/>
      <p:bldP spid="200726" grpId="0" animBg="1"/>
      <p:bldP spid="200726" grpId="1"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normAutofit/>
          </a:bodyPr>
          <a:lstStyle/>
          <a:p>
            <a:pPr eaLnBrk="1" hangingPunct="1"/>
            <a:r>
              <a:rPr lang="en-US" dirty="0"/>
              <a:t>EXAMPLE 5C: </a:t>
            </a:r>
            <a:r>
              <a:rPr lang="en-US" dirty="0">
                <a:solidFill>
                  <a:schemeClr val="tx1"/>
                </a:solidFill>
              </a:rPr>
              <a:t>Does </a:t>
            </a:r>
            <a:r>
              <a:rPr lang="en-US" dirty="0" err="1">
                <a:solidFill>
                  <a:schemeClr val="tx1"/>
                </a:solidFill>
              </a:rPr>
              <a:t>eq’m</a:t>
            </a:r>
            <a:r>
              <a:rPr lang="en-US" dirty="0">
                <a:solidFill>
                  <a:schemeClr val="tx1"/>
                </a:solidFill>
              </a:rPr>
              <a:t> </a:t>
            </a:r>
            <a:r>
              <a:rPr lang="en-US" b="1" i="1" dirty="0">
                <a:solidFill>
                  <a:schemeClr val="tx1"/>
                </a:solidFill>
              </a:rPr>
              <a:t>Q</a:t>
            </a:r>
            <a:r>
              <a:rPr lang="en-US" dirty="0">
                <a:solidFill>
                  <a:schemeClr val="tx1"/>
                </a:solidFill>
              </a:rPr>
              <a:t>  maximize </a:t>
            </a:r>
            <a:r>
              <a:rPr lang="en-US" b="1" i="1" dirty="0">
                <a:solidFill>
                  <a:schemeClr val="tx1"/>
                </a:solidFill>
              </a:rPr>
              <a:t>TS</a:t>
            </a:r>
            <a:r>
              <a:rPr lang="en-US" dirty="0">
                <a:solidFill>
                  <a:schemeClr val="tx1"/>
                </a:solidFill>
              </a:rPr>
              <a:t>? – 1 </a:t>
            </a:r>
          </a:p>
        </p:txBody>
      </p:sp>
      <p:sp>
        <p:nvSpPr>
          <p:cNvPr id="201748" name="Rectangle 20"/>
          <p:cNvSpPr>
            <a:spLocks noGrp="1" noChangeArrowheads="1"/>
          </p:cNvSpPr>
          <p:nvPr>
            <p:ph idx="1"/>
          </p:nvPr>
        </p:nvSpPr>
        <p:spPr>
          <a:xfrm>
            <a:off x="152401" y="838200"/>
            <a:ext cx="3809999" cy="5638800"/>
          </a:xfrm>
        </p:spPr>
        <p:txBody>
          <a:bodyPr>
            <a:noAutofit/>
          </a:bodyPr>
          <a:lstStyle/>
          <a:p>
            <a:pPr marL="0" indent="0" eaLnBrk="1" hangingPunct="1">
              <a:spcBef>
                <a:spcPct val="25000"/>
              </a:spcBef>
              <a:buFont typeface="Wingdings" pitchFamily="2" charset="2"/>
              <a:buNone/>
            </a:pPr>
            <a:r>
              <a:rPr lang="en-US" sz="2800" dirty="0"/>
              <a:t>At </a:t>
            </a:r>
            <a:r>
              <a:rPr lang="en-US" sz="2800" b="1" i="1" dirty="0"/>
              <a:t>Q</a:t>
            </a:r>
            <a:r>
              <a:rPr lang="en-US" sz="2800" dirty="0"/>
              <a:t> = 20, cost of producing the marginal unit is $35; the value to consumers of the marginal unit is only $20</a:t>
            </a:r>
          </a:p>
          <a:p>
            <a:pPr marL="0" indent="0" eaLnBrk="1" hangingPunct="1">
              <a:spcBef>
                <a:spcPct val="25000"/>
              </a:spcBef>
              <a:buFont typeface="Wingdings" pitchFamily="2" charset="2"/>
              <a:buNone/>
            </a:pPr>
            <a:r>
              <a:rPr lang="en-US" sz="2800" dirty="0">
                <a:solidFill>
                  <a:srgbClr val="4E519E"/>
                </a:solidFill>
              </a:rPr>
              <a:t>Hence, can increase total surplus by reducing </a:t>
            </a:r>
            <a:r>
              <a:rPr lang="en-US" sz="2800" b="1" i="1" dirty="0">
                <a:solidFill>
                  <a:srgbClr val="4E519E"/>
                </a:solidFill>
              </a:rPr>
              <a:t>Q</a:t>
            </a:r>
            <a:r>
              <a:rPr lang="en-US" sz="2800" dirty="0">
                <a:solidFill>
                  <a:srgbClr val="4E519E"/>
                </a:solidFill>
              </a:rPr>
              <a:t>.  </a:t>
            </a:r>
          </a:p>
          <a:p>
            <a:pPr marL="0" indent="0" eaLnBrk="1" hangingPunct="1">
              <a:spcBef>
                <a:spcPct val="35000"/>
              </a:spcBef>
              <a:buFont typeface="Wingdings" pitchFamily="2" charset="2"/>
              <a:buNone/>
            </a:pPr>
            <a:r>
              <a:rPr lang="en-US" sz="2800" dirty="0">
                <a:solidFill>
                  <a:srgbClr val="4E519E"/>
                </a:solidFill>
              </a:rPr>
              <a:t>This is true at any </a:t>
            </a:r>
            <a:r>
              <a:rPr lang="en-US" sz="2800" b="1" i="1" dirty="0">
                <a:solidFill>
                  <a:srgbClr val="4E519E"/>
                </a:solidFill>
              </a:rPr>
              <a:t>Q</a:t>
            </a:r>
            <a:r>
              <a:rPr lang="en-US" sz="2800" dirty="0">
                <a:solidFill>
                  <a:srgbClr val="4E519E"/>
                </a:solidFill>
              </a:rPr>
              <a:t> greater than 15. </a:t>
            </a:r>
          </a:p>
        </p:txBody>
      </p:sp>
      <p:sp>
        <p:nvSpPr>
          <p:cNvPr id="7" name="Slide Number Placeholder 6"/>
          <p:cNvSpPr>
            <a:spLocks noGrp="1"/>
          </p:cNvSpPr>
          <p:nvPr>
            <p:ph type="sldNum" sz="quarter" idx="10"/>
          </p:nvPr>
        </p:nvSpPr>
        <p:spPr/>
        <p:txBody>
          <a:bodyPr/>
          <a:lstStyle/>
          <a:p>
            <a:pPr>
              <a:defRPr/>
            </a:pPr>
            <a:fld id="{2F37425F-5E17-4209-B948-B5CE2119E408}" type="slidenum">
              <a:rPr lang="en-US" smtClean="0"/>
              <a:pPr>
                <a:defRPr/>
              </a:pPr>
              <a:t>39</a:t>
            </a:fld>
            <a:endParaRPr lang="en-US" dirty="0"/>
          </a:p>
        </p:txBody>
      </p:sp>
      <p:grpSp>
        <p:nvGrpSpPr>
          <p:cNvPr id="2" name="Group 3"/>
          <p:cNvGrpSpPr>
            <a:grpSpLocks/>
          </p:cNvGrpSpPr>
          <p:nvPr/>
        </p:nvGrpSpPr>
        <p:grpSpPr bwMode="auto">
          <a:xfrm>
            <a:off x="3787775" y="1009650"/>
            <a:ext cx="4979988" cy="5295900"/>
            <a:chOff x="2386" y="636"/>
            <a:chExt cx="3137" cy="3336"/>
          </a:xfrm>
        </p:grpSpPr>
        <p:graphicFrame>
          <p:nvGraphicFramePr>
            <p:cNvPr id="24578" name="Object 4"/>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457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98" name="Rectangle 5"/>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4599" name="Rectangle 6"/>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grpSp>
        <p:nvGrpSpPr>
          <p:cNvPr id="3" name="Group 7"/>
          <p:cNvGrpSpPr>
            <a:grpSpLocks/>
          </p:cNvGrpSpPr>
          <p:nvPr/>
        </p:nvGrpSpPr>
        <p:grpSpPr bwMode="auto">
          <a:xfrm>
            <a:off x="4586288" y="2178050"/>
            <a:ext cx="4219575" cy="2386013"/>
            <a:chOff x="2889" y="1372"/>
            <a:chExt cx="2658" cy="1503"/>
          </a:xfrm>
        </p:grpSpPr>
        <p:sp>
          <p:nvSpPr>
            <p:cNvPr id="24596" name="Line 8"/>
            <p:cNvSpPr>
              <a:spLocks noChangeShapeType="1"/>
            </p:cNvSpPr>
            <p:nvPr/>
          </p:nvSpPr>
          <p:spPr bwMode="auto">
            <a:xfrm flipV="1">
              <a:off x="2889" y="1614"/>
              <a:ext cx="2401" cy="1261"/>
            </a:xfrm>
            <a:prstGeom prst="line">
              <a:avLst/>
            </a:prstGeom>
            <a:noFill/>
            <a:ln w="44450">
              <a:solidFill>
                <a:srgbClr val="FF0000"/>
              </a:solidFill>
              <a:round/>
              <a:headEnd/>
              <a:tailEnd/>
            </a:ln>
          </p:spPr>
          <p:txBody>
            <a:bodyPr/>
            <a:lstStyle/>
            <a:p>
              <a:endParaRPr lang="en-US">
                <a:latin typeface="Arial"/>
                <a:cs typeface="Arial"/>
              </a:endParaRPr>
            </a:p>
          </p:txBody>
        </p:sp>
        <p:sp>
          <p:nvSpPr>
            <p:cNvPr id="24597" name="Rectangle 9"/>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0"/>
          <p:cNvGrpSpPr>
            <a:grpSpLocks/>
          </p:cNvGrpSpPr>
          <p:nvPr/>
        </p:nvGrpSpPr>
        <p:grpSpPr bwMode="auto">
          <a:xfrm>
            <a:off x="4583113" y="1887538"/>
            <a:ext cx="3438525" cy="3495675"/>
            <a:chOff x="2887" y="1189"/>
            <a:chExt cx="2166" cy="2202"/>
          </a:xfrm>
        </p:grpSpPr>
        <p:sp>
          <p:nvSpPr>
            <p:cNvPr id="24594" name="Line 11"/>
            <p:cNvSpPr>
              <a:spLocks noChangeShapeType="1"/>
            </p:cNvSpPr>
            <p:nvPr/>
          </p:nvSpPr>
          <p:spPr bwMode="auto">
            <a:xfrm>
              <a:off x="2887" y="1189"/>
              <a:ext cx="1901" cy="1990"/>
            </a:xfrm>
            <a:prstGeom prst="line">
              <a:avLst/>
            </a:prstGeom>
            <a:noFill/>
            <a:ln w="44450">
              <a:solidFill>
                <a:srgbClr val="0000FF"/>
              </a:solidFill>
              <a:round/>
              <a:headEnd/>
              <a:tailEnd/>
            </a:ln>
          </p:spPr>
          <p:txBody>
            <a:bodyPr/>
            <a:lstStyle/>
            <a:p>
              <a:endParaRPr lang="en-US">
                <a:latin typeface="Arial"/>
                <a:cs typeface="Arial"/>
              </a:endParaRPr>
            </a:p>
          </p:txBody>
        </p:sp>
        <p:sp>
          <p:nvSpPr>
            <p:cNvPr id="24595" name="Rectangle 12"/>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4"/>
          <p:cNvGrpSpPr>
            <a:grpSpLocks/>
          </p:cNvGrpSpPr>
          <p:nvPr/>
        </p:nvGrpSpPr>
        <p:grpSpPr bwMode="auto">
          <a:xfrm>
            <a:off x="6038850" y="3654425"/>
            <a:ext cx="522288" cy="2498725"/>
            <a:chOff x="3804" y="2302"/>
            <a:chExt cx="329" cy="1574"/>
          </a:xfrm>
        </p:grpSpPr>
        <p:sp>
          <p:nvSpPr>
            <p:cNvPr id="24592" name="Line 15"/>
            <p:cNvSpPr>
              <a:spLocks noChangeShapeType="1"/>
            </p:cNvSpPr>
            <p:nvPr/>
          </p:nvSpPr>
          <p:spPr bwMode="auto">
            <a:xfrm rot="5400000">
              <a:off x="3299" y="2965"/>
              <a:ext cx="1326" cy="0"/>
            </a:xfrm>
            <a:prstGeom prst="line">
              <a:avLst/>
            </a:prstGeom>
            <a:noFill/>
            <a:ln w="12700">
              <a:solidFill>
                <a:srgbClr val="4E519E"/>
              </a:solidFill>
              <a:round/>
              <a:headEnd/>
              <a:tailEnd/>
            </a:ln>
          </p:spPr>
          <p:txBody>
            <a:bodyPr/>
            <a:lstStyle/>
            <a:p>
              <a:endParaRPr lang="en-US">
                <a:latin typeface="Arial"/>
                <a:cs typeface="Arial"/>
              </a:endParaRPr>
            </a:p>
          </p:txBody>
        </p:sp>
        <p:sp>
          <p:nvSpPr>
            <p:cNvPr id="24593" name="Rectangle 16"/>
            <p:cNvSpPr>
              <a:spLocks noChangeArrowheads="1"/>
            </p:cNvSpPr>
            <p:nvPr/>
          </p:nvSpPr>
          <p:spPr bwMode="auto">
            <a:xfrm>
              <a:off x="3804" y="3628"/>
              <a:ext cx="329" cy="248"/>
            </a:xfrm>
            <a:prstGeom prst="rect">
              <a:avLst/>
            </a:prstGeom>
            <a:noFill/>
            <a:ln w="12700">
              <a:solidFill>
                <a:srgbClr val="4E519E"/>
              </a:solidFill>
              <a:miter lim="800000"/>
              <a:headEnd/>
              <a:tailEnd/>
            </a:ln>
          </p:spPr>
          <p:txBody>
            <a:bodyPr wrap="none" anchor="ctr"/>
            <a:lstStyle/>
            <a:p>
              <a:endParaRPr lang="en-US">
                <a:latin typeface="Arial"/>
                <a:cs typeface="Arial"/>
              </a:endParaRPr>
            </a:p>
          </p:txBody>
        </p:sp>
      </p:grpSp>
      <p:sp>
        <p:nvSpPr>
          <p:cNvPr id="201749" name="Line 21"/>
          <p:cNvSpPr>
            <a:spLocks noChangeShapeType="1"/>
          </p:cNvSpPr>
          <p:nvPr/>
        </p:nvSpPr>
        <p:spPr bwMode="auto">
          <a:xfrm flipH="1" flipV="1">
            <a:off x="6851650" y="3351213"/>
            <a:ext cx="12700" cy="2098675"/>
          </a:xfrm>
          <a:prstGeom prst="line">
            <a:avLst/>
          </a:prstGeom>
          <a:noFill/>
          <a:ln w="38100">
            <a:solidFill>
              <a:srgbClr val="DA8200"/>
            </a:solidFill>
            <a:round/>
            <a:headEnd/>
            <a:tailEnd type="triangle" w="lg" len="med"/>
          </a:ln>
        </p:spPr>
        <p:txBody>
          <a:bodyPr/>
          <a:lstStyle/>
          <a:p>
            <a:endParaRPr lang="en-US">
              <a:latin typeface="Arial"/>
              <a:cs typeface="Arial"/>
            </a:endParaRPr>
          </a:p>
        </p:txBody>
      </p:sp>
      <p:sp>
        <p:nvSpPr>
          <p:cNvPr id="201750" name="Line 22"/>
          <p:cNvSpPr>
            <a:spLocks noChangeShapeType="1"/>
          </p:cNvSpPr>
          <p:nvPr/>
        </p:nvSpPr>
        <p:spPr bwMode="auto">
          <a:xfrm flipH="1" flipV="1">
            <a:off x="6858000" y="4279900"/>
            <a:ext cx="7937" cy="1169988"/>
          </a:xfrm>
          <a:prstGeom prst="line">
            <a:avLst/>
          </a:prstGeom>
          <a:noFill/>
          <a:ln w="38100">
            <a:solidFill>
              <a:srgbClr val="00B050"/>
            </a:solidFill>
            <a:round/>
            <a:headEnd/>
            <a:tailEnd type="triangle" w="lg" len="med"/>
          </a:ln>
        </p:spPr>
        <p:txBody>
          <a:bodyPr/>
          <a:lstStyle/>
          <a:p>
            <a:endParaRPr lang="en-US">
              <a:latin typeface="Arial"/>
              <a:cs typeface="Arial"/>
            </a:endParaRPr>
          </a:p>
        </p:txBody>
      </p:sp>
      <p:sp>
        <p:nvSpPr>
          <p:cNvPr id="201751" name="Line 23"/>
          <p:cNvSpPr>
            <a:spLocks noChangeShapeType="1"/>
          </p:cNvSpPr>
          <p:nvPr/>
        </p:nvSpPr>
        <p:spPr bwMode="auto">
          <a:xfrm>
            <a:off x="4586288" y="3357563"/>
            <a:ext cx="2257425" cy="0"/>
          </a:xfrm>
          <a:prstGeom prst="line">
            <a:avLst/>
          </a:prstGeom>
          <a:noFill/>
          <a:ln w="12700">
            <a:solidFill>
              <a:srgbClr val="DA8200"/>
            </a:solidFill>
            <a:prstDash val="lgDash"/>
            <a:round/>
            <a:headEnd/>
            <a:tailEnd/>
          </a:ln>
        </p:spPr>
        <p:txBody>
          <a:bodyPr/>
          <a:lstStyle/>
          <a:p>
            <a:endParaRPr lang="en-US">
              <a:latin typeface="Arial"/>
              <a:cs typeface="Arial"/>
            </a:endParaRPr>
          </a:p>
        </p:txBody>
      </p:sp>
      <p:sp>
        <p:nvSpPr>
          <p:cNvPr id="201752" name="Line 24"/>
          <p:cNvSpPr>
            <a:spLocks noChangeShapeType="1"/>
          </p:cNvSpPr>
          <p:nvPr/>
        </p:nvSpPr>
        <p:spPr bwMode="auto">
          <a:xfrm>
            <a:off x="4587875" y="4270375"/>
            <a:ext cx="2286000" cy="0"/>
          </a:xfrm>
          <a:prstGeom prst="line">
            <a:avLst/>
          </a:prstGeom>
          <a:noFill/>
          <a:ln w="12700">
            <a:solidFill>
              <a:srgbClr val="00B050"/>
            </a:solidFill>
            <a:prstDash val="lgDash"/>
            <a:round/>
            <a:headEnd/>
            <a:tailEnd/>
          </a:ln>
        </p:spPr>
        <p:txBody>
          <a:bodyPr/>
          <a:lstStyle/>
          <a:p>
            <a:endParaRPr lang="en-US">
              <a:latin typeface="Arial"/>
              <a:cs typeface="Arial"/>
            </a:endParaRPr>
          </a:p>
        </p:txBody>
      </p:sp>
      <p:sp>
        <p:nvSpPr>
          <p:cNvPr id="201753" name="Line 25"/>
          <p:cNvSpPr>
            <a:spLocks noChangeShapeType="1"/>
          </p:cNvSpPr>
          <p:nvPr/>
        </p:nvSpPr>
        <p:spPr bwMode="auto">
          <a:xfrm flipH="1">
            <a:off x="6303964" y="5448300"/>
            <a:ext cx="554036" cy="1588"/>
          </a:xfrm>
          <a:prstGeom prst="line">
            <a:avLst/>
          </a:prstGeom>
          <a:noFill/>
          <a:ln w="57150">
            <a:solidFill>
              <a:srgbClr val="4E519E"/>
            </a:solidFill>
            <a:round/>
            <a:headEnd/>
            <a:tailEnd type="triangle" w="lg" len="med"/>
          </a:ln>
        </p:spPr>
        <p:txBody>
          <a:bodyPr/>
          <a:lstStyle/>
          <a:p>
            <a:endParaRPr lang="en-US">
              <a:latin typeface="Arial"/>
              <a:cs typeface="Arial"/>
            </a:endParaRPr>
          </a:p>
        </p:txBody>
      </p:sp>
      <p:sp>
        <p:nvSpPr>
          <p:cNvPr id="6" name="Footer Placeholder 5">
            <a:extLst>
              <a:ext uri="{FF2B5EF4-FFF2-40B4-BE49-F238E27FC236}">
                <a16:creationId xmlns:a16="http://schemas.microsoft.com/office/drawing/2014/main" id="{6F810A0F-4847-034C-3D07-9FE12558BA08}"/>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6151696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48">
                                            <p:txEl>
                                              <p:pRg st="0" end="0"/>
                                            </p:txEl>
                                          </p:spTgt>
                                        </p:tgtEl>
                                        <p:attrNameLst>
                                          <p:attrName>style.visibility</p:attrName>
                                        </p:attrNameLst>
                                      </p:cBhvr>
                                      <p:to>
                                        <p:strVal val="visible"/>
                                      </p:to>
                                    </p:set>
                                    <p:animEffect transition="in" filter="wipe(left)">
                                      <p:cBhvr>
                                        <p:cTn id="7" dur="500"/>
                                        <p:tgtEl>
                                          <p:spTgt spid="201748">
                                            <p:txEl>
                                              <p:pRg st="0" end="0"/>
                                            </p:tx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01749"/>
                                        </p:tgtEl>
                                        <p:attrNameLst>
                                          <p:attrName>style.visibility</p:attrName>
                                        </p:attrNameLst>
                                      </p:cBhvr>
                                      <p:to>
                                        <p:strVal val="visible"/>
                                      </p:to>
                                    </p:set>
                                    <p:animEffect transition="in" filter="wipe(down)">
                                      <p:cBhvr>
                                        <p:cTn id="11" dur="500"/>
                                        <p:tgtEl>
                                          <p:spTgt spid="201749"/>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201751"/>
                                        </p:tgtEl>
                                        <p:attrNameLst>
                                          <p:attrName>style.visibility</p:attrName>
                                        </p:attrNameLst>
                                      </p:cBhvr>
                                      <p:to>
                                        <p:strVal val="visible"/>
                                      </p:to>
                                    </p:set>
                                    <p:animEffect transition="in" filter="wipe(right)">
                                      <p:cBhvr>
                                        <p:cTn id="15" dur="500"/>
                                        <p:tgtEl>
                                          <p:spTgt spid="201751"/>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201750"/>
                                        </p:tgtEl>
                                        <p:attrNameLst>
                                          <p:attrName>style.visibility</p:attrName>
                                        </p:attrNameLst>
                                      </p:cBhvr>
                                      <p:to>
                                        <p:strVal val="visible"/>
                                      </p:to>
                                    </p:set>
                                    <p:animEffect transition="in" filter="wipe(down)">
                                      <p:cBhvr>
                                        <p:cTn id="19" dur="500"/>
                                        <p:tgtEl>
                                          <p:spTgt spid="201750"/>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201752"/>
                                        </p:tgtEl>
                                        <p:attrNameLst>
                                          <p:attrName>style.visibility</p:attrName>
                                        </p:attrNameLst>
                                      </p:cBhvr>
                                      <p:to>
                                        <p:strVal val="visible"/>
                                      </p:to>
                                    </p:set>
                                    <p:animEffect transition="in" filter="wipe(right)">
                                      <p:cBhvr>
                                        <p:cTn id="23" dur="500"/>
                                        <p:tgtEl>
                                          <p:spTgt spid="20175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01748">
                                            <p:txEl>
                                              <p:pRg st="1" end="1"/>
                                            </p:txEl>
                                          </p:spTgt>
                                        </p:tgtEl>
                                        <p:attrNameLst>
                                          <p:attrName>style.visibility</p:attrName>
                                        </p:attrNameLst>
                                      </p:cBhvr>
                                      <p:to>
                                        <p:strVal val="visible"/>
                                      </p:to>
                                    </p:set>
                                    <p:animEffect transition="in" filter="wipe(left)">
                                      <p:cBhvr>
                                        <p:cTn id="28" dur="500"/>
                                        <p:tgtEl>
                                          <p:spTgt spid="201748">
                                            <p:txEl>
                                              <p:pRg st="1" end="1"/>
                                            </p:txEl>
                                          </p:spTgt>
                                        </p:tgtEl>
                                      </p:cBhvr>
                                    </p:animEffect>
                                  </p:childTnLst>
                                </p:cTn>
                              </p:par>
                            </p:childTnLst>
                          </p:cTn>
                        </p:par>
                        <p:par>
                          <p:cTn id="29" fill="hold">
                            <p:stCondLst>
                              <p:cond delay="500"/>
                            </p:stCondLst>
                            <p:childTnLst>
                              <p:par>
                                <p:cTn id="30" presetID="22" presetClass="entr" presetSubtype="2" fill="hold" grpId="0" nodeType="afterEffect">
                                  <p:stCondLst>
                                    <p:cond delay="0"/>
                                  </p:stCondLst>
                                  <p:childTnLst>
                                    <p:set>
                                      <p:cBhvr>
                                        <p:cTn id="31" dur="1" fill="hold">
                                          <p:stCondLst>
                                            <p:cond delay="0"/>
                                          </p:stCondLst>
                                        </p:cTn>
                                        <p:tgtEl>
                                          <p:spTgt spid="201753"/>
                                        </p:tgtEl>
                                        <p:attrNameLst>
                                          <p:attrName>style.visibility</p:attrName>
                                        </p:attrNameLst>
                                      </p:cBhvr>
                                      <p:to>
                                        <p:strVal val="visible"/>
                                      </p:to>
                                    </p:set>
                                    <p:animEffect transition="in" filter="wipe(right)">
                                      <p:cBhvr>
                                        <p:cTn id="32" dur="500"/>
                                        <p:tgtEl>
                                          <p:spTgt spid="20175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1748">
                                            <p:txEl>
                                              <p:pRg st="2" end="2"/>
                                            </p:txEl>
                                          </p:spTgt>
                                        </p:tgtEl>
                                        <p:attrNameLst>
                                          <p:attrName>style.visibility</p:attrName>
                                        </p:attrNameLst>
                                      </p:cBhvr>
                                      <p:to>
                                        <p:strVal val="visible"/>
                                      </p:to>
                                    </p:set>
                                    <p:animEffect transition="in" filter="wipe(left)">
                                      <p:cBhvr>
                                        <p:cTn id="37" dur="500"/>
                                        <p:tgtEl>
                                          <p:spTgt spid="2017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48" grpId="0" uiExpand="1" build="p" bldLvl="5"/>
      <p:bldP spid="201749" grpId="0" uiExpand="1" animBg="1"/>
      <p:bldP spid="201750" grpId="0" uiExpand="1" animBg="1"/>
      <p:bldP spid="201751" grpId="0" uiExpand="1" animBg="1"/>
      <p:bldP spid="201752" grpId="0" uiExpand="1" animBg="1"/>
      <p:bldP spid="201753" grpId="0" uiExpand="1"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normAutofit/>
          </a:bodyPr>
          <a:lstStyle/>
          <a:p>
            <a:pPr eaLnBrk="1" hangingPunct="1"/>
            <a:r>
              <a:rPr lang="en-US" dirty="0"/>
              <a:t>EXAMPLE 5C: </a:t>
            </a:r>
            <a:r>
              <a:rPr lang="en-US" dirty="0">
                <a:solidFill>
                  <a:schemeClr val="tx1"/>
                </a:solidFill>
              </a:rPr>
              <a:t>Does </a:t>
            </a:r>
            <a:r>
              <a:rPr lang="en-US" dirty="0" err="1">
                <a:solidFill>
                  <a:schemeClr val="tx1"/>
                </a:solidFill>
              </a:rPr>
              <a:t>eq’m</a:t>
            </a:r>
            <a:r>
              <a:rPr lang="en-US" dirty="0">
                <a:solidFill>
                  <a:schemeClr val="tx1"/>
                </a:solidFill>
              </a:rPr>
              <a:t> </a:t>
            </a:r>
            <a:r>
              <a:rPr lang="en-US" b="1" i="1" dirty="0">
                <a:solidFill>
                  <a:schemeClr val="tx1"/>
                </a:solidFill>
              </a:rPr>
              <a:t>Q</a:t>
            </a:r>
            <a:r>
              <a:rPr lang="en-US" dirty="0">
                <a:solidFill>
                  <a:schemeClr val="tx1"/>
                </a:solidFill>
              </a:rPr>
              <a:t>  maximize </a:t>
            </a:r>
            <a:r>
              <a:rPr lang="en-US" b="1" i="1" dirty="0">
                <a:solidFill>
                  <a:schemeClr val="tx1"/>
                </a:solidFill>
              </a:rPr>
              <a:t>TS</a:t>
            </a:r>
            <a:r>
              <a:rPr lang="en-US" dirty="0">
                <a:solidFill>
                  <a:schemeClr val="tx1"/>
                </a:solidFill>
              </a:rPr>
              <a:t>? – 2 </a:t>
            </a:r>
          </a:p>
        </p:txBody>
      </p:sp>
      <p:sp>
        <p:nvSpPr>
          <p:cNvPr id="202772" name="Rectangle 20"/>
          <p:cNvSpPr>
            <a:spLocks noGrp="1" noChangeArrowheads="1"/>
          </p:cNvSpPr>
          <p:nvPr>
            <p:ph idx="1"/>
          </p:nvPr>
        </p:nvSpPr>
        <p:spPr>
          <a:xfrm>
            <a:off x="228600" y="990601"/>
            <a:ext cx="3657601" cy="5703888"/>
          </a:xfrm>
        </p:spPr>
        <p:txBody>
          <a:bodyPr>
            <a:normAutofit/>
          </a:bodyPr>
          <a:lstStyle/>
          <a:p>
            <a:pPr marL="0" indent="0" eaLnBrk="1" hangingPunct="1">
              <a:spcBef>
                <a:spcPct val="25000"/>
              </a:spcBef>
              <a:buFont typeface="Wingdings" pitchFamily="2" charset="2"/>
              <a:buNone/>
            </a:pPr>
            <a:r>
              <a:rPr lang="en-US" sz="2800" dirty="0"/>
              <a:t>At </a:t>
            </a:r>
            <a:r>
              <a:rPr lang="en-US" sz="2800" b="1" i="1" dirty="0"/>
              <a:t>Q</a:t>
            </a:r>
            <a:r>
              <a:rPr lang="en-US" sz="2800" dirty="0"/>
              <a:t> = 10, cost of producing the marginal unit is $25; the value to consumers of the marginal unit is $40</a:t>
            </a:r>
          </a:p>
          <a:p>
            <a:pPr marL="0" indent="0" eaLnBrk="1" hangingPunct="1">
              <a:spcBef>
                <a:spcPct val="25000"/>
              </a:spcBef>
              <a:buFont typeface="Wingdings" pitchFamily="2" charset="2"/>
              <a:buNone/>
            </a:pPr>
            <a:r>
              <a:rPr lang="en-US" sz="2800" dirty="0">
                <a:solidFill>
                  <a:srgbClr val="4E519E"/>
                </a:solidFill>
              </a:rPr>
              <a:t>Hence, can increase total surplus by increasing </a:t>
            </a:r>
            <a:r>
              <a:rPr lang="en-US" sz="2800" b="1" i="1" dirty="0">
                <a:solidFill>
                  <a:srgbClr val="4E519E"/>
                </a:solidFill>
              </a:rPr>
              <a:t>Q</a:t>
            </a:r>
            <a:r>
              <a:rPr lang="en-US" sz="2800" dirty="0">
                <a:solidFill>
                  <a:srgbClr val="4E519E"/>
                </a:solidFill>
              </a:rPr>
              <a:t>.  </a:t>
            </a:r>
          </a:p>
          <a:p>
            <a:pPr marL="0" indent="0" eaLnBrk="1" hangingPunct="1">
              <a:spcBef>
                <a:spcPct val="35000"/>
              </a:spcBef>
              <a:buFont typeface="Wingdings" pitchFamily="2" charset="2"/>
              <a:buNone/>
            </a:pPr>
            <a:r>
              <a:rPr lang="en-US" sz="2800" dirty="0">
                <a:solidFill>
                  <a:srgbClr val="4E519E"/>
                </a:solidFill>
              </a:rPr>
              <a:t>This is true at any </a:t>
            </a:r>
            <a:r>
              <a:rPr lang="en-US" sz="2800" b="1" i="1" dirty="0">
                <a:solidFill>
                  <a:srgbClr val="4E519E"/>
                </a:solidFill>
              </a:rPr>
              <a:t>Q</a:t>
            </a:r>
            <a:r>
              <a:rPr lang="en-US" sz="2800" dirty="0">
                <a:solidFill>
                  <a:srgbClr val="4E519E"/>
                </a:solidFill>
              </a:rPr>
              <a:t> less than 15. </a:t>
            </a:r>
          </a:p>
        </p:txBody>
      </p:sp>
      <p:sp>
        <p:nvSpPr>
          <p:cNvPr id="7" name="Slide Number Placeholder 6"/>
          <p:cNvSpPr>
            <a:spLocks noGrp="1"/>
          </p:cNvSpPr>
          <p:nvPr>
            <p:ph type="sldNum" sz="quarter" idx="10"/>
          </p:nvPr>
        </p:nvSpPr>
        <p:spPr/>
        <p:txBody>
          <a:bodyPr/>
          <a:lstStyle/>
          <a:p>
            <a:pPr>
              <a:defRPr/>
            </a:pPr>
            <a:fld id="{2F37425F-5E17-4209-B948-B5CE2119E408}" type="slidenum">
              <a:rPr lang="en-US" smtClean="0"/>
              <a:pPr>
                <a:defRPr/>
              </a:pPr>
              <a:t>40</a:t>
            </a:fld>
            <a:endParaRPr lang="en-US" dirty="0"/>
          </a:p>
        </p:txBody>
      </p:sp>
      <p:grpSp>
        <p:nvGrpSpPr>
          <p:cNvPr id="2" name="Group 3"/>
          <p:cNvGrpSpPr>
            <a:grpSpLocks/>
          </p:cNvGrpSpPr>
          <p:nvPr/>
        </p:nvGrpSpPr>
        <p:grpSpPr bwMode="auto">
          <a:xfrm>
            <a:off x="3787775" y="1009650"/>
            <a:ext cx="4979988" cy="5295900"/>
            <a:chOff x="2386" y="636"/>
            <a:chExt cx="3137" cy="3336"/>
          </a:xfrm>
        </p:grpSpPr>
        <p:graphicFrame>
          <p:nvGraphicFramePr>
            <p:cNvPr id="25602" name="Object 4"/>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560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22" name="Rectangle 5"/>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5623" name="Rectangle 6"/>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grpSp>
        <p:nvGrpSpPr>
          <p:cNvPr id="3" name="Group 7"/>
          <p:cNvGrpSpPr>
            <a:grpSpLocks/>
          </p:cNvGrpSpPr>
          <p:nvPr/>
        </p:nvGrpSpPr>
        <p:grpSpPr bwMode="auto">
          <a:xfrm>
            <a:off x="4586288" y="2178050"/>
            <a:ext cx="4219575" cy="2386013"/>
            <a:chOff x="2889" y="1372"/>
            <a:chExt cx="2658" cy="1503"/>
          </a:xfrm>
        </p:grpSpPr>
        <p:sp>
          <p:nvSpPr>
            <p:cNvPr id="25620" name="Line 8"/>
            <p:cNvSpPr>
              <a:spLocks noChangeShapeType="1"/>
            </p:cNvSpPr>
            <p:nvPr/>
          </p:nvSpPr>
          <p:spPr bwMode="auto">
            <a:xfrm flipV="1">
              <a:off x="2889" y="1614"/>
              <a:ext cx="2401" cy="1261"/>
            </a:xfrm>
            <a:prstGeom prst="line">
              <a:avLst/>
            </a:prstGeom>
            <a:noFill/>
            <a:ln w="44450">
              <a:solidFill>
                <a:srgbClr val="FF0000"/>
              </a:solidFill>
              <a:round/>
              <a:headEnd/>
              <a:tailEnd/>
            </a:ln>
          </p:spPr>
          <p:txBody>
            <a:bodyPr/>
            <a:lstStyle/>
            <a:p>
              <a:endParaRPr lang="en-US">
                <a:latin typeface="Arial"/>
                <a:cs typeface="Arial"/>
              </a:endParaRPr>
            </a:p>
          </p:txBody>
        </p:sp>
        <p:sp>
          <p:nvSpPr>
            <p:cNvPr id="25621" name="Rectangle 9"/>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0"/>
          <p:cNvGrpSpPr>
            <a:grpSpLocks/>
          </p:cNvGrpSpPr>
          <p:nvPr/>
        </p:nvGrpSpPr>
        <p:grpSpPr bwMode="auto">
          <a:xfrm>
            <a:off x="4583113" y="1887538"/>
            <a:ext cx="3438525" cy="3495675"/>
            <a:chOff x="2887" y="1189"/>
            <a:chExt cx="2166" cy="2202"/>
          </a:xfrm>
        </p:grpSpPr>
        <p:sp>
          <p:nvSpPr>
            <p:cNvPr id="25618" name="Line 11"/>
            <p:cNvSpPr>
              <a:spLocks noChangeShapeType="1"/>
            </p:cNvSpPr>
            <p:nvPr/>
          </p:nvSpPr>
          <p:spPr bwMode="auto">
            <a:xfrm>
              <a:off x="2887" y="1189"/>
              <a:ext cx="1901" cy="1990"/>
            </a:xfrm>
            <a:prstGeom prst="line">
              <a:avLst/>
            </a:prstGeom>
            <a:noFill/>
            <a:ln w="44450">
              <a:solidFill>
                <a:srgbClr val="0000FF"/>
              </a:solidFill>
              <a:round/>
              <a:headEnd/>
              <a:tailEnd/>
            </a:ln>
          </p:spPr>
          <p:txBody>
            <a:bodyPr/>
            <a:lstStyle/>
            <a:p>
              <a:endParaRPr lang="en-US">
                <a:latin typeface="Arial"/>
                <a:cs typeface="Arial"/>
              </a:endParaRPr>
            </a:p>
          </p:txBody>
        </p:sp>
        <p:sp>
          <p:nvSpPr>
            <p:cNvPr id="25619" name="Rectangle 12"/>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4"/>
          <p:cNvGrpSpPr>
            <a:grpSpLocks/>
          </p:cNvGrpSpPr>
          <p:nvPr/>
        </p:nvGrpSpPr>
        <p:grpSpPr bwMode="auto">
          <a:xfrm>
            <a:off x="6038850" y="3654425"/>
            <a:ext cx="522288" cy="2498725"/>
            <a:chOff x="3804" y="2302"/>
            <a:chExt cx="329" cy="1574"/>
          </a:xfrm>
        </p:grpSpPr>
        <p:sp>
          <p:nvSpPr>
            <p:cNvPr id="25616" name="Line 15"/>
            <p:cNvSpPr>
              <a:spLocks noChangeShapeType="1"/>
            </p:cNvSpPr>
            <p:nvPr/>
          </p:nvSpPr>
          <p:spPr bwMode="auto">
            <a:xfrm rot="5400000">
              <a:off x="3299" y="2965"/>
              <a:ext cx="1326" cy="0"/>
            </a:xfrm>
            <a:prstGeom prst="line">
              <a:avLst/>
            </a:prstGeom>
            <a:noFill/>
            <a:ln w="12700">
              <a:solidFill>
                <a:srgbClr val="4E519E"/>
              </a:solidFill>
              <a:round/>
              <a:headEnd/>
              <a:tailEnd/>
            </a:ln>
          </p:spPr>
          <p:txBody>
            <a:bodyPr/>
            <a:lstStyle/>
            <a:p>
              <a:endParaRPr lang="en-US">
                <a:latin typeface="Arial"/>
                <a:cs typeface="Arial"/>
              </a:endParaRPr>
            </a:p>
          </p:txBody>
        </p:sp>
        <p:sp>
          <p:nvSpPr>
            <p:cNvPr id="25617" name="Rectangle 16"/>
            <p:cNvSpPr>
              <a:spLocks noChangeArrowheads="1"/>
            </p:cNvSpPr>
            <p:nvPr/>
          </p:nvSpPr>
          <p:spPr bwMode="auto">
            <a:xfrm>
              <a:off x="3804" y="3628"/>
              <a:ext cx="329" cy="248"/>
            </a:xfrm>
            <a:prstGeom prst="rect">
              <a:avLst/>
            </a:prstGeom>
            <a:noFill/>
            <a:ln w="12700">
              <a:solidFill>
                <a:srgbClr val="4E519E"/>
              </a:solidFill>
              <a:miter lim="800000"/>
              <a:headEnd/>
              <a:tailEnd/>
            </a:ln>
          </p:spPr>
          <p:txBody>
            <a:bodyPr wrap="none" anchor="ctr"/>
            <a:lstStyle/>
            <a:p>
              <a:endParaRPr lang="en-US">
                <a:latin typeface="Arial"/>
                <a:cs typeface="Arial"/>
              </a:endParaRPr>
            </a:p>
          </p:txBody>
        </p:sp>
      </p:grpSp>
      <p:sp>
        <p:nvSpPr>
          <p:cNvPr id="202774" name="Line 22"/>
          <p:cNvSpPr>
            <a:spLocks noChangeShapeType="1"/>
          </p:cNvSpPr>
          <p:nvPr/>
        </p:nvSpPr>
        <p:spPr bwMode="auto">
          <a:xfrm flipH="1" flipV="1">
            <a:off x="5715000" y="3065463"/>
            <a:ext cx="22225" cy="2384425"/>
          </a:xfrm>
          <a:prstGeom prst="line">
            <a:avLst/>
          </a:prstGeom>
          <a:noFill/>
          <a:ln w="38100">
            <a:solidFill>
              <a:srgbClr val="00B050"/>
            </a:solidFill>
            <a:round/>
            <a:headEnd/>
            <a:tailEnd type="triangle" w="lg" len="med"/>
          </a:ln>
        </p:spPr>
        <p:txBody>
          <a:bodyPr/>
          <a:lstStyle/>
          <a:p>
            <a:endParaRPr lang="en-US">
              <a:latin typeface="Arial"/>
              <a:cs typeface="Arial"/>
            </a:endParaRPr>
          </a:p>
        </p:txBody>
      </p:sp>
      <p:sp>
        <p:nvSpPr>
          <p:cNvPr id="202777" name="Line 25"/>
          <p:cNvSpPr>
            <a:spLocks noChangeShapeType="1"/>
          </p:cNvSpPr>
          <p:nvPr/>
        </p:nvSpPr>
        <p:spPr bwMode="auto">
          <a:xfrm rot="10800000" flipH="1">
            <a:off x="5713412" y="5430838"/>
            <a:ext cx="576249" cy="17462"/>
          </a:xfrm>
          <a:prstGeom prst="line">
            <a:avLst/>
          </a:prstGeom>
          <a:noFill/>
          <a:ln w="57150">
            <a:solidFill>
              <a:srgbClr val="4E519E"/>
            </a:solidFill>
            <a:round/>
            <a:headEnd/>
            <a:tailEnd type="triangle" w="lg" len="med"/>
          </a:ln>
        </p:spPr>
        <p:txBody>
          <a:bodyPr/>
          <a:lstStyle/>
          <a:p>
            <a:endParaRPr lang="en-US">
              <a:latin typeface="Arial"/>
              <a:cs typeface="Arial"/>
            </a:endParaRPr>
          </a:p>
        </p:txBody>
      </p:sp>
      <p:sp>
        <p:nvSpPr>
          <p:cNvPr id="202778" name="Line 26"/>
          <p:cNvSpPr>
            <a:spLocks noChangeShapeType="1"/>
          </p:cNvSpPr>
          <p:nvPr/>
        </p:nvSpPr>
        <p:spPr bwMode="auto">
          <a:xfrm>
            <a:off x="4586288" y="3071813"/>
            <a:ext cx="1128712" cy="0"/>
          </a:xfrm>
          <a:prstGeom prst="line">
            <a:avLst/>
          </a:prstGeom>
          <a:noFill/>
          <a:ln w="12700">
            <a:solidFill>
              <a:srgbClr val="00B050"/>
            </a:solidFill>
            <a:prstDash val="lgDash"/>
            <a:round/>
            <a:headEnd/>
            <a:tailEnd/>
          </a:ln>
        </p:spPr>
        <p:txBody>
          <a:bodyPr/>
          <a:lstStyle/>
          <a:p>
            <a:endParaRPr lang="en-US">
              <a:latin typeface="Arial"/>
              <a:cs typeface="Arial"/>
            </a:endParaRPr>
          </a:p>
        </p:txBody>
      </p:sp>
      <p:sp>
        <p:nvSpPr>
          <p:cNvPr id="202779" name="Line 27"/>
          <p:cNvSpPr>
            <a:spLocks noChangeShapeType="1"/>
          </p:cNvSpPr>
          <p:nvPr/>
        </p:nvSpPr>
        <p:spPr bwMode="auto">
          <a:xfrm>
            <a:off x="4587875" y="3973513"/>
            <a:ext cx="1128713" cy="0"/>
          </a:xfrm>
          <a:prstGeom prst="line">
            <a:avLst/>
          </a:prstGeom>
          <a:noFill/>
          <a:ln w="12700">
            <a:solidFill>
              <a:srgbClr val="F45006"/>
            </a:solidFill>
            <a:prstDash val="lgDash"/>
            <a:round/>
            <a:headEnd/>
            <a:tailEnd/>
          </a:ln>
        </p:spPr>
        <p:txBody>
          <a:bodyPr/>
          <a:lstStyle/>
          <a:p>
            <a:endParaRPr lang="en-US">
              <a:latin typeface="Arial"/>
              <a:cs typeface="Arial"/>
            </a:endParaRPr>
          </a:p>
        </p:txBody>
      </p:sp>
      <p:sp>
        <p:nvSpPr>
          <p:cNvPr id="202773" name="Line 21"/>
          <p:cNvSpPr>
            <a:spLocks noChangeShapeType="1"/>
          </p:cNvSpPr>
          <p:nvPr/>
        </p:nvSpPr>
        <p:spPr bwMode="auto">
          <a:xfrm flipH="1" flipV="1">
            <a:off x="5702300" y="3970338"/>
            <a:ext cx="12700" cy="1479550"/>
          </a:xfrm>
          <a:prstGeom prst="line">
            <a:avLst/>
          </a:prstGeom>
          <a:noFill/>
          <a:ln w="38100">
            <a:solidFill>
              <a:srgbClr val="F45006"/>
            </a:solidFill>
            <a:round/>
            <a:headEnd/>
            <a:tailEnd type="triangle" w="lg" len="med"/>
          </a:ln>
        </p:spPr>
        <p:txBody>
          <a:bodyPr/>
          <a:lstStyle/>
          <a:p>
            <a:endParaRPr lang="en-US">
              <a:latin typeface="Arial"/>
              <a:cs typeface="Arial"/>
            </a:endParaRPr>
          </a:p>
        </p:txBody>
      </p:sp>
      <p:sp>
        <p:nvSpPr>
          <p:cNvPr id="6" name="Footer Placeholder 5">
            <a:extLst>
              <a:ext uri="{FF2B5EF4-FFF2-40B4-BE49-F238E27FC236}">
                <a16:creationId xmlns:a16="http://schemas.microsoft.com/office/drawing/2014/main" id="{F5B842A6-FF07-C04E-718D-2F1E34361CF9}"/>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27536818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2772">
                                            <p:txEl>
                                              <p:pRg st="0" end="0"/>
                                            </p:txEl>
                                          </p:spTgt>
                                        </p:tgtEl>
                                        <p:attrNameLst>
                                          <p:attrName>style.visibility</p:attrName>
                                        </p:attrNameLst>
                                      </p:cBhvr>
                                      <p:to>
                                        <p:strVal val="visible"/>
                                      </p:to>
                                    </p:set>
                                    <p:animEffect transition="in" filter="wipe(left)">
                                      <p:cBhvr>
                                        <p:cTn id="7" dur="500"/>
                                        <p:tgtEl>
                                          <p:spTgt spid="202772">
                                            <p:txEl>
                                              <p:pRg st="0" end="0"/>
                                            </p:tx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02773"/>
                                        </p:tgtEl>
                                        <p:attrNameLst>
                                          <p:attrName>style.visibility</p:attrName>
                                        </p:attrNameLst>
                                      </p:cBhvr>
                                      <p:to>
                                        <p:strVal val="visible"/>
                                      </p:to>
                                    </p:set>
                                    <p:animEffect transition="in" filter="wipe(down)">
                                      <p:cBhvr>
                                        <p:cTn id="11" dur="500"/>
                                        <p:tgtEl>
                                          <p:spTgt spid="202773"/>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202779"/>
                                        </p:tgtEl>
                                        <p:attrNameLst>
                                          <p:attrName>style.visibility</p:attrName>
                                        </p:attrNameLst>
                                      </p:cBhvr>
                                      <p:to>
                                        <p:strVal val="visible"/>
                                      </p:to>
                                    </p:set>
                                    <p:animEffect transition="in" filter="wipe(right)">
                                      <p:cBhvr>
                                        <p:cTn id="15" dur="500"/>
                                        <p:tgtEl>
                                          <p:spTgt spid="202779"/>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202774"/>
                                        </p:tgtEl>
                                        <p:attrNameLst>
                                          <p:attrName>style.visibility</p:attrName>
                                        </p:attrNameLst>
                                      </p:cBhvr>
                                      <p:to>
                                        <p:strVal val="visible"/>
                                      </p:to>
                                    </p:set>
                                    <p:animEffect transition="in" filter="wipe(down)">
                                      <p:cBhvr>
                                        <p:cTn id="19" dur="500"/>
                                        <p:tgtEl>
                                          <p:spTgt spid="202774"/>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202778"/>
                                        </p:tgtEl>
                                        <p:attrNameLst>
                                          <p:attrName>style.visibility</p:attrName>
                                        </p:attrNameLst>
                                      </p:cBhvr>
                                      <p:to>
                                        <p:strVal val="visible"/>
                                      </p:to>
                                    </p:set>
                                    <p:animEffect transition="in" filter="wipe(right)">
                                      <p:cBhvr>
                                        <p:cTn id="23" dur="500"/>
                                        <p:tgtEl>
                                          <p:spTgt spid="20277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2772">
                                            <p:txEl>
                                              <p:pRg st="1" end="1"/>
                                            </p:txEl>
                                          </p:spTgt>
                                        </p:tgtEl>
                                        <p:attrNameLst>
                                          <p:attrName>style.visibility</p:attrName>
                                        </p:attrNameLst>
                                      </p:cBhvr>
                                      <p:to>
                                        <p:strVal val="visible"/>
                                      </p:to>
                                    </p:set>
                                    <p:animEffect transition="in" filter="wipe(left)">
                                      <p:cBhvr>
                                        <p:cTn id="28" dur="500"/>
                                        <p:tgtEl>
                                          <p:spTgt spid="202772">
                                            <p:txEl>
                                              <p:pRg st="1" end="1"/>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02777"/>
                                        </p:tgtEl>
                                        <p:attrNameLst>
                                          <p:attrName>style.visibility</p:attrName>
                                        </p:attrNameLst>
                                      </p:cBhvr>
                                      <p:to>
                                        <p:strVal val="visible"/>
                                      </p:to>
                                    </p:set>
                                    <p:animEffect transition="in" filter="wipe(left)">
                                      <p:cBhvr>
                                        <p:cTn id="32" dur="500"/>
                                        <p:tgtEl>
                                          <p:spTgt spid="202777"/>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02772">
                                            <p:txEl>
                                              <p:pRg st="2" end="2"/>
                                            </p:txEl>
                                          </p:spTgt>
                                        </p:tgtEl>
                                        <p:attrNameLst>
                                          <p:attrName>style.visibility</p:attrName>
                                        </p:attrNameLst>
                                      </p:cBhvr>
                                      <p:to>
                                        <p:strVal val="visible"/>
                                      </p:to>
                                    </p:set>
                                    <p:animEffect transition="in" filter="wipe(left)">
                                      <p:cBhvr>
                                        <p:cTn id="36" dur="500"/>
                                        <p:tgtEl>
                                          <p:spTgt spid="2027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2" grpId="0" uiExpand="1" build="p" bldLvl="5"/>
      <p:bldP spid="202774" grpId="0" uiExpand="1" animBg="1"/>
      <p:bldP spid="202777" grpId="0" uiExpand="1" animBg="1"/>
      <p:bldP spid="202778" grpId="0" uiExpand="1" animBg="1"/>
      <p:bldP spid="202779" grpId="0" uiExpand="1" animBg="1"/>
      <p:bldP spid="202773" grpId="0" uiExpan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Adam Smith and the Invisible Hand</a:t>
            </a:r>
            <a:br>
              <a:rPr lang="en-US" sz="2800" dirty="0"/>
            </a:br>
            <a:r>
              <a:rPr lang="en-US" sz="2800" dirty="0"/>
              <a:t>Passage from The Wealth of Nations, 1776</a:t>
            </a:r>
          </a:p>
        </p:txBody>
      </p:sp>
      <p:sp>
        <p:nvSpPr>
          <p:cNvPr id="3" name="Content Placeholder 2"/>
          <p:cNvSpPr>
            <a:spLocks noGrp="1"/>
          </p:cNvSpPr>
          <p:nvPr>
            <p:ph idx="1"/>
          </p:nvPr>
        </p:nvSpPr>
        <p:spPr/>
        <p:txBody>
          <a:bodyPr/>
          <a:lstStyle/>
          <a:p>
            <a:pPr marL="0" indent="0">
              <a:buNone/>
            </a:pPr>
            <a:r>
              <a:rPr lang="en-US" sz="2600" dirty="0">
                <a:solidFill>
                  <a:schemeClr val="tx1"/>
                </a:solidFill>
              </a:rPr>
              <a:t>“It is not from the benevolence of the butcher, the brewer, or the baker that we expect our dinner, but from their regard to their own interest. Every individual… neither intends to promote the public interest, nor knows how much he is promoting it…. He intends only his own gain, and he is in this, as in many other cases, led by </a:t>
            </a:r>
            <a:r>
              <a:rPr lang="en-US" sz="2600" dirty="0"/>
              <a:t>an invisible hand </a:t>
            </a:r>
            <a:r>
              <a:rPr lang="en-US" sz="2600" dirty="0">
                <a:solidFill>
                  <a:schemeClr val="tx1"/>
                </a:solidFill>
              </a:rPr>
              <a:t>to promote an end which was no part of his intention…. By pursuing his own interest, he frequently promotes that of the society more effectually than when he really intends to promote it.”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41</a:t>
            </a:fld>
            <a:endParaRPr lang="en-US"/>
          </a:p>
        </p:txBody>
      </p:sp>
      <p:sp>
        <p:nvSpPr>
          <p:cNvPr id="6" name="Text Placeholder 5"/>
          <p:cNvSpPr>
            <a:spLocks noGrp="1"/>
          </p:cNvSpPr>
          <p:nvPr>
            <p:ph type="body" sz="quarter" idx="12"/>
          </p:nvPr>
        </p:nvSpPr>
        <p:spPr/>
        <p:txBody>
          <a:bodyPr/>
          <a:lstStyle/>
          <a:p>
            <a:r>
              <a:rPr lang="en-US" dirty="0"/>
              <a:t>Adam Smith, </a:t>
            </a:r>
            <a:br>
              <a:rPr lang="en-US" dirty="0"/>
            </a:br>
            <a:r>
              <a:rPr lang="en-US" dirty="0"/>
              <a:t>1723-1790</a:t>
            </a:r>
          </a:p>
        </p:txBody>
      </p:sp>
      <p:sp>
        <p:nvSpPr>
          <p:cNvPr id="5" name="Footer Placeholder 4">
            <a:extLst>
              <a:ext uri="{FF2B5EF4-FFF2-40B4-BE49-F238E27FC236}">
                <a16:creationId xmlns:a16="http://schemas.microsoft.com/office/drawing/2014/main" id="{E790C58D-BEBA-C810-DF56-6E4E56174FE1}"/>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7" name="Picture 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194081" y="1219200"/>
            <a:ext cx="1909711" cy="2514600"/>
          </a:xfrm>
          <a:prstGeom prst="rect">
            <a:avLst/>
          </a:prstGeom>
          <a:noFill/>
          <a:ln w="9525">
            <a:solidFill>
              <a:srgbClr val="000000"/>
            </a:solidFill>
            <a:miter lim="800000"/>
            <a:headEnd/>
            <a:tailEnd/>
          </a:ln>
        </p:spPr>
      </p:pic>
      <p:sp>
        <p:nvSpPr>
          <p:cNvPr id="8" name="Rectangle 7"/>
          <p:cNvSpPr/>
          <p:nvPr/>
        </p:nvSpPr>
        <p:spPr>
          <a:xfrm>
            <a:off x="7383582" y="3733800"/>
            <a:ext cx="1760418" cy="215444"/>
          </a:xfrm>
          <a:prstGeom prst="rect">
            <a:avLst/>
          </a:prstGeom>
        </p:spPr>
        <p:txBody>
          <a:bodyPr wrap="none">
            <a:spAutoFit/>
          </a:bodyPr>
          <a:lstStyle/>
          <a:p>
            <a:r>
              <a:rPr lang="en-US" sz="800" dirty="0">
                <a:solidFill>
                  <a:schemeClr val="bg1">
                    <a:lumMod val="50000"/>
                  </a:schemeClr>
                </a:solidFill>
              </a:rPr>
              <a:t>©Georgios Kollidas/Shutterstock.com</a:t>
            </a:r>
          </a:p>
        </p:txBody>
      </p:sp>
    </p:spTree>
    <p:extLst>
      <p:ext uri="{BB962C8B-B14F-4D97-AF65-F5344CB8AC3E}">
        <p14:creationId xmlns:p14="http://schemas.microsoft.com/office/powerpoint/2010/main" val="170646924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wrap="square" anchor="ctr"/>
          <a:lstStyle/>
          <a:p>
            <a:r>
              <a:rPr lang="en-US" altLang="en-US" sz="3800" dirty="0"/>
              <a:t>Market Efficiency &amp; Market Failure – 1 </a:t>
            </a:r>
          </a:p>
        </p:txBody>
      </p:sp>
      <p:sp>
        <p:nvSpPr>
          <p:cNvPr id="3" name="Content Placeholder 2"/>
          <p:cNvSpPr>
            <a:spLocks noGrp="1"/>
          </p:cNvSpPr>
          <p:nvPr>
            <p:ph idx="1"/>
          </p:nvPr>
        </p:nvSpPr>
        <p:spPr>
          <a:prstGeom prst="rect">
            <a:avLst/>
          </a:prstGeom>
        </p:spPr>
        <p:txBody>
          <a:bodyPr/>
          <a:lstStyle/>
          <a:p>
            <a:pPr>
              <a:defRPr/>
            </a:pPr>
            <a:r>
              <a:rPr lang="en-US" dirty="0"/>
              <a:t>Forces of supply and demand</a:t>
            </a:r>
          </a:p>
          <a:p>
            <a:pPr lvl="1">
              <a:buFont typeface="Arial" pitchFamily="34" charset="0"/>
              <a:buChar char="–"/>
              <a:defRPr/>
            </a:pPr>
            <a:r>
              <a:rPr lang="en-US" dirty="0"/>
              <a:t>Allocate resources efficiently </a:t>
            </a:r>
          </a:p>
          <a:p>
            <a:pPr>
              <a:defRPr/>
            </a:pPr>
            <a:r>
              <a:rPr lang="en-US" dirty="0"/>
              <a:t>Assumptions about how markets work</a:t>
            </a:r>
          </a:p>
          <a:p>
            <a:pPr marL="1028700" lvl="1" indent="-514350">
              <a:buFontTx/>
              <a:buAutoNum type="arabicPeriod"/>
              <a:defRPr/>
            </a:pPr>
            <a:r>
              <a:rPr lang="en-US" dirty="0"/>
              <a:t>Markets are perfectly competitive</a:t>
            </a:r>
          </a:p>
          <a:p>
            <a:pPr marL="1028700" lvl="1" indent="-514350">
              <a:buFontTx/>
              <a:buAutoNum type="arabicPeriod"/>
              <a:defRPr/>
            </a:pPr>
            <a:r>
              <a:rPr lang="en-US" dirty="0"/>
              <a:t>Market outcome matters only to the buyers and sellers in that market</a:t>
            </a:r>
          </a:p>
          <a:p>
            <a:pPr marL="628650" indent="-514350">
              <a:defRPr/>
            </a:pPr>
            <a:r>
              <a:rPr lang="en-US" dirty="0"/>
              <a:t>When these assumptions do not hold</a:t>
            </a:r>
          </a:p>
          <a:p>
            <a:pPr marL="1028700" lvl="1" indent="-514350">
              <a:defRPr/>
            </a:pPr>
            <a:r>
              <a:rPr lang="en-US" dirty="0"/>
              <a:t>“Market equilibrium is efficient” may no longer be true</a:t>
            </a:r>
          </a:p>
        </p:txBody>
      </p:sp>
      <p:sp>
        <p:nvSpPr>
          <p:cNvPr id="45061"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59003838-33D7-4D54-BDE6-3A76CC839FBD}" type="slidenum">
              <a:rPr lang="en-US" altLang="en-US" sz="1200" smtClean="0">
                <a:solidFill>
                  <a:srgbClr val="002060"/>
                </a:solidFill>
              </a:rPr>
              <a:pPr algn="ctr" eaLnBrk="1" hangingPunct="1"/>
              <a:t>42</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C9077986-B94E-0942-E640-014EE1DE5999}"/>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26543918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wrap="square" anchor="ctr"/>
          <a:lstStyle/>
          <a:p>
            <a:r>
              <a:rPr lang="en-US" altLang="en-US" sz="3800" dirty="0"/>
              <a:t>Market Efficiency &amp; Market Failure – 2 </a:t>
            </a:r>
          </a:p>
        </p:txBody>
      </p:sp>
      <p:sp>
        <p:nvSpPr>
          <p:cNvPr id="45059" name="Content Placeholder 2"/>
          <p:cNvSpPr>
            <a:spLocks noGrp="1"/>
          </p:cNvSpPr>
          <p:nvPr>
            <p:ph idx="1"/>
          </p:nvPr>
        </p:nvSpPr>
        <p:spPr>
          <a:prstGeom prst="rect">
            <a:avLst/>
          </a:prstGeom>
        </p:spPr>
        <p:txBody>
          <a:bodyPr/>
          <a:lstStyle/>
          <a:p>
            <a:pPr>
              <a:defRPr/>
            </a:pPr>
            <a:r>
              <a:rPr lang="en-US" sz="3200" dirty="0"/>
              <a:t>Market failures: </a:t>
            </a:r>
            <a:r>
              <a:rPr lang="en-US" sz="3200" dirty="0">
                <a:solidFill>
                  <a:schemeClr val="tx1"/>
                </a:solidFill>
              </a:rPr>
              <a:t>the inability of some unregulated markets to allocate resources efficiently</a:t>
            </a:r>
          </a:p>
          <a:p>
            <a:pPr lvl="1">
              <a:buFont typeface="Arial" pitchFamily="34" charset="0"/>
              <a:buChar char="–"/>
              <a:defRPr/>
            </a:pPr>
            <a:r>
              <a:rPr lang="en-US" sz="2800" i="1" dirty="0">
                <a:solidFill>
                  <a:srgbClr val="AE1221"/>
                </a:solidFill>
              </a:rPr>
              <a:t>Market power: </a:t>
            </a:r>
            <a:r>
              <a:rPr lang="en-US" sz="2800" dirty="0"/>
              <a:t>a single buyer or seller (small group) control market prices</a:t>
            </a:r>
          </a:p>
          <a:p>
            <a:pPr lvl="1">
              <a:defRPr/>
            </a:pPr>
            <a:r>
              <a:rPr lang="en-US" sz="2800" i="1" dirty="0">
                <a:solidFill>
                  <a:srgbClr val="AE1221"/>
                </a:solidFill>
              </a:rPr>
              <a:t>Externalities:</a:t>
            </a:r>
            <a:r>
              <a:rPr lang="en-US" sz="2800" dirty="0">
                <a:solidFill>
                  <a:srgbClr val="AE1221"/>
                </a:solidFill>
              </a:rPr>
              <a:t> </a:t>
            </a:r>
            <a:r>
              <a:rPr lang="en-US" sz="2800" dirty="0"/>
              <a:t>decisions of buyers and sellers affect people who are not participants in the market at all</a:t>
            </a:r>
          </a:p>
          <a:p>
            <a:pPr lvl="2">
              <a:defRPr/>
            </a:pPr>
            <a:r>
              <a:rPr lang="en-US" dirty="0"/>
              <a:t>Inefficient equilibrium - from the standpoint of society as a whole</a:t>
            </a:r>
          </a:p>
        </p:txBody>
      </p:sp>
      <p:sp>
        <p:nvSpPr>
          <p:cNvPr id="4608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337ECA69-D900-4C71-8186-2598BA8E0056}" type="slidenum">
              <a:rPr lang="en-US" altLang="en-US" sz="1200" smtClean="0">
                <a:solidFill>
                  <a:srgbClr val="002060"/>
                </a:solidFill>
              </a:rPr>
              <a:pPr algn="ctr" eaLnBrk="1" hangingPunct="1"/>
              <a:t>43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D1AE6780-B1AC-A62F-8E72-4614A85FFAAD}"/>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09042729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039154-4595-8A3B-CC36-C90BB905AF19}"/>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44</a:t>
            </a:fld>
            <a:endParaRPr lang="en-US" dirty="0"/>
          </a:p>
        </p:txBody>
      </p:sp>
      <p:sp>
        <p:nvSpPr>
          <p:cNvPr id="5" name="Text Placeholder 4">
            <a:extLst>
              <a:ext uri="{FF2B5EF4-FFF2-40B4-BE49-F238E27FC236}">
                <a16:creationId xmlns:a16="http://schemas.microsoft.com/office/drawing/2014/main" id="{B69A8753-E16F-E36D-5F8C-DA09F5061BD6}"/>
              </a:ext>
            </a:extLst>
          </p:cNvPr>
          <p:cNvSpPr>
            <a:spLocks noGrp="1"/>
          </p:cNvSpPr>
          <p:nvPr>
            <p:ph type="body" sz="quarter" idx="12"/>
          </p:nvPr>
        </p:nvSpPr>
        <p:spPr/>
        <p:txBody>
          <a:bodyPr/>
          <a:lstStyle/>
          <a:p>
            <a:r>
              <a:rPr lang="en-US" dirty="0"/>
              <a:t>Supplying Kidneys</a:t>
            </a:r>
          </a:p>
        </p:txBody>
      </p:sp>
      <p:sp>
        <p:nvSpPr>
          <p:cNvPr id="4" name="Text Placeholder 3">
            <a:extLst>
              <a:ext uri="{FF2B5EF4-FFF2-40B4-BE49-F238E27FC236}">
                <a16:creationId xmlns:a16="http://schemas.microsoft.com/office/drawing/2014/main" id="{BCB4C6C9-66D9-814F-2880-750072EE1D65}"/>
              </a:ext>
            </a:extLst>
          </p:cNvPr>
          <p:cNvSpPr>
            <a:spLocks noGrp="1"/>
          </p:cNvSpPr>
          <p:nvPr>
            <p:ph type="body" sz="quarter" idx="14"/>
          </p:nvPr>
        </p:nvSpPr>
        <p:spPr>
          <a:xfrm>
            <a:off x="228600" y="1600200"/>
            <a:ext cx="8686800" cy="4724400"/>
          </a:xfrm>
        </p:spPr>
        <p:txBody>
          <a:bodyPr/>
          <a:lstStyle/>
          <a:p>
            <a:r>
              <a:rPr lang="en-US" dirty="0"/>
              <a:t>“A market that allows payment for human kidneys should be established on a trial basis to help extend the lives of patients with kidney disease.”</a:t>
            </a:r>
          </a:p>
        </p:txBody>
      </p:sp>
      <p:grpSp>
        <p:nvGrpSpPr>
          <p:cNvPr id="9" name="Group 8" descr="The data from the chart in percent are as follows. Agree: 57 percent. Disagree: 16 percent. Uncertain: 27 percent.">
            <a:extLst>
              <a:ext uri="{FF2B5EF4-FFF2-40B4-BE49-F238E27FC236}">
                <a16:creationId xmlns:a16="http://schemas.microsoft.com/office/drawing/2014/main" id="{F7ECBB70-000D-64A8-A516-13A874BDD0B1}"/>
              </a:ext>
            </a:extLst>
          </p:cNvPr>
          <p:cNvGrpSpPr/>
          <p:nvPr/>
        </p:nvGrpSpPr>
        <p:grpSpPr>
          <a:xfrm>
            <a:off x="381000" y="3124200"/>
            <a:ext cx="8383555" cy="3142067"/>
            <a:chOff x="381000" y="3124200"/>
            <a:chExt cx="8383555" cy="3142067"/>
          </a:xfrm>
        </p:grpSpPr>
        <p:pic>
          <p:nvPicPr>
            <p:cNvPr id="6" name="Picture 5">
              <a:extLst>
                <a:ext uri="{FF2B5EF4-FFF2-40B4-BE49-F238E27FC236}">
                  <a16:creationId xmlns:a16="http://schemas.microsoft.com/office/drawing/2014/main" id="{21271D5A-60D9-7CFF-85D5-2B471E323CF5}"/>
                </a:ext>
              </a:extLst>
            </p:cNvPr>
            <p:cNvPicPr>
              <a:picLocks noChangeAspect="1"/>
            </p:cNvPicPr>
            <p:nvPr/>
          </p:nvPicPr>
          <p:blipFill>
            <a:blip r:embed="rId3"/>
            <a:stretch>
              <a:fillRect/>
            </a:stretch>
          </p:blipFill>
          <p:spPr>
            <a:xfrm>
              <a:off x="381000" y="3124200"/>
              <a:ext cx="7062952" cy="3083735"/>
            </a:xfrm>
            <a:prstGeom prst="rect">
              <a:avLst/>
            </a:prstGeom>
          </p:spPr>
        </p:pic>
        <p:pic>
          <p:nvPicPr>
            <p:cNvPr id="8" name="Picture 7">
              <a:extLst>
                <a:ext uri="{FF2B5EF4-FFF2-40B4-BE49-F238E27FC236}">
                  <a16:creationId xmlns:a16="http://schemas.microsoft.com/office/drawing/2014/main" id="{684D453E-2372-3AB5-D1C6-01AC8D1E7CAD}"/>
                </a:ext>
              </a:extLst>
            </p:cNvPr>
            <p:cNvPicPr>
              <a:picLocks noChangeAspect="1"/>
            </p:cNvPicPr>
            <p:nvPr/>
          </p:nvPicPr>
          <p:blipFill>
            <a:blip r:embed="rId4"/>
            <a:stretch>
              <a:fillRect/>
            </a:stretch>
          </p:blipFill>
          <p:spPr>
            <a:xfrm>
              <a:off x="4640424" y="5863520"/>
              <a:ext cx="4124131" cy="402747"/>
            </a:xfrm>
            <a:prstGeom prst="rect">
              <a:avLst/>
            </a:prstGeom>
          </p:spPr>
        </p:pic>
      </p:grpSp>
      <p:sp>
        <p:nvSpPr>
          <p:cNvPr id="3" name="TextBox 2">
            <a:extLst>
              <a:ext uri="{FF2B5EF4-FFF2-40B4-BE49-F238E27FC236}">
                <a16:creationId xmlns:a16="http://schemas.microsoft.com/office/drawing/2014/main" id="{1032243C-EC3F-A093-59A6-416F13434965}"/>
              </a:ext>
            </a:extLst>
          </p:cNvPr>
          <p:cNvSpPr txBox="1"/>
          <p:nvPr/>
        </p:nvSpPr>
        <p:spPr>
          <a:xfrm>
            <a:off x="0" y="6488668"/>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54338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228600" y="688622"/>
            <a:ext cx="8763000" cy="5788378"/>
          </a:xfrm>
        </p:spPr>
        <p:txBody>
          <a:bodyPr/>
          <a:lstStyle/>
          <a:p>
            <a:pPr marL="0" indent="0">
              <a:buNone/>
            </a:pPr>
            <a:r>
              <a:rPr lang="en-US" sz="3000" dirty="0"/>
              <a:t>	Some years ago, the front page of The Boston Globe ran the headline “How a Mother’s Love Helped Save Two Lives.” The mom couldn’t donate a kidney to her son (not compatible). Hospital’s solution: the mom donates one of her kidneys to a stranger, her son moves to the top of the kidney waiting list.  </a:t>
            </a:r>
          </a:p>
          <a:p>
            <a:pPr marL="514350" indent="-514350">
              <a:buFont typeface="+mj-lt"/>
              <a:buAutoNum type="alphaUcPeriod"/>
            </a:pPr>
            <a:r>
              <a:rPr lang="en-US" sz="2800" dirty="0">
                <a:solidFill>
                  <a:schemeClr val="tx1"/>
                </a:solidFill>
              </a:rPr>
              <a:t>What do you know about the market for kidneys? </a:t>
            </a:r>
          </a:p>
          <a:p>
            <a:pPr marL="514350" indent="-514350">
              <a:buFont typeface="+mj-lt"/>
              <a:buAutoNum type="alphaUcPeriod"/>
            </a:pPr>
            <a:r>
              <a:rPr lang="en-US" sz="2800" dirty="0">
                <a:solidFill>
                  <a:schemeClr val="tx1"/>
                </a:solidFill>
              </a:rPr>
              <a:t>Is the current situation efficient? Is it fair?</a:t>
            </a:r>
          </a:p>
          <a:p>
            <a:pPr marL="514350" indent="-514350">
              <a:buFont typeface="+mj-lt"/>
              <a:buAutoNum type="alphaUcPeriod"/>
            </a:pPr>
            <a:r>
              <a:rPr lang="en-US" sz="2800" dirty="0">
                <a:solidFill>
                  <a:schemeClr val="tx1"/>
                </a:solidFill>
              </a:rPr>
              <a:t>What would happen with the efficiency of the market if people were allowed to sell/buy kidneys?</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45</a:t>
            </a:fld>
            <a:endParaRPr lang="en-US" dirty="0"/>
          </a:p>
        </p:txBody>
      </p:sp>
      <p:sp>
        <p:nvSpPr>
          <p:cNvPr id="3" name="TextBox 2">
            <a:extLst>
              <a:ext uri="{FF2B5EF4-FFF2-40B4-BE49-F238E27FC236}">
                <a16:creationId xmlns:a16="http://schemas.microsoft.com/office/drawing/2014/main" id="{C6272069-733E-E836-BFA3-40351D8386FB}"/>
              </a:ext>
            </a:extLst>
          </p:cNvPr>
          <p:cNvSpPr txBox="1"/>
          <p:nvPr/>
        </p:nvSpPr>
        <p:spPr>
          <a:xfrm>
            <a:off x="0" y="6488668"/>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092219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Consumer surplus: </a:t>
            </a:r>
            <a:r>
              <a:rPr lang="en-US" sz="2800" dirty="0"/>
              <a:t>buyers’ willingness to pay for a good minus the amount they actually pay</a:t>
            </a:r>
          </a:p>
          <a:p>
            <a:pPr lvl="1"/>
            <a:r>
              <a:rPr lang="en-US" sz="2800" dirty="0"/>
              <a:t>Measures the benefit buyers get from participating in a market</a:t>
            </a:r>
          </a:p>
          <a:p>
            <a:pPr lvl="1"/>
            <a:r>
              <a:rPr lang="en-US" sz="2800" dirty="0"/>
              <a:t>Area below the </a:t>
            </a:r>
            <a:r>
              <a:rPr lang="en-US" sz="2800" b="1" i="1" dirty="0"/>
              <a:t>D</a:t>
            </a:r>
            <a:r>
              <a:rPr lang="en-US" sz="2800" dirty="0"/>
              <a:t> curve and above </a:t>
            </a:r>
            <a:r>
              <a:rPr lang="en-US" sz="2800" b="1" i="1" dirty="0"/>
              <a:t>P</a:t>
            </a:r>
          </a:p>
          <a:p>
            <a:r>
              <a:rPr lang="en-US" sz="2800" dirty="0">
                <a:solidFill>
                  <a:srgbClr val="AE1221"/>
                </a:solidFill>
              </a:rPr>
              <a:t>Producer surplus: </a:t>
            </a:r>
            <a:r>
              <a:rPr lang="en-US" sz="2800" dirty="0"/>
              <a:t>amount sellers receive for their goods minus their costs of production</a:t>
            </a:r>
          </a:p>
          <a:p>
            <a:pPr lvl="1"/>
            <a:r>
              <a:rPr lang="en-US" sz="2800" dirty="0"/>
              <a:t>Measures the benefit sellers get from participating in a market</a:t>
            </a:r>
          </a:p>
          <a:p>
            <a:pPr lvl="1"/>
            <a:r>
              <a:rPr lang="en-US" sz="2800" dirty="0"/>
              <a:t>Area below </a:t>
            </a:r>
            <a:r>
              <a:rPr lang="en-US" sz="2800" b="1" i="1" dirty="0"/>
              <a:t>P</a:t>
            </a:r>
            <a:r>
              <a:rPr lang="en-US" sz="2800" dirty="0"/>
              <a:t> and above the </a:t>
            </a:r>
            <a:r>
              <a:rPr lang="en-US" sz="2800" b="1" i="1" dirty="0"/>
              <a:t>S</a:t>
            </a:r>
            <a:r>
              <a:rPr lang="en-US" sz="2800" dirty="0"/>
              <a:t> curve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46</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4CA261D4-C87C-5C06-6598-C93C47F9FCF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0326594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t>An allocation of resources that maximizes total surplus is said to be efficient</a:t>
            </a:r>
          </a:p>
          <a:p>
            <a:pPr lvl="1"/>
            <a:r>
              <a:rPr lang="en-US" sz="2800" dirty="0"/>
              <a:t>Policymakers are concerned with the efficiency, as well as the equality, of economic outcomes.</a:t>
            </a:r>
          </a:p>
          <a:p>
            <a:r>
              <a:rPr lang="en-US" sz="2800" dirty="0">
                <a:solidFill>
                  <a:srgbClr val="AE1221"/>
                </a:solidFill>
              </a:rPr>
              <a:t>Equilibrium of </a:t>
            </a:r>
            <a:r>
              <a:rPr lang="en-US" sz="2800" b="1" i="1" dirty="0">
                <a:solidFill>
                  <a:srgbClr val="AE1221"/>
                </a:solidFill>
              </a:rPr>
              <a:t>S</a:t>
            </a:r>
            <a:r>
              <a:rPr lang="en-US" sz="2800" dirty="0">
                <a:solidFill>
                  <a:srgbClr val="AE1221"/>
                </a:solidFill>
              </a:rPr>
              <a:t> and </a:t>
            </a:r>
            <a:r>
              <a:rPr lang="en-US" sz="2800" b="1" i="1" dirty="0">
                <a:solidFill>
                  <a:srgbClr val="AE1221"/>
                </a:solidFill>
              </a:rPr>
              <a:t>D</a:t>
            </a:r>
            <a:r>
              <a:rPr lang="en-US" sz="2800" dirty="0">
                <a:solidFill>
                  <a:srgbClr val="AE1221"/>
                </a:solidFill>
              </a:rPr>
              <a:t> maximizes total surplus</a:t>
            </a:r>
          </a:p>
          <a:p>
            <a:pPr lvl="1"/>
            <a:r>
              <a:rPr lang="en-US" sz="2800" dirty="0"/>
              <a:t>The invisible hand of the marketplace leads buyers and sellers in competitive markets to allocate resources efficiently.</a:t>
            </a:r>
          </a:p>
          <a:p>
            <a:r>
              <a:rPr lang="en-US" sz="2800" dirty="0"/>
              <a:t>Markets do not allocate resources efficiently in the presence of market failures (market power or externalities)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47</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C15EB9B6-7D97-133D-2860-2E69371E99B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24034948"/>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39970</TotalTime>
  <Words>8284</Words>
  <Application>Microsoft Office PowerPoint</Application>
  <PresentationFormat>On-screen Show (4:3)</PresentationFormat>
  <Paragraphs>722</Paragraphs>
  <Slides>47</Slides>
  <Notes>47</Notes>
  <HiddenSlides>0</HiddenSlides>
  <MMClips>0</MMClips>
  <ScaleCrop>false</ScaleCrop>
  <HeadingPairs>
    <vt:vector size="8" baseType="variant">
      <vt:variant>
        <vt:lpstr>Fonts Used</vt:lpstr>
      </vt:variant>
      <vt:variant>
        <vt:i4>6</vt:i4>
      </vt:variant>
      <vt:variant>
        <vt:lpstr>Theme</vt:lpstr>
      </vt:variant>
      <vt:variant>
        <vt:i4>10</vt:i4>
      </vt:variant>
      <vt:variant>
        <vt:lpstr>Embedded OLE Servers</vt:lpstr>
      </vt:variant>
      <vt:variant>
        <vt:i4>1</vt:i4>
      </vt:variant>
      <vt:variant>
        <vt:lpstr>Slide Titles</vt:lpstr>
      </vt:variant>
      <vt:variant>
        <vt:i4>47</vt:i4>
      </vt:variant>
    </vt:vector>
  </HeadingPairs>
  <TitlesOfParts>
    <vt:vector size="64" baseType="lpstr">
      <vt:lpstr>Arial</vt:lpstr>
      <vt:lpstr>Calibri</vt:lpstr>
      <vt:lpstr>Cambria</vt:lpstr>
      <vt:lpstr>Georgia</vt:lpstr>
      <vt:lpstr>Sabon-Bold</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Worksheet</vt:lpstr>
      <vt:lpstr>PowerPoint Presentation</vt:lpstr>
      <vt:lpstr>IN THIS CHAPTER</vt:lpstr>
      <vt:lpstr>Welfare Economics</vt:lpstr>
      <vt:lpstr>Consumer Surplus – 1 </vt:lpstr>
      <vt:lpstr>EXAMPLE 1A: Willingness to pay (WTP)</vt:lpstr>
      <vt:lpstr>EXAMPLE 1B: WTP and the demand curve</vt:lpstr>
      <vt:lpstr>EXAMPLE 1C: The demand curve – 1 </vt:lpstr>
      <vt:lpstr>About the staircase shape…</vt:lpstr>
      <vt:lpstr>EXAMPLE 1C: The demand curve – 2 </vt:lpstr>
      <vt:lpstr>EXAMPLE 1D: Calculating consumer surplus (CS)</vt:lpstr>
      <vt:lpstr>EXAMPLE 1E: CS and the demand curve</vt:lpstr>
      <vt:lpstr>EXAMPLE 1E: A lower price increases CS</vt:lpstr>
      <vt:lpstr>Consumer Surplus – 2 </vt:lpstr>
      <vt:lpstr>EXAMPLE 2: Consumer surplus for one buyer</vt:lpstr>
      <vt:lpstr>EXAMPLE 2A: Total consumer surplus</vt:lpstr>
      <vt:lpstr>EXAMPLE 2B: A higher price reduces CS</vt:lpstr>
      <vt:lpstr>Active Learning 1: Consumer surplus</vt:lpstr>
      <vt:lpstr>Active Learning 1: Answers</vt:lpstr>
      <vt:lpstr>Producer Surplus – 1 </vt:lpstr>
      <vt:lpstr>Producer Surplus – 2 </vt:lpstr>
      <vt:lpstr>EXAMPLE 3A: Cost and willingness to sell (WTS)</vt:lpstr>
      <vt:lpstr>EXAMPLE 3B: The supply curve – 1 </vt:lpstr>
      <vt:lpstr>EXAMPLE 3B: The supply curve – 2 </vt:lpstr>
      <vt:lpstr>EXAMPLE 3C: Producer surplus &amp; the S curve</vt:lpstr>
      <vt:lpstr>Producer Surplus – 3 </vt:lpstr>
      <vt:lpstr>EXAMPLE 4A: Producer surplus for one sellers</vt:lpstr>
      <vt:lpstr>EXAMPLE 4B: Total producer surplus</vt:lpstr>
      <vt:lpstr>EXAMPLE 4C: A lower price reduces PS</vt:lpstr>
      <vt:lpstr>Active Learning 2: Producer surplus</vt:lpstr>
      <vt:lpstr>Active Learning 2: Answers</vt:lpstr>
      <vt:lpstr>Benevolent Social Planners – 1 </vt:lpstr>
      <vt:lpstr>Benevolent Social Planners – 2 </vt:lpstr>
      <vt:lpstr>Market Efficiency – 1 </vt:lpstr>
      <vt:lpstr>Market Efficiency – 2 </vt:lpstr>
      <vt:lpstr>Evaluating the Market Equilibrium</vt:lpstr>
      <vt:lpstr>EXAMPLE 5: Evaluating the market equilibrium</vt:lpstr>
      <vt:lpstr>EXAMPLE 5A: Which buyers consume the good?</vt:lpstr>
      <vt:lpstr>EXAMPLE 5B: Which sellers produce the good?</vt:lpstr>
      <vt:lpstr>EXAMPLE 5C: Does eq’m Q  maximize TS? – 1 </vt:lpstr>
      <vt:lpstr>EXAMPLE 5C: Does eq’m Q  maximize TS? – 2 </vt:lpstr>
      <vt:lpstr>Adam Smith and the Invisible Hand Passage from The Wealth of Nations, 1776</vt:lpstr>
      <vt:lpstr>Market Efficiency &amp; Market Failure – 1 </vt:lpstr>
      <vt:lpstr>Market Efficiency &amp; Market Failure – 2 </vt:lpstr>
      <vt:lpstr>PowerPoint Presentation</vt:lpstr>
      <vt:lpstr>THINK-PAIR-SHARE</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1370</cp:revision>
  <cp:lastPrinted>2019-05-14T19:06:14Z</cp:lastPrinted>
  <dcterms:created xsi:type="dcterms:W3CDTF">2016-03-16T19:41:09Z</dcterms:created>
  <dcterms:modified xsi:type="dcterms:W3CDTF">2026-01-20T15:08:26Z</dcterms:modified>
</cp:coreProperties>
</file>
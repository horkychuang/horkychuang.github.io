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theme/theme7.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51"/>
  </p:notesMasterIdLst>
  <p:handoutMasterIdLst>
    <p:handoutMasterId r:id="rId52"/>
  </p:handoutMasterIdLst>
  <p:sldIdLst>
    <p:sldId id="256" r:id="rId11"/>
    <p:sldId id="374" r:id="rId12"/>
    <p:sldId id="1499" r:id="rId13"/>
    <p:sldId id="1500" r:id="rId14"/>
    <p:sldId id="1535" r:id="rId15"/>
    <p:sldId id="1537" r:id="rId16"/>
    <p:sldId id="1538" r:id="rId17"/>
    <p:sldId id="1506" r:id="rId18"/>
    <p:sldId id="1507" r:id="rId19"/>
    <p:sldId id="1508" r:id="rId20"/>
    <p:sldId id="1509" r:id="rId21"/>
    <p:sldId id="1510" r:id="rId22"/>
    <p:sldId id="1511" r:id="rId23"/>
    <p:sldId id="1539" r:id="rId24"/>
    <p:sldId id="1512" r:id="rId25"/>
    <p:sldId id="1513" r:id="rId26"/>
    <p:sldId id="1540" r:id="rId27"/>
    <p:sldId id="1541" r:id="rId28"/>
    <p:sldId id="1542" r:id="rId29"/>
    <p:sldId id="1518" r:id="rId30"/>
    <p:sldId id="1519" r:id="rId31"/>
    <p:sldId id="1520" r:id="rId32"/>
    <p:sldId id="1521" r:id="rId33"/>
    <p:sldId id="1522" r:id="rId34"/>
    <p:sldId id="1524" r:id="rId35"/>
    <p:sldId id="1523" r:id="rId36"/>
    <p:sldId id="1543" r:id="rId37"/>
    <p:sldId id="1574" r:id="rId38"/>
    <p:sldId id="1575" r:id="rId39"/>
    <p:sldId id="1525" r:id="rId40"/>
    <p:sldId id="1532" r:id="rId41"/>
    <p:sldId id="1533" r:id="rId42"/>
    <p:sldId id="1534" r:id="rId43"/>
    <p:sldId id="1526" r:id="rId44"/>
    <p:sldId id="1528" r:id="rId45"/>
    <p:sldId id="1527" r:id="rId46"/>
    <p:sldId id="1529" r:id="rId47"/>
    <p:sldId id="1576" r:id="rId48"/>
    <p:sldId id="1400" r:id="rId49"/>
    <p:sldId id="1546" r:id="rId5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1221"/>
    <a:srgbClr val="E3F0FA"/>
    <a:srgbClr val="4E519E"/>
    <a:srgbClr val="F45006"/>
    <a:srgbClr val="CCFFCC"/>
    <a:srgbClr val="FFCCCC"/>
    <a:srgbClr val="0000FF"/>
    <a:srgbClr val="D0D1E8"/>
    <a:srgbClr val="66FF33"/>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8F0881-4CC6-49A9-97DB-68A9B5F3FE25}" v="3" dt="2026-01-15T21:41:16.6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82751" autoAdjust="0"/>
  </p:normalViewPr>
  <p:slideViewPr>
    <p:cSldViewPr>
      <p:cViewPr varScale="1">
        <p:scale>
          <a:sx n="52" d="100"/>
          <a:sy n="52" d="100"/>
        </p:scale>
        <p:origin x="1712" y="52"/>
      </p:cViewPr>
      <p:guideLst>
        <p:guide orient="horz" pos="2160"/>
        <p:guide pos="2880"/>
      </p:guideLst>
    </p:cSldViewPr>
  </p:slideViewPr>
  <p:outlineViewPr>
    <p:cViewPr>
      <p:scale>
        <a:sx n="33" d="100"/>
        <a:sy n="33" d="100"/>
      </p:scale>
      <p:origin x="0" y="-42888"/>
    </p:cViewPr>
  </p:outlineViewPr>
  <p:notesTextViewPr>
    <p:cViewPr>
      <p:scale>
        <a:sx n="125" d="100"/>
        <a:sy n="125" d="100"/>
      </p:scale>
      <p:origin x="0" y="0"/>
    </p:cViewPr>
  </p:notesTextViewPr>
  <p:sorterViewPr>
    <p:cViewPr>
      <p:scale>
        <a:sx n="130" d="100"/>
        <a:sy n="130" d="100"/>
      </p:scale>
      <p:origin x="0" y="-9470"/>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5.xml"/><Relationship Id="rId19" Type="http://schemas.openxmlformats.org/officeDocument/2006/relationships/slide" Target="slides/slide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microsoft.com/office/2016/11/relationships/changesInfo" Target="changesInfos/changesInfo1.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undo custSel modSld modMainMaster">
      <pc:chgData name="Aucoin, Shannon" userId="3f4e7fc1-6c2e-4059-b6c3-22af03bf749a" providerId="ADAL" clId="{E0921B5F-CAE8-4497-A9EF-24510461A92C}" dt="2026-01-15T21:42:37.031" v="25" actId="1076"/>
      <pc:docMkLst>
        <pc:docMk/>
      </pc:docMkLst>
      <pc:sldChg chg="modSp mod chgLayout">
        <pc:chgData name="Aucoin, Shannon" userId="3f4e7fc1-6c2e-4059-b6c3-22af03bf749a" providerId="ADAL" clId="{E0921B5F-CAE8-4497-A9EF-24510461A92C}" dt="2026-01-15T21:42:37.031" v="25" actId="1076"/>
        <pc:sldMkLst>
          <pc:docMk/>
          <pc:sldMk cId="2962300543" sldId="256"/>
        </pc:sldMkLst>
        <pc:spChg chg="mod ord">
          <ac:chgData name="Aucoin, Shannon" userId="3f4e7fc1-6c2e-4059-b6c3-22af03bf749a" providerId="ADAL" clId="{E0921B5F-CAE8-4497-A9EF-24510461A92C}" dt="2026-01-15T21:42:02.790" v="19" actId="700"/>
          <ac:spMkLst>
            <pc:docMk/>
            <pc:sldMk cId="2962300543" sldId="256"/>
            <ac:spMk id="6" creationId="{00000000-0000-0000-0000-000000000000}"/>
          </ac:spMkLst>
        </pc:spChg>
        <pc:spChg chg="mod ord">
          <ac:chgData name="Aucoin, Shannon" userId="3f4e7fc1-6c2e-4059-b6c3-22af03bf749a" providerId="ADAL" clId="{E0921B5F-CAE8-4497-A9EF-24510461A92C}" dt="2026-01-15T21:42:33.665" v="24" actId="1076"/>
          <ac:spMkLst>
            <pc:docMk/>
            <pc:sldMk cId="2962300543" sldId="256"/>
            <ac:spMk id="8" creationId="{00000000-0000-0000-0000-000000000000}"/>
          </ac:spMkLst>
        </pc:spChg>
        <pc:spChg chg="mod ord">
          <ac:chgData name="Aucoin, Shannon" userId="3f4e7fc1-6c2e-4059-b6c3-22af03bf749a" providerId="ADAL" clId="{E0921B5F-CAE8-4497-A9EF-24510461A92C}" dt="2026-01-15T21:42:37.031" v="25" actId="1076"/>
          <ac:spMkLst>
            <pc:docMk/>
            <pc:sldMk cId="2962300543" sldId="256"/>
            <ac:spMk id="9" creationId="{00000000-0000-0000-0000-000000000000}"/>
          </ac:spMkLst>
        </pc:spChg>
        <pc:spChg chg="mod ord">
          <ac:chgData name="Aucoin, Shannon" userId="3f4e7fc1-6c2e-4059-b6c3-22af03bf749a" providerId="ADAL" clId="{E0921B5F-CAE8-4497-A9EF-24510461A92C}" dt="2026-01-15T21:42:02.790" v="19" actId="700"/>
          <ac:spMkLst>
            <pc:docMk/>
            <pc:sldMk cId="2962300543" sldId="256"/>
            <ac:spMk id="12" creationId="{00000000-0000-0000-0000-000000000000}"/>
          </ac:spMkLst>
        </pc:spChg>
      </pc:sldChg>
      <pc:sldMasterChg chg="modSp mod">
        <pc:chgData name="Aucoin, Shannon" userId="3f4e7fc1-6c2e-4059-b6c3-22af03bf749a" providerId="ADAL" clId="{E0921B5F-CAE8-4497-A9EF-24510461A92C}" dt="2026-01-15T21:41:30.729" v="4" actId="20577"/>
        <pc:sldMasterMkLst>
          <pc:docMk/>
          <pc:sldMasterMk cId="1007448745" sldId="2147483670"/>
        </pc:sldMasterMkLst>
        <pc:spChg chg="mod">
          <ac:chgData name="Aucoin, Shannon" userId="3f4e7fc1-6c2e-4059-b6c3-22af03bf749a" providerId="ADAL" clId="{E0921B5F-CAE8-4497-A9EF-24510461A92C}" dt="2026-01-15T21:41:30.729" v="4" actId="20577"/>
          <ac:spMkLst>
            <pc:docMk/>
            <pc:sldMasterMk cId="1007448745" sldId="2147483670"/>
            <ac:spMk id="9" creationId="{00000000-0000-0000-0000-000000000000}"/>
          </ac:spMkLst>
        </pc:spChg>
      </pc:sldMasterChg>
      <pc:sldMasterChg chg="modSp mod">
        <pc:chgData name="Aucoin, Shannon" userId="3f4e7fc1-6c2e-4059-b6c3-22af03bf749a" providerId="ADAL" clId="{E0921B5F-CAE8-4497-A9EF-24510461A92C}" dt="2026-01-15T21:41:49.417" v="16" actId="20577"/>
        <pc:sldMasterMkLst>
          <pc:docMk/>
          <pc:sldMasterMk cId="3578277993" sldId="2147483672"/>
        </pc:sldMasterMkLst>
        <pc:spChg chg="mod">
          <ac:chgData name="Aucoin, Shannon" userId="3f4e7fc1-6c2e-4059-b6c3-22af03bf749a" providerId="ADAL" clId="{E0921B5F-CAE8-4497-A9EF-24510461A92C}" dt="2026-01-15T21:41:49.417" v="16" actId="20577"/>
          <ac:spMkLst>
            <pc:docMk/>
            <pc:sldMasterMk cId="3578277993" sldId="2147483672"/>
            <ac:spMk id="15" creationId="{00000000-0000-0000-0000-000000000000}"/>
          </ac:spMkLst>
        </pc:spChg>
      </pc:sldMasterChg>
      <pc:sldMasterChg chg="modSp mod">
        <pc:chgData name="Aucoin, Shannon" userId="3f4e7fc1-6c2e-4059-b6c3-22af03bf749a" providerId="ADAL" clId="{E0921B5F-CAE8-4497-A9EF-24510461A92C}" dt="2026-01-15T21:41:41.961" v="12" actId="20577"/>
        <pc:sldMasterMkLst>
          <pc:docMk/>
          <pc:sldMasterMk cId="540183629" sldId="2147483675"/>
        </pc:sldMasterMkLst>
        <pc:spChg chg="mod">
          <ac:chgData name="Aucoin, Shannon" userId="3f4e7fc1-6c2e-4059-b6c3-22af03bf749a" providerId="ADAL" clId="{E0921B5F-CAE8-4497-A9EF-24510461A92C}" dt="2026-01-15T21:41:41.961" v="12" actId="20577"/>
          <ac:spMkLst>
            <pc:docMk/>
            <pc:sldMasterMk cId="540183629" sldId="2147483675"/>
            <ac:spMk id="11" creationId="{00000000-0000-0000-0000-000000000000}"/>
          </ac:spMkLst>
        </pc:spChg>
      </pc:sldMasterChg>
      <pc:sldMasterChg chg="modSp mod">
        <pc:chgData name="Aucoin, Shannon" userId="3f4e7fc1-6c2e-4059-b6c3-22af03bf749a" providerId="ADAL" clId="{E0921B5F-CAE8-4497-A9EF-24510461A92C}" dt="2026-01-15T21:41:36.401" v="8" actId="20577"/>
        <pc:sldMasterMkLst>
          <pc:docMk/>
          <pc:sldMasterMk cId="3728541375" sldId="2147483684"/>
        </pc:sldMasterMkLst>
        <pc:spChg chg="mod">
          <ac:chgData name="Aucoin, Shannon" userId="3f4e7fc1-6c2e-4059-b6c3-22af03bf749a" providerId="ADAL" clId="{E0921B5F-CAE8-4497-A9EF-24510461A92C}" dt="2026-01-15T21:41:36.401" v="8" actId="20577"/>
          <ac:spMkLst>
            <pc:docMk/>
            <pc:sldMasterMk cId="3728541375" sldId="2147483684"/>
            <ac:spMk id="1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Having introduced the cost concepts in the previous chapter, we now begin to use those concepts to see how firms make production and pricing decisions in different market structures.  In this chapter, we explore firm behavior under perfect competition.  The next chapter covers the other extreme end of the competition spectrum—monopoly.  The following two chapters cover the intermediate cases—oligopoly and monopolistic competition, respectively.</a:t>
            </a:r>
          </a:p>
          <a:p>
            <a:pPr eaLnBrk="1" hangingPunct="1"/>
            <a:endParaRPr lang="en-US" sz="1200" dirty="0"/>
          </a:p>
          <a:p>
            <a:pPr eaLnBrk="1" hangingPunct="1"/>
            <a:endParaRPr lang="en-US" i="0"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 are the main sections in this chapter: </a:t>
            </a:r>
          </a:p>
          <a:p>
            <a:pPr marL="228600" indent="-228600">
              <a:buAutoNum type="arabicPeriod"/>
            </a:pPr>
            <a:r>
              <a:rPr lang="en-US" dirty="0"/>
              <a:t>What Is a Competitive Market?</a:t>
            </a:r>
          </a:p>
          <a:p>
            <a:pPr marL="228600" indent="-228600">
              <a:buAutoNum type="arabicPeriod"/>
            </a:pPr>
            <a:r>
              <a:rPr lang="en-US" dirty="0"/>
              <a:t>Profit Maximization and the Competitive Firm’s Supply Curve</a:t>
            </a:r>
          </a:p>
          <a:p>
            <a:pPr marL="228600" indent="-228600">
              <a:buAutoNum type="arabicPeriod"/>
            </a:pPr>
            <a:r>
              <a:rPr lang="en-US" dirty="0"/>
              <a:t>The Supply Curve in a Competitive Market</a:t>
            </a:r>
          </a:p>
          <a:p>
            <a:pPr marL="228600" indent="-228600">
              <a:buAutoNum type="arabicPeriod"/>
            </a:pPr>
            <a:r>
              <a:rPr lang="en-US" dirty="0"/>
              <a:t>Conclusion: Behind the Supply Curve</a:t>
            </a:r>
          </a:p>
          <a:p>
            <a:pPr marL="228600" indent="-228600">
              <a:buAutoNum type="arabicPeriod"/>
            </a:pPr>
            <a:endParaRPr lang="en-US" dirty="0"/>
          </a:p>
          <a:p>
            <a:pPr marL="0" indent="0">
              <a:buNone/>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competitive market is sometimes called a perfectly competitive market, so we will use the term interchangeably. </a:t>
            </a:r>
          </a:p>
          <a:p>
            <a:endParaRPr lang="en-US" dirty="0"/>
          </a:p>
          <a:p>
            <a:r>
              <a:rPr lang="en-US" dirty="0"/>
              <a:t>#3: “Firms can freely enter or exit the market” means there are no barriers or impediments to entry or exit.  E.g., the government does not restrict the number of firms in the market.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3530489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revenue concepts are analogous to the cost concepts (</a:t>
            </a:r>
            <a:r>
              <a:rPr lang="en-US" b="1" i="1" dirty="0"/>
              <a:t>TC</a:t>
            </a:r>
            <a:r>
              <a:rPr lang="en-US" dirty="0"/>
              <a:t>, </a:t>
            </a:r>
            <a:r>
              <a:rPr lang="en-US" b="1" i="1" dirty="0"/>
              <a:t>ATC</a:t>
            </a:r>
            <a:r>
              <a:rPr lang="en-US" dirty="0"/>
              <a:t>, </a:t>
            </a:r>
            <a:r>
              <a:rPr lang="en-US" b="1" i="1" dirty="0"/>
              <a:t>MC</a:t>
            </a:r>
            <a:r>
              <a:rPr lang="en-US" dirty="0"/>
              <a:t>) in the previous chapter. </a:t>
            </a:r>
          </a:p>
          <a:p>
            <a:endParaRPr lang="en-US" dirty="0"/>
          </a:p>
          <a:p>
            <a:pPr eaLnBrk="1" hangingPunct="1"/>
            <a:r>
              <a:rPr lang="en-US" dirty="0"/>
              <a:t>Why is </a:t>
            </a:r>
            <a:r>
              <a:rPr lang="en-US" b="1" i="1" dirty="0"/>
              <a:t>MR</a:t>
            </a:r>
            <a:r>
              <a:rPr lang="en-US" dirty="0"/>
              <a:t> = </a:t>
            </a:r>
            <a:r>
              <a:rPr lang="en-US" b="1" i="1" dirty="0"/>
              <a:t>AR</a:t>
            </a:r>
            <a:r>
              <a:rPr lang="en-US" dirty="0"/>
              <a:t> = </a:t>
            </a:r>
            <a:r>
              <a:rPr lang="en-US" b="1" i="1" dirty="0"/>
              <a:t>P</a:t>
            </a:r>
            <a:r>
              <a:rPr lang="en-US" dirty="0"/>
              <a:t> for competitive firms?  </a:t>
            </a:r>
          </a:p>
          <a:p>
            <a:pPr marL="171450" indent="-171450" eaLnBrk="1" hangingPunct="1">
              <a:buFont typeface="Arial" panose="020B0604020202020204" pitchFamily="34" charset="0"/>
              <a:buChar char="•"/>
            </a:pPr>
            <a:r>
              <a:rPr lang="en-US" b="1" i="1" dirty="0"/>
              <a:t>MR</a:t>
            </a:r>
            <a:r>
              <a:rPr lang="en-US" dirty="0"/>
              <a:t> = </a:t>
            </a:r>
            <a:r>
              <a:rPr lang="en-US" b="1" i="1" dirty="0"/>
              <a:t>P</a:t>
            </a:r>
            <a:r>
              <a:rPr lang="en-US" dirty="0"/>
              <a:t> because a</a:t>
            </a:r>
            <a:r>
              <a:rPr lang="en-US" baseline="0" dirty="0"/>
              <a:t> competitive firm c</a:t>
            </a:r>
            <a:r>
              <a:rPr lang="en-US" dirty="0"/>
              <a:t>an keep increasing its output without affecting the market price (</a:t>
            </a:r>
            <a:r>
              <a:rPr lang="en-US" b="1" i="1" dirty="0"/>
              <a:t>P</a:t>
            </a:r>
            <a:r>
              <a:rPr lang="en-US" dirty="0"/>
              <a:t> is constant). So, each one-unit increase in </a:t>
            </a:r>
            <a:r>
              <a:rPr lang="en-US" b="1" i="1" dirty="0"/>
              <a:t>Q</a:t>
            </a:r>
            <a:r>
              <a:rPr lang="en-US" dirty="0"/>
              <a:t> sold causes revenue to rise by </a:t>
            </a:r>
            <a:r>
              <a:rPr lang="en-US" b="1" i="1" dirty="0"/>
              <a:t>P</a:t>
            </a:r>
            <a:r>
              <a:rPr lang="en-US" dirty="0"/>
              <a:t>, i.e.,  </a:t>
            </a:r>
            <a:r>
              <a:rPr lang="en-US" b="1" i="1" dirty="0"/>
              <a:t>MR</a:t>
            </a:r>
            <a:r>
              <a:rPr lang="en-US" dirty="0"/>
              <a:t> = </a:t>
            </a:r>
            <a:r>
              <a:rPr lang="en-US" b="1" i="1" dirty="0"/>
              <a:t>P</a:t>
            </a:r>
            <a:r>
              <a:rPr lang="en-US" dirty="0"/>
              <a:t>. </a:t>
            </a:r>
          </a:p>
          <a:p>
            <a:pPr marL="171450" indent="-171450">
              <a:buFont typeface="Arial" panose="020B0604020202020204" pitchFamily="34" charset="0"/>
              <a:buChar char="•"/>
            </a:pPr>
            <a:r>
              <a:rPr lang="en-US" b="1" i="1" dirty="0"/>
              <a:t>AR </a:t>
            </a:r>
            <a:r>
              <a:rPr lang="en-US" dirty="0"/>
              <a:t>= </a:t>
            </a:r>
            <a:r>
              <a:rPr lang="en-US" b="1" i="1" dirty="0"/>
              <a:t>P</a:t>
            </a:r>
            <a:r>
              <a:rPr lang="en-US" dirty="0"/>
              <a:t> for all types of firms. Because </a:t>
            </a:r>
            <a:r>
              <a:rPr lang="en-US" b="1" i="1" dirty="0"/>
              <a:t>TR</a:t>
            </a:r>
            <a:r>
              <a:rPr lang="en-US" dirty="0"/>
              <a:t> = </a:t>
            </a:r>
            <a:r>
              <a:rPr lang="en-US" b="1" i="1" dirty="0"/>
              <a:t>P</a:t>
            </a:r>
            <a:r>
              <a:rPr lang="en-US" dirty="0"/>
              <a:t> * </a:t>
            </a:r>
            <a:r>
              <a:rPr lang="en-US" b="1" i="1" dirty="0"/>
              <a:t>Q</a:t>
            </a:r>
            <a:r>
              <a:rPr lang="en-US" dirty="0"/>
              <a:t> and </a:t>
            </a:r>
            <a:r>
              <a:rPr lang="en-US" b="1" i="1" dirty="0"/>
              <a:t>AR</a:t>
            </a:r>
            <a:r>
              <a:rPr lang="en-US" dirty="0"/>
              <a:t> = </a:t>
            </a:r>
            <a:r>
              <a:rPr lang="en-US" b="1" i="1" dirty="0"/>
              <a:t>TR</a:t>
            </a:r>
            <a:r>
              <a:rPr lang="en-US" dirty="0"/>
              <a:t> /</a:t>
            </a:r>
            <a:r>
              <a:rPr lang="en-US" b="1" i="1" dirty="0"/>
              <a:t>Q</a:t>
            </a:r>
            <a:r>
              <a:rPr lang="en-US" dirty="0"/>
              <a:t>, it</a:t>
            </a:r>
            <a:r>
              <a:rPr lang="en-US" baseline="0" dirty="0"/>
              <a:t> follows that </a:t>
            </a:r>
            <a:r>
              <a:rPr lang="en-US" b="1" i="1" baseline="0" dirty="0"/>
              <a:t>AR</a:t>
            </a:r>
            <a:r>
              <a:rPr lang="en-US" baseline="0" dirty="0"/>
              <a:t> = </a:t>
            </a:r>
            <a:r>
              <a:rPr lang="en-US" b="1" i="1" baseline="0" dirty="0"/>
              <a:t>TR</a:t>
            </a:r>
            <a:r>
              <a:rPr lang="en-US" baseline="0" dirty="0"/>
              <a:t>/</a:t>
            </a:r>
            <a:r>
              <a:rPr lang="en-US" b="1" i="1" baseline="0" dirty="0"/>
              <a:t>Q</a:t>
            </a:r>
            <a:r>
              <a:rPr lang="en-US" baseline="0" dirty="0"/>
              <a:t> = </a:t>
            </a:r>
            <a:r>
              <a:rPr lang="en-US" b="1" i="1" baseline="0" dirty="0"/>
              <a:t>P</a:t>
            </a:r>
            <a:r>
              <a:rPr lang="en-US" baseline="0" dirty="0"/>
              <a:t> * </a:t>
            </a:r>
            <a:r>
              <a:rPr lang="en-US" b="1" i="1" baseline="0" dirty="0"/>
              <a:t>Q</a:t>
            </a:r>
            <a:r>
              <a:rPr lang="en-US" baseline="0" dirty="0"/>
              <a:t> /</a:t>
            </a:r>
            <a:r>
              <a:rPr lang="en-US" b="1" i="1" baseline="0" dirty="0"/>
              <a:t>Q</a:t>
            </a:r>
            <a:r>
              <a:rPr lang="en-US" baseline="0" dirty="0"/>
              <a:t> = </a:t>
            </a:r>
            <a:r>
              <a:rPr lang="en-US" b="1" i="1" baseline="0" dirty="0"/>
              <a:t>P</a:t>
            </a:r>
            <a:r>
              <a:rPr lang="en-US" baseline="0" dirty="0"/>
              <a:t>.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2089251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This easy exercise requires students to apply the definitions from the previous slide.  It also demonstrates that </a:t>
            </a:r>
            <a:r>
              <a:rPr lang="en-US" sz="1200" b="1" i="1" dirty="0"/>
              <a:t>MR</a:t>
            </a:r>
            <a:r>
              <a:rPr lang="en-US" sz="1200" dirty="0"/>
              <a:t> = </a:t>
            </a:r>
            <a:r>
              <a:rPr lang="en-US" sz="1200" b="1" i="1" dirty="0"/>
              <a:t>P</a:t>
            </a:r>
            <a:r>
              <a:rPr lang="en-US" sz="1200" dirty="0"/>
              <a:t> = </a:t>
            </a:r>
            <a:r>
              <a:rPr lang="en-US" sz="1200" b="1" i="1" dirty="0"/>
              <a:t>AR</a:t>
            </a:r>
            <a:r>
              <a:rPr lang="en-US" sz="1200" dirty="0"/>
              <a:t> for a competitive firm. </a:t>
            </a:r>
          </a:p>
          <a:p>
            <a:pPr eaLnBrk="1" hangingPunct="1"/>
            <a:endParaRPr lang="en-US" sz="1200" dirty="0"/>
          </a:p>
          <a:p>
            <a:pPr eaLnBrk="1" hangingPunct="1"/>
            <a:r>
              <a:rPr lang="en-US" sz="1200" dirty="0"/>
              <a:t>We calculate TR = P ˣ Q, AR = TR / Q, and  MR = ∆TR / ∆Q</a:t>
            </a:r>
          </a:p>
          <a:p>
            <a:pPr eaLnBrk="1" hangingPunct="1"/>
            <a:endParaRPr lang="en-US" sz="1200" dirty="0"/>
          </a:p>
          <a:p>
            <a:pPr eaLnBrk="1" hangingPunct="1"/>
            <a:r>
              <a:rPr lang="en-US" sz="1200" dirty="0"/>
              <a:t>You can give your students a few minutes to calculate</a:t>
            </a:r>
            <a:r>
              <a:rPr lang="en-US" sz="1200" baseline="0" dirty="0"/>
              <a:t> them, or you can show them the answers (each of </a:t>
            </a:r>
            <a:r>
              <a:rPr lang="en-US" sz="1200" b="1" i="1" baseline="0" dirty="0"/>
              <a:t>TR</a:t>
            </a:r>
            <a:r>
              <a:rPr lang="en-US" sz="1200" baseline="0" dirty="0"/>
              <a:t>, </a:t>
            </a:r>
            <a:r>
              <a:rPr lang="en-US" sz="1200" b="1" i="1" baseline="0" dirty="0"/>
              <a:t>AR</a:t>
            </a:r>
            <a:r>
              <a:rPr lang="en-US" sz="1200" baseline="0" dirty="0"/>
              <a:t>, and </a:t>
            </a:r>
            <a:r>
              <a:rPr lang="en-US" sz="1200" b="1" i="1" baseline="0" dirty="0"/>
              <a:t>MR</a:t>
            </a:r>
            <a:r>
              <a:rPr lang="en-US" sz="1200" baseline="0" dirty="0"/>
              <a:t>) appear on separate clicks.</a:t>
            </a:r>
            <a:endParaRPr lang="en-US" sz="1200"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260281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3119990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with </a:t>
            </a:r>
            <a:r>
              <a:rPr lang="en-US" b="1" i="1" dirty="0"/>
              <a:t>Q</a:t>
            </a:r>
            <a:r>
              <a:rPr lang="en-US" dirty="0"/>
              <a:t>, </a:t>
            </a:r>
            <a:r>
              <a:rPr lang="en-US" b="1" i="1" dirty="0"/>
              <a:t>TR</a:t>
            </a:r>
            <a:r>
              <a:rPr lang="en-US" dirty="0"/>
              <a:t>, </a:t>
            </a:r>
            <a:r>
              <a:rPr lang="en-US" b="1" i="1" dirty="0"/>
              <a:t>TC</a:t>
            </a:r>
            <a:r>
              <a:rPr lang="en-US" dirty="0"/>
              <a:t>, and MR appears before any click – it is the table from Example 1. (In perfect competition, MR = P)</a:t>
            </a:r>
          </a:p>
          <a:p>
            <a:r>
              <a:rPr lang="en-US" dirty="0"/>
              <a:t>The only new thing from the previous exercise is </a:t>
            </a:r>
            <a:r>
              <a:rPr lang="en-US" b="1" i="1" dirty="0"/>
              <a:t>TC</a:t>
            </a:r>
            <a:r>
              <a:rPr lang="en-US" dirty="0"/>
              <a:t>. Remind your students that </a:t>
            </a:r>
            <a:r>
              <a:rPr lang="en-US" b="1" i="1" dirty="0"/>
              <a:t>TC</a:t>
            </a:r>
            <a:r>
              <a:rPr lang="en-US" dirty="0"/>
              <a:t> increases as</a:t>
            </a:r>
            <a:r>
              <a:rPr lang="en-US" baseline="0" dirty="0"/>
              <a:t> more output is being produced, and that total cost for producing </a:t>
            </a:r>
            <a:r>
              <a:rPr lang="en-US" b="1" i="1" baseline="0" dirty="0"/>
              <a:t>Q</a:t>
            </a:r>
            <a:r>
              <a:rPr lang="en-US" baseline="0" dirty="0"/>
              <a:t> = 0 is $6, so that means the fixed cost is $6. Also, from the previous exercise: </a:t>
            </a:r>
            <a:r>
              <a:rPr lang="en-US" b="1" i="1" baseline="0" dirty="0"/>
              <a:t>MR</a:t>
            </a:r>
            <a:r>
              <a:rPr lang="en-US" baseline="0" dirty="0"/>
              <a:t> = </a:t>
            </a:r>
            <a:r>
              <a:rPr lang="en-US" b="1" i="1" baseline="0" dirty="0"/>
              <a:t>P</a:t>
            </a:r>
            <a:r>
              <a:rPr lang="en-US" baseline="0" dirty="0"/>
              <a:t>. </a:t>
            </a:r>
          </a:p>
          <a:p>
            <a:pPr marL="171450" indent="-171450">
              <a:buFont typeface="Arial" panose="020B0604020202020204" pitchFamily="34" charset="0"/>
              <a:buChar char="•"/>
            </a:pPr>
            <a:r>
              <a:rPr lang="en-US" baseline="0" dirty="0"/>
              <a:t>First click: calculating profit = </a:t>
            </a:r>
            <a:r>
              <a:rPr lang="en-US" b="1" i="1" baseline="0" dirty="0"/>
              <a:t>TR</a:t>
            </a:r>
            <a:r>
              <a:rPr lang="en-US" baseline="0" dirty="0"/>
              <a:t> – </a:t>
            </a:r>
            <a:r>
              <a:rPr lang="en-US" b="1" i="1" dirty="0"/>
              <a:t>TC</a:t>
            </a:r>
            <a:r>
              <a:rPr lang="en-US" baseline="0" dirty="0"/>
              <a:t>. Profit is increasing, reaches a maximum of $36 for </a:t>
            </a:r>
            <a:r>
              <a:rPr lang="en-US" b="1" i="1" baseline="0" dirty="0"/>
              <a:t>Q</a:t>
            </a:r>
            <a:r>
              <a:rPr lang="en-US" baseline="0" dirty="0"/>
              <a:t> = 6 and </a:t>
            </a:r>
            <a:r>
              <a:rPr lang="en-US" b="1" i="1" baseline="0" dirty="0"/>
              <a:t>Q</a:t>
            </a:r>
            <a:r>
              <a:rPr lang="en-US" baseline="0" dirty="0"/>
              <a:t> = 7, then the profit decreases. </a:t>
            </a:r>
          </a:p>
          <a:p>
            <a:r>
              <a:rPr lang="en-US" baseline="0" dirty="0"/>
              <a:t>So, one way for a firm to find the quantity that maximizes profit is to calculate the profit.</a:t>
            </a:r>
          </a:p>
          <a:p>
            <a:r>
              <a:rPr lang="en-US" baseline="0" dirty="0"/>
              <a:t>But there is another way, thinking at the margin!</a:t>
            </a:r>
          </a:p>
          <a:p>
            <a:pPr marL="171450" indent="-171450">
              <a:buFont typeface="Arial" panose="020B0604020202020204" pitchFamily="34" charset="0"/>
              <a:buChar char="•"/>
            </a:pPr>
            <a:r>
              <a:rPr lang="en-US" baseline="0" dirty="0"/>
              <a:t>Second click: since we already have </a:t>
            </a:r>
            <a:r>
              <a:rPr lang="en-US" b="1" i="1" baseline="0" dirty="0"/>
              <a:t>MR</a:t>
            </a:r>
            <a:r>
              <a:rPr lang="en-US" baseline="0" dirty="0"/>
              <a:t>, we calculate </a:t>
            </a:r>
            <a:r>
              <a:rPr lang="en-US" b="1" i="1" baseline="0" dirty="0"/>
              <a:t>MC</a:t>
            </a:r>
            <a:r>
              <a:rPr lang="en-US" baseline="0" dirty="0"/>
              <a:t> (change in </a:t>
            </a:r>
            <a:r>
              <a:rPr lang="en-US" b="1" i="1" dirty="0"/>
              <a:t>TC</a:t>
            </a:r>
            <a:r>
              <a:rPr lang="en-US" baseline="0" dirty="0"/>
              <a:t> divided by change in </a:t>
            </a:r>
            <a:r>
              <a:rPr lang="en-US" b="1" i="1" baseline="0" dirty="0"/>
              <a:t>Q</a:t>
            </a:r>
            <a:r>
              <a:rPr lang="en-US" baseline="0" dirty="0"/>
              <a:t>). </a:t>
            </a:r>
          </a:p>
          <a:p>
            <a:pPr marL="171450" indent="-171450">
              <a:buFont typeface="Arial" panose="020B0604020202020204" pitchFamily="34" charset="0"/>
              <a:buChar char="•"/>
            </a:pPr>
            <a:r>
              <a:rPr lang="en-US" baseline="0" dirty="0"/>
              <a:t>Third click: Take some time to show your students that for quantities where </a:t>
            </a:r>
            <a:r>
              <a:rPr lang="en-US" b="1" i="1" baseline="0" dirty="0"/>
              <a:t>MR</a:t>
            </a:r>
            <a:r>
              <a:rPr lang="en-US" baseline="0" dirty="0"/>
              <a:t> &gt; </a:t>
            </a:r>
            <a:r>
              <a:rPr lang="en-US" b="1" i="1" baseline="0" dirty="0"/>
              <a:t>MC</a:t>
            </a:r>
            <a:r>
              <a:rPr lang="en-US" baseline="0" dirty="0"/>
              <a:t>, the profit will increase if production increases. </a:t>
            </a:r>
          </a:p>
          <a:p>
            <a:pPr marL="171450" indent="-171450">
              <a:buFont typeface="Arial" panose="020B0604020202020204" pitchFamily="34" charset="0"/>
              <a:buChar char="•"/>
            </a:pPr>
            <a:r>
              <a:rPr lang="en-US" baseline="0" dirty="0"/>
              <a:t>Fourth click: And, for quantities where </a:t>
            </a:r>
            <a:r>
              <a:rPr lang="en-US" b="1" i="1" baseline="0" dirty="0"/>
              <a:t>MC</a:t>
            </a:r>
            <a:r>
              <a:rPr lang="en-US" baseline="0" dirty="0"/>
              <a:t> &gt; </a:t>
            </a:r>
            <a:r>
              <a:rPr lang="en-US" b="1" i="1" baseline="0" dirty="0"/>
              <a:t>MR</a:t>
            </a:r>
            <a:r>
              <a:rPr lang="en-US" baseline="0" dirty="0"/>
              <a:t>, the profit will increase only if production declines. </a:t>
            </a:r>
          </a:p>
          <a:p>
            <a:pPr marL="171450" indent="-171450">
              <a:buFont typeface="Arial" panose="020B0604020202020204" pitchFamily="34" charset="0"/>
              <a:buChar char="•"/>
            </a:pPr>
            <a:r>
              <a:rPr lang="en-US" baseline="0" dirty="0"/>
              <a:t>Fifth click: calculating the change in profit = </a:t>
            </a:r>
            <a:r>
              <a:rPr lang="en-US" b="1" i="1" baseline="0" dirty="0"/>
              <a:t>MR </a:t>
            </a:r>
            <a:r>
              <a:rPr lang="en-US" baseline="0" dirty="0"/>
              <a:t>– </a:t>
            </a:r>
            <a:r>
              <a:rPr lang="en-US" b="1" i="1" baseline="0" dirty="0"/>
              <a:t>MC</a:t>
            </a:r>
            <a:r>
              <a:rPr lang="en-US" baseline="0" dirty="0"/>
              <a:t>, again, reinforcing that as long as </a:t>
            </a:r>
            <a:r>
              <a:rPr lang="en-US" b="1" i="1" baseline="0" dirty="0"/>
              <a:t>MR</a:t>
            </a:r>
            <a:r>
              <a:rPr lang="en-US" baseline="0" dirty="0"/>
              <a:t> &gt; </a:t>
            </a:r>
            <a:r>
              <a:rPr lang="en-US" b="1" i="1" baseline="0" dirty="0"/>
              <a:t>MC</a:t>
            </a:r>
            <a:r>
              <a:rPr lang="en-US" baseline="0" dirty="0"/>
              <a:t>, increasing </a:t>
            </a:r>
            <a:r>
              <a:rPr lang="en-US" b="1" i="1" baseline="0" dirty="0"/>
              <a:t>Q</a:t>
            </a:r>
            <a:r>
              <a:rPr lang="en-US" baseline="0" dirty="0"/>
              <a:t> also increases profit (and </a:t>
            </a:r>
            <a:r>
              <a:rPr lang="el-GR" baseline="0" dirty="0"/>
              <a:t>Δ</a:t>
            </a:r>
            <a:r>
              <a:rPr lang="en-US" baseline="0" dirty="0"/>
              <a:t> Profit is positive); and as long as </a:t>
            </a:r>
            <a:r>
              <a:rPr lang="en-US" b="1" i="1" baseline="0" dirty="0"/>
              <a:t>MC</a:t>
            </a:r>
            <a:r>
              <a:rPr lang="en-US" baseline="0" dirty="0"/>
              <a:t> &gt; </a:t>
            </a:r>
            <a:r>
              <a:rPr lang="en-US" b="1" i="1" baseline="0" dirty="0"/>
              <a:t>MR</a:t>
            </a:r>
            <a:r>
              <a:rPr lang="en-US" baseline="0" dirty="0"/>
              <a:t>, to increase profit we have to decrease production (because when </a:t>
            </a:r>
            <a:r>
              <a:rPr lang="en-US" b="1" i="1" baseline="0" dirty="0"/>
              <a:t>MC</a:t>
            </a:r>
            <a:r>
              <a:rPr lang="en-US" baseline="0" dirty="0"/>
              <a:t> &gt; </a:t>
            </a:r>
            <a:r>
              <a:rPr lang="en-US" b="1" i="1" baseline="0" dirty="0"/>
              <a:t>MR</a:t>
            </a:r>
            <a:r>
              <a:rPr lang="en-US" baseline="0" dirty="0"/>
              <a:t>, </a:t>
            </a:r>
            <a:r>
              <a:rPr lang="el-GR" baseline="0" dirty="0"/>
              <a:t>Δ</a:t>
            </a:r>
            <a:r>
              <a:rPr lang="en-US" baseline="0" dirty="0"/>
              <a:t> Profit is negative). Amir’s Apple Orchard will maximize profits when </a:t>
            </a:r>
            <a:r>
              <a:rPr lang="en-US" b="1" i="1" baseline="0" dirty="0"/>
              <a:t>MR</a:t>
            </a:r>
            <a:r>
              <a:rPr lang="en-US" baseline="0" dirty="0"/>
              <a:t> = </a:t>
            </a:r>
            <a:r>
              <a:rPr lang="en-US" b="1" i="1" baseline="0" dirty="0"/>
              <a:t>MC</a:t>
            </a:r>
            <a:r>
              <a:rPr lang="en-US" baseline="0" dirty="0"/>
              <a:t>, at </a:t>
            </a:r>
            <a:r>
              <a:rPr lang="en-US" b="1" i="1" baseline="0" dirty="0"/>
              <a:t>Q</a:t>
            </a:r>
            <a:r>
              <a:rPr lang="en-US" baseline="0" dirty="0"/>
              <a:t> = 7 bushels of apples. </a:t>
            </a:r>
          </a:p>
          <a:p>
            <a:pPr marL="171450" indent="-171450">
              <a:buFont typeface="Arial" panose="020B0604020202020204" pitchFamily="34" charset="0"/>
              <a:buChar char="•"/>
            </a:pPr>
            <a:r>
              <a:rPr lang="en-US" baseline="0" dirty="0"/>
              <a:t>Sixth click: profit maximization </a:t>
            </a:r>
            <a:r>
              <a:rPr lang="en-US" b="1" i="1" baseline="0" dirty="0"/>
              <a:t>Q</a:t>
            </a:r>
            <a:r>
              <a:rPr lang="en-US" baseline="0" dirty="0"/>
              <a:t> highlighted.</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102900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C296D506-85C1-4352-97D4-C5139E07DF48}" type="slidenum">
              <a:rPr lang="en-US" smtClean="0"/>
              <a:pPr/>
              <a:t>8</a:t>
            </a:fld>
            <a:endParaRPr lang="en-US"/>
          </a:p>
        </p:txBody>
      </p:sp>
      <p:sp>
        <p:nvSpPr>
          <p:cNvPr id="5734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103E6BC2-E3A2-4D22-A498-ACFD3DAFE741}" type="slidenum">
              <a:rPr lang="en-US" sz="1300">
                <a:cs typeface="Arial" charset="0"/>
              </a:rPr>
              <a:pPr algn="r"/>
              <a:t>8</a:t>
            </a:fld>
            <a:endParaRPr lang="en-US" sz="1300">
              <a:cs typeface="Arial" charset="0"/>
            </a:endParaRPr>
          </a:p>
        </p:txBody>
      </p:sp>
      <p:sp>
        <p:nvSpPr>
          <p:cNvPr id="57348" name="Rectangle 2"/>
          <p:cNvSpPr>
            <a:spLocks noGrp="1" noRot="1" noChangeAspect="1" noChangeArrowheads="1" noTextEdit="1"/>
          </p:cNvSpPr>
          <p:nvPr>
            <p:ph type="sldImg"/>
          </p:nvPr>
        </p:nvSpPr>
        <p:spPr>
          <a:xfrm>
            <a:off x="1257300" y="561975"/>
            <a:ext cx="4800600" cy="3600450"/>
          </a:xfrm>
          <a:ln/>
        </p:spPr>
      </p:sp>
      <p:sp>
        <p:nvSpPr>
          <p:cNvPr id="57349" name="Rectangle 3"/>
          <p:cNvSpPr>
            <a:spLocks noGrp="1" noChangeArrowheads="1"/>
          </p:cNvSpPr>
          <p:nvPr>
            <p:ph type="body" idx="1"/>
          </p:nvPr>
        </p:nvSpPr>
        <p:spPr>
          <a:xfrm>
            <a:off x="731520" y="4460557"/>
            <a:ext cx="5852160" cy="4420553"/>
          </a:xfrm>
          <a:noFill/>
          <a:ln/>
        </p:spPr>
        <p:txBody>
          <a:bodyPr/>
          <a:lstStyle/>
          <a:p>
            <a:pPr eaLnBrk="1" hangingPunct="1"/>
            <a:r>
              <a:rPr lang="en-US" dirty="0"/>
              <a:t>This slide is a simplification of Figure 1 in the chapter.  I’ve omitted the </a:t>
            </a:r>
            <a:r>
              <a:rPr lang="en-US" b="1" i="1" dirty="0"/>
              <a:t>AVC</a:t>
            </a:r>
            <a:r>
              <a:rPr lang="en-US" dirty="0"/>
              <a:t> and </a:t>
            </a:r>
            <a:r>
              <a:rPr lang="en-US" b="1" i="1" dirty="0"/>
              <a:t>ATC</a:t>
            </a:r>
            <a:r>
              <a:rPr lang="en-US" dirty="0"/>
              <a:t> curves (which appear in Figure 1 in the chapter) because they are not needed at this point.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EC8E7EC6-6FC2-4B2E-A4D6-8E1A0ADE0CEA}" type="slidenum">
              <a:rPr lang="en-US" smtClean="0"/>
              <a:pPr/>
              <a:t>9</a:t>
            </a:fld>
            <a:endParaRPr lang="en-US"/>
          </a:p>
        </p:txBody>
      </p:sp>
      <p:sp>
        <p:nvSpPr>
          <p:cNvPr id="5837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BCD49C87-90E3-496D-96C3-3BF2840B56CD}" type="slidenum">
              <a:rPr lang="en-US" sz="1300">
                <a:cs typeface="Arial" charset="0"/>
              </a:rPr>
              <a:pPr algn="r"/>
              <a:t>9</a:t>
            </a:fld>
            <a:endParaRPr lang="en-US" sz="1300">
              <a:cs typeface="Arial" charset="0"/>
            </a:endParaRPr>
          </a:p>
        </p:txBody>
      </p:sp>
      <p:sp>
        <p:nvSpPr>
          <p:cNvPr id="58372" name="Rectangle 2"/>
          <p:cNvSpPr>
            <a:spLocks noGrp="1" noRot="1" noChangeAspect="1" noChangeArrowheads="1" noTextEdit="1"/>
          </p:cNvSpPr>
          <p:nvPr>
            <p:ph type="sldImg"/>
          </p:nvPr>
        </p:nvSpPr>
        <p:spPr>
          <a:xfrm>
            <a:off x="1257300" y="561975"/>
            <a:ext cx="4800600" cy="3600450"/>
          </a:xfrm>
          <a:ln/>
        </p:spPr>
      </p:sp>
      <p:sp>
        <p:nvSpPr>
          <p:cNvPr id="58373" name="Rectangle 3"/>
          <p:cNvSpPr>
            <a:spLocks noGrp="1" noChangeArrowheads="1"/>
          </p:cNvSpPr>
          <p:nvPr>
            <p:ph type="body" idx="1"/>
          </p:nvPr>
        </p:nvSpPr>
        <p:spPr>
          <a:xfrm>
            <a:off x="731520" y="4460557"/>
            <a:ext cx="5852160" cy="4420553"/>
          </a:xfrm>
          <a:noFill/>
          <a:ln/>
        </p:spPr>
        <p:txBody>
          <a:bodyPr/>
          <a:lstStyle/>
          <a:p>
            <a:pPr eaLnBrk="1" hangingPunct="1"/>
            <a:r>
              <a:rPr lang="en-US" dirty="0"/>
              <a:t>Of course, not the entire </a:t>
            </a:r>
            <a:r>
              <a:rPr lang="en-US" b="1" i="1" dirty="0"/>
              <a:t>MC</a:t>
            </a:r>
            <a:r>
              <a:rPr lang="en-US" dirty="0"/>
              <a:t> curve is the firm’s supply curve,</a:t>
            </a:r>
            <a:r>
              <a:rPr lang="en-US" baseline="0" dirty="0"/>
              <a:t> as we will see in the next section. </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 = short run; LR = long-run</a:t>
            </a:r>
          </a:p>
          <a:p>
            <a:r>
              <a:rPr lang="en-US" dirty="0"/>
              <a:t>If the firms shuts down in the SR, the firm’s fixed costs are the same and must be paid, but the firms will have zero variable costs.</a:t>
            </a:r>
          </a:p>
          <a:p>
            <a:r>
              <a:rPr lang="en-US" dirty="0"/>
              <a:t>If the firm exits the market in the long run, the firm doesn’t have to pay any costs, not fixed and not variable..</a:t>
            </a:r>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92518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shutdown rule, in plain English, says: If the cost of shutting down is less than the benefit, the firm should shut down. </a:t>
            </a:r>
          </a:p>
          <a:p>
            <a:r>
              <a:rPr lang="en-US" dirty="0"/>
              <a:t>If</a:t>
            </a:r>
            <a:r>
              <a:rPr lang="en-US" baseline="0" dirty="0"/>
              <a:t> we divide </a:t>
            </a:r>
            <a:r>
              <a:rPr lang="en-US" b="1" i="1" baseline="0" dirty="0"/>
              <a:t>TR</a:t>
            </a:r>
            <a:r>
              <a:rPr lang="en-US" baseline="0" dirty="0"/>
              <a:t> &lt; </a:t>
            </a:r>
            <a:r>
              <a:rPr lang="en-US" b="1" i="1" baseline="0" dirty="0"/>
              <a:t>VC</a:t>
            </a:r>
            <a:r>
              <a:rPr lang="en-US" baseline="0" dirty="0"/>
              <a:t> by </a:t>
            </a:r>
            <a:r>
              <a:rPr lang="en-US" b="1" i="1" baseline="0" dirty="0"/>
              <a:t>Q</a:t>
            </a:r>
            <a:r>
              <a:rPr lang="en-US" baseline="0" dirty="0"/>
              <a:t> we get: </a:t>
            </a:r>
            <a:r>
              <a:rPr lang="en-US" b="1" i="1" baseline="0" dirty="0"/>
              <a:t>P</a:t>
            </a:r>
            <a:r>
              <a:rPr lang="en-US" baseline="0" dirty="0"/>
              <a:t> &lt; </a:t>
            </a:r>
            <a:r>
              <a:rPr lang="en-US" b="1" i="1" baseline="0" dirty="0"/>
              <a:t>AVC</a:t>
            </a:r>
            <a:endParaRPr lang="en-US" b="1" i="1"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3695375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AC6E9708-4E74-4553-805F-C86272E1BF0C}" type="slidenum">
              <a:rPr lang="en-US" smtClean="0"/>
              <a:pPr/>
              <a:t>12</a:t>
            </a:fld>
            <a:endParaRPr lang="en-US"/>
          </a:p>
        </p:txBody>
      </p:sp>
      <p:sp>
        <p:nvSpPr>
          <p:cNvPr id="6144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240F3148-9634-4829-8610-125962D73834}" type="slidenum">
              <a:rPr lang="en-US" sz="1300">
                <a:cs typeface="Arial" charset="0"/>
              </a:rPr>
              <a:pPr algn="r"/>
              <a:t>12</a:t>
            </a:fld>
            <a:endParaRPr lang="en-US" sz="1300">
              <a:cs typeface="Arial" charset="0"/>
            </a:endParaRPr>
          </a:p>
        </p:txBody>
      </p:sp>
      <p:sp>
        <p:nvSpPr>
          <p:cNvPr id="61444" name="Rectangle 2"/>
          <p:cNvSpPr>
            <a:spLocks noGrp="1" noRot="1" noChangeAspect="1" noChangeArrowheads="1" noTextEdit="1"/>
          </p:cNvSpPr>
          <p:nvPr>
            <p:ph type="sldImg"/>
          </p:nvPr>
        </p:nvSpPr>
        <p:spPr>
          <a:xfrm>
            <a:off x="1257300" y="561975"/>
            <a:ext cx="4800600" cy="3600450"/>
          </a:xfrm>
          <a:ln/>
        </p:spPr>
      </p:sp>
      <p:sp>
        <p:nvSpPr>
          <p:cNvPr id="61445" name="Rectangle 3"/>
          <p:cNvSpPr>
            <a:spLocks noGrp="1" noChangeArrowheads="1"/>
          </p:cNvSpPr>
          <p:nvPr>
            <p:ph type="body" idx="1"/>
          </p:nvPr>
        </p:nvSpPr>
        <p:spPr>
          <a:xfrm>
            <a:off x="731520" y="4460557"/>
            <a:ext cx="5852160" cy="4420553"/>
          </a:xfrm>
          <a:noFill/>
          <a:ln/>
        </p:spPr>
        <p:txBody>
          <a:bodyPr/>
          <a:lstStyle/>
          <a:p>
            <a:pPr eaLnBrk="1" hangingPunct="1"/>
            <a:r>
              <a:rPr lang="en-US" dirty="0"/>
              <a:t>P &gt; AVC (multiply by Q) also means TR &gt; VC. </a:t>
            </a:r>
          </a:p>
          <a:p>
            <a:pPr eaLnBrk="1" hangingPunct="1"/>
            <a:endParaRPr lang="en-US" dirty="0"/>
          </a:p>
          <a:p>
            <a:pPr eaLnBrk="1" hangingPunct="1"/>
            <a:r>
              <a:rPr lang="en-US" dirty="0"/>
              <a:t>The firm’s supply curve in the short run is that portion of the MC curve that’s above the min AVC. (because if P &lt; AVC, the firms shuts down and </a:t>
            </a:r>
            <a:r>
              <a:rPr lang="en-US" dirty="0" err="1"/>
              <a:t>prodices</a:t>
            </a:r>
            <a:r>
              <a:rPr lang="en-US" dirty="0"/>
              <a:t> Q=0)</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3891587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your students a few minutes to formulate an answer before</a:t>
            </a:r>
            <a:r>
              <a:rPr lang="en-US" baseline="0" dirty="0"/>
              <a:t> asking for volunteers. (The answer will appear at the first click!)</a:t>
            </a:r>
          </a:p>
          <a:p>
            <a:endParaRPr lang="en-US" baseline="0" dirty="0"/>
          </a:p>
          <a:p>
            <a:r>
              <a:rPr lang="en-US" baseline="0" dirty="0"/>
              <a:t>By now, they should understand that the $55 already spent is a sunk cost. So, the marginal cost of selling the hoodie is $15. As long as the marginal revenue from selling the hoodie is greater or equal to this </a:t>
            </a:r>
            <a:r>
              <a:rPr lang="en-US" b="1" i="1" baseline="0" dirty="0"/>
              <a:t>MC</a:t>
            </a:r>
            <a:r>
              <a:rPr lang="en-US" baseline="0" dirty="0"/>
              <a:t>, they should sell the hoodie. But the problem asks “What’s the lowest price you should accept?”, so the lowest acceptable price is $15. </a:t>
            </a:r>
          </a:p>
          <a:p>
            <a:endParaRPr lang="en-US" baseline="0" dirty="0"/>
          </a:p>
          <a:p>
            <a:r>
              <a:rPr lang="en-US" baseline="0" dirty="0"/>
              <a:t>Of course, students will have fun with this and come up with answers such as: “I’ll sell it to my roommate so no mail delivery, no additional costs” – which is fine, it will make the lowest acceptable price to be $0. </a:t>
            </a:r>
          </a:p>
          <a:p>
            <a:endParaRPr lang="en-US" baseline="0" dirty="0"/>
          </a:p>
          <a:p>
            <a:r>
              <a:rPr lang="en-US" baseline="0" dirty="0"/>
              <a:t>The purpose of this exercise is to help students identify sunk costs, and to make sure they do not take into account these sunk costs when making decisions.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3648574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eaLnBrk="1" hangingPunct="1">
              <a:buFont typeface="Arial" panose="020B0604020202020204" pitchFamily="34" charset="0"/>
              <a:buNone/>
            </a:pPr>
            <a:r>
              <a:rPr lang="en-US" dirty="0"/>
              <a:t>Reminder! Cost – benefit analysis means comparing the marginal benefit of an action with the marginal cost of that action and do the action if the marginal benefit exceeds the marginal cost. </a:t>
            </a:r>
          </a:p>
          <a:p>
            <a:pPr marL="171450" indent="-171450" eaLnBrk="1" hangingPunct="1">
              <a:buFont typeface="Arial" panose="020B0604020202020204" pitchFamily="34" charset="0"/>
              <a:buChar char="•"/>
            </a:pPr>
            <a:r>
              <a:rPr lang="en-US" dirty="0"/>
              <a:t>The cost-benefit analysis to exit says: If the benefit of exiting the market (don’t have to produce output, save </a:t>
            </a:r>
            <a:r>
              <a:rPr lang="en-US" b="1" i="1" dirty="0"/>
              <a:t>TC</a:t>
            </a:r>
            <a:r>
              <a:rPr lang="en-US" dirty="0"/>
              <a:t>) is greater than the cost of exiting (not receiving any revenue, </a:t>
            </a:r>
            <a:r>
              <a:rPr lang="en-US" b="1" i="1" dirty="0"/>
              <a:t>TR</a:t>
            </a:r>
            <a:r>
              <a:rPr lang="en-US" dirty="0"/>
              <a:t>), the firm should exit. Dividing </a:t>
            </a:r>
            <a:r>
              <a:rPr lang="en-US" b="1" i="1" dirty="0"/>
              <a:t>TR</a:t>
            </a:r>
            <a:r>
              <a:rPr lang="en-US" dirty="0"/>
              <a:t> &lt; </a:t>
            </a:r>
            <a:r>
              <a:rPr lang="en-US" b="1" i="1" dirty="0"/>
              <a:t>TC</a:t>
            </a:r>
            <a:r>
              <a:rPr lang="en-US" dirty="0"/>
              <a:t> by </a:t>
            </a:r>
            <a:r>
              <a:rPr lang="en-US" b="1" i="1" dirty="0"/>
              <a:t>Q</a:t>
            </a:r>
            <a:r>
              <a:rPr lang="en-US" dirty="0"/>
              <a:t> we get </a:t>
            </a:r>
            <a:r>
              <a:rPr lang="en-US" b="1" i="1" dirty="0"/>
              <a:t>P</a:t>
            </a:r>
            <a:r>
              <a:rPr lang="en-US" dirty="0"/>
              <a:t> &lt; </a:t>
            </a:r>
            <a:r>
              <a:rPr lang="en-US" b="1" i="1" dirty="0"/>
              <a:t>ATC</a:t>
            </a:r>
            <a:r>
              <a:rPr lang="en-US" dirty="0"/>
              <a:t>.  </a:t>
            </a:r>
          </a:p>
          <a:p>
            <a:pPr marL="171450" indent="-171450" defTabSz="966612">
              <a:buFont typeface="Arial" panose="020B0604020202020204" pitchFamily="34" charset="0"/>
              <a:buChar char="•"/>
              <a:defRPr/>
            </a:pPr>
            <a:r>
              <a:rPr lang="en-US" dirty="0"/>
              <a:t>Similarly, a prospective entrant compares the benefits of entering the market (</a:t>
            </a:r>
            <a:r>
              <a:rPr lang="en-US" b="1" i="1" dirty="0"/>
              <a:t>TR</a:t>
            </a:r>
            <a:r>
              <a:rPr lang="en-US" dirty="0"/>
              <a:t>) with the costs of entering the market (</a:t>
            </a:r>
            <a:r>
              <a:rPr lang="en-US" b="1" i="1" dirty="0"/>
              <a:t>TC</a:t>
            </a:r>
            <a:r>
              <a:rPr lang="en-US" dirty="0"/>
              <a:t>), and enters if the benefits exceed the costs: TR &gt; TC, or P &gt; ATC.  </a:t>
            </a:r>
          </a:p>
          <a:p>
            <a:pPr eaLnBrk="1" hangingPunct="1"/>
            <a:endParaRPr lang="en-US" dirty="0"/>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813953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956FCC65-1045-4ED9-BC3B-DAA2AE86BA9A}" type="slidenum">
              <a:rPr lang="en-US" smtClean="0"/>
              <a:pPr/>
              <a:t>16</a:t>
            </a:fld>
            <a:endParaRPr lang="en-US"/>
          </a:p>
        </p:txBody>
      </p:sp>
      <p:sp>
        <p:nvSpPr>
          <p:cNvPr id="65539"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BAFDA1D7-C236-4938-B578-C185BBF64AAD}" type="slidenum">
              <a:rPr lang="en-US" sz="1300">
                <a:cs typeface="Arial" charset="0"/>
              </a:rPr>
              <a:pPr algn="r"/>
              <a:t>16</a:t>
            </a:fld>
            <a:endParaRPr lang="en-US" sz="1300">
              <a:cs typeface="Arial" charset="0"/>
            </a:endParaRPr>
          </a:p>
        </p:txBody>
      </p:sp>
      <p:sp>
        <p:nvSpPr>
          <p:cNvPr id="65540" name="Rectangle 2"/>
          <p:cNvSpPr>
            <a:spLocks noGrp="1" noRot="1" noChangeAspect="1" noChangeArrowheads="1" noTextEdit="1"/>
          </p:cNvSpPr>
          <p:nvPr>
            <p:ph type="sldImg"/>
          </p:nvPr>
        </p:nvSpPr>
        <p:spPr>
          <a:xfrm>
            <a:off x="1257300" y="561975"/>
            <a:ext cx="4800600" cy="3600450"/>
          </a:xfrm>
          <a:ln/>
        </p:spPr>
      </p:sp>
      <p:sp>
        <p:nvSpPr>
          <p:cNvPr id="65541" name="Rectangle 3"/>
          <p:cNvSpPr>
            <a:spLocks noGrp="1" noChangeArrowheads="1"/>
          </p:cNvSpPr>
          <p:nvPr>
            <p:ph type="body" idx="1"/>
          </p:nvPr>
        </p:nvSpPr>
        <p:spPr>
          <a:xfrm>
            <a:off x="731520" y="4460557"/>
            <a:ext cx="5852160" cy="4420553"/>
          </a:xfrm>
          <a:noFill/>
          <a:ln/>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You can show the exercise</a:t>
            </a:r>
            <a:r>
              <a:rPr lang="en-US" baseline="0" dirty="0"/>
              <a:t> as is, or you can give your students a few minutes to identify and calculate the profit. Since </a:t>
            </a:r>
            <a:r>
              <a:rPr lang="en-US" b="1" i="1" baseline="0" dirty="0"/>
              <a:t>P</a:t>
            </a:r>
            <a:r>
              <a:rPr lang="en-US" baseline="0" dirty="0"/>
              <a:t> &gt; </a:t>
            </a:r>
            <a:r>
              <a:rPr lang="en-US" b="1" i="1" baseline="0" dirty="0"/>
              <a:t>ATC</a:t>
            </a:r>
            <a:r>
              <a:rPr lang="en-US" baseline="0" dirty="0"/>
              <a:t>, we don’t need the </a:t>
            </a:r>
            <a:r>
              <a:rPr lang="en-US" b="1" i="1" baseline="0" dirty="0"/>
              <a:t>AVC</a:t>
            </a:r>
            <a:r>
              <a:rPr lang="en-US" baseline="0" dirty="0"/>
              <a:t> curve here. </a:t>
            </a:r>
            <a:endParaRPr lang="en-US" dirty="0"/>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First click: identifies </a:t>
            </a:r>
            <a:r>
              <a:rPr lang="en-US" b="1" i="1" dirty="0"/>
              <a:t>Q</a:t>
            </a:r>
            <a:r>
              <a:rPr lang="en-US" dirty="0"/>
              <a:t> where </a:t>
            </a:r>
            <a:r>
              <a:rPr lang="en-US" b="1" i="1" dirty="0"/>
              <a:t>MR</a:t>
            </a:r>
            <a:r>
              <a:rPr lang="en-US" dirty="0"/>
              <a:t> = </a:t>
            </a:r>
            <a:r>
              <a:rPr lang="en-US" b="1" i="1" dirty="0"/>
              <a:t>MC</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Second click: for </a:t>
            </a:r>
            <a:r>
              <a:rPr lang="en-US" b="1" i="1" dirty="0"/>
              <a:t>Q</a:t>
            </a:r>
            <a:r>
              <a:rPr lang="en-US" dirty="0"/>
              <a:t> = 7,</a:t>
            </a:r>
            <a:r>
              <a:rPr lang="en-US" baseline="0" dirty="0"/>
              <a:t> identifies </a:t>
            </a:r>
            <a:r>
              <a:rPr lang="en-US" b="1" i="1" baseline="0" dirty="0"/>
              <a:t>ATC</a:t>
            </a:r>
            <a:r>
              <a:rPr lang="en-US" baseline="0" dirty="0"/>
              <a:t> = $15</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Third click: </a:t>
            </a:r>
            <a:r>
              <a:rPr lang="en-US" b="1" i="1" baseline="0" dirty="0"/>
              <a:t>TR</a:t>
            </a:r>
            <a:r>
              <a:rPr lang="en-US" baseline="0" dirty="0"/>
              <a:t> = </a:t>
            </a:r>
            <a:r>
              <a:rPr lang="en-US" b="1" i="1" baseline="0" dirty="0"/>
              <a:t>P</a:t>
            </a:r>
            <a:r>
              <a:rPr lang="en-US" baseline="0" dirty="0"/>
              <a:t> * </a:t>
            </a:r>
            <a:r>
              <a:rPr lang="en-US" b="1" i="1" baseline="0" dirty="0"/>
              <a:t>Q</a:t>
            </a:r>
            <a:r>
              <a:rPr lang="en-US" baseline="0" dirty="0"/>
              <a:t> and identifies the area </a:t>
            </a:r>
            <a:r>
              <a:rPr lang="en-US" b="1" i="1" baseline="0" dirty="0"/>
              <a:t>TR</a:t>
            </a:r>
            <a:r>
              <a:rPr lang="en-US" baseline="0" dirty="0"/>
              <a:t> on the graph. (This is not in the textbook.)</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Fourth click: </a:t>
            </a:r>
            <a:r>
              <a:rPr lang="en-US" b="1" i="1" baseline="0" dirty="0"/>
              <a:t>TC</a:t>
            </a:r>
            <a:r>
              <a:rPr lang="en-US" baseline="0" dirty="0"/>
              <a:t> = </a:t>
            </a:r>
            <a:r>
              <a:rPr lang="en-US" b="1" i="1" baseline="0" dirty="0"/>
              <a:t>ATC</a:t>
            </a:r>
            <a:r>
              <a:rPr lang="en-US" baseline="0" dirty="0"/>
              <a:t> * </a:t>
            </a:r>
            <a:r>
              <a:rPr lang="en-US" b="1" i="1" baseline="0" dirty="0"/>
              <a:t>Q</a:t>
            </a:r>
            <a:r>
              <a:rPr lang="en-US" baseline="0" dirty="0"/>
              <a:t> and identifies the area </a:t>
            </a:r>
            <a:r>
              <a:rPr lang="en-US" b="1" i="1" baseline="0" dirty="0"/>
              <a:t>TC</a:t>
            </a:r>
            <a:r>
              <a:rPr lang="en-US" baseline="0" dirty="0"/>
              <a:t> on the graph. (This is not in the textbook.)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So now we can see that the </a:t>
            </a:r>
            <a:r>
              <a:rPr lang="en-US" b="1" i="1" baseline="0" dirty="0"/>
              <a:t>TR</a:t>
            </a:r>
            <a:r>
              <a:rPr lang="en-US" baseline="0" dirty="0"/>
              <a:t> area (green) minus the </a:t>
            </a:r>
            <a:r>
              <a:rPr lang="en-US" b="1" i="1" baseline="0" dirty="0"/>
              <a:t>TC</a:t>
            </a:r>
            <a:r>
              <a:rPr lang="en-US" baseline="0" dirty="0"/>
              <a:t> area (blue) is the profit area.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Fifth click: areas </a:t>
            </a:r>
            <a:r>
              <a:rPr lang="en-US" b="1" i="1" baseline="0" dirty="0"/>
              <a:t>TR</a:t>
            </a:r>
            <a:r>
              <a:rPr lang="en-US" baseline="0" dirty="0"/>
              <a:t> and </a:t>
            </a:r>
            <a:r>
              <a:rPr lang="en-US" b="1" i="1" baseline="0" dirty="0"/>
              <a:t>TC</a:t>
            </a:r>
            <a:r>
              <a:rPr lang="en-US" baseline="0" dirty="0"/>
              <a:t> disappear, instead identifies the profit area on the graph as (</a:t>
            </a:r>
            <a:r>
              <a:rPr lang="en-US" b="1" i="1" baseline="0" dirty="0"/>
              <a:t>P</a:t>
            </a:r>
            <a:r>
              <a:rPr lang="en-US" baseline="0" dirty="0"/>
              <a:t> – </a:t>
            </a:r>
            <a:r>
              <a:rPr lang="en-US" b="1" i="1" baseline="0" dirty="0"/>
              <a:t>ATC</a:t>
            </a:r>
            <a:r>
              <a:rPr lang="en-US" baseline="0" dirty="0"/>
              <a:t>) * </a:t>
            </a:r>
            <a:r>
              <a:rPr lang="en-US" b="1" i="1" baseline="0" dirty="0"/>
              <a:t>Q</a:t>
            </a:r>
            <a:r>
              <a:rPr lang="en-US" baseline="0" dirty="0"/>
              <a:t>. </a:t>
            </a:r>
            <a:endParaRPr lang="en-US" dirty="0"/>
          </a:p>
          <a:p>
            <a:pPr eaLnBrk="1" hangingPunct="1"/>
            <a:endParaRPr lang="en-US" dirty="0"/>
          </a:p>
          <a:p>
            <a:pPr eaLnBrk="1" hangingPunct="1"/>
            <a:r>
              <a:rPr lang="en-US" dirty="0"/>
              <a:t>The area of the pink profit rectangle (in presentation mode): </a:t>
            </a:r>
          </a:p>
          <a:p>
            <a:pPr eaLnBrk="1" hangingPunct="1"/>
            <a:r>
              <a:rPr lang="en-US" dirty="0"/>
              <a:t>   = height x width </a:t>
            </a:r>
          </a:p>
          <a:p>
            <a:pPr eaLnBrk="1" hangingPunct="1"/>
            <a:r>
              <a:rPr lang="en-US" dirty="0"/>
              <a:t>   = (profit per unit) x (number of units) </a:t>
            </a:r>
          </a:p>
          <a:p>
            <a:pPr eaLnBrk="1" hangingPunct="1"/>
            <a:r>
              <a:rPr lang="en-US" dirty="0"/>
              <a:t>   = (P – ATC) x Q</a:t>
            </a:r>
          </a:p>
          <a:p>
            <a:pPr eaLnBrk="1" hangingPunct="1"/>
            <a:r>
              <a:rPr lang="en-US" dirty="0"/>
              <a:t>   = total profit.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3353625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AVC curve is needed here because</a:t>
            </a:r>
            <a:r>
              <a:rPr lang="en-US" baseline="0" dirty="0"/>
              <a:t> students have to remember the shut-down condition: if </a:t>
            </a:r>
            <a:r>
              <a:rPr lang="en-US" b="1" i="1" baseline="0" dirty="0"/>
              <a:t>P</a:t>
            </a:r>
            <a:r>
              <a:rPr lang="en-US" baseline="0" dirty="0"/>
              <a:t> &gt; </a:t>
            </a:r>
            <a:r>
              <a:rPr lang="en-US" b="1" i="1" baseline="0" dirty="0"/>
              <a:t>AVC</a:t>
            </a:r>
            <a:r>
              <a:rPr lang="en-US" baseline="0" dirty="0"/>
              <a:t>, keep producing, but if </a:t>
            </a:r>
            <a:r>
              <a:rPr lang="en-US" b="1" i="1" baseline="0" dirty="0"/>
              <a:t>P</a:t>
            </a:r>
            <a:r>
              <a:rPr lang="en-US" baseline="0" dirty="0"/>
              <a:t> &lt; </a:t>
            </a:r>
            <a:r>
              <a:rPr lang="en-US" b="1" i="1" baseline="0" dirty="0"/>
              <a:t>AVC</a:t>
            </a:r>
            <a:r>
              <a:rPr lang="en-US" baseline="0" dirty="0"/>
              <a:t> then the firm has to shut down in the short run and produce </a:t>
            </a:r>
            <a:r>
              <a:rPr lang="en-US" b="1" i="1" baseline="0" dirty="0"/>
              <a:t>Q</a:t>
            </a:r>
            <a:r>
              <a:rPr lang="en-US" baseline="0" dirty="0"/>
              <a:t> = 0.</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20894252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The height of the rectangle is </a:t>
            </a:r>
            <a:r>
              <a:rPr lang="en-US" b="1" i="1" dirty="0"/>
              <a:t>ATC</a:t>
            </a:r>
            <a:r>
              <a:rPr lang="en-US" dirty="0"/>
              <a:t> – </a:t>
            </a:r>
            <a:r>
              <a:rPr lang="en-US" b="1" i="1" dirty="0"/>
              <a:t>P</a:t>
            </a:r>
            <a:r>
              <a:rPr lang="en-US" dirty="0"/>
              <a:t>, which is the loss per unit. The width of the rectangle is </a:t>
            </a:r>
            <a:r>
              <a:rPr lang="en-US" b="1" u="sng" dirty="0"/>
              <a:t>Q</a:t>
            </a:r>
            <a:r>
              <a:rPr lang="en-US" dirty="0"/>
              <a:t>, the number of units.  </a:t>
            </a:r>
          </a:p>
          <a:p>
            <a:pPr eaLnBrk="1" hangingPunct="1"/>
            <a:r>
              <a:rPr lang="en-US" dirty="0"/>
              <a:t>The area of the rectangle </a:t>
            </a:r>
          </a:p>
          <a:p>
            <a:pPr eaLnBrk="1" hangingPunct="1"/>
            <a:r>
              <a:rPr lang="en-US" dirty="0"/>
              <a:t>   = height x width </a:t>
            </a:r>
          </a:p>
          <a:p>
            <a:pPr eaLnBrk="1" hangingPunct="1"/>
            <a:r>
              <a:rPr lang="en-US" dirty="0"/>
              <a:t>   = (loss per unit) x (number of units) </a:t>
            </a:r>
          </a:p>
          <a:p>
            <a:pPr eaLnBrk="1" hangingPunct="1"/>
            <a:r>
              <a:rPr lang="en-US" dirty="0"/>
              <a:t>   = total loss.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2336696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 the real world, there are many markets in which assumptions (1) and (2) do not hold.  We make them here for simplicity.  Later in the chapter, we will see how our results change if we drop either of these assumptions.  </a:t>
            </a:r>
          </a:p>
          <a:p>
            <a:pPr eaLnBrk="1" hangingPunct="1"/>
            <a:endParaRPr lang="en-US" dirty="0"/>
          </a:p>
          <a:p>
            <a:pPr eaLnBrk="1" hangingPunct="1"/>
            <a:r>
              <a:rPr lang="en-US" dirty="0"/>
              <a:t>Assumption (3) is more reasonable:  In the real world, it is much easier for firms to enter or exit in the long run than in the short run.  </a:t>
            </a:r>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1346876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7935166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E15A0684-473B-42A2-BCBD-0515A466B803}" type="slidenum">
              <a:rPr lang="en-US" smtClean="0"/>
              <a:pPr/>
              <a:t>22</a:t>
            </a:fld>
            <a:endParaRPr lang="en-US"/>
          </a:p>
        </p:txBody>
      </p:sp>
      <p:sp>
        <p:nvSpPr>
          <p:cNvPr id="7270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C31029C5-405B-435E-9FE0-7720F260DF47}" type="slidenum">
              <a:rPr lang="en-US" sz="1300">
                <a:cs typeface="Arial" charset="0"/>
              </a:rPr>
              <a:pPr algn="r"/>
              <a:t>22</a:t>
            </a:fld>
            <a:endParaRPr lang="en-US" sz="1300">
              <a:cs typeface="Arial" charset="0"/>
            </a:endParaRPr>
          </a:p>
        </p:txBody>
      </p:sp>
      <p:sp>
        <p:nvSpPr>
          <p:cNvPr id="72708" name="Rectangle 2"/>
          <p:cNvSpPr>
            <a:spLocks noGrp="1" noRot="1" noChangeAspect="1" noChangeArrowheads="1" noTextEdit="1"/>
          </p:cNvSpPr>
          <p:nvPr>
            <p:ph type="sldImg"/>
          </p:nvPr>
        </p:nvSpPr>
        <p:spPr>
          <a:xfrm>
            <a:off x="1257300" y="561975"/>
            <a:ext cx="4800600" cy="3600450"/>
          </a:xfrm>
          <a:ln/>
        </p:spPr>
      </p:sp>
      <p:sp>
        <p:nvSpPr>
          <p:cNvPr id="72709" name="Rectangle 3"/>
          <p:cNvSpPr>
            <a:spLocks noGrp="1" noChangeArrowheads="1"/>
          </p:cNvSpPr>
          <p:nvPr>
            <p:ph type="body" idx="1"/>
          </p:nvPr>
        </p:nvSpPr>
        <p:spPr>
          <a:xfrm>
            <a:off x="731520" y="4460557"/>
            <a:ext cx="5852160" cy="4420553"/>
          </a:xfrm>
          <a:noFill/>
          <a:ln/>
        </p:spPr>
        <p:txBody>
          <a:bodyPr/>
          <a:lstStyle/>
          <a:p>
            <a:pPr eaLnBrk="1" hangingPunct="1"/>
            <a:r>
              <a:rPr lang="en-US" dirty="0"/>
              <a:t>“Identical” means all firms have the same cost curves.  </a:t>
            </a:r>
          </a:p>
          <a:p>
            <a:pPr eaLnBrk="1" hangingPunct="1"/>
            <a:r>
              <a:rPr lang="en-US" dirty="0"/>
              <a:t>Note:  </a:t>
            </a:r>
            <a:r>
              <a:rPr lang="en-US" b="1" i="1" dirty="0"/>
              <a:t>P</a:t>
            </a:r>
            <a:r>
              <a:rPr lang="en-US" b="1" baseline="-25000" dirty="0"/>
              <a:t>1</a:t>
            </a:r>
            <a:r>
              <a:rPr lang="en-US" dirty="0"/>
              <a:t> is minimum </a:t>
            </a:r>
            <a:r>
              <a:rPr lang="en-US" b="1" i="1" dirty="0"/>
              <a:t>AVC</a:t>
            </a:r>
            <a:r>
              <a:rPr lang="en-US" dirty="0"/>
              <a:t>.  At any price below </a:t>
            </a:r>
            <a:r>
              <a:rPr lang="en-US" b="1" i="1" dirty="0"/>
              <a:t>P</a:t>
            </a:r>
            <a:r>
              <a:rPr lang="en-US" b="1" baseline="-25000" dirty="0"/>
              <a:t>1</a:t>
            </a:r>
            <a:r>
              <a:rPr lang="en-US" b="0" dirty="0"/>
              <a:t>,</a:t>
            </a:r>
            <a:r>
              <a:rPr lang="en-US" dirty="0"/>
              <a:t> each firm will shut down, and market quantity supplied will equal zero.  Hence, the market supply curve begins at price = </a:t>
            </a:r>
            <a:r>
              <a:rPr lang="en-US" b="1" i="1" dirty="0"/>
              <a:t>P</a:t>
            </a:r>
            <a:r>
              <a:rPr lang="en-US" b="1" baseline="-25000" dirty="0"/>
              <a:t>1</a:t>
            </a:r>
            <a:r>
              <a:rPr lang="en-US" dirty="0"/>
              <a:t> and </a:t>
            </a:r>
            <a:r>
              <a:rPr lang="en-US" b="1" i="1" dirty="0"/>
              <a:t>Q</a:t>
            </a:r>
            <a:r>
              <a:rPr lang="en-US" dirty="0"/>
              <a:t> = 10,000.  </a:t>
            </a:r>
          </a:p>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3500509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 scale: the Q where ATC is minimized.</a:t>
            </a:r>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12630401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82AD5289-72AD-459C-AB47-BBAF455DCD14}" type="slidenum">
              <a:rPr lang="en-US" smtClean="0"/>
              <a:pPr/>
              <a:t>25</a:t>
            </a:fld>
            <a:endParaRPr lang="en-US"/>
          </a:p>
        </p:txBody>
      </p:sp>
      <p:sp>
        <p:nvSpPr>
          <p:cNvPr id="7680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63800A6F-7FAF-4517-AC1F-87E8157353D2}" type="slidenum">
              <a:rPr lang="en-US" sz="1300">
                <a:cs typeface="Arial" charset="0"/>
              </a:rPr>
              <a:pPr algn="r"/>
              <a:t>25</a:t>
            </a:fld>
            <a:endParaRPr lang="en-US" sz="1300">
              <a:cs typeface="Arial" charset="0"/>
            </a:endParaRPr>
          </a:p>
        </p:txBody>
      </p:sp>
      <p:sp>
        <p:nvSpPr>
          <p:cNvPr id="76804" name="Rectangle 2"/>
          <p:cNvSpPr>
            <a:spLocks noGrp="1" noRot="1" noChangeAspect="1" noChangeArrowheads="1" noTextEdit="1"/>
          </p:cNvSpPr>
          <p:nvPr>
            <p:ph type="sldImg"/>
          </p:nvPr>
        </p:nvSpPr>
        <p:spPr>
          <a:xfrm>
            <a:off x="1257300" y="561975"/>
            <a:ext cx="4800600" cy="3600450"/>
          </a:xfrm>
          <a:ln/>
        </p:spPr>
      </p:sp>
      <p:sp>
        <p:nvSpPr>
          <p:cNvPr id="76805" name="Rectangle 3"/>
          <p:cNvSpPr>
            <a:spLocks noGrp="1" noChangeArrowheads="1"/>
          </p:cNvSpPr>
          <p:nvPr>
            <p:ph type="body" idx="1"/>
          </p:nvPr>
        </p:nvSpPr>
        <p:spPr>
          <a:xfrm>
            <a:off x="731520" y="4460557"/>
            <a:ext cx="5852160" cy="4420553"/>
          </a:xfrm>
          <a:noFill/>
          <a:ln/>
        </p:spPr>
        <p:txBody>
          <a:bodyPr/>
          <a:lstStyle/>
          <a:p>
            <a:pPr eaLnBrk="1" hangingPunct="1"/>
            <a:r>
              <a:rPr lang="en-US" dirty="0"/>
              <a:t>That the </a:t>
            </a:r>
            <a:r>
              <a:rPr lang="en-US" b="1" i="1" dirty="0"/>
              <a:t>LR</a:t>
            </a:r>
            <a:r>
              <a:rPr lang="en-US" dirty="0"/>
              <a:t> market supply curve is horizontal at </a:t>
            </a:r>
            <a:r>
              <a:rPr lang="en-US" b="1" i="1" dirty="0"/>
              <a:t>P</a:t>
            </a:r>
            <a:r>
              <a:rPr lang="en-US" dirty="0"/>
              <a:t> = min </a:t>
            </a:r>
            <a:r>
              <a:rPr lang="en-US" b="1" i="1" dirty="0"/>
              <a:t>ATC</a:t>
            </a:r>
            <a:r>
              <a:rPr lang="en-US" dirty="0"/>
              <a:t> will become more clear shortly, when students see the </a:t>
            </a:r>
            <a:r>
              <a:rPr lang="en-US" b="1" dirty="0"/>
              <a:t>SR</a:t>
            </a:r>
            <a:r>
              <a:rPr lang="en-US" dirty="0"/>
              <a:t> and </a:t>
            </a:r>
            <a:r>
              <a:rPr lang="en-US" b="1" dirty="0"/>
              <a:t>LR</a:t>
            </a:r>
            <a:r>
              <a:rPr lang="en-US" dirty="0"/>
              <a:t> effects of an increase in demand. </a:t>
            </a:r>
          </a:p>
          <a:p>
            <a:pPr eaLnBrk="1" hangingPunct="1"/>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Students often wonder why firms bother to stay in business if they make zero profit.  The textbook gives a nice discussion of this, briefly summarized on this slide.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1528010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your students</a:t>
            </a:r>
            <a:r>
              <a:rPr lang="en-US" baseline="0" dirty="0"/>
              <a:t> 5-10 minutes to solve the exercise, then ask for volunteers (or show the correct answers on the next 2 slides). After this exercise, your students should have no issues identifying profit-maximizing quantities and if a firm makes a profit, a loss, or if it should shut down in the </a:t>
            </a:r>
            <a:r>
              <a:rPr lang="en-US" b="1" baseline="0" dirty="0"/>
              <a:t>SR</a:t>
            </a:r>
            <a:r>
              <a:rPr lang="en-US" baseline="0" dirty="0"/>
              <a:t>.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20894252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20894252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20894252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84AC4D3F-4411-423C-95F3-86D9584731EC}" type="slidenum">
              <a:rPr lang="en-US" smtClean="0"/>
              <a:pPr/>
              <a:t>30</a:t>
            </a:fld>
            <a:endParaRPr lang="en-US"/>
          </a:p>
        </p:txBody>
      </p:sp>
      <p:sp>
        <p:nvSpPr>
          <p:cNvPr id="7782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BF2759D2-7BA9-4C74-8D39-1CFAD4C98BF2}" type="slidenum">
              <a:rPr lang="en-US" sz="1300">
                <a:cs typeface="Arial" charset="0"/>
              </a:rPr>
              <a:pPr algn="r"/>
              <a:t>30</a:t>
            </a:fld>
            <a:endParaRPr lang="en-US" sz="1300">
              <a:cs typeface="Arial" charset="0"/>
            </a:endParaRPr>
          </a:p>
        </p:txBody>
      </p:sp>
      <p:sp>
        <p:nvSpPr>
          <p:cNvPr id="77828" name="Rectangle 2"/>
          <p:cNvSpPr>
            <a:spLocks noGrp="1" noRot="1" noChangeAspect="1" noChangeArrowheads="1" noTextEdit="1"/>
          </p:cNvSpPr>
          <p:nvPr>
            <p:ph type="sldImg"/>
          </p:nvPr>
        </p:nvSpPr>
        <p:spPr>
          <a:xfrm>
            <a:off x="1257300" y="561975"/>
            <a:ext cx="4800600" cy="3600450"/>
          </a:xfrm>
          <a:ln/>
        </p:spPr>
      </p:sp>
      <p:sp>
        <p:nvSpPr>
          <p:cNvPr id="77829" name="Rectangle 3"/>
          <p:cNvSpPr>
            <a:spLocks noGrp="1" noChangeArrowheads="1"/>
          </p:cNvSpPr>
          <p:nvPr>
            <p:ph type="body" idx="1"/>
          </p:nvPr>
        </p:nvSpPr>
        <p:spPr>
          <a:xfrm>
            <a:off x="731520" y="4460557"/>
            <a:ext cx="5852160" cy="4420553"/>
          </a:xfrm>
          <a:noFill/>
          <a:ln/>
        </p:spPr>
        <p:txBody>
          <a:bodyPr/>
          <a:lstStyle/>
          <a:p>
            <a:pPr eaLnBrk="1" hangingPunct="1"/>
            <a:r>
              <a:rPr lang="en-US" dirty="0"/>
              <a:t>This slide replicates Figure 8 from the textbook.  In edit mode, the text boxes in the top part of the slide appear to be on top of each other.  But in slide-show mode, the text boxes display one at a time.  If students did not previously understand why the LR market supply curve is horizontal, this slide may help.  </a:t>
            </a:r>
          </a:p>
          <a:p>
            <a:pPr eaLnBrk="1" hangingPunct="1"/>
            <a:endParaRPr lang="en-US" dirty="0"/>
          </a:p>
          <a:p>
            <a:pPr eaLnBrk="1" hangingPunct="1"/>
            <a:r>
              <a:rPr lang="en-US" dirty="0"/>
              <a:t>The comments read “A firm begins in long-run equilibrium…but then an increase in demand raises </a:t>
            </a:r>
            <a:r>
              <a:rPr lang="en-US" b="1" i="1" dirty="0"/>
              <a:t>P</a:t>
            </a:r>
            <a:r>
              <a:rPr lang="en-US" dirty="0"/>
              <a:t>… leading to </a:t>
            </a:r>
            <a:r>
              <a:rPr lang="en-US" b="1" i="1" dirty="0"/>
              <a:t>SR</a:t>
            </a:r>
            <a:r>
              <a:rPr lang="en-US" dirty="0"/>
              <a:t> profits for the firm….Over time, profits induce entry, shifting </a:t>
            </a:r>
            <a:r>
              <a:rPr lang="en-US" b="1" i="1" dirty="0"/>
              <a:t>S</a:t>
            </a:r>
            <a:r>
              <a:rPr lang="en-US" dirty="0"/>
              <a:t> to the right,</a:t>
            </a:r>
            <a:r>
              <a:rPr lang="en-US" baseline="0" dirty="0"/>
              <a:t> reducing </a:t>
            </a:r>
            <a:r>
              <a:rPr lang="en-US" b="1" i="1" baseline="0" dirty="0"/>
              <a:t>P</a:t>
            </a:r>
            <a:r>
              <a:rPr lang="en-US" baseline="0" dirty="0"/>
              <a:t>… driving profits to zero and restoring long-run equilibrium.”</a:t>
            </a:r>
            <a:endParaRPr lang="en-US" dirty="0"/>
          </a:p>
          <a:p>
            <a:pPr eaLnBrk="1" hangingPunct="1"/>
            <a:endParaRPr lang="en-US" dirty="0"/>
          </a:p>
          <a:p>
            <a:pPr eaLnBrk="1" hangingPunct="1"/>
            <a:r>
              <a:rPr lang="en-US" dirty="0">
                <a:solidFill>
                  <a:srgbClr val="AE1221"/>
                </a:solidFill>
              </a:rPr>
              <a:t>The next 3 slides are hidden in “presentation mode”, but they will print. They are Figure 8 from the textbook going through the same steps but in 3 panels: (a)</a:t>
            </a:r>
            <a:r>
              <a:rPr lang="en-US" baseline="0" dirty="0">
                <a:solidFill>
                  <a:srgbClr val="AE1221"/>
                </a:solidFill>
              </a:rPr>
              <a:t> is initial condition, (b) is short-run response, and (c ) is the long-run response</a:t>
            </a:r>
            <a:r>
              <a:rPr lang="en-US" dirty="0">
                <a:solidFill>
                  <a:srgbClr val="AE1221"/>
                </a:solidFill>
              </a:rPr>
              <a:t>.</a:t>
            </a:r>
            <a:r>
              <a:rPr lang="en-US" baseline="0" dirty="0">
                <a:solidFill>
                  <a:srgbClr val="AE1221"/>
                </a:solidFill>
              </a:rPr>
              <a:t> Also, in the textbook, the market is on the left and the firm is on the right. To make the next 3 slides visible in “presentation mode: go to “slide sorter mode”, select the slide to un-hide, then right-click and select “hide slide.” Do this for each of the 3 slides titled “Figure 8.”</a:t>
            </a:r>
            <a:endParaRPr lang="en-US" dirty="0">
              <a:solidFill>
                <a:srgbClr val="AE122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slide visible when presenting: </a:t>
            </a:r>
          </a:p>
          <a:p>
            <a:pPr marL="171450" indent="-171450">
              <a:buFontTx/>
              <a:buChar char="-"/>
            </a:pPr>
            <a:r>
              <a:rPr lang="en-US" dirty="0"/>
              <a:t>Go to ‘Slide Sorter’ (lower right corner in PowerPoint)</a:t>
            </a:r>
          </a:p>
          <a:p>
            <a:pPr marL="171450" indent="-171450">
              <a:buFontTx/>
              <a:buChar char="-"/>
            </a:pPr>
            <a:r>
              <a:rPr lang="en-US" dirty="0"/>
              <a:t>Right-click on the slide, select ‘Hide Slide’</a:t>
            </a:r>
          </a:p>
          <a:p>
            <a:pPr marL="171450" indent="-171450">
              <a:buFontTx/>
              <a:buChar char="-"/>
            </a:pPr>
            <a:r>
              <a:rPr lang="en-US" dirty="0"/>
              <a:t>The slide becomes active in presentation mode.</a:t>
            </a:r>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1070249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slide visible when presenting: </a:t>
            </a:r>
          </a:p>
          <a:p>
            <a:pPr marL="171450" indent="-171450">
              <a:buFontTx/>
              <a:buChar char="-"/>
            </a:pPr>
            <a:r>
              <a:rPr lang="en-US" dirty="0"/>
              <a:t>Go to ‘Slide Sorter’ (lower right corner in PowerPoint)</a:t>
            </a:r>
          </a:p>
          <a:p>
            <a:pPr marL="171450" indent="-171450">
              <a:buFontTx/>
              <a:buChar char="-"/>
            </a:pPr>
            <a:r>
              <a:rPr lang="en-US" dirty="0"/>
              <a:t>Right-click on the slide, select ‘Hide Slide’</a:t>
            </a:r>
          </a:p>
          <a:p>
            <a:pPr marL="171450" indent="-171450">
              <a:buFontTx/>
              <a:buChar char="-"/>
            </a:pPr>
            <a:r>
              <a:rPr lang="en-US" dirty="0"/>
              <a:t>The slide becomes active in presentation mode.</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3652497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slide visible when presenting: </a:t>
            </a:r>
          </a:p>
          <a:p>
            <a:pPr marL="171450" indent="-171450">
              <a:buFontTx/>
              <a:buChar char="-"/>
            </a:pPr>
            <a:r>
              <a:rPr lang="en-US" dirty="0"/>
              <a:t>Go to ‘Slide Sorter’ (lower right corner in PowerPoint)</a:t>
            </a:r>
          </a:p>
          <a:p>
            <a:pPr marL="171450" indent="-171450">
              <a:buFontTx/>
              <a:buChar char="-"/>
            </a:pPr>
            <a:r>
              <a:rPr lang="en-US" dirty="0"/>
              <a:t>Right-click on the slide, select ‘Hide Slide’</a:t>
            </a:r>
          </a:p>
          <a:p>
            <a:pPr marL="171450" indent="-171450">
              <a:buFontTx/>
              <a:buChar char="-"/>
            </a:pPr>
            <a:r>
              <a:rPr lang="en-US" dirty="0"/>
              <a:t>The slide becomes active in presentation mode.</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1352421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Here are two of the assumptions we made previously, when we began the process of deriving the </a:t>
            </a:r>
            <a:r>
              <a:rPr lang="en-US" b="1" i="1" dirty="0"/>
              <a:t>LR</a:t>
            </a:r>
            <a:r>
              <a:rPr lang="en-US" dirty="0"/>
              <a:t> market supply curve.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3141192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Another example:  There’s a limited amount of beachfront property.  An expansion of the beach resort industry will bid up the price of such property, and raises costs in the industry.  </a:t>
            </a:r>
          </a:p>
          <a:p>
            <a:pPr defTabSz="966612">
              <a:defRPr/>
            </a:pP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27140119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The marginal firm is the firm that would exit the market if the price were any lower.  </a:t>
            </a:r>
          </a:p>
          <a:p>
            <a:pPr defTabSz="966612">
              <a:defRPr/>
            </a:pPr>
            <a:r>
              <a:rPr lang="en-US" dirty="0"/>
              <a:t>At any </a:t>
            </a:r>
            <a:r>
              <a:rPr lang="en-US" b="1" i="1" dirty="0"/>
              <a:t>P</a:t>
            </a:r>
            <a:r>
              <a:rPr lang="en-US" dirty="0"/>
              <a:t>, for the marginal firm, </a:t>
            </a:r>
            <a:r>
              <a:rPr lang="en-US" b="1" i="1" dirty="0"/>
              <a:t>P</a:t>
            </a:r>
            <a:r>
              <a:rPr lang="en-US" dirty="0"/>
              <a:t> = minimum </a:t>
            </a:r>
            <a:r>
              <a:rPr lang="en-US" b="1" i="1" dirty="0"/>
              <a:t>ATC</a:t>
            </a:r>
            <a:r>
              <a:rPr lang="en-US" dirty="0"/>
              <a:t>  and  profit = 0. For lower-cost firms,  profit &gt; 0.</a:t>
            </a:r>
          </a:p>
          <a:p>
            <a:pPr defTabSz="966612">
              <a:defRPr/>
            </a:pPr>
            <a:endParaRPr lang="en-US" dirty="0"/>
          </a:p>
          <a:p>
            <a:pPr defTabSz="966612">
              <a:defRPr/>
            </a:pPr>
            <a:r>
              <a:rPr lang="en-US" dirty="0"/>
              <a:t>When firms have different costs</a:t>
            </a:r>
          </a:p>
          <a:p>
            <a:pPr marL="171450" indent="-171450" defTabSz="966612">
              <a:buFont typeface="Arial" panose="020B0604020202020204" pitchFamily="34" charset="0"/>
              <a:buChar char="•"/>
              <a:defRPr/>
            </a:pPr>
            <a:r>
              <a:rPr lang="en-US" dirty="0"/>
              <a:t>Some firms earn profit even in the long run. The market price reflects the average total cost of the marginal firm (the firm that would exit if the price were any lower). This firm earns zero profit, but firms with lower costs earn positive profit. </a:t>
            </a:r>
          </a:p>
          <a:p>
            <a:pPr marL="171450" indent="-171450" defTabSz="966612">
              <a:buFont typeface="Arial" panose="020B0604020202020204" pitchFamily="34" charset="0"/>
              <a:buChar char="•"/>
              <a:defRPr/>
            </a:pPr>
            <a:r>
              <a:rPr lang="en-US" dirty="0"/>
              <a:t>Entry does not eliminate this profit because would-be entrants have higher costs than firms already in the market. </a:t>
            </a:r>
          </a:p>
          <a:p>
            <a:pPr marL="171450" indent="-171450" defTabSz="966612">
              <a:buFont typeface="Arial" panose="020B0604020202020204" pitchFamily="34" charset="0"/>
              <a:buChar char="•"/>
              <a:defRPr/>
            </a:pPr>
            <a:r>
              <a:rPr lang="en-US" dirty="0"/>
              <a:t>Higher-cost firms will enter only if the price rises, making the market profitable for them.</a:t>
            </a:r>
          </a:p>
          <a:p>
            <a:pPr marL="171450" indent="-171450" defTabSz="966612">
              <a:buFont typeface="Arial" panose="020B0604020202020204" pitchFamily="34" charset="0"/>
              <a:buChar char="•"/>
              <a:defRPr/>
            </a:pPr>
            <a:endParaRPr lang="en-US" dirty="0"/>
          </a:p>
          <a:p>
            <a:pPr defTabSz="966612">
              <a:defRPr/>
            </a:pPr>
            <a:r>
              <a:rPr lang="en-US" dirty="0"/>
              <a:t>Because firms can enter and exit more easily in the long run than in the short run, the long-run supply curve is typically more elastic than the short-run supply curve.</a:t>
            </a:r>
          </a:p>
          <a:p>
            <a:pPr defTabSz="966612">
              <a:defRPr/>
            </a:pPr>
            <a:endParaRPr lang="en-US" dirty="0"/>
          </a:p>
          <a:p>
            <a:pPr defTabSz="966612">
              <a:defRPr/>
            </a:pPr>
            <a:endParaRPr lang="en-US" dirty="0"/>
          </a:p>
          <a:p>
            <a:pPr defTabSz="966612">
              <a:defRPr/>
            </a:pP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31411920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Recall from Chapter 7:  a competitive market equilibrium is efficient.  This chapter has shown why:  </a:t>
            </a:r>
            <a:r>
              <a:rPr lang="en-US" b="1" i="1" dirty="0"/>
              <a:t>P</a:t>
            </a:r>
            <a:r>
              <a:rPr lang="en-US" dirty="0"/>
              <a:t> = </a:t>
            </a:r>
            <a:r>
              <a:rPr lang="en-US" b="1" i="1" dirty="0"/>
              <a:t>MR</a:t>
            </a:r>
            <a:r>
              <a:rPr lang="en-US" dirty="0"/>
              <a:t> under perfect competition, so </a:t>
            </a:r>
            <a:r>
              <a:rPr lang="en-US" b="1" i="1" dirty="0"/>
              <a:t>P</a:t>
            </a:r>
            <a:r>
              <a:rPr lang="en-US" dirty="0"/>
              <a:t> = </a:t>
            </a:r>
            <a:r>
              <a:rPr lang="en-US" b="1" i="1" dirty="0"/>
              <a:t>MC</a:t>
            </a:r>
            <a:r>
              <a:rPr lang="en-US" dirty="0"/>
              <a:t> in the competitive market equilibrium.  </a:t>
            </a:r>
          </a:p>
          <a:p>
            <a:pPr eaLnBrk="1" hangingPunct="1"/>
            <a:endParaRPr lang="en-US" dirty="0"/>
          </a:p>
          <a:p>
            <a:pPr defTabSz="966612">
              <a:defRPr/>
            </a:pPr>
            <a:r>
              <a:rPr lang="en-US" dirty="0"/>
              <a:t>In the next chapter, monopoly:  pricing and production decisions, deadweight loss, regulation.</a:t>
            </a:r>
          </a:p>
          <a:p>
            <a:pPr eaLnBrk="1" hangingPunct="1"/>
            <a:endParaRPr lang="en-US" dirty="0"/>
          </a:p>
          <a:p>
            <a:pPr eaLnBrk="1" hangingPunct="1"/>
            <a:r>
              <a:rPr lang="en-US" dirty="0"/>
              <a:t>Reviewing these concepts now sets the stage for the next few chapters, where firms with market power set their price above marginal cost, leading to market inefficiencies and a potential role for government intervention.  </a:t>
            </a:r>
          </a:p>
        </p:txBody>
      </p:sp>
      <p:sp>
        <p:nvSpPr>
          <p:cNvPr id="4" name="Slide Number Placeholder 3"/>
          <p:cNvSpPr>
            <a:spLocks noGrp="1"/>
          </p:cNvSpPr>
          <p:nvPr>
            <p:ph type="sldNum" sz="quarter" idx="10"/>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29609808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 class discussion.</a:t>
            </a:r>
          </a:p>
          <a:p>
            <a:pPr defTabSz="948507"/>
            <a:endParaRPr lang="en-US" baseline="0" dirty="0"/>
          </a:p>
          <a:p>
            <a:pPr defTabSz="948507"/>
            <a:r>
              <a:rPr lang="en-US" sz="1200" kern="1200" dirty="0">
                <a:solidFill>
                  <a:schemeClr val="tx1"/>
                </a:solidFill>
                <a:effectLst/>
                <a:latin typeface="+mn-lt"/>
                <a:ea typeface="+mn-ea"/>
                <a:cs typeface="+mn-cs"/>
              </a:rPr>
              <a:t>In some regions of the country, it is common for Walmart stores and large supermarkets to stay open 24 hours a day, 365 days a year. </a:t>
            </a:r>
          </a:p>
          <a:p>
            <a:pPr defTabSz="948507"/>
            <a:endParaRPr lang="en-US" sz="1200" kern="1200" baseline="0" dirty="0">
              <a:solidFill>
                <a:schemeClr val="tx1"/>
              </a:solidFill>
              <a:effectLst/>
              <a:latin typeface="+mn-lt"/>
              <a:ea typeface="+mn-ea"/>
              <a:cs typeface="+mn-cs"/>
            </a:endParaRPr>
          </a:p>
          <a:p>
            <a:r>
              <a:rPr lang="en-US" dirty="0">
                <a:solidFill>
                  <a:srgbClr val="002060"/>
                </a:solidFill>
              </a:rPr>
              <a:t>Discussion points:  </a:t>
            </a:r>
          </a:p>
          <a:p>
            <a:r>
              <a:rPr lang="en-US" sz="1200" kern="1200" dirty="0">
                <a:solidFill>
                  <a:schemeClr val="tx1"/>
                </a:solidFill>
                <a:effectLst/>
                <a:latin typeface="+mn-lt"/>
                <a:ea typeface="+mn-ea"/>
                <a:cs typeface="+mn-cs"/>
              </a:rPr>
              <a:t>A.  For Walmart to stay open all night (and not undertake a temporary shutdown), it must be true that its total revenue at night must equal or exceed its variable costs incurred from staying open the additional hours (electricity, wages of night shift workers, etc.).</a:t>
            </a:r>
          </a:p>
          <a:p>
            <a:r>
              <a:rPr lang="en-US" sz="1200" kern="1200" dirty="0">
                <a:solidFill>
                  <a:schemeClr val="tx1"/>
                </a:solidFill>
                <a:effectLst/>
                <a:latin typeface="+mn-lt"/>
                <a:ea typeface="+mn-ea"/>
                <a:cs typeface="+mn-cs"/>
              </a:rPr>
              <a:t>B. No. These costs are fixed costs or sunk costs—costs that cannot be recovered even if Walmart chooses not to operate at night.</a:t>
            </a:r>
          </a:p>
          <a:p>
            <a:r>
              <a:rPr lang="en-US" sz="1200" kern="1200" dirty="0">
                <a:solidFill>
                  <a:schemeClr val="tx1"/>
                </a:solidFill>
                <a:effectLst/>
                <a:latin typeface="+mn-lt"/>
                <a:ea typeface="+mn-ea"/>
                <a:cs typeface="+mn-cs"/>
              </a:rPr>
              <a:t>C. It is unlikely. This is because the temporary shutdown decision (staying open additional hours at night) depends on whether total rev­enue equals or exceeds variable costs, but the de­cision to remain in the market in the long-run depends on whether total revenue equals or ex­ceeds total costs. It is unlikely that the revenue earned at night covers total costs (both fixed and variable costs).</a:t>
            </a:r>
          </a:p>
        </p:txBody>
      </p:sp>
      <p:sp>
        <p:nvSpPr>
          <p:cNvPr id="4" name="Slide Number Placeholder 3"/>
          <p:cNvSpPr>
            <a:spLocks noGrp="1"/>
          </p:cNvSpPr>
          <p:nvPr>
            <p:ph type="sldNum" sz="quarter" idx="10"/>
          </p:nvPr>
        </p:nvSpPr>
        <p:spPr/>
        <p:txBody>
          <a:bodyPr/>
          <a:lstStyle/>
          <a:p>
            <a:fld id="{2CAF6792-DBE1-4461-97FA-F85A7B48814E}" type="slidenum">
              <a:rPr lang="en-US" smtClean="0"/>
              <a:t>38</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39</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40</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4404" y="1850232"/>
            <a:ext cx="3335336" cy="26670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2277547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 this chapter">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304800" y="0"/>
            <a:ext cx="8686800" cy="889000"/>
          </a:xfrm>
        </p:spPr>
        <p:txBody>
          <a:bodyPr/>
          <a:lstStyle>
            <a:lvl1pPr algn="l">
              <a:defRPr sz="4800" b="1" baseline="0">
                <a:solidFill>
                  <a:srgbClr val="4E519E"/>
                </a:solidFill>
              </a:defRPr>
            </a:lvl1pPr>
          </a:lstStyle>
          <a:p>
            <a:r>
              <a:rPr lang="en-US" dirty="0"/>
              <a:t>IN THIS ****</a:t>
            </a:r>
          </a:p>
        </p:txBody>
      </p:sp>
    </p:spTree>
    <p:extLst>
      <p:ext uri="{BB962C8B-B14F-4D97-AF65-F5344CB8AC3E}">
        <p14:creationId xmlns:p14="http://schemas.microsoft.com/office/powerpoint/2010/main" val="273159307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h in a nutshel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290362407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MM Layou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397755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
        <p:nvSpPr>
          <p:cNvPr id="6" name="Footer Placeholder 5">
            <a:extLst>
              <a:ext uri="{FF2B5EF4-FFF2-40B4-BE49-F238E27FC236}">
                <a16:creationId xmlns:a16="http://schemas.microsoft.com/office/drawing/2014/main" id="{D6CC48C9-2DF5-86B2-52F6-3553FB63E4E3}"/>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5B1924E0-10F3-9B23-4A6D-B7A794FC706B}"/>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a:extLst>
              <a:ext uri="{FF2B5EF4-FFF2-40B4-BE49-F238E27FC236}">
                <a16:creationId xmlns:a16="http://schemas.microsoft.com/office/drawing/2014/main" id="{17B77F17-B778-0463-4050-5A3EDA879F7A}"/>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9B7DD5BC-6889-55B8-E161-048CBF284B93}"/>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28C9FCF9-4C2A-8540-818D-BA23E2ACC0B6}"/>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828EFF68-0D13-3713-8BC9-76BE687BDC06}"/>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L or EX BT no animation">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hasCustomPrompt="1"/>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 NO ANIM</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658805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AL or Ex and ANSW">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002060"/>
                </a:solidFill>
              </a:defRPr>
            </a:lvl1pPr>
            <a:lvl2pPr>
              <a:defRPr sz="3000">
                <a:solidFill>
                  <a:srgbClr val="002060"/>
                </a:solidFill>
              </a:defRPr>
            </a:lvl2pPr>
            <a:lvl3pPr>
              <a:defRPr sz="2400">
                <a:solidFill>
                  <a:srgbClr val="002060"/>
                </a:solidFill>
              </a:defRPr>
            </a:lvl3pPr>
            <a:lvl4pPr>
              <a:defRPr sz="2000">
                <a:solidFill>
                  <a:srgbClr val="002060"/>
                </a:solidFill>
              </a:defRPr>
            </a:lvl4pPr>
            <a:lvl5pPr>
              <a:defRPr sz="1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004681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5" name="Title 4">
            <a:extLst>
              <a:ext uri="{FF2B5EF4-FFF2-40B4-BE49-F238E27FC236}">
                <a16:creationId xmlns:a16="http://schemas.microsoft.com/office/drawing/2014/main" id="{702A7941-629B-80AB-3C95-443682B8FE1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2464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4E519E"/>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6.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theme" Target="../theme/theme3.xml"/><Relationship Id="rId4"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5.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slideLayout" Target="../slideLayouts/slideLayout12.xml"/><Relationship Id="rId7" Type="http://schemas.openxmlformats.org/officeDocument/2006/relationships/theme" Target="../theme/theme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7.png"/><Relationship Id="rId5" Type="http://schemas.openxmlformats.org/officeDocument/2006/relationships/slideLayout" Target="../slideLayouts/slideLayout14.xml"/><Relationship Id="rId10" Type="http://schemas.openxmlformats.org/officeDocument/2006/relationships/image" Target="../media/image16.png"/><Relationship Id="rId4" Type="http://schemas.openxmlformats.org/officeDocument/2006/relationships/slideLayout" Target="../slideLayouts/slideLayout13.xml"/><Relationship Id="rId9" Type="http://schemas.openxmlformats.org/officeDocument/2006/relationships/image" Target="../media/image5.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theme" Target="../theme/theme7.xml"/><Relationship Id="rId1" Type="http://schemas.openxmlformats.org/officeDocument/2006/relationships/slideLayout" Target="../slideLayouts/slideLayout16.xml"/><Relationship Id="rId4" Type="http://schemas.openxmlformats.org/officeDocument/2006/relationships/image" Target="../media/image19.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theme" Target="../theme/theme9.xml"/><Relationship Id="rId1" Type="http://schemas.openxmlformats.org/officeDocument/2006/relationships/slideLayout" Target="../slideLayouts/slideLayout1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theme" Target="../theme/theme10.xml"/><Relationship Id="rId1" Type="http://schemas.openxmlformats.org/officeDocument/2006/relationships/slideLayout" Target="../slideLayouts/slideLayout20.xml"/><Relationship Id="rId5" Type="http://schemas.openxmlformats.org/officeDocument/2006/relationships/image" Target="../media/image30.png"/><Relationship Id="rId4" Type="http://schemas.openxmlformats.org/officeDocument/2006/relationships/image" Target="../media/image2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4"/>
          <a:stretch>
            <a:fillRect/>
          </a:stretch>
        </p:blipFill>
        <p:spPr>
          <a:xfrm>
            <a:off x="-1" y="1439"/>
            <a:ext cx="4953001" cy="6362582"/>
          </a:xfrm>
          <a:prstGeom prst="rect">
            <a:avLst/>
          </a:prstGeom>
        </p:spPr>
      </p:pic>
    </p:spTree>
    <p:extLst>
      <p:ext uri="{BB962C8B-B14F-4D97-AF65-F5344CB8AC3E}">
        <p14:creationId xmlns:p14="http://schemas.microsoft.com/office/powerpoint/2010/main" val="2873398971"/>
      </p:ext>
    </p:extLst>
  </p:cSld>
  <p:clrMap bg1="lt1" tx1="dk1" bg2="lt2" tx2="dk2" accent1="accent1" accent2="accent2" accent3="accent3" accent4="accent4" accent5="accent5" accent6="accent6" hlink="hlink" folHlink="folHlink"/>
  <p:sldLayoutIdLst>
    <p:sldLayoutId id="2147483701"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4"/>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5"/>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91" r:id="rId1"/>
    <p:sldLayoutId id="2147483695"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6"/>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6"/>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7"/>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99" r:id="rId2"/>
    <p:sldLayoutId id="2147483674" r:id="rId3"/>
    <p:sldLayoutId id="2147483682" r:id="rId4"/>
  </p:sldLayoutIdLst>
  <p:transition/>
  <p:hf hdr="0" dt="0"/>
  <p:txStyles>
    <p:titleStyle>
      <a:lvl1pPr algn="ctr" rtl="0" eaLnBrk="0" fontAlgn="base" hangingPunct="0">
        <a:spcBef>
          <a:spcPct val="0"/>
        </a:spcBef>
        <a:spcAft>
          <a:spcPct val="0"/>
        </a:spcAft>
        <a:defRPr sz="400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8"/>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8"/>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9"/>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10"/>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11"/>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10"/>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11"/>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 id="2147483697" r:id="rId5"/>
    <p:sldLayoutId id="2147483698" r:id="rId6"/>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4"/>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5"/>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6"/>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28598"/>
                <a:ext cx="7543800" cy="102213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8" name="Text Placeholder 7"/>
          <p:cNvSpPr>
            <a:spLocks noGrp="1"/>
          </p:cNvSpPr>
          <p:nvPr>
            <p:ph sz="quarter" idx="12"/>
          </p:nvPr>
        </p:nvSpPr>
        <p:spPr>
          <a:xfrm>
            <a:off x="5029200" y="2590007"/>
            <a:ext cx="3886200" cy="2857500"/>
          </a:xfrm>
        </p:spPr>
        <p:txBody>
          <a:bodyPr anchor="ctr">
            <a:normAutofit/>
          </a:bodyPr>
          <a:lstStyle/>
          <a:p>
            <a:pPr algn="ctr">
              <a:defRPr/>
            </a:pPr>
            <a:r>
              <a:rPr lang="en-US" sz="3500" dirty="0">
                <a:latin typeface="+mj-lt"/>
              </a:rPr>
              <a:t>Firms in </a:t>
            </a:r>
          </a:p>
          <a:p>
            <a:pPr algn="ctr">
              <a:defRPr/>
            </a:pPr>
            <a:r>
              <a:rPr lang="en-US" sz="3500" dirty="0">
                <a:latin typeface="+mj-lt"/>
              </a:rPr>
              <a:t>Competitive Markets</a:t>
            </a:r>
          </a:p>
        </p:txBody>
      </p:sp>
      <p:sp>
        <p:nvSpPr>
          <p:cNvPr id="9" name="Content Placeholder 8"/>
          <p:cNvSpPr>
            <a:spLocks noGrp="1"/>
          </p:cNvSpPr>
          <p:nvPr>
            <p:ph sz="quarter" idx="4294967295"/>
          </p:nvPr>
        </p:nvSpPr>
        <p:spPr>
          <a:xfrm>
            <a:off x="5568950" y="838200"/>
            <a:ext cx="2806700" cy="2019300"/>
          </a:xfrm>
          <a:blipFill>
            <a:blip r:embed="rId3"/>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15</a:t>
            </a:r>
          </a:p>
        </p:txBody>
      </p:sp>
      <p:sp>
        <p:nvSpPr>
          <p:cNvPr id="2" name="TextBox 1">
            <a:extLst>
              <a:ext uri="{FF2B5EF4-FFF2-40B4-BE49-F238E27FC236}">
                <a16:creationId xmlns:a16="http://schemas.microsoft.com/office/drawing/2014/main" id="{4BA4C425-3816-804C-31AE-77B1FE317E64}"/>
              </a:ext>
            </a:extLst>
          </p:cNvPr>
          <p:cNvSpPr txBox="1">
            <a:spLocks noGrp="1" noRot="1" noMove="1" noResize="1" noEditPoints="1" noAdjustHandles="1" noChangeArrowheads="1" noChangeShapeType="1"/>
          </p:cNvSpPr>
          <p:nvPr/>
        </p:nvSpPr>
        <p:spPr>
          <a:xfrm>
            <a:off x="5568950" y="5181600"/>
            <a:ext cx="2952750" cy="685800"/>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96230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200" dirty="0"/>
              <a:t>What is a perfectly competitive market?  </a:t>
            </a:r>
          </a:p>
          <a:p>
            <a:r>
              <a:rPr lang="en-US" sz="3200" dirty="0"/>
              <a:t>What is marginal revenue?  How is it related to total and average revenue?  </a:t>
            </a:r>
          </a:p>
          <a:p>
            <a:r>
              <a:rPr lang="en-US" sz="3200" dirty="0"/>
              <a:t>How does a competitive firm determine the quantity that maximizes profits?  </a:t>
            </a:r>
          </a:p>
          <a:p>
            <a:r>
              <a:rPr lang="en-US" sz="3200" dirty="0"/>
              <a:t>When will a competitive firm shut down in the short run?  Exit the market in the long run?  </a:t>
            </a:r>
          </a:p>
          <a:p>
            <a:r>
              <a:rPr lang="en-US" sz="3200" dirty="0"/>
              <a:t>What does the market supply curve look like in the short run?  In the long run?</a:t>
            </a:r>
          </a:p>
          <a:p>
            <a:endParaRPr lang="en-US" sz="32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5" name="Footer Placeholder 4">
            <a:extLst>
              <a:ext uri="{FF2B5EF4-FFF2-40B4-BE49-F238E27FC236}">
                <a16:creationId xmlns:a16="http://schemas.microsoft.com/office/drawing/2014/main" id="{27E57AAB-6BFA-88D4-671C-09588D0D0EE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p:nvPr>
        </p:nvSpPr>
        <p:spPr/>
        <p:txBody>
          <a:bodyPr/>
          <a:lstStyle/>
          <a:p>
            <a:r>
              <a:rPr lang="en-US" dirty="0"/>
              <a:t>IN THIS CHAPTER</a:t>
            </a:r>
          </a:p>
        </p:txBody>
      </p:sp>
    </p:spTree>
    <p:extLst>
      <p:ext uri="{BB962C8B-B14F-4D97-AF65-F5344CB8AC3E}">
        <p14:creationId xmlns:p14="http://schemas.microsoft.com/office/powerpoint/2010/main" val="7383311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wrap="square" anchor="ctr"/>
          <a:lstStyle/>
          <a:p>
            <a:r>
              <a:rPr lang="en-US" altLang="en-US" dirty="0"/>
              <a:t>What is a Competitive Market?</a:t>
            </a:r>
          </a:p>
        </p:txBody>
      </p:sp>
      <p:sp>
        <p:nvSpPr>
          <p:cNvPr id="10243" name="Content Placeholder 2"/>
          <p:cNvSpPr>
            <a:spLocks noGrp="1"/>
          </p:cNvSpPr>
          <p:nvPr>
            <p:ph idx="1"/>
          </p:nvPr>
        </p:nvSpPr>
        <p:spPr>
          <a:xfrm>
            <a:off x="228600" y="990600"/>
            <a:ext cx="8588375" cy="5422900"/>
          </a:xfrm>
        </p:spPr>
        <p:txBody>
          <a:bodyPr/>
          <a:lstStyle/>
          <a:p>
            <a:pPr marL="0" indent="0">
              <a:buNone/>
            </a:pPr>
            <a:r>
              <a:rPr lang="en-US" altLang="en-US" sz="3200" dirty="0">
                <a:solidFill>
                  <a:srgbClr val="4E519E"/>
                </a:solidFill>
              </a:rPr>
              <a:t>Characteristics of perfectly competitive </a:t>
            </a:r>
            <a:r>
              <a:rPr lang="en-US" altLang="en-US" sz="3200">
                <a:solidFill>
                  <a:srgbClr val="4E519E"/>
                </a:solidFill>
              </a:rPr>
              <a:t>markets: </a:t>
            </a:r>
            <a:endParaRPr lang="en-US" altLang="en-US" sz="3200" dirty="0">
              <a:solidFill>
                <a:srgbClr val="4E519E"/>
              </a:solidFill>
            </a:endParaRPr>
          </a:p>
          <a:p>
            <a:pPr marL="571500" indent="-514350">
              <a:buFont typeface="+mj-lt"/>
              <a:buAutoNum type="arabicPeriod"/>
            </a:pPr>
            <a:r>
              <a:rPr lang="en-US" altLang="en-US" dirty="0"/>
              <a:t>The market has many buyers and sellers</a:t>
            </a:r>
          </a:p>
          <a:p>
            <a:pPr marL="571500" indent="-514350">
              <a:buFont typeface="+mj-lt"/>
              <a:buAutoNum type="arabicPeriod"/>
            </a:pPr>
            <a:r>
              <a:rPr lang="en-US" altLang="en-US" dirty="0"/>
              <a:t>Trading identical products</a:t>
            </a:r>
          </a:p>
          <a:p>
            <a:pPr lvl="1"/>
            <a:r>
              <a:rPr lang="en-US" altLang="en-US" sz="3400" dirty="0"/>
              <a:t>Because of the first two: each buyer and seller takes the market price as given (</a:t>
            </a:r>
            <a:r>
              <a:rPr lang="en-US" altLang="en-US" sz="3400" dirty="0">
                <a:solidFill>
                  <a:srgbClr val="4E519E"/>
                </a:solidFill>
              </a:rPr>
              <a:t>Price takers</a:t>
            </a:r>
            <a:r>
              <a:rPr lang="en-US" altLang="en-US" sz="3400" dirty="0"/>
              <a:t>)</a:t>
            </a:r>
          </a:p>
          <a:p>
            <a:pPr marL="571500" indent="-514350">
              <a:buFont typeface="+mj-lt"/>
              <a:buAutoNum type="arabicPeriod" startAt="3"/>
            </a:pPr>
            <a:r>
              <a:rPr lang="en-US" altLang="en-US" dirty="0"/>
              <a:t>Firms can freely enter or exit the market</a:t>
            </a:r>
          </a:p>
          <a:p>
            <a:pPr lvl="1"/>
            <a:endParaRPr lang="en-US" altLang="en-US" dirty="0"/>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CA564438-DAC8-4C7F-9B5C-099CF36D0AEA}" type="slidenum">
              <a:rPr lang="en-US" altLang="en-US" sz="1200" smtClean="0">
                <a:solidFill>
                  <a:srgbClr val="002060"/>
                </a:solidFill>
              </a:rPr>
              <a:pPr eaLnBrk="1" hangingPunct="1"/>
              <a:t>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32448BAF-EE3A-1F47-6842-6A7DBA1DB05C}"/>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367577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wrap="square" anchor="ctr"/>
          <a:lstStyle/>
          <a:p>
            <a:r>
              <a:rPr lang="en-US" altLang="en-US" dirty="0"/>
              <a:t>The Revenue of a Competitive Firm</a:t>
            </a:r>
          </a:p>
        </p:txBody>
      </p:sp>
      <p:sp>
        <p:nvSpPr>
          <p:cNvPr id="11267" name="Content Placeholder 2"/>
          <p:cNvSpPr>
            <a:spLocks noGrp="1"/>
          </p:cNvSpPr>
          <p:nvPr>
            <p:ph idx="1"/>
          </p:nvPr>
        </p:nvSpPr>
        <p:spPr/>
        <p:txBody>
          <a:bodyPr/>
          <a:lstStyle/>
          <a:p>
            <a:r>
              <a:rPr lang="en-US" altLang="en-US" dirty="0"/>
              <a:t>Total revenue, </a:t>
            </a:r>
            <a:r>
              <a:rPr lang="en-US" altLang="en-US" b="1" i="1" dirty="0"/>
              <a:t>TR</a:t>
            </a:r>
            <a:r>
              <a:rPr lang="en-US" altLang="en-US" dirty="0"/>
              <a:t> = </a:t>
            </a:r>
            <a:r>
              <a:rPr lang="en-US" altLang="en-US" b="1" i="1" dirty="0"/>
              <a:t>P</a:t>
            </a:r>
            <a:r>
              <a:rPr lang="en-US" altLang="en-US" dirty="0"/>
              <a:t> </a:t>
            </a:r>
            <a:r>
              <a:rPr lang="en-US" altLang="en-US" dirty="0">
                <a:cs typeface="Arial" charset="0"/>
              </a:rPr>
              <a:t>ˣ </a:t>
            </a:r>
            <a:r>
              <a:rPr lang="en-US" altLang="en-US" b="1" i="1" dirty="0"/>
              <a:t>Q</a:t>
            </a:r>
          </a:p>
          <a:p>
            <a:r>
              <a:rPr lang="en-US" altLang="en-US" dirty="0"/>
              <a:t>Average revenue, </a:t>
            </a:r>
            <a:r>
              <a:rPr lang="en-US" altLang="en-US" b="1" i="1" dirty="0"/>
              <a:t>AR</a:t>
            </a:r>
            <a:r>
              <a:rPr lang="en-US" altLang="en-US" dirty="0"/>
              <a:t> = </a:t>
            </a:r>
            <a:r>
              <a:rPr lang="en-US" altLang="en-US" b="1" i="1" dirty="0"/>
              <a:t>TR</a:t>
            </a:r>
            <a:r>
              <a:rPr lang="en-US" altLang="en-US" dirty="0"/>
              <a:t> / </a:t>
            </a:r>
            <a:r>
              <a:rPr lang="en-US" altLang="en-US" b="1" i="1" dirty="0"/>
              <a:t>Q</a:t>
            </a:r>
          </a:p>
          <a:p>
            <a:pPr lvl="1"/>
            <a:r>
              <a:rPr lang="en-US" altLang="en-US" dirty="0"/>
              <a:t>How much revenue does the firm receive for one unit sold</a:t>
            </a:r>
          </a:p>
          <a:p>
            <a:r>
              <a:rPr lang="en-US" altLang="en-US" dirty="0"/>
              <a:t>Marginal revenue, </a:t>
            </a:r>
            <a:r>
              <a:rPr lang="en-US" altLang="en-US" b="1" i="1" dirty="0"/>
              <a:t>MR</a:t>
            </a:r>
            <a:r>
              <a:rPr lang="en-US" altLang="en-US" dirty="0"/>
              <a:t> = </a:t>
            </a:r>
            <a:r>
              <a:rPr lang="en-US" altLang="en-US" b="1" i="1" dirty="0"/>
              <a:t>∆TR </a:t>
            </a:r>
            <a:r>
              <a:rPr lang="en-US" altLang="en-US" dirty="0"/>
              <a:t>/ </a:t>
            </a:r>
            <a:r>
              <a:rPr lang="en-US" altLang="en-US" b="1" i="1" dirty="0"/>
              <a:t>∆Q</a:t>
            </a:r>
          </a:p>
          <a:p>
            <a:pPr lvl="1"/>
            <a:r>
              <a:rPr lang="en-US" altLang="en-US" dirty="0"/>
              <a:t>Change in </a:t>
            </a:r>
            <a:r>
              <a:rPr lang="en-US" altLang="en-US" b="1" i="1" dirty="0"/>
              <a:t>TR</a:t>
            </a:r>
            <a:r>
              <a:rPr lang="en-US" altLang="en-US" dirty="0"/>
              <a:t> from an additional unit sold</a:t>
            </a:r>
          </a:p>
          <a:p>
            <a:pPr lvl="1"/>
            <a:r>
              <a:rPr lang="en-US" altLang="en-US" dirty="0"/>
              <a:t>How much additional revenue does the firm receive if it sells 1 more unit</a:t>
            </a:r>
          </a:p>
          <a:p>
            <a:r>
              <a:rPr lang="en-US" altLang="en-US" dirty="0"/>
              <a:t>For competitive firms: </a:t>
            </a:r>
            <a:r>
              <a:rPr lang="en-US" altLang="en-US" b="1" i="1" dirty="0">
                <a:solidFill>
                  <a:srgbClr val="C00000"/>
                </a:solidFill>
              </a:rPr>
              <a:t>AR</a:t>
            </a:r>
            <a:r>
              <a:rPr lang="en-US" altLang="en-US" dirty="0">
                <a:solidFill>
                  <a:srgbClr val="C00000"/>
                </a:solidFill>
              </a:rPr>
              <a:t> = </a:t>
            </a:r>
            <a:r>
              <a:rPr lang="en-US" altLang="en-US" b="1" i="1" dirty="0">
                <a:solidFill>
                  <a:srgbClr val="C00000"/>
                </a:solidFill>
              </a:rPr>
              <a:t>P</a:t>
            </a:r>
            <a:r>
              <a:rPr lang="en-US" altLang="en-US" dirty="0">
                <a:solidFill>
                  <a:srgbClr val="C00000"/>
                </a:solidFill>
              </a:rPr>
              <a:t> = </a:t>
            </a:r>
            <a:r>
              <a:rPr lang="en-US" altLang="en-US" b="1" i="1" dirty="0">
                <a:solidFill>
                  <a:srgbClr val="C00000"/>
                </a:solidFill>
              </a:rPr>
              <a:t>MR</a:t>
            </a:r>
          </a:p>
        </p:txBody>
      </p:sp>
      <p:sp>
        <p:nvSpPr>
          <p:cNvPr id="112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E8514C36-F789-42EA-A465-21F80A17B2A4}" type="slidenum">
              <a:rPr lang="en-US" altLang="en-US" sz="1200" smtClean="0">
                <a:solidFill>
                  <a:srgbClr val="002060"/>
                </a:solidFill>
              </a:rPr>
              <a:pPr eaLnBrk="1" hangingPunct="1"/>
              <a:t>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CA499780-D211-A7E1-C759-90710344EEC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69068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a:t>
            </a:r>
            <a:r>
              <a:rPr lang="en-US" dirty="0">
                <a:solidFill>
                  <a:schemeClr val="tx1"/>
                </a:solidFill>
              </a:rPr>
              <a:t>Amari's Apple Orchard: Revenue </a:t>
            </a:r>
          </a:p>
        </p:txBody>
      </p:sp>
      <p:sp>
        <p:nvSpPr>
          <p:cNvPr id="3" name="Content Placeholder 2"/>
          <p:cNvSpPr>
            <a:spLocks noGrp="1"/>
          </p:cNvSpPr>
          <p:nvPr>
            <p:ph idx="1"/>
          </p:nvPr>
        </p:nvSpPr>
        <p:spPr>
          <a:xfrm>
            <a:off x="152401" y="914400"/>
            <a:ext cx="3505200" cy="5534025"/>
          </a:xfrm>
        </p:spPr>
        <p:txBody>
          <a:bodyPr>
            <a:normAutofit/>
          </a:bodyPr>
          <a:lstStyle/>
          <a:p>
            <a:pPr marL="0" indent="0">
              <a:buNone/>
            </a:pPr>
            <a:r>
              <a:rPr lang="en-US" sz="2600" dirty="0">
                <a:solidFill>
                  <a:schemeClr val="tx1"/>
                </a:solidFill>
              </a:rPr>
              <a:t>Amari's apple orchard can produce up to 10 bushels of apples per year, and the current market price is $20 per bushel. </a:t>
            </a:r>
          </a:p>
          <a:p>
            <a:pPr marL="0" indent="0">
              <a:buNone/>
            </a:pPr>
            <a:r>
              <a:rPr lang="en-US" sz="2600" dirty="0">
                <a:solidFill>
                  <a:srgbClr val="4E519E"/>
                </a:solidFill>
              </a:rPr>
              <a:t>Calculate Amari’s apple orchard’s </a:t>
            </a:r>
          </a:p>
          <a:p>
            <a:r>
              <a:rPr lang="en-US" sz="2600" dirty="0">
                <a:solidFill>
                  <a:srgbClr val="4E519E"/>
                </a:solidFill>
              </a:rPr>
              <a:t>total revenue, </a:t>
            </a:r>
          </a:p>
          <a:p>
            <a:r>
              <a:rPr lang="en-US" sz="2600" dirty="0">
                <a:solidFill>
                  <a:srgbClr val="4E519E"/>
                </a:solidFill>
              </a:rPr>
              <a:t>average revenue, </a:t>
            </a:r>
          </a:p>
          <a:p>
            <a:r>
              <a:rPr lang="en-US" sz="2600" dirty="0">
                <a:solidFill>
                  <a:srgbClr val="4E519E"/>
                </a:solidFill>
              </a:rPr>
              <a:t>and marginal revenue</a:t>
            </a:r>
          </a:p>
          <a:p>
            <a:endParaRPr lang="en-US" sz="26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5</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770299828"/>
              </p:ext>
            </p:extLst>
          </p:nvPr>
        </p:nvGraphicFramePr>
        <p:xfrm>
          <a:off x="3733800" y="938212"/>
          <a:ext cx="5029200" cy="54864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70840">
                <a:tc>
                  <a:txBody>
                    <a:bodyPr/>
                    <a:lstStyle/>
                    <a:p>
                      <a:pPr algn="ctr"/>
                      <a:r>
                        <a:rPr lang="en-US" sz="2400" i="1" dirty="0">
                          <a:solidFill>
                            <a:schemeClr val="tx1"/>
                          </a:solidFill>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400" i="1" dirty="0">
                          <a:solidFill>
                            <a:schemeClr val="tx1"/>
                          </a:solidFill>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400" i="1" dirty="0">
                          <a:solidFill>
                            <a:schemeClr val="tx1"/>
                          </a:solidFill>
                        </a:rPr>
                        <a:t>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400" i="1" dirty="0">
                          <a:solidFill>
                            <a:schemeClr val="tx1"/>
                          </a:solidFill>
                        </a:rPr>
                        <a: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400" i="1" dirty="0">
                          <a:solidFill>
                            <a:schemeClr val="tx1"/>
                          </a:solidFill>
                        </a:rPr>
                        <a:t>MR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370840">
                <a:tc>
                  <a:txBody>
                    <a:bodyPr/>
                    <a:lstStyle/>
                    <a:p>
                      <a:pPr algn="ctr"/>
                      <a:r>
                        <a:rPr lang="en-US" sz="24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sz="24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400" dirty="0">
                          <a:solidFill>
                            <a:schemeClr val="tx1"/>
                          </a:solidFill>
                        </a:rPr>
                        <a:t>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370840">
                <a:tc>
                  <a:txBody>
                    <a:bodyPr/>
                    <a:lstStyle/>
                    <a:p>
                      <a:pPr algn="ctr"/>
                      <a:r>
                        <a:rPr lang="en-US" sz="2400"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sz="24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400" dirty="0">
                          <a:solidFill>
                            <a:schemeClr val="tx1"/>
                          </a:solidFill>
                        </a:rPr>
                        <a:t>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370840">
                <a:tc>
                  <a:txBody>
                    <a:bodyPr/>
                    <a:lstStyle/>
                    <a:p>
                      <a:pPr algn="ctr"/>
                      <a:r>
                        <a:rPr lang="en-US" sz="2400"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US" sz="2400"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400" dirty="0">
                          <a:solidFill>
                            <a:schemeClr val="tx1"/>
                          </a:solidFill>
                        </a:rPr>
                        <a:t>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370840">
                <a:tc>
                  <a:txBody>
                    <a:bodyPr/>
                    <a:lstStyle/>
                    <a:p>
                      <a:pPr algn="ctr"/>
                      <a:r>
                        <a:rPr lang="en-US" sz="240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pPr algn="ctr"/>
                      <a:r>
                        <a:rPr lang="en-US" sz="2400"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400" dirty="0">
                          <a:solidFill>
                            <a:schemeClr val="tx1"/>
                          </a:solidFill>
                        </a:rPr>
                        <a:t>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370840">
                <a:tc>
                  <a:txBody>
                    <a:bodyPr/>
                    <a:lstStyle/>
                    <a:p>
                      <a:pPr algn="ctr"/>
                      <a:r>
                        <a:rPr lang="en-US" sz="2400"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0840">
                <a:tc>
                  <a:txBody>
                    <a:bodyPr/>
                    <a:lstStyle/>
                    <a:p>
                      <a:pPr algn="ctr"/>
                      <a:r>
                        <a:rPr lang="en-US" sz="2400" dirty="0">
                          <a:solidFill>
                            <a:schemeClr val="tx1"/>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400" dirty="0">
                          <a:solidFill>
                            <a:schemeClr val="tx1"/>
                          </a:solidFill>
                        </a:rPr>
                        <a:t>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r h="370840">
                <a:tc>
                  <a:txBody>
                    <a:bodyPr/>
                    <a:lstStyle/>
                    <a:p>
                      <a:pPr algn="ctr"/>
                      <a:r>
                        <a:rPr lang="en-US" sz="2400"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aphicFrame>
        <p:nvGraphicFramePr>
          <p:cNvPr id="7" name="Table 6"/>
          <p:cNvGraphicFramePr>
            <a:graphicFrameLocks noGrp="1"/>
          </p:cNvGraphicFramePr>
          <p:nvPr/>
        </p:nvGraphicFramePr>
        <p:xfrm>
          <a:off x="5486400" y="1371601"/>
          <a:ext cx="1005840" cy="50292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tblGrid>
              <a:tr h="457200">
                <a:tc>
                  <a:txBody>
                    <a:bodyPr/>
                    <a:lstStyle/>
                    <a:p>
                      <a:pPr algn="r" fontAlgn="b"/>
                      <a:r>
                        <a:rPr lang="en-US" sz="2400" b="0" i="0" u="none" strike="noStrike" dirty="0">
                          <a:solidFill>
                            <a:srgbClr val="000000"/>
                          </a:solidFill>
                          <a:effectLst/>
                          <a:latin typeface="+mn-lt"/>
                        </a:rPr>
                        <a:t>$0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p>
                      <a:pPr algn="r" fontAlgn="b"/>
                      <a:r>
                        <a:rPr lang="en-US" sz="2400" b="0" i="0" u="none" strike="noStrike" dirty="0">
                          <a:solidFill>
                            <a:srgbClr val="000000"/>
                          </a:solidFill>
                          <a:effectLst/>
                          <a:latin typeface="+mn-lt"/>
                        </a:rPr>
                        <a:t>20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p>
                      <a:pPr algn="r" fontAlgn="b"/>
                      <a:r>
                        <a:rPr lang="en-US" sz="2400" b="0" i="0" u="none" strike="noStrike" dirty="0">
                          <a:solidFill>
                            <a:srgbClr val="000000"/>
                          </a:solidFill>
                          <a:effectLst/>
                          <a:latin typeface="+mn-lt"/>
                        </a:rPr>
                        <a:t>40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p>
                      <a:pPr algn="r" fontAlgn="b"/>
                      <a:r>
                        <a:rPr lang="en-US" sz="2400" b="0" i="0" u="none" strike="noStrike" dirty="0">
                          <a:solidFill>
                            <a:srgbClr val="000000"/>
                          </a:solidFill>
                          <a:effectLst/>
                          <a:latin typeface="+mn-lt"/>
                        </a:rPr>
                        <a:t>60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57200">
                <a:tc>
                  <a:txBody>
                    <a:bodyPr/>
                    <a:lstStyle/>
                    <a:p>
                      <a:pPr algn="r" fontAlgn="b"/>
                      <a:r>
                        <a:rPr lang="en-US" sz="2400" b="0" i="0" u="none" strike="noStrike" dirty="0">
                          <a:solidFill>
                            <a:srgbClr val="000000"/>
                          </a:solidFill>
                          <a:effectLst/>
                          <a:latin typeface="+mn-lt"/>
                        </a:rPr>
                        <a:t>80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57200">
                <a:tc>
                  <a:txBody>
                    <a:bodyPr/>
                    <a:lstStyle/>
                    <a:p>
                      <a:pPr algn="r" fontAlgn="b"/>
                      <a:r>
                        <a:rPr lang="en-US" sz="2400" b="0" i="0" u="none" strike="noStrike" dirty="0">
                          <a:solidFill>
                            <a:srgbClr val="000000"/>
                          </a:solidFill>
                          <a:effectLst/>
                          <a:latin typeface="+mn-lt"/>
                        </a:rPr>
                        <a:t>100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57200">
                <a:tc>
                  <a:txBody>
                    <a:bodyPr/>
                    <a:lstStyle/>
                    <a:p>
                      <a:pPr algn="r" fontAlgn="b"/>
                      <a:r>
                        <a:rPr lang="en-US" sz="2400" b="0" i="0" u="none" strike="noStrike" dirty="0">
                          <a:solidFill>
                            <a:srgbClr val="000000"/>
                          </a:solidFill>
                          <a:effectLst/>
                          <a:latin typeface="+mn-lt"/>
                        </a:rPr>
                        <a:t>120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57200">
                <a:tc>
                  <a:txBody>
                    <a:bodyPr/>
                    <a:lstStyle/>
                    <a:p>
                      <a:pPr algn="r" fontAlgn="b"/>
                      <a:r>
                        <a:rPr lang="en-US" sz="2400" b="0" i="0" u="none" strike="noStrike" dirty="0">
                          <a:solidFill>
                            <a:srgbClr val="000000"/>
                          </a:solidFill>
                          <a:effectLst/>
                          <a:latin typeface="+mn-lt"/>
                        </a:rPr>
                        <a:t>140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57200">
                <a:tc>
                  <a:txBody>
                    <a:bodyPr/>
                    <a:lstStyle/>
                    <a:p>
                      <a:pPr algn="r" fontAlgn="b"/>
                      <a:r>
                        <a:rPr lang="en-US" sz="2400" b="0" i="0" u="none" strike="noStrike" dirty="0">
                          <a:solidFill>
                            <a:srgbClr val="000000"/>
                          </a:solidFill>
                          <a:effectLst/>
                          <a:latin typeface="+mn-lt"/>
                        </a:rPr>
                        <a:t>160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57200">
                <a:tc>
                  <a:txBody>
                    <a:bodyPr/>
                    <a:lstStyle/>
                    <a:p>
                      <a:pPr algn="r" fontAlgn="b"/>
                      <a:r>
                        <a:rPr lang="en-US" sz="2400" b="0" i="0" u="none" strike="noStrike" dirty="0">
                          <a:solidFill>
                            <a:srgbClr val="000000"/>
                          </a:solidFill>
                          <a:effectLst/>
                          <a:latin typeface="+mn-lt"/>
                        </a:rPr>
                        <a:t>180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457200">
                <a:tc>
                  <a:txBody>
                    <a:bodyPr/>
                    <a:lstStyle/>
                    <a:p>
                      <a:pPr algn="r" fontAlgn="b"/>
                      <a:r>
                        <a:rPr lang="en-US" sz="2400" b="0" i="0" u="none" strike="noStrike" dirty="0">
                          <a:solidFill>
                            <a:srgbClr val="000000"/>
                          </a:solidFill>
                          <a:effectLst/>
                          <a:latin typeface="+mn-lt"/>
                        </a:rPr>
                        <a:t>200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aphicFrame>
        <p:nvGraphicFramePr>
          <p:cNvPr id="8" name="Table 7"/>
          <p:cNvGraphicFramePr>
            <a:graphicFrameLocks noGrp="1"/>
          </p:cNvGraphicFramePr>
          <p:nvPr/>
        </p:nvGraphicFramePr>
        <p:xfrm>
          <a:off x="6477000" y="1371600"/>
          <a:ext cx="1005840" cy="50292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tblGrid>
              <a:tr h="457200">
                <a:tc>
                  <a:txBody>
                    <a:bodyPr/>
                    <a:lstStyle/>
                    <a:p>
                      <a:pPr algn="r" fontAlgn="b"/>
                      <a:r>
                        <a:rPr lang="en-US" sz="2400" b="0" i="0" u="none" strike="noStrike" dirty="0">
                          <a:solidFill>
                            <a:srgbClr val="000000"/>
                          </a:solidFill>
                          <a:effectLst/>
                          <a:latin typeface="+mn-lt"/>
                        </a:rPr>
                        <a:t>$20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p>
                      <a:pPr algn="r" fontAlgn="b"/>
                      <a:r>
                        <a:rPr lang="en-US" sz="2400" b="0" i="0" u="none" strike="noStrike" dirty="0">
                          <a:solidFill>
                            <a:srgbClr val="000000"/>
                          </a:solidFill>
                          <a:effectLst/>
                          <a:latin typeface="+mn-lt"/>
                        </a:rPr>
                        <a:t>20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p>
                      <a:pPr algn="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p>
                      <a:pPr algn="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57200">
                <a:tc>
                  <a:txBody>
                    <a:bodyPr/>
                    <a:lstStyle/>
                    <a:p>
                      <a:pPr algn="r" fontAlgn="b"/>
                      <a:r>
                        <a:rPr lang="en-US" sz="24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57200">
                <a:tc>
                  <a:txBody>
                    <a:bodyPr/>
                    <a:lstStyle/>
                    <a:p>
                      <a:pPr algn="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57200">
                <a:tc>
                  <a:txBody>
                    <a:bodyPr/>
                    <a:lstStyle/>
                    <a:p>
                      <a:pPr algn="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57200">
                <a:tc>
                  <a:txBody>
                    <a:bodyPr/>
                    <a:lstStyle/>
                    <a:p>
                      <a:pPr algn="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57200">
                <a:tc>
                  <a:txBody>
                    <a:bodyPr/>
                    <a:lstStyle/>
                    <a:p>
                      <a:pPr algn="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57200">
                <a:tc>
                  <a:txBody>
                    <a:bodyPr/>
                    <a:lstStyle/>
                    <a:p>
                      <a:pPr algn="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457200">
                <a:tc>
                  <a:txBody>
                    <a:bodyPr/>
                    <a:lstStyle/>
                    <a:p>
                      <a:pPr algn="r" fontAlgn="b"/>
                      <a:r>
                        <a:rPr lang="en-US" sz="24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175385494"/>
              </p:ext>
            </p:extLst>
          </p:nvPr>
        </p:nvGraphicFramePr>
        <p:xfrm>
          <a:off x="7772400" y="1600200"/>
          <a:ext cx="990600" cy="45720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tblGrid>
              <a:tr h="457200">
                <a:tc>
                  <a:txBody>
                    <a:bodyPr/>
                    <a:lstStyle/>
                    <a:p>
                      <a:pPr algn="ctr" fontAlgn="b"/>
                      <a:r>
                        <a:rPr lang="en-US" sz="2400" b="0" i="0" u="none" strike="noStrike" dirty="0">
                          <a:solidFill>
                            <a:srgbClr val="000000"/>
                          </a:solidFill>
                          <a:effectLst/>
                          <a:latin typeface="+mn-lt"/>
                        </a:rPr>
                        <a:t>$20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7200">
                <a:tc>
                  <a:txBody>
                    <a:bodyPr/>
                    <a:lstStyle/>
                    <a:p>
                      <a:pPr algn="ctr" fontAlgn="b"/>
                      <a:r>
                        <a:rPr lang="en-US" sz="24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57200">
                <a:tc>
                  <a:txBody>
                    <a:bodyPr/>
                    <a:lstStyle/>
                    <a:p>
                      <a:pPr algn="ctr" fontAlgn="b"/>
                      <a:r>
                        <a:rPr lang="en-US" sz="24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57200">
                <a:tc>
                  <a:txBody>
                    <a:bodyPr/>
                    <a:lstStyle/>
                    <a:p>
                      <a:pPr algn="ct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57200">
                <a:tc>
                  <a:txBody>
                    <a:bodyPr/>
                    <a:lstStyle/>
                    <a:p>
                      <a:pPr algn="ctr" fontAlgn="b"/>
                      <a:r>
                        <a:rPr lang="en-US" sz="24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57200">
                <a:tc>
                  <a:txBody>
                    <a:bodyPr/>
                    <a:lstStyle/>
                    <a:p>
                      <a:pPr algn="ct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57200">
                <a:tc>
                  <a:txBody>
                    <a:bodyPr/>
                    <a:lstStyle/>
                    <a:p>
                      <a:pPr algn="ct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57200">
                <a:tc>
                  <a:txBody>
                    <a:bodyPr/>
                    <a:lstStyle/>
                    <a:p>
                      <a:pPr algn="ct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57200">
                <a:tc>
                  <a:txBody>
                    <a:bodyPr/>
                    <a:lstStyle/>
                    <a:p>
                      <a:pPr algn="ctr" fontAlgn="b"/>
                      <a:r>
                        <a:rPr lang="en-US" sz="2400" b="0" i="0" u="none" strike="noStrike">
                          <a:solidFill>
                            <a:srgbClr val="000000"/>
                          </a:solidFill>
                          <a:effectLst/>
                          <a:latin typeface="+mn-lt"/>
                        </a:rPr>
                        <a:t>20</a:t>
                      </a:r>
                      <a:endParaRPr lang="en-US" sz="24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57200">
                <a:tc>
                  <a:txBody>
                    <a:bodyPr/>
                    <a:lstStyle/>
                    <a:p>
                      <a:pPr algn="ctr" fontAlgn="b"/>
                      <a:r>
                        <a:rPr lang="en-US" sz="24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
        <p:nvSpPr>
          <p:cNvPr id="5" name="Footer Placeholder 4">
            <a:extLst>
              <a:ext uri="{FF2B5EF4-FFF2-40B4-BE49-F238E27FC236}">
                <a16:creationId xmlns:a16="http://schemas.microsoft.com/office/drawing/2014/main" id="{2B98C6B0-1E0D-D1A0-3E77-777D26CF2D63}"/>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3420519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par>
                                <p:cTn id="23" presetID="1" presetClass="exit" presetSubtype="0" fill="hold"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Profit Maximization</a:t>
            </a:r>
          </a:p>
        </p:txBody>
      </p:sp>
      <p:sp>
        <p:nvSpPr>
          <p:cNvPr id="3" name="Content Placeholder 2"/>
          <p:cNvSpPr>
            <a:spLocks noGrp="1"/>
          </p:cNvSpPr>
          <p:nvPr>
            <p:ph idx="1"/>
          </p:nvPr>
        </p:nvSpPr>
        <p:spPr/>
        <p:txBody>
          <a:bodyPr/>
          <a:lstStyle/>
          <a:p>
            <a:r>
              <a:rPr lang="en-US" sz="3200" dirty="0"/>
              <a:t>Goal of a firm: maximize profit = </a:t>
            </a:r>
            <a:r>
              <a:rPr lang="en-US" sz="3200" b="1" i="1" dirty="0"/>
              <a:t>TR</a:t>
            </a:r>
            <a:r>
              <a:rPr lang="en-US" sz="3200" dirty="0"/>
              <a:t> – </a:t>
            </a:r>
            <a:r>
              <a:rPr lang="en-US" sz="3200" b="1" i="1" dirty="0"/>
              <a:t>TC</a:t>
            </a:r>
          </a:p>
          <a:p>
            <a:pPr lvl="1">
              <a:buFont typeface="Arial" panose="020B0604020202020204" pitchFamily="34" charset="0"/>
              <a:buChar char="•"/>
            </a:pPr>
            <a:r>
              <a:rPr lang="en-US" sz="2800" b="1" i="1" dirty="0"/>
              <a:t>TR</a:t>
            </a:r>
            <a:r>
              <a:rPr lang="en-US" sz="2800" dirty="0"/>
              <a:t> = </a:t>
            </a:r>
            <a:r>
              <a:rPr lang="en-US" sz="2800" b="1" i="1" dirty="0"/>
              <a:t>P</a:t>
            </a:r>
            <a:r>
              <a:rPr lang="en-US" sz="2800" dirty="0"/>
              <a:t> × </a:t>
            </a:r>
            <a:r>
              <a:rPr lang="en-US" sz="2800" b="1" i="1" dirty="0"/>
              <a:t>Q</a:t>
            </a:r>
            <a:r>
              <a:rPr lang="en-US" sz="2800" dirty="0"/>
              <a:t> and </a:t>
            </a:r>
            <a:r>
              <a:rPr lang="en-US" sz="2800" b="1" i="1" dirty="0"/>
              <a:t>TC</a:t>
            </a:r>
            <a:r>
              <a:rPr lang="en-US" sz="2800" dirty="0"/>
              <a:t> = </a:t>
            </a:r>
            <a:r>
              <a:rPr lang="en-US" sz="2800" b="1" i="1" dirty="0"/>
              <a:t>FC</a:t>
            </a:r>
            <a:r>
              <a:rPr lang="en-US" sz="2800" dirty="0"/>
              <a:t> + </a:t>
            </a:r>
            <a:r>
              <a:rPr lang="en-US" sz="2800" b="1" i="1" dirty="0"/>
              <a:t>VC</a:t>
            </a:r>
          </a:p>
          <a:p>
            <a:r>
              <a:rPr lang="en-US" altLang="en-US" sz="3200" dirty="0"/>
              <a:t>What </a:t>
            </a:r>
            <a:r>
              <a:rPr lang="en-US" altLang="en-US" sz="3200" b="1" i="1" dirty="0"/>
              <a:t>Q</a:t>
            </a:r>
            <a:r>
              <a:rPr lang="en-US" altLang="en-US" sz="3200" dirty="0"/>
              <a:t> maximizes a firm’s profit?</a:t>
            </a:r>
          </a:p>
          <a:p>
            <a:pPr lvl="1"/>
            <a:r>
              <a:rPr lang="en-US" altLang="en-US" sz="2800" dirty="0"/>
              <a:t>Think at the margin: if </a:t>
            </a:r>
            <a:r>
              <a:rPr lang="en-US" altLang="en-US" sz="2800" b="1" i="1" dirty="0"/>
              <a:t>Q</a:t>
            </a:r>
            <a:r>
              <a:rPr lang="en-US" altLang="en-US" sz="2800" dirty="0"/>
              <a:t> increases by one unit, revenue rises by </a:t>
            </a:r>
            <a:r>
              <a:rPr lang="en-US" altLang="en-US" sz="2800" b="1" i="1" dirty="0"/>
              <a:t>MR</a:t>
            </a:r>
            <a:r>
              <a:rPr lang="en-US" altLang="en-US" sz="2800" dirty="0"/>
              <a:t> and cost rises by </a:t>
            </a:r>
            <a:r>
              <a:rPr lang="en-US" altLang="en-US" sz="2800" b="1" i="1" dirty="0"/>
              <a:t>MC</a:t>
            </a:r>
          </a:p>
          <a:p>
            <a:r>
              <a:rPr lang="en-US" sz="3200" dirty="0"/>
              <a:t>Comparing </a:t>
            </a:r>
            <a:r>
              <a:rPr lang="en-US" sz="3200" b="1" i="1" dirty="0"/>
              <a:t>MC</a:t>
            </a:r>
            <a:r>
              <a:rPr lang="en-US" sz="3200" dirty="0"/>
              <a:t> with </a:t>
            </a:r>
            <a:r>
              <a:rPr lang="en-US" sz="3200" b="1" i="1" dirty="0"/>
              <a:t>MR</a:t>
            </a:r>
          </a:p>
          <a:p>
            <a:pPr lvl="1"/>
            <a:r>
              <a:rPr lang="en-US" altLang="en-US" sz="2800" dirty="0"/>
              <a:t>If </a:t>
            </a:r>
            <a:r>
              <a:rPr lang="en-US" altLang="en-US" sz="2800" b="1" i="1" dirty="0"/>
              <a:t>MR</a:t>
            </a:r>
            <a:r>
              <a:rPr lang="en-US" altLang="en-US" sz="2800" dirty="0"/>
              <a:t> &gt; </a:t>
            </a:r>
            <a:r>
              <a:rPr lang="en-US" altLang="en-US" sz="2800" b="1" i="1" dirty="0"/>
              <a:t>MC</a:t>
            </a:r>
            <a:r>
              <a:rPr lang="en-US" altLang="en-US" sz="2800" dirty="0"/>
              <a:t>: increase </a:t>
            </a:r>
            <a:r>
              <a:rPr lang="en-US" altLang="en-US" sz="2800" b="1" i="1" dirty="0"/>
              <a:t>Q</a:t>
            </a:r>
            <a:r>
              <a:rPr lang="en-US" altLang="en-US" sz="2800" dirty="0"/>
              <a:t> to raise profit</a:t>
            </a:r>
          </a:p>
          <a:p>
            <a:pPr lvl="1"/>
            <a:r>
              <a:rPr lang="en-US" altLang="en-US" sz="2800" dirty="0"/>
              <a:t>If </a:t>
            </a:r>
            <a:r>
              <a:rPr lang="en-US" altLang="en-US" sz="2800" b="1" i="1" dirty="0"/>
              <a:t>MR</a:t>
            </a:r>
            <a:r>
              <a:rPr lang="en-US" altLang="en-US" sz="2800" dirty="0"/>
              <a:t> &lt; </a:t>
            </a:r>
            <a:r>
              <a:rPr lang="en-US" altLang="en-US" sz="2800" b="1" i="1" dirty="0"/>
              <a:t>MC</a:t>
            </a:r>
            <a:r>
              <a:rPr lang="en-US" altLang="en-US" sz="2800" dirty="0"/>
              <a:t>: decrease </a:t>
            </a:r>
            <a:r>
              <a:rPr lang="en-US" altLang="en-US" sz="2800" b="1" i="1" dirty="0"/>
              <a:t>Q</a:t>
            </a:r>
            <a:r>
              <a:rPr lang="en-US" altLang="en-US" sz="2800" dirty="0"/>
              <a:t> to raise profit</a:t>
            </a:r>
          </a:p>
          <a:p>
            <a:pPr lvl="1"/>
            <a:r>
              <a:rPr lang="en-US" sz="2800" dirty="0"/>
              <a:t>Maximize profit for </a:t>
            </a:r>
            <a:r>
              <a:rPr lang="en-US" sz="2800" b="1" i="1" dirty="0"/>
              <a:t>Q </a:t>
            </a:r>
            <a:r>
              <a:rPr lang="en-US" sz="2800" dirty="0"/>
              <a:t>where </a:t>
            </a:r>
            <a:r>
              <a:rPr lang="en-US" sz="2800" b="1" i="1" dirty="0"/>
              <a:t>MR</a:t>
            </a:r>
            <a:r>
              <a:rPr lang="en-US" sz="2800" dirty="0"/>
              <a:t> = </a:t>
            </a:r>
            <a:r>
              <a:rPr lang="en-US" sz="2800" b="1" i="1" dirty="0"/>
              <a:t>MC</a:t>
            </a:r>
          </a:p>
          <a:p>
            <a:pPr lvl="1"/>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a:t>
            </a:fld>
            <a:endParaRPr lang="en-US"/>
          </a:p>
        </p:txBody>
      </p:sp>
      <p:sp>
        <p:nvSpPr>
          <p:cNvPr id="5" name="Footer Placeholder 4">
            <a:extLst>
              <a:ext uri="{FF2B5EF4-FFF2-40B4-BE49-F238E27FC236}">
                <a16:creationId xmlns:a16="http://schemas.microsoft.com/office/drawing/2014/main" id="{BDBF2BD9-1CBF-A265-AFE4-20A86EE2ACE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8815630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left)">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left)">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wipe(left)">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2: </a:t>
            </a:r>
            <a:r>
              <a:rPr lang="en-US" dirty="0">
                <a:solidFill>
                  <a:schemeClr val="tx1"/>
                </a:solidFill>
              </a:rPr>
              <a:t>Amari’s Apple Orchard: Profit</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a:t>
            </a:fld>
            <a:endParaRPr lang="en-US"/>
          </a:p>
        </p:txBody>
      </p:sp>
      <p:sp>
        <p:nvSpPr>
          <p:cNvPr id="7" name="Content Placeholder 6"/>
          <p:cNvSpPr>
            <a:spLocks noGrp="1"/>
          </p:cNvSpPr>
          <p:nvPr>
            <p:ph idx="12"/>
          </p:nvPr>
        </p:nvSpPr>
        <p:spPr>
          <a:xfrm>
            <a:off x="152401" y="990600"/>
            <a:ext cx="2514600" cy="5562600"/>
          </a:xfrm>
        </p:spPr>
        <p:txBody>
          <a:bodyPr>
            <a:noAutofit/>
          </a:bodyPr>
          <a:lstStyle/>
          <a:p>
            <a:pPr marL="0" indent="0">
              <a:buNone/>
            </a:pPr>
            <a:r>
              <a:rPr lang="en-US" sz="2800" dirty="0">
                <a:cs typeface="Arial"/>
              </a:rPr>
              <a:t>If </a:t>
            </a:r>
            <a:r>
              <a:rPr lang="en-US" sz="2800" b="1" i="1" dirty="0">
                <a:cs typeface="Arial"/>
              </a:rPr>
              <a:t>MR</a:t>
            </a:r>
            <a:r>
              <a:rPr lang="en-US" sz="2800" dirty="0">
                <a:cs typeface="Arial"/>
              </a:rPr>
              <a:t> &gt; </a:t>
            </a:r>
            <a:r>
              <a:rPr lang="en-US" sz="2800" b="1" i="1" dirty="0">
                <a:cs typeface="Arial"/>
              </a:rPr>
              <a:t>MC</a:t>
            </a:r>
            <a:r>
              <a:rPr lang="en-US" sz="2800" dirty="0">
                <a:cs typeface="Arial"/>
              </a:rPr>
              <a:t>,</a:t>
            </a:r>
            <a:br>
              <a:rPr lang="en-US" sz="2800" dirty="0">
                <a:cs typeface="Arial"/>
              </a:rPr>
            </a:br>
            <a:r>
              <a:rPr lang="en-US" sz="2800" dirty="0">
                <a:cs typeface="Arial"/>
              </a:rPr>
              <a:t>increasing </a:t>
            </a:r>
            <a:r>
              <a:rPr lang="en-US" sz="2800" b="1" i="1" dirty="0">
                <a:cs typeface="Arial"/>
              </a:rPr>
              <a:t>Q</a:t>
            </a:r>
            <a:r>
              <a:rPr lang="en-US" sz="2800" dirty="0">
                <a:cs typeface="Arial"/>
              </a:rPr>
              <a:t> raises profit.</a:t>
            </a:r>
          </a:p>
          <a:p>
            <a:pPr marL="0" indent="0">
              <a:buNone/>
            </a:pPr>
            <a:endParaRPr lang="en-US" sz="2800" dirty="0">
              <a:cs typeface="Arial"/>
            </a:endParaRPr>
          </a:p>
          <a:p>
            <a:pPr marL="0" indent="0">
              <a:buNone/>
            </a:pPr>
            <a:r>
              <a:rPr lang="en-US" sz="2800" dirty="0">
                <a:solidFill>
                  <a:srgbClr val="C00000"/>
                </a:solidFill>
                <a:cs typeface="Arial"/>
              </a:rPr>
              <a:t>Max profit at </a:t>
            </a:r>
            <a:r>
              <a:rPr lang="en-US" sz="2800" b="1" i="1" dirty="0">
                <a:solidFill>
                  <a:srgbClr val="C00000"/>
                </a:solidFill>
                <a:cs typeface="Arial"/>
              </a:rPr>
              <a:t>Q</a:t>
            </a:r>
            <a:r>
              <a:rPr lang="en-US" sz="2800" dirty="0">
                <a:solidFill>
                  <a:srgbClr val="C00000"/>
                </a:solidFill>
                <a:cs typeface="Arial"/>
              </a:rPr>
              <a:t> where     </a:t>
            </a:r>
            <a:r>
              <a:rPr lang="en-US" sz="2800" b="1" i="1" dirty="0">
                <a:solidFill>
                  <a:srgbClr val="C00000"/>
                </a:solidFill>
                <a:cs typeface="Arial"/>
              </a:rPr>
              <a:t>MR</a:t>
            </a:r>
            <a:r>
              <a:rPr lang="en-US" sz="2800" dirty="0">
                <a:solidFill>
                  <a:srgbClr val="C00000"/>
                </a:solidFill>
                <a:cs typeface="Arial"/>
              </a:rPr>
              <a:t> = </a:t>
            </a:r>
            <a:r>
              <a:rPr lang="en-US" sz="2800" b="1" i="1" dirty="0">
                <a:solidFill>
                  <a:srgbClr val="C00000"/>
                </a:solidFill>
                <a:cs typeface="Arial"/>
              </a:rPr>
              <a:t>MC</a:t>
            </a:r>
          </a:p>
          <a:p>
            <a:pPr marL="0" indent="0">
              <a:buNone/>
            </a:pPr>
            <a:endParaRPr lang="en-US" sz="2800" dirty="0">
              <a:cs typeface="Arial"/>
            </a:endParaRPr>
          </a:p>
          <a:p>
            <a:pPr marL="0" indent="0">
              <a:buNone/>
            </a:pPr>
            <a:r>
              <a:rPr lang="en-US" sz="2800" dirty="0">
                <a:cs typeface="Arial"/>
              </a:rPr>
              <a:t>If </a:t>
            </a:r>
            <a:r>
              <a:rPr lang="en-US" sz="2800" b="1" i="1" dirty="0">
                <a:cs typeface="Arial"/>
              </a:rPr>
              <a:t>MR</a:t>
            </a:r>
            <a:r>
              <a:rPr lang="en-US" sz="2800" dirty="0">
                <a:cs typeface="Arial"/>
              </a:rPr>
              <a:t> &lt; </a:t>
            </a:r>
            <a:r>
              <a:rPr lang="en-US" sz="2800" b="1" i="1" dirty="0">
                <a:cs typeface="Arial"/>
              </a:rPr>
              <a:t>MC</a:t>
            </a:r>
            <a:r>
              <a:rPr lang="en-US" sz="2800" dirty="0">
                <a:cs typeface="Arial"/>
              </a:rPr>
              <a:t>,</a:t>
            </a:r>
            <a:br>
              <a:rPr lang="en-US" sz="2800" dirty="0">
                <a:cs typeface="Arial"/>
              </a:rPr>
            </a:br>
            <a:r>
              <a:rPr lang="en-US" sz="2800" dirty="0">
                <a:cs typeface="Arial"/>
              </a:rPr>
              <a:t>reducing </a:t>
            </a:r>
            <a:r>
              <a:rPr lang="en-US" sz="2800" b="1" i="1" dirty="0">
                <a:cs typeface="Arial"/>
              </a:rPr>
              <a:t>Q</a:t>
            </a:r>
            <a:r>
              <a:rPr lang="en-US" sz="2800" dirty="0">
                <a:cs typeface="Arial"/>
              </a:rPr>
              <a:t> raises profit. </a:t>
            </a:r>
          </a:p>
        </p:txBody>
      </p:sp>
      <p:graphicFrame>
        <p:nvGraphicFramePr>
          <p:cNvPr id="6" name="Table 5"/>
          <p:cNvGraphicFramePr>
            <a:graphicFrameLocks noGrp="1"/>
          </p:cNvGraphicFramePr>
          <p:nvPr>
            <p:extLst>
              <p:ext uri="{D42A27DB-BD31-4B8C-83A1-F6EECF244321}">
                <p14:modId xmlns:p14="http://schemas.microsoft.com/office/powerpoint/2010/main" val="2932312018"/>
              </p:ext>
            </p:extLst>
          </p:nvPr>
        </p:nvGraphicFramePr>
        <p:xfrm>
          <a:off x="2667000" y="914400"/>
          <a:ext cx="5871368" cy="5334000"/>
        </p:xfrm>
        <a:graphic>
          <a:graphicData uri="http://schemas.openxmlformats.org/drawingml/2006/table">
            <a:tbl>
              <a:tblPr firstRow="1" bandRow="1">
                <a:tableStyleId>{5C22544A-7EE6-4342-B048-85BDC9FD1C3A}</a:tableStyleId>
              </a:tblPr>
              <a:tblGrid>
                <a:gridCol w="608690">
                  <a:extLst>
                    <a:ext uri="{9D8B030D-6E8A-4147-A177-3AD203B41FA5}">
                      <a16:colId xmlns:a16="http://schemas.microsoft.com/office/drawing/2014/main" val="20000"/>
                    </a:ext>
                  </a:extLst>
                </a:gridCol>
                <a:gridCol w="675580">
                  <a:extLst>
                    <a:ext uri="{9D8B030D-6E8A-4147-A177-3AD203B41FA5}">
                      <a16:colId xmlns:a16="http://schemas.microsoft.com/office/drawing/2014/main" val="20001"/>
                    </a:ext>
                  </a:extLst>
                </a:gridCol>
                <a:gridCol w="675580">
                  <a:extLst>
                    <a:ext uri="{9D8B030D-6E8A-4147-A177-3AD203B41FA5}">
                      <a16:colId xmlns:a16="http://schemas.microsoft.com/office/drawing/2014/main" val="20002"/>
                    </a:ext>
                  </a:extLst>
                </a:gridCol>
                <a:gridCol w="1065766">
                  <a:extLst>
                    <a:ext uri="{9D8B030D-6E8A-4147-A177-3AD203B41FA5}">
                      <a16:colId xmlns:a16="http://schemas.microsoft.com/office/drawing/2014/main" val="20003"/>
                    </a:ext>
                  </a:extLst>
                </a:gridCol>
                <a:gridCol w="744061">
                  <a:extLst>
                    <a:ext uri="{9D8B030D-6E8A-4147-A177-3AD203B41FA5}">
                      <a16:colId xmlns:a16="http://schemas.microsoft.com/office/drawing/2014/main" val="20004"/>
                    </a:ext>
                  </a:extLst>
                </a:gridCol>
                <a:gridCol w="744061">
                  <a:extLst>
                    <a:ext uri="{9D8B030D-6E8A-4147-A177-3AD203B41FA5}">
                      <a16:colId xmlns:a16="http://schemas.microsoft.com/office/drawing/2014/main" val="20005"/>
                    </a:ext>
                  </a:extLst>
                </a:gridCol>
                <a:gridCol w="1357630">
                  <a:extLst>
                    <a:ext uri="{9D8B030D-6E8A-4147-A177-3AD203B41FA5}">
                      <a16:colId xmlns:a16="http://schemas.microsoft.com/office/drawing/2014/main" val="20006"/>
                    </a:ext>
                  </a:extLst>
                </a:gridCol>
              </a:tblGrid>
              <a:tr h="370840">
                <a:tc>
                  <a:txBody>
                    <a:bodyPr/>
                    <a:lstStyle/>
                    <a:p>
                      <a:pPr algn="ctr"/>
                      <a:r>
                        <a:rPr lang="en-US" sz="2200" dirty="0">
                          <a:solidFill>
                            <a:schemeClr val="tx1"/>
                          </a:solidFill>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rPr>
                        <a:t>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rgbClr val="4E519E"/>
                          </a:solidFill>
                        </a:rPr>
                        <a:t>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rPr>
                        <a:t>Profit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rPr>
                        <a:t>MR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n-US" sz="2200" dirty="0">
                          <a:solidFill>
                            <a:schemeClr val="tx1"/>
                          </a:solidFill>
                        </a:rPr>
                        <a:t>MC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r>
                        <a:rPr lang="el-GR" sz="1800" dirty="0">
                          <a:solidFill>
                            <a:schemeClr val="tx1"/>
                          </a:solidFill>
                        </a:rPr>
                        <a:t>Δ</a:t>
                      </a:r>
                      <a:r>
                        <a:rPr lang="en-US" sz="1800" dirty="0">
                          <a:solidFill>
                            <a:schemeClr val="tx1"/>
                          </a:solidFill>
                        </a:rPr>
                        <a:t> Profit</a:t>
                      </a:r>
                    </a:p>
                    <a:p>
                      <a:pPr algn="ctr"/>
                      <a:r>
                        <a:rPr lang="en-US" sz="1800" dirty="0">
                          <a:solidFill>
                            <a:schemeClr val="tx1"/>
                          </a:solidFill>
                        </a:rPr>
                        <a:t>=</a:t>
                      </a:r>
                      <a:r>
                        <a:rPr lang="en-US" sz="1800" baseline="0" dirty="0">
                          <a:solidFill>
                            <a:schemeClr val="tx1"/>
                          </a:solidFill>
                        </a:rPr>
                        <a:t> MR - MC</a:t>
                      </a: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0"/>
                  </a:ext>
                </a:extLst>
              </a:tr>
              <a:tr h="370840">
                <a:tc>
                  <a:txBody>
                    <a:bodyPr/>
                    <a:lstStyle/>
                    <a:p>
                      <a:pPr algn="ctr"/>
                      <a:r>
                        <a:rPr lang="en-US" sz="22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4E519E"/>
                          </a:solidFill>
                          <a:effectLst/>
                          <a:latin typeface="+mn-lt"/>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sz="22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20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4E519E"/>
                          </a:solidFill>
                          <a:effectLst/>
                          <a:latin typeface="+mn-lt"/>
                        </a:rPr>
                        <a:t>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2"/>
                  </a:ext>
                </a:extLst>
              </a:tr>
              <a:tr h="370840">
                <a:tc>
                  <a:txBody>
                    <a:bodyPr/>
                    <a:lstStyle/>
                    <a:p>
                      <a:pPr algn="ctr"/>
                      <a:r>
                        <a:rPr lang="en-US" sz="2200"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40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4E519E"/>
                          </a:solidFill>
                          <a:effectLst/>
                          <a:latin typeface="+mn-lt"/>
                        </a:rPr>
                        <a:t>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sz="22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60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4E519E"/>
                          </a:solidFill>
                          <a:effectLst/>
                          <a:latin typeface="+mn-lt"/>
                        </a:rPr>
                        <a:t>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4"/>
                  </a:ext>
                </a:extLst>
              </a:tr>
              <a:tr h="370840">
                <a:tc>
                  <a:txBody>
                    <a:bodyPr/>
                    <a:lstStyle/>
                    <a:p>
                      <a:pPr algn="ctr"/>
                      <a:r>
                        <a:rPr lang="en-US" sz="2200"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80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4E519E"/>
                          </a:solidFill>
                          <a:effectLst/>
                          <a:latin typeface="+mn-lt"/>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US" sz="2200"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100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4E519E"/>
                          </a:solidFill>
                          <a:effectLst/>
                          <a:latin typeface="+mn-lt"/>
                        </a:rPr>
                        <a:t>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6"/>
                  </a:ext>
                </a:extLst>
              </a:tr>
              <a:tr h="370840">
                <a:tc>
                  <a:txBody>
                    <a:bodyPr/>
                    <a:lstStyle/>
                    <a:p>
                      <a:pPr algn="ctr"/>
                      <a:r>
                        <a:rPr lang="en-US" sz="220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120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4E519E"/>
                          </a:solidFill>
                          <a:effectLst/>
                          <a:latin typeface="+mn-lt"/>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pPr algn="ctr"/>
                      <a:r>
                        <a:rPr lang="en-US" sz="2200"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140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4E519E"/>
                          </a:solidFill>
                          <a:effectLst/>
                          <a:latin typeface="+mn-lt"/>
                        </a:rPr>
                        <a:t>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08"/>
                  </a:ext>
                </a:extLst>
              </a:tr>
              <a:tr h="370840">
                <a:tc>
                  <a:txBody>
                    <a:bodyPr/>
                    <a:lstStyle/>
                    <a:p>
                      <a:pPr algn="ctr"/>
                      <a:r>
                        <a:rPr lang="en-US" sz="2200"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160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a:solidFill>
                            <a:srgbClr val="4E519E"/>
                          </a:solidFill>
                          <a:effectLst/>
                          <a:latin typeface="+mn-lt"/>
                        </a:rPr>
                        <a:t>126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0840">
                <a:tc>
                  <a:txBody>
                    <a:bodyPr/>
                    <a:lstStyle/>
                    <a:p>
                      <a:pPr algn="ctr"/>
                      <a:r>
                        <a:rPr lang="en-US" sz="2200" dirty="0">
                          <a:solidFill>
                            <a:schemeClr val="tx1"/>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000000"/>
                          </a:solidFill>
                          <a:effectLst/>
                          <a:latin typeface="+mn-lt"/>
                        </a:rPr>
                        <a:t>180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fontAlgn="b"/>
                      <a:r>
                        <a:rPr lang="en-US" sz="2200" b="0" i="0" u="none" strike="noStrike" dirty="0">
                          <a:solidFill>
                            <a:srgbClr val="4E519E"/>
                          </a:solidFill>
                          <a:effectLst/>
                          <a:latin typeface="+mn-lt"/>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0FA"/>
                    </a:solidFill>
                  </a:tcPr>
                </a:tc>
                <a:extLst>
                  <a:ext uri="{0D108BD9-81ED-4DB2-BD59-A6C34878D82A}">
                    <a16:rowId xmlns:a16="http://schemas.microsoft.com/office/drawing/2014/main" val="10010"/>
                  </a:ext>
                </a:extLst>
              </a:tr>
              <a:tr h="370840">
                <a:tc>
                  <a:txBody>
                    <a:bodyPr/>
                    <a:lstStyle/>
                    <a:p>
                      <a:pPr algn="ctr"/>
                      <a:r>
                        <a:rPr lang="en-US" sz="2200"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000000"/>
                          </a:solidFill>
                          <a:effectLst/>
                          <a:latin typeface="+mn-lt"/>
                        </a:rPr>
                        <a:t>200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2200" b="0" i="0" u="none" strike="noStrike" dirty="0">
                          <a:solidFill>
                            <a:srgbClr val="4E519E"/>
                          </a:solidFill>
                          <a:effectLst/>
                          <a:latin typeface="+mn-lt"/>
                        </a:rPr>
                        <a:t>176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aphicFrame>
        <p:nvGraphicFramePr>
          <p:cNvPr id="8" name="Table 7"/>
          <p:cNvGraphicFramePr>
            <a:graphicFrameLocks noGrp="1"/>
          </p:cNvGraphicFramePr>
          <p:nvPr/>
        </p:nvGraphicFramePr>
        <p:xfrm>
          <a:off x="4648200" y="1524000"/>
          <a:ext cx="1005840" cy="4724401"/>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tblGrid>
              <a:tr h="429491">
                <a:tc>
                  <a:txBody>
                    <a:bodyPr/>
                    <a:lstStyle/>
                    <a:p>
                      <a:pPr algn="ctr" fontAlgn="b"/>
                      <a:r>
                        <a:rPr lang="en-US" sz="2200" b="0" i="0" u="none" strike="noStrike" dirty="0">
                          <a:solidFill>
                            <a:schemeClr val="tx1"/>
                          </a:solidFill>
                          <a:effectLst/>
                          <a:latin typeface="+mn-lt"/>
                        </a:rPr>
                        <a:t>-6</a:t>
                      </a:r>
                      <a:r>
                        <a:rPr lang="en-US" sz="2200" b="0" i="0" u="none" strike="noStrike" baseline="0" dirty="0">
                          <a:solidFill>
                            <a:schemeClr val="tx1"/>
                          </a:solidFill>
                          <a:effectLst/>
                          <a:latin typeface="+mn-lt"/>
                        </a:rPr>
                        <a:t> </a:t>
                      </a:r>
                      <a:endParaRPr lang="en-US" sz="2200" b="0" i="0" u="none" strike="noStrike" dirty="0">
                        <a:solidFill>
                          <a:schemeClr val="tx1"/>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29491">
                <a:tc>
                  <a:txBody>
                    <a:bodyPr/>
                    <a:lstStyle/>
                    <a:p>
                      <a:pPr algn="ctr" fontAlgn="b"/>
                      <a:r>
                        <a:rPr lang="en-US" sz="2200" b="0" i="0" u="none" strike="noStrike" dirty="0">
                          <a:solidFill>
                            <a:schemeClr val="tx1"/>
                          </a:solidFill>
                          <a:effectLst/>
                          <a:latin typeface="+mn-lt"/>
                        </a:rPr>
                        <a:t>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29491">
                <a:tc>
                  <a:txBody>
                    <a:bodyPr/>
                    <a:lstStyle/>
                    <a:p>
                      <a:pPr algn="ctr" fontAlgn="b"/>
                      <a:r>
                        <a:rPr lang="en-US" sz="2200" b="0" i="0" u="none" strike="noStrike">
                          <a:solidFill>
                            <a:schemeClr val="tx1"/>
                          </a:solidFill>
                          <a:effectLst/>
                          <a:latin typeface="+mn-lt"/>
                        </a:rPr>
                        <a:t>16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29491">
                <a:tc>
                  <a:txBody>
                    <a:bodyPr/>
                    <a:lstStyle/>
                    <a:p>
                      <a:pPr algn="ctr" fontAlgn="b"/>
                      <a:r>
                        <a:rPr lang="en-US" sz="2200" b="0" i="0" u="none" strike="noStrike" dirty="0">
                          <a:solidFill>
                            <a:schemeClr val="tx1"/>
                          </a:solidFill>
                          <a:effectLst/>
                          <a:latin typeface="+mn-lt"/>
                        </a:rPr>
                        <a:t>24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29491">
                <a:tc>
                  <a:txBody>
                    <a:bodyPr/>
                    <a:lstStyle/>
                    <a:p>
                      <a:pPr algn="ctr" fontAlgn="b"/>
                      <a:r>
                        <a:rPr lang="en-US" sz="2200" b="0" i="0" u="none" strike="noStrike" dirty="0">
                          <a:solidFill>
                            <a:schemeClr val="tx1"/>
                          </a:solidFill>
                          <a:effectLst/>
                          <a:latin typeface="+mn-lt"/>
                        </a:rPr>
                        <a:t>30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29491">
                <a:tc>
                  <a:txBody>
                    <a:bodyPr/>
                    <a:lstStyle/>
                    <a:p>
                      <a:pPr algn="ctr" fontAlgn="b"/>
                      <a:r>
                        <a:rPr lang="en-US" sz="2200" b="0" i="0" u="none" strike="noStrike" dirty="0">
                          <a:solidFill>
                            <a:schemeClr val="tx1"/>
                          </a:solidFill>
                          <a:effectLst/>
                          <a:latin typeface="+mn-lt"/>
                        </a:rPr>
                        <a:t>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29491">
                <a:tc>
                  <a:txBody>
                    <a:bodyPr/>
                    <a:lstStyle/>
                    <a:p>
                      <a:pPr algn="ctr" fontAlgn="b"/>
                      <a:r>
                        <a:rPr lang="en-US" sz="2200" b="0" i="0" u="none" strike="noStrike" dirty="0">
                          <a:solidFill>
                            <a:schemeClr val="tx1"/>
                          </a:solidFill>
                          <a:effectLst/>
                          <a:latin typeface="+mn-lt"/>
                        </a:rPr>
                        <a:t>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29491">
                <a:tc>
                  <a:txBody>
                    <a:bodyPr/>
                    <a:lstStyle/>
                    <a:p>
                      <a:pPr algn="ctr" fontAlgn="b"/>
                      <a:r>
                        <a:rPr lang="en-US" sz="2200" b="0" i="0" u="none" strike="noStrike" dirty="0">
                          <a:solidFill>
                            <a:schemeClr val="tx1"/>
                          </a:solidFill>
                          <a:effectLst/>
                          <a:latin typeface="+mn-lt"/>
                        </a:rPr>
                        <a:t>35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29491">
                <a:tc>
                  <a:txBody>
                    <a:bodyPr/>
                    <a:lstStyle/>
                    <a:p>
                      <a:pPr algn="ctr" fontAlgn="b"/>
                      <a:r>
                        <a:rPr lang="en-US" sz="2200" b="0" i="0" u="none" strike="noStrike">
                          <a:solidFill>
                            <a:schemeClr val="tx1"/>
                          </a:solidFill>
                          <a:effectLst/>
                          <a:latin typeface="+mn-lt"/>
                        </a:rPr>
                        <a:t>34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29491">
                <a:tc>
                  <a:txBody>
                    <a:bodyPr/>
                    <a:lstStyle/>
                    <a:p>
                      <a:pPr algn="ctr" fontAlgn="b"/>
                      <a:r>
                        <a:rPr lang="en-US" sz="2200" b="0" i="0" u="none" strike="noStrike">
                          <a:solidFill>
                            <a:schemeClr val="tx1"/>
                          </a:solidFill>
                          <a:effectLst/>
                          <a:latin typeface="+mn-lt"/>
                        </a:rPr>
                        <a:t>30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429491">
                <a:tc>
                  <a:txBody>
                    <a:bodyPr/>
                    <a:lstStyle/>
                    <a:p>
                      <a:pPr algn="ctr" fontAlgn="b"/>
                      <a:r>
                        <a:rPr lang="en-US" sz="2200" b="0" i="0" u="none" strike="noStrike" dirty="0">
                          <a:solidFill>
                            <a:schemeClr val="tx1"/>
                          </a:solidFill>
                          <a:effectLst/>
                          <a:latin typeface="+mn-lt"/>
                        </a:rPr>
                        <a:t>26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424233707"/>
              </p:ext>
            </p:extLst>
          </p:nvPr>
        </p:nvGraphicFramePr>
        <p:xfrm>
          <a:off x="5696712" y="1752600"/>
          <a:ext cx="728472" cy="4267200"/>
        </p:xfrm>
        <a:graphic>
          <a:graphicData uri="http://schemas.openxmlformats.org/drawingml/2006/table">
            <a:tbl>
              <a:tblPr firstRow="1" bandRow="1">
                <a:tableStyleId>{5C22544A-7EE6-4342-B048-85BDC9FD1C3A}</a:tableStyleId>
              </a:tblPr>
              <a:tblGrid>
                <a:gridCol w="728472">
                  <a:extLst>
                    <a:ext uri="{9D8B030D-6E8A-4147-A177-3AD203B41FA5}">
                      <a16:colId xmlns:a16="http://schemas.microsoft.com/office/drawing/2014/main" val="20000"/>
                    </a:ext>
                  </a:extLst>
                </a:gridCol>
              </a:tblGrid>
              <a:tr h="426720">
                <a:tc>
                  <a:txBody>
                    <a:bodyPr/>
                    <a:lstStyle/>
                    <a:p>
                      <a:pPr algn="ctr" fontAlgn="b"/>
                      <a:r>
                        <a:rPr lang="en-US" sz="2200" b="0" i="0" u="none" strike="noStrike" dirty="0">
                          <a:solidFill>
                            <a:srgbClr val="000000"/>
                          </a:solidFill>
                          <a:effectLst/>
                          <a:latin typeface="+mn-lt"/>
                        </a:rPr>
                        <a:t>$20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26720">
                <a:tc>
                  <a:txBody>
                    <a:bodyPr/>
                    <a:lstStyle/>
                    <a:p>
                      <a:pPr algn="ctr" fontAlgn="b"/>
                      <a:r>
                        <a:rPr lang="en-US" sz="22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26720">
                <a:tc>
                  <a:txBody>
                    <a:bodyPr/>
                    <a:lstStyle/>
                    <a:p>
                      <a:pPr algn="ctr" fontAlgn="b"/>
                      <a:r>
                        <a:rPr lang="en-US" sz="22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26720">
                <a:tc>
                  <a:txBody>
                    <a:bodyPr/>
                    <a:lstStyle/>
                    <a:p>
                      <a:pPr algn="ctr" fontAlgn="b"/>
                      <a:r>
                        <a:rPr lang="en-US" sz="22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6720">
                <a:tc>
                  <a:txBody>
                    <a:bodyPr/>
                    <a:lstStyle/>
                    <a:p>
                      <a:pPr algn="ctr" fontAlgn="b"/>
                      <a:r>
                        <a:rPr lang="en-US" sz="22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6720">
                <a:tc>
                  <a:txBody>
                    <a:bodyPr/>
                    <a:lstStyle/>
                    <a:p>
                      <a:pPr algn="ctr" fontAlgn="b"/>
                      <a:r>
                        <a:rPr lang="en-US" sz="2200" b="0" i="0" u="none" strike="noStrike">
                          <a:solidFill>
                            <a:srgbClr val="000000"/>
                          </a:solidFill>
                          <a:effectLst/>
                          <a:latin typeface="+mn-lt"/>
                        </a:rPr>
                        <a:t>20</a:t>
                      </a:r>
                      <a:endParaRPr lang="en-US" sz="22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6720">
                <a:tc>
                  <a:txBody>
                    <a:bodyPr/>
                    <a:lstStyle/>
                    <a:p>
                      <a:pPr algn="ctr" fontAlgn="b"/>
                      <a:r>
                        <a:rPr lang="en-US" sz="22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6720">
                <a:tc>
                  <a:txBody>
                    <a:bodyPr/>
                    <a:lstStyle/>
                    <a:p>
                      <a:pPr algn="ctr" fontAlgn="b"/>
                      <a:r>
                        <a:rPr lang="en-US" sz="2200" b="0" i="0" u="none" strike="noStrike">
                          <a:solidFill>
                            <a:srgbClr val="000000"/>
                          </a:solidFill>
                          <a:effectLst/>
                          <a:latin typeface="+mn-lt"/>
                        </a:rPr>
                        <a:t>20</a:t>
                      </a:r>
                      <a:endParaRPr lang="en-US" sz="22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26720">
                <a:tc>
                  <a:txBody>
                    <a:bodyPr/>
                    <a:lstStyle/>
                    <a:p>
                      <a:pPr algn="ctr" fontAlgn="b"/>
                      <a:r>
                        <a:rPr lang="en-US" sz="2200" b="0" i="0" u="none" strike="noStrike">
                          <a:solidFill>
                            <a:srgbClr val="000000"/>
                          </a:solidFill>
                          <a:effectLst/>
                          <a:latin typeface="+mn-lt"/>
                        </a:rPr>
                        <a:t>20</a:t>
                      </a:r>
                      <a:endParaRPr lang="en-US" sz="2200" b="0" i="0" u="none" strike="noStrike" dirty="0">
                        <a:solidFill>
                          <a:srgbClr val="000000"/>
                        </a:solidFill>
                        <a:effectLst/>
                        <a:latin typeface="+mn-lt"/>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26720">
                <a:tc>
                  <a:txBody>
                    <a:bodyPr/>
                    <a:lstStyle/>
                    <a:p>
                      <a:pPr algn="ctr" fontAlgn="b"/>
                      <a:r>
                        <a:rPr lang="en-US" sz="2200" b="0" i="0" u="none" strike="noStrike" dirty="0">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181930679"/>
              </p:ext>
            </p:extLst>
          </p:nvPr>
        </p:nvGraphicFramePr>
        <p:xfrm>
          <a:off x="6446520" y="1752600"/>
          <a:ext cx="716280" cy="4267200"/>
        </p:xfrm>
        <a:graphic>
          <a:graphicData uri="http://schemas.openxmlformats.org/drawingml/2006/table">
            <a:tbl>
              <a:tblPr firstRow="1" bandRow="1">
                <a:tableStyleId>{5C22544A-7EE6-4342-B048-85BDC9FD1C3A}</a:tableStyleId>
              </a:tblPr>
              <a:tblGrid>
                <a:gridCol w="716280">
                  <a:extLst>
                    <a:ext uri="{9D8B030D-6E8A-4147-A177-3AD203B41FA5}">
                      <a16:colId xmlns:a16="http://schemas.microsoft.com/office/drawing/2014/main" val="20000"/>
                    </a:ext>
                  </a:extLst>
                </a:gridCol>
              </a:tblGrid>
              <a:tr h="426720">
                <a:tc>
                  <a:txBody>
                    <a:bodyPr/>
                    <a:lstStyle/>
                    <a:p>
                      <a:pPr algn="ctr" fontAlgn="b"/>
                      <a:r>
                        <a:rPr lang="en-US" sz="2200" b="0" i="0" u="none" strike="noStrike" dirty="0">
                          <a:solidFill>
                            <a:srgbClr val="000000"/>
                          </a:solidFill>
                          <a:effectLst/>
                          <a:latin typeface="+mn-lt"/>
                        </a:rPr>
                        <a:t>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26720">
                <a:tc>
                  <a:txBody>
                    <a:bodyPr/>
                    <a:lstStyle/>
                    <a:p>
                      <a:pPr algn="ctr" fontAlgn="b"/>
                      <a:r>
                        <a:rPr lang="en-US" sz="2200" b="0" i="0" u="none" strike="noStrike" dirty="0">
                          <a:solidFill>
                            <a:srgbClr val="000000"/>
                          </a:solidFill>
                          <a:effectLst/>
                          <a:latin typeface="+mn-lt"/>
                        </a:rPr>
                        <a:t>10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26720">
                <a:tc>
                  <a:txBody>
                    <a:bodyPr/>
                    <a:lstStyle/>
                    <a:p>
                      <a:pPr algn="ctr" fontAlgn="b"/>
                      <a:r>
                        <a:rPr lang="en-US" sz="2200" b="0" i="0" u="none" strike="noStrike" dirty="0">
                          <a:solidFill>
                            <a:srgbClr val="000000"/>
                          </a:solidFill>
                          <a:effectLst/>
                          <a:latin typeface="+mn-lt"/>
                        </a:rPr>
                        <a:t>12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26720">
                <a:tc>
                  <a:txBody>
                    <a:bodyPr/>
                    <a:lstStyle/>
                    <a:p>
                      <a:pPr algn="ctr" fontAlgn="b"/>
                      <a:r>
                        <a:rPr lang="en-US" sz="2200" b="0" i="0" u="none" strike="noStrike" dirty="0">
                          <a:solidFill>
                            <a:srgbClr val="000000"/>
                          </a:solidFill>
                          <a:effectLst/>
                          <a:latin typeface="+mn-lt"/>
                        </a:rPr>
                        <a:t>14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6720">
                <a:tc>
                  <a:txBody>
                    <a:bodyPr/>
                    <a:lstStyle/>
                    <a:p>
                      <a:pPr algn="ctr" fontAlgn="b"/>
                      <a:r>
                        <a:rPr lang="en-US" sz="2200" b="0" i="0" u="none" strike="noStrike" dirty="0">
                          <a:solidFill>
                            <a:srgbClr val="000000"/>
                          </a:solidFill>
                          <a:effectLst/>
                          <a:latin typeface="+mn-lt"/>
                        </a:rPr>
                        <a:t>16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6720">
                <a:tc>
                  <a:txBody>
                    <a:bodyPr/>
                    <a:lstStyle/>
                    <a:p>
                      <a:pPr algn="ctr" fontAlgn="b"/>
                      <a:r>
                        <a:rPr lang="en-US" sz="2200" b="0" i="0" u="none" strike="noStrike" dirty="0">
                          <a:solidFill>
                            <a:srgbClr val="000000"/>
                          </a:solidFill>
                          <a:effectLst/>
                          <a:latin typeface="+mn-lt"/>
                        </a:rPr>
                        <a:t>19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6720">
                <a:tc>
                  <a:txBody>
                    <a:bodyPr/>
                    <a:lstStyle/>
                    <a:p>
                      <a:pPr algn="ctr" fontAlgn="b"/>
                      <a:r>
                        <a:rPr lang="en-US" sz="2200" b="0" i="0" u="none" strike="noStrike">
                          <a:solidFill>
                            <a:srgbClr val="000000"/>
                          </a:solidFill>
                          <a:effectLst/>
                          <a:latin typeface="+mn-lt"/>
                        </a:rPr>
                        <a:t>20</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6720">
                <a:tc>
                  <a:txBody>
                    <a:bodyPr/>
                    <a:lstStyle/>
                    <a:p>
                      <a:pPr algn="ctr" fontAlgn="b"/>
                      <a:r>
                        <a:rPr lang="en-US" sz="2200" b="0" i="0" u="none" strike="noStrike" dirty="0">
                          <a:solidFill>
                            <a:srgbClr val="000000"/>
                          </a:solidFill>
                          <a:effectLst/>
                          <a:latin typeface="+mn-lt"/>
                        </a:rPr>
                        <a:t>22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26720">
                <a:tc>
                  <a:txBody>
                    <a:bodyPr/>
                    <a:lstStyle/>
                    <a:p>
                      <a:pPr algn="ctr" fontAlgn="b"/>
                      <a:r>
                        <a:rPr lang="en-US" sz="2200" b="0" i="0" u="none" strike="noStrike">
                          <a:solidFill>
                            <a:srgbClr val="000000"/>
                          </a:solidFill>
                          <a:effectLst/>
                          <a:latin typeface="+mn-lt"/>
                        </a:rPr>
                        <a:t>24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26720">
                <a:tc>
                  <a:txBody>
                    <a:bodyPr/>
                    <a:lstStyle/>
                    <a:p>
                      <a:pPr algn="ctr" fontAlgn="b"/>
                      <a:r>
                        <a:rPr lang="en-US" sz="2200" b="0" i="0" u="none" strike="noStrike" dirty="0">
                          <a:solidFill>
                            <a:srgbClr val="000000"/>
                          </a:solidFill>
                          <a:effectLst/>
                          <a:latin typeface="+mn-lt"/>
                        </a:rPr>
                        <a:t>26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graphicFrame>
        <p:nvGraphicFramePr>
          <p:cNvPr id="11" name="Table 10"/>
          <p:cNvGraphicFramePr>
            <a:graphicFrameLocks noGrp="1"/>
          </p:cNvGraphicFramePr>
          <p:nvPr/>
        </p:nvGraphicFramePr>
        <p:xfrm>
          <a:off x="7175938" y="1752600"/>
          <a:ext cx="1358462" cy="4267200"/>
        </p:xfrm>
        <a:graphic>
          <a:graphicData uri="http://schemas.openxmlformats.org/drawingml/2006/table">
            <a:tbl>
              <a:tblPr firstRow="1" bandRow="1">
                <a:tableStyleId>{5C22544A-7EE6-4342-B048-85BDC9FD1C3A}</a:tableStyleId>
              </a:tblPr>
              <a:tblGrid>
                <a:gridCol w="1358462">
                  <a:extLst>
                    <a:ext uri="{9D8B030D-6E8A-4147-A177-3AD203B41FA5}">
                      <a16:colId xmlns:a16="http://schemas.microsoft.com/office/drawing/2014/main" val="20000"/>
                    </a:ext>
                  </a:extLst>
                </a:gridCol>
              </a:tblGrid>
              <a:tr h="426720">
                <a:tc>
                  <a:txBody>
                    <a:bodyPr/>
                    <a:lstStyle/>
                    <a:p>
                      <a:pPr algn="ctr" fontAlgn="b"/>
                      <a:r>
                        <a:rPr lang="en-US" sz="2200" b="0" i="0" u="none" strike="noStrike" dirty="0">
                          <a:solidFill>
                            <a:srgbClr val="000000"/>
                          </a:solidFill>
                          <a:effectLst/>
                          <a:latin typeface="+mn-lt"/>
                        </a:rPr>
                        <a:t>12</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26720">
                <a:tc>
                  <a:txBody>
                    <a:bodyPr/>
                    <a:lstStyle/>
                    <a:p>
                      <a:pPr algn="ctr" fontAlgn="b"/>
                      <a:r>
                        <a:rPr lang="en-US" sz="2200" b="0" i="0" u="none" strike="noStrike" dirty="0">
                          <a:solidFill>
                            <a:srgbClr val="000000"/>
                          </a:solidFill>
                          <a:effectLst/>
                          <a:latin typeface="+mn-lt"/>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26720">
                <a:tc>
                  <a:txBody>
                    <a:bodyPr/>
                    <a:lstStyle/>
                    <a:p>
                      <a:pPr algn="ctr" fontAlgn="b"/>
                      <a:r>
                        <a:rPr lang="en-US" sz="2200" b="0" i="0" u="none" strike="noStrike" dirty="0">
                          <a:solidFill>
                            <a:srgbClr val="000000"/>
                          </a:solidFill>
                          <a:effectLst/>
                          <a:latin typeface="+mn-lt"/>
                        </a:rPr>
                        <a:t>8</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26720">
                <a:tc>
                  <a:txBody>
                    <a:bodyPr/>
                    <a:lstStyle/>
                    <a:p>
                      <a:pPr algn="ctr" fontAlgn="b"/>
                      <a:r>
                        <a:rPr lang="en-US" sz="2200" b="0" i="0" u="none" strike="noStrike">
                          <a:solidFill>
                            <a:srgbClr val="000000"/>
                          </a:solidFill>
                          <a:effectLst/>
                          <a:latin typeface="+mn-lt"/>
                        </a:rPr>
                        <a:t>6</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6720">
                <a:tc>
                  <a:txBody>
                    <a:bodyPr/>
                    <a:lstStyle/>
                    <a:p>
                      <a:pPr algn="ctr" fontAlgn="b"/>
                      <a:r>
                        <a:rPr lang="en-US" sz="2200" b="0" i="0" u="none" strike="noStrike">
                          <a:solidFill>
                            <a:srgbClr val="000000"/>
                          </a:solidFill>
                          <a:effectLst/>
                          <a:latin typeface="+mn-lt"/>
                        </a:rPr>
                        <a:t>4</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6720">
                <a:tc>
                  <a:txBody>
                    <a:bodyPr/>
                    <a:lstStyle/>
                    <a:p>
                      <a:pPr algn="ctr" fontAlgn="b"/>
                      <a:r>
                        <a:rPr lang="en-US" sz="2200" b="0" i="0" u="none" strike="noStrike" dirty="0">
                          <a:solidFill>
                            <a:srgbClr val="000000"/>
                          </a:solidFill>
                          <a:effectLst/>
                          <a:latin typeface="+mn-lt"/>
                        </a:rPr>
                        <a:t>2</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6720">
                <a:tc>
                  <a:txBody>
                    <a:bodyPr/>
                    <a:lstStyle/>
                    <a:p>
                      <a:pPr algn="ctr" fontAlgn="b"/>
                      <a:r>
                        <a:rPr lang="en-US" sz="2200" b="0" i="0" u="none" strike="noStrike">
                          <a:solidFill>
                            <a:srgbClr val="000000"/>
                          </a:solidFill>
                          <a:effectLst/>
                          <a:latin typeface="+mn-lt"/>
                        </a:rPr>
                        <a:t>0</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6720">
                <a:tc>
                  <a:txBody>
                    <a:bodyPr/>
                    <a:lstStyle/>
                    <a:p>
                      <a:pPr algn="ctr" fontAlgn="b"/>
                      <a:r>
                        <a:rPr lang="en-US" sz="2200" b="0" i="0" u="none" strike="noStrike">
                          <a:solidFill>
                            <a:srgbClr val="000000"/>
                          </a:solidFill>
                          <a:effectLst/>
                          <a:latin typeface="+mn-lt"/>
                        </a:rPr>
                        <a:t>-2</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26720">
                <a:tc>
                  <a:txBody>
                    <a:bodyPr/>
                    <a:lstStyle/>
                    <a:p>
                      <a:pPr algn="ctr" fontAlgn="b"/>
                      <a:r>
                        <a:rPr lang="en-US" sz="2200" b="0" i="0" u="none" strike="noStrike">
                          <a:solidFill>
                            <a:srgbClr val="000000"/>
                          </a:solidFill>
                          <a:effectLst/>
                          <a:latin typeface="+mn-lt"/>
                        </a:rPr>
                        <a:t>-4</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26720">
                <a:tc>
                  <a:txBody>
                    <a:bodyPr/>
                    <a:lstStyle/>
                    <a:p>
                      <a:pPr algn="ctr" fontAlgn="b"/>
                      <a:r>
                        <a:rPr lang="en-US" sz="2200" b="0" i="0" u="none" strike="noStrike" dirty="0">
                          <a:solidFill>
                            <a:srgbClr val="000000"/>
                          </a:solidFill>
                          <a:effectLst/>
                          <a:latin typeface="+mn-lt"/>
                        </a:rPr>
                        <a:t>-6</a:t>
                      </a: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
        <p:nvSpPr>
          <p:cNvPr id="12" name="Rectangle 11"/>
          <p:cNvSpPr/>
          <p:nvPr/>
        </p:nvSpPr>
        <p:spPr bwMode="auto">
          <a:xfrm>
            <a:off x="5715000" y="1752600"/>
            <a:ext cx="1447800" cy="2590800"/>
          </a:xfrm>
          <a:prstGeom prst="rect">
            <a:avLst/>
          </a:prstGeom>
          <a:noFill/>
          <a:ln w="57150"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13" name="Rectangle 12"/>
          <p:cNvSpPr/>
          <p:nvPr/>
        </p:nvSpPr>
        <p:spPr bwMode="auto">
          <a:xfrm>
            <a:off x="2667000" y="1524000"/>
            <a:ext cx="609600" cy="3048000"/>
          </a:xfrm>
          <a:prstGeom prst="rect">
            <a:avLst/>
          </a:prstGeom>
          <a:noFill/>
          <a:ln w="57150"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14" name="Rectangle 13"/>
          <p:cNvSpPr/>
          <p:nvPr/>
        </p:nvSpPr>
        <p:spPr bwMode="auto">
          <a:xfrm>
            <a:off x="5715000" y="4724400"/>
            <a:ext cx="1447800" cy="1295400"/>
          </a:xfrm>
          <a:prstGeom prst="rect">
            <a:avLst/>
          </a:prstGeom>
          <a:noFill/>
          <a:ln w="57150"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15" name="Rectangle 14"/>
          <p:cNvSpPr/>
          <p:nvPr/>
        </p:nvSpPr>
        <p:spPr bwMode="auto">
          <a:xfrm>
            <a:off x="2667000" y="4953000"/>
            <a:ext cx="609600" cy="1295400"/>
          </a:xfrm>
          <a:prstGeom prst="rect">
            <a:avLst/>
          </a:prstGeom>
          <a:noFill/>
          <a:ln w="57150" cap="flat" cmpd="sng" algn="ctr">
            <a:solidFill>
              <a:srgbClr val="00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16" name="Rectangle 15"/>
          <p:cNvSpPr/>
          <p:nvPr/>
        </p:nvSpPr>
        <p:spPr bwMode="auto">
          <a:xfrm>
            <a:off x="5715000" y="4343400"/>
            <a:ext cx="2819400" cy="381000"/>
          </a:xfrm>
          <a:prstGeom prst="rect">
            <a:avLst/>
          </a:prstGeom>
          <a:noFill/>
          <a:ln w="5715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17" name="Rectangle 16"/>
          <p:cNvSpPr/>
          <p:nvPr/>
        </p:nvSpPr>
        <p:spPr bwMode="auto">
          <a:xfrm>
            <a:off x="2667000" y="4572000"/>
            <a:ext cx="3048000" cy="381000"/>
          </a:xfrm>
          <a:prstGeom prst="rect">
            <a:avLst/>
          </a:prstGeom>
          <a:noFill/>
          <a:ln w="57150"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3" name="Footer Placeholder 2">
            <a:extLst>
              <a:ext uri="{FF2B5EF4-FFF2-40B4-BE49-F238E27FC236}">
                <a16:creationId xmlns:a16="http://schemas.microsoft.com/office/drawing/2014/main" id="{12FAF98E-F1C9-40AA-36F3-D03A3FD194C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760572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500"/>
                                        <p:tgtEl>
                                          <p:spTgt spid="13"/>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animEffect transition="in" filter="wipe(left)">
                                      <p:cBhvr>
                                        <p:cTn id="24" dur="500"/>
                                        <p:tgtEl>
                                          <p:spTgt spid="7">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up)">
                                      <p:cBhvr>
                                        <p:cTn id="29" dur="500"/>
                                        <p:tgtEl>
                                          <p:spTgt spid="14"/>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7">
                                            <p:txEl>
                                              <p:pRg st="4" end="4"/>
                                            </p:txEl>
                                          </p:spTgt>
                                        </p:tgtEl>
                                        <p:attrNameLst>
                                          <p:attrName>style.visibility</p:attrName>
                                        </p:attrNameLst>
                                      </p:cBhvr>
                                      <p:to>
                                        <p:strVal val="visible"/>
                                      </p:to>
                                    </p:set>
                                    <p:animEffect transition="in" filter="wipe(left)">
                                      <p:cBhvr>
                                        <p:cTn id="36" dur="500"/>
                                        <p:tgtEl>
                                          <p:spTgt spid="7">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up)">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
                                            <p:txEl>
                                              <p:pRg st="2" end="2"/>
                                            </p:txEl>
                                          </p:spTgt>
                                        </p:tgtEl>
                                        <p:attrNameLst>
                                          <p:attrName>style.visibility</p:attrName>
                                        </p:attrNameLst>
                                      </p:cBhvr>
                                      <p:to>
                                        <p:strVal val="visible"/>
                                      </p:to>
                                    </p:set>
                                    <p:animEffect transition="in" filter="wipe(left)">
                                      <p:cBhvr>
                                        <p:cTn id="46" dur="500"/>
                                        <p:tgtEl>
                                          <p:spTgt spid="7">
                                            <p:txEl>
                                              <p:pRg st="2" end="2"/>
                                            </p:txEl>
                                          </p:spTgt>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500"/>
                                        <p:tgtEl>
                                          <p:spTgt spid="17"/>
                                        </p:tgtEl>
                                      </p:cBhvr>
                                    </p:animEffect>
                                  </p:childTnLst>
                                </p:cTn>
                              </p:par>
                            </p:childTnLst>
                          </p:cTn>
                        </p:par>
                        <p:par>
                          <p:cTn id="51" fill="hold">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2" grpId="0" animBg="1"/>
      <p:bldP spid="13" grpId="0" animBg="1"/>
      <p:bldP spid="14" grpId="0" animBg="1"/>
      <p:bldP spid="15"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51"/>
          <p:cNvGrpSpPr>
            <a:grpSpLocks/>
          </p:cNvGrpSpPr>
          <p:nvPr/>
        </p:nvGrpSpPr>
        <p:grpSpPr bwMode="auto">
          <a:xfrm>
            <a:off x="3673475" y="4165599"/>
            <a:ext cx="4897438" cy="473075"/>
            <a:chOff x="2314" y="2374"/>
            <a:chExt cx="3085" cy="298"/>
          </a:xfrm>
        </p:grpSpPr>
        <p:sp>
          <p:nvSpPr>
            <p:cNvPr id="15394" name="Line 18"/>
            <p:cNvSpPr>
              <a:spLocks noChangeShapeType="1"/>
            </p:cNvSpPr>
            <p:nvPr/>
          </p:nvSpPr>
          <p:spPr bwMode="auto">
            <a:xfrm>
              <a:off x="2726" y="252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15395" name="Text Box 25"/>
            <p:cNvSpPr txBox="1">
              <a:spLocks noChangeArrowheads="1"/>
            </p:cNvSpPr>
            <p:nvPr/>
          </p:nvSpPr>
          <p:spPr bwMode="auto">
            <a:xfrm>
              <a:off x="2314" y="2374"/>
              <a:ext cx="387"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r>
                <a:rPr lang="en-US" sz="2500" b="1" baseline="-25000">
                  <a:latin typeface="Arial"/>
                  <a:cs typeface="Arial"/>
                </a:rPr>
                <a:t>1</a:t>
              </a:r>
            </a:p>
          </p:txBody>
        </p:sp>
        <p:sp>
          <p:nvSpPr>
            <p:cNvPr id="15396" name="Text Box 48"/>
            <p:cNvSpPr txBox="1">
              <a:spLocks noChangeArrowheads="1"/>
            </p:cNvSpPr>
            <p:nvPr/>
          </p:nvSpPr>
          <p:spPr bwMode="auto">
            <a:xfrm>
              <a:off x="5010" y="2401"/>
              <a:ext cx="389" cy="242"/>
            </a:xfrm>
            <a:prstGeom prst="rect">
              <a:avLst/>
            </a:prstGeom>
            <a:noFill/>
            <a:ln w="9525">
              <a:noFill/>
              <a:miter lim="800000"/>
              <a:headEnd/>
              <a:tailEnd/>
            </a:ln>
          </p:spPr>
          <p:txBody>
            <a:bodyPr wrap="square" lIns="0" tIns="0" rIns="0" bIns="0">
              <a:spAutoFit/>
            </a:bodyPr>
            <a:lstStyle/>
            <a:p>
              <a:pPr>
                <a:spcBef>
                  <a:spcPct val="50000"/>
                </a:spcBef>
              </a:pPr>
              <a:r>
                <a:rPr lang="en-US" sz="2500" i="1" dirty="0">
                  <a:latin typeface="Arial"/>
                  <a:cs typeface="Arial"/>
                </a:rPr>
                <a:t>MR</a:t>
              </a:r>
              <a:r>
                <a:rPr lang="en-US" sz="2500" i="1" baseline="-25000" dirty="0">
                  <a:latin typeface="Arial"/>
                  <a:cs typeface="Arial"/>
                </a:rPr>
                <a:t>1</a:t>
              </a:r>
            </a:p>
          </p:txBody>
        </p:sp>
      </p:grpSp>
      <p:sp>
        <p:nvSpPr>
          <p:cNvPr id="15365" name="Rectangle 2"/>
          <p:cNvSpPr>
            <a:spLocks noGrp="1" noChangeArrowheads="1"/>
          </p:cNvSpPr>
          <p:nvPr>
            <p:ph type="title"/>
          </p:nvPr>
        </p:nvSpPr>
        <p:spPr/>
        <p:txBody>
          <a:bodyPr/>
          <a:lstStyle/>
          <a:p>
            <a:pPr algn="ctr" eaLnBrk="1" hangingPunct="1"/>
            <a:r>
              <a:rPr lang="en-US" sz="3400" b="1" i="1" dirty="0"/>
              <a:t>MC</a:t>
            </a:r>
            <a:r>
              <a:rPr lang="en-US" sz="3400" dirty="0"/>
              <a:t> and the Firm’s Supply Decision – 1 </a:t>
            </a:r>
          </a:p>
        </p:txBody>
      </p:sp>
      <p:sp>
        <p:nvSpPr>
          <p:cNvPr id="104451" name="Rectangle 3"/>
          <p:cNvSpPr>
            <a:spLocks noGrp="1" noChangeArrowheads="1"/>
          </p:cNvSpPr>
          <p:nvPr>
            <p:ph idx="1"/>
          </p:nvPr>
        </p:nvSpPr>
        <p:spPr>
          <a:xfrm>
            <a:off x="381001" y="942975"/>
            <a:ext cx="3276599" cy="5534025"/>
          </a:xfrm>
        </p:spPr>
        <p:txBody>
          <a:bodyPr>
            <a:normAutofit lnSpcReduction="10000"/>
          </a:bodyPr>
          <a:lstStyle/>
          <a:p>
            <a:pPr marL="0" indent="0" eaLnBrk="1" hangingPunct="1">
              <a:buFont typeface="Wingdings" pitchFamily="2" charset="2"/>
              <a:buNone/>
            </a:pPr>
            <a:r>
              <a:rPr lang="en-US" sz="2800" dirty="0"/>
              <a:t>If the market price is </a:t>
            </a:r>
            <a:r>
              <a:rPr lang="en-US" sz="2800" b="1" i="1" dirty="0">
                <a:solidFill>
                  <a:srgbClr val="C00000"/>
                </a:solidFill>
              </a:rPr>
              <a:t>P</a:t>
            </a:r>
            <a:r>
              <a:rPr lang="en-US" sz="2800" b="1" i="1" baseline="-25000" dirty="0">
                <a:solidFill>
                  <a:srgbClr val="C00000"/>
                </a:solidFill>
              </a:rPr>
              <a:t>1</a:t>
            </a:r>
            <a:r>
              <a:rPr lang="en-US" sz="2800" dirty="0">
                <a:solidFill>
                  <a:srgbClr val="C00000"/>
                </a:solidFill>
              </a:rPr>
              <a:t> = </a:t>
            </a:r>
            <a:r>
              <a:rPr lang="en-US" sz="2800" b="1" i="1" dirty="0">
                <a:solidFill>
                  <a:srgbClr val="C00000"/>
                </a:solidFill>
              </a:rPr>
              <a:t>MR</a:t>
            </a:r>
            <a:r>
              <a:rPr lang="en-US" sz="2800" b="1" i="1" baseline="-25000" dirty="0">
                <a:solidFill>
                  <a:srgbClr val="C00000"/>
                </a:solidFill>
              </a:rPr>
              <a:t>1</a:t>
            </a:r>
          </a:p>
          <a:p>
            <a:pPr marL="0" indent="0" eaLnBrk="1" hangingPunct="1">
              <a:buFont typeface="Wingdings" pitchFamily="2" charset="2"/>
              <a:buNone/>
            </a:pPr>
            <a:r>
              <a:rPr lang="en-US" sz="2800" dirty="0">
                <a:solidFill>
                  <a:srgbClr val="4E519E"/>
                </a:solidFill>
              </a:rPr>
              <a:t>At </a:t>
            </a:r>
            <a:r>
              <a:rPr lang="en-US" sz="2800" b="1" i="1" dirty="0" err="1">
                <a:solidFill>
                  <a:srgbClr val="4E519E"/>
                </a:solidFill>
              </a:rPr>
              <a:t>Q</a:t>
            </a:r>
            <a:r>
              <a:rPr lang="en-US" sz="2800" b="1" baseline="-25000" dirty="0" err="1">
                <a:solidFill>
                  <a:srgbClr val="4E519E"/>
                </a:solidFill>
              </a:rPr>
              <a:t>a</a:t>
            </a:r>
            <a:r>
              <a:rPr lang="en-US" sz="2800" dirty="0">
                <a:solidFill>
                  <a:srgbClr val="4E519E"/>
                </a:solidFill>
              </a:rPr>
              <a:t>, </a:t>
            </a:r>
            <a:r>
              <a:rPr lang="en-US" sz="2800" b="1" i="1" dirty="0">
                <a:solidFill>
                  <a:srgbClr val="4E519E"/>
                </a:solidFill>
              </a:rPr>
              <a:t>MC</a:t>
            </a:r>
            <a:r>
              <a:rPr lang="en-US" sz="2800" dirty="0">
                <a:solidFill>
                  <a:srgbClr val="4E519E"/>
                </a:solidFill>
              </a:rPr>
              <a:t> &lt; </a:t>
            </a:r>
            <a:r>
              <a:rPr lang="en-US" sz="2800" b="1" i="1" dirty="0">
                <a:solidFill>
                  <a:srgbClr val="4E519E"/>
                </a:solidFill>
              </a:rPr>
              <a:t>MR</a:t>
            </a:r>
            <a:r>
              <a:rPr lang="en-US" sz="2800" dirty="0">
                <a:solidFill>
                  <a:srgbClr val="4E519E"/>
                </a:solidFill>
              </a:rPr>
              <a:t>.</a:t>
            </a:r>
          </a:p>
          <a:p>
            <a:pPr marL="0" indent="0" eaLnBrk="1" hangingPunct="1">
              <a:spcBef>
                <a:spcPct val="20000"/>
              </a:spcBef>
              <a:buFont typeface="Wingdings" pitchFamily="2" charset="2"/>
              <a:buNone/>
            </a:pPr>
            <a:r>
              <a:rPr lang="en-US" sz="2800" dirty="0"/>
              <a:t>So, increase </a:t>
            </a:r>
            <a:r>
              <a:rPr lang="en-US" sz="2800" b="1" i="1" dirty="0"/>
              <a:t>Q</a:t>
            </a:r>
            <a:r>
              <a:rPr lang="en-US" sz="2800" dirty="0"/>
              <a:t> </a:t>
            </a:r>
            <a:br>
              <a:rPr lang="en-US" sz="2800" dirty="0"/>
            </a:br>
            <a:r>
              <a:rPr lang="en-US" sz="2800" dirty="0"/>
              <a:t>to raise profit. </a:t>
            </a:r>
          </a:p>
          <a:p>
            <a:pPr marL="0" indent="0" eaLnBrk="1" hangingPunct="1">
              <a:spcBef>
                <a:spcPct val="60000"/>
              </a:spcBef>
              <a:buFont typeface="Wingdings" pitchFamily="2" charset="2"/>
              <a:buNone/>
            </a:pPr>
            <a:r>
              <a:rPr lang="en-US" sz="2800" dirty="0">
                <a:solidFill>
                  <a:srgbClr val="4E519E"/>
                </a:solidFill>
              </a:rPr>
              <a:t>At </a:t>
            </a:r>
            <a:r>
              <a:rPr lang="en-US" sz="2800" b="1" i="1" dirty="0" err="1">
                <a:solidFill>
                  <a:srgbClr val="4E519E"/>
                </a:solidFill>
              </a:rPr>
              <a:t>Q</a:t>
            </a:r>
            <a:r>
              <a:rPr lang="en-US" sz="2800" b="1" baseline="-25000" dirty="0" err="1">
                <a:solidFill>
                  <a:srgbClr val="4E519E"/>
                </a:solidFill>
              </a:rPr>
              <a:t>b</a:t>
            </a:r>
            <a:r>
              <a:rPr lang="en-US" sz="2800" dirty="0">
                <a:solidFill>
                  <a:srgbClr val="4E519E"/>
                </a:solidFill>
              </a:rPr>
              <a:t>, </a:t>
            </a:r>
            <a:r>
              <a:rPr lang="en-US" sz="2800" b="1" i="1" dirty="0">
                <a:solidFill>
                  <a:srgbClr val="4E519E"/>
                </a:solidFill>
              </a:rPr>
              <a:t>MC</a:t>
            </a:r>
            <a:r>
              <a:rPr lang="en-US" sz="2800" dirty="0">
                <a:solidFill>
                  <a:srgbClr val="4E519E"/>
                </a:solidFill>
              </a:rPr>
              <a:t> &gt; </a:t>
            </a:r>
            <a:r>
              <a:rPr lang="en-US" sz="2800" b="1" i="1" dirty="0">
                <a:solidFill>
                  <a:srgbClr val="4E519E"/>
                </a:solidFill>
              </a:rPr>
              <a:t>MR</a:t>
            </a:r>
            <a:r>
              <a:rPr lang="en-US" sz="2800" dirty="0">
                <a:solidFill>
                  <a:srgbClr val="4E519E"/>
                </a:solidFill>
              </a:rPr>
              <a:t>.</a:t>
            </a:r>
          </a:p>
          <a:p>
            <a:pPr marL="0" indent="0" eaLnBrk="1" hangingPunct="1">
              <a:spcBef>
                <a:spcPct val="20000"/>
              </a:spcBef>
              <a:buFont typeface="Wingdings" pitchFamily="2" charset="2"/>
              <a:buNone/>
            </a:pPr>
            <a:r>
              <a:rPr lang="en-US" sz="2800" dirty="0"/>
              <a:t>So, reduce </a:t>
            </a:r>
            <a:r>
              <a:rPr lang="en-US" sz="2800" b="1" i="1" dirty="0"/>
              <a:t>Q</a:t>
            </a:r>
            <a:r>
              <a:rPr lang="en-US" sz="2800" dirty="0"/>
              <a:t> </a:t>
            </a:r>
            <a:br>
              <a:rPr lang="en-US" sz="2800" dirty="0"/>
            </a:br>
            <a:r>
              <a:rPr lang="en-US" sz="2800" dirty="0"/>
              <a:t>to raise profit. </a:t>
            </a:r>
          </a:p>
          <a:p>
            <a:pPr marL="0" indent="0" eaLnBrk="1" hangingPunct="1">
              <a:spcBef>
                <a:spcPct val="60000"/>
              </a:spcBef>
              <a:buFont typeface="Wingdings" pitchFamily="2" charset="2"/>
              <a:buNone/>
            </a:pPr>
            <a:r>
              <a:rPr lang="en-US" sz="2800" dirty="0">
                <a:solidFill>
                  <a:srgbClr val="4E519E"/>
                </a:solidFill>
              </a:rPr>
              <a:t>At </a:t>
            </a:r>
            <a:r>
              <a:rPr lang="en-US" sz="2800" b="1" i="1" dirty="0">
                <a:solidFill>
                  <a:srgbClr val="4E519E"/>
                </a:solidFill>
              </a:rPr>
              <a:t>Q</a:t>
            </a:r>
            <a:r>
              <a:rPr lang="en-US" sz="2800" b="1" baseline="-25000" dirty="0">
                <a:solidFill>
                  <a:srgbClr val="4E519E"/>
                </a:solidFill>
              </a:rPr>
              <a:t>1</a:t>
            </a:r>
            <a:r>
              <a:rPr lang="en-US" sz="2800" dirty="0">
                <a:solidFill>
                  <a:srgbClr val="4E519E"/>
                </a:solidFill>
              </a:rPr>
              <a:t>, </a:t>
            </a:r>
            <a:r>
              <a:rPr lang="en-US" sz="2800" b="1" i="1" dirty="0">
                <a:solidFill>
                  <a:srgbClr val="4E519E"/>
                </a:solidFill>
              </a:rPr>
              <a:t>MC</a:t>
            </a:r>
            <a:r>
              <a:rPr lang="en-US" sz="2800" dirty="0">
                <a:solidFill>
                  <a:srgbClr val="4E519E"/>
                </a:solidFill>
              </a:rPr>
              <a:t> = </a:t>
            </a:r>
            <a:r>
              <a:rPr lang="en-US" sz="2800" b="1" i="1" dirty="0">
                <a:solidFill>
                  <a:srgbClr val="4E519E"/>
                </a:solidFill>
              </a:rPr>
              <a:t>MR</a:t>
            </a:r>
            <a:r>
              <a:rPr lang="en-US" sz="2800" dirty="0">
                <a:solidFill>
                  <a:srgbClr val="4E519E"/>
                </a:solidFill>
              </a:rPr>
              <a:t>.</a:t>
            </a:r>
          </a:p>
          <a:p>
            <a:pPr marL="0" indent="0" eaLnBrk="1" hangingPunct="1">
              <a:spcBef>
                <a:spcPct val="20000"/>
              </a:spcBef>
              <a:buFont typeface="Wingdings" pitchFamily="2" charset="2"/>
              <a:buNone/>
            </a:pPr>
            <a:r>
              <a:rPr lang="en-US" sz="2800" dirty="0"/>
              <a:t>Changing </a:t>
            </a:r>
            <a:r>
              <a:rPr lang="en-US" sz="2800" b="1" i="1" dirty="0"/>
              <a:t>Q</a:t>
            </a:r>
            <a:r>
              <a:rPr lang="en-US" sz="2800" dirty="0"/>
              <a:t> </a:t>
            </a:r>
            <a:br>
              <a:rPr lang="en-US" sz="2800" dirty="0"/>
            </a:br>
            <a:r>
              <a:rPr lang="en-US" sz="2800" dirty="0"/>
              <a:t>would lower profit. </a:t>
            </a:r>
          </a:p>
        </p:txBody>
      </p:sp>
      <p:sp>
        <p:nvSpPr>
          <p:cNvPr id="10" name="Slide Number Placeholder 9"/>
          <p:cNvSpPr>
            <a:spLocks noGrp="1"/>
          </p:cNvSpPr>
          <p:nvPr>
            <p:ph type="sldNum" sz="quarter" idx="10"/>
          </p:nvPr>
        </p:nvSpPr>
        <p:spPr/>
        <p:txBody>
          <a:bodyPr/>
          <a:lstStyle/>
          <a:p>
            <a:pPr>
              <a:defRPr/>
            </a:pPr>
            <a:fld id="{2F37425F-5E17-4209-B948-B5CE2119E408}" type="slidenum">
              <a:rPr lang="en-US" smtClean="0"/>
              <a:pPr>
                <a:defRPr/>
              </a:pPr>
              <a:t>8</a:t>
            </a:fld>
            <a:endParaRPr lang="en-US" dirty="0"/>
          </a:p>
        </p:txBody>
      </p:sp>
      <p:grpSp>
        <p:nvGrpSpPr>
          <p:cNvPr id="3" name="Group 61"/>
          <p:cNvGrpSpPr>
            <a:grpSpLocks/>
          </p:cNvGrpSpPr>
          <p:nvPr/>
        </p:nvGrpSpPr>
        <p:grpSpPr bwMode="auto">
          <a:xfrm>
            <a:off x="3706813" y="1928811"/>
            <a:ext cx="4864100" cy="4146550"/>
            <a:chOff x="2335" y="1070"/>
            <a:chExt cx="3064" cy="2612"/>
          </a:xfrm>
        </p:grpSpPr>
        <p:grpSp>
          <p:nvGrpSpPr>
            <p:cNvPr id="4" name="Group 4"/>
            <p:cNvGrpSpPr>
              <a:grpSpLocks/>
            </p:cNvGrpSpPr>
            <p:nvPr/>
          </p:nvGrpSpPr>
          <p:grpSpPr bwMode="auto">
            <a:xfrm>
              <a:off x="2730" y="1335"/>
              <a:ext cx="2357" cy="2206"/>
              <a:chOff x="1489" y="785"/>
              <a:chExt cx="3650" cy="2492"/>
            </a:xfrm>
          </p:grpSpPr>
          <p:sp>
            <p:nvSpPr>
              <p:cNvPr id="15392" name="Line 5"/>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5393" name="Line 6"/>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5390" name="Text Box 7"/>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15391" name="Text Box 8"/>
            <p:cNvSpPr txBox="1">
              <a:spLocks noChangeArrowheads="1"/>
            </p:cNvSpPr>
            <p:nvPr/>
          </p:nvSpPr>
          <p:spPr bwMode="auto">
            <a:xfrm>
              <a:off x="2335" y="1070"/>
              <a:ext cx="692" cy="298"/>
            </a:xfrm>
            <a:prstGeom prst="rect">
              <a:avLst/>
            </a:prstGeom>
            <a:noFill/>
            <a:ln w="9525">
              <a:noFill/>
              <a:miter lim="800000"/>
              <a:headEnd/>
              <a:tailEnd/>
            </a:ln>
          </p:spPr>
          <p:txBody>
            <a:bodyPr>
              <a:spAutoFit/>
            </a:bodyPr>
            <a:lstStyle/>
            <a:p>
              <a:pPr algn="r">
                <a:spcBef>
                  <a:spcPct val="50000"/>
                </a:spcBef>
              </a:pPr>
              <a:r>
                <a:rPr lang="en-US" sz="2500">
                  <a:latin typeface="Arial"/>
                  <a:cs typeface="Arial"/>
                </a:rPr>
                <a:t>Costs</a:t>
              </a:r>
            </a:p>
          </p:txBody>
        </p:sp>
      </p:grpSp>
      <p:grpSp>
        <p:nvGrpSpPr>
          <p:cNvPr id="5" name="Group 54"/>
          <p:cNvGrpSpPr>
            <a:grpSpLocks/>
          </p:cNvGrpSpPr>
          <p:nvPr/>
        </p:nvGrpSpPr>
        <p:grpSpPr bwMode="auto">
          <a:xfrm>
            <a:off x="4592638" y="2517774"/>
            <a:ext cx="3322637" cy="3157537"/>
            <a:chOff x="2893" y="1336"/>
            <a:chExt cx="2093" cy="1989"/>
          </a:xfrm>
        </p:grpSpPr>
        <p:sp>
          <p:nvSpPr>
            <p:cNvPr id="15387" name="Line 9"/>
            <p:cNvSpPr>
              <a:spLocks noChangeShapeType="1"/>
            </p:cNvSpPr>
            <p:nvPr/>
          </p:nvSpPr>
          <p:spPr bwMode="auto">
            <a:xfrm flipV="1">
              <a:off x="2893" y="1568"/>
              <a:ext cx="1690" cy="1757"/>
            </a:xfrm>
            <a:prstGeom prst="line">
              <a:avLst/>
            </a:prstGeom>
            <a:noFill/>
            <a:ln w="38100">
              <a:solidFill>
                <a:srgbClr val="333399"/>
              </a:solidFill>
              <a:round/>
              <a:headEnd/>
              <a:tailEnd/>
            </a:ln>
          </p:spPr>
          <p:txBody>
            <a:bodyPr/>
            <a:lstStyle/>
            <a:p>
              <a:endParaRPr lang="en-US">
                <a:latin typeface="Arial"/>
                <a:cs typeface="Arial"/>
              </a:endParaRPr>
            </a:p>
          </p:txBody>
        </p:sp>
        <p:sp>
          <p:nvSpPr>
            <p:cNvPr id="15388" name="Text Box 15"/>
            <p:cNvSpPr txBox="1">
              <a:spLocks noChangeArrowheads="1"/>
            </p:cNvSpPr>
            <p:nvPr/>
          </p:nvSpPr>
          <p:spPr bwMode="auto">
            <a:xfrm>
              <a:off x="4603" y="1336"/>
              <a:ext cx="383" cy="240"/>
            </a:xfrm>
            <a:prstGeom prst="rect">
              <a:avLst/>
            </a:prstGeom>
            <a:noFill/>
            <a:ln w="9525">
              <a:noFill/>
              <a:miter lim="800000"/>
              <a:headEnd/>
              <a:tailEnd/>
            </a:ln>
          </p:spPr>
          <p:txBody>
            <a:bodyPr lIns="0" tIns="0" rIns="0" bIns="0">
              <a:spAutoFit/>
            </a:bodyPr>
            <a:lstStyle/>
            <a:p>
              <a:pPr>
                <a:spcBef>
                  <a:spcPct val="50000"/>
                </a:spcBef>
              </a:pPr>
              <a:r>
                <a:rPr lang="en-US" sz="2500" i="1" dirty="0">
                  <a:latin typeface="Arial"/>
                  <a:cs typeface="Arial"/>
                </a:rPr>
                <a:t>MC</a:t>
              </a:r>
            </a:p>
          </p:txBody>
        </p:sp>
      </p:grpSp>
      <p:grpSp>
        <p:nvGrpSpPr>
          <p:cNvPr id="6" name="Group 56"/>
          <p:cNvGrpSpPr>
            <a:grpSpLocks/>
          </p:cNvGrpSpPr>
          <p:nvPr/>
        </p:nvGrpSpPr>
        <p:grpSpPr bwMode="auto">
          <a:xfrm>
            <a:off x="5640388" y="4332286"/>
            <a:ext cx="422275" cy="1914525"/>
            <a:chOff x="3553" y="2479"/>
            <a:chExt cx="266" cy="1206"/>
          </a:xfrm>
        </p:grpSpPr>
        <p:sp>
          <p:nvSpPr>
            <p:cNvPr id="15384" name="Text Box 26"/>
            <p:cNvSpPr txBox="1">
              <a:spLocks noChangeArrowheads="1"/>
            </p:cNvSpPr>
            <p:nvPr/>
          </p:nvSpPr>
          <p:spPr bwMode="auto">
            <a:xfrm>
              <a:off x="3553" y="3445"/>
              <a:ext cx="266" cy="240"/>
            </a:xfrm>
            <a:prstGeom prst="rect">
              <a:avLst/>
            </a:prstGeom>
            <a:noFill/>
            <a:ln w="9525">
              <a:noFill/>
              <a:miter lim="800000"/>
              <a:headEnd/>
              <a:tailEnd/>
            </a:ln>
          </p:spPr>
          <p:txBody>
            <a:bodyPr lIns="0" tIns="0" rIns="0" bIns="0">
              <a:spAutoFit/>
            </a:bodyPr>
            <a:lstStyle/>
            <a:p>
              <a:pPr algn="ctr">
                <a:spcBef>
                  <a:spcPct val="50000"/>
                </a:spcBef>
              </a:pPr>
              <a:r>
                <a:rPr lang="en-US" sz="2500" b="1" i="1">
                  <a:latin typeface="Arial"/>
                  <a:cs typeface="Arial"/>
                </a:rPr>
                <a:t>Q</a:t>
              </a:r>
              <a:r>
                <a:rPr lang="en-US" sz="2500" b="1" baseline="-25000">
                  <a:latin typeface="Arial"/>
                  <a:cs typeface="Arial"/>
                </a:rPr>
                <a:t>1</a:t>
              </a:r>
            </a:p>
          </p:txBody>
        </p:sp>
        <p:sp>
          <p:nvSpPr>
            <p:cNvPr id="15385" name="Line 29"/>
            <p:cNvSpPr>
              <a:spLocks noChangeShapeType="1"/>
            </p:cNvSpPr>
            <p:nvPr/>
          </p:nvSpPr>
          <p:spPr bwMode="auto">
            <a:xfrm>
              <a:off x="3665" y="2528"/>
              <a:ext cx="0" cy="909"/>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5386" name="Oval 14"/>
            <p:cNvSpPr>
              <a:spLocks noChangeArrowheads="1"/>
            </p:cNvSpPr>
            <p:nvPr/>
          </p:nvSpPr>
          <p:spPr bwMode="auto">
            <a:xfrm>
              <a:off x="3620" y="247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7" name="Group 57"/>
          <p:cNvGrpSpPr>
            <a:grpSpLocks/>
          </p:cNvGrpSpPr>
          <p:nvPr/>
        </p:nvGrpSpPr>
        <p:grpSpPr bwMode="auto">
          <a:xfrm>
            <a:off x="5013325" y="4333874"/>
            <a:ext cx="449263" cy="1914525"/>
            <a:chOff x="3158" y="2480"/>
            <a:chExt cx="283" cy="1206"/>
          </a:xfrm>
        </p:grpSpPr>
        <p:sp>
          <p:nvSpPr>
            <p:cNvPr id="15380" name="Text Box 34"/>
            <p:cNvSpPr txBox="1">
              <a:spLocks noChangeArrowheads="1"/>
            </p:cNvSpPr>
            <p:nvPr/>
          </p:nvSpPr>
          <p:spPr bwMode="auto">
            <a:xfrm>
              <a:off x="3158" y="3446"/>
              <a:ext cx="283" cy="240"/>
            </a:xfrm>
            <a:prstGeom prst="rect">
              <a:avLst/>
            </a:prstGeom>
            <a:noFill/>
            <a:ln w="9525">
              <a:noFill/>
              <a:miter lim="800000"/>
              <a:headEnd/>
              <a:tailEnd/>
            </a:ln>
          </p:spPr>
          <p:txBody>
            <a:bodyPr lIns="0" tIns="0" rIns="0" bIns="0">
              <a:spAutoFit/>
            </a:bodyPr>
            <a:lstStyle/>
            <a:p>
              <a:pPr algn="ctr">
                <a:spcBef>
                  <a:spcPct val="50000"/>
                </a:spcBef>
              </a:pPr>
              <a:r>
                <a:rPr lang="en-US" sz="2500" b="1" i="1">
                  <a:latin typeface="Arial"/>
                  <a:cs typeface="Arial"/>
                </a:rPr>
                <a:t>Q</a:t>
              </a:r>
              <a:r>
                <a:rPr lang="en-US" sz="2500" b="1" baseline="-25000">
                  <a:latin typeface="Arial"/>
                  <a:cs typeface="Arial"/>
                </a:rPr>
                <a:t>a</a:t>
              </a:r>
            </a:p>
          </p:txBody>
        </p:sp>
        <p:sp>
          <p:nvSpPr>
            <p:cNvPr id="15381" name="Line 42"/>
            <p:cNvSpPr>
              <a:spLocks noChangeShapeType="1"/>
            </p:cNvSpPr>
            <p:nvPr/>
          </p:nvSpPr>
          <p:spPr bwMode="auto">
            <a:xfrm>
              <a:off x="3290" y="2529"/>
              <a:ext cx="0" cy="909"/>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5382" name="Oval 43"/>
            <p:cNvSpPr>
              <a:spLocks noChangeArrowheads="1"/>
            </p:cNvSpPr>
            <p:nvPr/>
          </p:nvSpPr>
          <p:spPr bwMode="auto">
            <a:xfrm>
              <a:off x="3245" y="248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5383" name="Oval 44"/>
            <p:cNvSpPr>
              <a:spLocks noChangeArrowheads="1"/>
            </p:cNvSpPr>
            <p:nvPr/>
          </p:nvSpPr>
          <p:spPr bwMode="auto">
            <a:xfrm>
              <a:off x="3246" y="286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8" name="Group 55"/>
          <p:cNvGrpSpPr>
            <a:grpSpLocks/>
          </p:cNvGrpSpPr>
          <p:nvPr/>
        </p:nvGrpSpPr>
        <p:grpSpPr bwMode="auto">
          <a:xfrm>
            <a:off x="6913563" y="3049587"/>
            <a:ext cx="401637" cy="3198813"/>
            <a:chOff x="3899" y="1671"/>
            <a:chExt cx="253" cy="2015"/>
          </a:xfrm>
        </p:grpSpPr>
        <p:sp>
          <p:nvSpPr>
            <p:cNvPr id="15376" name="Text Box 35"/>
            <p:cNvSpPr txBox="1">
              <a:spLocks noChangeArrowheads="1"/>
            </p:cNvSpPr>
            <p:nvPr/>
          </p:nvSpPr>
          <p:spPr bwMode="auto">
            <a:xfrm>
              <a:off x="3899" y="3446"/>
              <a:ext cx="253" cy="240"/>
            </a:xfrm>
            <a:prstGeom prst="rect">
              <a:avLst/>
            </a:prstGeom>
            <a:noFill/>
            <a:ln w="9525">
              <a:noFill/>
              <a:miter lim="800000"/>
              <a:headEnd/>
              <a:tailEnd/>
            </a:ln>
          </p:spPr>
          <p:txBody>
            <a:bodyPr lIns="0" tIns="0" rIns="0" bIns="0">
              <a:spAutoFit/>
            </a:bodyPr>
            <a:lstStyle/>
            <a:p>
              <a:pPr algn="ctr">
                <a:spcBef>
                  <a:spcPct val="50000"/>
                </a:spcBef>
              </a:pPr>
              <a:r>
                <a:rPr lang="en-US" sz="2500" b="1" i="1">
                  <a:latin typeface="Arial"/>
                  <a:cs typeface="Arial"/>
                </a:rPr>
                <a:t>Q</a:t>
              </a:r>
              <a:r>
                <a:rPr lang="en-US" sz="2500" b="1" baseline="-25000">
                  <a:latin typeface="Arial"/>
                  <a:cs typeface="Arial"/>
                </a:rPr>
                <a:t>b</a:t>
              </a:r>
            </a:p>
          </p:txBody>
        </p:sp>
        <p:sp>
          <p:nvSpPr>
            <p:cNvPr id="15377" name="Line 45"/>
            <p:cNvSpPr>
              <a:spLocks noChangeShapeType="1"/>
            </p:cNvSpPr>
            <p:nvPr/>
          </p:nvSpPr>
          <p:spPr bwMode="auto">
            <a:xfrm>
              <a:off x="3992" y="1719"/>
              <a:ext cx="3" cy="172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5378" name="Oval 46"/>
            <p:cNvSpPr>
              <a:spLocks noChangeArrowheads="1"/>
            </p:cNvSpPr>
            <p:nvPr/>
          </p:nvSpPr>
          <p:spPr bwMode="auto">
            <a:xfrm>
              <a:off x="3950" y="248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5379" name="Oval 47"/>
            <p:cNvSpPr>
              <a:spLocks noChangeArrowheads="1"/>
            </p:cNvSpPr>
            <p:nvPr/>
          </p:nvSpPr>
          <p:spPr bwMode="auto">
            <a:xfrm>
              <a:off x="3948" y="167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04508" name="Rectangle 60"/>
          <p:cNvSpPr>
            <a:spLocks noChangeArrowheads="1"/>
          </p:cNvSpPr>
          <p:nvPr/>
        </p:nvSpPr>
        <p:spPr bwMode="auto">
          <a:xfrm>
            <a:off x="4640262" y="997803"/>
            <a:ext cx="3741738" cy="954107"/>
          </a:xfrm>
          <a:prstGeom prst="rect">
            <a:avLst/>
          </a:prstGeom>
          <a:noFill/>
          <a:ln w="9525">
            <a:solidFill>
              <a:srgbClr val="C00000"/>
            </a:solidFill>
            <a:miter lim="800000"/>
            <a:headEnd/>
            <a:tailEnd/>
          </a:ln>
          <a:effectLst/>
        </p:spPr>
        <p:txBody>
          <a:bodyPr wrap="square">
            <a:spAutoFit/>
          </a:bodyPr>
          <a:lstStyle/>
          <a:p>
            <a:pPr algn="ctr"/>
            <a:r>
              <a:rPr lang="en-US" sz="2800" dirty="0">
                <a:solidFill>
                  <a:srgbClr val="4E519E"/>
                </a:solidFill>
                <a:latin typeface="Arial"/>
                <a:cs typeface="Arial"/>
              </a:rPr>
              <a:t>Rule: </a:t>
            </a:r>
            <a:r>
              <a:rPr lang="en-US" sz="2800" b="1" i="1" dirty="0">
                <a:solidFill>
                  <a:srgbClr val="4E519E"/>
                </a:solidFill>
                <a:latin typeface="Arial"/>
                <a:cs typeface="Arial"/>
              </a:rPr>
              <a:t>MR</a:t>
            </a:r>
            <a:r>
              <a:rPr lang="en-US" sz="2800" dirty="0">
                <a:solidFill>
                  <a:srgbClr val="4E519E"/>
                </a:solidFill>
                <a:latin typeface="Arial"/>
                <a:cs typeface="Arial"/>
              </a:rPr>
              <a:t> = </a:t>
            </a:r>
            <a:r>
              <a:rPr lang="en-US" sz="2800" b="1" i="1" dirty="0">
                <a:solidFill>
                  <a:srgbClr val="4E519E"/>
                </a:solidFill>
                <a:latin typeface="Arial"/>
                <a:cs typeface="Arial"/>
              </a:rPr>
              <a:t>MC</a:t>
            </a:r>
            <a:r>
              <a:rPr lang="en-US" sz="2800" dirty="0">
                <a:solidFill>
                  <a:srgbClr val="4E519E"/>
                </a:solidFill>
                <a:latin typeface="Arial"/>
                <a:cs typeface="Arial"/>
              </a:rPr>
              <a:t> at the profit-maximizing </a:t>
            </a:r>
            <a:r>
              <a:rPr lang="en-US" sz="2800" b="1" i="1" dirty="0">
                <a:solidFill>
                  <a:srgbClr val="4E519E"/>
                </a:solidFill>
                <a:latin typeface="Arial"/>
                <a:cs typeface="Arial"/>
              </a:rPr>
              <a:t>Q</a:t>
            </a:r>
            <a:r>
              <a:rPr lang="en-US" sz="2800" dirty="0">
                <a:solidFill>
                  <a:srgbClr val="4E519E"/>
                </a:solidFill>
                <a:latin typeface="Arial"/>
                <a:cs typeface="Arial"/>
              </a:rPr>
              <a:t>.</a:t>
            </a:r>
          </a:p>
        </p:txBody>
      </p:sp>
      <p:sp>
        <p:nvSpPr>
          <p:cNvPr id="104510" name="Line 62"/>
          <p:cNvSpPr>
            <a:spLocks noChangeShapeType="1"/>
          </p:cNvSpPr>
          <p:nvPr/>
        </p:nvSpPr>
        <p:spPr bwMode="auto">
          <a:xfrm>
            <a:off x="5216525" y="5843586"/>
            <a:ext cx="349250" cy="0"/>
          </a:xfrm>
          <a:prstGeom prst="line">
            <a:avLst/>
          </a:prstGeom>
          <a:noFill/>
          <a:ln w="53975">
            <a:solidFill>
              <a:srgbClr val="FF0000"/>
            </a:solidFill>
            <a:round/>
            <a:headEnd/>
            <a:tailEnd type="triangle" w="med" len="med"/>
          </a:ln>
        </p:spPr>
        <p:txBody>
          <a:bodyPr/>
          <a:lstStyle/>
          <a:p>
            <a:endParaRPr lang="en-US">
              <a:latin typeface="Arial"/>
              <a:cs typeface="Arial"/>
            </a:endParaRPr>
          </a:p>
        </p:txBody>
      </p:sp>
      <p:sp>
        <p:nvSpPr>
          <p:cNvPr id="104511" name="Line 63"/>
          <p:cNvSpPr>
            <a:spLocks noChangeShapeType="1"/>
          </p:cNvSpPr>
          <p:nvPr/>
        </p:nvSpPr>
        <p:spPr bwMode="auto">
          <a:xfrm flipV="1">
            <a:off x="5994399" y="5838823"/>
            <a:ext cx="1000125" cy="6351"/>
          </a:xfrm>
          <a:prstGeom prst="line">
            <a:avLst/>
          </a:prstGeom>
          <a:noFill/>
          <a:ln w="53975">
            <a:solidFill>
              <a:srgbClr val="FF0000"/>
            </a:solidFill>
            <a:round/>
            <a:headEnd type="triangle" w="med" len="med"/>
            <a:tailEnd/>
          </a:ln>
        </p:spPr>
        <p:txBody>
          <a:bodyPr/>
          <a:lstStyle/>
          <a:p>
            <a:endParaRPr lang="en-US">
              <a:latin typeface="Arial"/>
              <a:cs typeface="Arial"/>
            </a:endParaRPr>
          </a:p>
        </p:txBody>
      </p:sp>
      <p:sp>
        <p:nvSpPr>
          <p:cNvPr id="15375"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9" name="Footer Placeholder 8">
            <a:extLst>
              <a:ext uri="{FF2B5EF4-FFF2-40B4-BE49-F238E27FC236}">
                <a16:creationId xmlns:a16="http://schemas.microsoft.com/office/drawing/2014/main" id="{CEA0A7C2-4D80-CCB5-D3D9-29E884F70F1F}"/>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15377980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4451">
                                            <p:txEl>
                                              <p:pRg st="0" end="0"/>
                                            </p:txEl>
                                          </p:spTgt>
                                        </p:tgtEl>
                                        <p:attrNameLst>
                                          <p:attrName>style.visibility</p:attrName>
                                        </p:attrNameLst>
                                      </p:cBhvr>
                                      <p:to>
                                        <p:strVal val="visible"/>
                                      </p:to>
                                    </p:set>
                                    <p:animEffect transition="in" filter="wipe(left)">
                                      <p:cBhvr>
                                        <p:cTn id="11" dur="500"/>
                                        <p:tgtEl>
                                          <p:spTgt spid="10445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4451">
                                            <p:txEl>
                                              <p:pRg st="1" end="1"/>
                                            </p:txEl>
                                          </p:spTgt>
                                        </p:tgtEl>
                                        <p:attrNameLst>
                                          <p:attrName>style.visibility</p:attrName>
                                        </p:attrNameLst>
                                      </p:cBhvr>
                                      <p:to>
                                        <p:strVal val="visible"/>
                                      </p:to>
                                    </p:set>
                                    <p:animEffect transition="in" filter="wipe(left)">
                                      <p:cBhvr>
                                        <p:cTn id="16" dur="500"/>
                                        <p:tgtEl>
                                          <p:spTgt spid="104451">
                                            <p:txEl>
                                              <p:pRg st="1" end="1"/>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4451">
                                            <p:txEl>
                                              <p:pRg st="2" end="2"/>
                                            </p:txEl>
                                          </p:spTgt>
                                        </p:tgtEl>
                                        <p:attrNameLst>
                                          <p:attrName>style.visibility</p:attrName>
                                        </p:attrNameLst>
                                      </p:cBhvr>
                                      <p:to>
                                        <p:strVal val="visible"/>
                                      </p:to>
                                    </p:set>
                                    <p:animEffect transition="in" filter="wipe(left)">
                                      <p:cBhvr>
                                        <p:cTn id="24" dur="500"/>
                                        <p:tgtEl>
                                          <p:spTgt spid="104451">
                                            <p:txEl>
                                              <p:pRg st="2" end="2"/>
                                            </p:txEl>
                                          </p:spTgt>
                                        </p:tgtEl>
                                      </p:cBhvr>
                                    </p:animEffect>
                                  </p:childTnLst>
                                </p:cTn>
                              </p:par>
                              <p:par>
                                <p:cTn id="25" presetID="17" presetClass="entr" presetSubtype="8" fill="hold" grpId="0" nodeType="withEffect">
                                  <p:stCondLst>
                                    <p:cond delay="0"/>
                                  </p:stCondLst>
                                  <p:childTnLst>
                                    <p:set>
                                      <p:cBhvr>
                                        <p:cTn id="26" dur="1" fill="hold">
                                          <p:stCondLst>
                                            <p:cond delay="0"/>
                                          </p:stCondLst>
                                        </p:cTn>
                                        <p:tgtEl>
                                          <p:spTgt spid="104510"/>
                                        </p:tgtEl>
                                        <p:attrNameLst>
                                          <p:attrName>style.visibility</p:attrName>
                                        </p:attrNameLst>
                                      </p:cBhvr>
                                      <p:to>
                                        <p:strVal val="visible"/>
                                      </p:to>
                                    </p:set>
                                    <p:anim calcmode="lin" valueType="num">
                                      <p:cBhvr>
                                        <p:cTn id="27" dur="500" fill="hold"/>
                                        <p:tgtEl>
                                          <p:spTgt spid="104510"/>
                                        </p:tgtEl>
                                        <p:attrNameLst>
                                          <p:attrName>ppt_x</p:attrName>
                                        </p:attrNameLst>
                                      </p:cBhvr>
                                      <p:tavLst>
                                        <p:tav tm="0">
                                          <p:val>
                                            <p:strVal val="#ppt_x-#ppt_w/2"/>
                                          </p:val>
                                        </p:tav>
                                        <p:tav tm="100000">
                                          <p:val>
                                            <p:strVal val="#ppt_x"/>
                                          </p:val>
                                        </p:tav>
                                      </p:tavLst>
                                    </p:anim>
                                    <p:anim calcmode="lin" valueType="num">
                                      <p:cBhvr>
                                        <p:cTn id="28" dur="500" fill="hold"/>
                                        <p:tgtEl>
                                          <p:spTgt spid="104510"/>
                                        </p:tgtEl>
                                        <p:attrNameLst>
                                          <p:attrName>ppt_y</p:attrName>
                                        </p:attrNameLst>
                                      </p:cBhvr>
                                      <p:tavLst>
                                        <p:tav tm="0">
                                          <p:val>
                                            <p:strVal val="#ppt_y"/>
                                          </p:val>
                                        </p:tav>
                                        <p:tav tm="100000">
                                          <p:val>
                                            <p:strVal val="#ppt_y"/>
                                          </p:val>
                                        </p:tav>
                                      </p:tavLst>
                                    </p:anim>
                                    <p:anim calcmode="lin" valueType="num">
                                      <p:cBhvr>
                                        <p:cTn id="29" dur="500" fill="hold"/>
                                        <p:tgtEl>
                                          <p:spTgt spid="104510"/>
                                        </p:tgtEl>
                                        <p:attrNameLst>
                                          <p:attrName>ppt_w</p:attrName>
                                        </p:attrNameLst>
                                      </p:cBhvr>
                                      <p:tavLst>
                                        <p:tav tm="0">
                                          <p:val>
                                            <p:fltVal val="0"/>
                                          </p:val>
                                        </p:tav>
                                        <p:tav tm="100000">
                                          <p:val>
                                            <p:strVal val="#ppt_w"/>
                                          </p:val>
                                        </p:tav>
                                      </p:tavLst>
                                    </p:anim>
                                    <p:anim calcmode="lin" valueType="num">
                                      <p:cBhvr>
                                        <p:cTn id="30" dur="500" fill="hold"/>
                                        <p:tgtEl>
                                          <p:spTgt spid="104510"/>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4451">
                                            <p:txEl>
                                              <p:pRg st="3" end="3"/>
                                            </p:txEl>
                                          </p:spTgt>
                                        </p:tgtEl>
                                        <p:attrNameLst>
                                          <p:attrName>style.visibility</p:attrName>
                                        </p:attrNameLst>
                                      </p:cBhvr>
                                      <p:to>
                                        <p:strVal val="visible"/>
                                      </p:to>
                                    </p:set>
                                    <p:animEffect transition="in" filter="wipe(left)">
                                      <p:cBhvr>
                                        <p:cTn id="35" dur="500"/>
                                        <p:tgtEl>
                                          <p:spTgt spid="104451">
                                            <p:txEl>
                                              <p:pRg st="3" end="3"/>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down)">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4451">
                                            <p:txEl>
                                              <p:pRg st="4" end="4"/>
                                            </p:txEl>
                                          </p:spTgt>
                                        </p:tgtEl>
                                        <p:attrNameLst>
                                          <p:attrName>style.visibility</p:attrName>
                                        </p:attrNameLst>
                                      </p:cBhvr>
                                      <p:to>
                                        <p:strVal val="visible"/>
                                      </p:to>
                                    </p:set>
                                    <p:animEffect transition="in" filter="wipe(left)">
                                      <p:cBhvr>
                                        <p:cTn id="43" dur="500"/>
                                        <p:tgtEl>
                                          <p:spTgt spid="104451">
                                            <p:txEl>
                                              <p:pRg st="4" end="4"/>
                                            </p:txEl>
                                          </p:spTgt>
                                        </p:tgtEl>
                                      </p:cBhvr>
                                    </p:animEffect>
                                  </p:childTnLst>
                                </p:cTn>
                              </p:par>
                              <p:par>
                                <p:cTn id="44" presetID="17" presetClass="entr" presetSubtype="2" fill="hold" grpId="0" nodeType="withEffect">
                                  <p:stCondLst>
                                    <p:cond delay="0"/>
                                  </p:stCondLst>
                                  <p:childTnLst>
                                    <p:set>
                                      <p:cBhvr>
                                        <p:cTn id="45" dur="1" fill="hold">
                                          <p:stCondLst>
                                            <p:cond delay="0"/>
                                          </p:stCondLst>
                                        </p:cTn>
                                        <p:tgtEl>
                                          <p:spTgt spid="104511"/>
                                        </p:tgtEl>
                                        <p:attrNameLst>
                                          <p:attrName>style.visibility</p:attrName>
                                        </p:attrNameLst>
                                      </p:cBhvr>
                                      <p:to>
                                        <p:strVal val="visible"/>
                                      </p:to>
                                    </p:set>
                                    <p:anim calcmode="lin" valueType="num">
                                      <p:cBhvr>
                                        <p:cTn id="46" dur="500" fill="hold"/>
                                        <p:tgtEl>
                                          <p:spTgt spid="104511"/>
                                        </p:tgtEl>
                                        <p:attrNameLst>
                                          <p:attrName>ppt_x</p:attrName>
                                        </p:attrNameLst>
                                      </p:cBhvr>
                                      <p:tavLst>
                                        <p:tav tm="0">
                                          <p:val>
                                            <p:strVal val="#ppt_x+#ppt_w/2"/>
                                          </p:val>
                                        </p:tav>
                                        <p:tav tm="100000">
                                          <p:val>
                                            <p:strVal val="#ppt_x"/>
                                          </p:val>
                                        </p:tav>
                                      </p:tavLst>
                                    </p:anim>
                                    <p:anim calcmode="lin" valueType="num">
                                      <p:cBhvr>
                                        <p:cTn id="47" dur="500" fill="hold"/>
                                        <p:tgtEl>
                                          <p:spTgt spid="104511"/>
                                        </p:tgtEl>
                                        <p:attrNameLst>
                                          <p:attrName>ppt_y</p:attrName>
                                        </p:attrNameLst>
                                      </p:cBhvr>
                                      <p:tavLst>
                                        <p:tav tm="0">
                                          <p:val>
                                            <p:strVal val="#ppt_y"/>
                                          </p:val>
                                        </p:tav>
                                        <p:tav tm="100000">
                                          <p:val>
                                            <p:strVal val="#ppt_y"/>
                                          </p:val>
                                        </p:tav>
                                      </p:tavLst>
                                    </p:anim>
                                    <p:anim calcmode="lin" valueType="num">
                                      <p:cBhvr>
                                        <p:cTn id="48" dur="500" fill="hold"/>
                                        <p:tgtEl>
                                          <p:spTgt spid="104511"/>
                                        </p:tgtEl>
                                        <p:attrNameLst>
                                          <p:attrName>ppt_w</p:attrName>
                                        </p:attrNameLst>
                                      </p:cBhvr>
                                      <p:tavLst>
                                        <p:tav tm="0">
                                          <p:val>
                                            <p:fltVal val="0"/>
                                          </p:val>
                                        </p:tav>
                                        <p:tav tm="100000">
                                          <p:val>
                                            <p:strVal val="#ppt_w"/>
                                          </p:val>
                                        </p:tav>
                                      </p:tavLst>
                                    </p:anim>
                                    <p:anim calcmode="lin" valueType="num">
                                      <p:cBhvr>
                                        <p:cTn id="49" dur="500" fill="hold"/>
                                        <p:tgtEl>
                                          <p:spTgt spid="104511"/>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04451">
                                            <p:txEl>
                                              <p:pRg st="5" end="5"/>
                                            </p:txEl>
                                          </p:spTgt>
                                        </p:tgtEl>
                                        <p:attrNameLst>
                                          <p:attrName>style.visibility</p:attrName>
                                        </p:attrNameLst>
                                      </p:cBhvr>
                                      <p:to>
                                        <p:strVal val="visible"/>
                                      </p:to>
                                    </p:set>
                                    <p:animEffect transition="in" filter="wipe(left)">
                                      <p:cBhvr>
                                        <p:cTn id="54" dur="500"/>
                                        <p:tgtEl>
                                          <p:spTgt spid="104451">
                                            <p:txEl>
                                              <p:pRg st="5" end="5"/>
                                            </p:txEl>
                                          </p:spTgt>
                                        </p:tgtEl>
                                      </p:cBhvr>
                                    </p:animEffect>
                                  </p:childTnLst>
                                </p:cTn>
                              </p:par>
                              <p:par>
                                <p:cTn id="55" presetID="22" presetClass="entr" presetSubtype="1" fill="hold" nodeType="with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up)">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4451">
                                            <p:txEl>
                                              <p:pRg st="6" end="6"/>
                                            </p:txEl>
                                          </p:spTgt>
                                        </p:tgtEl>
                                        <p:attrNameLst>
                                          <p:attrName>style.visibility</p:attrName>
                                        </p:attrNameLst>
                                      </p:cBhvr>
                                      <p:to>
                                        <p:strVal val="visible"/>
                                      </p:to>
                                    </p:set>
                                    <p:animEffect transition="in" filter="wipe(left)">
                                      <p:cBhvr>
                                        <p:cTn id="62" dur="500"/>
                                        <p:tgtEl>
                                          <p:spTgt spid="104451">
                                            <p:txEl>
                                              <p:pRg st="6" end="6"/>
                                            </p:txEl>
                                          </p:spTgt>
                                        </p:tgtEl>
                                      </p:cBhvr>
                                    </p:animEffect>
                                  </p:childTnLst>
                                </p:cTn>
                              </p:par>
                            </p:childTnLst>
                          </p:cTn>
                        </p:par>
                        <p:par>
                          <p:cTn id="63" fill="hold">
                            <p:stCondLst>
                              <p:cond delay="500"/>
                            </p:stCondLst>
                            <p:childTnLst>
                              <p:par>
                                <p:cTn id="64" presetID="10" presetClass="entr" presetSubtype="0" fill="hold" grpId="0" nodeType="afterEffect">
                                  <p:stCondLst>
                                    <p:cond delay="0"/>
                                  </p:stCondLst>
                                  <p:childTnLst>
                                    <p:set>
                                      <p:cBhvr>
                                        <p:cTn id="65" dur="1" fill="hold">
                                          <p:stCondLst>
                                            <p:cond delay="0"/>
                                          </p:stCondLst>
                                        </p:cTn>
                                        <p:tgtEl>
                                          <p:spTgt spid="104508"/>
                                        </p:tgtEl>
                                        <p:attrNameLst>
                                          <p:attrName>style.visibility</p:attrName>
                                        </p:attrNameLst>
                                      </p:cBhvr>
                                      <p:to>
                                        <p:strVal val="visible"/>
                                      </p:to>
                                    </p:set>
                                    <p:animEffect transition="in" filter="fade">
                                      <p:cBhvr>
                                        <p:cTn id="66" dur="500"/>
                                        <p:tgtEl>
                                          <p:spTgt spid="104508"/>
                                        </p:tgtEl>
                                      </p:cBhvr>
                                    </p:animEffect>
                                  </p:childTnLst>
                                </p:cTn>
                              </p:par>
                              <p:par>
                                <p:cTn id="67" presetID="10" presetClass="exit" presetSubtype="0" fill="hold" nodeType="withEffect">
                                  <p:stCondLst>
                                    <p:cond delay="0"/>
                                  </p:stCondLst>
                                  <p:childTnLst>
                                    <p:animEffect transition="out" filter="fade">
                                      <p:cBhvr>
                                        <p:cTn id="68" dur="500"/>
                                        <p:tgtEl>
                                          <p:spTgt spid="7"/>
                                        </p:tgtEl>
                                      </p:cBhvr>
                                    </p:animEffect>
                                    <p:set>
                                      <p:cBhvr>
                                        <p:cTn id="69" dur="1" fill="hold">
                                          <p:stCondLst>
                                            <p:cond delay="499"/>
                                          </p:stCondLst>
                                        </p:cTn>
                                        <p:tgtEl>
                                          <p:spTgt spid="7"/>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500"/>
                                        <p:tgtEl>
                                          <p:spTgt spid="8"/>
                                        </p:tgtEl>
                                      </p:cBhvr>
                                    </p:animEffect>
                                    <p:set>
                                      <p:cBhvr>
                                        <p:cTn id="72" dur="1" fill="hold">
                                          <p:stCondLst>
                                            <p:cond delay="499"/>
                                          </p:stCondLst>
                                        </p:cTn>
                                        <p:tgtEl>
                                          <p:spTgt spid="8"/>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500"/>
                                        <p:tgtEl>
                                          <p:spTgt spid="104511"/>
                                        </p:tgtEl>
                                      </p:cBhvr>
                                    </p:animEffect>
                                    <p:set>
                                      <p:cBhvr>
                                        <p:cTn id="75" dur="1" fill="hold">
                                          <p:stCondLst>
                                            <p:cond delay="499"/>
                                          </p:stCondLst>
                                        </p:cTn>
                                        <p:tgtEl>
                                          <p:spTgt spid="104511"/>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500"/>
                                        <p:tgtEl>
                                          <p:spTgt spid="104510"/>
                                        </p:tgtEl>
                                      </p:cBhvr>
                                    </p:animEffect>
                                    <p:set>
                                      <p:cBhvr>
                                        <p:cTn id="78" dur="1" fill="hold">
                                          <p:stCondLst>
                                            <p:cond delay="499"/>
                                          </p:stCondLst>
                                        </p:cTn>
                                        <p:tgtEl>
                                          <p:spTgt spid="1045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uiExpand="1" build="p" bldLvl="5"/>
      <p:bldP spid="104508" grpId="0" animBg="1"/>
      <p:bldP spid="104510" grpId="0" uiExpand="1" animBg="1"/>
      <p:bldP spid="104510" grpId="1" animBg="1"/>
      <p:bldP spid="104511" grpId="0" uiExpand="1" animBg="1"/>
      <p:bldP spid="104511" grpId="1"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41"/>
          <p:cNvGrpSpPr>
            <a:grpSpLocks/>
          </p:cNvGrpSpPr>
          <p:nvPr/>
        </p:nvGrpSpPr>
        <p:grpSpPr bwMode="auto">
          <a:xfrm>
            <a:off x="3673475" y="3935413"/>
            <a:ext cx="4994275" cy="473075"/>
            <a:chOff x="2314" y="2479"/>
            <a:chExt cx="3146" cy="298"/>
          </a:xfrm>
        </p:grpSpPr>
        <p:sp>
          <p:nvSpPr>
            <p:cNvPr id="16415" name="Line 3"/>
            <p:cNvSpPr>
              <a:spLocks noChangeShapeType="1"/>
            </p:cNvSpPr>
            <p:nvPr/>
          </p:nvSpPr>
          <p:spPr bwMode="auto">
            <a:xfrm>
              <a:off x="2726" y="2630"/>
              <a:ext cx="2250" cy="0"/>
            </a:xfrm>
            <a:prstGeom prst="line">
              <a:avLst/>
            </a:prstGeom>
            <a:noFill/>
            <a:ln w="28575">
              <a:solidFill>
                <a:schemeClr val="bg2">
                  <a:lumMod val="50000"/>
                </a:schemeClr>
              </a:solidFill>
              <a:round/>
              <a:headEnd/>
              <a:tailEnd/>
            </a:ln>
          </p:spPr>
          <p:txBody>
            <a:bodyPr/>
            <a:lstStyle/>
            <a:p>
              <a:endParaRPr lang="en-US">
                <a:latin typeface="Arial"/>
                <a:cs typeface="Arial"/>
              </a:endParaRPr>
            </a:p>
          </p:txBody>
        </p:sp>
        <p:sp>
          <p:nvSpPr>
            <p:cNvPr id="16416" name="Text Box 4"/>
            <p:cNvSpPr txBox="1">
              <a:spLocks noChangeArrowheads="1"/>
            </p:cNvSpPr>
            <p:nvPr/>
          </p:nvSpPr>
          <p:spPr bwMode="auto">
            <a:xfrm>
              <a:off x="2314" y="2479"/>
              <a:ext cx="387"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r>
                <a:rPr lang="en-US" sz="2500" b="1" baseline="-25000">
                  <a:latin typeface="Arial"/>
                  <a:cs typeface="Arial"/>
                </a:rPr>
                <a:t>1</a:t>
              </a:r>
            </a:p>
          </p:txBody>
        </p:sp>
        <p:sp>
          <p:nvSpPr>
            <p:cNvPr id="16417" name="Text Box 5"/>
            <p:cNvSpPr txBox="1">
              <a:spLocks noChangeArrowheads="1"/>
            </p:cNvSpPr>
            <p:nvPr/>
          </p:nvSpPr>
          <p:spPr bwMode="auto">
            <a:xfrm>
              <a:off x="5010" y="2506"/>
              <a:ext cx="450" cy="240"/>
            </a:xfrm>
            <a:prstGeom prst="rect">
              <a:avLst/>
            </a:prstGeom>
            <a:noFill/>
            <a:ln w="9525">
              <a:noFill/>
              <a:miter lim="800000"/>
              <a:headEnd/>
              <a:tailEnd/>
            </a:ln>
          </p:spPr>
          <p:txBody>
            <a:bodyPr lIns="0" tIns="0" rIns="0" bIns="0">
              <a:spAutoFit/>
            </a:bodyPr>
            <a:lstStyle/>
            <a:p>
              <a:pPr>
                <a:spcBef>
                  <a:spcPct val="50000"/>
                </a:spcBef>
              </a:pPr>
              <a:r>
                <a:rPr lang="en-US" sz="2500" i="1" dirty="0">
                  <a:latin typeface="Arial"/>
                  <a:cs typeface="Arial"/>
                </a:rPr>
                <a:t>MR</a:t>
              </a:r>
              <a:r>
                <a:rPr lang="en-US" sz="2500" i="1" baseline="-25000" dirty="0">
                  <a:latin typeface="Arial"/>
                  <a:cs typeface="Arial"/>
                </a:rPr>
                <a:t>1</a:t>
              </a:r>
            </a:p>
          </p:txBody>
        </p:sp>
      </p:grpSp>
      <p:grpSp>
        <p:nvGrpSpPr>
          <p:cNvPr id="3" name="Group 42"/>
          <p:cNvGrpSpPr>
            <a:grpSpLocks/>
          </p:cNvGrpSpPr>
          <p:nvPr/>
        </p:nvGrpSpPr>
        <p:grpSpPr bwMode="auto">
          <a:xfrm>
            <a:off x="3670300" y="2787650"/>
            <a:ext cx="4994275" cy="473075"/>
            <a:chOff x="2312" y="1756"/>
            <a:chExt cx="3146" cy="298"/>
          </a:xfrm>
        </p:grpSpPr>
        <p:sp>
          <p:nvSpPr>
            <p:cNvPr id="16412" name="Line 7"/>
            <p:cNvSpPr>
              <a:spLocks noChangeShapeType="1"/>
            </p:cNvSpPr>
            <p:nvPr/>
          </p:nvSpPr>
          <p:spPr bwMode="auto">
            <a:xfrm>
              <a:off x="2724" y="1907"/>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16413" name="Text Box 8"/>
            <p:cNvSpPr txBox="1">
              <a:spLocks noChangeArrowheads="1"/>
            </p:cNvSpPr>
            <p:nvPr/>
          </p:nvSpPr>
          <p:spPr bwMode="auto">
            <a:xfrm>
              <a:off x="2312" y="1756"/>
              <a:ext cx="387"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r>
                <a:rPr lang="en-US" sz="2500" b="1" baseline="-25000">
                  <a:latin typeface="Arial"/>
                  <a:cs typeface="Arial"/>
                </a:rPr>
                <a:t>2</a:t>
              </a:r>
            </a:p>
          </p:txBody>
        </p:sp>
        <p:sp>
          <p:nvSpPr>
            <p:cNvPr id="16414" name="Text Box 9"/>
            <p:cNvSpPr txBox="1">
              <a:spLocks noChangeArrowheads="1"/>
            </p:cNvSpPr>
            <p:nvPr/>
          </p:nvSpPr>
          <p:spPr bwMode="auto">
            <a:xfrm>
              <a:off x="5015" y="1790"/>
              <a:ext cx="44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MR</a:t>
              </a:r>
              <a:r>
                <a:rPr lang="en-US" sz="2500" b="1" baseline="-25000">
                  <a:latin typeface="Arial"/>
                  <a:cs typeface="Arial"/>
                </a:rPr>
                <a:t>2</a:t>
              </a:r>
            </a:p>
          </p:txBody>
        </p:sp>
      </p:grpSp>
      <p:sp>
        <p:nvSpPr>
          <p:cNvPr id="16390" name="Rectangle 10"/>
          <p:cNvSpPr>
            <a:spLocks noGrp="1" noChangeArrowheads="1"/>
          </p:cNvSpPr>
          <p:nvPr>
            <p:ph type="title"/>
          </p:nvPr>
        </p:nvSpPr>
        <p:spPr/>
        <p:txBody>
          <a:bodyPr/>
          <a:lstStyle/>
          <a:p>
            <a:pPr algn="ctr" eaLnBrk="1" hangingPunct="1"/>
            <a:r>
              <a:rPr lang="en-US" sz="3400" b="1" i="1" dirty="0"/>
              <a:t>MC</a:t>
            </a:r>
            <a:r>
              <a:rPr lang="en-US" sz="3400" dirty="0"/>
              <a:t> and the Firm’s Supply Decision – 2 </a:t>
            </a:r>
          </a:p>
        </p:txBody>
      </p:sp>
      <p:sp>
        <p:nvSpPr>
          <p:cNvPr id="107531" name="Rectangle 11"/>
          <p:cNvSpPr>
            <a:spLocks noGrp="1" noChangeArrowheads="1"/>
          </p:cNvSpPr>
          <p:nvPr>
            <p:ph idx="1"/>
          </p:nvPr>
        </p:nvSpPr>
        <p:spPr>
          <a:xfrm>
            <a:off x="347241" y="1089025"/>
            <a:ext cx="3633415" cy="5359400"/>
          </a:xfrm>
        </p:spPr>
        <p:txBody>
          <a:bodyPr/>
          <a:lstStyle/>
          <a:p>
            <a:pPr marL="0" indent="0" eaLnBrk="1" hangingPunct="1">
              <a:spcBef>
                <a:spcPct val="50000"/>
              </a:spcBef>
              <a:buFont typeface="Wingdings" pitchFamily="2" charset="2"/>
              <a:buNone/>
            </a:pPr>
            <a:r>
              <a:rPr lang="en-US" sz="2800" dirty="0"/>
              <a:t>If price rises to </a:t>
            </a:r>
            <a:r>
              <a:rPr lang="en-US" sz="2800" b="1" i="1" dirty="0">
                <a:solidFill>
                  <a:srgbClr val="C00000"/>
                </a:solidFill>
              </a:rPr>
              <a:t>P</a:t>
            </a:r>
            <a:r>
              <a:rPr lang="en-US" sz="2800" b="1" baseline="-25000" dirty="0">
                <a:solidFill>
                  <a:srgbClr val="C00000"/>
                </a:solidFill>
              </a:rPr>
              <a:t>2</a:t>
            </a:r>
            <a:r>
              <a:rPr lang="en-US" sz="2800" dirty="0">
                <a:solidFill>
                  <a:srgbClr val="C00000"/>
                </a:solidFill>
              </a:rPr>
              <a:t>,</a:t>
            </a:r>
          </a:p>
          <a:p>
            <a:pPr marL="0" indent="0" eaLnBrk="1" hangingPunct="1">
              <a:spcBef>
                <a:spcPct val="20000"/>
              </a:spcBef>
              <a:buFont typeface="Wingdings" pitchFamily="2" charset="2"/>
              <a:buNone/>
            </a:pPr>
            <a:r>
              <a:rPr lang="en-US" sz="2800" dirty="0"/>
              <a:t>then the profit-maximizing quantity rises to </a:t>
            </a:r>
            <a:r>
              <a:rPr lang="en-US" sz="2800" b="1" i="1" dirty="0">
                <a:solidFill>
                  <a:srgbClr val="C00000"/>
                </a:solidFill>
              </a:rPr>
              <a:t>Q</a:t>
            </a:r>
            <a:r>
              <a:rPr lang="en-US" sz="2800" b="1" baseline="-25000" dirty="0">
                <a:solidFill>
                  <a:srgbClr val="C00000"/>
                </a:solidFill>
              </a:rPr>
              <a:t>2</a:t>
            </a:r>
            <a:r>
              <a:rPr lang="en-US" sz="2800" dirty="0">
                <a:solidFill>
                  <a:srgbClr val="C00000"/>
                </a:solidFill>
              </a:rPr>
              <a:t>.</a:t>
            </a:r>
            <a:r>
              <a:rPr lang="en-US" sz="2800" dirty="0"/>
              <a:t> </a:t>
            </a:r>
          </a:p>
          <a:p>
            <a:pPr marL="0" indent="0" eaLnBrk="1" hangingPunct="1">
              <a:spcBef>
                <a:spcPct val="50000"/>
              </a:spcBef>
              <a:buFont typeface="Wingdings" pitchFamily="2" charset="2"/>
              <a:buNone/>
            </a:pPr>
            <a:r>
              <a:rPr lang="en-US" sz="2800" dirty="0">
                <a:solidFill>
                  <a:schemeClr val="tx1"/>
                </a:solidFill>
              </a:rPr>
              <a:t>The </a:t>
            </a:r>
            <a:r>
              <a:rPr lang="en-US" sz="2800" b="1" i="1" dirty="0">
                <a:solidFill>
                  <a:schemeClr val="tx1"/>
                </a:solidFill>
              </a:rPr>
              <a:t>MC</a:t>
            </a:r>
            <a:r>
              <a:rPr lang="en-US" sz="2800" dirty="0">
                <a:solidFill>
                  <a:schemeClr val="tx1"/>
                </a:solidFill>
              </a:rPr>
              <a:t> curve determines the </a:t>
            </a:r>
            <a:br>
              <a:rPr lang="en-US" sz="2800" dirty="0">
                <a:solidFill>
                  <a:schemeClr val="tx1"/>
                </a:solidFill>
              </a:rPr>
            </a:br>
            <a:r>
              <a:rPr lang="en-US" sz="2800" dirty="0">
                <a:solidFill>
                  <a:schemeClr val="tx1"/>
                </a:solidFill>
              </a:rPr>
              <a:t>firm’s </a:t>
            </a:r>
            <a:r>
              <a:rPr lang="en-US" sz="2800" b="1" i="1" dirty="0">
                <a:solidFill>
                  <a:schemeClr val="tx1"/>
                </a:solidFill>
              </a:rPr>
              <a:t>Q</a:t>
            </a:r>
            <a:r>
              <a:rPr lang="en-US" sz="2800" dirty="0">
                <a:solidFill>
                  <a:schemeClr val="tx1"/>
                </a:solidFill>
              </a:rPr>
              <a:t> at any price. </a:t>
            </a:r>
            <a:r>
              <a:rPr lang="en-US" sz="2800" dirty="0">
                <a:solidFill>
                  <a:srgbClr val="4E519E"/>
                </a:solidFill>
              </a:rPr>
              <a:t> </a:t>
            </a:r>
          </a:p>
          <a:p>
            <a:pPr marL="0" indent="0" eaLnBrk="1" hangingPunct="1">
              <a:spcBef>
                <a:spcPct val="50000"/>
              </a:spcBef>
              <a:buFont typeface="Wingdings" pitchFamily="2" charset="2"/>
              <a:buNone/>
            </a:pPr>
            <a:r>
              <a:rPr lang="en-US" sz="2800" dirty="0"/>
              <a:t>Hence, </a:t>
            </a:r>
            <a:r>
              <a:rPr lang="en-US" sz="2800" dirty="0">
                <a:solidFill>
                  <a:srgbClr val="4E519E"/>
                </a:solidFill>
              </a:rPr>
              <a:t>the </a:t>
            </a:r>
            <a:r>
              <a:rPr lang="en-US" sz="2800" b="1" i="1" dirty="0">
                <a:solidFill>
                  <a:srgbClr val="4E519E"/>
                </a:solidFill>
              </a:rPr>
              <a:t>MC</a:t>
            </a:r>
            <a:r>
              <a:rPr lang="en-US" sz="2800" dirty="0">
                <a:solidFill>
                  <a:srgbClr val="4E519E"/>
                </a:solidFill>
              </a:rPr>
              <a:t> curve is the firm’s supply curve.</a:t>
            </a:r>
          </a:p>
        </p:txBody>
      </p:sp>
      <p:sp>
        <p:nvSpPr>
          <p:cNvPr id="9" name="Slide Number Placeholder 8"/>
          <p:cNvSpPr>
            <a:spLocks noGrp="1"/>
          </p:cNvSpPr>
          <p:nvPr>
            <p:ph type="sldNum" sz="quarter" idx="10"/>
          </p:nvPr>
        </p:nvSpPr>
        <p:spPr/>
        <p:txBody>
          <a:bodyPr/>
          <a:lstStyle/>
          <a:p>
            <a:pPr>
              <a:defRPr/>
            </a:pPr>
            <a:fld id="{2F37425F-5E17-4209-B948-B5CE2119E408}" type="slidenum">
              <a:rPr lang="en-US" smtClean="0"/>
              <a:pPr>
                <a:defRPr/>
              </a:pPr>
              <a:t>9</a:t>
            </a:fld>
            <a:endParaRPr lang="en-US" dirty="0"/>
          </a:p>
        </p:txBody>
      </p:sp>
      <p:grpSp>
        <p:nvGrpSpPr>
          <p:cNvPr id="4" name="Group 13"/>
          <p:cNvGrpSpPr>
            <a:grpSpLocks/>
          </p:cNvGrpSpPr>
          <p:nvPr/>
        </p:nvGrpSpPr>
        <p:grpSpPr bwMode="auto">
          <a:xfrm>
            <a:off x="4333875" y="2119313"/>
            <a:ext cx="3741738" cy="3502025"/>
            <a:chOff x="1489" y="785"/>
            <a:chExt cx="3650" cy="2492"/>
          </a:xfrm>
        </p:grpSpPr>
        <p:sp>
          <p:nvSpPr>
            <p:cNvPr id="16410" name="Line 14"/>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6411" name="Line 15"/>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6393" name="Text Box 16"/>
          <p:cNvSpPr txBox="1">
            <a:spLocks noChangeArrowheads="1"/>
          </p:cNvSpPr>
          <p:nvPr/>
        </p:nvSpPr>
        <p:spPr bwMode="auto">
          <a:xfrm>
            <a:off x="8034338" y="5372100"/>
            <a:ext cx="536575" cy="473075"/>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16394" name="Text Box 17"/>
          <p:cNvSpPr txBox="1">
            <a:spLocks noChangeArrowheads="1"/>
          </p:cNvSpPr>
          <p:nvPr/>
        </p:nvSpPr>
        <p:spPr bwMode="auto">
          <a:xfrm>
            <a:off x="3711575" y="1698625"/>
            <a:ext cx="1098550" cy="473075"/>
          </a:xfrm>
          <a:prstGeom prst="rect">
            <a:avLst/>
          </a:prstGeom>
          <a:noFill/>
          <a:ln w="9525">
            <a:noFill/>
            <a:miter lim="800000"/>
            <a:headEnd/>
            <a:tailEnd/>
          </a:ln>
        </p:spPr>
        <p:txBody>
          <a:bodyPr>
            <a:spAutoFit/>
          </a:bodyPr>
          <a:lstStyle/>
          <a:p>
            <a:pPr algn="r">
              <a:spcBef>
                <a:spcPct val="50000"/>
              </a:spcBef>
            </a:pPr>
            <a:r>
              <a:rPr lang="en-US" sz="2500">
                <a:latin typeface="Arial"/>
                <a:cs typeface="Arial"/>
              </a:rPr>
              <a:t>Costs</a:t>
            </a:r>
          </a:p>
        </p:txBody>
      </p:sp>
      <p:grpSp>
        <p:nvGrpSpPr>
          <p:cNvPr id="5" name="Group 18"/>
          <p:cNvGrpSpPr>
            <a:grpSpLocks/>
          </p:cNvGrpSpPr>
          <p:nvPr/>
        </p:nvGrpSpPr>
        <p:grpSpPr bwMode="auto">
          <a:xfrm>
            <a:off x="4592638" y="2287588"/>
            <a:ext cx="3322637" cy="3157537"/>
            <a:chOff x="2893" y="1336"/>
            <a:chExt cx="2093" cy="1989"/>
          </a:xfrm>
        </p:grpSpPr>
        <p:sp>
          <p:nvSpPr>
            <p:cNvPr id="16408" name="Line 19"/>
            <p:cNvSpPr>
              <a:spLocks noChangeShapeType="1"/>
            </p:cNvSpPr>
            <p:nvPr/>
          </p:nvSpPr>
          <p:spPr bwMode="auto">
            <a:xfrm flipV="1">
              <a:off x="2893" y="1568"/>
              <a:ext cx="1690" cy="1757"/>
            </a:xfrm>
            <a:prstGeom prst="line">
              <a:avLst/>
            </a:prstGeom>
            <a:noFill/>
            <a:ln w="38100">
              <a:solidFill>
                <a:srgbClr val="333399"/>
              </a:solidFill>
              <a:round/>
              <a:headEnd/>
              <a:tailEnd/>
            </a:ln>
          </p:spPr>
          <p:txBody>
            <a:bodyPr/>
            <a:lstStyle/>
            <a:p>
              <a:endParaRPr lang="en-US">
                <a:latin typeface="Arial"/>
                <a:cs typeface="Arial"/>
              </a:endParaRPr>
            </a:p>
          </p:txBody>
        </p:sp>
        <p:sp>
          <p:nvSpPr>
            <p:cNvPr id="16409" name="Text Box 20"/>
            <p:cNvSpPr txBox="1">
              <a:spLocks noChangeArrowheads="1"/>
            </p:cNvSpPr>
            <p:nvPr/>
          </p:nvSpPr>
          <p:spPr bwMode="auto">
            <a:xfrm>
              <a:off x="4603" y="1336"/>
              <a:ext cx="38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MC</a:t>
              </a:r>
            </a:p>
          </p:txBody>
        </p:sp>
      </p:grpSp>
      <p:grpSp>
        <p:nvGrpSpPr>
          <p:cNvPr id="6" name="Group 21"/>
          <p:cNvGrpSpPr>
            <a:grpSpLocks/>
          </p:cNvGrpSpPr>
          <p:nvPr/>
        </p:nvGrpSpPr>
        <p:grpSpPr bwMode="auto">
          <a:xfrm>
            <a:off x="5640388" y="4102100"/>
            <a:ext cx="422275" cy="1914525"/>
            <a:chOff x="3553" y="2479"/>
            <a:chExt cx="266" cy="1206"/>
          </a:xfrm>
        </p:grpSpPr>
        <p:sp>
          <p:nvSpPr>
            <p:cNvPr id="16405" name="Text Box 22"/>
            <p:cNvSpPr txBox="1">
              <a:spLocks noChangeArrowheads="1"/>
            </p:cNvSpPr>
            <p:nvPr/>
          </p:nvSpPr>
          <p:spPr bwMode="auto">
            <a:xfrm>
              <a:off x="3553" y="3445"/>
              <a:ext cx="266" cy="240"/>
            </a:xfrm>
            <a:prstGeom prst="rect">
              <a:avLst/>
            </a:prstGeom>
            <a:noFill/>
            <a:ln w="9525">
              <a:noFill/>
              <a:miter lim="800000"/>
              <a:headEnd/>
              <a:tailEnd/>
            </a:ln>
          </p:spPr>
          <p:txBody>
            <a:bodyPr lIns="0" tIns="0" rIns="0" bIns="0">
              <a:spAutoFit/>
            </a:bodyPr>
            <a:lstStyle/>
            <a:p>
              <a:pPr algn="ctr">
                <a:spcBef>
                  <a:spcPct val="50000"/>
                </a:spcBef>
              </a:pPr>
              <a:r>
                <a:rPr lang="en-US" sz="2500" b="1" i="1">
                  <a:latin typeface="Arial"/>
                  <a:cs typeface="Arial"/>
                </a:rPr>
                <a:t>Q</a:t>
              </a:r>
              <a:r>
                <a:rPr lang="en-US" sz="2500" b="1" baseline="-25000">
                  <a:latin typeface="Arial"/>
                  <a:cs typeface="Arial"/>
                </a:rPr>
                <a:t>1</a:t>
              </a:r>
            </a:p>
          </p:txBody>
        </p:sp>
        <p:sp>
          <p:nvSpPr>
            <p:cNvPr id="16406" name="Line 23"/>
            <p:cNvSpPr>
              <a:spLocks noChangeShapeType="1"/>
            </p:cNvSpPr>
            <p:nvPr/>
          </p:nvSpPr>
          <p:spPr bwMode="auto">
            <a:xfrm>
              <a:off x="3665" y="2528"/>
              <a:ext cx="0" cy="909"/>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6407" name="Oval 24"/>
            <p:cNvSpPr>
              <a:spLocks noChangeArrowheads="1"/>
            </p:cNvSpPr>
            <p:nvPr/>
          </p:nvSpPr>
          <p:spPr bwMode="auto">
            <a:xfrm>
              <a:off x="3620" y="247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7" name="Group 25"/>
          <p:cNvGrpSpPr>
            <a:grpSpLocks/>
          </p:cNvGrpSpPr>
          <p:nvPr/>
        </p:nvGrpSpPr>
        <p:grpSpPr bwMode="auto">
          <a:xfrm>
            <a:off x="6742113" y="2954338"/>
            <a:ext cx="422275" cy="3060700"/>
            <a:chOff x="4247" y="1756"/>
            <a:chExt cx="266" cy="1928"/>
          </a:xfrm>
        </p:grpSpPr>
        <p:sp>
          <p:nvSpPr>
            <p:cNvPr id="16402" name="Line 26"/>
            <p:cNvSpPr>
              <a:spLocks noChangeShapeType="1"/>
            </p:cNvSpPr>
            <p:nvPr/>
          </p:nvSpPr>
          <p:spPr bwMode="auto">
            <a:xfrm>
              <a:off x="4356" y="1805"/>
              <a:ext cx="0" cy="1631"/>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6403" name="Oval 27"/>
            <p:cNvSpPr>
              <a:spLocks noChangeArrowheads="1"/>
            </p:cNvSpPr>
            <p:nvPr/>
          </p:nvSpPr>
          <p:spPr bwMode="auto">
            <a:xfrm>
              <a:off x="4311" y="1756"/>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6404" name="Text Box 28"/>
            <p:cNvSpPr txBox="1">
              <a:spLocks noChangeArrowheads="1"/>
            </p:cNvSpPr>
            <p:nvPr/>
          </p:nvSpPr>
          <p:spPr bwMode="auto">
            <a:xfrm>
              <a:off x="4247" y="3444"/>
              <a:ext cx="266" cy="240"/>
            </a:xfrm>
            <a:prstGeom prst="rect">
              <a:avLst/>
            </a:prstGeom>
            <a:noFill/>
            <a:ln w="9525">
              <a:noFill/>
              <a:miter lim="800000"/>
              <a:headEnd/>
              <a:tailEnd/>
            </a:ln>
          </p:spPr>
          <p:txBody>
            <a:bodyPr lIns="0" tIns="0" rIns="0" bIns="0">
              <a:spAutoFit/>
            </a:bodyPr>
            <a:lstStyle/>
            <a:p>
              <a:pPr algn="ctr">
                <a:spcBef>
                  <a:spcPct val="50000"/>
                </a:spcBef>
              </a:pPr>
              <a:r>
                <a:rPr lang="en-US" sz="2500" b="1" i="1">
                  <a:latin typeface="Arial"/>
                  <a:cs typeface="Arial"/>
                </a:rPr>
                <a:t>Q</a:t>
              </a:r>
              <a:r>
                <a:rPr lang="en-US" sz="2500" b="1" baseline="-25000">
                  <a:latin typeface="Arial"/>
                  <a:cs typeface="Arial"/>
                </a:rPr>
                <a:t>2</a:t>
              </a:r>
            </a:p>
          </p:txBody>
        </p:sp>
      </p:grpSp>
      <p:sp>
        <p:nvSpPr>
          <p:cNvPr id="107564" name="Rectangle 44"/>
          <p:cNvSpPr>
            <a:spLocks noChangeArrowheads="1"/>
          </p:cNvSpPr>
          <p:nvPr/>
        </p:nvSpPr>
        <p:spPr bwMode="auto">
          <a:xfrm>
            <a:off x="4933043" y="1100364"/>
            <a:ext cx="2949575" cy="892175"/>
          </a:xfrm>
          <a:prstGeom prst="rect">
            <a:avLst/>
          </a:prstGeom>
          <a:noFill/>
          <a:ln w="9525">
            <a:solidFill>
              <a:srgbClr val="C00000"/>
            </a:solidFill>
            <a:miter lim="800000"/>
            <a:headEnd/>
            <a:tailEnd/>
          </a:ln>
          <a:effectLst/>
        </p:spPr>
        <p:txBody>
          <a:bodyPr>
            <a:spAutoFit/>
          </a:bodyPr>
          <a:lstStyle/>
          <a:p>
            <a:pPr>
              <a:lnSpc>
                <a:spcPct val="105000"/>
              </a:lnSpc>
              <a:spcBef>
                <a:spcPct val="40000"/>
              </a:spcBef>
              <a:buClr>
                <a:srgbClr val="00B85C"/>
              </a:buClr>
              <a:buSzPct val="120000"/>
              <a:buFont typeface="Wingdings" pitchFamily="2" charset="2"/>
              <a:buNone/>
            </a:pPr>
            <a:r>
              <a:rPr lang="en-US" sz="2500" dirty="0">
                <a:solidFill>
                  <a:srgbClr val="4E519E"/>
                </a:solidFill>
                <a:latin typeface="Arial"/>
                <a:cs typeface="Arial"/>
              </a:rPr>
              <a:t>the </a:t>
            </a:r>
            <a:r>
              <a:rPr lang="en-US" sz="2500" b="1" i="1" dirty="0">
                <a:solidFill>
                  <a:srgbClr val="4E519E"/>
                </a:solidFill>
                <a:latin typeface="Arial"/>
                <a:cs typeface="Arial"/>
              </a:rPr>
              <a:t>MC</a:t>
            </a:r>
            <a:r>
              <a:rPr lang="en-US" sz="2500" dirty="0">
                <a:solidFill>
                  <a:srgbClr val="4E519E"/>
                </a:solidFill>
                <a:latin typeface="Arial"/>
                <a:cs typeface="Arial"/>
              </a:rPr>
              <a:t> curve </a:t>
            </a:r>
            <a:r>
              <a:rPr lang="en-US" sz="2500" u="sng" dirty="0">
                <a:solidFill>
                  <a:srgbClr val="4E519E"/>
                </a:solidFill>
                <a:latin typeface="Arial"/>
                <a:cs typeface="Arial"/>
              </a:rPr>
              <a:t>is</a:t>
            </a:r>
            <a:r>
              <a:rPr lang="en-US" sz="2500" dirty="0">
                <a:solidFill>
                  <a:srgbClr val="4E519E"/>
                </a:solidFill>
                <a:latin typeface="Arial"/>
                <a:cs typeface="Arial"/>
              </a:rPr>
              <a:t> the firm’s supply curve.</a:t>
            </a:r>
          </a:p>
        </p:txBody>
      </p:sp>
      <p:sp>
        <p:nvSpPr>
          <p:cNvPr id="107566" name="Line 46"/>
          <p:cNvSpPr>
            <a:spLocks noChangeShapeType="1"/>
          </p:cNvSpPr>
          <p:nvPr/>
        </p:nvSpPr>
        <p:spPr bwMode="auto">
          <a:xfrm>
            <a:off x="5830888" y="5621338"/>
            <a:ext cx="1073150" cy="0"/>
          </a:xfrm>
          <a:prstGeom prst="line">
            <a:avLst/>
          </a:prstGeom>
          <a:noFill/>
          <a:ln w="53975">
            <a:solidFill>
              <a:srgbClr val="008000"/>
            </a:solidFill>
            <a:round/>
            <a:headEnd/>
            <a:tailEnd type="triangle" w="med" len="med"/>
          </a:ln>
        </p:spPr>
        <p:txBody>
          <a:bodyPr/>
          <a:lstStyle/>
          <a:p>
            <a:endParaRPr lang="en-US">
              <a:latin typeface="Arial"/>
              <a:cs typeface="Arial"/>
            </a:endParaRPr>
          </a:p>
        </p:txBody>
      </p:sp>
      <p:sp>
        <p:nvSpPr>
          <p:cNvPr id="107567" name="Line 47"/>
          <p:cNvSpPr>
            <a:spLocks noChangeShapeType="1"/>
          </p:cNvSpPr>
          <p:nvPr/>
        </p:nvSpPr>
        <p:spPr bwMode="auto">
          <a:xfrm flipH="1" flipV="1">
            <a:off x="4327525" y="3068638"/>
            <a:ext cx="7938" cy="1085850"/>
          </a:xfrm>
          <a:prstGeom prst="line">
            <a:avLst/>
          </a:prstGeom>
          <a:noFill/>
          <a:ln w="53975">
            <a:solidFill>
              <a:srgbClr val="008000"/>
            </a:solidFill>
            <a:round/>
            <a:headEnd/>
            <a:tailEnd type="triangle" w="med" len="med"/>
          </a:ln>
        </p:spPr>
        <p:txBody>
          <a:bodyPr/>
          <a:lstStyle/>
          <a:p>
            <a:endParaRPr lang="en-US">
              <a:latin typeface="Arial"/>
              <a:cs typeface="Arial"/>
            </a:endParaRPr>
          </a:p>
        </p:txBody>
      </p:sp>
      <p:sp>
        <p:nvSpPr>
          <p:cNvPr id="16401"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8" name="Footer Placeholder 7">
            <a:extLst>
              <a:ext uri="{FF2B5EF4-FFF2-40B4-BE49-F238E27FC236}">
                <a16:creationId xmlns:a16="http://schemas.microsoft.com/office/drawing/2014/main" id="{0F14A9A0-E4C2-CF76-AF80-D688B301DF08}"/>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58685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31">
                                            <p:txEl>
                                              <p:pRg st="0" end="0"/>
                                            </p:txEl>
                                          </p:spTgt>
                                        </p:tgtEl>
                                        <p:attrNameLst>
                                          <p:attrName>style.visibility</p:attrName>
                                        </p:attrNameLst>
                                      </p:cBhvr>
                                      <p:to>
                                        <p:strVal val="visible"/>
                                      </p:to>
                                    </p:set>
                                    <p:animEffect transition="in" filter="wipe(left)">
                                      <p:cBhvr>
                                        <p:cTn id="7" dur="500"/>
                                        <p:tgtEl>
                                          <p:spTgt spid="107531">
                                            <p:txEl>
                                              <p:pRg st="0" end="0"/>
                                            </p:txEl>
                                          </p:spTgt>
                                        </p:tgtEl>
                                      </p:cBhvr>
                                    </p:animEffect>
                                  </p:childTnLst>
                                </p:cTn>
                              </p:par>
                            </p:childTnLst>
                          </p:cTn>
                        </p:par>
                        <p:par>
                          <p:cTn id="8" fill="hold">
                            <p:stCondLst>
                              <p:cond delay="500"/>
                            </p:stCondLst>
                            <p:childTnLst>
                              <p:par>
                                <p:cTn id="9" presetID="17" presetClass="entr" presetSubtype="4" fill="hold" grpId="0" nodeType="afterEffect">
                                  <p:stCondLst>
                                    <p:cond delay="0"/>
                                  </p:stCondLst>
                                  <p:childTnLst>
                                    <p:set>
                                      <p:cBhvr>
                                        <p:cTn id="10" dur="1" fill="hold">
                                          <p:stCondLst>
                                            <p:cond delay="0"/>
                                          </p:stCondLst>
                                        </p:cTn>
                                        <p:tgtEl>
                                          <p:spTgt spid="107567"/>
                                        </p:tgtEl>
                                        <p:attrNameLst>
                                          <p:attrName>style.visibility</p:attrName>
                                        </p:attrNameLst>
                                      </p:cBhvr>
                                      <p:to>
                                        <p:strVal val="visible"/>
                                      </p:to>
                                    </p:set>
                                    <p:anim calcmode="lin" valueType="num">
                                      <p:cBhvr>
                                        <p:cTn id="11" dur="500" fill="hold"/>
                                        <p:tgtEl>
                                          <p:spTgt spid="107567"/>
                                        </p:tgtEl>
                                        <p:attrNameLst>
                                          <p:attrName>ppt_x</p:attrName>
                                        </p:attrNameLst>
                                      </p:cBhvr>
                                      <p:tavLst>
                                        <p:tav tm="0">
                                          <p:val>
                                            <p:strVal val="#ppt_x"/>
                                          </p:val>
                                        </p:tav>
                                        <p:tav tm="100000">
                                          <p:val>
                                            <p:strVal val="#ppt_x"/>
                                          </p:val>
                                        </p:tav>
                                      </p:tavLst>
                                    </p:anim>
                                    <p:anim calcmode="lin" valueType="num">
                                      <p:cBhvr>
                                        <p:cTn id="12" dur="500" fill="hold"/>
                                        <p:tgtEl>
                                          <p:spTgt spid="107567"/>
                                        </p:tgtEl>
                                        <p:attrNameLst>
                                          <p:attrName>ppt_y</p:attrName>
                                        </p:attrNameLst>
                                      </p:cBhvr>
                                      <p:tavLst>
                                        <p:tav tm="0">
                                          <p:val>
                                            <p:strVal val="#ppt_y+#ppt_h/2"/>
                                          </p:val>
                                        </p:tav>
                                        <p:tav tm="100000">
                                          <p:val>
                                            <p:strVal val="#ppt_y"/>
                                          </p:val>
                                        </p:tav>
                                      </p:tavLst>
                                    </p:anim>
                                    <p:anim calcmode="lin" valueType="num">
                                      <p:cBhvr>
                                        <p:cTn id="13" dur="500" fill="hold"/>
                                        <p:tgtEl>
                                          <p:spTgt spid="107567"/>
                                        </p:tgtEl>
                                        <p:attrNameLst>
                                          <p:attrName>ppt_w</p:attrName>
                                        </p:attrNameLst>
                                      </p:cBhvr>
                                      <p:tavLst>
                                        <p:tav tm="0">
                                          <p:val>
                                            <p:strVal val="#ppt_w"/>
                                          </p:val>
                                        </p:tav>
                                        <p:tav tm="100000">
                                          <p:val>
                                            <p:strVal val="#ppt_w"/>
                                          </p:val>
                                        </p:tav>
                                      </p:tavLst>
                                    </p:anim>
                                    <p:anim calcmode="lin" valueType="num">
                                      <p:cBhvr>
                                        <p:cTn id="14" dur="500" fill="hold"/>
                                        <p:tgtEl>
                                          <p:spTgt spid="107567"/>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7531">
                                            <p:txEl>
                                              <p:pRg st="1" end="1"/>
                                            </p:txEl>
                                          </p:spTgt>
                                        </p:tgtEl>
                                        <p:attrNameLst>
                                          <p:attrName>style.visibility</p:attrName>
                                        </p:attrNameLst>
                                      </p:cBhvr>
                                      <p:to>
                                        <p:strVal val="visible"/>
                                      </p:to>
                                    </p:set>
                                    <p:animEffect transition="in" filter="wipe(left)">
                                      <p:cBhvr>
                                        <p:cTn id="24" dur="500"/>
                                        <p:tgtEl>
                                          <p:spTgt spid="107531">
                                            <p:txEl>
                                              <p:pRg st="1" end="1"/>
                                            </p:txEl>
                                          </p:spTgt>
                                        </p:tgtEl>
                                      </p:cBhvr>
                                    </p:animEffect>
                                  </p:childTnLst>
                                </p:cTn>
                              </p:par>
                            </p:childTnLst>
                          </p:cTn>
                        </p:par>
                        <p:par>
                          <p:cTn id="25" fill="hold">
                            <p:stCondLst>
                              <p:cond delay="500"/>
                            </p:stCondLst>
                            <p:childTnLst>
                              <p:par>
                                <p:cTn id="26" presetID="17" presetClass="entr" presetSubtype="8" fill="hold" grpId="0" nodeType="afterEffect">
                                  <p:stCondLst>
                                    <p:cond delay="0"/>
                                  </p:stCondLst>
                                  <p:childTnLst>
                                    <p:set>
                                      <p:cBhvr>
                                        <p:cTn id="27" dur="1" fill="hold">
                                          <p:stCondLst>
                                            <p:cond delay="0"/>
                                          </p:stCondLst>
                                        </p:cTn>
                                        <p:tgtEl>
                                          <p:spTgt spid="107566"/>
                                        </p:tgtEl>
                                        <p:attrNameLst>
                                          <p:attrName>style.visibility</p:attrName>
                                        </p:attrNameLst>
                                      </p:cBhvr>
                                      <p:to>
                                        <p:strVal val="visible"/>
                                      </p:to>
                                    </p:set>
                                    <p:anim calcmode="lin" valueType="num">
                                      <p:cBhvr>
                                        <p:cTn id="28" dur="500" fill="hold"/>
                                        <p:tgtEl>
                                          <p:spTgt spid="107566"/>
                                        </p:tgtEl>
                                        <p:attrNameLst>
                                          <p:attrName>ppt_x</p:attrName>
                                        </p:attrNameLst>
                                      </p:cBhvr>
                                      <p:tavLst>
                                        <p:tav tm="0">
                                          <p:val>
                                            <p:strVal val="#ppt_x-#ppt_w/2"/>
                                          </p:val>
                                        </p:tav>
                                        <p:tav tm="100000">
                                          <p:val>
                                            <p:strVal val="#ppt_x"/>
                                          </p:val>
                                        </p:tav>
                                      </p:tavLst>
                                    </p:anim>
                                    <p:anim calcmode="lin" valueType="num">
                                      <p:cBhvr>
                                        <p:cTn id="29" dur="500" fill="hold"/>
                                        <p:tgtEl>
                                          <p:spTgt spid="107566"/>
                                        </p:tgtEl>
                                        <p:attrNameLst>
                                          <p:attrName>ppt_y</p:attrName>
                                        </p:attrNameLst>
                                      </p:cBhvr>
                                      <p:tavLst>
                                        <p:tav tm="0">
                                          <p:val>
                                            <p:strVal val="#ppt_y"/>
                                          </p:val>
                                        </p:tav>
                                        <p:tav tm="100000">
                                          <p:val>
                                            <p:strVal val="#ppt_y"/>
                                          </p:val>
                                        </p:tav>
                                      </p:tavLst>
                                    </p:anim>
                                    <p:anim calcmode="lin" valueType="num">
                                      <p:cBhvr>
                                        <p:cTn id="30" dur="500" fill="hold"/>
                                        <p:tgtEl>
                                          <p:spTgt spid="107566"/>
                                        </p:tgtEl>
                                        <p:attrNameLst>
                                          <p:attrName>ppt_w</p:attrName>
                                        </p:attrNameLst>
                                      </p:cBhvr>
                                      <p:tavLst>
                                        <p:tav tm="0">
                                          <p:val>
                                            <p:fltVal val="0"/>
                                          </p:val>
                                        </p:tav>
                                        <p:tav tm="100000">
                                          <p:val>
                                            <p:strVal val="#ppt_w"/>
                                          </p:val>
                                        </p:tav>
                                      </p:tavLst>
                                    </p:anim>
                                    <p:anim calcmode="lin" valueType="num">
                                      <p:cBhvr>
                                        <p:cTn id="31" dur="500" fill="hold"/>
                                        <p:tgtEl>
                                          <p:spTgt spid="107566"/>
                                        </p:tgtEl>
                                        <p:attrNameLst>
                                          <p:attrName>ppt_h</p:attrName>
                                        </p:attrNameLst>
                                      </p:cBhvr>
                                      <p:tavLst>
                                        <p:tav tm="0">
                                          <p:val>
                                            <p:strVal val="#ppt_h"/>
                                          </p:val>
                                        </p:tav>
                                        <p:tav tm="100000">
                                          <p:val>
                                            <p:strVal val="#ppt_h"/>
                                          </p:val>
                                        </p:tav>
                                      </p:tavLst>
                                    </p:anim>
                                  </p:childTnLst>
                                </p:cTn>
                              </p:par>
                              <p:par>
                                <p:cTn id="32" presetID="22" presetClass="entr" presetSubtype="1"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up)">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1" nodeType="clickEffect">
                                  <p:stCondLst>
                                    <p:cond delay="0"/>
                                  </p:stCondLst>
                                  <p:childTnLst>
                                    <p:animEffect transition="out" filter="fade">
                                      <p:cBhvr>
                                        <p:cTn id="38" dur="500"/>
                                        <p:tgtEl>
                                          <p:spTgt spid="107566"/>
                                        </p:tgtEl>
                                      </p:cBhvr>
                                    </p:animEffect>
                                    <p:set>
                                      <p:cBhvr>
                                        <p:cTn id="39" dur="1" fill="hold">
                                          <p:stCondLst>
                                            <p:cond delay="499"/>
                                          </p:stCondLst>
                                        </p:cTn>
                                        <p:tgtEl>
                                          <p:spTgt spid="107566"/>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500"/>
                                        <p:tgtEl>
                                          <p:spTgt spid="107567"/>
                                        </p:tgtEl>
                                      </p:cBhvr>
                                    </p:animEffect>
                                    <p:set>
                                      <p:cBhvr>
                                        <p:cTn id="42" dur="1" fill="hold">
                                          <p:stCondLst>
                                            <p:cond delay="499"/>
                                          </p:stCondLst>
                                        </p:cTn>
                                        <p:tgtEl>
                                          <p:spTgt spid="107567"/>
                                        </p:tgtEl>
                                        <p:attrNameLst>
                                          <p:attrName>style.visibility</p:attrName>
                                        </p:attrNameLst>
                                      </p:cBhvr>
                                      <p:to>
                                        <p:strVal val="hidden"/>
                                      </p:to>
                                    </p:set>
                                  </p:childTnLst>
                                </p:cTn>
                              </p:par>
                              <p:par>
                                <p:cTn id="43" presetID="22" presetClass="entr" presetSubtype="8" fill="hold" grpId="0" nodeType="withEffect">
                                  <p:stCondLst>
                                    <p:cond delay="0"/>
                                  </p:stCondLst>
                                  <p:childTnLst>
                                    <p:set>
                                      <p:cBhvr>
                                        <p:cTn id="44" dur="1" fill="hold">
                                          <p:stCondLst>
                                            <p:cond delay="0"/>
                                          </p:stCondLst>
                                        </p:cTn>
                                        <p:tgtEl>
                                          <p:spTgt spid="107531">
                                            <p:txEl>
                                              <p:pRg st="2" end="2"/>
                                            </p:txEl>
                                          </p:spTgt>
                                        </p:tgtEl>
                                        <p:attrNameLst>
                                          <p:attrName>style.visibility</p:attrName>
                                        </p:attrNameLst>
                                      </p:cBhvr>
                                      <p:to>
                                        <p:strVal val="visible"/>
                                      </p:to>
                                    </p:set>
                                    <p:animEffect transition="in" filter="wipe(left)">
                                      <p:cBhvr>
                                        <p:cTn id="45" dur="500"/>
                                        <p:tgtEl>
                                          <p:spTgt spid="107531">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7531">
                                            <p:txEl>
                                              <p:pRg st="3" end="3"/>
                                            </p:txEl>
                                          </p:spTgt>
                                        </p:tgtEl>
                                        <p:attrNameLst>
                                          <p:attrName>style.visibility</p:attrName>
                                        </p:attrNameLst>
                                      </p:cBhvr>
                                      <p:to>
                                        <p:strVal val="visible"/>
                                      </p:to>
                                    </p:set>
                                    <p:animEffect transition="in" filter="wipe(left)">
                                      <p:cBhvr>
                                        <p:cTn id="50" dur="500"/>
                                        <p:tgtEl>
                                          <p:spTgt spid="107531">
                                            <p:txEl>
                                              <p:pRg st="3" end="3"/>
                                            </p:txEl>
                                          </p:spTgt>
                                        </p:tgtEl>
                                      </p:cBhvr>
                                    </p:animEffect>
                                  </p:childTnLst>
                                </p:cTn>
                              </p:par>
                            </p:childTnLst>
                          </p:cTn>
                        </p:par>
                        <p:par>
                          <p:cTn id="51" fill="hold">
                            <p:stCondLst>
                              <p:cond delay="500"/>
                            </p:stCondLst>
                            <p:childTnLst>
                              <p:par>
                                <p:cTn id="52" presetID="10" presetClass="entr" presetSubtype="0" fill="hold" grpId="0" nodeType="afterEffect">
                                  <p:stCondLst>
                                    <p:cond delay="0"/>
                                  </p:stCondLst>
                                  <p:childTnLst>
                                    <p:set>
                                      <p:cBhvr>
                                        <p:cTn id="53" dur="1" fill="hold">
                                          <p:stCondLst>
                                            <p:cond delay="0"/>
                                          </p:stCondLst>
                                        </p:cTn>
                                        <p:tgtEl>
                                          <p:spTgt spid="107564"/>
                                        </p:tgtEl>
                                        <p:attrNameLst>
                                          <p:attrName>style.visibility</p:attrName>
                                        </p:attrNameLst>
                                      </p:cBhvr>
                                      <p:to>
                                        <p:strVal val="visible"/>
                                      </p:to>
                                    </p:set>
                                    <p:animEffect transition="in" filter="fade">
                                      <p:cBhvr>
                                        <p:cTn id="54" dur="500"/>
                                        <p:tgtEl>
                                          <p:spTgt spid="107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31" grpId="0" uiExpand="1" build="p" bldLvl="5"/>
      <p:bldP spid="107564" grpId="0" animBg="1"/>
      <p:bldP spid="107566" grpId="0" uiExpand="1" animBg="1"/>
      <p:bldP spid="107566" grpId="1" uiExpand="1" animBg="1"/>
      <p:bldP spid="107567" grpId="0" uiExpand="1" animBg="1"/>
      <p:bldP spid="107567" grpId="1" uiExpan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Shutdown or Exit?</a:t>
            </a:r>
          </a:p>
        </p:txBody>
      </p:sp>
      <p:sp>
        <p:nvSpPr>
          <p:cNvPr id="3" name="Content Placeholder 2"/>
          <p:cNvSpPr>
            <a:spLocks noGrp="1"/>
          </p:cNvSpPr>
          <p:nvPr>
            <p:ph idx="1"/>
          </p:nvPr>
        </p:nvSpPr>
        <p:spPr>
          <a:prstGeom prst="rect">
            <a:avLst/>
          </a:prstGeom>
        </p:spPr>
        <p:txBody>
          <a:bodyPr/>
          <a:lstStyle/>
          <a:p>
            <a:r>
              <a:rPr lang="en-US" dirty="0"/>
              <a:t>Shutdown:  </a:t>
            </a:r>
          </a:p>
          <a:p>
            <a:pPr lvl="1"/>
            <a:r>
              <a:rPr lang="en-US" dirty="0"/>
              <a:t>A </a:t>
            </a:r>
            <a:r>
              <a:rPr lang="en-US" u="sng" dirty="0"/>
              <a:t>short-run decision </a:t>
            </a:r>
            <a:r>
              <a:rPr lang="en-US" dirty="0"/>
              <a:t>not to produce anything because of market conditions. </a:t>
            </a:r>
          </a:p>
          <a:p>
            <a:pPr lvl="1"/>
            <a:r>
              <a:rPr lang="en-US" dirty="0"/>
              <a:t>Q = 0 in the short run </a:t>
            </a:r>
          </a:p>
          <a:p>
            <a:r>
              <a:rPr lang="en-US" dirty="0"/>
              <a:t>Exit:  </a:t>
            </a:r>
          </a:p>
          <a:p>
            <a:pPr lvl="1"/>
            <a:r>
              <a:rPr lang="en-US" dirty="0"/>
              <a:t>A </a:t>
            </a:r>
            <a:r>
              <a:rPr lang="en-US" u="sng" dirty="0"/>
              <a:t>long-run decision </a:t>
            </a:r>
            <a:r>
              <a:rPr lang="en-US" dirty="0"/>
              <a:t>to leave the market. </a:t>
            </a:r>
          </a:p>
          <a:p>
            <a:r>
              <a:rPr lang="en-US" dirty="0"/>
              <a:t>A key difference: </a:t>
            </a:r>
          </a:p>
          <a:p>
            <a:pPr lvl="1"/>
            <a:r>
              <a:rPr lang="en-US" dirty="0"/>
              <a:t>If shut down in SR, must still pay </a:t>
            </a:r>
            <a:r>
              <a:rPr lang="en-US" b="1" i="1" dirty="0"/>
              <a:t>FC</a:t>
            </a:r>
            <a:r>
              <a:rPr lang="en-US" dirty="0"/>
              <a:t>.</a:t>
            </a:r>
          </a:p>
          <a:p>
            <a:pPr lvl="1"/>
            <a:r>
              <a:rPr lang="en-US" dirty="0"/>
              <a:t>If exit in LR, zero costs.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10</a:t>
            </a:fld>
            <a:endParaRPr lang="en-US"/>
          </a:p>
        </p:txBody>
      </p:sp>
      <p:sp>
        <p:nvSpPr>
          <p:cNvPr id="5" name="Footer Placeholder 4">
            <a:extLst>
              <a:ext uri="{FF2B5EF4-FFF2-40B4-BE49-F238E27FC236}">
                <a16:creationId xmlns:a16="http://schemas.microsoft.com/office/drawing/2014/main" id="{70A2BF79-8BEB-8A92-05B1-38A5DCC3E0BE}"/>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3074140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Short-run Decision to Shut Down</a:t>
            </a:r>
          </a:p>
        </p:txBody>
      </p:sp>
      <p:sp>
        <p:nvSpPr>
          <p:cNvPr id="3" name="Content Placeholder 2"/>
          <p:cNvSpPr>
            <a:spLocks noGrp="1"/>
          </p:cNvSpPr>
          <p:nvPr>
            <p:ph idx="1"/>
          </p:nvPr>
        </p:nvSpPr>
        <p:spPr>
          <a:prstGeom prst="rect">
            <a:avLst/>
          </a:prstGeom>
        </p:spPr>
        <p:txBody>
          <a:bodyPr/>
          <a:lstStyle/>
          <a:p>
            <a:r>
              <a:rPr lang="en-US" dirty="0"/>
              <a:t>Should a firm shut-down in the short run?</a:t>
            </a:r>
          </a:p>
          <a:p>
            <a:pPr lvl="1">
              <a:buFont typeface="Arial" panose="020B0604020202020204" pitchFamily="34" charset="0"/>
              <a:buChar char="•"/>
            </a:pPr>
            <a:r>
              <a:rPr lang="en-US" dirty="0"/>
              <a:t>Cost of shutting down </a:t>
            </a:r>
          </a:p>
          <a:p>
            <a:pPr marL="457200" lvl="1" indent="0">
              <a:buNone/>
            </a:pPr>
            <a:r>
              <a:rPr lang="en-US" dirty="0"/>
              <a:t>		= revenue loss = </a:t>
            </a:r>
            <a:r>
              <a:rPr lang="en-US" b="1" i="1" dirty="0"/>
              <a:t>TR</a:t>
            </a:r>
          </a:p>
          <a:p>
            <a:pPr lvl="1">
              <a:buFont typeface="Arial" panose="020B0604020202020204" pitchFamily="34" charset="0"/>
              <a:buChar char="•"/>
            </a:pPr>
            <a:r>
              <a:rPr lang="en-US" dirty="0"/>
              <a:t>Benefit of shutting down </a:t>
            </a:r>
          </a:p>
          <a:p>
            <a:pPr marL="457200" lvl="1" indent="0">
              <a:buNone/>
            </a:pPr>
            <a:r>
              <a:rPr lang="en-US" dirty="0"/>
              <a:t>		= cost savings = </a:t>
            </a:r>
            <a:r>
              <a:rPr lang="en-US" b="1" i="1" dirty="0"/>
              <a:t>VC </a:t>
            </a:r>
          </a:p>
          <a:p>
            <a:pPr marL="457200" lvl="1" indent="0">
              <a:buNone/>
            </a:pPr>
            <a:r>
              <a:rPr lang="en-US" dirty="0"/>
              <a:t>(because the firm must still pay </a:t>
            </a:r>
            <a:r>
              <a:rPr lang="en-US" b="1" i="1" dirty="0"/>
              <a:t>FC</a:t>
            </a:r>
            <a:r>
              <a:rPr lang="en-US" dirty="0"/>
              <a:t>)</a:t>
            </a:r>
          </a:p>
          <a:p>
            <a:r>
              <a:rPr lang="en-US" sz="3600" dirty="0"/>
              <a:t>Shut down if </a:t>
            </a:r>
            <a:r>
              <a:rPr lang="en-US" sz="3600" b="1" i="1" dirty="0"/>
              <a:t>TR</a:t>
            </a:r>
            <a:r>
              <a:rPr lang="en-US" sz="3600" dirty="0"/>
              <a:t> &lt; </a:t>
            </a:r>
            <a:r>
              <a:rPr lang="en-US" sz="3600" b="1" i="1" dirty="0"/>
              <a:t>VC</a:t>
            </a:r>
            <a:r>
              <a:rPr lang="en-US" sz="3600" dirty="0"/>
              <a:t>, or </a:t>
            </a:r>
            <a:r>
              <a:rPr lang="en-US" sz="3600" b="1" i="1" dirty="0">
                <a:solidFill>
                  <a:srgbClr val="C00000"/>
                </a:solidFill>
                <a:cs typeface="Arial"/>
              </a:rPr>
              <a:t>P</a:t>
            </a:r>
            <a:r>
              <a:rPr lang="en-US" sz="3600" dirty="0">
                <a:solidFill>
                  <a:srgbClr val="C00000"/>
                </a:solidFill>
                <a:cs typeface="Arial"/>
              </a:rPr>
              <a:t> &lt; </a:t>
            </a:r>
            <a:r>
              <a:rPr lang="en-US" sz="3600" b="1" i="1" dirty="0">
                <a:solidFill>
                  <a:srgbClr val="C00000"/>
                </a:solidFill>
                <a:cs typeface="Arial"/>
              </a:rPr>
              <a:t>AVC</a:t>
            </a:r>
          </a:p>
          <a:p>
            <a:pPr lvl="1"/>
            <a:r>
              <a:rPr lang="en-US" dirty="0">
                <a:cs typeface="Arial"/>
              </a:rPr>
              <a:t>Produce </a:t>
            </a:r>
            <a:r>
              <a:rPr lang="en-US" b="1" i="1" dirty="0">
                <a:cs typeface="Arial"/>
              </a:rPr>
              <a:t>Q</a:t>
            </a:r>
            <a:r>
              <a:rPr lang="en-US" dirty="0">
                <a:cs typeface="Arial"/>
              </a:rPr>
              <a:t> = 0 in the short run</a:t>
            </a:r>
          </a:p>
          <a:p>
            <a:pPr marL="0" indent="0">
              <a:buNone/>
            </a:pPr>
            <a:endParaRPr lang="en-US" sz="3600" dirty="0"/>
          </a:p>
          <a:p>
            <a:endParaRPr lang="en-US" sz="3600"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11</a:t>
            </a:fld>
            <a:endParaRPr lang="en-US"/>
          </a:p>
        </p:txBody>
      </p:sp>
      <p:sp>
        <p:nvSpPr>
          <p:cNvPr id="5" name="Footer Placeholder 4">
            <a:extLst>
              <a:ext uri="{FF2B5EF4-FFF2-40B4-BE49-F238E27FC236}">
                <a16:creationId xmlns:a16="http://schemas.microsoft.com/office/drawing/2014/main" id="{564BE258-6BF4-7AA1-6CC9-50D133EF48D0}"/>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9838106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wipe(left)">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left)">
                                      <p:cBhvr>
                                        <p:cTn id="34" dur="500"/>
                                        <p:tgtEl>
                                          <p:spTgt spid="3">
                                            <p:txEl>
                                              <p:pRg st="6" end="6"/>
                                            </p:txEl>
                                          </p:spTgt>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left)">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2" name="Rectangle 2"/>
          <p:cNvSpPr>
            <a:spLocks noGrp="1" noChangeArrowheads="1"/>
          </p:cNvSpPr>
          <p:nvPr>
            <p:ph type="title"/>
          </p:nvPr>
        </p:nvSpPr>
        <p:spPr/>
        <p:txBody>
          <a:bodyPr>
            <a:normAutofit/>
          </a:bodyPr>
          <a:lstStyle/>
          <a:p>
            <a:pPr algn="ctr" eaLnBrk="1" hangingPunct="1"/>
            <a:r>
              <a:rPr lang="en-US" dirty="0"/>
              <a:t>A Competitive Firm’s Short Run Supply Curve</a:t>
            </a:r>
          </a:p>
        </p:txBody>
      </p:sp>
      <p:sp>
        <p:nvSpPr>
          <p:cNvPr id="110595" name="Rectangle 3"/>
          <p:cNvSpPr>
            <a:spLocks noGrp="1" noChangeArrowheads="1"/>
          </p:cNvSpPr>
          <p:nvPr>
            <p:ph idx="1"/>
          </p:nvPr>
        </p:nvSpPr>
        <p:spPr>
          <a:xfrm>
            <a:off x="304800" y="5257799"/>
            <a:ext cx="8686800" cy="1143001"/>
          </a:xfrm>
          <a:noFill/>
          <a:effectLst/>
        </p:spPr>
        <p:txBody>
          <a:bodyPr/>
          <a:lstStyle/>
          <a:p>
            <a:pPr marL="0" indent="0" eaLnBrk="1" hangingPunct="1">
              <a:buFont typeface="Wingdings" pitchFamily="2" charset="2"/>
              <a:buNone/>
            </a:pPr>
            <a:r>
              <a:rPr lang="en-US" sz="2800" dirty="0">
                <a:solidFill>
                  <a:srgbClr val="4E519E"/>
                </a:solidFill>
              </a:rPr>
              <a:t>The firm’s short run supply curve is the portion of its </a:t>
            </a:r>
            <a:r>
              <a:rPr lang="en-US" sz="2800" b="1" i="1" dirty="0">
                <a:solidFill>
                  <a:srgbClr val="4E519E"/>
                </a:solidFill>
              </a:rPr>
              <a:t>MC</a:t>
            </a:r>
            <a:r>
              <a:rPr lang="en-US" sz="2800" dirty="0">
                <a:solidFill>
                  <a:srgbClr val="4E519E"/>
                </a:solidFill>
              </a:rPr>
              <a:t> curve above </a:t>
            </a:r>
            <a:r>
              <a:rPr lang="en-US" sz="2800" b="1" i="1" dirty="0">
                <a:solidFill>
                  <a:srgbClr val="4E519E"/>
                </a:solidFill>
              </a:rPr>
              <a:t>AVC</a:t>
            </a:r>
            <a:r>
              <a:rPr lang="en-US" sz="2800" dirty="0">
                <a:solidFill>
                  <a:srgbClr val="4E519E"/>
                </a:solidFill>
              </a:rPr>
              <a:t>.</a:t>
            </a:r>
          </a:p>
        </p:txBody>
      </p:sp>
      <p:sp>
        <p:nvSpPr>
          <p:cNvPr id="10" name="Slide Number Placeholder 9"/>
          <p:cNvSpPr>
            <a:spLocks noGrp="1"/>
          </p:cNvSpPr>
          <p:nvPr>
            <p:ph type="sldNum" sz="quarter" idx="10"/>
          </p:nvPr>
        </p:nvSpPr>
        <p:spPr/>
        <p:txBody>
          <a:bodyPr/>
          <a:lstStyle/>
          <a:p>
            <a:pPr>
              <a:defRPr/>
            </a:pPr>
            <a:fld id="{2F37425F-5E17-4209-B948-B5CE2119E408}" type="slidenum">
              <a:rPr lang="en-US" smtClean="0"/>
              <a:pPr>
                <a:defRPr/>
              </a:pPr>
              <a:t>12</a:t>
            </a:fld>
            <a:endParaRPr lang="en-US" dirty="0"/>
          </a:p>
        </p:txBody>
      </p:sp>
      <p:grpSp>
        <p:nvGrpSpPr>
          <p:cNvPr id="2" name="Group 21"/>
          <p:cNvGrpSpPr>
            <a:grpSpLocks/>
          </p:cNvGrpSpPr>
          <p:nvPr/>
        </p:nvGrpSpPr>
        <p:grpSpPr bwMode="auto">
          <a:xfrm>
            <a:off x="3898900" y="806450"/>
            <a:ext cx="4864100" cy="4146550"/>
            <a:chOff x="2335" y="1070"/>
            <a:chExt cx="3064" cy="2612"/>
          </a:xfrm>
        </p:grpSpPr>
        <p:grpSp>
          <p:nvGrpSpPr>
            <p:cNvPr id="3" name="Group 22"/>
            <p:cNvGrpSpPr>
              <a:grpSpLocks/>
            </p:cNvGrpSpPr>
            <p:nvPr/>
          </p:nvGrpSpPr>
          <p:grpSpPr bwMode="auto">
            <a:xfrm>
              <a:off x="2730" y="1335"/>
              <a:ext cx="2357" cy="2206"/>
              <a:chOff x="1489" y="785"/>
              <a:chExt cx="3650" cy="2492"/>
            </a:xfrm>
          </p:grpSpPr>
          <p:sp>
            <p:nvSpPr>
              <p:cNvPr id="19485" name="Line 23"/>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9486" name="Line 24"/>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9483" name="Text Box 25"/>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19484" name="Text Box 26"/>
            <p:cNvSpPr txBox="1">
              <a:spLocks noChangeArrowheads="1"/>
            </p:cNvSpPr>
            <p:nvPr/>
          </p:nvSpPr>
          <p:spPr bwMode="auto">
            <a:xfrm>
              <a:off x="2335" y="1070"/>
              <a:ext cx="692" cy="298"/>
            </a:xfrm>
            <a:prstGeom prst="rect">
              <a:avLst/>
            </a:prstGeom>
            <a:noFill/>
            <a:ln w="9525">
              <a:noFill/>
              <a:miter lim="800000"/>
              <a:headEnd/>
              <a:tailEnd/>
            </a:ln>
          </p:spPr>
          <p:txBody>
            <a:bodyPr>
              <a:spAutoFit/>
            </a:bodyPr>
            <a:lstStyle/>
            <a:p>
              <a:pPr algn="r">
                <a:spcBef>
                  <a:spcPct val="50000"/>
                </a:spcBef>
              </a:pPr>
              <a:r>
                <a:rPr lang="en-US" sz="2500">
                  <a:latin typeface="Arial"/>
                  <a:cs typeface="Arial"/>
                </a:rPr>
                <a:t>Costs</a:t>
              </a:r>
            </a:p>
          </p:txBody>
        </p:sp>
      </p:grpSp>
      <p:grpSp>
        <p:nvGrpSpPr>
          <p:cNvPr id="4" name="Group 27"/>
          <p:cNvGrpSpPr>
            <a:grpSpLocks/>
          </p:cNvGrpSpPr>
          <p:nvPr/>
        </p:nvGrpSpPr>
        <p:grpSpPr bwMode="auto">
          <a:xfrm>
            <a:off x="5330825" y="1395413"/>
            <a:ext cx="2676525" cy="3181350"/>
            <a:chOff x="3237" y="1336"/>
            <a:chExt cx="1686" cy="2004"/>
          </a:xfrm>
        </p:grpSpPr>
        <p:sp>
          <p:nvSpPr>
            <p:cNvPr id="19480" name="Line 9"/>
            <p:cNvSpPr>
              <a:spLocks noChangeShapeType="1"/>
            </p:cNvSpPr>
            <p:nvPr/>
          </p:nvSpPr>
          <p:spPr bwMode="auto">
            <a:xfrm flipV="1">
              <a:off x="3237" y="1568"/>
              <a:ext cx="1346" cy="1772"/>
            </a:xfrm>
            <a:prstGeom prst="line">
              <a:avLst/>
            </a:prstGeom>
            <a:noFill/>
            <a:ln w="38100">
              <a:solidFill>
                <a:srgbClr val="333399"/>
              </a:solidFill>
              <a:round/>
              <a:headEnd/>
              <a:tailEnd/>
            </a:ln>
          </p:spPr>
          <p:txBody>
            <a:bodyPr/>
            <a:lstStyle/>
            <a:p>
              <a:endParaRPr lang="en-US">
                <a:latin typeface="Arial"/>
                <a:cs typeface="Arial"/>
              </a:endParaRPr>
            </a:p>
          </p:txBody>
        </p:sp>
        <p:sp>
          <p:nvSpPr>
            <p:cNvPr id="19481" name="Text Box 14"/>
            <p:cNvSpPr txBox="1">
              <a:spLocks noChangeArrowheads="1"/>
            </p:cNvSpPr>
            <p:nvPr/>
          </p:nvSpPr>
          <p:spPr bwMode="auto">
            <a:xfrm>
              <a:off x="4540" y="1336"/>
              <a:ext cx="38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MC</a:t>
              </a:r>
            </a:p>
          </p:txBody>
        </p:sp>
      </p:grpSp>
      <p:grpSp>
        <p:nvGrpSpPr>
          <p:cNvPr id="5" name="Group 28"/>
          <p:cNvGrpSpPr>
            <a:grpSpLocks/>
          </p:cNvGrpSpPr>
          <p:nvPr/>
        </p:nvGrpSpPr>
        <p:grpSpPr bwMode="auto">
          <a:xfrm>
            <a:off x="4835525" y="1808163"/>
            <a:ext cx="3851275" cy="1516062"/>
            <a:chOff x="2925" y="1596"/>
            <a:chExt cx="2426" cy="955"/>
          </a:xfrm>
        </p:grpSpPr>
        <p:sp>
          <p:nvSpPr>
            <p:cNvPr id="19478" name="Arc 10"/>
            <p:cNvSpPr>
              <a:spLocks/>
            </p:cNvSpPr>
            <p:nvPr/>
          </p:nvSpPr>
          <p:spPr bwMode="auto">
            <a:xfrm flipH="1" flipV="1">
              <a:off x="2925" y="159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19479" name="Text Box 15"/>
            <p:cNvSpPr txBox="1">
              <a:spLocks noChangeArrowheads="1"/>
            </p:cNvSpPr>
            <p:nvPr/>
          </p:nvSpPr>
          <p:spPr bwMode="auto">
            <a:xfrm>
              <a:off x="4886" y="1964"/>
              <a:ext cx="465"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ATC</a:t>
              </a:r>
            </a:p>
          </p:txBody>
        </p:sp>
      </p:grpSp>
      <p:grpSp>
        <p:nvGrpSpPr>
          <p:cNvPr id="6" name="Group 29"/>
          <p:cNvGrpSpPr>
            <a:grpSpLocks/>
          </p:cNvGrpSpPr>
          <p:nvPr/>
        </p:nvGrpSpPr>
        <p:grpSpPr bwMode="auto">
          <a:xfrm>
            <a:off x="4702175" y="1135063"/>
            <a:ext cx="3965575" cy="2787650"/>
            <a:chOff x="2841" y="1172"/>
            <a:chExt cx="2498" cy="1756"/>
          </a:xfrm>
        </p:grpSpPr>
        <p:sp>
          <p:nvSpPr>
            <p:cNvPr id="19476" name="Arc 11"/>
            <p:cNvSpPr>
              <a:spLocks/>
            </p:cNvSpPr>
            <p:nvPr/>
          </p:nvSpPr>
          <p:spPr bwMode="auto">
            <a:xfrm rot="-239273" flipH="1" flipV="1">
              <a:off x="2841" y="1172"/>
              <a:ext cx="1921" cy="1756"/>
            </a:xfrm>
            <a:custGeom>
              <a:avLst/>
              <a:gdLst>
                <a:gd name="T0" fmla="*/ 0 w 20862"/>
                <a:gd name="T1" fmla="*/ 0 h 21600"/>
                <a:gd name="T2" fmla="*/ 0 w 20862"/>
                <a:gd name="T3" fmla="*/ 0 h 21600"/>
                <a:gd name="T4" fmla="*/ 0 w 20862"/>
                <a:gd name="T5" fmla="*/ 0 h 21600"/>
                <a:gd name="T6" fmla="*/ 0 60000 65536"/>
                <a:gd name="T7" fmla="*/ 0 60000 65536"/>
                <a:gd name="T8" fmla="*/ 0 60000 65536"/>
                <a:gd name="T9" fmla="*/ 0 w 20862"/>
                <a:gd name="T10" fmla="*/ 0 h 21600"/>
                <a:gd name="T11" fmla="*/ 20862 w 20862"/>
                <a:gd name="T12" fmla="*/ 21600 h 21600"/>
              </a:gdLst>
              <a:ahLst/>
              <a:cxnLst>
                <a:cxn ang="T6">
                  <a:pos x="T0" y="T1"/>
                </a:cxn>
                <a:cxn ang="T7">
                  <a:pos x="T2" y="T3"/>
                </a:cxn>
                <a:cxn ang="T8">
                  <a:pos x="T4" y="T5"/>
                </a:cxn>
              </a:cxnLst>
              <a:rect l="T9" t="T10" r="T11" b="T12"/>
              <a:pathLst>
                <a:path w="20862" h="21600" fill="none" extrusionOk="0">
                  <a:moveTo>
                    <a:pt x="-1" y="3663"/>
                  </a:moveTo>
                  <a:cubicBezTo>
                    <a:pt x="3559" y="1275"/>
                    <a:pt x="7748" y="-1"/>
                    <a:pt x="12035" y="0"/>
                  </a:cubicBezTo>
                  <a:cubicBezTo>
                    <a:pt x="15077" y="0"/>
                    <a:pt x="18085" y="642"/>
                    <a:pt x="20862" y="1885"/>
                  </a:cubicBezTo>
                </a:path>
                <a:path w="20862" h="21600" stroke="0" extrusionOk="0">
                  <a:moveTo>
                    <a:pt x="-1" y="3663"/>
                  </a:moveTo>
                  <a:cubicBezTo>
                    <a:pt x="3559" y="1275"/>
                    <a:pt x="7748" y="-1"/>
                    <a:pt x="12035" y="0"/>
                  </a:cubicBezTo>
                  <a:cubicBezTo>
                    <a:pt x="15077" y="0"/>
                    <a:pt x="18085" y="642"/>
                    <a:pt x="20862" y="1885"/>
                  </a:cubicBezTo>
                  <a:lnTo>
                    <a:pt x="12035"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19477" name="Text Box 16"/>
            <p:cNvSpPr txBox="1">
              <a:spLocks noChangeArrowheads="1"/>
            </p:cNvSpPr>
            <p:nvPr/>
          </p:nvSpPr>
          <p:spPr bwMode="auto">
            <a:xfrm>
              <a:off x="4844" y="2356"/>
              <a:ext cx="495"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AVC</a:t>
              </a:r>
            </a:p>
          </p:txBody>
        </p:sp>
      </p:grpSp>
      <p:sp>
        <p:nvSpPr>
          <p:cNvPr id="110609" name="Line 17"/>
          <p:cNvSpPr>
            <a:spLocks noChangeShapeType="1"/>
          </p:cNvSpPr>
          <p:nvPr/>
        </p:nvSpPr>
        <p:spPr bwMode="auto">
          <a:xfrm flipV="1">
            <a:off x="5843587" y="1785938"/>
            <a:ext cx="1636713" cy="2155825"/>
          </a:xfrm>
          <a:prstGeom prst="line">
            <a:avLst/>
          </a:prstGeom>
          <a:noFill/>
          <a:ln w="57150">
            <a:solidFill>
              <a:srgbClr val="C00000"/>
            </a:solidFill>
            <a:round/>
            <a:headEnd/>
            <a:tailEnd/>
          </a:ln>
        </p:spPr>
        <p:txBody>
          <a:bodyPr/>
          <a:lstStyle/>
          <a:p>
            <a:endParaRPr lang="en-US">
              <a:latin typeface="Arial"/>
              <a:cs typeface="Arial"/>
            </a:endParaRPr>
          </a:p>
        </p:txBody>
      </p:sp>
      <p:sp>
        <p:nvSpPr>
          <p:cNvPr id="110610" name="Line 18"/>
          <p:cNvSpPr>
            <a:spLocks noChangeShapeType="1"/>
          </p:cNvSpPr>
          <p:nvPr/>
        </p:nvSpPr>
        <p:spPr bwMode="auto">
          <a:xfrm flipH="1">
            <a:off x="4530725" y="3946525"/>
            <a:ext cx="1328737" cy="0"/>
          </a:xfrm>
          <a:prstGeom prst="line">
            <a:avLst/>
          </a:prstGeom>
          <a:noFill/>
          <a:ln w="44450">
            <a:solidFill>
              <a:srgbClr val="FFCCCC"/>
            </a:solidFill>
            <a:round/>
            <a:headEnd/>
            <a:tailEnd/>
          </a:ln>
        </p:spPr>
        <p:txBody>
          <a:bodyPr/>
          <a:lstStyle/>
          <a:p>
            <a:endParaRPr lang="en-US">
              <a:latin typeface="Arial"/>
              <a:cs typeface="Arial"/>
            </a:endParaRPr>
          </a:p>
        </p:txBody>
      </p:sp>
      <p:sp>
        <p:nvSpPr>
          <p:cNvPr id="110611" name="Line 19"/>
          <p:cNvSpPr>
            <a:spLocks noChangeShapeType="1"/>
          </p:cNvSpPr>
          <p:nvPr/>
        </p:nvSpPr>
        <p:spPr bwMode="auto">
          <a:xfrm flipV="1">
            <a:off x="4535487" y="3941763"/>
            <a:ext cx="4763" cy="785812"/>
          </a:xfrm>
          <a:prstGeom prst="line">
            <a:avLst/>
          </a:prstGeom>
          <a:noFill/>
          <a:ln w="57150">
            <a:solidFill>
              <a:srgbClr val="C00000"/>
            </a:solidFill>
            <a:round/>
            <a:headEnd/>
            <a:tailEnd/>
          </a:ln>
        </p:spPr>
        <p:txBody>
          <a:bodyPr/>
          <a:lstStyle/>
          <a:p>
            <a:endParaRPr lang="en-US">
              <a:latin typeface="Arial"/>
              <a:cs typeface="Arial"/>
            </a:endParaRPr>
          </a:p>
        </p:txBody>
      </p:sp>
      <p:grpSp>
        <p:nvGrpSpPr>
          <p:cNvPr id="7" name="Group 34"/>
          <p:cNvGrpSpPr>
            <a:grpSpLocks/>
          </p:cNvGrpSpPr>
          <p:nvPr/>
        </p:nvGrpSpPr>
        <p:grpSpPr bwMode="auto">
          <a:xfrm>
            <a:off x="304800" y="1212850"/>
            <a:ext cx="4140201" cy="2647950"/>
            <a:chOff x="71" y="1354"/>
            <a:chExt cx="2608" cy="1683"/>
          </a:xfrm>
        </p:grpSpPr>
        <p:sp>
          <p:nvSpPr>
            <p:cNvPr id="19474" name="AutoShape 20"/>
            <p:cNvSpPr>
              <a:spLocks/>
            </p:cNvSpPr>
            <p:nvPr/>
          </p:nvSpPr>
          <p:spPr bwMode="auto">
            <a:xfrm>
              <a:off x="2456" y="1354"/>
              <a:ext cx="223" cy="1683"/>
            </a:xfrm>
            <a:prstGeom prst="leftBrace">
              <a:avLst>
                <a:gd name="adj1" fmla="val 62892"/>
                <a:gd name="adj2" fmla="val 50000"/>
              </a:avLst>
            </a:prstGeom>
            <a:noFill/>
            <a:ln w="19050">
              <a:solidFill>
                <a:srgbClr val="990033"/>
              </a:solidFill>
              <a:round/>
              <a:headEnd/>
              <a:tailEnd/>
            </a:ln>
          </p:spPr>
          <p:txBody>
            <a:bodyPr wrap="none" anchor="ctr"/>
            <a:lstStyle/>
            <a:p>
              <a:endParaRPr lang="en-US">
                <a:latin typeface="Arial"/>
                <a:cs typeface="Arial"/>
              </a:endParaRPr>
            </a:p>
          </p:txBody>
        </p:sp>
        <p:sp>
          <p:nvSpPr>
            <p:cNvPr id="19475" name="Text Box 32"/>
            <p:cNvSpPr txBox="1">
              <a:spLocks noChangeArrowheads="1"/>
            </p:cNvSpPr>
            <p:nvPr/>
          </p:nvSpPr>
          <p:spPr bwMode="auto">
            <a:xfrm>
              <a:off x="71" y="1696"/>
              <a:ext cx="2323" cy="921"/>
            </a:xfrm>
            <a:prstGeom prst="rect">
              <a:avLst/>
            </a:prstGeom>
            <a:noFill/>
            <a:ln w="9525">
              <a:noFill/>
              <a:miter lim="800000"/>
              <a:headEnd/>
              <a:tailEnd/>
            </a:ln>
          </p:spPr>
          <p:txBody>
            <a:bodyPr wrap="square">
              <a:spAutoFit/>
            </a:bodyPr>
            <a:lstStyle/>
            <a:p>
              <a:pPr>
                <a:lnSpc>
                  <a:spcPct val="105000"/>
                </a:lnSpc>
                <a:spcBef>
                  <a:spcPct val="50000"/>
                </a:spcBef>
              </a:pPr>
              <a:r>
                <a:rPr lang="en-US" sz="2800" dirty="0">
                  <a:latin typeface="Arial"/>
                  <a:cs typeface="Arial"/>
                </a:rPr>
                <a:t>If </a:t>
              </a:r>
              <a:r>
                <a:rPr lang="en-US" sz="2800" b="1" i="1" dirty="0">
                  <a:latin typeface="Arial"/>
                  <a:cs typeface="Arial"/>
                </a:rPr>
                <a:t>P</a:t>
              </a:r>
              <a:r>
                <a:rPr lang="en-US" sz="2800" dirty="0">
                  <a:latin typeface="Arial"/>
                  <a:cs typeface="Arial"/>
                </a:rPr>
                <a:t> &gt; </a:t>
              </a:r>
              <a:r>
                <a:rPr lang="en-US" sz="2800" b="1" i="1" dirty="0">
                  <a:latin typeface="Arial"/>
                  <a:cs typeface="Arial"/>
                </a:rPr>
                <a:t>AVC</a:t>
              </a:r>
              <a:r>
                <a:rPr lang="en-US" sz="2800" dirty="0">
                  <a:latin typeface="Arial"/>
                  <a:cs typeface="Arial"/>
                </a:rPr>
                <a:t>, then the firm produces </a:t>
              </a:r>
              <a:r>
                <a:rPr lang="en-US" sz="2800" b="1" i="1" dirty="0">
                  <a:latin typeface="Arial"/>
                  <a:cs typeface="Arial"/>
                </a:rPr>
                <a:t>Q</a:t>
              </a:r>
              <a:r>
                <a:rPr lang="en-US" sz="2800" dirty="0">
                  <a:latin typeface="Arial"/>
                  <a:cs typeface="Arial"/>
                </a:rPr>
                <a:t> where </a:t>
              </a:r>
              <a:r>
                <a:rPr lang="en-US" sz="2800" b="1" i="1" dirty="0">
                  <a:latin typeface="Arial"/>
                  <a:cs typeface="Arial"/>
                </a:rPr>
                <a:t>P</a:t>
              </a:r>
              <a:r>
                <a:rPr lang="en-US" sz="2800" dirty="0">
                  <a:latin typeface="Arial"/>
                  <a:cs typeface="Arial"/>
                </a:rPr>
                <a:t> = </a:t>
              </a:r>
              <a:r>
                <a:rPr lang="en-US" sz="2800" b="1" i="1" dirty="0">
                  <a:latin typeface="Arial"/>
                  <a:cs typeface="Arial"/>
                </a:rPr>
                <a:t>MC</a:t>
              </a:r>
              <a:r>
                <a:rPr lang="en-US" sz="2800" dirty="0">
                  <a:latin typeface="Arial"/>
                  <a:cs typeface="Arial"/>
                </a:rPr>
                <a:t>.</a:t>
              </a:r>
            </a:p>
          </p:txBody>
        </p:sp>
      </p:grpSp>
      <p:grpSp>
        <p:nvGrpSpPr>
          <p:cNvPr id="8" name="Group 35"/>
          <p:cNvGrpSpPr>
            <a:grpSpLocks/>
          </p:cNvGrpSpPr>
          <p:nvPr/>
        </p:nvGrpSpPr>
        <p:grpSpPr bwMode="auto">
          <a:xfrm>
            <a:off x="304800" y="3579814"/>
            <a:ext cx="4148139" cy="1449388"/>
            <a:chOff x="71" y="2845"/>
            <a:chExt cx="2613" cy="913"/>
          </a:xfrm>
        </p:grpSpPr>
        <p:sp>
          <p:nvSpPr>
            <p:cNvPr id="19472" name="AutoShape 30"/>
            <p:cNvSpPr>
              <a:spLocks/>
            </p:cNvSpPr>
            <p:nvPr/>
          </p:nvSpPr>
          <p:spPr bwMode="auto">
            <a:xfrm>
              <a:off x="2461" y="3060"/>
              <a:ext cx="223" cy="479"/>
            </a:xfrm>
            <a:prstGeom prst="leftBrace">
              <a:avLst>
                <a:gd name="adj1" fmla="val 28252"/>
                <a:gd name="adj2" fmla="val 50000"/>
              </a:avLst>
            </a:prstGeom>
            <a:noFill/>
            <a:ln w="19050">
              <a:solidFill>
                <a:srgbClr val="990033"/>
              </a:solidFill>
              <a:round/>
              <a:headEnd/>
              <a:tailEnd/>
            </a:ln>
          </p:spPr>
          <p:txBody>
            <a:bodyPr wrap="none" anchor="ctr"/>
            <a:lstStyle/>
            <a:p>
              <a:endParaRPr lang="en-US">
                <a:latin typeface="Arial"/>
                <a:cs typeface="Arial"/>
              </a:endParaRPr>
            </a:p>
          </p:txBody>
        </p:sp>
        <p:sp>
          <p:nvSpPr>
            <p:cNvPr id="19473" name="Text Box 33"/>
            <p:cNvSpPr txBox="1">
              <a:spLocks noChangeArrowheads="1"/>
            </p:cNvSpPr>
            <p:nvPr/>
          </p:nvSpPr>
          <p:spPr bwMode="auto">
            <a:xfrm>
              <a:off x="71" y="2845"/>
              <a:ext cx="2323" cy="913"/>
            </a:xfrm>
            <a:prstGeom prst="rect">
              <a:avLst/>
            </a:prstGeom>
            <a:noFill/>
            <a:ln w="9525">
              <a:noFill/>
              <a:miter lim="800000"/>
              <a:headEnd/>
              <a:tailEnd/>
            </a:ln>
          </p:spPr>
          <p:txBody>
            <a:bodyPr wrap="square">
              <a:spAutoFit/>
            </a:bodyPr>
            <a:lstStyle/>
            <a:p>
              <a:pPr>
                <a:lnSpc>
                  <a:spcPct val="105000"/>
                </a:lnSpc>
                <a:spcBef>
                  <a:spcPct val="50000"/>
                </a:spcBef>
              </a:pPr>
              <a:r>
                <a:rPr lang="en-US" sz="2800" dirty="0">
                  <a:latin typeface="Arial"/>
                  <a:cs typeface="Arial"/>
                </a:rPr>
                <a:t>If </a:t>
              </a:r>
              <a:r>
                <a:rPr lang="en-US" sz="2800" b="1" i="1" dirty="0">
                  <a:latin typeface="Arial"/>
                  <a:cs typeface="Arial"/>
                </a:rPr>
                <a:t>P</a:t>
              </a:r>
              <a:r>
                <a:rPr lang="en-US" sz="2800" dirty="0">
                  <a:latin typeface="Arial"/>
                  <a:cs typeface="Arial"/>
                </a:rPr>
                <a:t> &lt; </a:t>
              </a:r>
              <a:r>
                <a:rPr lang="en-US" sz="2800" b="1" i="1" dirty="0">
                  <a:latin typeface="Arial"/>
                  <a:cs typeface="Arial"/>
                </a:rPr>
                <a:t>AVC</a:t>
              </a:r>
              <a:r>
                <a:rPr lang="en-US" sz="2800" dirty="0">
                  <a:latin typeface="Arial"/>
                  <a:cs typeface="Arial"/>
                </a:rPr>
                <a:t>, then firm shuts down (produces </a:t>
              </a:r>
              <a:r>
                <a:rPr lang="en-US" sz="2800" b="1" i="1" dirty="0">
                  <a:latin typeface="Arial"/>
                  <a:cs typeface="Arial"/>
                </a:rPr>
                <a:t>Q</a:t>
              </a:r>
              <a:r>
                <a:rPr lang="en-US" sz="2800" dirty="0">
                  <a:latin typeface="Arial"/>
                  <a:cs typeface="Arial"/>
                </a:rPr>
                <a:t> = 0).</a:t>
              </a:r>
            </a:p>
          </p:txBody>
        </p:sp>
      </p:grpSp>
      <p:sp>
        <p:nvSpPr>
          <p:cNvPr id="19471"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9" name="Footer Placeholder 8">
            <a:extLst>
              <a:ext uri="{FF2B5EF4-FFF2-40B4-BE49-F238E27FC236}">
                <a16:creationId xmlns:a16="http://schemas.microsoft.com/office/drawing/2014/main" id="{AAF47447-B6F4-502E-8DB9-65A7B1B45FCA}"/>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32660561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110609"/>
                                        </p:tgtEl>
                                        <p:attrNameLst>
                                          <p:attrName>style.visibility</p:attrName>
                                        </p:attrNameLst>
                                      </p:cBhvr>
                                      <p:to>
                                        <p:strVal val="visible"/>
                                      </p:to>
                                    </p:set>
                                    <p:animEffect transition="in" filter="strips(downLeft)">
                                      <p:cBhvr>
                                        <p:cTn id="11" dur="500"/>
                                        <p:tgtEl>
                                          <p:spTgt spid="11060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7"/>
                                        </p:tgtEl>
                                      </p:cBhvr>
                                    </p:animEffect>
                                    <p:set>
                                      <p:cBhvr>
                                        <p:cTn id="16" dur="1" fill="hold">
                                          <p:stCondLst>
                                            <p:cond delay="499"/>
                                          </p:stCondLst>
                                        </p:cTn>
                                        <p:tgtEl>
                                          <p:spTgt spid="7"/>
                                        </p:tgtEl>
                                        <p:attrNameLst>
                                          <p:attrName>style.visibility</p:attrName>
                                        </p:attrNameLst>
                                      </p:cBhvr>
                                      <p:to>
                                        <p:strVal val="hidden"/>
                                      </p:to>
                                    </p:se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110610"/>
                                        </p:tgtEl>
                                        <p:attrNameLst>
                                          <p:attrName>style.visibility</p:attrName>
                                        </p:attrNameLst>
                                      </p:cBhvr>
                                      <p:to>
                                        <p:strVal val="visible"/>
                                      </p:to>
                                    </p:set>
                                    <p:animEffect transition="in" filter="wipe(right)">
                                      <p:cBhvr>
                                        <p:cTn id="23" dur="500"/>
                                        <p:tgtEl>
                                          <p:spTgt spid="110610"/>
                                        </p:tgtEl>
                                      </p:cBhvr>
                                    </p:animEffect>
                                  </p:childTnLst>
                                </p:cTn>
                              </p:par>
                            </p:childTnLst>
                          </p:cTn>
                        </p:par>
                        <p:par>
                          <p:cTn id="24" fill="hold">
                            <p:stCondLst>
                              <p:cond delay="1000"/>
                            </p:stCondLst>
                            <p:childTnLst>
                              <p:par>
                                <p:cTn id="25" presetID="22" presetClass="entr" presetSubtype="1" fill="hold" grpId="0" nodeType="afterEffect">
                                  <p:stCondLst>
                                    <p:cond delay="0"/>
                                  </p:stCondLst>
                                  <p:childTnLst>
                                    <p:set>
                                      <p:cBhvr>
                                        <p:cTn id="26" dur="1" fill="hold">
                                          <p:stCondLst>
                                            <p:cond delay="0"/>
                                          </p:stCondLst>
                                        </p:cTn>
                                        <p:tgtEl>
                                          <p:spTgt spid="110611"/>
                                        </p:tgtEl>
                                        <p:attrNameLst>
                                          <p:attrName>style.visibility</p:attrName>
                                        </p:attrNameLst>
                                      </p:cBhvr>
                                      <p:to>
                                        <p:strVal val="visible"/>
                                      </p:to>
                                    </p:set>
                                    <p:animEffect transition="in" filter="wipe(up)">
                                      <p:cBhvr>
                                        <p:cTn id="27" dur="500"/>
                                        <p:tgtEl>
                                          <p:spTgt spid="1106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10595">
                                            <p:txEl>
                                              <p:pRg st="0" end="0"/>
                                            </p:txEl>
                                          </p:spTgt>
                                        </p:tgtEl>
                                        <p:attrNameLst>
                                          <p:attrName>style.visibility</p:attrName>
                                        </p:attrNameLst>
                                      </p:cBhvr>
                                      <p:to>
                                        <p:strVal val="visible"/>
                                      </p:to>
                                    </p:set>
                                    <p:animEffect transition="in" filter="wipe(left)">
                                      <p:cBhvr>
                                        <p:cTn id="36" dur="500"/>
                                        <p:tgtEl>
                                          <p:spTgt spid="1105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uiExpand="1" build="p"/>
      <p:bldP spid="110609" grpId="0" animBg="1"/>
      <p:bldP spid="110610" grpId="0" animBg="1"/>
      <p:bldP spid="1106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wrap="square"/>
          <a:lstStyle/>
          <a:p>
            <a:r>
              <a:rPr lang="en-US" altLang="en-US" dirty="0"/>
              <a:t>Sunk Costs</a:t>
            </a:r>
          </a:p>
        </p:txBody>
      </p:sp>
      <p:sp>
        <p:nvSpPr>
          <p:cNvPr id="23555" name="Content Placeholder 2"/>
          <p:cNvSpPr>
            <a:spLocks noGrp="1"/>
          </p:cNvSpPr>
          <p:nvPr>
            <p:ph idx="1"/>
          </p:nvPr>
        </p:nvSpPr>
        <p:spPr>
          <a:prstGeom prst="rect">
            <a:avLst/>
          </a:prstGeom>
        </p:spPr>
        <p:txBody>
          <a:bodyPr/>
          <a:lstStyle/>
          <a:p>
            <a:r>
              <a:rPr lang="en-US" altLang="en-US" dirty="0"/>
              <a:t>Sunk cost</a:t>
            </a:r>
          </a:p>
          <a:p>
            <a:pPr lvl="1"/>
            <a:r>
              <a:rPr lang="en-US" altLang="en-US" dirty="0"/>
              <a:t>A cost that has already been committed and cannot be recovered</a:t>
            </a:r>
          </a:p>
          <a:p>
            <a:pPr lvl="1"/>
            <a:r>
              <a:rPr lang="en-US" altLang="en-US" dirty="0"/>
              <a:t>Should be ignored when making decisions</a:t>
            </a:r>
          </a:p>
          <a:p>
            <a:pPr lvl="1"/>
            <a:r>
              <a:rPr lang="en-US" altLang="en-US" dirty="0"/>
              <a:t>You must pay them regardless of your choice</a:t>
            </a:r>
          </a:p>
          <a:p>
            <a:pPr lvl="1"/>
            <a:r>
              <a:rPr lang="en-US" altLang="en-US" dirty="0">
                <a:solidFill>
                  <a:srgbClr val="4E519E"/>
                </a:solidFill>
              </a:rPr>
              <a:t>In the short run, </a:t>
            </a:r>
            <a:r>
              <a:rPr lang="en-US" altLang="en-US" b="1" i="1" dirty="0">
                <a:solidFill>
                  <a:srgbClr val="4E519E"/>
                </a:solidFill>
              </a:rPr>
              <a:t>FC</a:t>
            </a:r>
            <a:r>
              <a:rPr lang="en-US" altLang="en-US" dirty="0">
                <a:solidFill>
                  <a:srgbClr val="4E519E"/>
                </a:solidFill>
              </a:rPr>
              <a:t> are sunk costs </a:t>
            </a:r>
          </a:p>
          <a:p>
            <a:pPr lvl="2"/>
            <a:r>
              <a:rPr lang="en-US" altLang="en-US" dirty="0"/>
              <a:t>So, </a:t>
            </a:r>
            <a:r>
              <a:rPr lang="en-US" altLang="en-US" b="1" i="1" dirty="0"/>
              <a:t>FC</a:t>
            </a:r>
            <a:r>
              <a:rPr lang="en-US" altLang="en-US" dirty="0"/>
              <a:t> should not matter in the decision to shut down</a:t>
            </a:r>
          </a:p>
          <a:p>
            <a:pPr lvl="1"/>
            <a:endParaRPr lang="en-US" altLang="en-US" dirty="0"/>
          </a:p>
        </p:txBody>
      </p:sp>
      <p:sp>
        <p:nvSpPr>
          <p:cNvPr id="23557"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7E7EA0E3-5ED6-4AB9-9A37-B9431E78EE54}" type="slidenum">
              <a:rPr lang="en-US" altLang="en-US" sz="1200" smtClean="0">
                <a:solidFill>
                  <a:srgbClr val="002060"/>
                </a:solidFill>
              </a:rPr>
              <a:pPr eaLnBrk="1" hangingPunct="1"/>
              <a:t>13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60D19949-4BED-44B9-BAA3-2BAC1B3A3645}"/>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93094471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1: </a:t>
            </a:r>
            <a:r>
              <a:rPr lang="en-US" dirty="0">
                <a:solidFill>
                  <a:schemeClr val="tx1"/>
                </a:solidFill>
              </a:rPr>
              <a:t>Your favorite concert</a:t>
            </a:r>
          </a:p>
        </p:txBody>
      </p:sp>
      <p:sp>
        <p:nvSpPr>
          <p:cNvPr id="3" name="Content Placeholder 2"/>
          <p:cNvSpPr>
            <a:spLocks noGrp="1"/>
          </p:cNvSpPr>
          <p:nvPr>
            <p:ph idx="1"/>
          </p:nvPr>
        </p:nvSpPr>
        <p:spPr>
          <a:xfrm>
            <a:off x="347241" y="914400"/>
            <a:ext cx="8518947" cy="4648199"/>
          </a:xfrm>
        </p:spPr>
        <p:txBody>
          <a:bodyPr>
            <a:normAutofit/>
          </a:bodyPr>
          <a:lstStyle/>
          <a:p>
            <a:pPr marL="0" indent="0">
              <a:buNone/>
            </a:pPr>
            <a:r>
              <a:rPr lang="en-US" dirty="0">
                <a:solidFill>
                  <a:srgbClr val="4E519E"/>
                </a:solidFill>
              </a:rPr>
              <a:t>While attending a concert, you paid $55 for a hoodie of your favorite artist. But you bought it 2 sizes too small. </a:t>
            </a:r>
          </a:p>
          <a:p>
            <a:r>
              <a:rPr lang="en-US" dirty="0">
                <a:solidFill>
                  <a:srgbClr val="4E519E"/>
                </a:solidFill>
              </a:rPr>
              <a:t>You decide to sell your hoodie to your cousin who lives in a different town. </a:t>
            </a:r>
          </a:p>
          <a:p>
            <a:r>
              <a:rPr lang="en-US" dirty="0">
                <a:solidFill>
                  <a:srgbClr val="4E519E"/>
                </a:solidFill>
              </a:rPr>
              <a:t>You’ll have to pay $15 for delivery by mail. </a:t>
            </a:r>
          </a:p>
          <a:p>
            <a:r>
              <a:rPr lang="en-US" dirty="0"/>
              <a:t>What is the lowest price you should ask for the hoodie?</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14</a:t>
            </a:fld>
            <a:endParaRPr lang="en-US"/>
          </a:p>
        </p:txBody>
      </p:sp>
      <p:sp>
        <p:nvSpPr>
          <p:cNvPr id="6" name="Content Placeholder 5"/>
          <p:cNvSpPr>
            <a:spLocks noGrp="1"/>
          </p:cNvSpPr>
          <p:nvPr>
            <p:ph idx="12"/>
          </p:nvPr>
        </p:nvSpPr>
        <p:spPr>
          <a:xfrm>
            <a:off x="381000" y="5410200"/>
            <a:ext cx="8518947" cy="914400"/>
          </a:xfrm>
        </p:spPr>
        <p:txBody>
          <a:bodyPr>
            <a:normAutofit/>
          </a:bodyPr>
          <a:lstStyle/>
          <a:p>
            <a:pPr marL="0" indent="0" algn="ctr">
              <a:buNone/>
            </a:pPr>
            <a:r>
              <a:rPr lang="en-US" sz="2800" dirty="0">
                <a:solidFill>
                  <a:srgbClr val="C00000"/>
                </a:solidFill>
              </a:rPr>
              <a:t>$15 (new cost) because the $55 is a sunk cost</a:t>
            </a:r>
          </a:p>
        </p:txBody>
      </p:sp>
      <p:sp>
        <p:nvSpPr>
          <p:cNvPr id="5" name="Footer Placeholder 4">
            <a:extLst>
              <a:ext uri="{FF2B5EF4-FFF2-40B4-BE49-F238E27FC236}">
                <a16:creationId xmlns:a16="http://schemas.microsoft.com/office/drawing/2014/main" id="{3E6F27C2-5A4F-2E47-A741-8C3100534D3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63342783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wrap="square"/>
          <a:lstStyle/>
          <a:p>
            <a:r>
              <a:rPr lang="en-US" altLang="en-US" dirty="0"/>
              <a:t>A Firm’s Long-Run Decision</a:t>
            </a:r>
          </a:p>
        </p:txBody>
      </p:sp>
      <p:sp>
        <p:nvSpPr>
          <p:cNvPr id="26627" name="Content Placeholder 2"/>
          <p:cNvSpPr>
            <a:spLocks noGrp="1"/>
          </p:cNvSpPr>
          <p:nvPr>
            <p:ph idx="1"/>
          </p:nvPr>
        </p:nvSpPr>
        <p:spPr>
          <a:prstGeom prst="rect">
            <a:avLst/>
          </a:prstGeom>
        </p:spPr>
        <p:txBody>
          <a:bodyPr/>
          <a:lstStyle/>
          <a:p>
            <a:r>
              <a:rPr lang="en-US" altLang="en-US" dirty="0"/>
              <a:t>Should a firm exit or enter in the long run?</a:t>
            </a:r>
          </a:p>
          <a:p>
            <a:pPr lvl="1">
              <a:buFont typeface="Arial" panose="020B0604020202020204" pitchFamily="34" charset="0"/>
              <a:buChar char="•"/>
            </a:pPr>
            <a:r>
              <a:rPr lang="en-US" altLang="en-US" sz="3000" dirty="0"/>
              <a:t>Cost of exiting market = revenue loss = </a:t>
            </a:r>
            <a:r>
              <a:rPr lang="en-US" altLang="en-US" sz="3000" b="1" i="1" dirty="0"/>
              <a:t>TR</a:t>
            </a:r>
          </a:p>
          <a:p>
            <a:pPr lvl="1">
              <a:buFont typeface="Arial" panose="020B0604020202020204" pitchFamily="34" charset="0"/>
              <a:buChar char="•"/>
            </a:pPr>
            <a:r>
              <a:rPr lang="en-US" altLang="en-US" sz="3000" dirty="0"/>
              <a:t>Benefit of exiting market = cost savings = </a:t>
            </a:r>
            <a:r>
              <a:rPr lang="en-US" altLang="en-US" sz="3000" b="1" i="1" dirty="0"/>
              <a:t>TC</a:t>
            </a:r>
            <a:r>
              <a:rPr lang="en-US" altLang="en-US" sz="3000" dirty="0"/>
              <a:t> (remember, </a:t>
            </a:r>
            <a:r>
              <a:rPr lang="en-US" altLang="en-US" sz="3000" b="1" i="1" dirty="0"/>
              <a:t>FC</a:t>
            </a:r>
            <a:r>
              <a:rPr lang="en-US" altLang="en-US" sz="3000" dirty="0"/>
              <a:t> = 0 in long run)</a:t>
            </a:r>
          </a:p>
          <a:p>
            <a:r>
              <a:rPr lang="en-US" altLang="en-US" dirty="0"/>
              <a:t>Firm’s long-run decision</a:t>
            </a:r>
          </a:p>
          <a:p>
            <a:pPr lvl="1"/>
            <a:r>
              <a:rPr lang="en-US" altLang="en-US" sz="3000" u="sng" dirty="0">
                <a:solidFill>
                  <a:srgbClr val="C00000"/>
                </a:solidFill>
              </a:rPr>
              <a:t>Exit</a:t>
            </a:r>
            <a:r>
              <a:rPr lang="en-US" altLang="en-US" sz="3000" dirty="0">
                <a:solidFill>
                  <a:srgbClr val="C00000"/>
                </a:solidFill>
              </a:rPr>
              <a:t> </a:t>
            </a:r>
            <a:r>
              <a:rPr lang="en-US" altLang="en-US" sz="3000" dirty="0"/>
              <a:t>the market if: </a:t>
            </a:r>
            <a:r>
              <a:rPr lang="en-US" altLang="en-US" sz="3000" b="1" i="1" dirty="0">
                <a:solidFill>
                  <a:srgbClr val="C00000"/>
                </a:solidFill>
              </a:rPr>
              <a:t>TR</a:t>
            </a:r>
            <a:r>
              <a:rPr lang="en-US" altLang="en-US" sz="3000" dirty="0">
                <a:solidFill>
                  <a:srgbClr val="C00000"/>
                </a:solidFill>
              </a:rPr>
              <a:t> &lt; </a:t>
            </a:r>
            <a:r>
              <a:rPr lang="en-US" altLang="en-US" sz="3000" b="1" i="1" dirty="0">
                <a:solidFill>
                  <a:srgbClr val="C00000"/>
                </a:solidFill>
              </a:rPr>
              <a:t>TC</a:t>
            </a:r>
            <a:r>
              <a:rPr lang="en-US" altLang="en-US" sz="3000" dirty="0">
                <a:solidFill>
                  <a:srgbClr val="C00000"/>
                </a:solidFill>
              </a:rPr>
              <a:t> </a:t>
            </a:r>
          </a:p>
          <a:p>
            <a:pPr marL="457200" lvl="1" indent="0">
              <a:buNone/>
            </a:pPr>
            <a:r>
              <a:rPr lang="en-US" altLang="en-US" sz="3000" dirty="0"/>
              <a:t>		   (same as: </a:t>
            </a:r>
            <a:r>
              <a:rPr lang="en-US" altLang="en-US" sz="3000" b="1" i="1" dirty="0">
                <a:solidFill>
                  <a:srgbClr val="C00000"/>
                </a:solidFill>
              </a:rPr>
              <a:t>P</a:t>
            </a:r>
            <a:r>
              <a:rPr lang="en-US" altLang="en-US" sz="3000" dirty="0">
                <a:solidFill>
                  <a:srgbClr val="C00000"/>
                </a:solidFill>
              </a:rPr>
              <a:t> &lt; </a:t>
            </a:r>
            <a:r>
              <a:rPr lang="en-US" altLang="en-US" sz="3000" b="1" i="1" dirty="0">
                <a:solidFill>
                  <a:srgbClr val="C00000"/>
                </a:solidFill>
              </a:rPr>
              <a:t>ATC</a:t>
            </a:r>
            <a:r>
              <a:rPr lang="en-US" altLang="en-US" sz="3000" dirty="0"/>
              <a:t>)</a:t>
            </a:r>
          </a:p>
          <a:p>
            <a:pPr lvl="1"/>
            <a:r>
              <a:rPr lang="en-US" altLang="en-US" sz="3000" u="sng" dirty="0">
                <a:solidFill>
                  <a:srgbClr val="4E519E"/>
                </a:solidFill>
              </a:rPr>
              <a:t>Enter</a:t>
            </a:r>
            <a:r>
              <a:rPr lang="en-US" altLang="en-US" sz="3000" dirty="0">
                <a:solidFill>
                  <a:srgbClr val="002060"/>
                </a:solidFill>
              </a:rPr>
              <a:t> </a:t>
            </a:r>
            <a:r>
              <a:rPr lang="en-US" altLang="en-US" sz="3000" dirty="0"/>
              <a:t>the market if: </a:t>
            </a:r>
            <a:r>
              <a:rPr lang="en-US" altLang="en-US" sz="3000" b="1" i="1" dirty="0">
                <a:solidFill>
                  <a:srgbClr val="4E519E"/>
                </a:solidFill>
              </a:rPr>
              <a:t>TR</a:t>
            </a:r>
            <a:r>
              <a:rPr lang="en-US" altLang="en-US" sz="3000" dirty="0">
                <a:solidFill>
                  <a:srgbClr val="4E519E"/>
                </a:solidFill>
              </a:rPr>
              <a:t> &gt; </a:t>
            </a:r>
            <a:r>
              <a:rPr lang="en-US" altLang="en-US" sz="3000" b="1" i="1" dirty="0">
                <a:solidFill>
                  <a:srgbClr val="4E519E"/>
                </a:solidFill>
              </a:rPr>
              <a:t>TC</a:t>
            </a:r>
            <a:r>
              <a:rPr lang="en-US" altLang="en-US" sz="3000" dirty="0">
                <a:solidFill>
                  <a:srgbClr val="4E519E"/>
                </a:solidFill>
              </a:rPr>
              <a:t> </a:t>
            </a:r>
          </a:p>
          <a:p>
            <a:pPr marL="457200" lvl="1" indent="0">
              <a:buNone/>
            </a:pPr>
            <a:r>
              <a:rPr lang="en-US" altLang="en-US" sz="3000" dirty="0"/>
              <a:t>		     (same as: </a:t>
            </a:r>
            <a:r>
              <a:rPr lang="en-US" altLang="en-US" sz="3000" b="1" i="1" dirty="0">
                <a:solidFill>
                  <a:srgbClr val="4E519E"/>
                </a:solidFill>
              </a:rPr>
              <a:t>P</a:t>
            </a:r>
            <a:r>
              <a:rPr lang="en-US" altLang="en-US" sz="3000" dirty="0">
                <a:solidFill>
                  <a:srgbClr val="4E519E"/>
                </a:solidFill>
              </a:rPr>
              <a:t> &gt; </a:t>
            </a:r>
            <a:r>
              <a:rPr lang="en-US" altLang="en-US" sz="3000" b="1" i="1" dirty="0">
                <a:solidFill>
                  <a:srgbClr val="4E519E"/>
                </a:solidFill>
              </a:rPr>
              <a:t>ATC</a:t>
            </a:r>
            <a:r>
              <a:rPr lang="en-US" altLang="en-US" sz="3000" dirty="0"/>
              <a:t>)</a:t>
            </a:r>
          </a:p>
        </p:txBody>
      </p:sp>
      <p:sp>
        <p:nvSpPr>
          <p:cNvPr id="2662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F36344CA-F0E6-45D8-BD45-A2BB600DE31A}" type="slidenum">
              <a:rPr lang="en-US" altLang="en-US" sz="1200" smtClean="0">
                <a:solidFill>
                  <a:srgbClr val="002060"/>
                </a:solidFill>
              </a:rPr>
              <a:pPr eaLnBrk="1" hangingPunct="1"/>
              <a:t>15</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99D0678C-8B13-96C7-9E36-F572D795E77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3688974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wipe(left)">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wipe(left)">
                                      <p:cBhvr>
                                        <p:cTn id="12" dur="500"/>
                                        <p:tgtEl>
                                          <p:spTgt spid="266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Effect transition="in" filter="wipe(left)">
                                      <p:cBhvr>
                                        <p:cTn id="17" dur="500"/>
                                        <p:tgtEl>
                                          <p:spTgt spid="266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627">
                                            <p:txEl>
                                              <p:pRg st="3" end="3"/>
                                            </p:txEl>
                                          </p:spTgt>
                                        </p:tgtEl>
                                        <p:attrNameLst>
                                          <p:attrName>style.visibility</p:attrName>
                                        </p:attrNameLst>
                                      </p:cBhvr>
                                      <p:to>
                                        <p:strVal val="visible"/>
                                      </p:to>
                                    </p:set>
                                    <p:animEffect transition="in" filter="wipe(left)">
                                      <p:cBhvr>
                                        <p:cTn id="22" dur="500"/>
                                        <p:tgtEl>
                                          <p:spTgt spid="266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Effect transition="in" filter="wipe(left)">
                                      <p:cBhvr>
                                        <p:cTn id="27" dur="500"/>
                                        <p:tgtEl>
                                          <p:spTgt spid="26627">
                                            <p:txEl>
                                              <p:pRg st="4" end="4"/>
                                            </p:txEl>
                                          </p:spTgt>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26627">
                                            <p:txEl>
                                              <p:pRg st="5" end="5"/>
                                            </p:txEl>
                                          </p:spTgt>
                                        </p:tgtEl>
                                        <p:attrNameLst>
                                          <p:attrName>style.visibility</p:attrName>
                                        </p:attrNameLst>
                                      </p:cBhvr>
                                      <p:to>
                                        <p:strVal val="visible"/>
                                      </p:to>
                                    </p:set>
                                    <p:animEffect transition="in" filter="wipe(left)">
                                      <p:cBhvr>
                                        <p:cTn id="31" dur="500"/>
                                        <p:tgtEl>
                                          <p:spTgt spid="26627">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6627">
                                            <p:txEl>
                                              <p:pRg st="6" end="6"/>
                                            </p:txEl>
                                          </p:spTgt>
                                        </p:tgtEl>
                                        <p:attrNameLst>
                                          <p:attrName>style.visibility</p:attrName>
                                        </p:attrNameLst>
                                      </p:cBhvr>
                                      <p:to>
                                        <p:strVal val="visible"/>
                                      </p:to>
                                    </p:set>
                                    <p:animEffect transition="in" filter="wipe(left)">
                                      <p:cBhvr>
                                        <p:cTn id="36" dur="500"/>
                                        <p:tgtEl>
                                          <p:spTgt spid="26627">
                                            <p:txEl>
                                              <p:pRg st="6" end="6"/>
                                            </p:txEl>
                                          </p:spTgt>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26627">
                                            <p:txEl>
                                              <p:pRg st="7" end="7"/>
                                            </p:txEl>
                                          </p:spTgt>
                                        </p:tgtEl>
                                        <p:attrNameLst>
                                          <p:attrName>style.visibility</p:attrName>
                                        </p:attrNameLst>
                                      </p:cBhvr>
                                      <p:to>
                                        <p:strVal val="visible"/>
                                      </p:to>
                                    </p:set>
                                    <p:animEffect transition="in" filter="wipe(left)">
                                      <p:cBhvr>
                                        <p:cTn id="40" dur="500"/>
                                        <p:tgtEl>
                                          <p:spTgt spid="266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8" name="Rectangle 9"/>
          <p:cNvSpPr>
            <a:spLocks noGrp="1" noChangeArrowheads="1"/>
          </p:cNvSpPr>
          <p:nvPr>
            <p:ph type="title"/>
          </p:nvPr>
        </p:nvSpPr>
        <p:spPr/>
        <p:txBody>
          <a:bodyPr>
            <a:normAutofit/>
          </a:bodyPr>
          <a:lstStyle/>
          <a:p>
            <a:pPr algn="ctr" eaLnBrk="1" hangingPunct="1"/>
            <a:r>
              <a:rPr lang="en-US" dirty="0"/>
              <a:t>The Competitive Firm’s Long Run Supply Curve</a:t>
            </a:r>
          </a:p>
        </p:txBody>
      </p:sp>
      <p:sp>
        <p:nvSpPr>
          <p:cNvPr id="118786" name="Rectangle 2"/>
          <p:cNvSpPr>
            <a:spLocks noGrp="1" noChangeArrowheads="1"/>
          </p:cNvSpPr>
          <p:nvPr>
            <p:ph idx="1"/>
          </p:nvPr>
        </p:nvSpPr>
        <p:spPr>
          <a:xfrm>
            <a:off x="533400" y="5105400"/>
            <a:ext cx="8491959" cy="1190625"/>
          </a:xfrm>
          <a:noFill/>
          <a:effectLst/>
        </p:spPr>
        <p:txBody>
          <a:bodyPr/>
          <a:lstStyle/>
          <a:p>
            <a:pPr marL="0" indent="0" eaLnBrk="1" hangingPunct="1">
              <a:buFont typeface="Wingdings" pitchFamily="2" charset="2"/>
              <a:buNone/>
            </a:pPr>
            <a:r>
              <a:rPr lang="en-US" sz="2800" dirty="0">
                <a:solidFill>
                  <a:srgbClr val="4E519E"/>
                </a:solidFill>
              </a:rPr>
              <a:t>The firm’s LR supply curve is the portion of its </a:t>
            </a:r>
            <a:r>
              <a:rPr lang="en-US" sz="2800" b="1" i="1" dirty="0">
                <a:solidFill>
                  <a:srgbClr val="4E519E"/>
                </a:solidFill>
              </a:rPr>
              <a:t>MC</a:t>
            </a:r>
            <a:r>
              <a:rPr lang="en-US" sz="2800" dirty="0">
                <a:solidFill>
                  <a:srgbClr val="4E519E"/>
                </a:solidFill>
              </a:rPr>
              <a:t> curve above </a:t>
            </a:r>
            <a:r>
              <a:rPr lang="en-US" sz="2800" b="1" i="1" dirty="0">
                <a:solidFill>
                  <a:srgbClr val="4E519E"/>
                </a:solidFill>
              </a:rPr>
              <a:t>ATC</a:t>
            </a:r>
            <a:r>
              <a:rPr lang="en-US" sz="2800" dirty="0">
                <a:solidFill>
                  <a:srgbClr val="4E519E"/>
                </a:solidFill>
              </a:rPr>
              <a:t>.</a:t>
            </a:r>
          </a:p>
        </p:txBody>
      </p:sp>
      <p:sp>
        <p:nvSpPr>
          <p:cNvPr id="7" name="Slide Number Placeholder 6"/>
          <p:cNvSpPr>
            <a:spLocks noGrp="1"/>
          </p:cNvSpPr>
          <p:nvPr>
            <p:ph type="sldNum" sz="quarter" idx="10"/>
          </p:nvPr>
        </p:nvSpPr>
        <p:spPr/>
        <p:txBody>
          <a:bodyPr/>
          <a:lstStyle/>
          <a:p>
            <a:pPr>
              <a:defRPr/>
            </a:pPr>
            <a:fld id="{2F37425F-5E17-4209-B948-B5CE2119E408}" type="slidenum">
              <a:rPr lang="en-US" smtClean="0"/>
              <a:pPr>
                <a:defRPr/>
              </a:pPr>
              <a:t>16</a:t>
            </a:fld>
            <a:endParaRPr lang="en-US" dirty="0"/>
          </a:p>
        </p:txBody>
      </p:sp>
      <p:grpSp>
        <p:nvGrpSpPr>
          <p:cNvPr id="2" name="Group 3"/>
          <p:cNvGrpSpPr>
            <a:grpSpLocks/>
          </p:cNvGrpSpPr>
          <p:nvPr/>
        </p:nvGrpSpPr>
        <p:grpSpPr bwMode="auto">
          <a:xfrm>
            <a:off x="4191000" y="958850"/>
            <a:ext cx="4864100" cy="4146550"/>
            <a:chOff x="2335" y="1070"/>
            <a:chExt cx="3064" cy="2612"/>
          </a:xfrm>
        </p:grpSpPr>
        <p:grpSp>
          <p:nvGrpSpPr>
            <p:cNvPr id="3" name="Group 4"/>
            <p:cNvGrpSpPr>
              <a:grpSpLocks/>
            </p:cNvGrpSpPr>
            <p:nvPr/>
          </p:nvGrpSpPr>
          <p:grpSpPr bwMode="auto">
            <a:xfrm>
              <a:off x="2730" y="1335"/>
              <a:ext cx="2357" cy="2206"/>
              <a:chOff x="1489" y="785"/>
              <a:chExt cx="3650" cy="2492"/>
            </a:xfrm>
          </p:grpSpPr>
          <p:sp>
            <p:nvSpPr>
              <p:cNvPr id="23572" name="Line 5"/>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23573" name="Line 6"/>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23570" name="Text Box 7"/>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23571" name="Text Box 8"/>
            <p:cNvSpPr txBox="1">
              <a:spLocks noChangeArrowheads="1"/>
            </p:cNvSpPr>
            <p:nvPr/>
          </p:nvSpPr>
          <p:spPr bwMode="auto">
            <a:xfrm>
              <a:off x="2335" y="1070"/>
              <a:ext cx="692" cy="298"/>
            </a:xfrm>
            <a:prstGeom prst="rect">
              <a:avLst/>
            </a:prstGeom>
            <a:noFill/>
            <a:ln w="9525">
              <a:noFill/>
              <a:miter lim="800000"/>
              <a:headEnd/>
              <a:tailEnd/>
            </a:ln>
          </p:spPr>
          <p:txBody>
            <a:bodyPr>
              <a:spAutoFit/>
            </a:bodyPr>
            <a:lstStyle/>
            <a:p>
              <a:pPr algn="r">
                <a:spcBef>
                  <a:spcPct val="50000"/>
                </a:spcBef>
              </a:pPr>
              <a:r>
                <a:rPr lang="en-US" sz="2500">
                  <a:latin typeface="Arial"/>
                  <a:cs typeface="Arial"/>
                </a:rPr>
                <a:t>Costs</a:t>
              </a:r>
            </a:p>
          </p:txBody>
        </p:sp>
      </p:grpSp>
      <p:grpSp>
        <p:nvGrpSpPr>
          <p:cNvPr id="4" name="Group 10"/>
          <p:cNvGrpSpPr>
            <a:grpSpLocks/>
          </p:cNvGrpSpPr>
          <p:nvPr/>
        </p:nvGrpSpPr>
        <p:grpSpPr bwMode="auto">
          <a:xfrm>
            <a:off x="5600700" y="1547813"/>
            <a:ext cx="2676525" cy="3181350"/>
            <a:chOff x="3237" y="1336"/>
            <a:chExt cx="1686" cy="2004"/>
          </a:xfrm>
        </p:grpSpPr>
        <p:sp>
          <p:nvSpPr>
            <p:cNvPr id="23567" name="Line 11"/>
            <p:cNvSpPr>
              <a:spLocks noChangeShapeType="1"/>
            </p:cNvSpPr>
            <p:nvPr/>
          </p:nvSpPr>
          <p:spPr bwMode="auto">
            <a:xfrm flipV="1">
              <a:off x="3237" y="1568"/>
              <a:ext cx="1346" cy="1772"/>
            </a:xfrm>
            <a:prstGeom prst="line">
              <a:avLst/>
            </a:prstGeom>
            <a:noFill/>
            <a:ln w="38100">
              <a:solidFill>
                <a:srgbClr val="333399"/>
              </a:solidFill>
              <a:round/>
              <a:headEnd/>
              <a:tailEnd/>
            </a:ln>
          </p:spPr>
          <p:txBody>
            <a:bodyPr/>
            <a:lstStyle/>
            <a:p>
              <a:endParaRPr lang="en-US">
                <a:latin typeface="Arial"/>
                <a:cs typeface="Arial"/>
              </a:endParaRPr>
            </a:p>
          </p:txBody>
        </p:sp>
        <p:sp>
          <p:nvSpPr>
            <p:cNvPr id="23568" name="Text Box 12"/>
            <p:cNvSpPr txBox="1">
              <a:spLocks noChangeArrowheads="1"/>
            </p:cNvSpPr>
            <p:nvPr/>
          </p:nvSpPr>
          <p:spPr bwMode="auto">
            <a:xfrm>
              <a:off x="4540" y="1336"/>
              <a:ext cx="38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MC</a:t>
              </a:r>
            </a:p>
          </p:txBody>
        </p:sp>
      </p:grpSp>
      <p:sp>
        <p:nvSpPr>
          <p:cNvPr id="23560" name="Arc 14"/>
          <p:cNvSpPr>
            <a:spLocks/>
          </p:cNvSpPr>
          <p:nvPr/>
        </p:nvSpPr>
        <p:spPr bwMode="auto">
          <a:xfrm flipH="1" flipV="1">
            <a:off x="5105400" y="1960563"/>
            <a:ext cx="3062287" cy="1516062"/>
          </a:xfrm>
          <a:custGeom>
            <a:avLst/>
            <a:gdLst>
              <a:gd name="T0" fmla="*/ 0 w 32505"/>
              <a:gd name="T1" fmla="*/ 2147483647 h 21600"/>
              <a:gd name="T2" fmla="*/ 2147483647 w 32505"/>
              <a:gd name="T3" fmla="*/ 2147483647 h 21600"/>
              <a:gd name="T4" fmla="*/ 2147483647 w 32505"/>
              <a:gd name="T5" fmla="*/ 2147483647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23561" name="Text Box 15"/>
          <p:cNvSpPr txBox="1">
            <a:spLocks noChangeArrowheads="1"/>
          </p:cNvSpPr>
          <p:nvPr/>
        </p:nvSpPr>
        <p:spPr bwMode="auto">
          <a:xfrm>
            <a:off x="8053387" y="2525713"/>
            <a:ext cx="1143000" cy="381000"/>
          </a:xfrm>
          <a:prstGeom prst="rect">
            <a:avLst/>
          </a:prstGeom>
          <a:noFill/>
          <a:ln w="9525">
            <a:noFill/>
            <a:miter lim="800000"/>
            <a:headEnd/>
            <a:tailEnd/>
          </a:ln>
        </p:spPr>
        <p:txBody>
          <a:bodyPr lIns="0" tIns="0" rIns="0" bIns="0">
            <a:spAutoFit/>
          </a:bodyPr>
          <a:lstStyle/>
          <a:p>
            <a:pPr>
              <a:spcBef>
                <a:spcPct val="50000"/>
              </a:spcBef>
            </a:pPr>
            <a:r>
              <a:rPr lang="en-US" sz="2500" i="1" dirty="0">
                <a:latin typeface="Arial"/>
                <a:cs typeface="Arial"/>
              </a:rPr>
              <a:t>ATC</a:t>
            </a:r>
          </a:p>
        </p:txBody>
      </p:sp>
      <p:sp>
        <p:nvSpPr>
          <p:cNvPr id="23564" name="Line 19"/>
          <p:cNvSpPr>
            <a:spLocks noChangeShapeType="1"/>
          </p:cNvSpPr>
          <p:nvPr/>
        </p:nvSpPr>
        <p:spPr bwMode="auto">
          <a:xfrm flipV="1">
            <a:off x="6580188" y="1938338"/>
            <a:ext cx="1169988" cy="1541462"/>
          </a:xfrm>
          <a:prstGeom prst="line">
            <a:avLst/>
          </a:prstGeom>
          <a:noFill/>
          <a:ln w="57150">
            <a:solidFill>
              <a:srgbClr val="C00000"/>
            </a:solidFill>
            <a:round/>
            <a:headEnd/>
            <a:tailEnd/>
          </a:ln>
        </p:spPr>
        <p:txBody>
          <a:bodyPr/>
          <a:lstStyle/>
          <a:p>
            <a:endParaRPr lang="en-US">
              <a:latin typeface="Arial"/>
              <a:cs typeface="Arial"/>
            </a:endParaRPr>
          </a:p>
        </p:txBody>
      </p:sp>
      <p:sp>
        <p:nvSpPr>
          <p:cNvPr id="23565" name="Line 20"/>
          <p:cNvSpPr>
            <a:spLocks noChangeShapeType="1"/>
          </p:cNvSpPr>
          <p:nvPr/>
        </p:nvSpPr>
        <p:spPr bwMode="auto">
          <a:xfrm flipH="1">
            <a:off x="4800600" y="3479800"/>
            <a:ext cx="1781175" cy="0"/>
          </a:xfrm>
          <a:prstGeom prst="line">
            <a:avLst/>
          </a:prstGeom>
          <a:noFill/>
          <a:ln w="44450">
            <a:solidFill>
              <a:srgbClr val="FFCCCC"/>
            </a:solidFill>
            <a:round/>
            <a:headEnd/>
            <a:tailEnd/>
          </a:ln>
        </p:spPr>
        <p:txBody>
          <a:bodyPr/>
          <a:lstStyle/>
          <a:p>
            <a:endParaRPr lang="en-US">
              <a:latin typeface="Arial"/>
              <a:cs typeface="Arial"/>
            </a:endParaRPr>
          </a:p>
        </p:txBody>
      </p:sp>
      <p:sp>
        <p:nvSpPr>
          <p:cNvPr id="23566" name="Line 21"/>
          <p:cNvSpPr>
            <a:spLocks noChangeShapeType="1"/>
          </p:cNvSpPr>
          <p:nvPr/>
        </p:nvSpPr>
        <p:spPr bwMode="auto">
          <a:xfrm flipV="1">
            <a:off x="4805363" y="3484563"/>
            <a:ext cx="4763" cy="1395412"/>
          </a:xfrm>
          <a:prstGeom prst="line">
            <a:avLst/>
          </a:prstGeom>
          <a:noFill/>
          <a:ln w="57150">
            <a:solidFill>
              <a:srgbClr val="C00000"/>
            </a:solidFill>
            <a:round/>
            <a:headEnd/>
            <a:tailEnd/>
          </a:ln>
        </p:spPr>
        <p:txBody>
          <a:bodyPr/>
          <a:lstStyle/>
          <a:p>
            <a:endParaRPr lang="en-US">
              <a:latin typeface="Arial"/>
              <a:cs typeface="Arial"/>
            </a:endParaRPr>
          </a:p>
        </p:txBody>
      </p:sp>
      <p:sp>
        <p:nvSpPr>
          <p:cNvPr id="23563"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grpSp>
        <p:nvGrpSpPr>
          <p:cNvPr id="22" name="Group 34"/>
          <p:cNvGrpSpPr>
            <a:grpSpLocks/>
          </p:cNvGrpSpPr>
          <p:nvPr/>
        </p:nvGrpSpPr>
        <p:grpSpPr bwMode="auto">
          <a:xfrm>
            <a:off x="271461" y="1431546"/>
            <a:ext cx="4300539" cy="2045356"/>
            <a:chOff x="71" y="1493"/>
            <a:chExt cx="2709" cy="1300"/>
          </a:xfrm>
        </p:grpSpPr>
        <p:sp>
          <p:nvSpPr>
            <p:cNvPr id="23" name="AutoShape 20"/>
            <p:cNvSpPr>
              <a:spLocks/>
            </p:cNvSpPr>
            <p:nvPr/>
          </p:nvSpPr>
          <p:spPr bwMode="auto">
            <a:xfrm>
              <a:off x="2456" y="1493"/>
              <a:ext cx="324" cy="1300"/>
            </a:xfrm>
            <a:prstGeom prst="leftBrace">
              <a:avLst>
                <a:gd name="adj1" fmla="val 62892"/>
                <a:gd name="adj2" fmla="val 50000"/>
              </a:avLst>
            </a:prstGeom>
            <a:noFill/>
            <a:ln w="19050">
              <a:solidFill>
                <a:srgbClr val="990033"/>
              </a:solidFill>
              <a:round/>
              <a:headEnd/>
              <a:tailEnd/>
            </a:ln>
          </p:spPr>
          <p:txBody>
            <a:bodyPr wrap="none" anchor="ctr"/>
            <a:lstStyle/>
            <a:p>
              <a:endParaRPr lang="en-US">
                <a:latin typeface="Arial"/>
                <a:cs typeface="Arial"/>
              </a:endParaRPr>
            </a:p>
          </p:txBody>
        </p:sp>
        <p:sp>
          <p:nvSpPr>
            <p:cNvPr id="24" name="Text Box 32"/>
            <p:cNvSpPr txBox="1">
              <a:spLocks noChangeArrowheads="1"/>
            </p:cNvSpPr>
            <p:nvPr/>
          </p:nvSpPr>
          <p:spPr bwMode="auto">
            <a:xfrm>
              <a:off x="71" y="1696"/>
              <a:ext cx="2323" cy="921"/>
            </a:xfrm>
            <a:prstGeom prst="rect">
              <a:avLst/>
            </a:prstGeom>
            <a:noFill/>
            <a:ln w="9525">
              <a:noFill/>
              <a:miter lim="800000"/>
              <a:headEnd/>
              <a:tailEnd/>
            </a:ln>
          </p:spPr>
          <p:txBody>
            <a:bodyPr wrap="square">
              <a:spAutoFit/>
            </a:bodyPr>
            <a:lstStyle/>
            <a:p>
              <a:pPr>
                <a:lnSpc>
                  <a:spcPct val="105000"/>
                </a:lnSpc>
                <a:spcBef>
                  <a:spcPct val="50000"/>
                </a:spcBef>
              </a:pPr>
              <a:r>
                <a:rPr lang="en-US" sz="2800" dirty="0">
                  <a:latin typeface="Arial"/>
                  <a:cs typeface="Arial"/>
                </a:rPr>
                <a:t>If </a:t>
              </a:r>
              <a:r>
                <a:rPr lang="en-US" sz="2800" b="1" i="1" dirty="0">
                  <a:latin typeface="Arial"/>
                  <a:cs typeface="Arial"/>
                </a:rPr>
                <a:t>P</a:t>
              </a:r>
              <a:r>
                <a:rPr lang="en-US" sz="2800" dirty="0">
                  <a:latin typeface="Arial"/>
                  <a:cs typeface="Arial"/>
                </a:rPr>
                <a:t> &gt; </a:t>
              </a:r>
              <a:r>
                <a:rPr lang="en-US" sz="2800" b="1" i="1" dirty="0">
                  <a:latin typeface="Arial"/>
                  <a:cs typeface="Arial"/>
                </a:rPr>
                <a:t>ATC</a:t>
              </a:r>
              <a:r>
                <a:rPr lang="en-US" sz="2800" dirty="0">
                  <a:latin typeface="Arial"/>
                  <a:cs typeface="Arial"/>
                </a:rPr>
                <a:t>, then the firm produces </a:t>
              </a:r>
              <a:r>
                <a:rPr lang="en-US" sz="2800" b="1" i="1" dirty="0">
                  <a:latin typeface="Arial"/>
                  <a:cs typeface="Arial"/>
                </a:rPr>
                <a:t>Q</a:t>
              </a:r>
              <a:r>
                <a:rPr lang="en-US" sz="2800" dirty="0">
                  <a:latin typeface="Arial"/>
                  <a:cs typeface="Arial"/>
                </a:rPr>
                <a:t> on the </a:t>
              </a:r>
              <a:r>
                <a:rPr lang="en-US" sz="2800" b="1" i="1" dirty="0">
                  <a:latin typeface="Arial"/>
                  <a:cs typeface="Arial"/>
                </a:rPr>
                <a:t>MC</a:t>
              </a:r>
              <a:r>
                <a:rPr lang="en-US" sz="2800" dirty="0">
                  <a:latin typeface="Arial"/>
                  <a:cs typeface="Arial"/>
                </a:rPr>
                <a:t> curve.</a:t>
              </a:r>
            </a:p>
          </p:txBody>
        </p:sp>
      </p:grpSp>
      <p:grpSp>
        <p:nvGrpSpPr>
          <p:cNvPr id="25" name="Group 35"/>
          <p:cNvGrpSpPr>
            <a:grpSpLocks/>
          </p:cNvGrpSpPr>
          <p:nvPr/>
        </p:nvGrpSpPr>
        <p:grpSpPr bwMode="auto">
          <a:xfrm>
            <a:off x="271461" y="3484562"/>
            <a:ext cx="4300539" cy="1384300"/>
            <a:chOff x="71" y="2785"/>
            <a:chExt cx="2709" cy="872"/>
          </a:xfrm>
        </p:grpSpPr>
        <p:sp>
          <p:nvSpPr>
            <p:cNvPr id="26" name="AutoShape 30"/>
            <p:cNvSpPr>
              <a:spLocks/>
            </p:cNvSpPr>
            <p:nvPr/>
          </p:nvSpPr>
          <p:spPr bwMode="auto">
            <a:xfrm>
              <a:off x="2461" y="2785"/>
              <a:ext cx="319" cy="872"/>
            </a:xfrm>
            <a:prstGeom prst="leftBrace">
              <a:avLst>
                <a:gd name="adj1" fmla="val 28252"/>
                <a:gd name="adj2" fmla="val 50000"/>
              </a:avLst>
            </a:prstGeom>
            <a:noFill/>
            <a:ln w="19050">
              <a:solidFill>
                <a:srgbClr val="990033"/>
              </a:solidFill>
              <a:round/>
              <a:headEnd/>
              <a:tailEnd/>
            </a:ln>
          </p:spPr>
          <p:txBody>
            <a:bodyPr wrap="none" anchor="ctr"/>
            <a:lstStyle/>
            <a:p>
              <a:endParaRPr lang="en-US">
                <a:latin typeface="Arial"/>
                <a:cs typeface="Arial"/>
              </a:endParaRPr>
            </a:p>
          </p:txBody>
        </p:sp>
        <p:sp>
          <p:nvSpPr>
            <p:cNvPr id="27" name="Text Box 33"/>
            <p:cNvSpPr txBox="1">
              <a:spLocks noChangeArrowheads="1"/>
            </p:cNvSpPr>
            <p:nvPr/>
          </p:nvSpPr>
          <p:spPr bwMode="auto">
            <a:xfrm>
              <a:off x="71" y="2845"/>
              <a:ext cx="2323" cy="628"/>
            </a:xfrm>
            <a:prstGeom prst="rect">
              <a:avLst/>
            </a:prstGeom>
            <a:noFill/>
            <a:ln w="9525">
              <a:noFill/>
              <a:miter lim="800000"/>
              <a:headEnd/>
              <a:tailEnd/>
            </a:ln>
          </p:spPr>
          <p:txBody>
            <a:bodyPr wrap="square">
              <a:spAutoFit/>
            </a:bodyPr>
            <a:lstStyle/>
            <a:p>
              <a:pPr>
                <a:lnSpc>
                  <a:spcPct val="105000"/>
                </a:lnSpc>
                <a:spcBef>
                  <a:spcPct val="50000"/>
                </a:spcBef>
              </a:pPr>
              <a:r>
                <a:rPr lang="en-US" sz="2800" dirty="0">
                  <a:latin typeface="Arial"/>
                  <a:cs typeface="Arial"/>
                </a:rPr>
                <a:t>If </a:t>
              </a:r>
              <a:r>
                <a:rPr lang="en-US" sz="2800" b="1" i="1" dirty="0">
                  <a:latin typeface="Arial"/>
                  <a:cs typeface="Arial"/>
                </a:rPr>
                <a:t>P</a:t>
              </a:r>
              <a:r>
                <a:rPr lang="en-US" sz="2800" dirty="0">
                  <a:latin typeface="Arial"/>
                  <a:cs typeface="Arial"/>
                </a:rPr>
                <a:t> &lt; </a:t>
              </a:r>
              <a:r>
                <a:rPr lang="en-US" sz="2800" b="1" i="1" dirty="0">
                  <a:latin typeface="Arial"/>
                  <a:cs typeface="Arial"/>
                </a:rPr>
                <a:t>ATC</a:t>
              </a:r>
              <a:r>
                <a:rPr lang="en-US" sz="2800" dirty="0">
                  <a:latin typeface="Arial"/>
                  <a:cs typeface="Arial"/>
                </a:rPr>
                <a:t>, then firm exits in the long run.</a:t>
              </a:r>
            </a:p>
          </p:txBody>
        </p:sp>
      </p:grpSp>
      <p:sp>
        <p:nvSpPr>
          <p:cNvPr id="5" name="Footer Placeholder 4">
            <a:extLst>
              <a:ext uri="{FF2B5EF4-FFF2-40B4-BE49-F238E27FC236}">
                <a16:creationId xmlns:a16="http://schemas.microsoft.com/office/drawing/2014/main" id="{A6F93200-391B-E837-2619-75863310819A}"/>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36643365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564"/>
                                        </p:tgtEl>
                                        <p:attrNameLst>
                                          <p:attrName>style.visibility</p:attrName>
                                        </p:attrNameLst>
                                      </p:cBhvr>
                                      <p:to>
                                        <p:strVal val="visible"/>
                                      </p:to>
                                    </p:set>
                                    <p:animEffect transition="in" filter="wipe(left)">
                                      <p:cBhvr>
                                        <p:cTn id="11" dur="500"/>
                                        <p:tgtEl>
                                          <p:spTgt spid="2356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22"/>
                                        </p:tgtEl>
                                      </p:cBhvr>
                                    </p:animEffect>
                                    <p:set>
                                      <p:cBhvr>
                                        <p:cTn id="16" dur="1" fill="hold">
                                          <p:stCondLst>
                                            <p:cond delay="499"/>
                                          </p:stCondLst>
                                        </p:cTn>
                                        <p:tgtEl>
                                          <p:spTgt spid="22"/>
                                        </p:tgtEl>
                                        <p:attrNameLst>
                                          <p:attrName>style.visibility</p:attrName>
                                        </p:attrNameLst>
                                      </p:cBhvr>
                                      <p:to>
                                        <p:strVal val="hidden"/>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left)">
                                      <p:cBhvr>
                                        <p:cTn id="20" dur="500"/>
                                        <p:tgtEl>
                                          <p:spTgt spid="25"/>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23566"/>
                                        </p:tgtEl>
                                        <p:attrNameLst>
                                          <p:attrName>style.visibility</p:attrName>
                                        </p:attrNameLst>
                                      </p:cBhvr>
                                      <p:to>
                                        <p:strVal val="visible"/>
                                      </p:to>
                                    </p:set>
                                    <p:animEffect transition="in" filter="wipe(left)">
                                      <p:cBhvr>
                                        <p:cTn id="24" dur="500"/>
                                        <p:tgtEl>
                                          <p:spTgt spid="23566"/>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23565"/>
                                        </p:tgtEl>
                                        <p:attrNameLst>
                                          <p:attrName>style.visibility</p:attrName>
                                        </p:attrNameLst>
                                      </p:cBhvr>
                                      <p:to>
                                        <p:strVal val="visible"/>
                                      </p:to>
                                    </p:set>
                                    <p:animEffect transition="in" filter="wipe(left)">
                                      <p:cBhvr>
                                        <p:cTn id="28" dur="500"/>
                                        <p:tgtEl>
                                          <p:spTgt spid="2356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nodeType="clickEffect">
                                  <p:stCondLst>
                                    <p:cond delay="0"/>
                                  </p:stCondLst>
                                  <p:childTnLst>
                                    <p:animEffect transition="out" filter="fade">
                                      <p:cBhvr>
                                        <p:cTn id="32" dur="500"/>
                                        <p:tgtEl>
                                          <p:spTgt spid="25"/>
                                        </p:tgtEl>
                                      </p:cBhvr>
                                    </p:animEffect>
                                    <p:set>
                                      <p:cBhvr>
                                        <p:cTn id="33" dur="1" fill="hold">
                                          <p:stCondLst>
                                            <p:cond delay="499"/>
                                          </p:stCondLst>
                                        </p:cTn>
                                        <p:tgtEl>
                                          <p:spTgt spid="25"/>
                                        </p:tgtEl>
                                        <p:attrNameLst>
                                          <p:attrName>style.visibility</p:attrName>
                                        </p:attrNameLst>
                                      </p:cBhvr>
                                      <p:to>
                                        <p:strVal val="hidden"/>
                                      </p:to>
                                    </p:se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118786"/>
                                        </p:tgtEl>
                                        <p:attrNameLst>
                                          <p:attrName>style.visibility</p:attrName>
                                        </p:attrNameLst>
                                      </p:cBhvr>
                                      <p:to>
                                        <p:strVal val="visible"/>
                                      </p:to>
                                    </p:set>
                                    <p:animEffect transition="in" filter="fade">
                                      <p:cBhvr>
                                        <p:cTn id="37" dur="500"/>
                                        <p:tgtEl>
                                          <p:spTgt spid="118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p:bldP spid="23564" grpId="0" animBg="1"/>
      <p:bldP spid="23565" grpId="0" animBg="1"/>
      <p:bldP spid="2356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bwMode="auto">
          <a:xfrm>
            <a:off x="4525963" y="2728122"/>
            <a:ext cx="2606677" cy="2531336"/>
          </a:xfrm>
          <a:prstGeom prst="rect">
            <a:avLst/>
          </a:prstGeom>
          <a:pattFill prst="wdUpDiag">
            <a:fgClr>
              <a:srgbClr val="8DCD47"/>
            </a:fgClr>
            <a:bgClr>
              <a:schemeClr val="bg1"/>
            </a:bgClr>
          </a:patt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39" name="Rectangle 38"/>
          <p:cNvSpPr/>
          <p:nvPr/>
        </p:nvSpPr>
        <p:spPr bwMode="auto">
          <a:xfrm>
            <a:off x="4525169" y="3713961"/>
            <a:ext cx="2606677" cy="1545497"/>
          </a:xfrm>
          <a:prstGeom prst="rect">
            <a:avLst/>
          </a:prstGeom>
          <a:pattFill prst="wdDnDiag">
            <a:fgClr>
              <a:schemeClr val="accent6">
                <a:lumMod val="40000"/>
                <a:lumOff val="60000"/>
              </a:schemeClr>
            </a:fgClr>
            <a:bgClr>
              <a:schemeClr val="bg1"/>
            </a:bgClr>
          </a:patt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2" name="Title 1"/>
          <p:cNvSpPr>
            <a:spLocks noGrp="1"/>
          </p:cNvSpPr>
          <p:nvPr>
            <p:ph type="title"/>
          </p:nvPr>
        </p:nvSpPr>
        <p:spPr/>
        <p:txBody>
          <a:bodyPr/>
          <a:lstStyle/>
          <a:p>
            <a:r>
              <a:rPr lang="en-US" dirty="0">
                <a:solidFill>
                  <a:srgbClr val="AE1221"/>
                </a:solidFill>
              </a:rPr>
              <a:t>EXAMPLE 3: </a:t>
            </a:r>
            <a:r>
              <a:rPr lang="en-US" dirty="0">
                <a:solidFill>
                  <a:schemeClr val="tx1"/>
                </a:solidFill>
              </a:rPr>
              <a:t>Amari’s Profit: the graph</a:t>
            </a:r>
          </a:p>
        </p:txBody>
      </p:sp>
      <p:sp>
        <p:nvSpPr>
          <p:cNvPr id="3" name="Slide Number Placeholder 2"/>
          <p:cNvSpPr>
            <a:spLocks noGrp="1"/>
          </p:cNvSpPr>
          <p:nvPr>
            <p:ph type="sldNum" sz="quarter" idx="10"/>
          </p:nvPr>
        </p:nvSpPr>
        <p:spPr/>
        <p:txBody>
          <a:bodyPr/>
          <a:lstStyle/>
          <a:p>
            <a:pPr>
              <a:defRPr/>
            </a:pPr>
            <a:fld id="{073C29DC-2178-4274-9150-45F8EBD31C2D}" type="slidenum">
              <a:rPr lang="en-US" smtClean="0"/>
              <a:pPr>
                <a:defRPr/>
              </a:pPr>
              <a:t>17</a:t>
            </a:fld>
            <a:endParaRPr lang="en-US"/>
          </a:p>
        </p:txBody>
      </p:sp>
      <p:sp>
        <p:nvSpPr>
          <p:cNvPr id="5" name="Content Placeholder 4"/>
          <p:cNvSpPr>
            <a:spLocks noGrp="1"/>
          </p:cNvSpPr>
          <p:nvPr>
            <p:ph idx="12"/>
          </p:nvPr>
        </p:nvSpPr>
        <p:spPr>
          <a:xfrm>
            <a:off x="152400" y="914400"/>
            <a:ext cx="3886200" cy="5410202"/>
          </a:xfrm>
        </p:spPr>
        <p:txBody>
          <a:bodyPr>
            <a:normAutofit/>
          </a:bodyPr>
          <a:lstStyle/>
          <a:p>
            <a:pPr marL="0" indent="0">
              <a:buNone/>
            </a:pPr>
            <a:r>
              <a:rPr lang="en-US" sz="2800" dirty="0"/>
              <a:t>Profit = </a:t>
            </a:r>
            <a:r>
              <a:rPr lang="en-US" sz="2800" b="1" i="1" dirty="0"/>
              <a:t>TR</a:t>
            </a:r>
            <a:r>
              <a:rPr lang="en-US" sz="2800" dirty="0"/>
              <a:t> – </a:t>
            </a:r>
            <a:r>
              <a:rPr lang="en-US" sz="2800" b="1" i="1" dirty="0"/>
              <a:t>TC</a:t>
            </a:r>
          </a:p>
          <a:p>
            <a:pPr marL="0" indent="0">
              <a:buNone/>
            </a:pPr>
            <a:endParaRPr lang="en-US" sz="2800" dirty="0"/>
          </a:p>
          <a:p>
            <a:pPr marL="0" indent="0">
              <a:buNone/>
            </a:pPr>
            <a:r>
              <a:rPr lang="en-US" sz="2800" dirty="0">
                <a:solidFill>
                  <a:srgbClr val="C00000"/>
                </a:solidFill>
              </a:rPr>
              <a:t>Profit = (</a:t>
            </a:r>
            <a:r>
              <a:rPr lang="en-US" sz="2800" b="1" i="1" dirty="0">
                <a:solidFill>
                  <a:srgbClr val="C00000"/>
                </a:solidFill>
              </a:rPr>
              <a:t>P</a:t>
            </a:r>
            <a:r>
              <a:rPr lang="en-US" sz="2800" dirty="0">
                <a:solidFill>
                  <a:srgbClr val="C00000"/>
                </a:solidFill>
              </a:rPr>
              <a:t> – </a:t>
            </a:r>
            <a:r>
              <a:rPr lang="en-US" sz="2800" b="1" i="1" dirty="0">
                <a:solidFill>
                  <a:srgbClr val="C00000"/>
                </a:solidFill>
              </a:rPr>
              <a:t>ATC</a:t>
            </a:r>
            <a:r>
              <a:rPr lang="en-US" sz="2800" dirty="0">
                <a:solidFill>
                  <a:srgbClr val="C00000"/>
                </a:solidFill>
              </a:rPr>
              <a:t>) × </a:t>
            </a:r>
            <a:r>
              <a:rPr lang="en-US" sz="2800" b="1" i="1" dirty="0">
                <a:solidFill>
                  <a:srgbClr val="C00000"/>
                </a:solidFill>
              </a:rPr>
              <a:t>Q</a:t>
            </a:r>
          </a:p>
          <a:p>
            <a:pPr marL="0" indent="0">
              <a:buNone/>
            </a:pPr>
            <a:r>
              <a:rPr lang="en-US" sz="2800" dirty="0">
                <a:solidFill>
                  <a:srgbClr val="C00000"/>
                </a:solidFill>
              </a:rPr>
              <a:t>= (20 – 15) * 7 </a:t>
            </a:r>
          </a:p>
          <a:p>
            <a:pPr marL="0" indent="0">
              <a:buNone/>
            </a:pPr>
            <a:r>
              <a:rPr lang="en-US" sz="2800" dirty="0">
                <a:solidFill>
                  <a:srgbClr val="C00000"/>
                </a:solidFill>
              </a:rPr>
              <a:t>= 140 – 105 = $35</a:t>
            </a:r>
          </a:p>
          <a:p>
            <a:pPr marL="0" indent="0">
              <a:buNone/>
            </a:pPr>
            <a:endParaRPr lang="en-US" sz="2800" dirty="0"/>
          </a:p>
          <a:p>
            <a:pPr marL="0" indent="0">
              <a:buNone/>
            </a:pPr>
            <a:r>
              <a:rPr lang="en-US" sz="2800" b="1" i="1" dirty="0">
                <a:solidFill>
                  <a:srgbClr val="006600"/>
                </a:solidFill>
              </a:rPr>
              <a:t>TR</a:t>
            </a:r>
            <a:r>
              <a:rPr lang="en-US" sz="2800" dirty="0">
                <a:solidFill>
                  <a:srgbClr val="006600"/>
                </a:solidFill>
              </a:rPr>
              <a:t> = </a:t>
            </a:r>
            <a:r>
              <a:rPr lang="en-US" sz="2800" b="1" i="1" dirty="0">
                <a:solidFill>
                  <a:srgbClr val="006600"/>
                </a:solidFill>
              </a:rPr>
              <a:t>P</a:t>
            </a:r>
            <a:r>
              <a:rPr lang="en-US" sz="2800" dirty="0">
                <a:solidFill>
                  <a:srgbClr val="006600"/>
                </a:solidFill>
              </a:rPr>
              <a:t> × </a:t>
            </a:r>
            <a:r>
              <a:rPr lang="en-US" sz="2800" b="1" i="1" dirty="0">
                <a:solidFill>
                  <a:srgbClr val="006600"/>
                </a:solidFill>
              </a:rPr>
              <a:t>Q</a:t>
            </a:r>
            <a:r>
              <a:rPr lang="en-US" sz="2800" dirty="0">
                <a:solidFill>
                  <a:srgbClr val="006600"/>
                </a:solidFill>
              </a:rPr>
              <a:t> = $140</a:t>
            </a:r>
          </a:p>
          <a:p>
            <a:pPr marL="0" indent="0">
              <a:buNone/>
            </a:pPr>
            <a:endParaRPr lang="en-US" sz="1100" dirty="0">
              <a:solidFill>
                <a:srgbClr val="006600"/>
              </a:solidFill>
            </a:endParaRPr>
          </a:p>
          <a:p>
            <a:pPr marL="0" indent="0">
              <a:buNone/>
            </a:pPr>
            <a:r>
              <a:rPr lang="en-US" sz="2800" b="1" i="1" dirty="0">
                <a:solidFill>
                  <a:srgbClr val="002060"/>
                </a:solidFill>
              </a:rPr>
              <a:t>TC</a:t>
            </a:r>
            <a:r>
              <a:rPr lang="en-US" sz="2800" dirty="0">
                <a:solidFill>
                  <a:srgbClr val="002060"/>
                </a:solidFill>
              </a:rPr>
              <a:t> = </a:t>
            </a:r>
            <a:r>
              <a:rPr lang="en-US" sz="2800" b="1" i="1" dirty="0">
                <a:solidFill>
                  <a:srgbClr val="002060"/>
                </a:solidFill>
              </a:rPr>
              <a:t>ATC</a:t>
            </a:r>
            <a:r>
              <a:rPr lang="en-US" sz="2800" dirty="0">
                <a:solidFill>
                  <a:srgbClr val="002060"/>
                </a:solidFill>
              </a:rPr>
              <a:t> × </a:t>
            </a:r>
            <a:r>
              <a:rPr lang="en-US" sz="2800" b="1" i="1" dirty="0">
                <a:solidFill>
                  <a:srgbClr val="002060"/>
                </a:solidFill>
              </a:rPr>
              <a:t>Q</a:t>
            </a:r>
            <a:r>
              <a:rPr lang="en-US" sz="2800" dirty="0">
                <a:solidFill>
                  <a:srgbClr val="002060"/>
                </a:solidFill>
              </a:rPr>
              <a:t> = $105</a:t>
            </a:r>
          </a:p>
          <a:p>
            <a:pPr marL="0" indent="0">
              <a:buNone/>
            </a:pPr>
            <a:endParaRPr lang="en-US" sz="2800" dirty="0"/>
          </a:p>
        </p:txBody>
      </p:sp>
      <p:grpSp>
        <p:nvGrpSpPr>
          <p:cNvPr id="6" name="Group 44"/>
          <p:cNvGrpSpPr>
            <a:grpSpLocks/>
          </p:cNvGrpSpPr>
          <p:nvPr/>
        </p:nvGrpSpPr>
        <p:grpSpPr bwMode="auto">
          <a:xfrm>
            <a:off x="2846388" y="1371600"/>
            <a:ext cx="5764212" cy="4953002"/>
            <a:chOff x="1672" y="916"/>
            <a:chExt cx="3631" cy="3120"/>
          </a:xfrm>
        </p:grpSpPr>
        <p:grpSp>
          <p:nvGrpSpPr>
            <p:cNvPr id="7" name="Group 10"/>
            <p:cNvGrpSpPr>
              <a:grpSpLocks/>
            </p:cNvGrpSpPr>
            <p:nvPr/>
          </p:nvGrpSpPr>
          <p:grpSpPr bwMode="auto">
            <a:xfrm>
              <a:off x="2730" y="981"/>
              <a:ext cx="2357" cy="2385"/>
              <a:chOff x="1489" y="785"/>
              <a:chExt cx="3650" cy="2492"/>
            </a:xfrm>
          </p:grpSpPr>
          <p:sp>
            <p:nvSpPr>
              <p:cNvPr id="10" name="Line 11"/>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1" name="Line 12"/>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8" name="Text Box 13"/>
            <p:cNvSpPr txBox="1">
              <a:spLocks noChangeArrowheads="1"/>
            </p:cNvSpPr>
            <p:nvPr/>
          </p:nvSpPr>
          <p:spPr bwMode="auto">
            <a:xfrm>
              <a:off x="3047" y="3372"/>
              <a:ext cx="2256" cy="664"/>
            </a:xfrm>
            <a:prstGeom prst="rect">
              <a:avLst/>
            </a:prstGeom>
            <a:noFill/>
            <a:ln w="9525">
              <a:noFill/>
              <a:miter lim="800000"/>
              <a:headEnd/>
              <a:tailEnd/>
            </a:ln>
          </p:spPr>
          <p:txBody>
            <a:bodyPr wrap="square">
              <a:spAutoFit/>
            </a:bodyPr>
            <a:lstStyle/>
            <a:p>
              <a:pPr algn="r">
                <a:spcBef>
                  <a:spcPct val="50000"/>
                </a:spcBef>
              </a:pPr>
              <a:r>
                <a:rPr lang="en-US" sz="2500" b="1" i="1" dirty="0">
                  <a:latin typeface="Arial"/>
                  <a:cs typeface="Arial"/>
                </a:rPr>
                <a:t>Q</a:t>
              </a:r>
            </a:p>
            <a:p>
              <a:pPr algn="r">
                <a:spcBef>
                  <a:spcPct val="50000"/>
                </a:spcBef>
              </a:pPr>
              <a:r>
                <a:rPr lang="en-US" sz="2500" i="1" dirty="0">
                  <a:latin typeface="Arial"/>
                  <a:cs typeface="Arial"/>
                </a:rPr>
                <a:t>(bushels of apples)</a:t>
              </a:r>
            </a:p>
          </p:txBody>
        </p:sp>
        <p:sp>
          <p:nvSpPr>
            <p:cNvPr id="9" name="Text Box 14"/>
            <p:cNvSpPr txBox="1">
              <a:spLocks noChangeArrowheads="1"/>
            </p:cNvSpPr>
            <p:nvPr/>
          </p:nvSpPr>
          <p:spPr bwMode="auto">
            <a:xfrm>
              <a:off x="1672" y="916"/>
              <a:ext cx="1054"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Costs, </a:t>
              </a:r>
              <a:r>
                <a:rPr lang="en-US" sz="2400" b="1" i="1">
                  <a:latin typeface="Arial"/>
                  <a:cs typeface="Arial"/>
                </a:rPr>
                <a:t>P</a:t>
              </a:r>
            </a:p>
          </p:txBody>
        </p:sp>
      </p:grpSp>
      <p:grpSp>
        <p:nvGrpSpPr>
          <p:cNvPr id="12" name="Group 39"/>
          <p:cNvGrpSpPr>
            <a:grpSpLocks/>
          </p:cNvGrpSpPr>
          <p:nvPr/>
        </p:nvGrpSpPr>
        <p:grpSpPr bwMode="auto">
          <a:xfrm>
            <a:off x="5330825" y="1230313"/>
            <a:ext cx="3175000" cy="3646488"/>
            <a:chOff x="3237" y="827"/>
            <a:chExt cx="2000" cy="2297"/>
          </a:xfrm>
        </p:grpSpPr>
        <p:sp>
          <p:nvSpPr>
            <p:cNvPr id="13" name="Line 15"/>
            <p:cNvSpPr>
              <a:spLocks noChangeShapeType="1"/>
            </p:cNvSpPr>
            <p:nvPr/>
          </p:nvSpPr>
          <p:spPr bwMode="auto">
            <a:xfrm flipV="1">
              <a:off x="3237" y="1204"/>
              <a:ext cx="1617" cy="1920"/>
            </a:xfrm>
            <a:prstGeom prst="line">
              <a:avLst/>
            </a:prstGeom>
            <a:noFill/>
            <a:ln w="38100">
              <a:solidFill>
                <a:srgbClr val="333399"/>
              </a:solidFill>
              <a:round/>
              <a:headEnd/>
              <a:tailEnd/>
            </a:ln>
          </p:spPr>
          <p:txBody>
            <a:bodyPr/>
            <a:lstStyle/>
            <a:p>
              <a:endParaRPr lang="en-US">
                <a:latin typeface="Arial"/>
                <a:cs typeface="Arial"/>
              </a:endParaRPr>
            </a:p>
          </p:txBody>
        </p:sp>
        <p:sp>
          <p:nvSpPr>
            <p:cNvPr id="14" name="Text Box 17"/>
            <p:cNvSpPr txBox="1">
              <a:spLocks noChangeArrowheads="1"/>
            </p:cNvSpPr>
            <p:nvPr/>
          </p:nvSpPr>
          <p:spPr bwMode="auto">
            <a:xfrm>
              <a:off x="4854" y="827"/>
              <a:ext cx="383" cy="233"/>
            </a:xfrm>
            <a:prstGeom prst="rect">
              <a:avLst/>
            </a:prstGeom>
            <a:noFill/>
            <a:ln w="9525">
              <a:noFill/>
              <a:miter lim="800000"/>
              <a:headEnd/>
              <a:tailEnd/>
            </a:ln>
          </p:spPr>
          <p:txBody>
            <a:bodyPr lIns="0" tIns="0" rIns="0" bIns="0">
              <a:spAutoFit/>
            </a:bodyPr>
            <a:lstStyle/>
            <a:p>
              <a:pPr>
                <a:spcBef>
                  <a:spcPct val="50000"/>
                </a:spcBef>
              </a:pPr>
              <a:r>
                <a:rPr lang="en-US" sz="2400" i="1" dirty="0">
                  <a:latin typeface="Arial"/>
                  <a:cs typeface="Arial"/>
                </a:rPr>
                <a:t>MC</a:t>
              </a:r>
            </a:p>
          </p:txBody>
        </p:sp>
      </p:grpSp>
      <p:grpSp>
        <p:nvGrpSpPr>
          <p:cNvPr id="15" name="Group 43"/>
          <p:cNvGrpSpPr>
            <a:grpSpLocks/>
          </p:cNvGrpSpPr>
          <p:nvPr/>
        </p:nvGrpSpPr>
        <p:grpSpPr bwMode="auto">
          <a:xfrm>
            <a:off x="4835525" y="2339975"/>
            <a:ext cx="3851275" cy="1516063"/>
            <a:chOff x="2925" y="1526"/>
            <a:chExt cx="2426" cy="955"/>
          </a:xfrm>
        </p:grpSpPr>
        <p:sp>
          <p:nvSpPr>
            <p:cNvPr id="16" name="Arc 16"/>
            <p:cNvSpPr>
              <a:spLocks/>
            </p:cNvSpPr>
            <p:nvPr/>
          </p:nvSpPr>
          <p:spPr bwMode="auto">
            <a:xfrm flipH="1" flipV="1">
              <a:off x="2925" y="152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17" name="Text Box 18"/>
            <p:cNvSpPr txBox="1">
              <a:spLocks noChangeArrowheads="1"/>
            </p:cNvSpPr>
            <p:nvPr/>
          </p:nvSpPr>
          <p:spPr bwMode="auto">
            <a:xfrm>
              <a:off x="4886" y="1894"/>
              <a:ext cx="465"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ATC</a:t>
              </a:r>
            </a:p>
          </p:txBody>
        </p:sp>
      </p:grpSp>
      <p:grpSp>
        <p:nvGrpSpPr>
          <p:cNvPr id="18" name="Group 48"/>
          <p:cNvGrpSpPr>
            <a:grpSpLocks/>
          </p:cNvGrpSpPr>
          <p:nvPr/>
        </p:nvGrpSpPr>
        <p:grpSpPr bwMode="auto">
          <a:xfrm>
            <a:off x="2971800" y="2497141"/>
            <a:ext cx="6019799" cy="461963"/>
            <a:chOff x="1751" y="1730"/>
            <a:chExt cx="3792" cy="291"/>
          </a:xfrm>
        </p:grpSpPr>
        <p:sp>
          <p:nvSpPr>
            <p:cNvPr id="19" name="Line 20"/>
            <p:cNvSpPr>
              <a:spLocks noChangeShapeType="1"/>
            </p:cNvSpPr>
            <p:nvPr/>
          </p:nvSpPr>
          <p:spPr bwMode="auto">
            <a:xfrm>
              <a:off x="2726" y="1881"/>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20" name="Text Box 21"/>
            <p:cNvSpPr txBox="1">
              <a:spLocks noChangeArrowheads="1"/>
            </p:cNvSpPr>
            <p:nvPr/>
          </p:nvSpPr>
          <p:spPr bwMode="auto">
            <a:xfrm>
              <a:off x="1751" y="1730"/>
              <a:ext cx="965" cy="291"/>
            </a:xfrm>
            <a:prstGeom prst="rect">
              <a:avLst/>
            </a:prstGeom>
            <a:noFill/>
            <a:ln w="9525">
              <a:noFill/>
              <a:miter lim="800000"/>
              <a:headEnd/>
              <a:tailEnd/>
            </a:ln>
          </p:spPr>
          <p:txBody>
            <a:bodyPr wrap="square">
              <a:spAutoFit/>
            </a:bodyPr>
            <a:lstStyle/>
            <a:p>
              <a:pPr algn="r">
                <a:spcBef>
                  <a:spcPct val="50000"/>
                </a:spcBef>
              </a:pPr>
              <a:r>
                <a:rPr lang="en-US" sz="2400" b="1" i="1" dirty="0">
                  <a:latin typeface="Arial"/>
                  <a:cs typeface="Arial"/>
                </a:rPr>
                <a:t>P</a:t>
              </a:r>
              <a:r>
                <a:rPr lang="en-US" sz="2400" b="1" i="1" baseline="-25000" dirty="0">
                  <a:latin typeface="Arial"/>
                  <a:cs typeface="Arial"/>
                </a:rPr>
                <a:t>1</a:t>
              </a:r>
              <a:r>
                <a:rPr lang="en-US" sz="2400" dirty="0">
                  <a:latin typeface="Arial"/>
                  <a:cs typeface="Arial"/>
                </a:rPr>
                <a:t> = $20</a:t>
              </a:r>
              <a:endParaRPr lang="en-US" sz="2400" baseline="-25000" dirty="0">
                <a:latin typeface="Arial"/>
                <a:cs typeface="Arial"/>
              </a:endParaRPr>
            </a:p>
          </p:txBody>
        </p:sp>
        <p:sp>
          <p:nvSpPr>
            <p:cNvPr id="21" name="Text Box 22"/>
            <p:cNvSpPr txBox="1">
              <a:spLocks noChangeArrowheads="1"/>
            </p:cNvSpPr>
            <p:nvPr/>
          </p:nvSpPr>
          <p:spPr bwMode="auto">
            <a:xfrm>
              <a:off x="5010" y="1757"/>
              <a:ext cx="533" cy="233"/>
            </a:xfrm>
            <a:prstGeom prst="rect">
              <a:avLst/>
            </a:prstGeom>
            <a:noFill/>
            <a:ln w="9525">
              <a:noFill/>
              <a:miter lim="800000"/>
              <a:headEnd/>
              <a:tailEnd/>
            </a:ln>
          </p:spPr>
          <p:txBody>
            <a:bodyPr wrap="square" lIns="0" tIns="0" rIns="0" bIns="0">
              <a:spAutoFit/>
            </a:bodyPr>
            <a:lstStyle/>
            <a:p>
              <a:pPr>
                <a:spcBef>
                  <a:spcPct val="50000"/>
                </a:spcBef>
              </a:pPr>
              <a:r>
                <a:rPr lang="en-US" sz="2400" i="1" dirty="0">
                  <a:latin typeface="Arial"/>
                  <a:cs typeface="Arial"/>
                </a:rPr>
                <a:t>MR</a:t>
              </a:r>
              <a:r>
                <a:rPr lang="en-US" sz="2400" i="1" baseline="-25000" dirty="0">
                  <a:latin typeface="Arial"/>
                  <a:cs typeface="Arial"/>
                </a:rPr>
                <a:t>1</a:t>
              </a:r>
            </a:p>
          </p:txBody>
        </p:sp>
      </p:grpSp>
      <p:grpSp>
        <p:nvGrpSpPr>
          <p:cNvPr id="22" name="Group 41"/>
          <p:cNvGrpSpPr>
            <a:grpSpLocks/>
          </p:cNvGrpSpPr>
          <p:nvPr/>
        </p:nvGrpSpPr>
        <p:grpSpPr bwMode="auto">
          <a:xfrm>
            <a:off x="6096000" y="2738438"/>
            <a:ext cx="1397000" cy="2976563"/>
            <a:chOff x="3719" y="1777"/>
            <a:chExt cx="880" cy="1875"/>
          </a:xfrm>
        </p:grpSpPr>
        <p:sp>
          <p:nvSpPr>
            <p:cNvPr id="23" name="Text Box 24"/>
            <p:cNvSpPr txBox="1">
              <a:spLocks noChangeArrowheads="1"/>
            </p:cNvSpPr>
            <p:nvPr/>
          </p:nvSpPr>
          <p:spPr bwMode="auto">
            <a:xfrm>
              <a:off x="3719" y="3410"/>
              <a:ext cx="880" cy="242"/>
            </a:xfrm>
            <a:prstGeom prst="rect">
              <a:avLst/>
            </a:prstGeom>
            <a:noFill/>
            <a:ln w="9525">
              <a:noFill/>
              <a:miter lim="800000"/>
              <a:headEnd/>
              <a:tailEnd/>
            </a:ln>
          </p:spPr>
          <p:txBody>
            <a:bodyPr wrap="square" lIns="0" tIns="0" rIns="0" bIns="0">
              <a:spAutoFit/>
            </a:bodyPr>
            <a:lstStyle/>
            <a:p>
              <a:pPr algn="ctr">
                <a:spcBef>
                  <a:spcPct val="50000"/>
                </a:spcBef>
              </a:pPr>
              <a:r>
                <a:rPr lang="en-US" sz="2500" dirty="0">
                  <a:latin typeface="Arial"/>
                  <a:cs typeface="Arial"/>
                </a:rPr>
                <a:t>Q</a:t>
              </a:r>
              <a:r>
                <a:rPr lang="en-US" sz="2500" baseline="-25000" dirty="0">
                  <a:latin typeface="Arial"/>
                  <a:cs typeface="Arial"/>
                </a:rPr>
                <a:t>1</a:t>
              </a:r>
              <a:r>
                <a:rPr lang="en-US" sz="2500" dirty="0">
                  <a:latin typeface="Arial"/>
                  <a:cs typeface="Arial"/>
                </a:rPr>
                <a:t> = 7</a:t>
              </a:r>
              <a:endParaRPr lang="en-US" sz="2500" baseline="-25000" dirty="0">
                <a:latin typeface="Arial"/>
                <a:cs typeface="Arial"/>
              </a:endParaRPr>
            </a:p>
          </p:txBody>
        </p:sp>
        <p:sp>
          <p:nvSpPr>
            <p:cNvPr id="24" name="Line 25"/>
            <p:cNvSpPr>
              <a:spLocks noChangeShapeType="1"/>
            </p:cNvSpPr>
            <p:nvPr/>
          </p:nvSpPr>
          <p:spPr bwMode="auto">
            <a:xfrm>
              <a:off x="4371" y="1777"/>
              <a:ext cx="0" cy="1590"/>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26" name="Group 49"/>
          <p:cNvGrpSpPr>
            <a:grpSpLocks/>
          </p:cNvGrpSpPr>
          <p:nvPr/>
        </p:nvGrpSpPr>
        <p:grpSpPr bwMode="auto">
          <a:xfrm>
            <a:off x="2846389" y="3530605"/>
            <a:ext cx="4356101" cy="369888"/>
            <a:chOff x="1672" y="2381"/>
            <a:chExt cx="2744" cy="233"/>
          </a:xfrm>
        </p:grpSpPr>
        <p:sp>
          <p:nvSpPr>
            <p:cNvPr id="27" name="Line 28"/>
            <p:cNvSpPr>
              <a:spLocks noChangeShapeType="1"/>
            </p:cNvSpPr>
            <p:nvPr/>
          </p:nvSpPr>
          <p:spPr bwMode="auto">
            <a:xfrm flipH="1">
              <a:off x="2730" y="2498"/>
              <a:ext cx="1641" cy="1"/>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8" name="Oval 29"/>
            <p:cNvSpPr>
              <a:spLocks noChangeArrowheads="1"/>
            </p:cNvSpPr>
            <p:nvPr/>
          </p:nvSpPr>
          <p:spPr bwMode="auto">
            <a:xfrm>
              <a:off x="4328" y="245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9" name="Text Box 30"/>
            <p:cNvSpPr txBox="1">
              <a:spLocks noChangeArrowheads="1"/>
            </p:cNvSpPr>
            <p:nvPr/>
          </p:nvSpPr>
          <p:spPr bwMode="auto">
            <a:xfrm>
              <a:off x="1672" y="2381"/>
              <a:ext cx="980" cy="233"/>
            </a:xfrm>
            <a:prstGeom prst="rect">
              <a:avLst/>
            </a:prstGeom>
            <a:noFill/>
            <a:ln w="9525">
              <a:noFill/>
              <a:miter lim="800000"/>
              <a:headEnd/>
              <a:tailEnd/>
            </a:ln>
          </p:spPr>
          <p:txBody>
            <a:bodyPr wrap="square" lIns="0" tIns="0" rIns="0" bIns="0">
              <a:spAutoFit/>
            </a:bodyPr>
            <a:lstStyle/>
            <a:p>
              <a:pPr algn="r">
                <a:spcBef>
                  <a:spcPct val="50000"/>
                </a:spcBef>
              </a:pPr>
              <a:r>
                <a:rPr lang="en-US" sz="2400" dirty="0">
                  <a:latin typeface="Arial"/>
                  <a:cs typeface="Arial"/>
                </a:rPr>
                <a:t>ATC</a:t>
              </a:r>
              <a:r>
                <a:rPr lang="en-US" sz="2400" baseline="-25000" dirty="0">
                  <a:latin typeface="Arial"/>
                  <a:cs typeface="Arial"/>
                </a:rPr>
                <a:t>1</a:t>
              </a:r>
              <a:r>
                <a:rPr lang="en-US" sz="2400" dirty="0">
                  <a:latin typeface="Arial"/>
                  <a:cs typeface="Arial"/>
                </a:rPr>
                <a:t> = $15</a:t>
              </a:r>
            </a:p>
          </p:txBody>
        </p:sp>
      </p:grpSp>
      <p:grpSp>
        <p:nvGrpSpPr>
          <p:cNvPr id="37" name="Group 36"/>
          <p:cNvGrpSpPr/>
          <p:nvPr/>
        </p:nvGrpSpPr>
        <p:grpSpPr>
          <a:xfrm>
            <a:off x="5748337" y="1413695"/>
            <a:ext cx="1731964" cy="1389831"/>
            <a:chOff x="5748337" y="1413695"/>
            <a:chExt cx="1731964" cy="1389831"/>
          </a:xfrm>
        </p:grpSpPr>
        <p:sp>
          <p:nvSpPr>
            <p:cNvPr id="30" name="TextBox 29"/>
            <p:cNvSpPr txBox="1"/>
            <p:nvPr/>
          </p:nvSpPr>
          <p:spPr>
            <a:xfrm>
              <a:off x="5748337" y="1413695"/>
              <a:ext cx="1731964" cy="707886"/>
            </a:xfrm>
            <a:prstGeom prst="rect">
              <a:avLst/>
            </a:prstGeom>
            <a:noFill/>
          </p:spPr>
          <p:txBody>
            <a:bodyPr wrap="square" rtlCol="0">
              <a:spAutoFit/>
            </a:bodyPr>
            <a:lstStyle/>
            <a:p>
              <a:pPr algn="ctr"/>
              <a:r>
                <a:rPr lang="en-US" sz="2000" dirty="0">
                  <a:solidFill>
                    <a:srgbClr val="4E519E"/>
                  </a:solidFill>
                </a:rPr>
                <a:t>Find Q where MR = MC</a:t>
              </a:r>
            </a:p>
          </p:txBody>
        </p:sp>
        <p:cxnSp>
          <p:nvCxnSpPr>
            <p:cNvPr id="32" name="Straight Arrow Connector 31"/>
            <p:cNvCxnSpPr/>
            <p:nvPr/>
          </p:nvCxnSpPr>
          <p:spPr bwMode="auto">
            <a:xfrm>
              <a:off x="6819900" y="2121581"/>
              <a:ext cx="241300" cy="543832"/>
            </a:xfrm>
            <a:prstGeom prst="straightConnector1">
              <a:avLst/>
            </a:prstGeom>
            <a:noFill/>
            <a:ln w="9525" cap="flat" cmpd="sng" algn="ctr">
              <a:solidFill>
                <a:srgbClr val="4E519E"/>
              </a:solidFill>
              <a:prstDash val="solid"/>
              <a:round/>
              <a:headEnd type="none" w="med" len="med"/>
              <a:tailEnd type="arrow"/>
            </a:ln>
            <a:effectLst/>
          </p:spPr>
        </p:cxnSp>
        <p:sp>
          <p:nvSpPr>
            <p:cNvPr id="36" name="Oval 26"/>
            <p:cNvSpPr>
              <a:spLocks noChangeArrowheads="1"/>
            </p:cNvSpPr>
            <p:nvPr/>
          </p:nvSpPr>
          <p:spPr bwMode="auto">
            <a:xfrm>
              <a:off x="7061200" y="2665413"/>
              <a:ext cx="139700" cy="138113"/>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0" name="Rectangle 39"/>
          <p:cNvSpPr/>
          <p:nvPr/>
        </p:nvSpPr>
        <p:spPr bwMode="auto">
          <a:xfrm>
            <a:off x="4519613" y="2734469"/>
            <a:ext cx="2606677" cy="983462"/>
          </a:xfrm>
          <a:prstGeom prst="rect">
            <a:avLst/>
          </a:prstGeom>
          <a:solidFill>
            <a:srgbClr val="C00000">
              <a:alpha val="15000"/>
            </a:srgbClr>
          </a:solidFill>
          <a:ln w="9525" cap="flat" cmpd="sng" algn="ctr">
            <a:solidFill>
              <a:srgbClr val="FFCCCC"/>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4" name="Footer Placeholder 3">
            <a:extLst>
              <a:ext uri="{FF2B5EF4-FFF2-40B4-BE49-F238E27FC236}">
                <a16:creationId xmlns:a16="http://schemas.microsoft.com/office/drawing/2014/main" id="{D61A40F5-C9D5-014C-CC61-A8D2DC76C4F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508126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childTnLst>
                          </p:cTn>
                        </p:par>
                        <p:par>
                          <p:cTn id="17" fill="hold">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wipe(left)">
                                      <p:cBhvr>
                                        <p:cTn id="25" dur="500"/>
                                        <p:tgtEl>
                                          <p:spTgt spid="5">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
                                            <p:txEl>
                                              <p:pRg st="8" end="8"/>
                                            </p:txEl>
                                          </p:spTgt>
                                        </p:tgtEl>
                                        <p:attrNameLst>
                                          <p:attrName>style.visibility</p:attrName>
                                        </p:attrNameLst>
                                      </p:cBhvr>
                                      <p:to>
                                        <p:strVal val="visible"/>
                                      </p:to>
                                    </p:set>
                                    <p:animEffect transition="in" filter="wipe(left)">
                                      <p:cBhvr>
                                        <p:cTn id="30" dur="500"/>
                                        <p:tgtEl>
                                          <p:spTgt spid="5">
                                            <p:txEl>
                                              <p:pRg st="8" end="8"/>
                                            </p:txEl>
                                          </p:spTgt>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wipe(left)">
                                      <p:cBhvr>
                                        <p:cTn id="34" dur="500"/>
                                        <p:tgtEl>
                                          <p:spTgt spid="39"/>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38"/>
                                        </p:tgtEl>
                                        <p:attrNameLst>
                                          <p:attrName>style.visibility</p:attrName>
                                        </p:attrNameLst>
                                      </p:cBhvr>
                                      <p:to>
                                        <p:strVal val="hidden"/>
                                      </p:to>
                                    </p:set>
                                  </p:childTnLst>
                                </p:cTn>
                              </p:par>
                            </p:childTnLst>
                          </p:cTn>
                        </p:par>
                        <p:par>
                          <p:cTn id="39" fill="hold">
                            <p:stCondLst>
                              <p:cond delay="0"/>
                            </p:stCondLst>
                            <p:childTnLst>
                              <p:par>
                                <p:cTn id="40" presetID="1" presetClass="exit" presetSubtype="0" fill="hold" grpId="1" nodeType="afterEffect">
                                  <p:stCondLst>
                                    <p:cond delay="0"/>
                                  </p:stCondLst>
                                  <p:childTnLst>
                                    <p:set>
                                      <p:cBhvr>
                                        <p:cTn id="41" dur="1" fill="hold">
                                          <p:stCondLst>
                                            <p:cond delay="0"/>
                                          </p:stCondLst>
                                        </p:cTn>
                                        <p:tgtEl>
                                          <p:spTgt spid="39"/>
                                        </p:tgtEl>
                                        <p:attrNameLst>
                                          <p:attrName>style.visibility</p:attrName>
                                        </p:attrNameLst>
                                      </p:cBhvr>
                                      <p:to>
                                        <p:strVal val="hidden"/>
                                      </p:to>
                                    </p:set>
                                  </p:childTnLst>
                                </p:cTn>
                              </p:par>
                            </p:childTnLst>
                          </p:cTn>
                        </p:par>
                        <p:par>
                          <p:cTn id="42" fill="hold">
                            <p:stCondLst>
                              <p:cond delay="0"/>
                            </p:stCondLst>
                            <p:childTnLst>
                              <p:par>
                                <p:cTn id="43" presetID="22" presetClass="entr" presetSubtype="8" fill="hold" grpId="0" nodeType="after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wipe(left)">
                                      <p:cBhvr>
                                        <p:cTn id="45" dur="500"/>
                                        <p:tgtEl>
                                          <p:spTgt spid="40"/>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5">
                                            <p:txEl>
                                              <p:pRg st="2" end="2"/>
                                            </p:txEl>
                                          </p:spTgt>
                                        </p:tgtEl>
                                        <p:attrNameLst>
                                          <p:attrName>style.visibility</p:attrName>
                                        </p:attrNameLst>
                                      </p:cBhvr>
                                      <p:to>
                                        <p:strVal val="visible"/>
                                      </p:to>
                                    </p:set>
                                    <p:animEffect transition="in" filter="wipe(left)">
                                      <p:cBhvr>
                                        <p:cTn id="49" dur="500"/>
                                        <p:tgtEl>
                                          <p:spTgt spid="5">
                                            <p:txEl>
                                              <p:pRg st="2" end="2"/>
                                            </p:txEl>
                                          </p:spTgt>
                                        </p:tgtEl>
                                      </p:cBhvr>
                                    </p:animEffect>
                                  </p:childTnLst>
                                </p:cTn>
                              </p:par>
                            </p:childTnLst>
                          </p:cTn>
                        </p:par>
                        <p:par>
                          <p:cTn id="50" fill="hold">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5">
                                            <p:txEl>
                                              <p:pRg st="3" end="3"/>
                                            </p:txEl>
                                          </p:spTgt>
                                        </p:tgtEl>
                                        <p:attrNameLst>
                                          <p:attrName>style.visibility</p:attrName>
                                        </p:attrNameLst>
                                      </p:cBhvr>
                                      <p:to>
                                        <p:strVal val="visible"/>
                                      </p:to>
                                    </p:set>
                                    <p:animEffect transition="in" filter="wipe(left)">
                                      <p:cBhvr>
                                        <p:cTn id="53" dur="500"/>
                                        <p:tgtEl>
                                          <p:spTgt spid="5">
                                            <p:txEl>
                                              <p:pRg st="3" end="3"/>
                                            </p:txEl>
                                          </p:spTgt>
                                        </p:tgtEl>
                                      </p:cBhvr>
                                    </p:animEffect>
                                  </p:childTnLst>
                                </p:cTn>
                              </p:par>
                            </p:childTnLst>
                          </p:cTn>
                        </p:par>
                        <p:par>
                          <p:cTn id="54" fill="hold">
                            <p:stCondLst>
                              <p:cond delay="1500"/>
                            </p:stCondLst>
                            <p:childTnLst>
                              <p:par>
                                <p:cTn id="55" presetID="22" presetClass="entr" presetSubtype="8" fill="hold" grpId="0" nodeType="afterEffect">
                                  <p:stCondLst>
                                    <p:cond delay="0"/>
                                  </p:stCondLst>
                                  <p:childTnLst>
                                    <p:set>
                                      <p:cBhvr>
                                        <p:cTn id="56" dur="1" fill="hold">
                                          <p:stCondLst>
                                            <p:cond delay="0"/>
                                          </p:stCondLst>
                                        </p:cTn>
                                        <p:tgtEl>
                                          <p:spTgt spid="5">
                                            <p:txEl>
                                              <p:pRg st="4" end="4"/>
                                            </p:txEl>
                                          </p:spTgt>
                                        </p:tgtEl>
                                        <p:attrNameLst>
                                          <p:attrName>style.visibility</p:attrName>
                                        </p:attrNameLst>
                                      </p:cBhvr>
                                      <p:to>
                                        <p:strVal val="visible"/>
                                      </p:to>
                                    </p:set>
                                    <p:animEffect transition="in" filter="wipe(left)">
                                      <p:cBhvr>
                                        <p:cTn id="5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8" grpId="1" animBg="1"/>
      <p:bldP spid="39" grpId="0" animBg="1"/>
      <p:bldP spid="39" grpId="1" animBg="1"/>
      <p:bldP spid="5" grpId="0" uiExpand="1" build="p"/>
      <p:bldP spid="4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2: </a:t>
            </a:r>
            <a:r>
              <a:rPr lang="en-US" dirty="0">
                <a:solidFill>
                  <a:schemeClr val="tx1"/>
                </a:solidFill>
              </a:rPr>
              <a:t>Identifying profit or loss</a:t>
            </a:r>
          </a:p>
        </p:txBody>
      </p:sp>
      <p:sp>
        <p:nvSpPr>
          <p:cNvPr id="3" name="Slide Number Placeholder 2"/>
          <p:cNvSpPr>
            <a:spLocks noGrp="1"/>
          </p:cNvSpPr>
          <p:nvPr>
            <p:ph type="sldNum" sz="quarter" idx="10"/>
          </p:nvPr>
        </p:nvSpPr>
        <p:spPr/>
        <p:txBody>
          <a:bodyPr/>
          <a:lstStyle/>
          <a:p>
            <a:pPr>
              <a:defRPr/>
            </a:pPr>
            <a:fld id="{073C29DC-2178-4274-9150-45F8EBD31C2D}" type="slidenum">
              <a:rPr lang="en-US" smtClean="0"/>
              <a:pPr>
                <a:defRPr/>
              </a:pPr>
              <a:t>18</a:t>
            </a:fld>
            <a:endParaRPr lang="en-US"/>
          </a:p>
        </p:txBody>
      </p:sp>
      <p:sp>
        <p:nvSpPr>
          <p:cNvPr id="5" name="Content Placeholder 4"/>
          <p:cNvSpPr>
            <a:spLocks noGrp="1"/>
          </p:cNvSpPr>
          <p:nvPr>
            <p:ph idx="12"/>
          </p:nvPr>
        </p:nvSpPr>
        <p:spPr>
          <a:xfrm>
            <a:off x="152400" y="914400"/>
            <a:ext cx="3880644" cy="5257800"/>
          </a:xfrm>
        </p:spPr>
        <p:txBody>
          <a:bodyPr>
            <a:normAutofit/>
          </a:bodyPr>
          <a:lstStyle/>
          <a:p>
            <a:pPr marL="0" indent="0">
              <a:buNone/>
            </a:pPr>
            <a:r>
              <a:rPr lang="en-US" sz="3200" dirty="0"/>
              <a:t>Determine this firm’s profit or loss</a:t>
            </a:r>
          </a:p>
          <a:p>
            <a:r>
              <a:rPr lang="en-US" dirty="0">
                <a:solidFill>
                  <a:srgbClr val="4E519E"/>
                </a:solidFill>
              </a:rPr>
              <a:t>Calculate </a:t>
            </a:r>
            <a:r>
              <a:rPr lang="en-US" b="1" i="1" dirty="0">
                <a:solidFill>
                  <a:srgbClr val="4E519E"/>
                </a:solidFill>
              </a:rPr>
              <a:t>TR</a:t>
            </a:r>
            <a:r>
              <a:rPr lang="en-US" dirty="0">
                <a:solidFill>
                  <a:srgbClr val="4E519E"/>
                </a:solidFill>
              </a:rPr>
              <a:t>, </a:t>
            </a:r>
            <a:r>
              <a:rPr lang="en-US" b="1" i="1" dirty="0">
                <a:solidFill>
                  <a:srgbClr val="4E519E"/>
                </a:solidFill>
              </a:rPr>
              <a:t>TC </a:t>
            </a:r>
          </a:p>
          <a:p>
            <a:r>
              <a:rPr lang="en-US" dirty="0">
                <a:solidFill>
                  <a:srgbClr val="4E519E"/>
                </a:solidFill>
              </a:rPr>
              <a:t>Calculate profit</a:t>
            </a:r>
          </a:p>
          <a:p>
            <a:pPr marL="0" indent="0">
              <a:buNone/>
            </a:pPr>
            <a:r>
              <a:rPr lang="en-US" dirty="0">
                <a:solidFill>
                  <a:srgbClr val="4E519E"/>
                </a:solidFill>
              </a:rPr>
              <a:t> (or loss)</a:t>
            </a:r>
          </a:p>
          <a:p>
            <a:r>
              <a:rPr lang="en-US" dirty="0">
                <a:solidFill>
                  <a:srgbClr val="4E519E"/>
                </a:solidFill>
              </a:rPr>
              <a:t>Identify the profit</a:t>
            </a:r>
          </a:p>
          <a:p>
            <a:pPr marL="0" indent="0">
              <a:buNone/>
            </a:pPr>
            <a:r>
              <a:rPr lang="en-US" dirty="0">
                <a:solidFill>
                  <a:srgbClr val="4E519E"/>
                </a:solidFill>
              </a:rPr>
              <a:t>or loss area on the graph</a:t>
            </a:r>
          </a:p>
        </p:txBody>
      </p:sp>
      <p:grpSp>
        <p:nvGrpSpPr>
          <p:cNvPr id="6" name="Group 7"/>
          <p:cNvGrpSpPr>
            <a:grpSpLocks/>
          </p:cNvGrpSpPr>
          <p:nvPr/>
        </p:nvGrpSpPr>
        <p:grpSpPr bwMode="auto">
          <a:xfrm>
            <a:off x="3657601" y="795337"/>
            <a:ext cx="5257800" cy="4460874"/>
            <a:chOff x="2087" y="697"/>
            <a:chExt cx="3312" cy="2810"/>
          </a:xfrm>
        </p:grpSpPr>
        <p:grpSp>
          <p:nvGrpSpPr>
            <p:cNvPr id="7" name="Group 8"/>
            <p:cNvGrpSpPr>
              <a:grpSpLocks/>
            </p:cNvGrpSpPr>
            <p:nvPr/>
          </p:nvGrpSpPr>
          <p:grpSpPr bwMode="auto">
            <a:xfrm>
              <a:off x="2730" y="981"/>
              <a:ext cx="2357" cy="2385"/>
              <a:chOff x="1489" y="785"/>
              <a:chExt cx="3650" cy="2492"/>
            </a:xfrm>
          </p:grpSpPr>
          <p:sp>
            <p:nvSpPr>
              <p:cNvPr id="10"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1"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8" name="Text Box 11"/>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9" name="Text Box 12"/>
            <p:cNvSpPr txBox="1">
              <a:spLocks noChangeArrowheads="1"/>
            </p:cNvSpPr>
            <p:nvPr/>
          </p:nvSpPr>
          <p:spPr bwMode="auto">
            <a:xfrm>
              <a:off x="2087" y="697"/>
              <a:ext cx="1054" cy="288"/>
            </a:xfrm>
            <a:prstGeom prst="rect">
              <a:avLst/>
            </a:prstGeom>
            <a:noFill/>
            <a:ln w="9525">
              <a:noFill/>
              <a:miter lim="800000"/>
              <a:headEnd/>
              <a:tailEnd/>
            </a:ln>
          </p:spPr>
          <p:txBody>
            <a:bodyPr>
              <a:spAutoFit/>
            </a:bodyPr>
            <a:lstStyle/>
            <a:p>
              <a:pPr algn="r">
                <a:spcBef>
                  <a:spcPct val="50000"/>
                </a:spcBef>
              </a:pPr>
              <a:r>
                <a:rPr lang="en-US" sz="2400" dirty="0">
                  <a:latin typeface="Arial"/>
                  <a:cs typeface="Arial"/>
                </a:rPr>
                <a:t>Costs, </a:t>
              </a:r>
              <a:r>
                <a:rPr lang="en-US" sz="2400" b="1" i="1" dirty="0">
                  <a:latin typeface="Arial"/>
                  <a:cs typeface="Arial"/>
                </a:rPr>
                <a:t>P</a:t>
              </a:r>
            </a:p>
          </p:txBody>
        </p:sp>
      </p:grpSp>
      <p:grpSp>
        <p:nvGrpSpPr>
          <p:cNvPr id="12" name="Group 13"/>
          <p:cNvGrpSpPr>
            <a:grpSpLocks/>
          </p:cNvGrpSpPr>
          <p:nvPr/>
        </p:nvGrpSpPr>
        <p:grpSpPr bwMode="auto">
          <a:xfrm>
            <a:off x="5364163" y="1698625"/>
            <a:ext cx="2795588" cy="3181350"/>
            <a:chOff x="3162" y="1266"/>
            <a:chExt cx="1761" cy="2004"/>
          </a:xfrm>
        </p:grpSpPr>
        <p:sp>
          <p:nvSpPr>
            <p:cNvPr id="13" name="Line 14"/>
            <p:cNvSpPr>
              <a:spLocks noChangeShapeType="1"/>
            </p:cNvSpPr>
            <p:nvPr/>
          </p:nvSpPr>
          <p:spPr bwMode="auto">
            <a:xfrm flipV="1">
              <a:off x="3162" y="1588"/>
              <a:ext cx="1517" cy="1682"/>
            </a:xfrm>
            <a:prstGeom prst="line">
              <a:avLst/>
            </a:prstGeom>
            <a:noFill/>
            <a:ln w="38100">
              <a:solidFill>
                <a:srgbClr val="333399"/>
              </a:solidFill>
              <a:round/>
              <a:headEnd/>
              <a:tailEnd/>
            </a:ln>
          </p:spPr>
          <p:txBody>
            <a:bodyPr/>
            <a:lstStyle/>
            <a:p>
              <a:endParaRPr lang="en-US">
                <a:latin typeface="Arial"/>
                <a:cs typeface="Arial"/>
              </a:endParaRPr>
            </a:p>
          </p:txBody>
        </p:sp>
        <p:sp>
          <p:nvSpPr>
            <p:cNvPr id="14" name="Text Box 15"/>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15" name="Group 16"/>
          <p:cNvGrpSpPr>
            <a:grpSpLocks/>
          </p:cNvGrpSpPr>
          <p:nvPr/>
        </p:nvGrpSpPr>
        <p:grpSpPr bwMode="auto">
          <a:xfrm>
            <a:off x="4987925" y="2111375"/>
            <a:ext cx="3851275" cy="1516062"/>
            <a:chOff x="2925" y="1526"/>
            <a:chExt cx="2426" cy="955"/>
          </a:xfrm>
        </p:grpSpPr>
        <p:sp>
          <p:nvSpPr>
            <p:cNvPr id="16" name="Arc 17"/>
            <p:cNvSpPr>
              <a:spLocks/>
            </p:cNvSpPr>
            <p:nvPr/>
          </p:nvSpPr>
          <p:spPr bwMode="auto">
            <a:xfrm flipH="1" flipV="1">
              <a:off x="2925" y="152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17" name="Text Box 18"/>
            <p:cNvSpPr txBox="1">
              <a:spLocks noChangeArrowheads="1"/>
            </p:cNvSpPr>
            <p:nvPr/>
          </p:nvSpPr>
          <p:spPr bwMode="auto">
            <a:xfrm>
              <a:off x="4886" y="1894"/>
              <a:ext cx="465"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ATC</a:t>
              </a:r>
            </a:p>
          </p:txBody>
        </p:sp>
      </p:grpSp>
      <p:grpSp>
        <p:nvGrpSpPr>
          <p:cNvPr id="18" name="Group 52"/>
          <p:cNvGrpSpPr>
            <a:grpSpLocks/>
          </p:cNvGrpSpPr>
          <p:nvPr/>
        </p:nvGrpSpPr>
        <p:grpSpPr bwMode="auto">
          <a:xfrm>
            <a:off x="4135438" y="3413125"/>
            <a:ext cx="1912937" cy="381000"/>
            <a:chOff x="2388" y="2451"/>
            <a:chExt cx="1205" cy="240"/>
          </a:xfrm>
        </p:grpSpPr>
        <p:sp>
          <p:nvSpPr>
            <p:cNvPr id="19" name="Line 33"/>
            <p:cNvSpPr>
              <a:spLocks noChangeShapeType="1"/>
            </p:cNvSpPr>
            <p:nvPr/>
          </p:nvSpPr>
          <p:spPr bwMode="auto">
            <a:xfrm flipH="1" flipV="1">
              <a:off x="2730" y="2571"/>
              <a:ext cx="863"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0" name="Text Box 34"/>
            <p:cNvSpPr txBox="1">
              <a:spLocks noChangeArrowheads="1"/>
            </p:cNvSpPr>
            <p:nvPr/>
          </p:nvSpPr>
          <p:spPr bwMode="auto">
            <a:xfrm>
              <a:off x="2388" y="2451"/>
              <a:ext cx="291" cy="240"/>
            </a:xfrm>
            <a:prstGeom prst="rect">
              <a:avLst/>
            </a:prstGeom>
            <a:noFill/>
            <a:ln w="9525">
              <a:noFill/>
              <a:miter lim="800000"/>
              <a:headEnd/>
              <a:tailEnd/>
            </a:ln>
          </p:spPr>
          <p:txBody>
            <a:bodyPr lIns="0" tIns="0" rIns="0" bIns="0">
              <a:spAutoFit/>
            </a:bodyPr>
            <a:lstStyle/>
            <a:p>
              <a:pPr algn="r">
                <a:spcBef>
                  <a:spcPct val="50000"/>
                </a:spcBef>
              </a:pPr>
              <a:r>
                <a:rPr lang="en-US" sz="2500">
                  <a:latin typeface="Arial"/>
                  <a:cs typeface="Arial"/>
                </a:rPr>
                <a:t>$5</a:t>
              </a:r>
            </a:p>
          </p:txBody>
        </p:sp>
      </p:grpSp>
      <p:grpSp>
        <p:nvGrpSpPr>
          <p:cNvPr id="21" name="Group 51"/>
          <p:cNvGrpSpPr>
            <a:grpSpLocks/>
          </p:cNvGrpSpPr>
          <p:nvPr/>
        </p:nvGrpSpPr>
        <p:grpSpPr bwMode="auto">
          <a:xfrm>
            <a:off x="3375025" y="3910012"/>
            <a:ext cx="5534025" cy="473075"/>
            <a:chOff x="1909" y="2764"/>
            <a:chExt cx="3486" cy="298"/>
          </a:xfrm>
        </p:grpSpPr>
        <p:sp>
          <p:nvSpPr>
            <p:cNvPr id="22"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23" name="Text Box 40"/>
            <p:cNvSpPr txBox="1">
              <a:spLocks noChangeArrowheads="1"/>
            </p:cNvSpPr>
            <p:nvPr/>
          </p:nvSpPr>
          <p:spPr bwMode="auto">
            <a:xfrm>
              <a:off x="1909" y="2764"/>
              <a:ext cx="829"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r>
                <a:rPr lang="en-US" sz="2500">
                  <a:latin typeface="Arial"/>
                  <a:cs typeface="Arial"/>
                </a:rPr>
                <a:t> = $3</a:t>
              </a:r>
              <a:endParaRPr lang="en-US" sz="2500" baseline="-25000">
                <a:latin typeface="Arial"/>
                <a:cs typeface="Arial"/>
              </a:endParaRPr>
            </a:p>
          </p:txBody>
        </p:sp>
        <p:sp>
          <p:nvSpPr>
            <p:cNvPr id="24" name="Text Box 41"/>
            <p:cNvSpPr txBox="1">
              <a:spLocks noChangeArrowheads="1"/>
            </p:cNvSpPr>
            <p:nvPr/>
          </p:nvSpPr>
          <p:spPr bwMode="auto">
            <a:xfrm>
              <a:off x="5012" y="2791"/>
              <a:ext cx="38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MR</a:t>
              </a:r>
            </a:p>
          </p:txBody>
        </p:sp>
      </p:grpSp>
      <p:grpSp>
        <p:nvGrpSpPr>
          <p:cNvPr id="25" name="Group 42"/>
          <p:cNvGrpSpPr>
            <a:grpSpLocks/>
          </p:cNvGrpSpPr>
          <p:nvPr/>
        </p:nvGrpSpPr>
        <p:grpSpPr bwMode="auto">
          <a:xfrm>
            <a:off x="5791200" y="3600450"/>
            <a:ext cx="422275" cy="1822450"/>
            <a:chOff x="3429" y="2529"/>
            <a:chExt cx="266" cy="1148"/>
          </a:xfrm>
        </p:grpSpPr>
        <p:sp>
          <p:nvSpPr>
            <p:cNvPr id="26" name="Text Box 43"/>
            <p:cNvSpPr txBox="1">
              <a:spLocks noChangeArrowheads="1"/>
            </p:cNvSpPr>
            <p:nvPr/>
          </p:nvSpPr>
          <p:spPr bwMode="auto">
            <a:xfrm>
              <a:off x="3429" y="3437"/>
              <a:ext cx="266" cy="240"/>
            </a:xfrm>
            <a:prstGeom prst="rect">
              <a:avLst/>
            </a:prstGeom>
            <a:noFill/>
            <a:ln w="9525">
              <a:noFill/>
              <a:miter lim="800000"/>
              <a:headEnd/>
              <a:tailEnd/>
            </a:ln>
          </p:spPr>
          <p:txBody>
            <a:bodyPr lIns="0" tIns="0" rIns="0" bIns="0">
              <a:spAutoFit/>
            </a:bodyPr>
            <a:lstStyle/>
            <a:p>
              <a:pPr algn="ctr">
                <a:spcBef>
                  <a:spcPct val="50000"/>
                </a:spcBef>
              </a:pPr>
              <a:r>
                <a:rPr lang="en-US" sz="2500" dirty="0">
                  <a:latin typeface="Arial"/>
                  <a:cs typeface="Arial"/>
                </a:rPr>
                <a:t>30</a:t>
              </a:r>
              <a:endParaRPr lang="en-US" sz="2500" baseline="-25000" dirty="0">
                <a:latin typeface="Arial"/>
                <a:cs typeface="Arial"/>
              </a:endParaRPr>
            </a:p>
          </p:txBody>
        </p:sp>
        <p:sp>
          <p:nvSpPr>
            <p:cNvPr id="27" name="Line 44"/>
            <p:cNvSpPr>
              <a:spLocks noChangeShapeType="1"/>
            </p:cNvSpPr>
            <p:nvPr/>
          </p:nvSpPr>
          <p:spPr bwMode="auto">
            <a:xfrm>
              <a:off x="3593" y="2529"/>
              <a:ext cx="0" cy="90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30" name="Group 16"/>
          <p:cNvGrpSpPr>
            <a:grpSpLocks/>
          </p:cNvGrpSpPr>
          <p:nvPr/>
        </p:nvGrpSpPr>
        <p:grpSpPr bwMode="auto">
          <a:xfrm>
            <a:off x="4724400" y="2979738"/>
            <a:ext cx="4064000" cy="1516062"/>
            <a:chOff x="3213" y="1526"/>
            <a:chExt cx="2560" cy="955"/>
          </a:xfrm>
        </p:grpSpPr>
        <p:sp>
          <p:nvSpPr>
            <p:cNvPr id="31" name="Arc 17"/>
            <p:cNvSpPr>
              <a:spLocks/>
            </p:cNvSpPr>
            <p:nvPr/>
          </p:nvSpPr>
          <p:spPr bwMode="auto">
            <a:xfrm rot="20977858" flipH="1" flipV="1">
              <a:off x="3213" y="1526"/>
              <a:ext cx="2068"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32" name="Text Box 18"/>
            <p:cNvSpPr txBox="1">
              <a:spLocks noChangeArrowheads="1"/>
            </p:cNvSpPr>
            <p:nvPr/>
          </p:nvSpPr>
          <p:spPr bwMode="auto">
            <a:xfrm>
              <a:off x="5308" y="1720"/>
              <a:ext cx="465" cy="233"/>
            </a:xfrm>
            <a:prstGeom prst="rect">
              <a:avLst/>
            </a:prstGeom>
            <a:noFill/>
            <a:ln w="9525">
              <a:noFill/>
              <a:miter lim="800000"/>
              <a:headEnd/>
              <a:tailEnd/>
            </a:ln>
          </p:spPr>
          <p:txBody>
            <a:bodyPr lIns="0" tIns="0" rIns="0" bIns="0">
              <a:spAutoFit/>
            </a:bodyPr>
            <a:lstStyle/>
            <a:p>
              <a:pPr>
                <a:spcBef>
                  <a:spcPct val="50000"/>
                </a:spcBef>
              </a:pPr>
              <a:r>
                <a:rPr lang="en-US" sz="2400" i="1" dirty="0">
                  <a:latin typeface="Arial"/>
                  <a:cs typeface="Arial"/>
                </a:rPr>
                <a:t>AVC</a:t>
              </a:r>
            </a:p>
          </p:txBody>
        </p:sp>
      </p:grpSp>
      <p:grpSp>
        <p:nvGrpSpPr>
          <p:cNvPr id="33" name="Group 42"/>
          <p:cNvGrpSpPr>
            <a:grpSpLocks/>
          </p:cNvGrpSpPr>
          <p:nvPr/>
        </p:nvGrpSpPr>
        <p:grpSpPr bwMode="auto">
          <a:xfrm>
            <a:off x="6359525" y="3600450"/>
            <a:ext cx="422275" cy="1825625"/>
            <a:chOff x="3477" y="2529"/>
            <a:chExt cx="266" cy="1150"/>
          </a:xfrm>
        </p:grpSpPr>
        <p:sp>
          <p:nvSpPr>
            <p:cNvPr id="34" name="Text Box 43"/>
            <p:cNvSpPr txBox="1">
              <a:spLocks noChangeArrowheads="1"/>
            </p:cNvSpPr>
            <p:nvPr/>
          </p:nvSpPr>
          <p:spPr bwMode="auto">
            <a:xfrm>
              <a:off x="3477" y="3437"/>
              <a:ext cx="266" cy="242"/>
            </a:xfrm>
            <a:prstGeom prst="rect">
              <a:avLst/>
            </a:prstGeom>
            <a:noFill/>
            <a:ln w="9525">
              <a:noFill/>
              <a:miter lim="800000"/>
              <a:headEnd/>
              <a:tailEnd/>
            </a:ln>
          </p:spPr>
          <p:txBody>
            <a:bodyPr lIns="0" tIns="0" rIns="0" bIns="0">
              <a:spAutoFit/>
            </a:bodyPr>
            <a:lstStyle/>
            <a:p>
              <a:pPr algn="ctr">
                <a:spcBef>
                  <a:spcPct val="50000"/>
                </a:spcBef>
              </a:pPr>
              <a:r>
                <a:rPr lang="en-US" sz="2500" dirty="0">
                  <a:latin typeface="Arial"/>
                  <a:cs typeface="Arial"/>
                </a:rPr>
                <a:t>32</a:t>
              </a:r>
              <a:endParaRPr lang="en-US" sz="2500" baseline="-25000" dirty="0">
                <a:latin typeface="Arial"/>
                <a:cs typeface="Arial"/>
              </a:endParaRPr>
            </a:p>
          </p:txBody>
        </p:sp>
        <p:sp>
          <p:nvSpPr>
            <p:cNvPr id="35" name="Line 44"/>
            <p:cNvSpPr>
              <a:spLocks noChangeShapeType="1"/>
            </p:cNvSpPr>
            <p:nvPr/>
          </p:nvSpPr>
          <p:spPr bwMode="auto">
            <a:xfrm>
              <a:off x="3593" y="2529"/>
              <a:ext cx="0" cy="90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38" name="Group 42"/>
          <p:cNvGrpSpPr>
            <a:grpSpLocks/>
          </p:cNvGrpSpPr>
          <p:nvPr/>
        </p:nvGrpSpPr>
        <p:grpSpPr bwMode="auto">
          <a:xfrm>
            <a:off x="7197725" y="2590800"/>
            <a:ext cx="422275" cy="2835275"/>
            <a:chOff x="3477" y="1893"/>
            <a:chExt cx="266" cy="1786"/>
          </a:xfrm>
        </p:grpSpPr>
        <p:sp>
          <p:nvSpPr>
            <p:cNvPr id="39" name="Text Box 43"/>
            <p:cNvSpPr txBox="1">
              <a:spLocks noChangeArrowheads="1"/>
            </p:cNvSpPr>
            <p:nvPr/>
          </p:nvSpPr>
          <p:spPr bwMode="auto">
            <a:xfrm>
              <a:off x="3477" y="3437"/>
              <a:ext cx="266" cy="242"/>
            </a:xfrm>
            <a:prstGeom prst="rect">
              <a:avLst/>
            </a:prstGeom>
            <a:noFill/>
            <a:ln w="9525">
              <a:noFill/>
              <a:miter lim="800000"/>
              <a:headEnd/>
              <a:tailEnd/>
            </a:ln>
          </p:spPr>
          <p:txBody>
            <a:bodyPr lIns="0" tIns="0" rIns="0" bIns="0">
              <a:spAutoFit/>
            </a:bodyPr>
            <a:lstStyle/>
            <a:p>
              <a:pPr algn="ctr">
                <a:spcBef>
                  <a:spcPct val="50000"/>
                </a:spcBef>
              </a:pPr>
              <a:r>
                <a:rPr lang="en-US" sz="2500" dirty="0">
                  <a:latin typeface="Arial"/>
                  <a:cs typeface="Arial"/>
                </a:rPr>
                <a:t>40</a:t>
              </a:r>
              <a:endParaRPr lang="en-US" sz="2500" baseline="-25000" dirty="0">
                <a:latin typeface="Arial"/>
                <a:cs typeface="Arial"/>
              </a:endParaRPr>
            </a:p>
          </p:txBody>
        </p:sp>
        <p:sp>
          <p:nvSpPr>
            <p:cNvPr id="40" name="Line 44"/>
            <p:cNvSpPr>
              <a:spLocks noChangeShapeType="1"/>
            </p:cNvSpPr>
            <p:nvPr/>
          </p:nvSpPr>
          <p:spPr bwMode="auto">
            <a:xfrm>
              <a:off x="3593" y="1893"/>
              <a:ext cx="0" cy="1541"/>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41" name="Group 52"/>
          <p:cNvGrpSpPr>
            <a:grpSpLocks/>
          </p:cNvGrpSpPr>
          <p:nvPr/>
        </p:nvGrpSpPr>
        <p:grpSpPr bwMode="auto">
          <a:xfrm>
            <a:off x="4135438" y="2438400"/>
            <a:ext cx="3246437" cy="381000"/>
            <a:chOff x="2388" y="2451"/>
            <a:chExt cx="2045" cy="240"/>
          </a:xfrm>
        </p:grpSpPr>
        <p:sp>
          <p:nvSpPr>
            <p:cNvPr id="42" name="Line 33"/>
            <p:cNvSpPr>
              <a:spLocks noChangeShapeType="1"/>
            </p:cNvSpPr>
            <p:nvPr/>
          </p:nvSpPr>
          <p:spPr bwMode="auto">
            <a:xfrm flipH="1" flipV="1">
              <a:off x="2730" y="2571"/>
              <a:ext cx="1703"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3" name="Text Box 34"/>
            <p:cNvSpPr txBox="1">
              <a:spLocks noChangeArrowheads="1"/>
            </p:cNvSpPr>
            <p:nvPr/>
          </p:nvSpPr>
          <p:spPr bwMode="auto">
            <a:xfrm>
              <a:off x="2388" y="2451"/>
              <a:ext cx="291" cy="240"/>
            </a:xfrm>
            <a:prstGeom prst="rect">
              <a:avLst/>
            </a:prstGeom>
            <a:noFill/>
            <a:ln w="9525">
              <a:noFill/>
              <a:miter lim="800000"/>
              <a:headEnd/>
              <a:tailEnd/>
            </a:ln>
          </p:spPr>
          <p:txBody>
            <a:bodyPr lIns="0" tIns="0" rIns="0" bIns="0">
              <a:spAutoFit/>
            </a:bodyPr>
            <a:lstStyle/>
            <a:p>
              <a:pPr algn="r">
                <a:spcBef>
                  <a:spcPct val="50000"/>
                </a:spcBef>
              </a:pPr>
              <a:r>
                <a:rPr lang="en-US" sz="2500" dirty="0">
                  <a:latin typeface="Arial"/>
                  <a:cs typeface="Arial"/>
                </a:rPr>
                <a:t>$8</a:t>
              </a:r>
            </a:p>
          </p:txBody>
        </p:sp>
      </p:grpSp>
      <p:sp>
        <p:nvSpPr>
          <p:cNvPr id="4" name="Footer Placeholder 3">
            <a:extLst>
              <a:ext uri="{FF2B5EF4-FFF2-40B4-BE49-F238E27FC236}">
                <a16:creationId xmlns:a16="http://schemas.microsoft.com/office/drawing/2014/main" id="{0B82D99C-96DB-944F-D295-A625BCC5CEA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2637463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left)">
                                      <p:cBhvr>
                                        <p:cTn id="11" dur="500"/>
                                        <p:tgtEl>
                                          <p:spTgt spid="5">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left)">
                                      <p:cBhvr>
                                        <p:cTn id="15" dur="500"/>
                                        <p:tgtEl>
                                          <p:spTgt spid="5">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left)">
                                      <p:cBhvr>
                                        <p:cTn id="19" dur="500"/>
                                        <p:tgtEl>
                                          <p:spTgt spid="5">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wipe(left)">
                                      <p:cBhvr>
                                        <p:cTn id="23" dur="500"/>
                                        <p:tgtEl>
                                          <p:spTgt spid="5">
                                            <p:txEl>
                                              <p:pRg st="4" end="4"/>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ipe(left)">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4691063" y="3600450"/>
            <a:ext cx="1357312" cy="542925"/>
            <a:chOff x="4691063" y="3600450"/>
            <a:chExt cx="1357312" cy="542925"/>
          </a:xfrm>
        </p:grpSpPr>
        <p:sp>
          <p:nvSpPr>
            <p:cNvPr id="28" name="Rectangle 27"/>
            <p:cNvSpPr/>
            <p:nvPr/>
          </p:nvSpPr>
          <p:spPr bwMode="auto">
            <a:xfrm>
              <a:off x="4691063" y="3600450"/>
              <a:ext cx="1357312" cy="542925"/>
            </a:xfrm>
            <a:prstGeom prst="rect">
              <a:avLst/>
            </a:prstGeom>
            <a:solidFill>
              <a:srgbClr val="FFCCCC"/>
            </a:solidFill>
            <a:ln w="9525" cap="flat" cmpd="sng" algn="ctr">
              <a:solidFill>
                <a:srgbClr val="FFCC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45" name="Text Box 25"/>
            <p:cNvSpPr txBox="1">
              <a:spLocks noChangeArrowheads="1"/>
            </p:cNvSpPr>
            <p:nvPr/>
          </p:nvSpPr>
          <p:spPr bwMode="auto">
            <a:xfrm>
              <a:off x="4832350" y="3647017"/>
              <a:ext cx="958850" cy="473075"/>
            </a:xfrm>
            <a:prstGeom prst="rect">
              <a:avLst/>
            </a:prstGeom>
            <a:noFill/>
            <a:ln w="9525">
              <a:noFill/>
              <a:miter lim="800000"/>
              <a:headEnd/>
              <a:tailEnd/>
            </a:ln>
          </p:spPr>
          <p:txBody>
            <a:bodyPr>
              <a:spAutoFit/>
            </a:bodyPr>
            <a:lstStyle/>
            <a:p>
              <a:pPr algn="ctr">
                <a:spcBef>
                  <a:spcPct val="50000"/>
                </a:spcBef>
              </a:pPr>
              <a:r>
                <a:rPr lang="en-US" sz="2500" dirty="0">
                  <a:latin typeface="Arial"/>
                  <a:cs typeface="Arial"/>
                </a:rPr>
                <a:t>loss</a:t>
              </a:r>
              <a:endParaRPr lang="en-US" sz="2500" i="1" dirty="0">
                <a:latin typeface="Arial"/>
                <a:cs typeface="Arial"/>
              </a:endParaRPr>
            </a:p>
          </p:txBody>
        </p:sp>
      </p:grpSp>
      <p:sp>
        <p:nvSpPr>
          <p:cNvPr id="2" name="Title 1"/>
          <p:cNvSpPr>
            <a:spLocks noGrp="1"/>
          </p:cNvSpPr>
          <p:nvPr>
            <p:ph type="title"/>
          </p:nvPr>
        </p:nvSpPr>
        <p:spPr/>
        <p:txBody>
          <a:bodyPr/>
          <a:lstStyle/>
          <a:p>
            <a:r>
              <a:rPr lang="en-US" dirty="0">
                <a:solidFill>
                  <a:srgbClr val="AE1221"/>
                </a:solidFill>
              </a:rPr>
              <a:t>Active Learning 2: Answers</a:t>
            </a:r>
          </a:p>
        </p:txBody>
      </p:sp>
      <p:sp>
        <p:nvSpPr>
          <p:cNvPr id="3" name="Slide Number Placeholder 2"/>
          <p:cNvSpPr>
            <a:spLocks noGrp="1"/>
          </p:cNvSpPr>
          <p:nvPr>
            <p:ph type="sldNum" sz="quarter" idx="10"/>
          </p:nvPr>
        </p:nvSpPr>
        <p:spPr/>
        <p:txBody>
          <a:bodyPr/>
          <a:lstStyle/>
          <a:p>
            <a:pPr>
              <a:defRPr/>
            </a:pPr>
            <a:fld id="{073C29DC-2178-4274-9150-45F8EBD31C2D}" type="slidenum">
              <a:rPr lang="en-US" smtClean="0"/>
              <a:pPr>
                <a:defRPr/>
              </a:pPr>
              <a:t>19</a:t>
            </a:fld>
            <a:endParaRPr lang="en-US"/>
          </a:p>
        </p:txBody>
      </p:sp>
      <p:sp>
        <p:nvSpPr>
          <p:cNvPr id="5" name="Content Placeholder 4"/>
          <p:cNvSpPr>
            <a:spLocks noGrp="1"/>
          </p:cNvSpPr>
          <p:nvPr>
            <p:ph idx="12"/>
          </p:nvPr>
        </p:nvSpPr>
        <p:spPr>
          <a:xfrm>
            <a:off x="152399" y="1143000"/>
            <a:ext cx="4214019" cy="5334000"/>
          </a:xfrm>
        </p:spPr>
        <p:txBody>
          <a:bodyPr>
            <a:normAutofit/>
          </a:bodyPr>
          <a:lstStyle/>
          <a:p>
            <a:r>
              <a:rPr lang="en-US" sz="2800" dirty="0"/>
              <a:t>Find </a:t>
            </a:r>
            <a:r>
              <a:rPr lang="en-US" sz="2800" b="1" i="1" dirty="0"/>
              <a:t>Q</a:t>
            </a:r>
            <a:r>
              <a:rPr lang="en-US" sz="2800" dirty="0"/>
              <a:t> where</a:t>
            </a:r>
          </a:p>
          <a:p>
            <a:pPr marL="0" indent="0">
              <a:buNone/>
            </a:pPr>
            <a:r>
              <a:rPr lang="en-US" sz="2800" dirty="0"/>
              <a:t> </a:t>
            </a:r>
            <a:r>
              <a:rPr lang="en-US" sz="2800" b="1" i="1" dirty="0"/>
              <a:t>MR</a:t>
            </a:r>
            <a:r>
              <a:rPr lang="en-US" sz="2800" dirty="0"/>
              <a:t> = </a:t>
            </a:r>
            <a:r>
              <a:rPr lang="en-US" sz="2800" b="1" i="1" dirty="0"/>
              <a:t>MC</a:t>
            </a:r>
          </a:p>
          <a:p>
            <a:r>
              <a:rPr lang="en-US" sz="2800" dirty="0">
                <a:solidFill>
                  <a:srgbClr val="4E519E"/>
                </a:solidFill>
              </a:rPr>
              <a:t>For </a:t>
            </a:r>
            <a:r>
              <a:rPr lang="en-US" sz="2800" b="1" i="1" dirty="0">
                <a:solidFill>
                  <a:srgbClr val="4E519E"/>
                </a:solidFill>
              </a:rPr>
              <a:t>Q</a:t>
            </a:r>
            <a:r>
              <a:rPr lang="en-US" sz="2800" dirty="0">
                <a:solidFill>
                  <a:srgbClr val="4E519E"/>
                </a:solidFill>
              </a:rPr>
              <a:t> = 30, </a:t>
            </a:r>
          </a:p>
          <a:p>
            <a:pPr marL="0" indent="0">
              <a:buNone/>
            </a:pPr>
            <a:r>
              <a:rPr lang="en-US" sz="2800" b="1" i="1" dirty="0">
                <a:solidFill>
                  <a:srgbClr val="4E519E"/>
                </a:solidFill>
              </a:rPr>
              <a:t>ATC</a:t>
            </a:r>
            <a:r>
              <a:rPr lang="en-US" sz="2800" dirty="0">
                <a:solidFill>
                  <a:srgbClr val="4E519E"/>
                </a:solidFill>
              </a:rPr>
              <a:t> = $5</a:t>
            </a:r>
          </a:p>
          <a:p>
            <a:r>
              <a:rPr lang="en-US" sz="2800" b="1" i="1" dirty="0"/>
              <a:t>P</a:t>
            </a:r>
            <a:r>
              <a:rPr lang="en-US" sz="2800" dirty="0"/>
              <a:t> &lt; </a:t>
            </a:r>
            <a:r>
              <a:rPr lang="en-US" sz="2800" b="1" i="1" dirty="0"/>
              <a:t>ATC</a:t>
            </a:r>
            <a:r>
              <a:rPr lang="en-US" sz="2800" dirty="0"/>
              <a:t>, it’s a loss</a:t>
            </a:r>
          </a:p>
          <a:p>
            <a:r>
              <a:rPr lang="en-US" sz="2800" b="1" i="1" dirty="0">
                <a:solidFill>
                  <a:srgbClr val="4E519E"/>
                </a:solidFill>
              </a:rPr>
              <a:t>P</a:t>
            </a:r>
            <a:r>
              <a:rPr lang="en-US" sz="2800" dirty="0">
                <a:solidFill>
                  <a:srgbClr val="4E519E"/>
                </a:solidFill>
              </a:rPr>
              <a:t> &gt; </a:t>
            </a:r>
            <a:r>
              <a:rPr lang="en-US" sz="2800" b="1" i="1" dirty="0">
                <a:solidFill>
                  <a:srgbClr val="4E519E"/>
                </a:solidFill>
              </a:rPr>
              <a:t>AVC</a:t>
            </a:r>
            <a:r>
              <a:rPr lang="en-US" sz="2800" dirty="0">
                <a:solidFill>
                  <a:srgbClr val="4E519E"/>
                </a:solidFill>
              </a:rPr>
              <a:t>: keep producing</a:t>
            </a:r>
          </a:p>
          <a:p>
            <a:r>
              <a:rPr lang="en-US" sz="2800" dirty="0"/>
              <a:t>Loss = (</a:t>
            </a:r>
            <a:r>
              <a:rPr lang="en-US" sz="2800" b="1" i="1" dirty="0"/>
              <a:t>ATC</a:t>
            </a:r>
            <a:r>
              <a:rPr lang="en-US" sz="2800" dirty="0"/>
              <a:t> – </a:t>
            </a:r>
            <a:r>
              <a:rPr lang="en-US" sz="2800" b="1" i="1" dirty="0"/>
              <a:t>P</a:t>
            </a:r>
            <a:r>
              <a:rPr lang="en-US" sz="2800" dirty="0"/>
              <a:t> ) × </a:t>
            </a:r>
            <a:r>
              <a:rPr lang="en-US" sz="2800" b="1" i="1" dirty="0"/>
              <a:t>Q</a:t>
            </a:r>
            <a:r>
              <a:rPr lang="en-US" sz="2800" dirty="0"/>
              <a:t> = $60</a:t>
            </a:r>
          </a:p>
          <a:p>
            <a:pPr marL="0" indent="0">
              <a:buNone/>
            </a:pPr>
            <a:endParaRPr lang="en-US" sz="2800" dirty="0"/>
          </a:p>
        </p:txBody>
      </p:sp>
      <p:grpSp>
        <p:nvGrpSpPr>
          <p:cNvPr id="6" name="Group 7"/>
          <p:cNvGrpSpPr>
            <a:grpSpLocks/>
          </p:cNvGrpSpPr>
          <p:nvPr/>
        </p:nvGrpSpPr>
        <p:grpSpPr bwMode="auto">
          <a:xfrm>
            <a:off x="2998788" y="1143000"/>
            <a:ext cx="5916612" cy="4113212"/>
            <a:chOff x="1672" y="916"/>
            <a:chExt cx="3727" cy="2591"/>
          </a:xfrm>
        </p:grpSpPr>
        <p:grpSp>
          <p:nvGrpSpPr>
            <p:cNvPr id="7" name="Group 8"/>
            <p:cNvGrpSpPr>
              <a:grpSpLocks/>
            </p:cNvGrpSpPr>
            <p:nvPr/>
          </p:nvGrpSpPr>
          <p:grpSpPr bwMode="auto">
            <a:xfrm>
              <a:off x="2730" y="981"/>
              <a:ext cx="2357" cy="2385"/>
              <a:chOff x="1489" y="785"/>
              <a:chExt cx="3650" cy="2492"/>
            </a:xfrm>
          </p:grpSpPr>
          <p:sp>
            <p:nvSpPr>
              <p:cNvPr id="10"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1"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8" name="Text Box 11"/>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9" name="Text Box 12"/>
            <p:cNvSpPr txBox="1">
              <a:spLocks noChangeArrowheads="1"/>
            </p:cNvSpPr>
            <p:nvPr/>
          </p:nvSpPr>
          <p:spPr bwMode="auto">
            <a:xfrm>
              <a:off x="1672" y="916"/>
              <a:ext cx="1054"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Costs, </a:t>
              </a:r>
              <a:r>
                <a:rPr lang="en-US" sz="2400" b="1" i="1">
                  <a:latin typeface="Arial"/>
                  <a:cs typeface="Arial"/>
                </a:rPr>
                <a:t>P</a:t>
              </a:r>
            </a:p>
          </p:txBody>
        </p:sp>
      </p:grpSp>
      <p:grpSp>
        <p:nvGrpSpPr>
          <p:cNvPr id="12" name="Group 13"/>
          <p:cNvGrpSpPr>
            <a:grpSpLocks/>
          </p:cNvGrpSpPr>
          <p:nvPr/>
        </p:nvGrpSpPr>
        <p:grpSpPr bwMode="auto">
          <a:xfrm>
            <a:off x="5364163" y="1698625"/>
            <a:ext cx="2795588" cy="3181350"/>
            <a:chOff x="3162" y="1266"/>
            <a:chExt cx="1761" cy="2004"/>
          </a:xfrm>
        </p:grpSpPr>
        <p:sp>
          <p:nvSpPr>
            <p:cNvPr id="13" name="Line 14"/>
            <p:cNvSpPr>
              <a:spLocks noChangeShapeType="1"/>
            </p:cNvSpPr>
            <p:nvPr/>
          </p:nvSpPr>
          <p:spPr bwMode="auto">
            <a:xfrm flipV="1">
              <a:off x="3162" y="1588"/>
              <a:ext cx="1517" cy="1682"/>
            </a:xfrm>
            <a:prstGeom prst="line">
              <a:avLst/>
            </a:prstGeom>
            <a:noFill/>
            <a:ln w="38100">
              <a:solidFill>
                <a:srgbClr val="333399"/>
              </a:solidFill>
              <a:round/>
              <a:headEnd/>
              <a:tailEnd/>
            </a:ln>
          </p:spPr>
          <p:txBody>
            <a:bodyPr/>
            <a:lstStyle/>
            <a:p>
              <a:endParaRPr lang="en-US">
                <a:latin typeface="Arial"/>
                <a:cs typeface="Arial"/>
              </a:endParaRPr>
            </a:p>
          </p:txBody>
        </p:sp>
        <p:sp>
          <p:nvSpPr>
            <p:cNvPr id="14" name="Text Box 15"/>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15" name="Group 16"/>
          <p:cNvGrpSpPr>
            <a:grpSpLocks/>
          </p:cNvGrpSpPr>
          <p:nvPr/>
        </p:nvGrpSpPr>
        <p:grpSpPr bwMode="auto">
          <a:xfrm>
            <a:off x="4987925" y="2111375"/>
            <a:ext cx="3851275" cy="1516062"/>
            <a:chOff x="2925" y="1526"/>
            <a:chExt cx="2426" cy="955"/>
          </a:xfrm>
        </p:grpSpPr>
        <p:sp>
          <p:nvSpPr>
            <p:cNvPr id="16" name="Arc 17"/>
            <p:cNvSpPr>
              <a:spLocks/>
            </p:cNvSpPr>
            <p:nvPr/>
          </p:nvSpPr>
          <p:spPr bwMode="auto">
            <a:xfrm flipH="1" flipV="1">
              <a:off x="2925" y="152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17" name="Text Box 18"/>
            <p:cNvSpPr txBox="1">
              <a:spLocks noChangeArrowheads="1"/>
            </p:cNvSpPr>
            <p:nvPr/>
          </p:nvSpPr>
          <p:spPr bwMode="auto">
            <a:xfrm>
              <a:off x="4886" y="1894"/>
              <a:ext cx="465"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ATC</a:t>
              </a:r>
            </a:p>
          </p:txBody>
        </p:sp>
      </p:grpSp>
      <p:grpSp>
        <p:nvGrpSpPr>
          <p:cNvPr id="18" name="Group 52"/>
          <p:cNvGrpSpPr>
            <a:grpSpLocks/>
          </p:cNvGrpSpPr>
          <p:nvPr/>
        </p:nvGrpSpPr>
        <p:grpSpPr bwMode="auto">
          <a:xfrm>
            <a:off x="4135438" y="3413125"/>
            <a:ext cx="1912937" cy="381000"/>
            <a:chOff x="2388" y="2451"/>
            <a:chExt cx="1205" cy="240"/>
          </a:xfrm>
        </p:grpSpPr>
        <p:sp>
          <p:nvSpPr>
            <p:cNvPr id="19" name="Line 33"/>
            <p:cNvSpPr>
              <a:spLocks noChangeShapeType="1"/>
            </p:cNvSpPr>
            <p:nvPr/>
          </p:nvSpPr>
          <p:spPr bwMode="auto">
            <a:xfrm flipH="1" flipV="1">
              <a:off x="2730" y="2571"/>
              <a:ext cx="863"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0" name="Text Box 34"/>
            <p:cNvSpPr txBox="1">
              <a:spLocks noChangeArrowheads="1"/>
            </p:cNvSpPr>
            <p:nvPr/>
          </p:nvSpPr>
          <p:spPr bwMode="auto">
            <a:xfrm>
              <a:off x="2388" y="2451"/>
              <a:ext cx="291" cy="240"/>
            </a:xfrm>
            <a:prstGeom prst="rect">
              <a:avLst/>
            </a:prstGeom>
            <a:noFill/>
            <a:ln w="9525">
              <a:noFill/>
              <a:miter lim="800000"/>
              <a:headEnd/>
              <a:tailEnd/>
            </a:ln>
          </p:spPr>
          <p:txBody>
            <a:bodyPr lIns="0" tIns="0" rIns="0" bIns="0">
              <a:spAutoFit/>
            </a:bodyPr>
            <a:lstStyle/>
            <a:p>
              <a:pPr algn="r">
                <a:spcBef>
                  <a:spcPct val="50000"/>
                </a:spcBef>
              </a:pPr>
              <a:r>
                <a:rPr lang="en-US" sz="2500">
                  <a:latin typeface="Arial"/>
                  <a:cs typeface="Arial"/>
                </a:rPr>
                <a:t>$5</a:t>
              </a:r>
            </a:p>
          </p:txBody>
        </p:sp>
      </p:grpSp>
      <p:grpSp>
        <p:nvGrpSpPr>
          <p:cNvPr id="21" name="Group 51"/>
          <p:cNvGrpSpPr>
            <a:grpSpLocks/>
          </p:cNvGrpSpPr>
          <p:nvPr/>
        </p:nvGrpSpPr>
        <p:grpSpPr bwMode="auto">
          <a:xfrm>
            <a:off x="3375025" y="3910012"/>
            <a:ext cx="5534025" cy="473075"/>
            <a:chOff x="1909" y="2764"/>
            <a:chExt cx="3486" cy="298"/>
          </a:xfrm>
        </p:grpSpPr>
        <p:sp>
          <p:nvSpPr>
            <p:cNvPr id="22"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23" name="Text Box 40"/>
            <p:cNvSpPr txBox="1">
              <a:spLocks noChangeArrowheads="1"/>
            </p:cNvSpPr>
            <p:nvPr/>
          </p:nvSpPr>
          <p:spPr bwMode="auto">
            <a:xfrm>
              <a:off x="1909" y="2764"/>
              <a:ext cx="829"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r>
                <a:rPr lang="en-US" sz="2500">
                  <a:latin typeface="Arial"/>
                  <a:cs typeface="Arial"/>
                </a:rPr>
                <a:t> = $3</a:t>
              </a:r>
              <a:endParaRPr lang="en-US" sz="2500" baseline="-25000">
                <a:latin typeface="Arial"/>
                <a:cs typeface="Arial"/>
              </a:endParaRPr>
            </a:p>
          </p:txBody>
        </p:sp>
        <p:sp>
          <p:nvSpPr>
            <p:cNvPr id="24" name="Text Box 41"/>
            <p:cNvSpPr txBox="1">
              <a:spLocks noChangeArrowheads="1"/>
            </p:cNvSpPr>
            <p:nvPr/>
          </p:nvSpPr>
          <p:spPr bwMode="auto">
            <a:xfrm>
              <a:off x="5012" y="2791"/>
              <a:ext cx="38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MR</a:t>
              </a:r>
            </a:p>
          </p:txBody>
        </p:sp>
      </p:grpSp>
      <p:grpSp>
        <p:nvGrpSpPr>
          <p:cNvPr id="25" name="Group 42"/>
          <p:cNvGrpSpPr>
            <a:grpSpLocks/>
          </p:cNvGrpSpPr>
          <p:nvPr/>
        </p:nvGrpSpPr>
        <p:grpSpPr bwMode="auto">
          <a:xfrm>
            <a:off x="5791200" y="3600450"/>
            <a:ext cx="422275" cy="1822450"/>
            <a:chOff x="3429" y="2529"/>
            <a:chExt cx="266" cy="1148"/>
          </a:xfrm>
        </p:grpSpPr>
        <p:sp>
          <p:nvSpPr>
            <p:cNvPr id="26" name="Text Box 43"/>
            <p:cNvSpPr txBox="1">
              <a:spLocks noChangeArrowheads="1"/>
            </p:cNvSpPr>
            <p:nvPr/>
          </p:nvSpPr>
          <p:spPr bwMode="auto">
            <a:xfrm>
              <a:off x="3429" y="3437"/>
              <a:ext cx="266" cy="240"/>
            </a:xfrm>
            <a:prstGeom prst="rect">
              <a:avLst/>
            </a:prstGeom>
            <a:noFill/>
            <a:ln w="9525">
              <a:noFill/>
              <a:miter lim="800000"/>
              <a:headEnd/>
              <a:tailEnd/>
            </a:ln>
          </p:spPr>
          <p:txBody>
            <a:bodyPr lIns="0" tIns="0" rIns="0" bIns="0">
              <a:spAutoFit/>
            </a:bodyPr>
            <a:lstStyle/>
            <a:p>
              <a:pPr algn="ctr">
                <a:spcBef>
                  <a:spcPct val="50000"/>
                </a:spcBef>
              </a:pPr>
              <a:r>
                <a:rPr lang="en-US" sz="2500" dirty="0">
                  <a:latin typeface="Arial"/>
                  <a:cs typeface="Arial"/>
                </a:rPr>
                <a:t>30</a:t>
              </a:r>
              <a:endParaRPr lang="en-US" sz="2500" baseline="-25000" dirty="0">
                <a:latin typeface="Arial"/>
                <a:cs typeface="Arial"/>
              </a:endParaRPr>
            </a:p>
          </p:txBody>
        </p:sp>
        <p:sp>
          <p:nvSpPr>
            <p:cNvPr id="27" name="Line 44"/>
            <p:cNvSpPr>
              <a:spLocks noChangeShapeType="1"/>
            </p:cNvSpPr>
            <p:nvPr/>
          </p:nvSpPr>
          <p:spPr bwMode="auto">
            <a:xfrm>
              <a:off x="3593" y="2529"/>
              <a:ext cx="0" cy="90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30" name="Group 16"/>
          <p:cNvGrpSpPr>
            <a:grpSpLocks/>
          </p:cNvGrpSpPr>
          <p:nvPr/>
        </p:nvGrpSpPr>
        <p:grpSpPr bwMode="auto">
          <a:xfrm>
            <a:off x="4724400" y="2979738"/>
            <a:ext cx="4064000" cy="1516062"/>
            <a:chOff x="3213" y="1526"/>
            <a:chExt cx="2560" cy="955"/>
          </a:xfrm>
        </p:grpSpPr>
        <p:sp>
          <p:nvSpPr>
            <p:cNvPr id="31" name="Arc 17"/>
            <p:cNvSpPr>
              <a:spLocks/>
            </p:cNvSpPr>
            <p:nvPr/>
          </p:nvSpPr>
          <p:spPr bwMode="auto">
            <a:xfrm rot="20977858" flipH="1" flipV="1">
              <a:off x="3213" y="1526"/>
              <a:ext cx="2068"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32" name="Text Box 18"/>
            <p:cNvSpPr txBox="1">
              <a:spLocks noChangeArrowheads="1"/>
            </p:cNvSpPr>
            <p:nvPr/>
          </p:nvSpPr>
          <p:spPr bwMode="auto">
            <a:xfrm>
              <a:off x="5308" y="1720"/>
              <a:ext cx="465" cy="233"/>
            </a:xfrm>
            <a:prstGeom prst="rect">
              <a:avLst/>
            </a:prstGeom>
            <a:noFill/>
            <a:ln w="9525">
              <a:noFill/>
              <a:miter lim="800000"/>
              <a:headEnd/>
              <a:tailEnd/>
            </a:ln>
          </p:spPr>
          <p:txBody>
            <a:bodyPr lIns="0" tIns="0" rIns="0" bIns="0">
              <a:spAutoFit/>
            </a:bodyPr>
            <a:lstStyle/>
            <a:p>
              <a:pPr>
                <a:spcBef>
                  <a:spcPct val="50000"/>
                </a:spcBef>
              </a:pPr>
              <a:r>
                <a:rPr lang="en-US" sz="2400" i="1" dirty="0">
                  <a:latin typeface="Arial"/>
                  <a:cs typeface="Arial"/>
                </a:rPr>
                <a:t>AVC</a:t>
              </a:r>
            </a:p>
          </p:txBody>
        </p:sp>
      </p:grpSp>
      <p:grpSp>
        <p:nvGrpSpPr>
          <p:cNvPr id="33" name="Group 42"/>
          <p:cNvGrpSpPr>
            <a:grpSpLocks/>
          </p:cNvGrpSpPr>
          <p:nvPr/>
        </p:nvGrpSpPr>
        <p:grpSpPr bwMode="auto">
          <a:xfrm>
            <a:off x="6359525" y="3600450"/>
            <a:ext cx="422275" cy="1825625"/>
            <a:chOff x="3477" y="2529"/>
            <a:chExt cx="266" cy="1150"/>
          </a:xfrm>
        </p:grpSpPr>
        <p:sp>
          <p:nvSpPr>
            <p:cNvPr id="34" name="Text Box 43"/>
            <p:cNvSpPr txBox="1">
              <a:spLocks noChangeArrowheads="1"/>
            </p:cNvSpPr>
            <p:nvPr/>
          </p:nvSpPr>
          <p:spPr bwMode="auto">
            <a:xfrm>
              <a:off x="3477" y="3437"/>
              <a:ext cx="266" cy="242"/>
            </a:xfrm>
            <a:prstGeom prst="rect">
              <a:avLst/>
            </a:prstGeom>
            <a:noFill/>
            <a:ln w="9525">
              <a:noFill/>
              <a:miter lim="800000"/>
              <a:headEnd/>
              <a:tailEnd/>
            </a:ln>
          </p:spPr>
          <p:txBody>
            <a:bodyPr lIns="0" tIns="0" rIns="0" bIns="0">
              <a:spAutoFit/>
            </a:bodyPr>
            <a:lstStyle/>
            <a:p>
              <a:pPr algn="ctr">
                <a:spcBef>
                  <a:spcPct val="50000"/>
                </a:spcBef>
              </a:pPr>
              <a:r>
                <a:rPr lang="en-US" sz="2500" dirty="0">
                  <a:latin typeface="Arial"/>
                  <a:cs typeface="Arial"/>
                </a:rPr>
                <a:t>32</a:t>
              </a:r>
              <a:endParaRPr lang="en-US" sz="2500" baseline="-25000" dirty="0">
                <a:latin typeface="Arial"/>
                <a:cs typeface="Arial"/>
              </a:endParaRPr>
            </a:p>
          </p:txBody>
        </p:sp>
        <p:sp>
          <p:nvSpPr>
            <p:cNvPr id="35" name="Line 44"/>
            <p:cNvSpPr>
              <a:spLocks noChangeShapeType="1"/>
            </p:cNvSpPr>
            <p:nvPr/>
          </p:nvSpPr>
          <p:spPr bwMode="auto">
            <a:xfrm>
              <a:off x="3593" y="2529"/>
              <a:ext cx="0" cy="905"/>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38" name="Group 42"/>
          <p:cNvGrpSpPr>
            <a:grpSpLocks/>
          </p:cNvGrpSpPr>
          <p:nvPr/>
        </p:nvGrpSpPr>
        <p:grpSpPr bwMode="auto">
          <a:xfrm>
            <a:off x="7197725" y="2590800"/>
            <a:ext cx="422275" cy="2835275"/>
            <a:chOff x="3477" y="1893"/>
            <a:chExt cx="266" cy="1786"/>
          </a:xfrm>
        </p:grpSpPr>
        <p:sp>
          <p:nvSpPr>
            <p:cNvPr id="39" name="Text Box 43"/>
            <p:cNvSpPr txBox="1">
              <a:spLocks noChangeArrowheads="1"/>
            </p:cNvSpPr>
            <p:nvPr/>
          </p:nvSpPr>
          <p:spPr bwMode="auto">
            <a:xfrm>
              <a:off x="3477" y="3437"/>
              <a:ext cx="266" cy="242"/>
            </a:xfrm>
            <a:prstGeom prst="rect">
              <a:avLst/>
            </a:prstGeom>
            <a:noFill/>
            <a:ln w="9525">
              <a:noFill/>
              <a:miter lim="800000"/>
              <a:headEnd/>
              <a:tailEnd/>
            </a:ln>
          </p:spPr>
          <p:txBody>
            <a:bodyPr lIns="0" tIns="0" rIns="0" bIns="0">
              <a:spAutoFit/>
            </a:bodyPr>
            <a:lstStyle/>
            <a:p>
              <a:pPr algn="ctr">
                <a:spcBef>
                  <a:spcPct val="50000"/>
                </a:spcBef>
              </a:pPr>
              <a:r>
                <a:rPr lang="en-US" sz="2500" dirty="0">
                  <a:latin typeface="Arial"/>
                  <a:cs typeface="Arial"/>
                </a:rPr>
                <a:t>40</a:t>
              </a:r>
              <a:endParaRPr lang="en-US" sz="2500" baseline="-25000" dirty="0">
                <a:latin typeface="Arial"/>
                <a:cs typeface="Arial"/>
              </a:endParaRPr>
            </a:p>
          </p:txBody>
        </p:sp>
        <p:sp>
          <p:nvSpPr>
            <p:cNvPr id="40" name="Line 44"/>
            <p:cNvSpPr>
              <a:spLocks noChangeShapeType="1"/>
            </p:cNvSpPr>
            <p:nvPr/>
          </p:nvSpPr>
          <p:spPr bwMode="auto">
            <a:xfrm>
              <a:off x="3593" y="1893"/>
              <a:ext cx="0" cy="1541"/>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41" name="Group 52"/>
          <p:cNvGrpSpPr>
            <a:grpSpLocks/>
          </p:cNvGrpSpPr>
          <p:nvPr/>
        </p:nvGrpSpPr>
        <p:grpSpPr bwMode="auto">
          <a:xfrm>
            <a:off x="4135438" y="2438400"/>
            <a:ext cx="3246437" cy="381000"/>
            <a:chOff x="2388" y="2451"/>
            <a:chExt cx="2045" cy="240"/>
          </a:xfrm>
        </p:grpSpPr>
        <p:sp>
          <p:nvSpPr>
            <p:cNvPr id="42" name="Line 33"/>
            <p:cNvSpPr>
              <a:spLocks noChangeShapeType="1"/>
            </p:cNvSpPr>
            <p:nvPr/>
          </p:nvSpPr>
          <p:spPr bwMode="auto">
            <a:xfrm flipH="1" flipV="1">
              <a:off x="2730" y="2571"/>
              <a:ext cx="1703"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43" name="Text Box 34"/>
            <p:cNvSpPr txBox="1">
              <a:spLocks noChangeArrowheads="1"/>
            </p:cNvSpPr>
            <p:nvPr/>
          </p:nvSpPr>
          <p:spPr bwMode="auto">
            <a:xfrm>
              <a:off x="2388" y="2451"/>
              <a:ext cx="291" cy="240"/>
            </a:xfrm>
            <a:prstGeom prst="rect">
              <a:avLst/>
            </a:prstGeom>
            <a:noFill/>
            <a:ln w="9525">
              <a:noFill/>
              <a:miter lim="800000"/>
              <a:headEnd/>
              <a:tailEnd/>
            </a:ln>
          </p:spPr>
          <p:txBody>
            <a:bodyPr lIns="0" tIns="0" rIns="0" bIns="0">
              <a:spAutoFit/>
            </a:bodyPr>
            <a:lstStyle/>
            <a:p>
              <a:pPr algn="r">
                <a:spcBef>
                  <a:spcPct val="50000"/>
                </a:spcBef>
              </a:pPr>
              <a:r>
                <a:rPr lang="en-US" sz="2500" dirty="0">
                  <a:latin typeface="Arial"/>
                  <a:cs typeface="Arial"/>
                </a:rPr>
                <a:t>$8</a:t>
              </a:r>
            </a:p>
          </p:txBody>
        </p:sp>
      </p:grpSp>
      <p:sp>
        <p:nvSpPr>
          <p:cNvPr id="44" name="Oval 33"/>
          <p:cNvSpPr>
            <a:spLocks noChangeArrowheads="1"/>
          </p:cNvSpPr>
          <p:nvPr/>
        </p:nvSpPr>
        <p:spPr bwMode="auto">
          <a:xfrm>
            <a:off x="5981700" y="4080668"/>
            <a:ext cx="139700" cy="138113"/>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4" name="Footer Placeholder 3">
            <a:extLst>
              <a:ext uri="{FF2B5EF4-FFF2-40B4-BE49-F238E27FC236}">
                <a16:creationId xmlns:a16="http://schemas.microsoft.com/office/drawing/2014/main" id="{286B253A-8204-3366-8849-097A17555DF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0809053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left)">
                                      <p:cBhvr>
                                        <p:cTn id="11" dur="500"/>
                                        <p:tgtEl>
                                          <p:spTgt spid="5">
                                            <p:txEl>
                                              <p:pRg st="1" end="1"/>
                                            </p:txEl>
                                          </p:spTgt>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par>
                          <p:cTn id="15" fill="hold">
                            <p:stCondLst>
                              <p:cond delay="1000"/>
                            </p:stCondLst>
                            <p:childTnLst>
                              <p:par>
                                <p:cTn id="16" presetID="1" presetClass="exit" presetSubtype="0" fill="hold" nodeType="afterEffect">
                                  <p:stCondLst>
                                    <p:cond delay="500"/>
                                  </p:stCondLst>
                                  <p:childTnLst>
                                    <p:set>
                                      <p:cBhvr>
                                        <p:cTn id="17" dur="1" fill="hold">
                                          <p:stCondLst>
                                            <p:cond delay="0"/>
                                          </p:stCondLst>
                                        </p:cTn>
                                        <p:tgtEl>
                                          <p:spTgt spid="33"/>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38"/>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41"/>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wipe(left)">
                                      <p:cBhvr>
                                        <p:cTn id="26" dur="500"/>
                                        <p:tgtEl>
                                          <p:spTgt spid="5">
                                            <p:txEl>
                                              <p:pRg st="2" end="2"/>
                                            </p:txEl>
                                          </p:spTgt>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wipe(left)">
                                      <p:cBhvr>
                                        <p:cTn id="30" dur="500"/>
                                        <p:tgtEl>
                                          <p:spTgt spid="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wipe(left)">
                                      <p:cBhvr>
                                        <p:cTn id="35" dur="500"/>
                                        <p:tgtEl>
                                          <p:spTgt spid="5">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
                                            <p:txEl>
                                              <p:pRg st="5" end="5"/>
                                            </p:txEl>
                                          </p:spTgt>
                                        </p:tgtEl>
                                        <p:attrNameLst>
                                          <p:attrName>style.visibility</p:attrName>
                                        </p:attrNameLst>
                                      </p:cBhvr>
                                      <p:to>
                                        <p:strVal val="visible"/>
                                      </p:to>
                                    </p:set>
                                    <p:animEffect transition="in" filter="wipe(left)">
                                      <p:cBhvr>
                                        <p:cTn id="40" dur="500"/>
                                        <p:tgtEl>
                                          <p:spTgt spid="5">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
                                            <p:txEl>
                                              <p:pRg st="6" end="6"/>
                                            </p:txEl>
                                          </p:spTgt>
                                        </p:tgtEl>
                                        <p:attrNameLst>
                                          <p:attrName>style.visibility</p:attrName>
                                        </p:attrNameLst>
                                      </p:cBhvr>
                                      <p:to>
                                        <p:strVal val="visible"/>
                                      </p:to>
                                    </p:set>
                                    <p:animEffect transition="in" filter="wipe(left)">
                                      <p:cBhvr>
                                        <p:cTn id="45" dur="500"/>
                                        <p:tgtEl>
                                          <p:spTgt spid="5">
                                            <p:txEl>
                                              <p:pRg st="6" end="6"/>
                                            </p:txEl>
                                          </p:spTgt>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4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Supply:  Assumptions</a:t>
            </a:r>
          </a:p>
        </p:txBody>
      </p:sp>
      <p:sp>
        <p:nvSpPr>
          <p:cNvPr id="3" name="Content Placeholder 2"/>
          <p:cNvSpPr>
            <a:spLocks noGrp="1"/>
          </p:cNvSpPr>
          <p:nvPr>
            <p:ph idx="1"/>
          </p:nvPr>
        </p:nvSpPr>
        <p:spPr>
          <a:prstGeom prst="rect">
            <a:avLst/>
          </a:prstGeom>
        </p:spPr>
        <p:txBody>
          <a:bodyPr/>
          <a:lstStyle/>
          <a:p>
            <a:pPr marL="514350" indent="-514350">
              <a:buFont typeface="+mj-lt"/>
              <a:buAutoNum type="arabicPeriod"/>
            </a:pPr>
            <a:r>
              <a:rPr lang="en-US" dirty="0"/>
              <a:t>All existing firms and potential entrants have identical cost curves.</a:t>
            </a:r>
          </a:p>
          <a:p>
            <a:pPr marL="514350" indent="-514350">
              <a:buFont typeface="+mj-lt"/>
              <a:buAutoNum type="arabicPeriod"/>
            </a:pPr>
            <a:r>
              <a:rPr lang="en-US" dirty="0"/>
              <a:t>Each firm’s costs do not change as other firms enter or exit the market.</a:t>
            </a:r>
          </a:p>
          <a:p>
            <a:pPr marL="514350" indent="-514350">
              <a:buFont typeface="+mj-lt"/>
              <a:buAutoNum type="arabicPeriod"/>
            </a:pPr>
            <a:r>
              <a:rPr lang="en-US" dirty="0"/>
              <a:t>The number of firms in the market is: </a:t>
            </a:r>
          </a:p>
          <a:p>
            <a:pPr lvl="1"/>
            <a:r>
              <a:rPr lang="en-US" dirty="0"/>
              <a:t>Fixed in the short run (due to fixed costs)</a:t>
            </a:r>
          </a:p>
          <a:p>
            <a:pPr lvl="1"/>
            <a:r>
              <a:rPr lang="en-US" dirty="0"/>
              <a:t>Variable in the long run (due to free entry and exit)</a:t>
            </a:r>
          </a:p>
          <a:p>
            <a:endParaRPr lang="en-US"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20</a:t>
            </a:fld>
            <a:endParaRPr lang="en-US"/>
          </a:p>
        </p:txBody>
      </p:sp>
      <p:sp>
        <p:nvSpPr>
          <p:cNvPr id="5" name="Footer Placeholder 4">
            <a:extLst>
              <a:ext uri="{FF2B5EF4-FFF2-40B4-BE49-F238E27FC236}">
                <a16:creationId xmlns:a16="http://schemas.microsoft.com/office/drawing/2014/main" id="{AE12C755-1935-3ACF-7469-97838BE7BE80}"/>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77212428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 Run Market Supply Curve</a:t>
            </a:r>
          </a:p>
        </p:txBody>
      </p:sp>
      <p:sp>
        <p:nvSpPr>
          <p:cNvPr id="3" name="Content Placeholder 2"/>
          <p:cNvSpPr>
            <a:spLocks noGrp="1"/>
          </p:cNvSpPr>
          <p:nvPr>
            <p:ph idx="1"/>
          </p:nvPr>
        </p:nvSpPr>
        <p:spPr>
          <a:prstGeom prst="rect">
            <a:avLst/>
          </a:prstGeom>
        </p:spPr>
        <p:txBody>
          <a:bodyPr/>
          <a:lstStyle/>
          <a:p>
            <a:r>
              <a:rPr lang="en-US" dirty="0"/>
              <a:t>As long as </a:t>
            </a:r>
            <a:r>
              <a:rPr lang="en-US" b="1" i="1" dirty="0"/>
              <a:t>P</a:t>
            </a:r>
            <a:r>
              <a:rPr lang="en-US" dirty="0"/>
              <a:t> ≥ </a:t>
            </a:r>
            <a:r>
              <a:rPr lang="en-US" b="1" i="1" dirty="0"/>
              <a:t>AVC</a:t>
            </a:r>
          </a:p>
          <a:p>
            <a:pPr lvl="1"/>
            <a:r>
              <a:rPr lang="en-US" dirty="0"/>
              <a:t>Each firm will produce its profit-maximizing quantity, where </a:t>
            </a:r>
            <a:r>
              <a:rPr lang="en-US" b="1" i="1" dirty="0"/>
              <a:t>MR</a:t>
            </a:r>
            <a:r>
              <a:rPr lang="en-US" dirty="0"/>
              <a:t> = </a:t>
            </a:r>
            <a:r>
              <a:rPr lang="en-US" b="1" i="1" dirty="0"/>
              <a:t>MC</a:t>
            </a:r>
            <a:r>
              <a:rPr lang="en-US" dirty="0"/>
              <a:t>. </a:t>
            </a:r>
          </a:p>
          <a:p>
            <a:r>
              <a:rPr lang="en-US" dirty="0"/>
              <a:t>Recall from Chapter 4:  </a:t>
            </a:r>
          </a:p>
          <a:p>
            <a:pPr lvl="1"/>
            <a:r>
              <a:rPr lang="en-US" dirty="0"/>
              <a:t>At each price, the market quantity supplied is the sum of quantities supplied by all firms</a:t>
            </a:r>
          </a:p>
          <a:p>
            <a:r>
              <a:rPr lang="en-US" dirty="0"/>
              <a:t>Market supply:</a:t>
            </a:r>
          </a:p>
          <a:p>
            <a:pPr lvl="1"/>
            <a:r>
              <a:rPr lang="en-US" dirty="0"/>
              <a:t>The sum of all individual supplies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21</a:t>
            </a:fld>
            <a:endParaRPr lang="en-US"/>
          </a:p>
        </p:txBody>
      </p:sp>
      <p:sp>
        <p:nvSpPr>
          <p:cNvPr id="5" name="Footer Placeholder 4">
            <a:extLst>
              <a:ext uri="{FF2B5EF4-FFF2-40B4-BE49-F238E27FC236}">
                <a16:creationId xmlns:a16="http://schemas.microsoft.com/office/drawing/2014/main" id="{3A54328E-4695-FFC0-F8EC-514D3CD26C84}"/>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35093487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p:txBody>
          <a:bodyPr>
            <a:normAutofit/>
          </a:bodyPr>
          <a:lstStyle/>
          <a:p>
            <a:pPr algn="ctr" eaLnBrk="1" hangingPunct="1"/>
            <a:r>
              <a:rPr lang="en-US" dirty="0">
                <a:solidFill>
                  <a:srgbClr val="AE1221"/>
                </a:solidFill>
              </a:rPr>
              <a:t>The Short Run Market Supply Curve</a:t>
            </a:r>
          </a:p>
        </p:txBody>
      </p:sp>
      <p:sp>
        <p:nvSpPr>
          <p:cNvPr id="25" name="Slide Number Placeholder 24"/>
          <p:cNvSpPr>
            <a:spLocks noGrp="1"/>
          </p:cNvSpPr>
          <p:nvPr>
            <p:ph type="sldNum" sz="quarter" idx="10"/>
          </p:nvPr>
        </p:nvSpPr>
        <p:spPr/>
        <p:txBody>
          <a:bodyPr/>
          <a:lstStyle/>
          <a:p>
            <a:pPr>
              <a:defRPr/>
            </a:pPr>
            <a:fld id="{2F37425F-5E17-4209-B948-B5CE2119E408}" type="slidenum">
              <a:rPr lang="en-US" smtClean="0"/>
              <a:pPr>
                <a:defRPr/>
              </a:pPr>
              <a:t>22</a:t>
            </a:fld>
            <a:endParaRPr lang="en-US" dirty="0"/>
          </a:p>
        </p:txBody>
      </p:sp>
      <p:sp>
        <p:nvSpPr>
          <p:cNvPr id="23" name="Text Placeholder 22"/>
          <p:cNvSpPr>
            <a:spLocks noGrp="1"/>
          </p:cNvSpPr>
          <p:nvPr>
            <p:ph idx="12"/>
          </p:nvPr>
        </p:nvSpPr>
        <p:spPr>
          <a:xfrm>
            <a:off x="381000" y="838200"/>
            <a:ext cx="8518947" cy="1143000"/>
          </a:xfrm>
        </p:spPr>
        <p:txBody>
          <a:bodyPr/>
          <a:lstStyle/>
          <a:p>
            <a:pPr>
              <a:spcBef>
                <a:spcPct val="30000"/>
              </a:spcBef>
            </a:pPr>
            <a:r>
              <a:rPr lang="en-US" sz="2800" dirty="0">
                <a:cs typeface="Arial"/>
              </a:rPr>
              <a:t>Assume:  1,000 identical firms</a:t>
            </a:r>
          </a:p>
          <a:p>
            <a:pPr>
              <a:spcBef>
                <a:spcPct val="30000"/>
              </a:spcBef>
            </a:pPr>
            <a:r>
              <a:rPr lang="en-US" sz="2800" dirty="0">
                <a:cs typeface="Arial"/>
              </a:rPr>
              <a:t>At each </a:t>
            </a:r>
            <a:r>
              <a:rPr lang="en-US" sz="2800" b="1" i="1" dirty="0">
                <a:cs typeface="Arial"/>
              </a:rPr>
              <a:t>P</a:t>
            </a:r>
            <a:r>
              <a:rPr lang="en-US" sz="2800" dirty="0">
                <a:cs typeface="Arial"/>
              </a:rPr>
              <a:t>,  market </a:t>
            </a:r>
            <a:r>
              <a:rPr lang="en-US" sz="2800" b="1" i="1" dirty="0">
                <a:cs typeface="Arial"/>
              </a:rPr>
              <a:t>Q</a:t>
            </a:r>
            <a:r>
              <a:rPr lang="en-US" sz="2800" b="1" baseline="30000" dirty="0">
                <a:cs typeface="Arial"/>
              </a:rPr>
              <a:t>s</a:t>
            </a:r>
            <a:r>
              <a:rPr lang="en-US" sz="2800" dirty="0">
                <a:cs typeface="Arial"/>
              </a:rPr>
              <a:t>  =  1,000 x (one firm’s </a:t>
            </a:r>
            <a:r>
              <a:rPr lang="en-US" sz="2800" b="1" i="1" dirty="0">
                <a:cs typeface="Arial"/>
              </a:rPr>
              <a:t>Q</a:t>
            </a:r>
            <a:r>
              <a:rPr lang="en-US" sz="2800" b="1" baseline="30000" dirty="0">
                <a:cs typeface="Arial"/>
              </a:rPr>
              <a:t>s</a:t>
            </a:r>
            <a:r>
              <a:rPr lang="en-US" sz="2800" dirty="0">
                <a:cs typeface="Arial"/>
              </a:rPr>
              <a:t>)</a:t>
            </a:r>
          </a:p>
          <a:p>
            <a:endParaRPr lang="en-US" sz="2800" dirty="0"/>
          </a:p>
        </p:txBody>
      </p:sp>
      <p:grpSp>
        <p:nvGrpSpPr>
          <p:cNvPr id="2" name="Group 3"/>
          <p:cNvGrpSpPr>
            <a:grpSpLocks/>
          </p:cNvGrpSpPr>
          <p:nvPr/>
        </p:nvGrpSpPr>
        <p:grpSpPr bwMode="auto">
          <a:xfrm>
            <a:off x="1339850" y="2625725"/>
            <a:ext cx="1952625" cy="2203450"/>
            <a:chOff x="837" y="2095"/>
            <a:chExt cx="1230" cy="1388"/>
          </a:xfrm>
        </p:grpSpPr>
        <p:sp>
          <p:nvSpPr>
            <p:cNvPr id="30797" name="Line 4"/>
            <p:cNvSpPr>
              <a:spLocks noChangeShapeType="1"/>
            </p:cNvSpPr>
            <p:nvPr/>
          </p:nvSpPr>
          <p:spPr bwMode="auto">
            <a:xfrm flipV="1">
              <a:off x="837" y="2293"/>
              <a:ext cx="944" cy="1190"/>
            </a:xfrm>
            <a:prstGeom prst="line">
              <a:avLst/>
            </a:prstGeom>
            <a:noFill/>
            <a:ln w="38100">
              <a:solidFill>
                <a:srgbClr val="333399"/>
              </a:solidFill>
              <a:round/>
              <a:headEnd/>
              <a:tailEnd/>
            </a:ln>
          </p:spPr>
          <p:txBody>
            <a:bodyPr/>
            <a:lstStyle/>
            <a:p>
              <a:endParaRPr lang="en-US">
                <a:latin typeface="Arial"/>
                <a:cs typeface="Arial"/>
              </a:endParaRPr>
            </a:p>
          </p:txBody>
        </p:sp>
        <p:sp>
          <p:nvSpPr>
            <p:cNvPr id="30798" name="Text Box 5"/>
            <p:cNvSpPr txBox="1">
              <a:spLocks noChangeArrowheads="1"/>
            </p:cNvSpPr>
            <p:nvPr/>
          </p:nvSpPr>
          <p:spPr bwMode="auto">
            <a:xfrm>
              <a:off x="1684" y="2095"/>
              <a:ext cx="383"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MC</a:t>
              </a:r>
            </a:p>
          </p:txBody>
        </p:sp>
      </p:grpSp>
      <p:grpSp>
        <p:nvGrpSpPr>
          <p:cNvPr id="3" name="Group 6"/>
          <p:cNvGrpSpPr>
            <a:grpSpLocks/>
          </p:cNvGrpSpPr>
          <p:nvPr/>
        </p:nvGrpSpPr>
        <p:grpSpPr bwMode="auto">
          <a:xfrm>
            <a:off x="244475" y="3678238"/>
            <a:ext cx="3544888" cy="457200"/>
            <a:chOff x="147" y="2365"/>
            <a:chExt cx="2233" cy="288"/>
          </a:xfrm>
        </p:grpSpPr>
        <p:sp>
          <p:nvSpPr>
            <p:cNvPr id="30795" name="Line 7"/>
            <p:cNvSpPr>
              <a:spLocks noChangeShapeType="1"/>
            </p:cNvSpPr>
            <p:nvPr/>
          </p:nvSpPr>
          <p:spPr bwMode="auto">
            <a:xfrm>
              <a:off x="552" y="2516"/>
              <a:ext cx="1828" cy="0"/>
            </a:xfrm>
            <a:prstGeom prst="line">
              <a:avLst/>
            </a:prstGeom>
            <a:noFill/>
            <a:ln w="28575">
              <a:solidFill>
                <a:srgbClr val="A50021"/>
              </a:solidFill>
              <a:round/>
              <a:headEnd/>
              <a:tailEnd/>
            </a:ln>
          </p:spPr>
          <p:txBody>
            <a:bodyPr/>
            <a:lstStyle/>
            <a:p>
              <a:endParaRPr lang="en-US">
                <a:latin typeface="Arial"/>
                <a:cs typeface="Arial"/>
              </a:endParaRPr>
            </a:p>
          </p:txBody>
        </p:sp>
        <p:sp>
          <p:nvSpPr>
            <p:cNvPr id="30796" name="Text Box 8"/>
            <p:cNvSpPr txBox="1">
              <a:spLocks noChangeArrowheads="1"/>
            </p:cNvSpPr>
            <p:nvPr/>
          </p:nvSpPr>
          <p:spPr bwMode="auto">
            <a:xfrm>
              <a:off x="147" y="236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grpSp>
      <p:grpSp>
        <p:nvGrpSpPr>
          <p:cNvPr id="4" name="Group 9"/>
          <p:cNvGrpSpPr>
            <a:grpSpLocks/>
          </p:cNvGrpSpPr>
          <p:nvPr/>
        </p:nvGrpSpPr>
        <p:grpSpPr bwMode="auto">
          <a:xfrm>
            <a:off x="4583113" y="2184400"/>
            <a:ext cx="4230687" cy="3470275"/>
            <a:chOff x="2880" y="1817"/>
            <a:chExt cx="2665" cy="2186"/>
          </a:xfrm>
        </p:grpSpPr>
        <p:sp>
          <p:nvSpPr>
            <p:cNvPr id="30787" name="Text Box 10"/>
            <p:cNvSpPr txBox="1">
              <a:spLocks noChangeArrowheads="1"/>
            </p:cNvSpPr>
            <p:nvPr/>
          </p:nvSpPr>
          <p:spPr bwMode="auto">
            <a:xfrm>
              <a:off x="3609" y="1817"/>
              <a:ext cx="991" cy="288"/>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Market</a:t>
              </a:r>
            </a:p>
          </p:txBody>
        </p:sp>
        <p:grpSp>
          <p:nvGrpSpPr>
            <p:cNvPr id="5" name="Group 11"/>
            <p:cNvGrpSpPr>
              <a:grpSpLocks/>
            </p:cNvGrpSpPr>
            <p:nvPr/>
          </p:nvGrpSpPr>
          <p:grpSpPr bwMode="auto">
            <a:xfrm>
              <a:off x="2880" y="1982"/>
              <a:ext cx="2665" cy="2021"/>
              <a:chOff x="2880" y="1982"/>
              <a:chExt cx="2665" cy="2021"/>
            </a:xfrm>
          </p:grpSpPr>
          <p:grpSp>
            <p:nvGrpSpPr>
              <p:cNvPr id="6" name="Group 12"/>
              <p:cNvGrpSpPr>
                <a:grpSpLocks/>
              </p:cNvGrpSpPr>
              <p:nvPr/>
            </p:nvGrpSpPr>
            <p:grpSpPr bwMode="auto">
              <a:xfrm>
                <a:off x="3049" y="2232"/>
                <a:ext cx="1864" cy="1436"/>
                <a:chOff x="3049" y="1681"/>
                <a:chExt cx="1864" cy="1932"/>
              </a:xfrm>
            </p:grpSpPr>
            <p:sp>
              <p:nvSpPr>
                <p:cNvPr id="30793" name="Line 13"/>
                <p:cNvSpPr>
                  <a:spLocks noChangeShapeType="1"/>
                </p:cNvSpPr>
                <p:nvPr/>
              </p:nvSpPr>
              <p:spPr bwMode="auto">
                <a:xfrm>
                  <a:off x="3049" y="1681"/>
                  <a:ext cx="0" cy="1931"/>
                </a:xfrm>
                <a:prstGeom prst="line">
                  <a:avLst/>
                </a:prstGeom>
                <a:noFill/>
                <a:ln w="9525">
                  <a:solidFill>
                    <a:schemeClr val="tx1"/>
                  </a:solidFill>
                  <a:round/>
                  <a:headEnd/>
                  <a:tailEnd/>
                </a:ln>
              </p:spPr>
              <p:txBody>
                <a:bodyPr/>
                <a:lstStyle/>
                <a:p>
                  <a:endParaRPr lang="en-US">
                    <a:latin typeface="Arial"/>
                    <a:cs typeface="Arial"/>
                  </a:endParaRPr>
                </a:p>
              </p:txBody>
            </p:sp>
            <p:sp>
              <p:nvSpPr>
                <p:cNvPr id="30794" name="Line 14"/>
                <p:cNvSpPr>
                  <a:spLocks noChangeShapeType="1"/>
                </p:cNvSpPr>
                <p:nvPr/>
              </p:nvSpPr>
              <p:spPr bwMode="auto">
                <a:xfrm>
                  <a:off x="3049" y="3613"/>
                  <a:ext cx="1864"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0790" name="Text Box 15"/>
              <p:cNvSpPr txBox="1">
                <a:spLocks noChangeArrowheads="1"/>
              </p:cNvSpPr>
              <p:nvPr/>
            </p:nvSpPr>
            <p:spPr bwMode="auto">
              <a:xfrm>
                <a:off x="4886" y="3523"/>
                <a:ext cx="355"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0791" name="Text Box 16"/>
              <p:cNvSpPr txBox="1">
                <a:spLocks noChangeArrowheads="1"/>
              </p:cNvSpPr>
              <p:nvPr/>
            </p:nvSpPr>
            <p:spPr bwMode="auto">
              <a:xfrm>
                <a:off x="2880" y="1982"/>
                <a:ext cx="298"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sp>
            <p:nvSpPr>
              <p:cNvPr id="30792" name="Text Box 17"/>
              <p:cNvSpPr txBox="1">
                <a:spLocks noChangeArrowheads="1"/>
              </p:cNvSpPr>
              <p:nvPr/>
            </p:nvSpPr>
            <p:spPr bwMode="auto">
              <a:xfrm>
                <a:off x="4701" y="3715"/>
                <a:ext cx="844"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(market)</a:t>
                </a:r>
              </a:p>
            </p:txBody>
          </p:sp>
        </p:grpSp>
      </p:grpSp>
      <p:grpSp>
        <p:nvGrpSpPr>
          <p:cNvPr id="7" name="Group 18"/>
          <p:cNvGrpSpPr>
            <a:grpSpLocks/>
          </p:cNvGrpSpPr>
          <p:nvPr/>
        </p:nvGrpSpPr>
        <p:grpSpPr bwMode="auto">
          <a:xfrm>
            <a:off x="636588" y="2146300"/>
            <a:ext cx="3811587" cy="3514725"/>
            <a:chOff x="394" y="1793"/>
            <a:chExt cx="2401" cy="2214"/>
          </a:xfrm>
        </p:grpSpPr>
        <p:sp>
          <p:nvSpPr>
            <p:cNvPr id="30779" name="Text Box 19"/>
            <p:cNvSpPr txBox="1">
              <a:spLocks noChangeArrowheads="1"/>
            </p:cNvSpPr>
            <p:nvPr/>
          </p:nvSpPr>
          <p:spPr bwMode="auto">
            <a:xfrm>
              <a:off x="1032" y="1793"/>
              <a:ext cx="991" cy="288"/>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One firm</a:t>
              </a:r>
            </a:p>
          </p:txBody>
        </p:sp>
        <p:grpSp>
          <p:nvGrpSpPr>
            <p:cNvPr id="8" name="Group 20"/>
            <p:cNvGrpSpPr>
              <a:grpSpLocks/>
            </p:cNvGrpSpPr>
            <p:nvPr/>
          </p:nvGrpSpPr>
          <p:grpSpPr bwMode="auto">
            <a:xfrm>
              <a:off x="394" y="1985"/>
              <a:ext cx="2401" cy="2022"/>
              <a:chOff x="394" y="1985"/>
              <a:chExt cx="2401" cy="2022"/>
            </a:xfrm>
          </p:grpSpPr>
          <p:grpSp>
            <p:nvGrpSpPr>
              <p:cNvPr id="9" name="Group 21"/>
              <p:cNvGrpSpPr>
                <a:grpSpLocks/>
              </p:cNvGrpSpPr>
              <p:nvPr/>
            </p:nvGrpSpPr>
            <p:grpSpPr bwMode="auto">
              <a:xfrm>
                <a:off x="555" y="2234"/>
                <a:ext cx="1774" cy="1431"/>
                <a:chOff x="1489" y="785"/>
                <a:chExt cx="3650" cy="2492"/>
              </a:xfrm>
            </p:grpSpPr>
            <p:sp>
              <p:nvSpPr>
                <p:cNvPr id="30785" name="Line 22"/>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30786" name="Line 23"/>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0782" name="Text Box 24"/>
              <p:cNvSpPr txBox="1">
                <a:spLocks noChangeArrowheads="1"/>
              </p:cNvSpPr>
              <p:nvPr/>
            </p:nvSpPr>
            <p:spPr bwMode="auto">
              <a:xfrm>
                <a:off x="2303" y="3520"/>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0783" name="Text Box 25"/>
              <p:cNvSpPr txBox="1">
                <a:spLocks noChangeArrowheads="1"/>
              </p:cNvSpPr>
              <p:nvPr/>
            </p:nvSpPr>
            <p:spPr bwMode="auto">
              <a:xfrm>
                <a:off x="394" y="1985"/>
                <a:ext cx="284"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sp>
            <p:nvSpPr>
              <p:cNvPr id="30784" name="Text Box 26"/>
              <p:cNvSpPr txBox="1">
                <a:spLocks noChangeArrowheads="1"/>
              </p:cNvSpPr>
              <p:nvPr/>
            </p:nvSpPr>
            <p:spPr bwMode="auto">
              <a:xfrm>
                <a:off x="2185" y="3719"/>
                <a:ext cx="610"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(firm)</a:t>
                </a:r>
              </a:p>
            </p:txBody>
          </p:sp>
        </p:grpSp>
      </p:grpSp>
      <p:grpSp>
        <p:nvGrpSpPr>
          <p:cNvPr id="10" name="Group 88"/>
          <p:cNvGrpSpPr>
            <a:grpSpLocks/>
          </p:cNvGrpSpPr>
          <p:nvPr/>
        </p:nvGrpSpPr>
        <p:grpSpPr bwMode="auto">
          <a:xfrm>
            <a:off x="5459413" y="2635250"/>
            <a:ext cx="2519362" cy="1971675"/>
            <a:chOff x="3439" y="1660"/>
            <a:chExt cx="1587" cy="1242"/>
          </a:xfrm>
        </p:grpSpPr>
        <p:sp>
          <p:nvSpPr>
            <p:cNvPr id="30777" name="Line 28"/>
            <p:cNvSpPr>
              <a:spLocks noChangeShapeType="1"/>
            </p:cNvSpPr>
            <p:nvPr/>
          </p:nvSpPr>
          <p:spPr bwMode="auto">
            <a:xfrm flipV="1">
              <a:off x="3439" y="1848"/>
              <a:ext cx="1366" cy="1054"/>
            </a:xfrm>
            <a:prstGeom prst="line">
              <a:avLst/>
            </a:prstGeom>
            <a:noFill/>
            <a:ln w="38100">
              <a:solidFill>
                <a:srgbClr val="333399"/>
              </a:solidFill>
              <a:round/>
              <a:headEnd/>
              <a:tailEnd/>
            </a:ln>
          </p:spPr>
          <p:txBody>
            <a:bodyPr/>
            <a:lstStyle/>
            <a:p>
              <a:endParaRPr lang="en-US">
                <a:latin typeface="Arial"/>
                <a:cs typeface="Arial"/>
              </a:endParaRPr>
            </a:p>
          </p:txBody>
        </p:sp>
        <p:sp>
          <p:nvSpPr>
            <p:cNvPr id="30778" name="Text Box 29"/>
            <p:cNvSpPr txBox="1">
              <a:spLocks noChangeArrowheads="1"/>
            </p:cNvSpPr>
            <p:nvPr/>
          </p:nvSpPr>
          <p:spPr bwMode="auto">
            <a:xfrm>
              <a:off x="4724" y="1660"/>
              <a:ext cx="302"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S</a:t>
              </a:r>
              <a:endParaRPr lang="en-US" sz="2400" b="1" baseline="-25000">
                <a:latin typeface="Arial"/>
                <a:cs typeface="Arial"/>
              </a:endParaRPr>
            </a:p>
          </p:txBody>
        </p:sp>
      </p:grpSp>
      <p:grpSp>
        <p:nvGrpSpPr>
          <p:cNvPr id="11" name="Group 30"/>
          <p:cNvGrpSpPr>
            <a:grpSpLocks/>
          </p:cNvGrpSpPr>
          <p:nvPr/>
        </p:nvGrpSpPr>
        <p:grpSpPr bwMode="auto">
          <a:xfrm>
            <a:off x="244475" y="2998788"/>
            <a:ext cx="3544888" cy="457200"/>
            <a:chOff x="147" y="1895"/>
            <a:chExt cx="2233" cy="288"/>
          </a:xfrm>
        </p:grpSpPr>
        <p:sp>
          <p:nvSpPr>
            <p:cNvPr id="30775" name="Line 31"/>
            <p:cNvSpPr>
              <a:spLocks noChangeShapeType="1"/>
            </p:cNvSpPr>
            <p:nvPr/>
          </p:nvSpPr>
          <p:spPr bwMode="auto">
            <a:xfrm>
              <a:off x="552" y="2046"/>
              <a:ext cx="1828" cy="0"/>
            </a:xfrm>
            <a:prstGeom prst="line">
              <a:avLst/>
            </a:prstGeom>
            <a:noFill/>
            <a:ln w="28575">
              <a:solidFill>
                <a:srgbClr val="83363A"/>
              </a:solidFill>
              <a:round/>
              <a:headEnd/>
              <a:tailEnd/>
            </a:ln>
          </p:spPr>
          <p:txBody>
            <a:bodyPr/>
            <a:lstStyle/>
            <a:p>
              <a:endParaRPr lang="en-US">
                <a:latin typeface="Arial"/>
                <a:cs typeface="Arial"/>
              </a:endParaRPr>
            </a:p>
          </p:txBody>
        </p:sp>
        <p:sp>
          <p:nvSpPr>
            <p:cNvPr id="30776" name="Text Box 32"/>
            <p:cNvSpPr txBox="1">
              <a:spLocks noChangeArrowheads="1"/>
            </p:cNvSpPr>
            <p:nvPr/>
          </p:nvSpPr>
          <p:spPr bwMode="auto">
            <a:xfrm>
              <a:off x="147" y="189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3</a:t>
              </a:r>
            </a:p>
          </p:txBody>
        </p:sp>
      </p:grpSp>
      <p:grpSp>
        <p:nvGrpSpPr>
          <p:cNvPr id="12" name="Group 83"/>
          <p:cNvGrpSpPr>
            <a:grpSpLocks/>
          </p:cNvGrpSpPr>
          <p:nvPr/>
        </p:nvGrpSpPr>
        <p:grpSpPr bwMode="auto">
          <a:xfrm>
            <a:off x="920750" y="1820863"/>
            <a:ext cx="2584450" cy="2759075"/>
            <a:chOff x="580" y="1147"/>
            <a:chExt cx="1628" cy="1738"/>
          </a:xfrm>
        </p:grpSpPr>
        <p:sp>
          <p:nvSpPr>
            <p:cNvPr id="30773" name="Arc 38"/>
            <p:cNvSpPr>
              <a:spLocks/>
            </p:cNvSpPr>
            <p:nvPr/>
          </p:nvSpPr>
          <p:spPr bwMode="auto">
            <a:xfrm rot="-239273" flipH="1" flipV="1">
              <a:off x="580" y="1147"/>
              <a:ext cx="1135" cy="1738"/>
            </a:xfrm>
            <a:custGeom>
              <a:avLst/>
              <a:gdLst>
                <a:gd name="T0" fmla="*/ 0 w 16034"/>
                <a:gd name="T1" fmla="*/ 0 h 21600"/>
                <a:gd name="T2" fmla="*/ 0 w 16034"/>
                <a:gd name="T3" fmla="*/ 0 h 21600"/>
                <a:gd name="T4" fmla="*/ 0 w 16034"/>
                <a:gd name="T5" fmla="*/ 0 h 21600"/>
                <a:gd name="T6" fmla="*/ 0 60000 65536"/>
                <a:gd name="T7" fmla="*/ 0 60000 65536"/>
                <a:gd name="T8" fmla="*/ 0 60000 65536"/>
                <a:gd name="T9" fmla="*/ 0 w 16034"/>
                <a:gd name="T10" fmla="*/ 0 h 21600"/>
                <a:gd name="T11" fmla="*/ 16034 w 16034"/>
                <a:gd name="T12" fmla="*/ 21600 h 21600"/>
              </a:gdLst>
              <a:ahLst/>
              <a:cxnLst>
                <a:cxn ang="T6">
                  <a:pos x="T0" y="T1"/>
                </a:cxn>
                <a:cxn ang="T7">
                  <a:pos x="T2" y="T3"/>
                </a:cxn>
                <a:cxn ang="T8">
                  <a:pos x="T4" y="T5"/>
                </a:cxn>
              </a:cxnLst>
              <a:rect l="T9" t="T10" r="T11" b="T12"/>
              <a:pathLst>
                <a:path w="16034" h="21600" fill="none" extrusionOk="0">
                  <a:moveTo>
                    <a:pt x="-1" y="2700"/>
                  </a:moveTo>
                  <a:cubicBezTo>
                    <a:pt x="3200" y="929"/>
                    <a:pt x="6799" y="-1"/>
                    <a:pt x="10458" y="0"/>
                  </a:cubicBezTo>
                  <a:cubicBezTo>
                    <a:pt x="12340" y="0"/>
                    <a:pt x="14215" y="246"/>
                    <a:pt x="16033" y="732"/>
                  </a:cubicBezTo>
                </a:path>
                <a:path w="16034" h="21600" stroke="0" extrusionOk="0">
                  <a:moveTo>
                    <a:pt x="-1" y="2700"/>
                  </a:moveTo>
                  <a:cubicBezTo>
                    <a:pt x="3200" y="929"/>
                    <a:pt x="6799" y="-1"/>
                    <a:pt x="10458" y="0"/>
                  </a:cubicBezTo>
                  <a:cubicBezTo>
                    <a:pt x="12340" y="0"/>
                    <a:pt x="14215" y="246"/>
                    <a:pt x="16033" y="732"/>
                  </a:cubicBezTo>
                  <a:lnTo>
                    <a:pt x="10458"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30774" name="Text Box 39"/>
            <p:cNvSpPr txBox="1">
              <a:spLocks noChangeArrowheads="1"/>
            </p:cNvSpPr>
            <p:nvPr/>
          </p:nvSpPr>
          <p:spPr bwMode="auto">
            <a:xfrm>
              <a:off x="1773" y="2497"/>
              <a:ext cx="435"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AVC</a:t>
              </a:r>
            </a:p>
          </p:txBody>
        </p:sp>
      </p:grpSp>
      <p:grpSp>
        <p:nvGrpSpPr>
          <p:cNvPr id="13" name="Group 40"/>
          <p:cNvGrpSpPr>
            <a:grpSpLocks/>
          </p:cNvGrpSpPr>
          <p:nvPr/>
        </p:nvGrpSpPr>
        <p:grpSpPr bwMode="auto">
          <a:xfrm>
            <a:off x="4208463" y="3675063"/>
            <a:ext cx="3544887" cy="457200"/>
            <a:chOff x="2644" y="2363"/>
            <a:chExt cx="2233" cy="288"/>
          </a:xfrm>
        </p:grpSpPr>
        <p:sp>
          <p:nvSpPr>
            <p:cNvPr id="30771" name="Line 41"/>
            <p:cNvSpPr>
              <a:spLocks noChangeShapeType="1"/>
            </p:cNvSpPr>
            <p:nvPr/>
          </p:nvSpPr>
          <p:spPr bwMode="auto">
            <a:xfrm>
              <a:off x="3049" y="2514"/>
              <a:ext cx="1828" cy="0"/>
            </a:xfrm>
            <a:prstGeom prst="line">
              <a:avLst/>
            </a:prstGeom>
            <a:noFill/>
            <a:ln w="28575">
              <a:solidFill>
                <a:srgbClr val="A50021"/>
              </a:solidFill>
              <a:round/>
              <a:headEnd/>
              <a:tailEnd/>
            </a:ln>
          </p:spPr>
          <p:txBody>
            <a:bodyPr/>
            <a:lstStyle/>
            <a:p>
              <a:endParaRPr lang="en-US">
                <a:latin typeface="Arial"/>
                <a:cs typeface="Arial"/>
              </a:endParaRPr>
            </a:p>
          </p:txBody>
        </p:sp>
        <p:sp>
          <p:nvSpPr>
            <p:cNvPr id="30772" name="Text Box 42"/>
            <p:cNvSpPr txBox="1">
              <a:spLocks noChangeArrowheads="1"/>
            </p:cNvSpPr>
            <p:nvPr/>
          </p:nvSpPr>
          <p:spPr bwMode="auto">
            <a:xfrm>
              <a:off x="2644" y="2363"/>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grpSp>
      <p:grpSp>
        <p:nvGrpSpPr>
          <p:cNvPr id="14" name="Group 43"/>
          <p:cNvGrpSpPr>
            <a:grpSpLocks/>
          </p:cNvGrpSpPr>
          <p:nvPr/>
        </p:nvGrpSpPr>
        <p:grpSpPr bwMode="auto">
          <a:xfrm>
            <a:off x="4208463" y="2995613"/>
            <a:ext cx="3544887" cy="457200"/>
            <a:chOff x="2644" y="1893"/>
            <a:chExt cx="2233" cy="288"/>
          </a:xfrm>
        </p:grpSpPr>
        <p:sp>
          <p:nvSpPr>
            <p:cNvPr id="30769" name="Line 44"/>
            <p:cNvSpPr>
              <a:spLocks noChangeShapeType="1"/>
            </p:cNvSpPr>
            <p:nvPr/>
          </p:nvSpPr>
          <p:spPr bwMode="auto">
            <a:xfrm>
              <a:off x="3049" y="2044"/>
              <a:ext cx="1828" cy="0"/>
            </a:xfrm>
            <a:prstGeom prst="line">
              <a:avLst/>
            </a:prstGeom>
            <a:noFill/>
            <a:ln w="28575">
              <a:solidFill>
                <a:srgbClr val="83363A"/>
              </a:solidFill>
              <a:round/>
              <a:headEnd/>
              <a:tailEnd/>
            </a:ln>
          </p:spPr>
          <p:txBody>
            <a:bodyPr/>
            <a:lstStyle/>
            <a:p>
              <a:endParaRPr lang="en-US">
                <a:latin typeface="Arial"/>
                <a:cs typeface="Arial"/>
              </a:endParaRPr>
            </a:p>
          </p:txBody>
        </p:sp>
        <p:sp>
          <p:nvSpPr>
            <p:cNvPr id="30770" name="Text Box 45"/>
            <p:cNvSpPr txBox="1">
              <a:spLocks noChangeArrowheads="1"/>
            </p:cNvSpPr>
            <p:nvPr/>
          </p:nvSpPr>
          <p:spPr bwMode="auto">
            <a:xfrm>
              <a:off x="2644" y="1893"/>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3</a:t>
              </a:r>
            </a:p>
          </p:txBody>
        </p:sp>
      </p:grpSp>
      <p:grpSp>
        <p:nvGrpSpPr>
          <p:cNvPr id="15" name="Group 75"/>
          <p:cNvGrpSpPr>
            <a:grpSpLocks/>
          </p:cNvGrpSpPr>
          <p:nvPr/>
        </p:nvGrpSpPr>
        <p:grpSpPr bwMode="auto">
          <a:xfrm>
            <a:off x="2384425" y="3178176"/>
            <a:ext cx="438150" cy="2347913"/>
            <a:chOff x="1502" y="2002"/>
            <a:chExt cx="276" cy="1479"/>
          </a:xfrm>
        </p:grpSpPr>
        <p:sp>
          <p:nvSpPr>
            <p:cNvPr id="30766" name="Line 70"/>
            <p:cNvSpPr>
              <a:spLocks noChangeShapeType="1"/>
            </p:cNvSpPr>
            <p:nvPr/>
          </p:nvSpPr>
          <p:spPr bwMode="auto">
            <a:xfrm>
              <a:off x="1641" y="2043"/>
              <a:ext cx="0" cy="1182"/>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67" name="Oval 48"/>
            <p:cNvSpPr>
              <a:spLocks noChangeAspect="1" noChangeArrowheads="1"/>
            </p:cNvSpPr>
            <p:nvPr/>
          </p:nvSpPr>
          <p:spPr bwMode="auto">
            <a:xfrm>
              <a:off x="1602" y="2002"/>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0768" name="Text Box 49"/>
            <p:cNvSpPr txBox="1">
              <a:spLocks noChangeArrowheads="1"/>
            </p:cNvSpPr>
            <p:nvPr/>
          </p:nvSpPr>
          <p:spPr bwMode="auto">
            <a:xfrm>
              <a:off x="1502" y="3248"/>
              <a:ext cx="276"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30</a:t>
              </a:r>
              <a:endParaRPr lang="en-US" sz="2400" baseline="-25000">
                <a:latin typeface="Arial"/>
                <a:cs typeface="Arial"/>
              </a:endParaRPr>
            </a:p>
          </p:txBody>
        </p:sp>
      </p:grpSp>
      <p:grpSp>
        <p:nvGrpSpPr>
          <p:cNvPr id="16" name="Group 60"/>
          <p:cNvGrpSpPr>
            <a:grpSpLocks/>
          </p:cNvGrpSpPr>
          <p:nvPr/>
        </p:nvGrpSpPr>
        <p:grpSpPr bwMode="auto">
          <a:xfrm>
            <a:off x="246063" y="4360863"/>
            <a:ext cx="3544887" cy="457200"/>
            <a:chOff x="147" y="2365"/>
            <a:chExt cx="2233" cy="288"/>
          </a:xfrm>
        </p:grpSpPr>
        <p:sp>
          <p:nvSpPr>
            <p:cNvPr id="30764" name="Line 61"/>
            <p:cNvSpPr>
              <a:spLocks noChangeShapeType="1"/>
            </p:cNvSpPr>
            <p:nvPr/>
          </p:nvSpPr>
          <p:spPr bwMode="auto">
            <a:xfrm>
              <a:off x="552" y="2516"/>
              <a:ext cx="1828" cy="0"/>
            </a:xfrm>
            <a:prstGeom prst="line">
              <a:avLst/>
            </a:prstGeom>
            <a:noFill/>
            <a:ln w="28575">
              <a:solidFill>
                <a:srgbClr val="006600"/>
              </a:solidFill>
              <a:round/>
              <a:headEnd/>
              <a:tailEnd/>
            </a:ln>
          </p:spPr>
          <p:txBody>
            <a:bodyPr/>
            <a:lstStyle/>
            <a:p>
              <a:endParaRPr lang="en-US">
                <a:latin typeface="Arial"/>
                <a:cs typeface="Arial"/>
              </a:endParaRPr>
            </a:p>
          </p:txBody>
        </p:sp>
        <p:sp>
          <p:nvSpPr>
            <p:cNvPr id="30765" name="Text Box 62"/>
            <p:cNvSpPr txBox="1">
              <a:spLocks noChangeArrowheads="1"/>
            </p:cNvSpPr>
            <p:nvPr/>
          </p:nvSpPr>
          <p:spPr bwMode="auto">
            <a:xfrm>
              <a:off x="147" y="236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grpSp>
        <p:nvGrpSpPr>
          <p:cNvPr id="17" name="Group 74"/>
          <p:cNvGrpSpPr>
            <a:grpSpLocks/>
          </p:cNvGrpSpPr>
          <p:nvPr/>
        </p:nvGrpSpPr>
        <p:grpSpPr bwMode="auto">
          <a:xfrm>
            <a:off x="1841500" y="3856039"/>
            <a:ext cx="438150" cy="1671638"/>
            <a:chOff x="1160" y="2429"/>
            <a:chExt cx="276" cy="1053"/>
          </a:xfrm>
        </p:grpSpPr>
        <p:sp>
          <p:nvSpPr>
            <p:cNvPr id="30761" name="Text Box 35"/>
            <p:cNvSpPr txBox="1">
              <a:spLocks noChangeArrowheads="1"/>
            </p:cNvSpPr>
            <p:nvPr/>
          </p:nvSpPr>
          <p:spPr bwMode="auto">
            <a:xfrm>
              <a:off x="1160" y="3249"/>
              <a:ext cx="276"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20</a:t>
              </a:r>
              <a:endParaRPr lang="en-US" sz="2400" baseline="-25000">
                <a:latin typeface="Arial"/>
                <a:cs typeface="Arial"/>
              </a:endParaRPr>
            </a:p>
          </p:txBody>
        </p:sp>
        <p:sp>
          <p:nvSpPr>
            <p:cNvPr id="30762" name="Line 71"/>
            <p:cNvSpPr>
              <a:spLocks noChangeShapeType="1"/>
            </p:cNvSpPr>
            <p:nvPr/>
          </p:nvSpPr>
          <p:spPr bwMode="auto">
            <a:xfrm>
              <a:off x="1302" y="2457"/>
              <a:ext cx="0" cy="768"/>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63" name="Oval 36"/>
            <p:cNvSpPr>
              <a:spLocks noChangeAspect="1" noChangeArrowheads="1"/>
            </p:cNvSpPr>
            <p:nvPr/>
          </p:nvSpPr>
          <p:spPr bwMode="auto">
            <a:xfrm>
              <a:off x="1266" y="2429"/>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18" name="Group 73"/>
          <p:cNvGrpSpPr>
            <a:grpSpLocks/>
          </p:cNvGrpSpPr>
          <p:nvPr/>
        </p:nvGrpSpPr>
        <p:grpSpPr bwMode="auto">
          <a:xfrm>
            <a:off x="1303338" y="4541840"/>
            <a:ext cx="438150" cy="985838"/>
            <a:chOff x="821" y="2861"/>
            <a:chExt cx="276" cy="621"/>
          </a:xfrm>
        </p:grpSpPr>
        <p:sp>
          <p:nvSpPr>
            <p:cNvPr id="30758" name="Text Box 66"/>
            <p:cNvSpPr txBox="1">
              <a:spLocks noChangeArrowheads="1"/>
            </p:cNvSpPr>
            <p:nvPr/>
          </p:nvSpPr>
          <p:spPr bwMode="auto">
            <a:xfrm>
              <a:off x="821" y="3249"/>
              <a:ext cx="276"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10</a:t>
              </a:r>
              <a:endParaRPr lang="en-US" sz="2400" baseline="-25000">
                <a:latin typeface="Arial"/>
                <a:cs typeface="Arial"/>
              </a:endParaRPr>
            </a:p>
          </p:txBody>
        </p:sp>
        <p:sp>
          <p:nvSpPr>
            <p:cNvPr id="30759" name="Line 72"/>
            <p:cNvSpPr>
              <a:spLocks noChangeShapeType="1"/>
            </p:cNvSpPr>
            <p:nvPr/>
          </p:nvSpPr>
          <p:spPr bwMode="auto">
            <a:xfrm>
              <a:off x="963" y="2895"/>
              <a:ext cx="0" cy="327"/>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60" name="Oval 67"/>
            <p:cNvSpPr>
              <a:spLocks noChangeAspect="1" noChangeArrowheads="1"/>
            </p:cNvSpPr>
            <p:nvPr/>
          </p:nvSpPr>
          <p:spPr bwMode="auto">
            <a:xfrm>
              <a:off x="927" y="2861"/>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19" name="Group 76"/>
          <p:cNvGrpSpPr>
            <a:grpSpLocks/>
          </p:cNvGrpSpPr>
          <p:nvPr/>
        </p:nvGrpSpPr>
        <p:grpSpPr bwMode="auto">
          <a:xfrm>
            <a:off x="4210050" y="4364038"/>
            <a:ext cx="3544888" cy="457200"/>
            <a:chOff x="147" y="2365"/>
            <a:chExt cx="2233" cy="288"/>
          </a:xfrm>
        </p:grpSpPr>
        <p:sp>
          <p:nvSpPr>
            <p:cNvPr id="30756" name="Line 77"/>
            <p:cNvSpPr>
              <a:spLocks noChangeShapeType="1"/>
            </p:cNvSpPr>
            <p:nvPr/>
          </p:nvSpPr>
          <p:spPr bwMode="auto">
            <a:xfrm>
              <a:off x="552" y="2516"/>
              <a:ext cx="1828" cy="0"/>
            </a:xfrm>
            <a:prstGeom prst="line">
              <a:avLst/>
            </a:prstGeom>
            <a:noFill/>
            <a:ln w="28575">
              <a:solidFill>
                <a:srgbClr val="006600"/>
              </a:solidFill>
              <a:round/>
              <a:headEnd/>
              <a:tailEnd/>
            </a:ln>
          </p:spPr>
          <p:txBody>
            <a:bodyPr/>
            <a:lstStyle/>
            <a:p>
              <a:endParaRPr lang="en-US">
                <a:latin typeface="Arial"/>
                <a:cs typeface="Arial"/>
              </a:endParaRPr>
            </a:p>
          </p:txBody>
        </p:sp>
        <p:sp>
          <p:nvSpPr>
            <p:cNvPr id="30757" name="Text Box 78"/>
            <p:cNvSpPr txBox="1">
              <a:spLocks noChangeArrowheads="1"/>
            </p:cNvSpPr>
            <p:nvPr/>
          </p:nvSpPr>
          <p:spPr bwMode="auto">
            <a:xfrm>
              <a:off x="147" y="236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grpSp>
        <p:nvGrpSpPr>
          <p:cNvPr id="20" name="Group 91"/>
          <p:cNvGrpSpPr>
            <a:grpSpLocks/>
          </p:cNvGrpSpPr>
          <p:nvPr/>
        </p:nvGrpSpPr>
        <p:grpSpPr bwMode="auto">
          <a:xfrm>
            <a:off x="7040563" y="3178176"/>
            <a:ext cx="1063625" cy="3049588"/>
            <a:chOff x="4435" y="2002"/>
            <a:chExt cx="670" cy="1921"/>
          </a:xfrm>
        </p:grpSpPr>
        <p:sp>
          <p:nvSpPr>
            <p:cNvPr id="30752" name="Text Box 58"/>
            <p:cNvSpPr txBox="1">
              <a:spLocks noChangeArrowheads="1"/>
            </p:cNvSpPr>
            <p:nvPr/>
          </p:nvSpPr>
          <p:spPr bwMode="auto">
            <a:xfrm>
              <a:off x="4435" y="3690"/>
              <a:ext cx="670"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30,000</a:t>
              </a:r>
              <a:endParaRPr lang="en-US" sz="2400" baseline="-25000">
                <a:latin typeface="Arial"/>
                <a:cs typeface="Arial"/>
              </a:endParaRPr>
            </a:p>
          </p:txBody>
        </p:sp>
        <p:sp>
          <p:nvSpPr>
            <p:cNvPr id="30753" name="Line 59"/>
            <p:cNvSpPr>
              <a:spLocks noChangeShapeType="1"/>
            </p:cNvSpPr>
            <p:nvPr/>
          </p:nvSpPr>
          <p:spPr bwMode="auto">
            <a:xfrm>
              <a:off x="4558" y="3250"/>
              <a:ext cx="188" cy="463"/>
            </a:xfrm>
            <a:prstGeom prst="line">
              <a:avLst/>
            </a:prstGeom>
            <a:noFill/>
            <a:ln w="9525">
              <a:solidFill>
                <a:schemeClr val="tx1"/>
              </a:solidFill>
              <a:round/>
              <a:headEnd/>
              <a:tailEnd/>
            </a:ln>
          </p:spPr>
          <p:txBody>
            <a:bodyPr/>
            <a:lstStyle/>
            <a:p>
              <a:endParaRPr lang="en-US">
                <a:latin typeface="Arial"/>
                <a:cs typeface="Arial"/>
              </a:endParaRPr>
            </a:p>
          </p:txBody>
        </p:sp>
        <p:sp>
          <p:nvSpPr>
            <p:cNvPr id="30754" name="Line 80"/>
            <p:cNvSpPr>
              <a:spLocks noChangeShapeType="1"/>
            </p:cNvSpPr>
            <p:nvPr/>
          </p:nvSpPr>
          <p:spPr bwMode="auto">
            <a:xfrm>
              <a:off x="4560" y="2040"/>
              <a:ext cx="0" cy="1188"/>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55" name="Oval 57"/>
            <p:cNvSpPr>
              <a:spLocks noChangeAspect="1" noChangeArrowheads="1"/>
            </p:cNvSpPr>
            <p:nvPr/>
          </p:nvSpPr>
          <p:spPr bwMode="auto">
            <a:xfrm>
              <a:off x="4522" y="2002"/>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1" name="Group 89"/>
          <p:cNvGrpSpPr>
            <a:grpSpLocks/>
          </p:cNvGrpSpPr>
          <p:nvPr/>
        </p:nvGrpSpPr>
        <p:grpSpPr bwMode="auto">
          <a:xfrm>
            <a:off x="4532313" y="4546601"/>
            <a:ext cx="1063625" cy="1679576"/>
            <a:chOff x="2855" y="2864"/>
            <a:chExt cx="670" cy="1058"/>
          </a:xfrm>
        </p:grpSpPr>
        <p:sp>
          <p:nvSpPr>
            <p:cNvPr id="30748" name="Line 82"/>
            <p:cNvSpPr>
              <a:spLocks noChangeShapeType="1"/>
            </p:cNvSpPr>
            <p:nvPr/>
          </p:nvSpPr>
          <p:spPr bwMode="auto">
            <a:xfrm>
              <a:off x="3447" y="2901"/>
              <a:ext cx="0" cy="324"/>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49" name="Oval 79"/>
            <p:cNvSpPr>
              <a:spLocks noChangeAspect="1" noChangeArrowheads="1"/>
            </p:cNvSpPr>
            <p:nvPr/>
          </p:nvSpPr>
          <p:spPr bwMode="auto">
            <a:xfrm>
              <a:off x="3409" y="2864"/>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0750" name="Text Box 85"/>
            <p:cNvSpPr txBox="1">
              <a:spLocks noChangeArrowheads="1"/>
            </p:cNvSpPr>
            <p:nvPr/>
          </p:nvSpPr>
          <p:spPr bwMode="auto">
            <a:xfrm>
              <a:off x="2855" y="3689"/>
              <a:ext cx="670"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10,000</a:t>
              </a:r>
              <a:endParaRPr lang="en-US" sz="2400" baseline="-25000">
                <a:latin typeface="Arial"/>
                <a:cs typeface="Arial"/>
              </a:endParaRPr>
            </a:p>
          </p:txBody>
        </p:sp>
        <p:sp>
          <p:nvSpPr>
            <p:cNvPr id="30751" name="Line 86"/>
            <p:cNvSpPr>
              <a:spLocks noChangeShapeType="1"/>
            </p:cNvSpPr>
            <p:nvPr/>
          </p:nvSpPr>
          <p:spPr bwMode="auto">
            <a:xfrm flipV="1">
              <a:off x="3243" y="3253"/>
              <a:ext cx="201" cy="454"/>
            </a:xfrm>
            <a:prstGeom prst="line">
              <a:avLst/>
            </a:prstGeom>
            <a:noFill/>
            <a:ln w="9525">
              <a:solidFill>
                <a:schemeClr val="tx1"/>
              </a:solidFill>
              <a:round/>
              <a:headEnd/>
              <a:tailEnd/>
            </a:ln>
          </p:spPr>
          <p:txBody>
            <a:bodyPr/>
            <a:lstStyle/>
            <a:p>
              <a:endParaRPr lang="en-US">
                <a:latin typeface="Arial"/>
                <a:cs typeface="Arial"/>
              </a:endParaRPr>
            </a:p>
          </p:txBody>
        </p:sp>
      </p:grpSp>
      <p:grpSp>
        <p:nvGrpSpPr>
          <p:cNvPr id="22" name="Group 90"/>
          <p:cNvGrpSpPr>
            <a:grpSpLocks/>
          </p:cNvGrpSpPr>
          <p:nvPr/>
        </p:nvGrpSpPr>
        <p:grpSpPr bwMode="auto">
          <a:xfrm>
            <a:off x="5813425" y="3854451"/>
            <a:ext cx="1063625" cy="2376488"/>
            <a:chOff x="3662" y="2428"/>
            <a:chExt cx="670" cy="1497"/>
          </a:xfrm>
        </p:grpSpPr>
        <p:sp>
          <p:nvSpPr>
            <p:cNvPr id="30744" name="Text Box 53"/>
            <p:cNvSpPr txBox="1">
              <a:spLocks noChangeArrowheads="1"/>
            </p:cNvSpPr>
            <p:nvPr/>
          </p:nvSpPr>
          <p:spPr bwMode="auto">
            <a:xfrm>
              <a:off x="3662" y="3692"/>
              <a:ext cx="670"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20,000</a:t>
              </a:r>
              <a:endParaRPr lang="en-US" sz="2400" baseline="-25000">
                <a:latin typeface="Arial"/>
                <a:cs typeface="Arial"/>
              </a:endParaRPr>
            </a:p>
          </p:txBody>
        </p:sp>
        <p:sp>
          <p:nvSpPr>
            <p:cNvPr id="30745" name="Line 81"/>
            <p:cNvSpPr>
              <a:spLocks noChangeShapeType="1"/>
            </p:cNvSpPr>
            <p:nvPr/>
          </p:nvSpPr>
          <p:spPr bwMode="auto">
            <a:xfrm>
              <a:off x="4008" y="2466"/>
              <a:ext cx="0" cy="759"/>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46" name="Oval 52"/>
            <p:cNvSpPr>
              <a:spLocks noChangeAspect="1" noChangeArrowheads="1"/>
            </p:cNvSpPr>
            <p:nvPr/>
          </p:nvSpPr>
          <p:spPr bwMode="auto">
            <a:xfrm>
              <a:off x="3970" y="2428"/>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0747" name="Line 87"/>
            <p:cNvSpPr>
              <a:spLocks noChangeShapeType="1"/>
            </p:cNvSpPr>
            <p:nvPr/>
          </p:nvSpPr>
          <p:spPr bwMode="auto">
            <a:xfrm>
              <a:off x="4009" y="3248"/>
              <a:ext cx="0" cy="458"/>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0743"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24" name="Footer Placeholder 23">
            <a:extLst>
              <a:ext uri="{FF2B5EF4-FFF2-40B4-BE49-F238E27FC236}">
                <a16:creationId xmlns:a16="http://schemas.microsoft.com/office/drawing/2014/main" id="{8F79297B-FD11-A4EF-5060-9BD620DEFE3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55091857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animEffect transition="in" filter="wipe(left)">
                                      <p:cBhvr>
                                        <p:cTn id="11" dur="500"/>
                                        <p:tgtEl>
                                          <p:spTgt spid="2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12"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strips(downLeft)">
                                      <p:cBhvr>
                                        <p:cTn id="25" dur="500"/>
                                        <p:tgtEl>
                                          <p:spTgt spid="18"/>
                                        </p:tgtEl>
                                      </p:cBhvr>
                                    </p:animEffect>
                                  </p:childTnLst>
                                </p:cTn>
                              </p:par>
                            </p:childTnLst>
                          </p:cTn>
                        </p:par>
                        <p:par>
                          <p:cTn id="26" fill="hold">
                            <p:stCondLst>
                              <p:cond delay="500"/>
                            </p:stCondLst>
                            <p:childTnLst>
                              <p:par>
                                <p:cTn id="27" presetID="18" presetClass="entr" presetSubtype="12" fill="hold"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strips(downLeft)">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up)">
                                      <p:cBhvr>
                                        <p:cTn id="43" dur="500"/>
                                        <p:tgtEl>
                                          <p:spTgt spid="17"/>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up)">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18" presetClass="entr" presetSubtype="6"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strips(downRight)">
                                      <p:cBhvr>
                                        <p:cTn id="61" dur="500"/>
                                        <p:tgtEl>
                                          <p:spTgt spid="15"/>
                                        </p:tgtEl>
                                      </p:cBhvr>
                                    </p:animEffect>
                                  </p:childTnLst>
                                </p:cTn>
                              </p:par>
                            </p:childTnLst>
                          </p:cTn>
                        </p:par>
                        <p:par>
                          <p:cTn id="62" fill="hold">
                            <p:stCondLst>
                              <p:cond delay="500"/>
                            </p:stCondLst>
                            <p:childTnLst>
                              <p:par>
                                <p:cTn id="63" presetID="18" presetClass="entr" presetSubtype="6" fill="hold" nodeType="after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strips(downRigh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18" presetClass="entr" presetSubtype="3" fill="hold" nodeType="click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strips(upRight)">
                                      <p:cBhvr>
                                        <p:cTn id="7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Entry and Exit in the Long Run</a:t>
            </a:r>
          </a:p>
        </p:txBody>
      </p:sp>
      <p:sp>
        <p:nvSpPr>
          <p:cNvPr id="3" name="Content Placeholder 2"/>
          <p:cNvSpPr>
            <a:spLocks noGrp="1"/>
          </p:cNvSpPr>
          <p:nvPr>
            <p:ph idx="1"/>
          </p:nvPr>
        </p:nvSpPr>
        <p:spPr>
          <a:prstGeom prst="rect">
            <a:avLst/>
          </a:prstGeom>
        </p:spPr>
        <p:txBody>
          <a:bodyPr/>
          <a:lstStyle/>
          <a:p>
            <a:r>
              <a:rPr lang="en-US" sz="3200" dirty="0"/>
              <a:t>In the long run, the number of firms can change due to entry and exit:  </a:t>
            </a:r>
          </a:p>
          <a:p>
            <a:pPr lvl="1"/>
            <a:r>
              <a:rPr lang="en-US" dirty="0"/>
              <a:t>If existing firms earn positive economic profit:</a:t>
            </a:r>
          </a:p>
          <a:p>
            <a:pPr lvl="2"/>
            <a:r>
              <a:rPr lang="en-US" dirty="0"/>
              <a:t>New firms enter, SR market supply shifts right  </a:t>
            </a:r>
          </a:p>
          <a:p>
            <a:pPr lvl="2"/>
            <a:r>
              <a:rPr lang="en-US" b="1" i="1" dirty="0"/>
              <a:t>P</a:t>
            </a:r>
            <a:r>
              <a:rPr lang="en-US" dirty="0"/>
              <a:t> falls, reducing profits and slowing entry </a:t>
            </a:r>
          </a:p>
          <a:p>
            <a:pPr lvl="1"/>
            <a:r>
              <a:rPr lang="en-US" dirty="0"/>
              <a:t>If existing firms incur losses:</a:t>
            </a:r>
          </a:p>
          <a:p>
            <a:pPr lvl="2"/>
            <a:r>
              <a:rPr lang="en-US" dirty="0"/>
              <a:t>Some firms exit, SR market supply shifts left  </a:t>
            </a:r>
          </a:p>
          <a:p>
            <a:pPr lvl="2"/>
            <a:r>
              <a:rPr lang="en-US" b="1" i="1" dirty="0"/>
              <a:t>P</a:t>
            </a:r>
            <a:r>
              <a:rPr lang="en-US" dirty="0"/>
              <a:t> rises, reducing remaining firms’ losses</a:t>
            </a:r>
          </a:p>
          <a:p>
            <a:pPr lvl="1"/>
            <a:r>
              <a:rPr lang="en-US" dirty="0"/>
              <a:t>Until zero economic profit (</a:t>
            </a:r>
            <a:r>
              <a:rPr lang="en-US" b="1" i="1" dirty="0"/>
              <a:t>P</a:t>
            </a:r>
            <a:r>
              <a:rPr lang="en-US" dirty="0"/>
              <a:t> = min </a:t>
            </a:r>
            <a:r>
              <a:rPr lang="en-US" b="1" i="1" dirty="0"/>
              <a:t>ATC</a:t>
            </a:r>
            <a:r>
              <a:rPr lang="en-US" dirty="0"/>
              <a:t>)</a:t>
            </a:r>
          </a:p>
          <a:p>
            <a:endParaRPr lang="en-US" sz="3200" dirty="0"/>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23</a:t>
            </a:fld>
            <a:endParaRPr lang="en-US"/>
          </a:p>
        </p:txBody>
      </p:sp>
      <p:sp>
        <p:nvSpPr>
          <p:cNvPr id="5" name="Footer Placeholder 4">
            <a:extLst>
              <a:ext uri="{FF2B5EF4-FFF2-40B4-BE49-F238E27FC236}">
                <a16:creationId xmlns:a16="http://schemas.microsoft.com/office/drawing/2014/main" id="{6DA9048B-62DA-1FDC-28E3-46BFCF1F6915}"/>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60793655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Zero-Profit Condition</a:t>
            </a:r>
          </a:p>
        </p:txBody>
      </p:sp>
      <p:sp>
        <p:nvSpPr>
          <p:cNvPr id="3" name="Content Placeholder 2"/>
          <p:cNvSpPr>
            <a:spLocks noGrp="1"/>
          </p:cNvSpPr>
          <p:nvPr>
            <p:ph idx="1"/>
          </p:nvPr>
        </p:nvSpPr>
        <p:spPr>
          <a:prstGeom prst="rect">
            <a:avLst/>
          </a:prstGeom>
        </p:spPr>
        <p:txBody>
          <a:bodyPr/>
          <a:lstStyle/>
          <a:p>
            <a:r>
              <a:rPr lang="en-US" sz="3200" dirty="0"/>
              <a:t>Long-run equilibrium: the process of entry or exit is complete</a:t>
            </a:r>
          </a:p>
          <a:p>
            <a:pPr lvl="1"/>
            <a:r>
              <a:rPr lang="en-US" sz="3000" dirty="0"/>
              <a:t>Remaining firms earn zero economic profit  </a:t>
            </a:r>
          </a:p>
          <a:p>
            <a:r>
              <a:rPr lang="en-US" sz="3200" dirty="0"/>
              <a:t>Zero economic profit: when </a:t>
            </a:r>
            <a:r>
              <a:rPr lang="en-US" sz="3200" b="1" i="1" dirty="0"/>
              <a:t>P</a:t>
            </a:r>
            <a:r>
              <a:rPr lang="en-US" sz="3200" dirty="0"/>
              <a:t> = min </a:t>
            </a:r>
            <a:r>
              <a:rPr lang="en-US" sz="3200" b="1" i="1" dirty="0"/>
              <a:t>ATC </a:t>
            </a:r>
          </a:p>
          <a:p>
            <a:pPr lvl="1"/>
            <a:r>
              <a:rPr lang="en-US" sz="3000" dirty="0"/>
              <a:t>Since firms produce where </a:t>
            </a:r>
            <a:r>
              <a:rPr lang="en-US" sz="3000" b="1" i="1" dirty="0"/>
              <a:t>P</a:t>
            </a:r>
            <a:r>
              <a:rPr lang="en-US" sz="3000" dirty="0"/>
              <a:t> = </a:t>
            </a:r>
            <a:r>
              <a:rPr lang="en-US" sz="3000" b="1" i="1" dirty="0"/>
              <a:t>MR</a:t>
            </a:r>
            <a:r>
              <a:rPr lang="en-US" sz="3000" dirty="0"/>
              <a:t> = </a:t>
            </a:r>
            <a:r>
              <a:rPr lang="en-US" sz="3000" b="1" i="1" dirty="0"/>
              <a:t>MC </a:t>
            </a:r>
          </a:p>
          <a:p>
            <a:pPr lvl="1"/>
            <a:r>
              <a:rPr lang="en-US" sz="3000" dirty="0"/>
              <a:t>The zero-profit condition is  </a:t>
            </a:r>
            <a:r>
              <a:rPr lang="en-US" sz="3000" b="1" i="1" dirty="0"/>
              <a:t>P</a:t>
            </a:r>
            <a:r>
              <a:rPr lang="en-US" sz="3000" dirty="0"/>
              <a:t> = </a:t>
            </a:r>
            <a:r>
              <a:rPr lang="en-US" sz="3000" b="1" i="1" dirty="0"/>
              <a:t>MC</a:t>
            </a:r>
            <a:r>
              <a:rPr lang="en-US" sz="3000" dirty="0"/>
              <a:t> = </a:t>
            </a:r>
            <a:r>
              <a:rPr lang="en-US" sz="3000" b="1" i="1" dirty="0"/>
              <a:t>ATC</a:t>
            </a:r>
          </a:p>
          <a:p>
            <a:pPr lvl="1"/>
            <a:r>
              <a:rPr lang="en-US" sz="3000" dirty="0"/>
              <a:t>Recall that </a:t>
            </a:r>
            <a:r>
              <a:rPr lang="en-US" sz="3000" b="1" i="1" dirty="0"/>
              <a:t>MC</a:t>
            </a:r>
            <a:r>
              <a:rPr lang="en-US" sz="3000" dirty="0"/>
              <a:t> intersects </a:t>
            </a:r>
            <a:r>
              <a:rPr lang="en-US" sz="3000" b="1" i="1" dirty="0"/>
              <a:t>ATC</a:t>
            </a:r>
            <a:r>
              <a:rPr lang="en-US" sz="3000" dirty="0"/>
              <a:t> at min </a:t>
            </a:r>
            <a:r>
              <a:rPr lang="en-US" sz="3000" b="1" i="1" dirty="0"/>
              <a:t>ATC</a:t>
            </a:r>
          </a:p>
          <a:p>
            <a:pPr lvl="1"/>
            <a:r>
              <a:rPr lang="en-US" sz="3000" dirty="0"/>
              <a:t>Hence, in the long run,  </a:t>
            </a:r>
            <a:r>
              <a:rPr lang="en-US" sz="3000" b="1" i="1" dirty="0">
                <a:solidFill>
                  <a:srgbClr val="4E519E"/>
                </a:solidFill>
              </a:rPr>
              <a:t>P</a:t>
            </a:r>
            <a:r>
              <a:rPr lang="en-US" sz="3000" dirty="0">
                <a:solidFill>
                  <a:srgbClr val="4E519E"/>
                </a:solidFill>
              </a:rPr>
              <a:t> = min </a:t>
            </a:r>
            <a:r>
              <a:rPr lang="en-US" sz="3000" b="1" i="1" dirty="0">
                <a:solidFill>
                  <a:srgbClr val="4E519E"/>
                </a:solidFill>
              </a:rPr>
              <a:t>ATC</a:t>
            </a:r>
          </a:p>
          <a:p>
            <a:pPr lvl="1"/>
            <a:r>
              <a:rPr lang="en-US" sz="3000" dirty="0">
                <a:solidFill>
                  <a:srgbClr val="4E519E"/>
                </a:solidFill>
              </a:rPr>
              <a:t>Efficient scale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24</a:t>
            </a:fld>
            <a:endParaRPr lang="en-US"/>
          </a:p>
        </p:txBody>
      </p:sp>
      <p:sp>
        <p:nvSpPr>
          <p:cNvPr id="5" name="Footer Placeholder 4">
            <a:extLst>
              <a:ext uri="{FF2B5EF4-FFF2-40B4-BE49-F238E27FC236}">
                <a16:creationId xmlns:a16="http://schemas.microsoft.com/office/drawing/2014/main" id="{A5262786-879F-38C2-F02B-5586FE14A32F}"/>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12886157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p:txBody>
          <a:bodyPr/>
          <a:lstStyle/>
          <a:p>
            <a:pPr algn="ctr" eaLnBrk="1" hangingPunct="1"/>
            <a:r>
              <a:rPr lang="en-US" sz="3500" dirty="0">
                <a:solidFill>
                  <a:srgbClr val="AE1221"/>
                </a:solidFill>
              </a:rPr>
              <a:t>The Long Run Market Supply Curve</a:t>
            </a:r>
          </a:p>
        </p:txBody>
      </p:sp>
      <p:sp>
        <p:nvSpPr>
          <p:cNvPr id="12" name="Slide Number Placeholder 11"/>
          <p:cNvSpPr>
            <a:spLocks noGrp="1"/>
          </p:cNvSpPr>
          <p:nvPr>
            <p:ph type="sldNum" sz="quarter" idx="10"/>
          </p:nvPr>
        </p:nvSpPr>
        <p:spPr/>
        <p:txBody>
          <a:bodyPr/>
          <a:lstStyle/>
          <a:p>
            <a:pPr>
              <a:defRPr/>
            </a:pPr>
            <a:fld id="{2F37425F-5E17-4209-B948-B5CE2119E408}" type="slidenum">
              <a:rPr lang="en-US" smtClean="0"/>
              <a:pPr>
                <a:defRPr/>
              </a:pPr>
              <a:t>25</a:t>
            </a:fld>
            <a:endParaRPr lang="en-US" dirty="0"/>
          </a:p>
        </p:txBody>
      </p:sp>
      <p:grpSp>
        <p:nvGrpSpPr>
          <p:cNvPr id="2" name="Group 3"/>
          <p:cNvGrpSpPr>
            <a:grpSpLocks/>
          </p:cNvGrpSpPr>
          <p:nvPr/>
        </p:nvGrpSpPr>
        <p:grpSpPr bwMode="auto">
          <a:xfrm>
            <a:off x="1995488" y="3148013"/>
            <a:ext cx="1952625" cy="2203450"/>
            <a:chOff x="837" y="2095"/>
            <a:chExt cx="1230" cy="1388"/>
          </a:xfrm>
        </p:grpSpPr>
        <p:sp>
          <p:nvSpPr>
            <p:cNvPr id="34852" name="Line 4"/>
            <p:cNvSpPr>
              <a:spLocks noChangeShapeType="1"/>
            </p:cNvSpPr>
            <p:nvPr/>
          </p:nvSpPr>
          <p:spPr bwMode="auto">
            <a:xfrm flipV="1">
              <a:off x="837" y="2293"/>
              <a:ext cx="944" cy="1190"/>
            </a:xfrm>
            <a:prstGeom prst="line">
              <a:avLst/>
            </a:prstGeom>
            <a:noFill/>
            <a:ln w="38100">
              <a:solidFill>
                <a:srgbClr val="333399"/>
              </a:solidFill>
              <a:round/>
              <a:headEnd/>
              <a:tailEnd/>
            </a:ln>
          </p:spPr>
          <p:txBody>
            <a:bodyPr/>
            <a:lstStyle/>
            <a:p>
              <a:endParaRPr lang="en-US">
                <a:latin typeface="Arial"/>
                <a:cs typeface="Arial"/>
              </a:endParaRPr>
            </a:p>
          </p:txBody>
        </p:sp>
        <p:sp>
          <p:nvSpPr>
            <p:cNvPr id="34853" name="Text Box 5"/>
            <p:cNvSpPr txBox="1">
              <a:spLocks noChangeArrowheads="1"/>
            </p:cNvSpPr>
            <p:nvPr/>
          </p:nvSpPr>
          <p:spPr bwMode="auto">
            <a:xfrm>
              <a:off x="1684" y="2095"/>
              <a:ext cx="383"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MC</a:t>
              </a:r>
            </a:p>
          </p:txBody>
        </p:sp>
      </p:grpSp>
      <p:grpSp>
        <p:nvGrpSpPr>
          <p:cNvPr id="3" name="Group 67"/>
          <p:cNvGrpSpPr>
            <a:grpSpLocks/>
          </p:cNvGrpSpPr>
          <p:nvPr/>
        </p:nvGrpSpPr>
        <p:grpSpPr bwMode="auto">
          <a:xfrm>
            <a:off x="4860925" y="2706688"/>
            <a:ext cx="3975100" cy="3470275"/>
            <a:chOff x="2887" y="1376"/>
            <a:chExt cx="2504" cy="2186"/>
          </a:xfrm>
        </p:grpSpPr>
        <p:sp>
          <p:nvSpPr>
            <p:cNvPr id="34845" name="Text Box 10"/>
            <p:cNvSpPr txBox="1">
              <a:spLocks noChangeArrowheads="1"/>
            </p:cNvSpPr>
            <p:nvPr/>
          </p:nvSpPr>
          <p:spPr bwMode="auto">
            <a:xfrm>
              <a:off x="3574" y="1376"/>
              <a:ext cx="991" cy="288"/>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Market</a:t>
              </a:r>
            </a:p>
          </p:txBody>
        </p:sp>
        <p:grpSp>
          <p:nvGrpSpPr>
            <p:cNvPr id="4" name="Group 12"/>
            <p:cNvGrpSpPr>
              <a:grpSpLocks/>
            </p:cNvGrpSpPr>
            <p:nvPr/>
          </p:nvGrpSpPr>
          <p:grpSpPr bwMode="auto">
            <a:xfrm>
              <a:off x="3056" y="1791"/>
              <a:ext cx="1710" cy="1436"/>
              <a:chOff x="3049" y="1681"/>
              <a:chExt cx="1864" cy="1932"/>
            </a:xfrm>
          </p:grpSpPr>
          <p:sp>
            <p:nvSpPr>
              <p:cNvPr id="34850" name="Line 13"/>
              <p:cNvSpPr>
                <a:spLocks noChangeShapeType="1"/>
              </p:cNvSpPr>
              <p:nvPr/>
            </p:nvSpPr>
            <p:spPr bwMode="auto">
              <a:xfrm>
                <a:off x="3049" y="1681"/>
                <a:ext cx="0" cy="1931"/>
              </a:xfrm>
              <a:prstGeom prst="line">
                <a:avLst/>
              </a:prstGeom>
              <a:noFill/>
              <a:ln w="9525">
                <a:solidFill>
                  <a:schemeClr val="tx1"/>
                </a:solidFill>
                <a:round/>
                <a:headEnd/>
                <a:tailEnd/>
              </a:ln>
            </p:spPr>
            <p:txBody>
              <a:bodyPr/>
              <a:lstStyle/>
              <a:p>
                <a:endParaRPr lang="en-US">
                  <a:latin typeface="Arial"/>
                  <a:cs typeface="Arial"/>
                </a:endParaRPr>
              </a:p>
            </p:txBody>
          </p:sp>
          <p:sp>
            <p:nvSpPr>
              <p:cNvPr id="34851" name="Line 14"/>
              <p:cNvSpPr>
                <a:spLocks noChangeShapeType="1"/>
              </p:cNvSpPr>
              <p:nvPr/>
            </p:nvSpPr>
            <p:spPr bwMode="auto">
              <a:xfrm>
                <a:off x="3049" y="3613"/>
                <a:ext cx="1864"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4847" name="Text Box 15"/>
            <p:cNvSpPr txBox="1">
              <a:spLocks noChangeArrowheads="1"/>
            </p:cNvSpPr>
            <p:nvPr/>
          </p:nvSpPr>
          <p:spPr bwMode="auto">
            <a:xfrm>
              <a:off x="4732" y="3082"/>
              <a:ext cx="355"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4848" name="Text Box 16"/>
            <p:cNvSpPr txBox="1">
              <a:spLocks noChangeArrowheads="1"/>
            </p:cNvSpPr>
            <p:nvPr/>
          </p:nvSpPr>
          <p:spPr bwMode="auto">
            <a:xfrm>
              <a:off x="2887" y="1541"/>
              <a:ext cx="298"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sp>
          <p:nvSpPr>
            <p:cNvPr id="34849" name="Text Box 17"/>
            <p:cNvSpPr txBox="1">
              <a:spLocks noChangeArrowheads="1"/>
            </p:cNvSpPr>
            <p:nvPr/>
          </p:nvSpPr>
          <p:spPr bwMode="auto">
            <a:xfrm>
              <a:off x="4547" y="3274"/>
              <a:ext cx="844"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(market)</a:t>
              </a:r>
            </a:p>
          </p:txBody>
        </p:sp>
      </p:grpSp>
      <p:grpSp>
        <p:nvGrpSpPr>
          <p:cNvPr id="5" name="Group 69"/>
          <p:cNvGrpSpPr>
            <a:grpSpLocks/>
          </p:cNvGrpSpPr>
          <p:nvPr/>
        </p:nvGrpSpPr>
        <p:grpSpPr bwMode="auto">
          <a:xfrm>
            <a:off x="1236663" y="2668588"/>
            <a:ext cx="3533775" cy="3514725"/>
            <a:chOff x="401" y="1352"/>
            <a:chExt cx="2226" cy="2214"/>
          </a:xfrm>
        </p:grpSpPr>
        <p:sp>
          <p:nvSpPr>
            <p:cNvPr id="34838" name="Text Box 19"/>
            <p:cNvSpPr txBox="1">
              <a:spLocks noChangeArrowheads="1"/>
            </p:cNvSpPr>
            <p:nvPr/>
          </p:nvSpPr>
          <p:spPr bwMode="auto">
            <a:xfrm>
              <a:off x="997" y="1352"/>
              <a:ext cx="991" cy="288"/>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One firm</a:t>
              </a:r>
            </a:p>
          </p:txBody>
        </p:sp>
        <p:grpSp>
          <p:nvGrpSpPr>
            <p:cNvPr id="6" name="Group 21"/>
            <p:cNvGrpSpPr>
              <a:grpSpLocks/>
            </p:cNvGrpSpPr>
            <p:nvPr/>
          </p:nvGrpSpPr>
          <p:grpSpPr bwMode="auto">
            <a:xfrm>
              <a:off x="562" y="1793"/>
              <a:ext cx="1606" cy="1431"/>
              <a:chOff x="1489" y="785"/>
              <a:chExt cx="3650" cy="2492"/>
            </a:xfrm>
          </p:grpSpPr>
          <p:sp>
            <p:nvSpPr>
              <p:cNvPr id="34843" name="Line 22"/>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34844" name="Line 23"/>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4840" name="Text Box 24"/>
            <p:cNvSpPr txBox="1">
              <a:spLocks noChangeArrowheads="1"/>
            </p:cNvSpPr>
            <p:nvPr/>
          </p:nvSpPr>
          <p:spPr bwMode="auto">
            <a:xfrm>
              <a:off x="2135" y="307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4841" name="Text Box 25"/>
            <p:cNvSpPr txBox="1">
              <a:spLocks noChangeArrowheads="1"/>
            </p:cNvSpPr>
            <p:nvPr/>
          </p:nvSpPr>
          <p:spPr bwMode="auto">
            <a:xfrm>
              <a:off x="401" y="1544"/>
              <a:ext cx="284"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sp>
          <p:nvSpPr>
            <p:cNvPr id="34842" name="Text Box 26"/>
            <p:cNvSpPr txBox="1">
              <a:spLocks noChangeArrowheads="1"/>
            </p:cNvSpPr>
            <p:nvPr/>
          </p:nvSpPr>
          <p:spPr bwMode="auto">
            <a:xfrm>
              <a:off x="2017" y="3278"/>
              <a:ext cx="610"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(firm)</a:t>
              </a:r>
            </a:p>
          </p:txBody>
        </p:sp>
      </p:grpSp>
      <p:sp>
        <p:nvSpPr>
          <p:cNvPr id="145445" name="Text Box 37"/>
          <p:cNvSpPr txBox="1">
            <a:spLocks noChangeArrowheads="1"/>
          </p:cNvSpPr>
          <p:nvPr/>
        </p:nvSpPr>
        <p:spPr bwMode="auto">
          <a:xfrm>
            <a:off x="754063" y="1108075"/>
            <a:ext cx="2593975" cy="1306513"/>
          </a:xfrm>
          <a:prstGeom prst="rect">
            <a:avLst/>
          </a:prstGeom>
          <a:noFill/>
          <a:ln w="9525">
            <a:solidFill>
              <a:srgbClr val="002060"/>
            </a:solidFill>
            <a:miter lim="800000"/>
            <a:headEnd/>
            <a:tailEnd/>
          </a:ln>
        </p:spPr>
        <p:txBody>
          <a:bodyPr/>
          <a:lstStyle/>
          <a:p>
            <a:pPr>
              <a:lnSpc>
                <a:spcPct val="105000"/>
              </a:lnSpc>
              <a:spcBef>
                <a:spcPct val="30000"/>
              </a:spcBef>
            </a:pPr>
            <a:r>
              <a:rPr lang="en-US" sz="2500" dirty="0">
                <a:solidFill>
                  <a:srgbClr val="4E519E"/>
                </a:solidFill>
                <a:latin typeface="Arial"/>
                <a:cs typeface="Arial"/>
              </a:rPr>
              <a:t>In the long run, </a:t>
            </a:r>
            <a:br>
              <a:rPr lang="en-US" sz="2500" dirty="0">
                <a:solidFill>
                  <a:srgbClr val="4E519E"/>
                </a:solidFill>
                <a:latin typeface="Arial"/>
                <a:cs typeface="Arial"/>
              </a:rPr>
            </a:br>
            <a:r>
              <a:rPr lang="en-US" sz="2500" dirty="0">
                <a:solidFill>
                  <a:srgbClr val="4E519E"/>
                </a:solidFill>
                <a:latin typeface="Arial"/>
                <a:cs typeface="Arial"/>
              </a:rPr>
              <a:t>the typical firm </a:t>
            </a:r>
            <a:br>
              <a:rPr lang="en-US" sz="2500" dirty="0">
                <a:solidFill>
                  <a:srgbClr val="4E519E"/>
                </a:solidFill>
                <a:latin typeface="Arial"/>
                <a:cs typeface="Arial"/>
              </a:rPr>
            </a:br>
            <a:r>
              <a:rPr lang="en-US" sz="2500" dirty="0">
                <a:solidFill>
                  <a:srgbClr val="4E519E"/>
                </a:solidFill>
                <a:latin typeface="Arial"/>
                <a:cs typeface="Arial"/>
              </a:rPr>
              <a:t>earns zero profit.</a:t>
            </a:r>
          </a:p>
        </p:txBody>
      </p:sp>
      <p:grpSp>
        <p:nvGrpSpPr>
          <p:cNvPr id="7" name="Group 70"/>
          <p:cNvGrpSpPr>
            <a:grpSpLocks/>
          </p:cNvGrpSpPr>
          <p:nvPr/>
        </p:nvGrpSpPr>
        <p:grpSpPr bwMode="auto">
          <a:xfrm>
            <a:off x="1597025" y="3468688"/>
            <a:ext cx="3003550" cy="1111250"/>
            <a:chOff x="628" y="1856"/>
            <a:chExt cx="1892" cy="700"/>
          </a:xfrm>
        </p:grpSpPr>
        <p:sp>
          <p:nvSpPr>
            <p:cNvPr id="34836" name="Arc 61"/>
            <p:cNvSpPr>
              <a:spLocks/>
            </p:cNvSpPr>
            <p:nvPr/>
          </p:nvSpPr>
          <p:spPr bwMode="auto">
            <a:xfrm flipH="1" flipV="1">
              <a:off x="628" y="1856"/>
              <a:ext cx="1344" cy="700"/>
            </a:xfrm>
            <a:custGeom>
              <a:avLst/>
              <a:gdLst>
                <a:gd name="T0" fmla="*/ 0 w 34271"/>
                <a:gd name="T1" fmla="*/ 0 h 21600"/>
                <a:gd name="T2" fmla="*/ 0 w 34271"/>
                <a:gd name="T3" fmla="*/ 0 h 21600"/>
                <a:gd name="T4" fmla="*/ 0 w 34271"/>
                <a:gd name="T5" fmla="*/ 0 h 21600"/>
                <a:gd name="T6" fmla="*/ 0 60000 65536"/>
                <a:gd name="T7" fmla="*/ 0 60000 65536"/>
                <a:gd name="T8" fmla="*/ 0 60000 65536"/>
                <a:gd name="T9" fmla="*/ 0 w 34271"/>
                <a:gd name="T10" fmla="*/ 0 h 21600"/>
                <a:gd name="T11" fmla="*/ 34271 w 34271"/>
                <a:gd name="T12" fmla="*/ 21600 h 21600"/>
              </a:gdLst>
              <a:ahLst/>
              <a:cxnLst>
                <a:cxn ang="T6">
                  <a:pos x="T0" y="T1"/>
                </a:cxn>
                <a:cxn ang="T7">
                  <a:pos x="T2" y="T3"/>
                </a:cxn>
                <a:cxn ang="T8">
                  <a:pos x="T4" y="T5"/>
                </a:cxn>
              </a:cxnLst>
              <a:rect l="T9" t="T10" r="T11" b="T12"/>
              <a:pathLst>
                <a:path w="34271" h="21600" fill="none" extrusionOk="0">
                  <a:moveTo>
                    <a:pt x="0" y="9663"/>
                  </a:moveTo>
                  <a:cubicBezTo>
                    <a:pt x="4001" y="3628"/>
                    <a:pt x="10761" y="-1"/>
                    <a:pt x="18002" y="0"/>
                  </a:cubicBezTo>
                  <a:cubicBezTo>
                    <a:pt x="24237" y="0"/>
                    <a:pt x="30168" y="2694"/>
                    <a:pt x="34270" y="7391"/>
                  </a:cubicBezTo>
                </a:path>
                <a:path w="34271" h="21600" stroke="0" extrusionOk="0">
                  <a:moveTo>
                    <a:pt x="0" y="9663"/>
                  </a:moveTo>
                  <a:cubicBezTo>
                    <a:pt x="4001" y="3628"/>
                    <a:pt x="10761" y="-1"/>
                    <a:pt x="18002" y="0"/>
                  </a:cubicBezTo>
                  <a:cubicBezTo>
                    <a:pt x="24237" y="0"/>
                    <a:pt x="30168" y="2694"/>
                    <a:pt x="34270" y="7391"/>
                  </a:cubicBezTo>
                  <a:lnTo>
                    <a:pt x="18002"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34837" name="Text Box 62"/>
            <p:cNvSpPr txBox="1">
              <a:spLocks noChangeArrowheads="1"/>
            </p:cNvSpPr>
            <p:nvPr/>
          </p:nvSpPr>
          <p:spPr bwMode="auto">
            <a:xfrm>
              <a:off x="1804" y="2016"/>
              <a:ext cx="716"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LRATC</a:t>
              </a:r>
            </a:p>
          </p:txBody>
        </p:sp>
      </p:grpSp>
      <p:grpSp>
        <p:nvGrpSpPr>
          <p:cNvPr id="8" name="Group 65"/>
          <p:cNvGrpSpPr>
            <a:grpSpLocks/>
          </p:cNvGrpSpPr>
          <p:nvPr/>
        </p:nvGrpSpPr>
        <p:grpSpPr bwMode="auto">
          <a:xfrm>
            <a:off x="5129213" y="4225928"/>
            <a:ext cx="3687762" cy="671513"/>
            <a:chOff x="3056" y="2333"/>
            <a:chExt cx="2323" cy="423"/>
          </a:xfrm>
        </p:grpSpPr>
        <p:sp>
          <p:nvSpPr>
            <p:cNvPr id="34834" name="Line 41"/>
            <p:cNvSpPr>
              <a:spLocks noChangeShapeType="1"/>
            </p:cNvSpPr>
            <p:nvPr/>
          </p:nvSpPr>
          <p:spPr bwMode="auto">
            <a:xfrm>
              <a:off x="3056" y="2556"/>
              <a:ext cx="1573" cy="0"/>
            </a:xfrm>
            <a:prstGeom prst="line">
              <a:avLst/>
            </a:prstGeom>
            <a:noFill/>
            <a:ln w="28575">
              <a:solidFill>
                <a:srgbClr val="CC0000"/>
              </a:solidFill>
              <a:round/>
              <a:headEnd/>
              <a:tailEnd/>
            </a:ln>
          </p:spPr>
          <p:txBody>
            <a:bodyPr/>
            <a:lstStyle/>
            <a:p>
              <a:endParaRPr lang="en-US">
                <a:latin typeface="Arial"/>
                <a:cs typeface="Arial"/>
              </a:endParaRPr>
            </a:p>
          </p:txBody>
        </p:sp>
        <p:sp>
          <p:nvSpPr>
            <p:cNvPr id="34835" name="Text Box 63"/>
            <p:cNvSpPr txBox="1">
              <a:spLocks noChangeArrowheads="1"/>
            </p:cNvSpPr>
            <p:nvPr/>
          </p:nvSpPr>
          <p:spPr bwMode="auto">
            <a:xfrm>
              <a:off x="4624" y="2333"/>
              <a:ext cx="755" cy="423"/>
            </a:xfrm>
            <a:prstGeom prst="rect">
              <a:avLst/>
            </a:prstGeom>
            <a:noFill/>
            <a:ln w="9525">
              <a:noFill/>
              <a:miter lim="800000"/>
              <a:headEnd/>
              <a:tailEnd/>
            </a:ln>
          </p:spPr>
          <p:txBody>
            <a:bodyPr lIns="0" tIns="0" rIns="0" bIns="0">
              <a:spAutoFit/>
            </a:bodyPr>
            <a:lstStyle/>
            <a:p>
              <a:pPr>
                <a:lnSpc>
                  <a:spcPct val="90000"/>
                </a:lnSpc>
              </a:pPr>
              <a:r>
                <a:rPr lang="en-US" sz="2400" dirty="0">
                  <a:latin typeface="Arial"/>
                  <a:cs typeface="Arial"/>
                </a:rPr>
                <a:t>long-run</a:t>
              </a:r>
            </a:p>
            <a:p>
              <a:pPr>
                <a:lnSpc>
                  <a:spcPct val="90000"/>
                </a:lnSpc>
              </a:pPr>
              <a:r>
                <a:rPr lang="en-US" sz="2400" dirty="0">
                  <a:latin typeface="Arial"/>
                  <a:cs typeface="Arial"/>
                </a:rPr>
                <a:t>supply</a:t>
              </a:r>
              <a:endParaRPr lang="en-US" sz="2400" baseline="-25000" dirty="0">
                <a:latin typeface="Arial"/>
                <a:cs typeface="Arial"/>
              </a:endParaRPr>
            </a:p>
          </p:txBody>
        </p:sp>
      </p:grpSp>
      <p:grpSp>
        <p:nvGrpSpPr>
          <p:cNvPr id="9" name="Group 74"/>
          <p:cNvGrpSpPr>
            <a:grpSpLocks/>
          </p:cNvGrpSpPr>
          <p:nvPr/>
        </p:nvGrpSpPr>
        <p:grpSpPr bwMode="auto">
          <a:xfrm>
            <a:off x="320675" y="3963988"/>
            <a:ext cx="1109663" cy="1200150"/>
            <a:chOff x="258" y="2497"/>
            <a:chExt cx="699" cy="756"/>
          </a:xfrm>
        </p:grpSpPr>
        <p:sp>
          <p:nvSpPr>
            <p:cNvPr id="34832" name="Text Box 8"/>
            <p:cNvSpPr txBox="1">
              <a:spLocks noChangeArrowheads="1"/>
            </p:cNvSpPr>
            <p:nvPr/>
          </p:nvSpPr>
          <p:spPr bwMode="auto">
            <a:xfrm>
              <a:off x="258" y="2497"/>
              <a:ext cx="561" cy="756"/>
            </a:xfrm>
            <a:prstGeom prst="rect">
              <a:avLst/>
            </a:prstGeom>
            <a:noFill/>
            <a:ln w="9525">
              <a:noFill/>
              <a:miter lim="800000"/>
              <a:headEnd/>
              <a:tailEnd/>
            </a:ln>
          </p:spPr>
          <p:txBody>
            <a:bodyPr>
              <a:spAutoFit/>
            </a:bodyPr>
            <a:lstStyle/>
            <a:p>
              <a:pPr algn="ctr"/>
              <a:r>
                <a:rPr lang="en-US" sz="2400" b="1" i="1">
                  <a:latin typeface="Arial"/>
                  <a:cs typeface="Arial"/>
                </a:rPr>
                <a:t>P</a:t>
              </a:r>
              <a:r>
                <a:rPr lang="en-US" sz="2400">
                  <a:latin typeface="Arial"/>
                  <a:cs typeface="Arial"/>
                </a:rPr>
                <a:t> = min. </a:t>
              </a:r>
              <a:r>
                <a:rPr lang="en-US" sz="2400" i="1">
                  <a:latin typeface="Arial"/>
                  <a:cs typeface="Arial"/>
                </a:rPr>
                <a:t>ATC</a:t>
              </a:r>
            </a:p>
          </p:txBody>
        </p:sp>
        <p:sp>
          <p:nvSpPr>
            <p:cNvPr id="34833" name="AutoShape 72"/>
            <p:cNvSpPr>
              <a:spLocks/>
            </p:cNvSpPr>
            <p:nvPr/>
          </p:nvSpPr>
          <p:spPr bwMode="auto">
            <a:xfrm>
              <a:off x="741" y="2542"/>
              <a:ext cx="216" cy="679"/>
            </a:xfrm>
            <a:prstGeom prst="rightBrace">
              <a:avLst>
                <a:gd name="adj1" fmla="val 35466"/>
                <a:gd name="adj2" fmla="val 50000"/>
              </a:avLst>
            </a:prstGeom>
            <a:noFill/>
            <a:ln w="19050">
              <a:solidFill>
                <a:srgbClr val="A50021"/>
              </a:solidFill>
              <a:round/>
              <a:headEnd/>
              <a:tailEnd/>
            </a:ln>
          </p:spPr>
          <p:txBody>
            <a:bodyPr wrap="none" anchor="ctr"/>
            <a:lstStyle/>
            <a:p>
              <a:endParaRPr lang="en-US">
                <a:latin typeface="Arial"/>
                <a:cs typeface="Arial"/>
              </a:endParaRPr>
            </a:p>
          </p:txBody>
        </p:sp>
      </p:grpSp>
      <p:sp>
        <p:nvSpPr>
          <p:cNvPr id="145415" name="Line 7"/>
          <p:cNvSpPr>
            <a:spLocks noChangeShapeType="1"/>
          </p:cNvSpPr>
          <p:nvPr/>
        </p:nvSpPr>
        <p:spPr bwMode="auto">
          <a:xfrm>
            <a:off x="1490663" y="4576763"/>
            <a:ext cx="3624262" cy="9525"/>
          </a:xfrm>
          <a:prstGeom prst="line">
            <a:avLst/>
          </a:prstGeom>
          <a:noFill/>
          <a:ln w="12700">
            <a:solidFill>
              <a:srgbClr val="CC0000"/>
            </a:solidFill>
            <a:prstDash val="lgDash"/>
            <a:round/>
            <a:headEnd/>
            <a:tailEnd/>
          </a:ln>
        </p:spPr>
        <p:txBody>
          <a:bodyPr/>
          <a:lstStyle/>
          <a:p>
            <a:endParaRPr lang="en-US">
              <a:latin typeface="Arial"/>
              <a:cs typeface="Arial"/>
            </a:endParaRPr>
          </a:p>
        </p:txBody>
      </p:sp>
      <p:sp>
        <p:nvSpPr>
          <p:cNvPr id="34829" name="Oval 71"/>
          <p:cNvSpPr>
            <a:spLocks noChangeAspect="1" noChangeArrowheads="1"/>
          </p:cNvSpPr>
          <p:nvPr/>
        </p:nvSpPr>
        <p:spPr bwMode="auto">
          <a:xfrm>
            <a:off x="2555875" y="4524375"/>
            <a:ext cx="115888" cy="11430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45481" name="Text Box 73"/>
          <p:cNvSpPr txBox="1">
            <a:spLocks noChangeArrowheads="1"/>
          </p:cNvSpPr>
          <p:nvPr/>
        </p:nvSpPr>
        <p:spPr bwMode="auto">
          <a:xfrm>
            <a:off x="5338763" y="1081088"/>
            <a:ext cx="3349625" cy="1249362"/>
          </a:xfrm>
          <a:prstGeom prst="rect">
            <a:avLst/>
          </a:prstGeom>
          <a:noFill/>
          <a:ln w="9525">
            <a:solidFill>
              <a:srgbClr val="C00000"/>
            </a:solidFill>
            <a:miter lim="800000"/>
            <a:headEnd/>
            <a:tailEnd/>
          </a:ln>
        </p:spPr>
        <p:txBody>
          <a:bodyPr/>
          <a:lstStyle/>
          <a:p>
            <a:pPr>
              <a:lnSpc>
                <a:spcPct val="105000"/>
              </a:lnSpc>
              <a:spcBef>
                <a:spcPct val="30000"/>
              </a:spcBef>
            </a:pPr>
            <a:r>
              <a:rPr lang="en-US" sz="2500" dirty="0">
                <a:solidFill>
                  <a:srgbClr val="4E519E"/>
                </a:solidFill>
                <a:latin typeface="Arial"/>
                <a:cs typeface="Arial"/>
              </a:rPr>
              <a:t>The LR market supply curve is horizontal at </a:t>
            </a:r>
            <a:br>
              <a:rPr lang="en-US" sz="2500" dirty="0">
                <a:solidFill>
                  <a:srgbClr val="4E519E"/>
                </a:solidFill>
                <a:latin typeface="Arial"/>
                <a:cs typeface="Arial"/>
              </a:rPr>
            </a:br>
            <a:r>
              <a:rPr lang="en-US" sz="2500" b="1" i="1" dirty="0">
                <a:solidFill>
                  <a:srgbClr val="4E519E"/>
                </a:solidFill>
                <a:latin typeface="Arial"/>
                <a:cs typeface="Arial"/>
              </a:rPr>
              <a:t>P</a:t>
            </a:r>
            <a:r>
              <a:rPr lang="en-US" sz="2500" dirty="0">
                <a:solidFill>
                  <a:srgbClr val="4E519E"/>
                </a:solidFill>
                <a:latin typeface="Arial"/>
                <a:cs typeface="Arial"/>
              </a:rPr>
              <a:t> = minimum </a:t>
            </a:r>
            <a:r>
              <a:rPr lang="en-US" sz="2500" b="1" i="1" dirty="0">
                <a:solidFill>
                  <a:srgbClr val="4E519E"/>
                </a:solidFill>
                <a:latin typeface="Arial"/>
                <a:cs typeface="Arial"/>
              </a:rPr>
              <a:t>ATC</a:t>
            </a:r>
            <a:r>
              <a:rPr lang="en-US" sz="2500" dirty="0">
                <a:solidFill>
                  <a:srgbClr val="4E519E"/>
                </a:solidFill>
                <a:latin typeface="Arial"/>
                <a:cs typeface="Arial"/>
              </a:rPr>
              <a:t>.</a:t>
            </a:r>
          </a:p>
        </p:txBody>
      </p:sp>
      <p:sp>
        <p:nvSpPr>
          <p:cNvPr id="34831"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10" name="Footer Placeholder 9">
            <a:extLst>
              <a:ext uri="{FF2B5EF4-FFF2-40B4-BE49-F238E27FC236}">
                <a16:creationId xmlns:a16="http://schemas.microsoft.com/office/drawing/2014/main" id="{26589B4B-6B24-3724-13D5-44ED7F69F3D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1331874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5445"/>
                                        </p:tgtEl>
                                        <p:attrNameLst>
                                          <p:attrName>style.visibility</p:attrName>
                                        </p:attrNameLst>
                                      </p:cBhvr>
                                      <p:to>
                                        <p:strVal val="visible"/>
                                      </p:to>
                                    </p:set>
                                    <p:animEffect transition="in" filter="fade">
                                      <p:cBhvr>
                                        <p:cTn id="7" dur="500"/>
                                        <p:tgtEl>
                                          <p:spTgt spid="14544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45415"/>
                                        </p:tgtEl>
                                        <p:attrNameLst>
                                          <p:attrName>style.visibility</p:attrName>
                                        </p:attrNameLst>
                                      </p:cBhvr>
                                      <p:to>
                                        <p:strVal val="visible"/>
                                      </p:to>
                                    </p:set>
                                    <p:animEffect transition="in" filter="wipe(left)">
                                      <p:cBhvr>
                                        <p:cTn id="16" dur="500"/>
                                        <p:tgtEl>
                                          <p:spTgt spid="1454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5481"/>
                                        </p:tgtEl>
                                        <p:attrNameLst>
                                          <p:attrName>style.visibility</p:attrName>
                                        </p:attrNameLst>
                                      </p:cBhvr>
                                      <p:to>
                                        <p:strVal val="visible"/>
                                      </p:to>
                                    </p:set>
                                    <p:animEffect transition="in" filter="fade">
                                      <p:cBhvr>
                                        <p:cTn id="21" dur="500"/>
                                        <p:tgtEl>
                                          <p:spTgt spid="14548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45" grpId="0" animBg="1"/>
      <p:bldP spid="145415" grpId="0" animBg="1"/>
      <p:bldP spid="14548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wrap="square" anchor="ctr"/>
          <a:lstStyle/>
          <a:p>
            <a:r>
              <a:rPr lang="en-US" sz="3800" dirty="0"/>
              <a:t>Why Stay in Business with Zero Profit?</a:t>
            </a:r>
            <a:endParaRPr lang="en-US" altLang="en-US" sz="3800" dirty="0"/>
          </a:p>
        </p:txBody>
      </p:sp>
      <p:sp>
        <p:nvSpPr>
          <p:cNvPr id="35843" name="Content Placeholder 2"/>
          <p:cNvSpPr>
            <a:spLocks noGrp="1"/>
          </p:cNvSpPr>
          <p:nvPr>
            <p:ph idx="1"/>
          </p:nvPr>
        </p:nvSpPr>
        <p:spPr>
          <a:prstGeom prst="rect">
            <a:avLst/>
          </a:prstGeom>
        </p:spPr>
        <p:txBody>
          <a:bodyPr/>
          <a:lstStyle/>
          <a:p>
            <a:r>
              <a:rPr lang="en-US" altLang="en-US" dirty="0"/>
              <a:t>Why do competitive firms stay in business if they make zero profit? </a:t>
            </a:r>
          </a:p>
          <a:p>
            <a:pPr lvl="1"/>
            <a:r>
              <a:rPr lang="en-US" altLang="en-US" sz="3000" dirty="0"/>
              <a:t>Profit = total revenue – total cost</a:t>
            </a:r>
          </a:p>
          <a:p>
            <a:pPr lvl="1"/>
            <a:r>
              <a:rPr lang="en-US" altLang="en-US" sz="3000" dirty="0"/>
              <a:t>Total cost includes all implicit costs like the opportunity cost of the owner’s time and money</a:t>
            </a:r>
          </a:p>
          <a:p>
            <a:pPr lvl="1"/>
            <a:r>
              <a:rPr lang="en-US" altLang="en-US" sz="3000" dirty="0"/>
              <a:t>Zero-profit equilibrium</a:t>
            </a:r>
          </a:p>
          <a:p>
            <a:pPr lvl="2"/>
            <a:r>
              <a:rPr lang="en-US" altLang="en-US" sz="3000" dirty="0"/>
              <a:t>Economic profit is zero</a:t>
            </a:r>
          </a:p>
          <a:p>
            <a:pPr lvl="2"/>
            <a:r>
              <a:rPr lang="en-US" altLang="en-US" sz="3000" dirty="0"/>
              <a:t>Accounting profit is positive</a:t>
            </a:r>
          </a:p>
        </p:txBody>
      </p:sp>
      <p:sp>
        <p:nvSpPr>
          <p:cNvPr id="35845"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D0BEB856-DD5D-4AB5-968C-54B0B7A70EC6}" type="slidenum">
              <a:rPr lang="en-US" altLang="en-US" sz="1200" smtClean="0">
                <a:solidFill>
                  <a:srgbClr val="002060"/>
                </a:solidFill>
              </a:rPr>
              <a:pPr eaLnBrk="1" hangingPunct="1"/>
              <a:t>26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6265521E-41E4-DC2E-F116-15AC0B8EC875}"/>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33977497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3: </a:t>
            </a:r>
            <a:r>
              <a:rPr lang="en-US" dirty="0">
                <a:solidFill>
                  <a:schemeClr val="tx1"/>
                </a:solidFill>
              </a:rPr>
              <a:t>Let’s recap!</a:t>
            </a:r>
          </a:p>
        </p:txBody>
      </p:sp>
      <p:sp>
        <p:nvSpPr>
          <p:cNvPr id="3" name="Slide Number Placeholder 2"/>
          <p:cNvSpPr>
            <a:spLocks noGrp="1"/>
          </p:cNvSpPr>
          <p:nvPr>
            <p:ph type="sldNum" sz="quarter" idx="10"/>
          </p:nvPr>
        </p:nvSpPr>
        <p:spPr/>
        <p:txBody>
          <a:bodyPr/>
          <a:lstStyle/>
          <a:p>
            <a:pPr>
              <a:defRPr/>
            </a:pPr>
            <a:fld id="{073C29DC-2178-4274-9150-45F8EBD31C2D}" type="slidenum">
              <a:rPr lang="en-US" smtClean="0"/>
              <a:pPr>
                <a:defRPr/>
              </a:pPr>
              <a:t>27</a:t>
            </a:fld>
            <a:endParaRPr lang="en-US"/>
          </a:p>
        </p:txBody>
      </p:sp>
      <p:sp>
        <p:nvSpPr>
          <p:cNvPr id="5" name="Content Placeholder 4"/>
          <p:cNvSpPr>
            <a:spLocks noGrp="1"/>
          </p:cNvSpPr>
          <p:nvPr>
            <p:ph idx="12"/>
          </p:nvPr>
        </p:nvSpPr>
        <p:spPr>
          <a:xfrm>
            <a:off x="152399" y="914400"/>
            <a:ext cx="4250531" cy="5638800"/>
          </a:xfrm>
        </p:spPr>
        <p:txBody>
          <a:bodyPr>
            <a:noAutofit/>
          </a:bodyPr>
          <a:lstStyle/>
          <a:p>
            <a:pPr marL="514350" indent="-514350">
              <a:buClr>
                <a:srgbClr val="C00000"/>
              </a:buClr>
              <a:buFont typeface="+mj-lt"/>
              <a:buAutoNum type="alphaUcPeriod"/>
            </a:pPr>
            <a:r>
              <a:rPr lang="en-US" sz="2800" dirty="0"/>
              <a:t>For each of the prices in the graph, identify: </a:t>
            </a:r>
          </a:p>
          <a:p>
            <a:pPr marL="514350" indent="-514350">
              <a:buFont typeface="+mj-lt"/>
              <a:buAutoNum type="arabicPeriod"/>
            </a:pPr>
            <a:r>
              <a:rPr lang="en-US" sz="2800" dirty="0">
                <a:solidFill>
                  <a:srgbClr val="4E519E"/>
                </a:solidFill>
              </a:rPr>
              <a:t>the profit-maximizing quantities</a:t>
            </a:r>
          </a:p>
          <a:p>
            <a:pPr marL="514350" indent="-514350">
              <a:buFont typeface="+mj-lt"/>
              <a:buAutoNum type="arabicPeriod"/>
            </a:pPr>
            <a:r>
              <a:rPr lang="en-US" sz="2800" dirty="0">
                <a:solidFill>
                  <a:srgbClr val="4E519E"/>
                </a:solidFill>
              </a:rPr>
              <a:t>If the firm is making a profit (or loss)</a:t>
            </a:r>
          </a:p>
          <a:p>
            <a:pPr marL="514350" indent="-514350">
              <a:buFont typeface="+mj-lt"/>
              <a:buAutoNum type="arabicPeriod"/>
            </a:pPr>
            <a:r>
              <a:rPr lang="en-US" sz="2800" dirty="0">
                <a:solidFill>
                  <a:srgbClr val="4E519E"/>
                </a:solidFill>
              </a:rPr>
              <a:t>If the firm should produce or shut down in the SR.</a:t>
            </a:r>
          </a:p>
          <a:p>
            <a:pPr marL="514350" indent="-514350">
              <a:buClr>
                <a:srgbClr val="C00000"/>
              </a:buClr>
              <a:buFont typeface="+mj-lt"/>
              <a:buAutoNum type="alphaUcPeriod" startAt="2"/>
            </a:pPr>
            <a:r>
              <a:rPr lang="en-US" sz="2800" dirty="0">
                <a:solidFill>
                  <a:srgbClr val="4E519E"/>
                </a:solidFill>
              </a:rPr>
              <a:t>Identify which </a:t>
            </a:r>
            <a:r>
              <a:rPr lang="en-US" sz="2800" b="1" i="1" dirty="0">
                <a:solidFill>
                  <a:srgbClr val="4E519E"/>
                </a:solidFill>
              </a:rPr>
              <a:t>P</a:t>
            </a:r>
            <a:r>
              <a:rPr lang="en-US" sz="2800" dirty="0">
                <a:solidFill>
                  <a:srgbClr val="4E519E"/>
                </a:solidFill>
              </a:rPr>
              <a:t>, </a:t>
            </a:r>
            <a:r>
              <a:rPr lang="en-US" sz="2800" b="1" i="1" dirty="0">
                <a:solidFill>
                  <a:srgbClr val="4E519E"/>
                </a:solidFill>
              </a:rPr>
              <a:t>Q</a:t>
            </a:r>
            <a:r>
              <a:rPr lang="en-US" sz="2800" dirty="0">
                <a:solidFill>
                  <a:srgbClr val="4E519E"/>
                </a:solidFill>
              </a:rPr>
              <a:t> combination is a long-run equilibrium</a:t>
            </a:r>
          </a:p>
        </p:txBody>
      </p:sp>
      <p:grpSp>
        <p:nvGrpSpPr>
          <p:cNvPr id="6" name="Group 7"/>
          <p:cNvGrpSpPr>
            <a:grpSpLocks/>
          </p:cNvGrpSpPr>
          <p:nvPr/>
        </p:nvGrpSpPr>
        <p:grpSpPr bwMode="auto">
          <a:xfrm>
            <a:off x="3854451" y="811212"/>
            <a:ext cx="5060950" cy="4444999"/>
            <a:chOff x="2211" y="707"/>
            <a:chExt cx="3188" cy="2800"/>
          </a:xfrm>
        </p:grpSpPr>
        <p:grpSp>
          <p:nvGrpSpPr>
            <p:cNvPr id="7" name="Group 8"/>
            <p:cNvGrpSpPr>
              <a:grpSpLocks/>
            </p:cNvGrpSpPr>
            <p:nvPr/>
          </p:nvGrpSpPr>
          <p:grpSpPr bwMode="auto">
            <a:xfrm>
              <a:off x="2730" y="981"/>
              <a:ext cx="2357" cy="2385"/>
              <a:chOff x="1489" y="785"/>
              <a:chExt cx="3650" cy="2492"/>
            </a:xfrm>
          </p:grpSpPr>
          <p:sp>
            <p:nvSpPr>
              <p:cNvPr id="10"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1"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8" name="Text Box 11"/>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9" name="Text Box 12"/>
            <p:cNvSpPr txBox="1">
              <a:spLocks noChangeArrowheads="1"/>
            </p:cNvSpPr>
            <p:nvPr/>
          </p:nvSpPr>
          <p:spPr bwMode="auto">
            <a:xfrm>
              <a:off x="2211" y="707"/>
              <a:ext cx="1054" cy="288"/>
            </a:xfrm>
            <a:prstGeom prst="rect">
              <a:avLst/>
            </a:prstGeom>
            <a:noFill/>
            <a:ln w="9525">
              <a:noFill/>
              <a:miter lim="800000"/>
              <a:headEnd/>
              <a:tailEnd/>
            </a:ln>
          </p:spPr>
          <p:txBody>
            <a:bodyPr>
              <a:spAutoFit/>
            </a:bodyPr>
            <a:lstStyle/>
            <a:p>
              <a:pPr algn="r">
                <a:spcBef>
                  <a:spcPct val="50000"/>
                </a:spcBef>
              </a:pPr>
              <a:r>
                <a:rPr lang="en-US" sz="2400" dirty="0">
                  <a:latin typeface="Arial"/>
                  <a:cs typeface="Arial"/>
                </a:rPr>
                <a:t>Costs, </a:t>
              </a:r>
              <a:r>
                <a:rPr lang="en-US" sz="2400" b="1" i="1" dirty="0">
                  <a:latin typeface="Arial"/>
                  <a:cs typeface="Arial"/>
                </a:rPr>
                <a:t>P</a:t>
              </a:r>
            </a:p>
          </p:txBody>
        </p:sp>
      </p:grpSp>
      <p:grpSp>
        <p:nvGrpSpPr>
          <p:cNvPr id="12" name="Group 13"/>
          <p:cNvGrpSpPr>
            <a:grpSpLocks/>
          </p:cNvGrpSpPr>
          <p:nvPr/>
        </p:nvGrpSpPr>
        <p:grpSpPr bwMode="auto">
          <a:xfrm>
            <a:off x="5064126" y="990600"/>
            <a:ext cx="3171826" cy="3792538"/>
            <a:chOff x="2925" y="1266"/>
            <a:chExt cx="1998" cy="2389"/>
          </a:xfrm>
        </p:grpSpPr>
        <p:sp>
          <p:nvSpPr>
            <p:cNvPr id="13" name="Line 14"/>
            <p:cNvSpPr>
              <a:spLocks noChangeShapeType="1"/>
            </p:cNvSpPr>
            <p:nvPr/>
          </p:nvSpPr>
          <p:spPr bwMode="auto">
            <a:xfrm flipV="1">
              <a:off x="2925" y="1588"/>
              <a:ext cx="1706" cy="2067"/>
            </a:xfrm>
            <a:prstGeom prst="line">
              <a:avLst/>
            </a:prstGeom>
            <a:noFill/>
            <a:ln w="38100">
              <a:solidFill>
                <a:srgbClr val="333399"/>
              </a:solidFill>
              <a:round/>
              <a:headEnd/>
              <a:tailEnd/>
            </a:ln>
          </p:spPr>
          <p:txBody>
            <a:bodyPr/>
            <a:lstStyle/>
            <a:p>
              <a:endParaRPr lang="en-US">
                <a:latin typeface="Arial"/>
                <a:cs typeface="Arial"/>
              </a:endParaRPr>
            </a:p>
          </p:txBody>
        </p:sp>
        <p:sp>
          <p:nvSpPr>
            <p:cNvPr id="14" name="Text Box 15"/>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15" name="Group 16"/>
          <p:cNvGrpSpPr>
            <a:grpSpLocks/>
          </p:cNvGrpSpPr>
          <p:nvPr/>
        </p:nvGrpSpPr>
        <p:grpSpPr bwMode="auto">
          <a:xfrm>
            <a:off x="5064126" y="1422400"/>
            <a:ext cx="3446463" cy="1516062"/>
            <a:chOff x="2925" y="1538"/>
            <a:chExt cx="2171" cy="955"/>
          </a:xfrm>
        </p:grpSpPr>
        <p:sp>
          <p:nvSpPr>
            <p:cNvPr id="16" name="Arc 17"/>
            <p:cNvSpPr>
              <a:spLocks/>
            </p:cNvSpPr>
            <p:nvPr/>
          </p:nvSpPr>
          <p:spPr bwMode="auto">
            <a:xfrm flipH="1" flipV="1">
              <a:off x="2925" y="1538"/>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17" name="Text Box 18"/>
            <p:cNvSpPr txBox="1">
              <a:spLocks noChangeArrowheads="1"/>
            </p:cNvSpPr>
            <p:nvPr/>
          </p:nvSpPr>
          <p:spPr bwMode="auto">
            <a:xfrm>
              <a:off x="4631" y="1794"/>
              <a:ext cx="465" cy="233"/>
            </a:xfrm>
            <a:prstGeom prst="rect">
              <a:avLst/>
            </a:prstGeom>
            <a:noFill/>
            <a:ln w="9525">
              <a:noFill/>
              <a:miter lim="800000"/>
              <a:headEnd/>
              <a:tailEnd/>
            </a:ln>
          </p:spPr>
          <p:txBody>
            <a:bodyPr lIns="0" tIns="0" rIns="0" bIns="0">
              <a:spAutoFit/>
            </a:bodyPr>
            <a:lstStyle/>
            <a:p>
              <a:pPr>
                <a:spcBef>
                  <a:spcPct val="50000"/>
                </a:spcBef>
              </a:pPr>
              <a:r>
                <a:rPr lang="en-US" sz="2400" i="1" dirty="0">
                  <a:latin typeface="Arial"/>
                  <a:cs typeface="Arial"/>
                </a:rPr>
                <a:t>ATC</a:t>
              </a:r>
            </a:p>
          </p:txBody>
        </p:sp>
      </p:grpSp>
      <p:grpSp>
        <p:nvGrpSpPr>
          <p:cNvPr id="21" name="Group 51"/>
          <p:cNvGrpSpPr>
            <a:grpSpLocks/>
          </p:cNvGrpSpPr>
          <p:nvPr/>
        </p:nvGrpSpPr>
        <p:grpSpPr bwMode="auto">
          <a:xfrm>
            <a:off x="4114800" y="4191006"/>
            <a:ext cx="5029200" cy="369888"/>
            <a:chOff x="2375" y="2764"/>
            <a:chExt cx="3168" cy="233"/>
          </a:xfrm>
        </p:grpSpPr>
        <p:sp>
          <p:nvSpPr>
            <p:cNvPr id="22"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23"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1</a:t>
              </a:r>
            </a:p>
          </p:txBody>
        </p:sp>
        <p:sp>
          <p:nvSpPr>
            <p:cNvPr id="24"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1</a:t>
              </a:r>
            </a:p>
          </p:txBody>
        </p:sp>
      </p:grpSp>
      <p:grpSp>
        <p:nvGrpSpPr>
          <p:cNvPr id="25" name="Group 42"/>
          <p:cNvGrpSpPr>
            <a:grpSpLocks/>
          </p:cNvGrpSpPr>
          <p:nvPr/>
        </p:nvGrpSpPr>
        <p:grpSpPr bwMode="auto">
          <a:xfrm>
            <a:off x="5181600" y="2357438"/>
            <a:ext cx="381000" cy="3052763"/>
            <a:chOff x="3477" y="1746"/>
            <a:chExt cx="240" cy="1923"/>
          </a:xfrm>
        </p:grpSpPr>
        <p:sp>
          <p:nvSpPr>
            <p:cNvPr id="26" name="Text Box 43"/>
            <p:cNvSpPr txBox="1">
              <a:spLocks noChangeArrowheads="1"/>
            </p:cNvSpPr>
            <p:nvPr/>
          </p:nvSpPr>
          <p:spPr bwMode="auto">
            <a:xfrm>
              <a:off x="3477" y="3495"/>
              <a:ext cx="240"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5</a:t>
              </a:r>
              <a:endParaRPr lang="en-US" baseline="-25000" dirty="0">
                <a:latin typeface="Arial"/>
                <a:cs typeface="Arial"/>
              </a:endParaRPr>
            </a:p>
          </p:txBody>
        </p:sp>
        <p:sp>
          <p:nvSpPr>
            <p:cNvPr id="27" name="Line 44"/>
            <p:cNvSpPr>
              <a:spLocks noChangeShapeType="1"/>
            </p:cNvSpPr>
            <p:nvPr/>
          </p:nvSpPr>
          <p:spPr bwMode="auto">
            <a:xfrm>
              <a:off x="3593"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30" name="Group 16"/>
          <p:cNvGrpSpPr>
            <a:grpSpLocks/>
          </p:cNvGrpSpPr>
          <p:nvPr/>
        </p:nvGrpSpPr>
        <p:grpSpPr bwMode="auto">
          <a:xfrm>
            <a:off x="4784725" y="2271713"/>
            <a:ext cx="4079875" cy="1516062"/>
            <a:chOff x="3203" y="1526"/>
            <a:chExt cx="2570" cy="955"/>
          </a:xfrm>
        </p:grpSpPr>
        <p:sp>
          <p:nvSpPr>
            <p:cNvPr id="31" name="Arc 17"/>
            <p:cNvSpPr>
              <a:spLocks/>
            </p:cNvSpPr>
            <p:nvPr/>
          </p:nvSpPr>
          <p:spPr bwMode="auto">
            <a:xfrm rot="20747768" flipH="1" flipV="1">
              <a:off x="3203" y="1526"/>
              <a:ext cx="2068"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32" name="Text Box 18"/>
            <p:cNvSpPr txBox="1">
              <a:spLocks noChangeArrowheads="1"/>
            </p:cNvSpPr>
            <p:nvPr/>
          </p:nvSpPr>
          <p:spPr bwMode="auto">
            <a:xfrm>
              <a:off x="5308" y="1631"/>
              <a:ext cx="465" cy="233"/>
            </a:xfrm>
            <a:prstGeom prst="rect">
              <a:avLst/>
            </a:prstGeom>
            <a:noFill/>
            <a:ln w="9525">
              <a:noFill/>
              <a:miter lim="800000"/>
              <a:headEnd/>
              <a:tailEnd/>
            </a:ln>
          </p:spPr>
          <p:txBody>
            <a:bodyPr lIns="0" tIns="0" rIns="0" bIns="0">
              <a:spAutoFit/>
            </a:bodyPr>
            <a:lstStyle/>
            <a:p>
              <a:pPr>
                <a:spcBef>
                  <a:spcPct val="50000"/>
                </a:spcBef>
              </a:pPr>
              <a:r>
                <a:rPr lang="en-US" sz="2400" i="1" dirty="0">
                  <a:latin typeface="Arial"/>
                  <a:cs typeface="Arial"/>
                </a:rPr>
                <a:t>AVC</a:t>
              </a:r>
            </a:p>
          </p:txBody>
        </p:sp>
      </p:grpSp>
      <p:grpSp>
        <p:nvGrpSpPr>
          <p:cNvPr id="44" name="Group 42"/>
          <p:cNvGrpSpPr>
            <a:grpSpLocks/>
          </p:cNvGrpSpPr>
          <p:nvPr/>
        </p:nvGrpSpPr>
        <p:grpSpPr bwMode="auto">
          <a:xfrm>
            <a:off x="5638807" y="2357438"/>
            <a:ext cx="382588" cy="3052763"/>
            <a:chOff x="3477" y="1746"/>
            <a:chExt cx="241" cy="1923"/>
          </a:xfrm>
        </p:grpSpPr>
        <p:sp>
          <p:nvSpPr>
            <p:cNvPr id="45" name="Text Box 43"/>
            <p:cNvSpPr txBox="1">
              <a:spLocks noChangeArrowheads="1"/>
            </p:cNvSpPr>
            <p:nvPr/>
          </p:nvSpPr>
          <p:spPr bwMode="auto">
            <a:xfrm>
              <a:off x="3477" y="3495"/>
              <a:ext cx="241"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10</a:t>
              </a:r>
              <a:endParaRPr lang="en-US" baseline="-25000" dirty="0">
                <a:latin typeface="Arial"/>
                <a:cs typeface="Arial"/>
              </a:endParaRPr>
            </a:p>
          </p:txBody>
        </p:sp>
        <p:sp>
          <p:nvSpPr>
            <p:cNvPr id="46" name="Line 44"/>
            <p:cNvSpPr>
              <a:spLocks noChangeShapeType="1"/>
            </p:cNvSpPr>
            <p:nvPr/>
          </p:nvSpPr>
          <p:spPr bwMode="auto">
            <a:xfrm>
              <a:off x="3593"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47" name="Group 42"/>
          <p:cNvGrpSpPr>
            <a:grpSpLocks/>
          </p:cNvGrpSpPr>
          <p:nvPr/>
        </p:nvGrpSpPr>
        <p:grpSpPr bwMode="auto">
          <a:xfrm>
            <a:off x="6071401" y="2362999"/>
            <a:ext cx="404813" cy="3046413"/>
            <a:chOff x="3461" y="1746"/>
            <a:chExt cx="255" cy="1919"/>
          </a:xfrm>
        </p:grpSpPr>
        <p:sp>
          <p:nvSpPr>
            <p:cNvPr id="48" name="Text Box 43"/>
            <p:cNvSpPr txBox="1">
              <a:spLocks noChangeArrowheads="1"/>
            </p:cNvSpPr>
            <p:nvPr/>
          </p:nvSpPr>
          <p:spPr bwMode="auto">
            <a:xfrm>
              <a:off x="3461" y="3491"/>
              <a:ext cx="255"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15</a:t>
              </a:r>
              <a:endParaRPr lang="en-US" baseline="-25000" dirty="0">
                <a:latin typeface="Arial"/>
                <a:cs typeface="Arial"/>
              </a:endParaRPr>
            </a:p>
          </p:txBody>
        </p:sp>
        <p:sp>
          <p:nvSpPr>
            <p:cNvPr id="49" name="Line 44"/>
            <p:cNvSpPr>
              <a:spLocks noChangeShapeType="1"/>
            </p:cNvSpPr>
            <p:nvPr/>
          </p:nvSpPr>
          <p:spPr bwMode="auto">
            <a:xfrm flipH="1">
              <a:off x="3593"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50" name="Group 51"/>
          <p:cNvGrpSpPr>
            <a:grpSpLocks/>
          </p:cNvGrpSpPr>
          <p:nvPr/>
        </p:nvGrpSpPr>
        <p:grpSpPr bwMode="auto">
          <a:xfrm>
            <a:off x="4114800" y="3657607"/>
            <a:ext cx="5029200" cy="369888"/>
            <a:chOff x="2375" y="2764"/>
            <a:chExt cx="3168" cy="233"/>
          </a:xfrm>
        </p:grpSpPr>
        <p:sp>
          <p:nvSpPr>
            <p:cNvPr id="51"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52"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2</a:t>
              </a:r>
            </a:p>
          </p:txBody>
        </p:sp>
        <p:sp>
          <p:nvSpPr>
            <p:cNvPr id="53"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2</a:t>
              </a:r>
            </a:p>
          </p:txBody>
        </p:sp>
      </p:grpSp>
      <p:grpSp>
        <p:nvGrpSpPr>
          <p:cNvPr id="54" name="Group 51"/>
          <p:cNvGrpSpPr>
            <a:grpSpLocks/>
          </p:cNvGrpSpPr>
          <p:nvPr/>
        </p:nvGrpSpPr>
        <p:grpSpPr bwMode="auto">
          <a:xfrm>
            <a:off x="4114800" y="3103564"/>
            <a:ext cx="5029200" cy="369888"/>
            <a:chOff x="2375" y="2764"/>
            <a:chExt cx="3168" cy="233"/>
          </a:xfrm>
        </p:grpSpPr>
        <p:sp>
          <p:nvSpPr>
            <p:cNvPr id="55"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56"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3</a:t>
              </a:r>
            </a:p>
          </p:txBody>
        </p:sp>
        <p:sp>
          <p:nvSpPr>
            <p:cNvPr id="57"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3</a:t>
              </a:r>
            </a:p>
          </p:txBody>
        </p:sp>
      </p:grpSp>
      <p:grpSp>
        <p:nvGrpSpPr>
          <p:cNvPr id="58" name="Group 51"/>
          <p:cNvGrpSpPr>
            <a:grpSpLocks/>
          </p:cNvGrpSpPr>
          <p:nvPr/>
        </p:nvGrpSpPr>
        <p:grpSpPr bwMode="auto">
          <a:xfrm>
            <a:off x="4114800" y="2722564"/>
            <a:ext cx="5029200" cy="369888"/>
            <a:chOff x="2375" y="2764"/>
            <a:chExt cx="3168" cy="233"/>
          </a:xfrm>
        </p:grpSpPr>
        <p:sp>
          <p:nvSpPr>
            <p:cNvPr id="59" name="Line 39"/>
            <p:cNvSpPr>
              <a:spLocks noChangeShapeType="1"/>
            </p:cNvSpPr>
            <p:nvPr/>
          </p:nvSpPr>
          <p:spPr bwMode="auto">
            <a:xfrm>
              <a:off x="2716" y="2912"/>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60"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4</a:t>
              </a:r>
            </a:p>
          </p:txBody>
        </p:sp>
        <p:sp>
          <p:nvSpPr>
            <p:cNvPr id="61"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4</a:t>
              </a:r>
            </a:p>
          </p:txBody>
        </p:sp>
      </p:grpSp>
      <p:grpSp>
        <p:nvGrpSpPr>
          <p:cNvPr id="62" name="Group 42"/>
          <p:cNvGrpSpPr>
            <a:grpSpLocks/>
          </p:cNvGrpSpPr>
          <p:nvPr/>
        </p:nvGrpSpPr>
        <p:grpSpPr bwMode="auto">
          <a:xfrm>
            <a:off x="6435725" y="2362999"/>
            <a:ext cx="346075" cy="3046413"/>
            <a:chOff x="3477" y="1746"/>
            <a:chExt cx="218" cy="1919"/>
          </a:xfrm>
        </p:grpSpPr>
        <p:sp>
          <p:nvSpPr>
            <p:cNvPr id="63" name="Text Box 43"/>
            <p:cNvSpPr txBox="1">
              <a:spLocks noChangeArrowheads="1"/>
            </p:cNvSpPr>
            <p:nvPr/>
          </p:nvSpPr>
          <p:spPr bwMode="auto">
            <a:xfrm>
              <a:off x="3477" y="3491"/>
              <a:ext cx="218"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20</a:t>
              </a:r>
              <a:endParaRPr lang="en-US" baseline="-25000" dirty="0">
                <a:latin typeface="Arial"/>
                <a:cs typeface="Arial"/>
              </a:endParaRPr>
            </a:p>
          </p:txBody>
        </p:sp>
        <p:sp>
          <p:nvSpPr>
            <p:cNvPr id="64" name="Line 44"/>
            <p:cNvSpPr>
              <a:spLocks noChangeShapeType="1"/>
            </p:cNvSpPr>
            <p:nvPr/>
          </p:nvSpPr>
          <p:spPr bwMode="auto">
            <a:xfrm flipH="1">
              <a:off x="3578"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65" name="Group 51"/>
          <p:cNvGrpSpPr>
            <a:grpSpLocks/>
          </p:cNvGrpSpPr>
          <p:nvPr/>
        </p:nvGrpSpPr>
        <p:grpSpPr bwMode="auto">
          <a:xfrm>
            <a:off x="4114800" y="2133602"/>
            <a:ext cx="5029200" cy="369888"/>
            <a:chOff x="2375" y="2764"/>
            <a:chExt cx="3168" cy="233"/>
          </a:xfrm>
        </p:grpSpPr>
        <p:sp>
          <p:nvSpPr>
            <p:cNvPr id="66" name="Line 39"/>
            <p:cNvSpPr>
              <a:spLocks noChangeShapeType="1"/>
            </p:cNvSpPr>
            <p:nvPr/>
          </p:nvSpPr>
          <p:spPr bwMode="auto">
            <a:xfrm>
              <a:off x="2716" y="2912"/>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67"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5</a:t>
              </a:r>
            </a:p>
          </p:txBody>
        </p:sp>
        <p:sp>
          <p:nvSpPr>
            <p:cNvPr id="68"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5</a:t>
              </a:r>
            </a:p>
          </p:txBody>
        </p:sp>
      </p:grpSp>
      <p:grpSp>
        <p:nvGrpSpPr>
          <p:cNvPr id="69" name="Group 42"/>
          <p:cNvGrpSpPr>
            <a:grpSpLocks/>
          </p:cNvGrpSpPr>
          <p:nvPr/>
        </p:nvGrpSpPr>
        <p:grpSpPr bwMode="auto">
          <a:xfrm>
            <a:off x="6892925" y="2362999"/>
            <a:ext cx="346075" cy="3046413"/>
            <a:chOff x="3477" y="1746"/>
            <a:chExt cx="218" cy="1919"/>
          </a:xfrm>
        </p:grpSpPr>
        <p:sp>
          <p:nvSpPr>
            <p:cNvPr id="70" name="Text Box 43"/>
            <p:cNvSpPr txBox="1">
              <a:spLocks noChangeArrowheads="1"/>
            </p:cNvSpPr>
            <p:nvPr/>
          </p:nvSpPr>
          <p:spPr bwMode="auto">
            <a:xfrm>
              <a:off x="3477" y="3491"/>
              <a:ext cx="218"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25</a:t>
              </a:r>
              <a:endParaRPr lang="en-US" baseline="-25000" dirty="0">
                <a:latin typeface="Arial"/>
                <a:cs typeface="Arial"/>
              </a:endParaRPr>
            </a:p>
          </p:txBody>
        </p:sp>
        <p:sp>
          <p:nvSpPr>
            <p:cNvPr id="71" name="Line 44"/>
            <p:cNvSpPr>
              <a:spLocks noChangeShapeType="1"/>
            </p:cNvSpPr>
            <p:nvPr/>
          </p:nvSpPr>
          <p:spPr bwMode="auto">
            <a:xfrm flipH="1">
              <a:off x="3578"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sp>
        <p:nvSpPr>
          <p:cNvPr id="4" name="Footer Placeholder 3">
            <a:extLst>
              <a:ext uri="{FF2B5EF4-FFF2-40B4-BE49-F238E27FC236}">
                <a16:creationId xmlns:a16="http://schemas.microsoft.com/office/drawing/2014/main" id="{B630F267-66AB-2ED4-0ED3-46985DC3990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3339803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left)">
                                      <p:cBhvr>
                                        <p:cTn id="11" dur="500"/>
                                        <p:tgtEl>
                                          <p:spTgt spid="5">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left)">
                                      <p:cBhvr>
                                        <p:cTn id="15" dur="500"/>
                                        <p:tgtEl>
                                          <p:spTgt spid="5">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left)">
                                      <p:cBhvr>
                                        <p:cTn id="19" dur="500"/>
                                        <p:tgtEl>
                                          <p:spTgt spid="5">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wipe(left)">
                                      <p:cBhvr>
                                        <p:cTn id="23"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30647"/>
            <a:ext cx="8915400" cy="661061"/>
          </a:xfrm>
        </p:spPr>
        <p:txBody>
          <a:bodyPr/>
          <a:lstStyle/>
          <a:p>
            <a:r>
              <a:rPr lang="en-US" dirty="0">
                <a:solidFill>
                  <a:srgbClr val="AE1221"/>
                </a:solidFill>
              </a:rPr>
              <a:t>Active Learning 3: Answers </a:t>
            </a:r>
            <a:r>
              <a:rPr lang="en-US" b="1" i="1" dirty="0">
                <a:solidFill>
                  <a:srgbClr val="AE1221"/>
                </a:solidFill>
              </a:rPr>
              <a:t>P</a:t>
            </a:r>
            <a:r>
              <a:rPr lang="en-US" b="1" i="1" baseline="-25000" dirty="0">
                <a:solidFill>
                  <a:srgbClr val="AE1221"/>
                </a:solidFill>
              </a:rPr>
              <a:t>1</a:t>
            </a:r>
            <a:r>
              <a:rPr lang="en-US" dirty="0">
                <a:solidFill>
                  <a:srgbClr val="AE1221"/>
                </a:solidFill>
              </a:rPr>
              <a:t>, </a:t>
            </a:r>
            <a:r>
              <a:rPr lang="en-US" b="1" i="1" dirty="0">
                <a:solidFill>
                  <a:srgbClr val="AE1221"/>
                </a:solidFill>
              </a:rPr>
              <a:t>P</a:t>
            </a:r>
            <a:r>
              <a:rPr lang="en-US" b="1" i="1" baseline="-25000" dirty="0">
                <a:solidFill>
                  <a:srgbClr val="AE1221"/>
                </a:solidFill>
              </a:rPr>
              <a:t>2</a:t>
            </a:r>
            <a:r>
              <a:rPr lang="en-US" dirty="0">
                <a:solidFill>
                  <a:srgbClr val="AE1221"/>
                </a:solidFill>
              </a:rPr>
              <a:t>, </a:t>
            </a:r>
            <a:r>
              <a:rPr lang="en-US" b="1" i="1" dirty="0">
                <a:solidFill>
                  <a:srgbClr val="AE1221"/>
                </a:solidFill>
              </a:rPr>
              <a:t>P</a:t>
            </a:r>
            <a:r>
              <a:rPr lang="en-US" b="1" i="1" baseline="-25000" dirty="0">
                <a:solidFill>
                  <a:srgbClr val="AE1221"/>
                </a:solidFill>
              </a:rPr>
              <a:t>3</a:t>
            </a:r>
          </a:p>
        </p:txBody>
      </p:sp>
      <p:sp>
        <p:nvSpPr>
          <p:cNvPr id="3" name="Slide Number Placeholder 2"/>
          <p:cNvSpPr>
            <a:spLocks noGrp="1"/>
          </p:cNvSpPr>
          <p:nvPr>
            <p:ph type="sldNum" sz="quarter" idx="10"/>
          </p:nvPr>
        </p:nvSpPr>
        <p:spPr/>
        <p:txBody>
          <a:bodyPr/>
          <a:lstStyle/>
          <a:p>
            <a:pPr>
              <a:defRPr/>
            </a:pPr>
            <a:fld id="{073C29DC-2178-4274-9150-45F8EBD31C2D}" type="slidenum">
              <a:rPr lang="en-US" smtClean="0"/>
              <a:pPr>
                <a:defRPr/>
              </a:pPr>
              <a:t>28</a:t>
            </a:fld>
            <a:endParaRPr lang="en-US"/>
          </a:p>
        </p:txBody>
      </p:sp>
      <p:sp>
        <p:nvSpPr>
          <p:cNvPr id="5" name="Content Placeholder 4"/>
          <p:cNvSpPr>
            <a:spLocks noGrp="1"/>
          </p:cNvSpPr>
          <p:nvPr>
            <p:ph idx="12"/>
          </p:nvPr>
        </p:nvSpPr>
        <p:spPr>
          <a:xfrm>
            <a:off x="76200" y="838200"/>
            <a:ext cx="4572706" cy="5638800"/>
          </a:xfrm>
        </p:spPr>
        <p:txBody>
          <a:bodyPr>
            <a:noAutofit/>
          </a:bodyPr>
          <a:lstStyle/>
          <a:p>
            <a:pPr marL="0" indent="0">
              <a:buClr>
                <a:srgbClr val="C00000"/>
              </a:buClr>
              <a:buNone/>
            </a:pPr>
            <a:r>
              <a:rPr lang="en-US" sz="2600" dirty="0">
                <a:solidFill>
                  <a:srgbClr val="4E519E"/>
                </a:solidFill>
              </a:rPr>
              <a:t>For </a:t>
            </a:r>
            <a:r>
              <a:rPr lang="en-US" sz="2600" b="1" i="1" dirty="0">
                <a:solidFill>
                  <a:srgbClr val="4E519E"/>
                </a:solidFill>
              </a:rPr>
              <a:t>P</a:t>
            </a:r>
            <a:r>
              <a:rPr lang="en-US" sz="2600" b="1" i="1" baseline="-25000" dirty="0">
                <a:solidFill>
                  <a:srgbClr val="4E519E"/>
                </a:solidFill>
              </a:rPr>
              <a:t>1</a:t>
            </a:r>
          </a:p>
          <a:p>
            <a:pPr>
              <a:buClr>
                <a:srgbClr val="C00000"/>
              </a:buClr>
              <a:buFontTx/>
              <a:buChar char="-"/>
            </a:pPr>
            <a:r>
              <a:rPr lang="en-US" sz="2600" b="1" i="1" dirty="0">
                <a:solidFill>
                  <a:srgbClr val="4E519E"/>
                </a:solidFill>
              </a:rPr>
              <a:t>MR</a:t>
            </a:r>
            <a:r>
              <a:rPr lang="en-US" sz="2600" dirty="0">
                <a:solidFill>
                  <a:srgbClr val="4E519E"/>
                </a:solidFill>
              </a:rPr>
              <a:t> = </a:t>
            </a:r>
            <a:r>
              <a:rPr lang="en-US" sz="2600" b="1" i="1" dirty="0">
                <a:solidFill>
                  <a:srgbClr val="4E519E"/>
                </a:solidFill>
              </a:rPr>
              <a:t>MC</a:t>
            </a:r>
            <a:r>
              <a:rPr lang="en-US" sz="2600" dirty="0">
                <a:solidFill>
                  <a:srgbClr val="4E519E"/>
                </a:solidFill>
              </a:rPr>
              <a:t> at </a:t>
            </a:r>
            <a:r>
              <a:rPr lang="en-US" sz="2600" b="1" i="1" dirty="0">
                <a:solidFill>
                  <a:srgbClr val="4E519E"/>
                </a:solidFill>
              </a:rPr>
              <a:t>Q</a:t>
            </a:r>
            <a:r>
              <a:rPr lang="en-US" sz="2600" dirty="0">
                <a:solidFill>
                  <a:srgbClr val="4E519E"/>
                </a:solidFill>
              </a:rPr>
              <a:t> = 5, </a:t>
            </a:r>
          </a:p>
          <a:p>
            <a:pPr>
              <a:buClr>
                <a:srgbClr val="C00000"/>
              </a:buClr>
              <a:buFontTx/>
              <a:buChar char="-"/>
            </a:pPr>
            <a:r>
              <a:rPr lang="en-US" sz="2600" dirty="0">
                <a:solidFill>
                  <a:srgbClr val="4E519E"/>
                </a:solidFill>
              </a:rPr>
              <a:t>BUT </a:t>
            </a:r>
            <a:r>
              <a:rPr lang="en-US" sz="2600" b="1" i="1" dirty="0">
                <a:solidFill>
                  <a:srgbClr val="4E519E"/>
                </a:solidFill>
              </a:rPr>
              <a:t>P</a:t>
            </a:r>
            <a:r>
              <a:rPr lang="en-US" sz="2600" b="1" i="1" baseline="-25000" dirty="0">
                <a:solidFill>
                  <a:srgbClr val="4E519E"/>
                </a:solidFill>
              </a:rPr>
              <a:t>1</a:t>
            </a:r>
            <a:r>
              <a:rPr lang="en-US" sz="2600" dirty="0">
                <a:solidFill>
                  <a:srgbClr val="4E519E"/>
                </a:solidFill>
              </a:rPr>
              <a:t> &lt; </a:t>
            </a:r>
            <a:r>
              <a:rPr lang="en-US" sz="2600" b="1" i="1" dirty="0">
                <a:solidFill>
                  <a:srgbClr val="4E519E"/>
                </a:solidFill>
              </a:rPr>
              <a:t>AVC</a:t>
            </a:r>
            <a:r>
              <a:rPr lang="en-US" sz="2600" dirty="0">
                <a:solidFill>
                  <a:srgbClr val="4E519E"/>
                </a:solidFill>
              </a:rPr>
              <a:t>: shut down in the SR, </a:t>
            </a:r>
            <a:r>
              <a:rPr lang="en-US" sz="2600" b="1" i="1" dirty="0">
                <a:solidFill>
                  <a:srgbClr val="4E519E"/>
                </a:solidFill>
              </a:rPr>
              <a:t>Q</a:t>
            </a:r>
            <a:r>
              <a:rPr lang="en-US" sz="2600" dirty="0">
                <a:solidFill>
                  <a:srgbClr val="4E519E"/>
                </a:solidFill>
              </a:rPr>
              <a:t> = 0</a:t>
            </a:r>
          </a:p>
          <a:p>
            <a:pPr marL="0" indent="0">
              <a:buClr>
                <a:srgbClr val="C00000"/>
              </a:buClr>
              <a:buNone/>
            </a:pPr>
            <a:r>
              <a:rPr lang="en-US" sz="2600" dirty="0"/>
              <a:t>For </a:t>
            </a:r>
            <a:r>
              <a:rPr lang="en-US" sz="2600" b="1" i="1" dirty="0"/>
              <a:t>P</a:t>
            </a:r>
            <a:r>
              <a:rPr lang="en-US" sz="2600" b="1" i="1" baseline="-25000" dirty="0"/>
              <a:t>2</a:t>
            </a:r>
          </a:p>
          <a:p>
            <a:pPr>
              <a:buClr>
                <a:srgbClr val="C00000"/>
              </a:buClr>
              <a:buFontTx/>
              <a:buChar char="-"/>
            </a:pPr>
            <a:r>
              <a:rPr lang="en-US" sz="2600" b="1" i="1" dirty="0"/>
              <a:t>MR</a:t>
            </a:r>
            <a:r>
              <a:rPr lang="en-US" sz="2600" dirty="0"/>
              <a:t> = </a:t>
            </a:r>
            <a:r>
              <a:rPr lang="en-US" sz="2600" b="1" i="1" dirty="0"/>
              <a:t>MC</a:t>
            </a:r>
            <a:r>
              <a:rPr lang="en-US" sz="2600" dirty="0"/>
              <a:t> at </a:t>
            </a:r>
            <a:r>
              <a:rPr lang="en-US" sz="2600" b="1" i="1" dirty="0"/>
              <a:t>Q</a:t>
            </a:r>
            <a:r>
              <a:rPr lang="en-US" sz="2600" dirty="0"/>
              <a:t> = 10 </a:t>
            </a:r>
          </a:p>
          <a:p>
            <a:pPr>
              <a:buClr>
                <a:srgbClr val="C00000"/>
              </a:buClr>
              <a:buFontTx/>
              <a:buChar char="-"/>
            </a:pPr>
            <a:r>
              <a:rPr lang="en-US" sz="2600" dirty="0"/>
              <a:t>where </a:t>
            </a:r>
            <a:r>
              <a:rPr lang="en-US" sz="2600" b="1" i="1" dirty="0"/>
              <a:t>P</a:t>
            </a:r>
            <a:r>
              <a:rPr lang="en-US" sz="2600" b="1" i="1" baseline="-25000" dirty="0"/>
              <a:t>2</a:t>
            </a:r>
            <a:r>
              <a:rPr lang="en-US" sz="2600" dirty="0"/>
              <a:t> = </a:t>
            </a:r>
            <a:r>
              <a:rPr lang="en-US" sz="2600" b="1" i="1" dirty="0"/>
              <a:t>AVC</a:t>
            </a:r>
            <a:r>
              <a:rPr lang="en-US" sz="2600" dirty="0"/>
              <a:t>, </a:t>
            </a:r>
          </a:p>
          <a:p>
            <a:pPr>
              <a:buClr>
                <a:srgbClr val="C00000"/>
              </a:buClr>
              <a:buFontTx/>
              <a:buChar char="-"/>
            </a:pPr>
            <a:r>
              <a:rPr lang="en-US" sz="2600" dirty="0"/>
              <a:t>shut-down point, </a:t>
            </a:r>
            <a:r>
              <a:rPr lang="en-US" sz="2600" b="1" i="1" dirty="0"/>
              <a:t>Q</a:t>
            </a:r>
            <a:r>
              <a:rPr lang="en-US" sz="2600" dirty="0"/>
              <a:t> = 10</a:t>
            </a:r>
          </a:p>
          <a:p>
            <a:pPr marL="0" indent="0">
              <a:buClr>
                <a:srgbClr val="C00000"/>
              </a:buClr>
              <a:buNone/>
            </a:pPr>
            <a:r>
              <a:rPr lang="en-US" sz="2600" dirty="0">
                <a:solidFill>
                  <a:srgbClr val="4E519E"/>
                </a:solidFill>
              </a:rPr>
              <a:t>For </a:t>
            </a:r>
            <a:r>
              <a:rPr lang="en-US" sz="2600" b="1" i="1" dirty="0">
                <a:solidFill>
                  <a:srgbClr val="4E519E"/>
                </a:solidFill>
              </a:rPr>
              <a:t>P</a:t>
            </a:r>
            <a:r>
              <a:rPr lang="en-US" sz="2600" b="1" i="1" baseline="-25000" dirty="0">
                <a:solidFill>
                  <a:srgbClr val="4E519E"/>
                </a:solidFill>
              </a:rPr>
              <a:t>3</a:t>
            </a:r>
          </a:p>
          <a:p>
            <a:pPr>
              <a:buClr>
                <a:srgbClr val="C00000"/>
              </a:buClr>
              <a:buFontTx/>
              <a:buChar char="-"/>
            </a:pPr>
            <a:r>
              <a:rPr lang="en-US" sz="2600" b="1" i="1" dirty="0">
                <a:solidFill>
                  <a:srgbClr val="4E519E"/>
                </a:solidFill>
              </a:rPr>
              <a:t>MR</a:t>
            </a:r>
            <a:r>
              <a:rPr lang="en-US" sz="2600" dirty="0">
                <a:solidFill>
                  <a:srgbClr val="4E519E"/>
                </a:solidFill>
              </a:rPr>
              <a:t> = </a:t>
            </a:r>
            <a:r>
              <a:rPr lang="en-US" sz="2600" b="1" i="1" dirty="0">
                <a:solidFill>
                  <a:srgbClr val="4E519E"/>
                </a:solidFill>
              </a:rPr>
              <a:t>MC</a:t>
            </a:r>
            <a:r>
              <a:rPr lang="en-US" sz="2600" dirty="0">
                <a:solidFill>
                  <a:srgbClr val="4E519E"/>
                </a:solidFill>
              </a:rPr>
              <a:t> at Q = </a:t>
            </a:r>
            <a:r>
              <a:rPr lang="en-US" sz="2600" b="1" i="1" dirty="0">
                <a:solidFill>
                  <a:srgbClr val="4E519E"/>
                </a:solidFill>
              </a:rPr>
              <a:t>15</a:t>
            </a:r>
            <a:r>
              <a:rPr lang="en-US" sz="2600" dirty="0">
                <a:solidFill>
                  <a:srgbClr val="4E519E"/>
                </a:solidFill>
              </a:rPr>
              <a:t>, </a:t>
            </a:r>
          </a:p>
          <a:p>
            <a:pPr marL="0" indent="0">
              <a:buClr>
                <a:srgbClr val="C00000"/>
              </a:buClr>
              <a:buNone/>
            </a:pPr>
            <a:r>
              <a:rPr lang="en-US" sz="2600" b="1" i="1" dirty="0">
                <a:solidFill>
                  <a:srgbClr val="4E519E"/>
                </a:solidFill>
              </a:rPr>
              <a:t>P</a:t>
            </a:r>
            <a:r>
              <a:rPr lang="en-US" sz="2600" b="1" i="1" baseline="-25000" dirty="0">
                <a:solidFill>
                  <a:srgbClr val="4E519E"/>
                </a:solidFill>
              </a:rPr>
              <a:t>3</a:t>
            </a:r>
            <a:r>
              <a:rPr lang="en-US" sz="2600" dirty="0">
                <a:solidFill>
                  <a:srgbClr val="4E519E"/>
                </a:solidFill>
              </a:rPr>
              <a:t> &lt; </a:t>
            </a:r>
            <a:r>
              <a:rPr lang="en-US" sz="2600" b="1" i="1" dirty="0">
                <a:solidFill>
                  <a:srgbClr val="4E519E"/>
                </a:solidFill>
              </a:rPr>
              <a:t>ATC</a:t>
            </a:r>
            <a:r>
              <a:rPr lang="en-US" sz="2600" dirty="0">
                <a:solidFill>
                  <a:srgbClr val="4E519E"/>
                </a:solidFill>
              </a:rPr>
              <a:t> (loss) and </a:t>
            </a:r>
          </a:p>
          <a:p>
            <a:pPr marL="0" indent="0">
              <a:buClr>
                <a:srgbClr val="C00000"/>
              </a:buClr>
              <a:buNone/>
            </a:pPr>
            <a:r>
              <a:rPr lang="en-US" sz="2600" b="1" i="1" dirty="0">
                <a:solidFill>
                  <a:srgbClr val="4E519E"/>
                </a:solidFill>
              </a:rPr>
              <a:t>P</a:t>
            </a:r>
            <a:r>
              <a:rPr lang="en-US" sz="2600" b="1" i="1" baseline="-25000" dirty="0">
                <a:solidFill>
                  <a:srgbClr val="4E519E"/>
                </a:solidFill>
              </a:rPr>
              <a:t>3</a:t>
            </a:r>
            <a:r>
              <a:rPr lang="en-US" sz="2600" dirty="0">
                <a:solidFill>
                  <a:srgbClr val="4E519E"/>
                </a:solidFill>
              </a:rPr>
              <a:t> &gt; </a:t>
            </a:r>
            <a:r>
              <a:rPr lang="en-US" sz="2600" b="1" i="1" dirty="0">
                <a:solidFill>
                  <a:srgbClr val="4E519E"/>
                </a:solidFill>
              </a:rPr>
              <a:t>AVC</a:t>
            </a:r>
            <a:r>
              <a:rPr lang="en-US" sz="2600" dirty="0">
                <a:solidFill>
                  <a:srgbClr val="4E519E"/>
                </a:solidFill>
              </a:rPr>
              <a:t> : keep producing</a:t>
            </a:r>
          </a:p>
        </p:txBody>
      </p:sp>
      <p:grpSp>
        <p:nvGrpSpPr>
          <p:cNvPr id="6" name="Group 7"/>
          <p:cNvGrpSpPr>
            <a:grpSpLocks/>
          </p:cNvGrpSpPr>
          <p:nvPr/>
        </p:nvGrpSpPr>
        <p:grpSpPr bwMode="auto">
          <a:xfrm>
            <a:off x="3854451" y="811212"/>
            <a:ext cx="5060950" cy="4444999"/>
            <a:chOff x="2211" y="707"/>
            <a:chExt cx="3188" cy="2800"/>
          </a:xfrm>
        </p:grpSpPr>
        <p:grpSp>
          <p:nvGrpSpPr>
            <p:cNvPr id="7" name="Group 8"/>
            <p:cNvGrpSpPr>
              <a:grpSpLocks/>
            </p:cNvGrpSpPr>
            <p:nvPr/>
          </p:nvGrpSpPr>
          <p:grpSpPr bwMode="auto">
            <a:xfrm>
              <a:off x="2730" y="981"/>
              <a:ext cx="2357" cy="2385"/>
              <a:chOff x="1489" y="785"/>
              <a:chExt cx="3650" cy="2492"/>
            </a:xfrm>
          </p:grpSpPr>
          <p:sp>
            <p:nvSpPr>
              <p:cNvPr id="10"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1"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8" name="Text Box 11"/>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9" name="Text Box 12"/>
            <p:cNvSpPr txBox="1">
              <a:spLocks noChangeArrowheads="1"/>
            </p:cNvSpPr>
            <p:nvPr/>
          </p:nvSpPr>
          <p:spPr bwMode="auto">
            <a:xfrm>
              <a:off x="2211" y="707"/>
              <a:ext cx="1054" cy="288"/>
            </a:xfrm>
            <a:prstGeom prst="rect">
              <a:avLst/>
            </a:prstGeom>
            <a:noFill/>
            <a:ln w="9525">
              <a:noFill/>
              <a:miter lim="800000"/>
              <a:headEnd/>
              <a:tailEnd/>
            </a:ln>
          </p:spPr>
          <p:txBody>
            <a:bodyPr>
              <a:spAutoFit/>
            </a:bodyPr>
            <a:lstStyle/>
            <a:p>
              <a:pPr algn="r">
                <a:spcBef>
                  <a:spcPct val="50000"/>
                </a:spcBef>
              </a:pPr>
              <a:r>
                <a:rPr lang="en-US" sz="2400" dirty="0">
                  <a:latin typeface="Arial"/>
                  <a:cs typeface="Arial"/>
                </a:rPr>
                <a:t>Costs, </a:t>
              </a:r>
              <a:r>
                <a:rPr lang="en-US" sz="2400" b="1" i="1" dirty="0">
                  <a:latin typeface="Arial"/>
                  <a:cs typeface="Arial"/>
                </a:rPr>
                <a:t>P</a:t>
              </a:r>
            </a:p>
          </p:txBody>
        </p:sp>
      </p:grpSp>
      <p:grpSp>
        <p:nvGrpSpPr>
          <p:cNvPr id="12" name="Group 13"/>
          <p:cNvGrpSpPr>
            <a:grpSpLocks/>
          </p:cNvGrpSpPr>
          <p:nvPr/>
        </p:nvGrpSpPr>
        <p:grpSpPr bwMode="auto">
          <a:xfrm>
            <a:off x="5064126" y="990600"/>
            <a:ext cx="3171826" cy="3792538"/>
            <a:chOff x="2925" y="1266"/>
            <a:chExt cx="1998" cy="2389"/>
          </a:xfrm>
        </p:grpSpPr>
        <p:sp>
          <p:nvSpPr>
            <p:cNvPr id="13" name="Line 14"/>
            <p:cNvSpPr>
              <a:spLocks noChangeShapeType="1"/>
            </p:cNvSpPr>
            <p:nvPr/>
          </p:nvSpPr>
          <p:spPr bwMode="auto">
            <a:xfrm flipV="1">
              <a:off x="2925" y="1588"/>
              <a:ext cx="1706" cy="2067"/>
            </a:xfrm>
            <a:prstGeom prst="line">
              <a:avLst/>
            </a:prstGeom>
            <a:noFill/>
            <a:ln w="38100">
              <a:solidFill>
                <a:srgbClr val="333399"/>
              </a:solidFill>
              <a:round/>
              <a:headEnd/>
              <a:tailEnd/>
            </a:ln>
          </p:spPr>
          <p:txBody>
            <a:bodyPr/>
            <a:lstStyle/>
            <a:p>
              <a:endParaRPr lang="en-US">
                <a:latin typeface="Arial"/>
                <a:cs typeface="Arial"/>
              </a:endParaRPr>
            </a:p>
          </p:txBody>
        </p:sp>
        <p:sp>
          <p:nvSpPr>
            <p:cNvPr id="14" name="Text Box 15"/>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15" name="Group 16"/>
          <p:cNvGrpSpPr>
            <a:grpSpLocks/>
          </p:cNvGrpSpPr>
          <p:nvPr/>
        </p:nvGrpSpPr>
        <p:grpSpPr bwMode="auto">
          <a:xfrm>
            <a:off x="5064126" y="1422400"/>
            <a:ext cx="3446463" cy="1516062"/>
            <a:chOff x="2925" y="1538"/>
            <a:chExt cx="2171" cy="955"/>
          </a:xfrm>
        </p:grpSpPr>
        <p:sp>
          <p:nvSpPr>
            <p:cNvPr id="16" name="Arc 17"/>
            <p:cNvSpPr>
              <a:spLocks/>
            </p:cNvSpPr>
            <p:nvPr/>
          </p:nvSpPr>
          <p:spPr bwMode="auto">
            <a:xfrm flipH="1" flipV="1">
              <a:off x="2925" y="1538"/>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17" name="Text Box 18"/>
            <p:cNvSpPr txBox="1">
              <a:spLocks noChangeArrowheads="1"/>
            </p:cNvSpPr>
            <p:nvPr/>
          </p:nvSpPr>
          <p:spPr bwMode="auto">
            <a:xfrm>
              <a:off x="4631" y="1794"/>
              <a:ext cx="465" cy="233"/>
            </a:xfrm>
            <a:prstGeom prst="rect">
              <a:avLst/>
            </a:prstGeom>
            <a:noFill/>
            <a:ln w="9525">
              <a:noFill/>
              <a:miter lim="800000"/>
              <a:headEnd/>
              <a:tailEnd/>
            </a:ln>
          </p:spPr>
          <p:txBody>
            <a:bodyPr lIns="0" tIns="0" rIns="0" bIns="0">
              <a:spAutoFit/>
            </a:bodyPr>
            <a:lstStyle/>
            <a:p>
              <a:pPr>
                <a:spcBef>
                  <a:spcPct val="50000"/>
                </a:spcBef>
              </a:pPr>
              <a:r>
                <a:rPr lang="en-US" sz="2400" i="1" dirty="0">
                  <a:latin typeface="Arial"/>
                  <a:cs typeface="Arial"/>
                </a:rPr>
                <a:t>ATC</a:t>
              </a:r>
            </a:p>
          </p:txBody>
        </p:sp>
      </p:grpSp>
      <p:grpSp>
        <p:nvGrpSpPr>
          <p:cNvPr id="21" name="Group 51"/>
          <p:cNvGrpSpPr>
            <a:grpSpLocks/>
          </p:cNvGrpSpPr>
          <p:nvPr/>
        </p:nvGrpSpPr>
        <p:grpSpPr bwMode="auto">
          <a:xfrm>
            <a:off x="4114800" y="4191006"/>
            <a:ext cx="5029200" cy="369888"/>
            <a:chOff x="2375" y="2764"/>
            <a:chExt cx="3168" cy="233"/>
          </a:xfrm>
        </p:grpSpPr>
        <p:sp>
          <p:nvSpPr>
            <p:cNvPr id="22"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23"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1</a:t>
              </a:r>
            </a:p>
          </p:txBody>
        </p:sp>
        <p:sp>
          <p:nvSpPr>
            <p:cNvPr id="24"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1</a:t>
              </a:r>
            </a:p>
          </p:txBody>
        </p:sp>
      </p:grpSp>
      <p:grpSp>
        <p:nvGrpSpPr>
          <p:cNvPr id="25" name="Group 42"/>
          <p:cNvGrpSpPr>
            <a:grpSpLocks/>
          </p:cNvGrpSpPr>
          <p:nvPr/>
        </p:nvGrpSpPr>
        <p:grpSpPr bwMode="auto">
          <a:xfrm>
            <a:off x="5181600" y="2357438"/>
            <a:ext cx="381000" cy="3052763"/>
            <a:chOff x="3477" y="1746"/>
            <a:chExt cx="240" cy="1923"/>
          </a:xfrm>
        </p:grpSpPr>
        <p:sp>
          <p:nvSpPr>
            <p:cNvPr id="26" name="Text Box 43"/>
            <p:cNvSpPr txBox="1">
              <a:spLocks noChangeArrowheads="1"/>
            </p:cNvSpPr>
            <p:nvPr/>
          </p:nvSpPr>
          <p:spPr bwMode="auto">
            <a:xfrm>
              <a:off x="3477" y="3495"/>
              <a:ext cx="240"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5</a:t>
              </a:r>
              <a:endParaRPr lang="en-US" baseline="-25000" dirty="0">
                <a:latin typeface="Arial"/>
                <a:cs typeface="Arial"/>
              </a:endParaRPr>
            </a:p>
          </p:txBody>
        </p:sp>
        <p:sp>
          <p:nvSpPr>
            <p:cNvPr id="27" name="Line 44"/>
            <p:cNvSpPr>
              <a:spLocks noChangeShapeType="1"/>
            </p:cNvSpPr>
            <p:nvPr/>
          </p:nvSpPr>
          <p:spPr bwMode="auto">
            <a:xfrm>
              <a:off x="3593"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30" name="Group 16"/>
          <p:cNvGrpSpPr>
            <a:grpSpLocks/>
          </p:cNvGrpSpPr>
          <p:nvPr/>
        </p:nvGrpSpPr>
        <p:grpSpPr bwMode="auto">
          <a:xfrm>
            <a:off x="4784725" y="2271713"/>
            <a:ext cx="4079875" cy="1516062"/>
            <a:chOff x="3203" y="1526"/>
            <a:chExt cx="2570" cy="955"/>
          </a:xfrm>
        </p:grpSpPr>
        <p:sp>
          <p:nvSpPr>
            <p:cNvPr id="31" name="Arc 17"/>
            <p:cNvSpPr>
              <a:spLocks/>
            </p:cNvSpPr>
            <p:nvPr/>
          </p:nvSpPr>
          <p:spPr bwMode="auto">
            <a:xfrm rot="20747768" flipH="1" flipV="1">
              <a:off x="3203" y="1526"/>
              <a:ext cx="2068"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32" name="Text Box 18"/>
            <p:cNvSpPr txBox="1">
              <a:spLocks noChangeArrowheads="1"/>
            </p:cNvSpPr>
            <p:nvPr/>
          </p:nvSpPr>
          <p:spPr bwMode="auto">
            <a:xfrm>
              <a:off x="5308" y="1631"/>
              <a:ext cx="465" cy="233"/>
            </a:xfrm>
            <a:prstGeom prst="rect">
              <a:avLst/>
            </a:prstGeom>
            <a:noFill/>
            <a:ln w="9525">
              <a:noFill/>
              <a:miter lim="800000"/>
              <a:headEnd/>
              <a:tailEnd/>
            </a:ln>
          </p:spPr>
          <p:txBody>
            <a:bodyPr lIns="0" tIns="0" rIns="0" bIns="0">
              <a:spAutoFit/>
            </a:bodyPr>
            <a:lstStyle/>
            <a:p>
              <a:pPr>
                <a:spcBef>
                  <a:spcPct val="50000"/>
                </a:spcBef>
              </a:pPr>
              <a:r>
                <a:rPr lang="en-US" sz="2400" i="1" dirty="0">
                  <a:latin typeface="Arial"/>
                  <a:cs typeface="Arial"/>
                </a:rPr>
                <a:t>AVC</a:t>
              </a:r>
            </a:p>
          </p:txBody>
        </p:sp>
      </p:grpSp>
      <p:grpSp>
        <p:nvGrpSpPr>
          <p:cNvPr id="44" name="Group 42"/>
          <p:cNvGrpSpPr>
            <a:grpSpLocks/>
          </p:cNvGrpSpPr>
          <p:nvPr/>
        </p:nvGrpSpPr>
        <p:grpSpPr bwMode="auto">
          <a:xfrm>
            <a:off x="5638807" y="2357438"/>
            <a:ext cx="382588" cy="3052763"/>
            <a:chOff x="3477" y="1746"/>
            <a:chExt cx="241" cy="1923"/>
          </a:xfrm>
        </p:grpSpPr>
        <p:sp>
          <p:nvSpPr>
            <p:cNvPr id="45" name="Text Box 43"/>
            <p:cNvSpPr txBox="1">
              <a:spLocks noChangeArrowheads="1"/>
            </p:cNvSpPr>
            <p:nvPr/>
          </p:nvSpPr>
          <p:spPr bwMode="auto">
            <a:xfrm>
              <a:off x="3477" y="3495"/>
              <a:ext cx="241"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10</a:t>
              </a:r>
              <a:endParaRPr lang="en-US" baseline="-25000" dirty="0">
                <a:latin typeface="Arial"/>
                <a:cs typeface="Arial"/>
              </a:endParaRPr>
            </a:p>
          </p:txBody>
        </p:sp>
        <p:sp>
          <p:nvSpPr>
            <p:cNvPr id="46" name="Line 44"/>
            <p:cNvSpPr>
              <a:spLocks noChangeShapeType="1"/>
            </p:cNvSpPr>
            <p:nvPr/>
          </p:nvSpPr>
          <p:spPr bwMode="auto">
            <a:xfrm>
              <a:off x="3593"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47" name="Group 42"/>
          <p:cNvGrpSpPr>
            <a:grpSpLocks/>
          </p:cNvGrpSpPr>
          <p:nvPr/>
        </p:nvGrpSpPr>
        <p:grpSpPr bwMode="auto">
          <a:xfrm>
            <a:off x="6071401" y="2362999"/>
            <a:ext cx="404813" cy="3046413"/>
            <a:chOff x="3461" y="1746"/>
            <a:chExt cx="255" cy="1919"/>
          </a:xfrm>
        </p:grpSpPr>
        <p:sp>
          <p:nvSpPr>
            <p:cNvPr id="48" name="Text Box 43"/>
            <p:cNvSpPr txBox="1">
              <a:spLocks noChangeArrowheads="1"/>
            </p:cNvSpPr>
            <p:nvPr/>
          </p:nvSpPr>
          <p:spPr bwMode="auto">
            <a:xfrm>
              <a:off x="3461" y="3491"/>
              <a:ext cx="255"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15</a:t>
              </a:r>
              <a:endParaRPr lang="en-US" baseline="-25000" dirty="0">
                <a:latin typeface="Arial"/>
                <a:cs typeface="Arial"/>
              </a:endParaRPr>
            </a:p>
          </p:txBody>
        </p:sp>
        <p:sp>
          <p:nvSpPr>
            <p:cNvPr id="49" name="Line 44"/>
            <p:cNvSpPr>
              <a:spLocks noChangeShapeType="1"/>
            </p:cNvSpPr>
            <p:nvPr/>
          </p:nvSpPr>
          <p:spPr bwMode="auto">
            <a:xfrm flipH="1">
              <a:off x="3593"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50" name="Group 51"/>
          <p:cNvGrpSpPr>
            <a:grpSpLocks/>
          </p:cNvGrpSpPr>
          <p:nvPr/>
        </p:nvGrpSpPr>
        <p:grpSpPr bwMode="auto">
          <a:xfrm>
            <a:off x="4114800" y="3657607"/>
            <a:ext cx="5029200" cy="369888"/>
            <a:chOff x="2375" y="2764"/>
            <a:chExt cx="3168" cy="233"/>
          </a:xfrm>
        </p:grpSpPr>
        <p:sp>
          <p:nvSpPr>
            <p:cNvPr id="51"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52"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2</a:t>
              </a:r>
            </a:p>
          </p:txBody>
        </p:sp>
        <p:sp>
          <p:nvSpPr>
            <p:cNvPr id="53"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2</a:t>
              </a:r>
            </a:p>
          </p:txBody>
        </p:sp>
      </p:grpSp>
      <p:grpSp>
        <p:nvGrpSpPr>
          <p:cNvPr id="54" name="Group 51"/>
          <p:cNvGrpSpPr>
            <a:grpSpLocks/>
          </p:cNvGrpSpPr>
          <p:nvPr/>
        </p:nvGrpSpPr>
        <p:grpSpPr bwMode="auto">
          <a:xfrm>
            <a:off x="4114800" y="3103564"/>
            <a:ext cx="5029200" cy="369888"/>
            <a:chOff x="2375" y="2764"/>
            <a:chExt cx="3168" cy="233"/>
          </a:xfrm>
        </p:grpSpPr>
        <p:sp>
          <p:nvSpPr>
            <p:cNvPr id="55"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56"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3</a:t>
              </a:r>
            </a:p>
          </p:txBody>
        </p:sp>
        <p:sp>
          <p:nvSpPr>
            <p:cNvPr id="57"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3</a:t>
              </a:r>
            </a:p>
          </p:txBody>
        </p:sp>
      </p:grpSp>
      <p:grpSp>
        <p:nvGrpSpPr>
          <p:cNvPr id="58" name="Group 51"/>
          <p:cNvGrpSpPr>
            <a:grpSpLocks/>
          </p:cNvGrpSpPr>
          <p:nvPr/>
        </p:nvGrpSpPr>
        <p:grpSpPr bwMode="auto">
          <a:xfrm>
            <a:off x="4114800" y="2722564"/>
            <a:ext cx="5029200" cy="369888"/>
            <a:chOff x="2375" y="2764"/>
            <a:chExt cx="3168" cy="233"/>
          </a:xfrm>
        </p:grpSpPr>
        <p:sp>
          <p:nvSpPr>
            <p:cNvPr id="59" name="Line 39"/>
            <p:cNvSpPr>
              <a:spLocks noChangeShapeType="1"/>
            </p:cNvSpPr>
            <p:nvPr/>
          </p:nvSpPr>
          <p:spPr bwMode="auto">
            <a:xfrm>
              <a:off x="2716" y="2912"/>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60"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4</a:t>
              </a:r>
            </a:p>
          </p:txBody>
        </p:sp>
        <p:sp>
          <p:nvSpPr>
            <p:cNvPr id="61"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4</a:t>
              </a:r>
            </a:p>
          </p:txBody>
        </p:sp>
      </p:grpSp>
      <p:grpSp>
        <p:nvGrpSpPr>
          <p:cNvPr id="62" name="Group 42"/>
          <p:cNvGrpSpPr>
            <a:grpSpLocks/>
          </p:cNvGrpSpPr>
          <p:nvPr/>
        </p:nvGrpSpPr>
        <p:grpSpPr bwMode="auto">
          <a:xfrm>
            <a:off x="6435725" y="2362999"/>
            <a:ext cx="346075" cy="3046413"/>
            <a:chOff x="3477" y="1746"/>
            <a:chExt cx="218" cy="1919"/>
          </a:xfrm>
        </p:grpSpPr>
        <p:sp>
          <p:nvSpPr>
            <p:cNvPr id="63" name="Text Box 43"/>
            <p:cNvSpPr txBox="1">
              <a:spLocks noChangeArrowheads="1"/>
            </p:cNvSpPr>
            <p:nvPr/>
          </p:nvSpPr>
          <p:spPr bwMode="auto">
            <a:xfrm>
              <a:off x="3477" y="3491"/>
              <a:ext cx="218"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20</a:t>
              </a:r>
              <a:endParaRPr lang="en-US" baseline="-25000" dirty="0">
                <a:latin typeface="Arial"/>
                <a:cs typeface="Arial"/>
              </a:endParaRPr>
            </a:p>
          </p:txBody>
        </p:sp>
        <p:sp>
          <p:nvSpPr>
            <p:cNvPr id="64" name="Line 44"/>
            <p:cNvSpPr>
              <a:spLocks noChangeShapeType="1"/>
            </p:cNvSpPr>
            <p:nvPr/>
          </p:nvSpPr>
          <p:spPr bwMode="auto">
            <a:xfrm flipH="1">
              <a:off x="3578"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65" name="Group 51"/>
          <p:cNvGrpSpPr>
            <a:grpSpLocks/>
          </p:cNvGrpSpPr>
          <p:nvPr/>
        </p:nvGrpSpPr>
        <p:grpSpPr bwMode="auto">
          <a:xfrm>
            <a:off x="4114800" y="2133602"/>
            <a:ext cx="5029200" cy="369888"/>
            <a:chOff x="2375" y="2764"/>
            <a:chExt cx="3168" cy="233"/>
          </a:xfrm>
        </p:grpSpPr>
        <p:sp>
          <p:nvSpPr>
            <p:cNvPr id="66" name="Line 39"/>
            <p:cNvSpPr>
              <a:spLocks noChangeShapeType="1"/>
            </p:cNvSpPr>
            <p:nvPr/>
          </p:nvSpPr>
          <p:spPr bwMode="auto">
            <a:xfrm>
              <a:off x="2716" y="2912"/>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67"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5</a:t>
              </a:r>
            </a:p>
          </p:txBody>
        </p:sp>
        <p:sp>
          <p:nvSpPr>
            <p:cNvPr id="68"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5</a:t>
              </a:r>
            </a:p>
          </p:txBody>
        </p:sp>
      </p:grpSp>
      <p:grpSp>
        <p:nvGrpSpPr>
          <p:cNvPr id="69" name="Group 42"/>
          <p:cNvGrpSpPr>
            <a:grpSpLocks/>
          </p:cNvGrpSpPr>
          <p:nvPr/>
        </p:nvGrpSpPr>
        <p:grpSpPr bwMode="auto">
          <a:xfrm>
            <a:off x="6892925" y="2362999"/>
            <a:ext cx="346075" cy="3046413"/>
            <a:chOff x="3477" y="1746"/>
            <a:chExt cx="218" cy="1919"/>
          </a:xfrm>
        </p:grpSpPr>
        <p:sp>
          <p:nvSpPr>
            <p:cNvPr id="70" name="Text Box 43"/>
            <p:cNvSpPr txBox="1">
              <a:spLocks noChangeArrowheads="1"/>
            </p:cNvSpPr>
            <p:nvPr/>
          </p:nvSpPr>
          <p:spPr bwMode="auto">
            <a:xfrm>
              <a:off x="3477" y="3491"/>
              <a:ext cx="218"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25</a:t>
              </a:r>
              <a:endParaRPr lang="en-US" baseline="-25000" dirty="0">
                <a:latin typeface="Arial"/>
                <a:cs typeface="Arial"/>
              </a:endParaRPr>
            </a:p>
          </p:txBody>
        </p:sp>
        <p:sp>
          <p:nvSpPr>
            <p:cNvPr id="71" name="Line 44"/>
            <p:cNvSpPr>
              <a:spLocks noChangeShapeType="1"/>
            </p:cNvSpPr>
            <p:nvPr/>
          </p:nvSpPr>
          <p:spPr bwMode="auto">
            <a:xfrm flipH="1">
              <a:off x="3578"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sp>
        <p:nvSpPr>
          <p:cNvPr id="4" name="Footer Placeholder 3">
            <a:extLst>
              <a:ext uri="{FF2B5EF4-FFF2-40B4-BE49-F238E27FC236}">
                <a16:creationId xmlns:a16="http://schemas.microsoft.com/office/drawing/2014/main" id="{A729383D-3D2B-6A51-3433-E4F39402FF7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7477814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6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8"/>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69"/>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62"/>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4"/>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5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21"/>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25"/>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44"/>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4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animEffect transition="in" filter="wipe(left)">
                                      <p:cBhvr>
                                        <p:cTn id="29" dur="500"/>
                                        <p:tgtEl>
                                          <p:spTgt spid="5">
                                            <p:txEl>
                                              <p:pRg st="0" end="0"/>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childTnLst>
                          </p:cTn>
                        </p:par>
                        <p:par>
                          <p:cTn id="34" fill="hold">
                            <p:stCondLst>
                              <p:cond delay="1000"/>
                            </p:stCondLst>
                            <p:childTnLst>
                              <p:par>
                                <p:cTn id="35" presetID="22" presetClass="entr" presetSubtype="4" fill="hold" nodeType="after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down)">
                                      <p:cBhvr>
                                        <p:cTn id="37" dur="500"/>
                                        <p:tgtEl>
                                          <p:spTgt spid="25"/>
                                        </p:tgtEl>
                                      </p:cBhvr>
                                    </p:animEffect>
                                  </p:childTnLst>
                                </p:cTn>
                              </p:par>
                            </p:childTnLst>
                          </p:cTn>
                        </p:par>
                        <p:par>
                          <p:cTn id="38" fill="hold">
                            <p:stCondLst>
                              <p:cond delay="1500"/>
                            </p:stCondLst>
                            <p:childTnLst>
                              <p:par>
                                <p:cTn id="39" presetID="22" presetClass="entr" presetSubtype="8" fill="hold" grpId="0" nodeType="after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animEffect transition="in" filter="wipe(left)">
                                      <p:cBhvr>
                                        <p:cTn id="41" dur="500"/>
                                        <p:tgtEl>
                                          <p:spTgt spid="5">
                                            <p:txEl>
                                              <p:pRg st="1" end="1"/>
                                            </p:txEl>
                                          </p:spTgt>
                                        </p:tgtEl>
                                      </p:cBhvr>
                                    </p:animEffect>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5">
                                            <p:txEl>
                                              <p:pRg st="2" end="2"/>
                                            </p:txEl>
                                          </p:spTgt>
                                        </p:tgtEl>
                                        <p:attrNameLst>
                                          <p:attrName>style.visibility</p:attrName>
                                        </p:attrNameLst>
                                      </p:cBhvr>
                                      <p:to>
                                        <p:strVal val="visible"/>
                                      </p:to>
                                    </p:set>
                                    <p:animEffect transition="in" filter="wipe(left)">
                                      <p:cBhvr>
                                        <p:cTn id="45" dur="500"/>
                                        <p:tgtEl>
                                          <p:spTgt spid="5">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
                                            <p:txEl>
                                              <p:pRg st="3" end="3"/>
                                            </p:txEl>
                                          </p:spTgt>
                                        </p:tgtEl>
                                        <p:attrNameLst>
                                          <p:attrName>style.visibility</p:attrName>
                                        </p:attrNameLst>
                                      </p:cBhvr>
                                      <p:to>
                                        <p:strVal val="visible"/>
                                      </p:to>
                                    </p:set>
                                    <p:animEffect transition="in" filter="wipe(left)">
                                      <p:cBhvr>
                                        <p:cTn id="50" dur="500"/>
                                        <p:tgtEl>
                                          <p:spTgt spid="5">
                                            <p:txEl>
                                              <p:pRg st="3" end="3"/>
                                            </p:txEl>
                                          </p:spTgt>
                                        </p:tgtEl>
                                      </p:cBhvr>
                                    </p:animEffect>
                                  </p:childTnLst>
                                </p:cTn>
                              </p:par>
                              <p:par>
                                <p:cTn id="51" presetID="10" presetClass="exit" presetSubtype="0" fill="hold" nodeType="withEffect">
                                  <p:stCondLst>
                                    <p:cond delay="0"/>
                                  </p:stCondLst>
                                  <p:childTnLst>
                                    <p:animEffect transition="out" filter="fade">
                                      <p:cBhvr>
                                        <p:cTn id="52" dur="500"/>
                                        <p:tgtEl>
                                          <p:spTgt spid="5">
                                            <p:txEl>
                                              <p:pRg st="0" end="0"/>
                                            </p:txEl>
                                          </p:spTgt>
                                        </p:tgtEl>
                                      </p:cBhvr>
                                    </p:animEffect>
                                    <p:set>
                                      <p:cBhvr>
                                        <p:cTn id="53" dur="1" fill="hold">
                                          <p:stCondLst>
                                            <p:cond delay="499"/>
                                          </p:stCondLst>
                                        </p:cTn>
                                        <p:tgtEl>
                                          <p:spTgt spid="5">
                                            <p:txEl>
                                              <p:pRg st="0" end="0"/>
                                            </p:txEl>
                                          </p:spTgt>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500"/>
                                        <p:tgtEl>
                                          <p:spTgt spid="5">
                                            <p:txEl>
                                              <p:pRg st="1" end="1"/>
                                            </p:txEl>
                                          </p:spTgt>
                                        </p:tgtEl>
                                      </p:cBhvr>
                                    </p:animEffect>
                                    <p:set>
                                      <p:cBhvr>
                                        <p:cTn id="56" dur="1" fill="hold">
                                          <p:stCondLst>
                                            <p:cond delay="499"/>
                                          </p:stCondLst>
                                        </p:cTn>
                                        <p:tgtEl>
                                          <p:spTgt spid="5">
                                            <p:txEl>
                                              <p:pRg st="1" end="1"/>
                                            </p:txEl>
                                          </p:spTgt>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500"/>
                                        <p:tgtEl>
                                          <p:spTgt spid="5">
                                            <p:txEl>
                                              <p:pRg st="2" end="2"/>
                                            </p:txEl>
                                          </p:spTgt>
                                        </p:tgtEl>
                                      </p:cBhvr>
                                    </p:animEffect>
                                    <p:set>
                                      <p:cBhvr>
                                        <p:cTn id="59" dur="1" fill="hold">
                                          <p:stCondLst>
                                            <p:cond delay="499"/>
                                          </p:stCondLst>
                                        </p:cTn>
                                        <p:tgtEl>
                                          <p:spTgt spid="5">
                                            <p:txEl>
                                              <p:pRg st="2" end="2"/>
                                            </p:txEl>
                                          </p:spTgt>
                                        </p:tgtEl>
                                        <p:attrNameLst>
                                          <p:attrName>style.visibility</p:attrName>
                                        </p:attrNameLst>
                                      </p:cBhvr>
                                      <p:to>
                                        <p:strVal val="hidden"/>
                                      </p:to>
                                    </p:set>
                                  </p:childTnLst>
                                </p:cTn>
                              </p:par>
                              <p:par>
                                <p:cTn id="60" presetID="1" presetClass="exit" presetSubtype="0" fill="hold" nodeType="withEffect">
                                  <p:stCondLst>
                                    <p:cond delay="0"/>
                                  </p:stCondLst>
                                  <p:childTnLst>
                                    <p:set>
                                      <p:cBhvr>
                                        <p:cTn id="61" dur="1" fill="hold">
                                          <p:stCondLst>
                                            <p:cond delay="0"/>
                                          </p:stCondLst>
                                        </p:cTn>
                                        <p:tgtEl>
                                          <p:spTgt spid="21"/>
                                        </p:tgtEl>
                                        <p:attrNameLst>
                                          <p:attrName>style.visibility</p:attrName>
                                        </p:attrNameLst>
                                      </p:cBhvr>
                                      <p:to>
                                        <p:strVal val="hidden"/>
                                      </p:to>
                                    </p:set>
                                  </p:childTnLst>
                                </p:cTn>
                              </p:par>
                              <p:par>
                                <p:cTn id="62" presetID="1" presetClass="exit" presetSubtype="0" fill="hold" nodeType="withEffect">
                                  <p:stCondLst>
                                    <p:cond delay="0"/>
                                  </p:stCondLst>
                                  <p:childTnLst>
                                    <p:set>
                                      <p:cBhvr>
                                        <p:cTn id="63" dur="1" fill="hold">
                                          <p:stCondLst>
                                            <p:cond delay="0"/>
                                          </p:stCondLst>
                                        </p:cTn>
                                        <p:tgtEl>
                                          <p:spTgt spid="25"/>
                                        </p:tgtEl>
                                        <p:attrNameLst>
                                          <p:attrName>style.visibility</p:attrName>
                                        </p:attrNameLst>
                                      </p:cBhvr>
                                      <p:to>
                                        <p:strVal val="hidden"/>
                                      </p:to>
                                    </p:se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wipe(left)">
                                      <p:cBhvr>
                                        <p:cTn id="67" dur="500"/>
                                        <p:tgtEl>
                                          <p:spTgt spid="50"/>
                                        </p:tgtEl>
                                      </p:cBhvr>
                                    </p:animEffect>
                                  </p:childTnLst>
                                </p:cTn>
                              </p:par>
                            </p:childTnLst>
                          </p:cTn>
                        </p:par>
                        <p:par>
                          <p:cTn id="68" fill="hold">
                            <p:stCondLst>
                              <p:cond delay="1000"/>
                            </p:stCondLst>
                            <p:childTnLst>
                              <p:par>
                                <p:cTn id="69" presetID="22" presetClass="entr" presetSubtype="4" fill="hold" nodeType="after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wipe(down)">
                                      <p:cBhvr>
                                        <p:cTn id="71" dur="500"/>
                                        <p:tgtEl>
                                          <p:spTgt spid="44"/>
                                        </p:tgtEl>
                                      </p:cBhvr>
                                    </p:animEffect>
                                  </p:childTnLst>
                                </p:cTn>
                              </p:par>
                            </p:childTnLst>
                          </p:cTn>
                        </p:par>
                        <p:par>
                          <p:cTn id="72" fill="hold">
                            <p:stCondLst>
                              <p:cond delay="1500"/>
                            </p:stCondLst>
                            <p:childTnLst>
                              <p:par>
                                <p:cTn id="73" presetID="22" presetClass="entr" presetSubtype="8" fill="hold" grpId="0" nodeType="afterEffect">
                                  <p:stCondLst>
                                    <p:cond delay="0"/>
                                  </p:stCondLst>
                                  <p:childTnLst>
                                    <p:set>
                                      <p:cBhvr>
                                        <p:cTn id="74" dur="1" fill="hold">
                                          <p:stCondLst>
                                            <p:cond delay="0"/>
                                          </p:stCondLst>
                                        </p:cTn>
                                        <p:tgtEl>
                                          <p:spTgt spid="5">
                                            <p:txEl>
                                              <p:pRg st="4" end="4"/>
                                            </p:txEl>
                                          </p:spTgt>
                                        </p:tgtEl>
                                        <p:attrNameLst>
                                          <p:attrName>style.visibility</p:attrName>
                                        </p:attrNameLst>
                                      </p:cBhvr>
                                      <p:to>
                                        <p:strVal val="visible"/>
                                      </p:to>
                                    </p:set>
                                    <p:animEffect transition="in" filter="wipe(left)">
                                      <p:cBhvr>
                                        <p:cTn id="75" dur="500"/>
                                        <p:tgtEl>
                                          <p:spTgt spid="5">
                                            <p:txEl>
                                              <p:pRg st="4" end="4"/>
                                            </p:txEl>
                                          </p:spTgt>
                                        </p:tgtEl>
                                      </p:cBhvr>
                                    </p:animEffect>
                                  </p:childTnLst>
                                </p:cTn>
                              </p:par>
                            </p:childTnLst>
                          </p:cTn>
                        </p:par>
                        <p:par>
                          <p:cTn id="76" fill="hold">
                            <p:stCondLst>
                              <p:cond delay="2000"/>
                            </p:stCondLst>
                            <p:childTnLst>
                              <p:par>
                                <p:cTn id="77" presetID="22" presetClass="entr" presetSubtype="8" fill="hold" grpId="0" nodeType="afterEffect">
                                  <p:stCondLst>
                                    <p:cond delay="0"/>
                                  </p:stCondLst>
                                  <p:childTnLst>
                                    <p:set>
                                      <p:cBhvr>
                                        <p:cTn id="78" dur="1" fill="hold">
                                          <p:stCondLst>
                                            <p:cond delay="0"/>
                                          </p:stCondLst>
                                        </p:cTn>
                                        <p:tgtEl>
                                          <p:spTgt spid="5">
                                            <p:txEl>
                                              <p:pRg st="5" end="5"/>
                                            </p:txEl>
                                          </p:spTgt>
                                        </p:tgtEl>
                                        <p:attrNameLst>
                                          <p:attrName>style.visibility</p:attrName>
                                        </p:attrNameLst>
                                      </p:cBhvr>
                                      <p:to>
                                        <p:strVal val="visible"/>
                                      </p:to>
                                    </p:set>
                                    <p:animEffect transition="in" filter="wipe(left)">
                                      <p:cBhvr>
                                        <p:cTn id="79" dur="500"/>
                                        <p:tgtEl>
                                          <p:spTgt spid="5">
                                            <p:txEl>
                                              <p:pRg st="5" end="5"/>
                                            </p:txEl>
                                          </p:spTgt>
                                        </p:tgtEl>
                                      </p:cBhvr>
                                    </p:animEffect>
                                  </p:childTnLst>
                                </p:cTn>
                              </p:par>
                            </p:childTnLst>
                          </p:cTn>
                        </p:par>
                        <p:par>
                          <p:cTn id="80" fill="hold">
                            <p:stCondLst>
                              <p:cond delay="2500"/>
                            </p:stCondLst>
                            <p:childTnLst>
                              <p:par>
                                <p:cTn id="81" presetID="22" presetClass="entr" presetSubtype="8" fill="hold" grpId="0" nodeType="afterEffect">
                                  <p:stCondLst>
                                    <p:cond delay="0"/>
                                  </p:stCondLst>
                                  <p:childTnLst>
                                    <p:set>
                                      <p:cBhvr>
                                        <p:cTn id="82" dur="1" fill="hold">
                                          <p:stCondLst>
                                            <p:cond delay="0"/>
                                          </p:stCondLst>
                                        </p:cTn>
                                        <p:tgtEl>
                                          <p:spTgt spid="5">
                                            <p:txEl>
                                              <p:pRg st="6" end="6"/>
                                            </p:txEl>
                                          </p:spTgt>
                                        </p:tgtEl>
                                        <p:attrNameLst>
                                          <p:attrName>style.visibility</p:attrName>
                                        </p:attrNameLst>
                                      </p:cBhvr>
                                      <p:to>
                                        <p:strVal val="visible"/>
                                      </p:to>
                                    </p:set>
                                    <p:animEffect transition="in" filter="wipe(left)">
                                      <p:cBhvr>
                                        <p:cTn id="83" dur="500"/>
                                        <p:tgtEl>
                                          <p:spTgt spid="5">
                                            <p:txEl>
                                              <p:pRg st="6" end="6"/>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5">
                                            <p:txEl>
                                              <p:pRg st="7" end="7"/>
                                            </p:txEl>
                                          </p:spTgt>
                                        </p:tgtEl>
                                        <p:attrNameLst>
                                          <p:attrName>style.visibility</p:attrName>
                                        </p:attrNameLst>
                                      </p:cBhvr>
                                      <p:to>
                                        <p:strVal val="visible"/>
                                      </p:to>
                                    </p:set>
                                    <p:animEffect transition="in" filter="wipe(left)">
                                      <p:cBhvr>
                                        <p:cTn id="88" dur="500"/>
                                        <p:tgtEl>
                                          <p:spTgt spid="5">
                                            <p:txEl>
                                              <p:pRg st="7" end="7"/>
                                            </p:txEl>
                                          </p:spTgt>
                                        </p:tgtEl>
                                      </p:cBhvr>
                                    </p:animEffect>
                                  </p:childTnLst>
                                </p:cTn>
                              </p:par>
                              <p:par>
                                <p:cTn id="89" presetID="10" presetClass="exit" presetSubtype="0" fill="hold" nodeType="withEffect">
                                  <p:stCondLst>
                                    <p:cond delay="0"/>
                                  </p:stCondLst>
                                  <p:childTnLst>
                                    <p:animEffect transition="out" filter="fade">
                                      <p:cBhvr>
                                        <p:cTn id="90" dur="500"/>
                                        <p:tgtEl>
                                          <p:spTgt spid="5">
                                            <p:txEl>
                                              <p:pRg st="3" end="3"/>
                                            </p:txEl>
                                          </p:spTgt>
                                        </p:tgtEl>
                                      </p:cBhvr>
                                    </p:animEffect>
                                    <p:set>
                                      <p:cBhvr>
                                        <p:cTn id="91" dur="1" fill="hold">
                                          <p:stCondLst>
                                            <p:cond delay="499"/>
                                          </p:stCondLst>
                                        </p:cTn>
                                        <p:tgtEl>
                                          <p:spTgt spid="5">
                                            <p:txEl>
                                              <p:pRg st="3" end="3"/>
                                            </p:txEl>
                                          </p:spTgt>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93" dur="500"/>
                                        <p:tgtEl>
                                          <p:spTgt spid="5">
                                            <p:txEl>
                                              <p:pRg st="4" end="4"/>
                                            </p:txEl>
                                          </p:spTgt>
                                        </p:tgtEl>
                                      </p:cBhvr>
                                    </p:animEffect>
                                    <p:set>
                                      <p:cBhvr>
                                        <p:cTn id="94" dur="1" fill="hold">
                                          <p:stCondLst>
                                            <p:cond delay="499"/>
                                          </p:stCondLst>
                                        </p:cTn>
                                        <p:tgtEl>
                                          <p:spTgt spid="5">
                                            <p:txEl>
                                              <p:pRg st="4" end="4"/>
                                            </p:txEl>
                                          </p:spTgt>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500"/>
                                        <p:tgtEl>
                                          <p:spTgt spid="5">
                                            <p:txEl>
                                              <p:pRg st="5" end="5"/>
                                            </p:txEl>
                                          </p:spTgt>
                                        </p:tgtEl>
                                      </p:cBhvr>
                                    </p:animEffect>
                                    <p:set>
                                      <p:cBhvr>
                                        <p:cTn id="97" dur="1" fill="hold">
                                          <p:stCondLst>
                                            <p:cond delay="499"/>
                                          </p:stCondLst>
                                        </p:cTn>
                                        <p:tgtEl>
                                          <p:spTgt spid="5">
                                            <p:txEl>
                                              <p:pRg st="5" end="5"/>
                                            </p:txEl>
                                          </p:spTgt>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500"/>
                                        <p:tgtEl>
                                          <p:spTgt spid="5">
                                            <p:txEl>
                                              <p:pRg st="6" end="6"/>
                                            </p:txEl>
                                          </p:spTgt>
                                        </p:tgtEl>
                                      </p:cBhvr>
                                    </p:animEffect>
                                    <p:set>
                                      <p:cBhvr>
                                        <p:cTn id="100" dur="1" fill="hold">
                                          <p:stCondLst>
                                            <p:cond delay="499"/>
                                          </p:stCondLst>
                                        </p:cTn>
                                        <p:tgtEl>
                                          <p:spTgt spid="5">
                                            <p:txEl>
                                              <p:pRg st="6" end="6"/>
                                            </p:txEl>
                                          </p:spTgt>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50"/>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44"/>
                                        </p:tgtEl>
                                        <p:attrNameLst>
                                          <p:attrName>style.visibility</p:attrName>
                                        </p:attrNameLst>
                                      </p:cBhvr>
                                      <p:to>
                                        <p:strVal val="hidden"/>
                                      </p:to>
                                    </p:set>
                                  </p:childTnLst>
                                </p:cTn>
                              </p:par>
                            </p:childTnLst>
                          </p:cTn>
                        </p:par>
                        <p:par>
                          <p:cTn id="105" fill="hold">
                            <p:stCondLst>
                              <p:cond delay="500"/>
                            </p:stCondLst>
                            <p:childTnLst>
                              <p:par>
                                <p:cTn id="106" presetID="22" presetClass="entr" presetSubtype="8" fill="hold" nodeType="after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wipe(left)">
                                      <p:cBhvr>
                                        <p:cTn id="108" dur="500"/>
                                        <p:tgtEl>
                                          <p:spTgt spid="54"/>
                                        </p:tgtEl>
                                      </p:cBhvr>
                                    </p:animEffect>
                                  </p:childTnLst>
                                </p:cTn>
                              </p:par>
                            </p:childTnLst>
                          </p:cTn>
                        </p:par>
                        <p:par>
                          <p:cTn id="109" fill="hold">
                            <p:stCondLst>
                              <p:cond delay="1000"/>
                            </p:stCondLst>
                            <p:childTnLst>
                              <p:par>
                                <p:cTn id="110" presetID="22" presetClass="entr" presetSubtype="1" fill="hold" nodeType="afterEffect">
                                  <p:stCondLst>
                                    <p:cond delay="0"/>
                                  </p:stCondLst>
                                  <p:childTnLst>
                                    <p:set>
                                      <p:cBhvr>
                                        <p:cTn id="111" dur="1" fill="hold">
                                          <p:stCondLst>
                                            <p:cond delay="0"/>
                                          </p:stCondLst>
                                        </p:cTn>
                                        <p:tgtEl>
                                          <p:spTgt spid="47"/>
                                        </p:tgtEl>
                                        <p:attrNameLst>
                                          <p:attrName>style.visibility</p:attrName>
                                        </p:attrNameLst>
                                      </p:cBhvr>
                                      <p:to>
                                        <p:strVal val="visible"/>
                                      </p:to>
                                    </p:set>
                                    <p:animEffect transition="in" filter="wipe(up)">
                                      <p:cBhvr>
                                        <p:cTn id="112" dur="500"/>
                                        <p:tgtEl>
                                          <p:spTgt spid="47"/>
                                        </p:tgtEl>
                                      </p:cBhvr>
                                    </p:animEffect>
                                  </p:childTnLst>
                                </p:cTn>
                              </p:par>
                            </p:childTnLst>
                          </p:cTn>
                        </p:par>
                        <p:par>
                          <p:cTn id="113" fill="hold">
                            <p:stCondLst>
                              <p:cond delay="1500"/>
                            </p:stCondLst>
                            <p:childTnLst>
                              <p:par>
                                <p:cTn id="114" presetID="22" presetClass="entr" presetSubtype="8" fill="hold" grpId="0" nodeType="afterEffect">
                                  <p:stCondLst>
                                    <p:cond delay="0"/>
                                  </p:stCondLst>
                                  <p:childTnLst>
                                    <p:set>
                                      <p:cBhvr>
                                        <p:cTn id="115" dur="1" fill="hold">
                                          <p:stCondLst>
                                            <p:cond delay="0"/>
                                          </p:stCondLst>
                                        </p:cTn>
                                        <p:tgtEl>
                                          <p:spTgt spid="5">
                                            <p:txEl>
                                              <p:pRg st="8" end="8"/>
                                            </p:txEl>
                                          </p:spTgt>
                                        </p:tgtEl>
                                        <p:attrNameLst>
                                          <p:attrName>style.visibility</p:attrName>
                                        </p:attrNameLst>
                                      </p:cBhvr>
                                      <p:to>
                                        <p:strVal val="visible"/>
                                      </p:to>
                                    </p:set>
                                    <p:animEffect transition="in" filter="wipe(left)">
                                      <p:cBhvr>
                                        <p:cTn id="116" dur="500"/>
                                        <p:tgtEl>
                                          <p:spTgt spid="5">
                                            <p:txEl>
                                              <p:pRg st="8" end="8"/>
                                            </p:txEl>
                                          </p:spTgt>
                                        </p:tgtEl>
                                      </p:cBhvr>
                                    </p:animEffect>
                                  </p:childTnLst>
                                </p:cTn>
                              </p:par>
                            </p:childTnLst>
                          </p:cTn>
                        </p:par>
                        <p:par>
                          <p:cTn id="117" fill="hold">
                            <p:stCondLst>
                              <p:cond delay="2000"/>
                            </p:stCondLst>
                            <p:childTnLst>
                              <p:par>
                                <p:cTn id="118" presetID="22" presetClass="entr" presetSubtype="8" fill="hold" grpId="0" nodeType="afterEffect">
                                  <p:stCondLst>
                                    <p:cond delay="0"/>
                                  </p:stCondLst>
                                  <p:childTnLst>
                                    <p:set>
                                      <p:cBhvr>
                                        <p:cTn id="119" dur="1" fill="hold">
                                          <p:stCondLst>
                                            <p:cond delay="0"/>
                                          </p:stCondLst>
                                        </p:cTn>
                                        <p:tgtEl>
                                          <p:spTgt spid="5">
                                            <p:txEl>
                                              <p:pRg st="9" end="9"/>
                                            </p:txEl>
                                          </p:spTgt>
                                        </p:tgtEl>
                                        <p:attrNameLst>
                                          <p:attrName>style.visibility</p:attrName>
                                        </p:attrNameLst>
                                      </p:cBhvr>
                                      <p:to>
                                        <p:strVal val="visible"/>
                                      </p:to>
                                    </p:set>
                                    <p:animEffect transition="in" filter="wipe(left)">
                                      <p:cBhvr>
                                        <p:cTn id="120" dur="500"/>
                                        <p:tgtEl>
                                          <p:spTgt spid="5">
                                            <p:txEl>
                                              <p:pRg st="9" end="9"/>
                                            </p:txEl>
                                          </p:spTgt>
                                        </p:tgtEl>
                                      </p:cBhvr>
                                    </p:animEffect>
                                  </p:childTnLst>
                                </p:cTn>
                              </p:par>
                            </p:childTnLst>
                          </p:cTn>
                        </p:par>
                        <p:par>
                          <p:cTn id="121" fill="hold">
                            <p:stCondLst>
                              <p:cond delay="2500"/>
                            </p:stCondLst>
                            <p:childTnLst>
                              <p:par>
                                <p:cTn id="122" presetID="22" presetClass="entr" presetSubtype="8" fill="hold" grpId="0" nodeType="afterEffect">
                                  <p:stCondLst>
                                    <p:cond delay="0"/>
                                  </p:stCondLst>
                                  <p:childTnLst>
                                    <p:set>
                                      <p:cBhvr>
                                        <p:cTn id="123" dur="1" fill="hold">
                                          <p:stCondLst>
                                            <p:cond delay="0"/>
                                          </p:stCondLst>
                                        </p:cTn>
                                        <p:tgtEl>
                                          <p:spTgt spid="5">
                                            <p:txEl>
                                              <p:pRg st="10" end="10"/>
                                            </p:txEl>
                                          </p:spTgt>
                                        </p:tgtEl>
                                        <p:attrNameLst>
                                          <p:attrName>style.visibility</p:attrName>
                                        </p:attrNameLst>
                                      </p:cBhvr>
                                      <p:to>
                                        <p:strVal val="visible"/>
                                      </p:to>
                                    </p:set>
                                    <p:animEffect transition="in" filter="wipe(left)">
                                      <p:cBhvr>
                                        <p:cTn id="124"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3: Answers </a:t>
            </a:r>
            <a:r>
              <a:rPr lang="en-US" b="1" i="1" dirty="0">
                <a:solidFill>
                  <a:srgbClr val="AE1221"/>
                </a:solidFill>
              </a:rPr>
              <a:t>P</a:t>
            </a:r>
            <a:r>
              <a:rPr lang="en-US" b="1" i="1" baseline="-25000" dirty="0">
                <a:solidFill>
                  <a:srgbClr val="AE1221"/>
                </a:solidFill>
              </a:rPr>
              <a:t>4</a:t>
            </a:r>
            <a:r>
              <a:rPr lang="en-US" dirty="0">
                <a:solidFill>
                  <a:srgbClr val="AE1221"/>
                </a:solidFill>
              </a:rPr>
              <a:t>, </a:t>
            </a:r>
            <a:r>
              <a:rPr lang="en-US" b="1" i="1" dirty="0">
                <a:solidFill>
                  <a:srgbClr val="AE1221"/>
                </a:solidFill>
              </a:rPr>
              <a:t>P</a:t>
            </a:r>
            <a:r>
              <a:rPr lang="en-US" b="1" i="1" baseline="-25000" dirty="0">
                <a:solidFill>
                  <a:srgbClr val="AE1221"/>
                </a:solidFill>
              </a:rPr>
              <a:t>5</a:t>
            </a:r>
          </a:p>
        </p:txBody>
      </p:sp>
      <p:sp>
        <p:nvSpPr>
          <p:cNvPr id="3" name="Slide Number Placeholder 2"/>
          <p:cNvSpPr>
            <a:spLocks noGrp="1"/>
          </p:cNvSpPr>
          <p:nvPr>
            <p:ph type="sldNum" sz="quarter" idx="10"/>
          </p:nvPr>
        </p:nvSpPr>
        <p:spPr/>
        <p:txBody>
          <a:bodyPr/>
          <a:lstStyle/>
          <a:p>
            <a:pPr>
              <a:defRPr/>
            </a:pPr>
            <a:fld id="{073C29DC-2178-4274-9150-45F8EBD31C2D}" type="slidenum">
              <a:rPr lang="en-US" smtClean="0"/>
              <a:pPr>
                <a:defRPr/>
              </a:pPr>
              <a:t>29</a:t>
            </a:fld>
            <a:endParaRPr lang="en-US"/>
          </a:p>
        </p:txBody>
      </p:sp>
      <p:sp>
        <p:nvSpPr>
          <p:cNvPr id="5" name="Content Placeholder 4"/>
          <p:cNvSpPr>
            <a:spLocks noGrp="1"/>
          </p:cNvSpPr>
          <p:nvPr>
            <p:ph idx="12"/>
          </p:nvPr>
        </p:nvSpPr>
        <p:spPr>
          <a:xfrm>
            <a:off x="92869" y="838200"/>
            <a:ext cx="4250531" cy="5638800"/>
          </a:xfrm>
        </p:spPr>
        <p:txBody>
          <a:bodyPr>
            <a:noAutofit/>
          </a:bodyPr>
          <a:lstStyle/>
          <a:p>
            <a:pPr marL="0" indent="0">
              <a:buClr>
                <a:srgbClr val="C00000"/>
              </a:buClr>
              <a:buNone/>
            </a:pPr>
            <a:r>
              <a:rPr lang="en-US" sz="2800" dirty="0">
                <a:solidFill>
                  <a:srgbClr val="4E519E"/>
                </a:solidFill>
              </a:rPr>
              <a:t>For </a:t>
            </a:r>
            <a:r>
              <a:rPr lang="en-US" sz="2800" b="1" i="1" dirty="0">
                <a:solidFill>
                  <a:srgbClr val="4E519E"/>
                </a:solidFill>
              </a:rPr>
              <a:t>P</a:t>
            </a:r>
            <a:r>
              <a:rPr lang="en-US" sz="2800" b="1" i="1" baseline="-25000" dirty="0">
                <a:solidFill>
                  <a:srgbClr val="4E519E"/>
                </a:solidFill>
              </a:rPr>
              <a:t>4</a:t>
            </a:r>
          </a:p>
          <a:p>
            <a:pPr>
              <a:buClr>
                <a:srgbClr val="C00000"/>
              </a:buClr>
              <a:buFontTx/>
              <a:buChar char="-"/>
            </a:pPr>
            <a:r>
              <a:rPr lang="en-US" sz="2800" b="1" i="1" dirty="0">
                <a:solidFill>
                  <a:srgbClr val="4E519E"/>
                </a:solidFill>
              </a:rPr>
              <a:t>MR</a:t>
            </a:r>
            <a:r>
              <a:rPr lang="en-US" sz="2800" dirty="0">
                <a:solidFill>
                  <a:srgbClr val="4E519E"/>
                </a:solidFill>
              </a:rPr>
              <a:t> = </a:t>
            </a:r>
            <a:r>
              <a:rPr lang="en-US" sz="2800" b="1" i="1" dirty="0">
                <a:solidFill>
                  <a:srgbClr val="4E519E"/>
                </a:solidFill>
              </a:rPr>
              <a:t>MC</a:t>
            </a:r>
            <a:r>
              <a:rPr lang="en-US" sz="2800" dirty="0">
                <a:solidFill>
                  <a:srgbClr val="4E519E"/>
                </a:solidFill>
              </a:rPr>
              <a:t> at </a:t>
            </a:r>
            <a:r>
              <a:rPr lang="en-US" sz="2800" b="1" i="1" dirty="0">
                <a:solidFill>
                  <a:srgbClr val="4E519E"/>
                </a:solidFill>
              </a:rPr>
              <a:t>Q</a:t>
            </a:r>
            <a:r>
              <a:rPr lang="en-US" sz="2800" dirty="0">
                <a:solidFill>
                  <a:srgbClr val="4E519E"/>
                </a:solidFill>
              </a:rPr>
              <a:t> = 20, </a:t>
            </a:r>
          </a:p>
          <a:p>
            <a:pPr>
              <a:buClr>
                <a:srgbClr val="C00000"/>
              </a:buClr>
              <a:buFontTx/>
              <a:buChar char="-"/>
            </a:pPr>
            <a:r>
              <a:rPr lang="en-US" sz="2800" dirty="0">
                <a:solidFill>
                  <a:srgbClr val="4E519E"/>
                </a:solidFill>
              </a:rPr>
              <a:t>where </a:t>
            </a:r>
            <a:r>
              <a:rPr lang="en-US" sz="2800" b="1" i="1" dirty="0">
                <a:solidFill>
                  <a:srgbClr val="4E519E"/>
                </a:solidFill>
              </a:rPr>
              <a:t>P</a:t>
            </a:r>
            <a:r>
              <a:rPr lang="en-US" sz="2800" b="1" i="1" baseline="-25000" dirty="0">
                <a:solidFill>
                  <a:srgbClr val="4E519E"/>
                </a:solidFill>
              </a:rPr>
              <a:t>4</a:t>
            </a:r>
            <a:r>
              <a:rPr lang="en-US" sz="2800" dirty="0">
                <a:solidFill>
                  <a:srgbClr val="4E519E"/>
                </a:solidFill>
              </a:rPr>
              <a:t> = min </a:t>
            </a:r>
            <a:r>
              <a:rPr lang="en-US" sz="2800" b="1" i="1" dirty="0">
                <a:solidFill>
                  <a:srgbClr val="4E519E"/>
                </a:solidFill>
              </a:rPr>
              <a:t>ATC</a:t>
            </a:r>
          </a:p>
          <a:p>
            <a:pPr>
              <a:buClr>
                <a:srgbClr val="C00000"/>
              </a:buClr>
              <a:buFontTx/>
              <a:buChar char="-"/>
            </a:pPr>
            <a:r>
              <a:rPr lang="en-US" sz="2800" dirty="0">
                <a:solidFill>
                  <a:srgbClr val="4E519E"/>
                </a:solidFill>
              </a:rPr>
              <a:t>this is the efficient point</a:t>
            </a:r>
          </a:p>
          <a:p>
            <a:pPr>
              <a:buClr>
                <a:srgbClr val="C00000"/>
              </a:buClr>
              <a:buFontTx/>
              <a:buChar char="-"/>
            </a:pPr>
            <a:r>
              <a:rPr lang="en-US" sz="2800" dirty="0">
                <a:solidFill>
                  <a:srgbClr val="4E519E"/>
                </a:solidFill>
              </a:rPr>
              <a:t>this is a LR equilibrium</a:t>
            </a:r>
          </a:p>
          <a:p>
            <a:pPr marL="0" indent="0">
              <a:buClr>
                <a:srgbClr val="C00000"/>
              </a:buClr>
              <a:buNone/>
            </a:pPr>
            <a:r>
              <a:rPr lang="en-US" sz="2800" dirty="0"/>
              <a:t>For </a:t>
            </a:r>
            <a:r>
              <a:rPr lang="en-US" sz="2800" b="1" i="1" dirty="0"/>
              <a:t>P</a:t>
            </a:r>
            <a:r>
              <a:rPr lang="en-US" sz="2800" b="1" i="1" baseline="-25000" dirty="0"/>
              <a:t>5</a:t>
            </a:r>
          </a:p>
          <a:p>
            <a:pPr>
              <a:buClr>
                <a:srgbClr val="C00000"/>
              </a:buClr>
              <a:buFontTx/>
              <a:buChar char="-"/>
            </a:pPr>
            <a:r>
              <a:rPr lang="en-US" sz="2800" b="1" i="1" dirty="0"/>
              <a:t>MR</a:t>
            </a:r>
            <a:r>
              <a:rPr lang="en-US" sz="2800" dirty="0"/>
              <a:t> = </a:t>
            </a:r>
            <a:r>
              <a:rPr lang="en-US" sz="2800" b="1" i="1" dirty="0"/>
              <a:t>MC</a:t>
            </a:r>
            <a:r>
              <a:rPr lang="en-US" sz="2800" dirty="0"/>
              <a:t> at </a:t>
            </a:r>
            <a:r>
              <a:rPr lang="en-US" sz="2800" b="1" i="1" dirty="0"/>
              <a:t>Q</a:t>
            </a:r>
            <a:r>
              <a:rPr lang="en-US" sz="2800" dirty="0"/>
              <a:t> = 25 </a:t>
            </a:r>
          </a:p>
          <a:p>
            <a:pPr>
              <a:buClr>
                <a:srgbClr val="C00000"/>
              </a:buClr>
              <a:buFontTx/>
              <a:buChar char="-"/>
            </a:pPr>
            <a:r>
              <a:rPr lang="en-US" sz="2800" dirty="0"/>
              <a:t>where </a:t>
            </a:r>
            <a:r>
              <a:rPr lang="en-US" sz="2800" b="1" i="1" dirty="0"/>
              <a:t>P</a:t>
            </a:r>
            <a:r>
              <a:rPr lang="en-US" sz="2800" b="1" i="1" baseline="-25000" dirty="0"/>
              <a:t>5</a:t>
            </a:r>
            <a:r>
              <a:rPr lang="en-US" sz="2800" dirty="0"/>
              <a:t> &gt; </a:t>
            </a:r>
            <a:r>
              <a:rPr lang="en-US" sz="2800" b="1" i="1" dirty="0"/>
              <a:t>ATC</a:t>
            </a:r>
            <a:r>
              <a:rPr lang="en-US" sz="2800" dirty="0"/>
              <a:t>, </a:t>
            </a:r>
          </a:p>
          <a:p>
            <a:pPr>
              <a:buClr>
                <a:srgbClr val="C00000"/>
              </a:buClr>
              <a:buFontTx/>
              <a:buChar char="-"/>
            </a:pPr>
            <a:r>
              <a:rPr lang="en-US" sz="2800" dirty="0"/>
              <a:t>Profit in the SR</a:t>
            </a:r>
          </a:p>
        </p:txBody>
      </p:sp>
      <p:grpSp>
        <p:nvGrpSpPr>
          <p:cNvPr id="6" name="Group 7"/>
          <p:cNvGrpSpPr>
            <a:grpSpLocks/>
          </p:cNvGrpSpPr>
          <p:nvPr/>
        </p:nvGrpSpPr>
        <p:grpSpPr bwMode="auto">
          <a:xfrm>
            <a:off x="3854451" y="811212"/>
            <a:ext cx="5060950" cy="4444999"/>
            <a:chOff x="2211" y="707"/>
            <a:chExt cx="3188" cy="2800"/>
          </a:xfrm>
        </p:grpSpPr>
        <p:grpSp>
          <p:nvGrpSpPr>
            <p:cNvPr id="7" name="Group 8"/>
            <p:cNvGrpSpPr>
              <a:grpSpLocks/>
            </p:cNvGrpSpPr>
            <p:nvPr/>
          </p:nvGrpSpPr>
          <p:grpSpPr bwMode="auto">
            <a:xfrm>
              <a:off x="2730" y="981"/>
              <a:ext cx="2357" cy="2385"/>
              <a:chOff x="1489" y="785"/>
              <a:chExt cx="3650" cy="2492"/>
            </a:xfrm>
          </p:grpSpPr>
          <p:sp>
            <p:nvSpPr>
              <p:cNvPr id="10"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1"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8" name="Text Box 11"/>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9" name="Text Box 12"/>
            <p:cNvSpPr txBox="1">
              <a:spLocks noChangeArrowheads="1"/>
            </p:cNvSpPr>
            <p:nvPr/>
          </p:nvSpPr>
          <p:spPr bwMode="auto">
            <a:xfrm>
              <a:off x="2211" y="707"/>
              <a:ext cx="1054" cy="288"/>
            </a:xfrm>
            <a:prstGeom prst="rect">
              <a:avLst/>
            </a:prstGeom>
            <a:noFill/>
            <a:ln w="9525">
              <a:noFill/>
              <a:miter lim="800000"/>
              <a:headEnd/>
              <a:tailEnd/>
            </a:ln>
          </p:spPr>
          <p:txBody>
            <a:bodyPr>
              <a:spAutoFit/>
            </a:bodyPr>
            <a:lstStyle/>
            <a:p>
              <a:pPr algn="r">
                <a:spcBef>
                  <a:spcPct val="50000"/>
                </a:spcBef>
              </a:pPr>
              <a:r>
                <a:rPr lang="en-US" sz="2400" dirty="0">
                  <a:latin typeface="Arial"/>
                  <a:cs typeface="Arial"/>
                </a:rPr>
                <a:t>Costs, </a:t>
              </a:r>
              <a:r>
                <a:rPr lang="en-US" sz="2400" b="1" i="1" dirty="0">
                  <a:latin typeface="Arial"/>
                  <a:cs typeface="Arial"/>
                </a:rPr>
                <a:t>P</a:t>
              </a:r>
            </a:p>
          </p:txBody>
        </p:sp>
      </p:grpSp>
      <p:grpSp>
        <p:nvGrpSpPr>
          <p:cNvPr id="12" name="Group 13"/>
          <p:cNvGrpSpPr>
            <a:grpSpLocks/>
          </p:cNvGrpSpPr>
          <p:nvPr/>
        </p:nvGrpSpPr>
        <p:grpSpPr bwMode="auto">
          <a:xfrm>
            <a:off x="5064126" y="990600"/>
            <a:ext cx="3171826" cy="3792538"/>
            <a:chOff x="2925" y="1266"/>
            <a:chExt cx="1998" cy="2389"/>
          </a:xfrm>
        </p:grpSpPr>
        <p:sp>
          <p:nvSpPr>
            <p:cNvPr id="13" name="Line 14"/>
            <p:cNvSpPr>
              <a:spLocks noChangeShapeType="1"/>
            </p:cNvSpPr>
            <p:nvPr/>
          </p:nvSpPr>
          <p:spPr bwMode="auto">
            <a:xfrm flipV="1">
              <a:off x="2925" y="1588"/>
              <a:ext cx="1706" cy="2067"/>
            </a:xfrm>
            <a:prstGeom prst="line">
              <a:avLst/>
            </a:prstGeom>
            <a:noFill/>
            <a:ln w="38100">
              <a:solidFill>
                <a:srgbClr val="333399"/>
              </a:solidFill>
              <a:round/>
              <a:headEnd/>
              <a:tailEnd/>
            </a:ln>
          </p:spPr>
          <p:txBody>
            <a:bodyPr/>
            <a:lstStyle/>
            <a:p>
              <a:endParaRPr lang="en-US">
                <a:latin typeface="Arial"/>
                <a:cs typeface="Arial"/>
              </a:endParaRPr>
            </a:p>
          </p:txBody>
        </p:sp>
        <p:sp>
          <p:nvSpPr>
            <p:cNvPr id="14" name="Text Box 15"/>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15" name="Group 16"/>
          <p:cNvGrpSpPr>
            <a:grpSpLocks/>
          </p:cNvGrpSpPr>
          <p:nvPr/>
        </p:nvGrpSpPr>
        <p:grpSpPr bwMode="auto">
          <a:xfrm>
            <a:off x="5064126" y="1422400"/>
            <a:ext cx="3446463" cy="1516062"/>
            <a:chOff x="2925" y="1538"/>
            <a:chExt cx="2171" cy="955"/>
          </a:xfrm>
        </p:grpSpPr>
        <p:sp>
          <p:nvSpPr>
            <p:cNvPr id="16" name="Arc 17"/>
            <p:cNvSpPr>
              <a:spLocks/>
            </p:cNvSpPr>
            <p:nvPr/>
          </p:nvSpPr>
          <p:spPr bwMode="auto">
            <a:xfrm flipH="1" flipV="1">
              <a:off x="2925" y="1538"/>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17" name="Text Box 18"/>
            <p:cNvSpPr txBox="1">
              <a:spLocks noChangeArrowheads="1"/>
            </p:cNvSpPr>
            <p:nvPr/>
          </p:nvSpPr>
          <p:spPr bwMode="auto">
            <a:xfrm>
              <a:off x="4631" y="1794"/>
              <a:ext cx="465" cy="233"/>
            </a:xfrm>
            <a:prstGeom prst="rect">
              <a:avLst/>
            </a:prstGeom>
            <a:noFill/>
            <a:ln w="9525">
              <a:noFill/>
              <a:miter lim="800000"/>
              <a:headEnd/>
              <a:tailEnd/>
            </a:ln>
          </p:spPr>
          <p:txBody>
            <a:bodyPr lIns="0" tIns="0" rIns="0" bIns="0">
              <a:spAutoFit/>
            </a:bodyPr>
            <a:lstStyle/>
            <a:p>
              <a:pPr>
                <a:spcBef>
                  <a:spcPct val="50000"/>
                </a:spcBef>
              </a:pPr>
              <a:r>
                <a:rPr lang="en-US" sz="2400" i="1" dirty="0">
                  <a:latin typeface="Arial"/>
                  <a:cs typeface="Arial"/>
                </a:rPr>
                <a:t>ATC</a:t>
              </a:r>
            </a:p>
          </p:txBody>
        </p:sp>
      </p:grpSp>
      <p:grpSp>
        <p:nvGrpSpPr>
          <p:cNvPr id="21" name="Group 51"/>
          <p:cNvGrpSpPr>
            <a:grpSpLocks/>
          </p:cNvGrpSpPr>
          <p:nvPr/>
        </p:nvGrpSpPr>
        <p:grpSpPr bwMode="auto">
          <a:xfrm>
            <a:off x="4114800" y="4191006"/>
            <a:ext cx="5029200" cy="369888"/>
            <a:chOff x="2375" y="2764"/>
            <a:chExt cx="3168" cy="233"/>
          </a:xfrm>
        </p:grpSpPr>
        <p:sp>
          <p:nvSpPr>
            <p:cNvPr id="22"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23"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1</a:t>
              </a:r>
            </a:p>
          </p:txBody>
        </p:sp>
        <p:sp>
          <p:nvSpPr>
            <p:cNvPr id="24"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1</a:t>
              </a:r>
            </a:p>
          </p:txBody>
        </p:sp>
      </p:grpSp>
      <p:grpSp>
        <p:nvGrpSpPr>
          <p:cNvPr id="25" name="Group 42"/>
          <p:cNvGrpSpPr>
            <a:grpSpLocks/>
          </p:cNvGrpSpPr>
          <p:nvPr/>
        </p:nvGrpSpPr>
        <p:grpSpPr bwMode="auto">
          <a:xfrm>
            <a:off x="5181600" y="2357438"/>
            <a:ext cx="381000" cy="3052763"/>
            <a:chOff x="3477" y="1746"/>
            <a:chExt cx="240" cy="1923"/>
          </a:xfrm>
        </p:grpSpPr>
        <p:sp>
          <p:nvSpPr>
            <p:cNvPr id="26" name="Text Box 43"/>
            <p:cNvSpPr txBox="1">
              <a:spLocks noChangeArrowheads="1"/>
            </p:cNvSpPr>
            <p:nvPr/>
          </p:nvSpPr>
          <p:spPr bwMode="auto">
            <a:xfrm>
              <a:off x="3477" y="3495"/>
              <a:ext cx="240"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5</a:t>
              </a:r>
              <a:endParaRPr lang="en-US" baseline="-25000" dirty="0">
                <a:latin typeface="Arial"/>
                <a:cs typeface="Arial"/>
              </a:endParaRPr>
            </a:p>
          </p:txBody>
        </p:sp>
        <p:sp>
          <p:nvSpPr>
            <p:cNvPr id="27" name="Line 44"/>
            <p:cNvSpPr>
              <a:spLocks noChangeShapeType="1"/>
            </p:cNvSpPr>
            <p:nvPr/>
          </p:nvSpPr>
          <p:spPr bwMode="auto">
            <a:xfrm>
              <a:off x="3593"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30" name="Group 16"/>
          <p:cNvGrpSpPr>
            <a:grpSpLocks/>
          </p:cNvGrpSpPr>
          <p:nvPr/>
        </p:nvGrpSpPr>
        <p:grpSpPr bwMode="auto">
          <a:xfrm>
            <a:off x="4784725" y="2271713"/>
            <a:ext cx="4079875" cy="1516062"/>
            <a:chOff x="3203" y="1526"/>
            <a:chExt cx="2570" cy="955"/>
          </a:xfrm>
        </p:grpSpPr>
        <p:sp>
          <p:nvSpPr>
            <p:cNvPr id="31" name="Arc 17"/>
            <p:cNvSpPr>
              <a:spLocks/>
            </p:cNvSpPr>
            <p:nvPr/>
          </p:nvSpPr>
          <p:spPr bwMode="auto">
            <a:xfrm rot="20747768" flipH="1" flipV="1">
              <a:off x="3203" y="1526"/>
              <a:ext cx="2068"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32" name="Text Box 18"/>
            <p:cNvSpPr txBox="1">
              <a:spLocks noChangeArrowheads="1"/>
            </p:cNvSpPr>
            <p:nvPr/>
          </p:nvSpPr>
          <p:spPr bwMode="auto">
            <a:xfrm>
              <a:off x="5308" y="1631"/>
              <a:ext cx="465" cy="233"/>
            </a:xfrm>
            <a:prstGeom prst="rect">
              <a:avLst/>
            </a:prstGeom>
            <a:noFill/>
            <a:ln w="9525">
              <a:noFill/>
              <a:miter lim="800000"/>
              <a:headEnd/>
              <a:tailEnd/>
            </a:ln>
          </p:spPr>
          <p:txBody>
            <a:bodyPr lIns="0" tIns="0" rIns="0" bIns="0">
              <a:spAutoFit/>
            </a:bodyPr>
            <a:lstStyle/>
            <a:p>
              <a:pPr>
                <a:spcBef>
                  <a:spcPct val="50000"/>
                </a:spcBef>
              </a:pPr>
              <a:r>
                <a:rPr lang="en-US" sz="2400" i="1" dirty="0">
                  <a:latin typeface="Arial"/>
                  <a:cs typeface="Arial"/>
                </a:rPr>
                <a:t>AVC</a:t>
              </a:r>
            </a:p>
          </p:txBody>
        </p:sp>
      </p:grpSp>
      <p:grpSp>
        <p:nvGrpSpPr>
          <p:cNvPr id="44" name="Group 42"/>
          <p:cNvGrpSpPr>
            <a:grpSpLocks/>
          </p:cNvGrpSpPr>
          <p:nvPr/>
        </p:nvGrpSpPr>
        <p:grpSpPr bwMode="auto">
          <a:xfrm>
            <a:off x="5638807" y="2357438"/>
            <a:ext cx="382588" cy="3052763"/>
            <a:chOff x="3477" y="1746"/>
            <a:chExt cx="241" cy="1923"/>
          </a:xfrm>
        </p:grpSpPr>
        <p:sp>
          <p:nvSpPr>
            <p:cNvPr id="45" name="Text Box 43"/>
            <p:cNvSpPr txBox="1">
              <a:spLocks noChangeArrowheads="1"/>
            </p:cNvSpPr>
            <p:nvPr/>
          </p:nvSpPr>
          <p:spPr bwMode="auto">
            <a:xfrm>
              <a:off x="3477" y="3495"/>
              <a:ext cx="241"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10</a:t>
              </a:r>
              <a:endParaRPr lang="en-US" baseline="-25000" dirty="0">
                <a:latin typeface="Arial"/>
                <a:cs typeface="Arial"/>
              </a:endParaRPr>
            </a:p>
          </p:txBody>
        </p:sp>
        <p:sp>
          <p:nvSpPr>
            <p:cNvPr id="46" name="Line 44"/>
            <p:cNvSpPr>
              <a:spLocks noChangeShapeType="1"/>
            </p:cNvSpPr>
            <p:nvPr/>
          </p:nvSpPr>
          <p:spPr bwMode="auto">
            <a:xfrm>
              <a:off x="3593"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47" name="Group 42"/>
          <p:cNvGrpSpPr>
            <a:grpSpLocks/>
          </p:cNvGrpSpPr>
          <p:nvPr/>
        </p:nvGrpSpPr>
        <p:grpSpPr bwMode="auto">
          <a:xfrm>
            <a:off x="6071401" y="2362999"/>
            <a:ext cx="404813" cy="3046413"/>
            <a:chOff x="3461" y="1746"/>
            <a:chExt cx="255" cy="1919"/>
          </a:xfrm>
        </p:grpSpPr>
        <p:sp>
          <p:nvSpPr>
            <p:cNvPr id="48" name="Text Box 43"/>
            <p:cNvSpPr txBox="1">
              <a:spLocks noChangeArrowheads="1"/>
            </p:cNvSpPr>
            <p:nvPr/>
          </p:nvSpPr>
          <p:spPr bwMode="auto">
            <a:xfrm>
              <a:off x="3461" y="3491"/>
              <a:ext cx="255"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15</a:t>
              </a:r>
              <a:endParaRPr lang="en-US" baseline="-25000" dirty="0">
                <a:latin typeface="Arial"/>
                <a:cs typeface="Arial"/>
              </a:endParaRPr>
            </a:p>
          </p:txBody>
        </p:sp>
        <p:sp>
          <p:nvSpPr>
            <p:cNvPr id="49" name="Line 44"/>
            <p:cNvSpPr>
              <a:spLocks noChangeShapeType="1"/>
            </p:cNvSpPr>
            <p:nvPr/>
          </p:nvSpPr>
          <p:spPr bwMode="auto">
            <a:xfrm flipH="1">
              <a:off x="3593"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50" name="Group 51"/>
          <p:cNvGrpSpPr>
            <a:grpSpLocks/>
          </p:cNvGrpSpPr>
          <p:nvPr/>
        </p:nvGrpSpPr>
        <p:grpSpPr bwMode="auto">
          <a:xfrm>
            <a:off x="4114800" y="3657607"/>
            <a:ext cx="5029200" cy="369888"/>
            <a:chOff x="2375" y="2764"/>
            <a:chExt cx="3168" cy="233"/>
          </a:xfrm>
        </p:grpSpPr>
        <p:sp>
          <p:nvSpPr>
            <p:cNvPr id="51"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52"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2</a:t>
              </a:r>
            </a:p>
          </p:txBody>
        </p:sp>
        <p:sp>
          <p:nvSpPr>
            <p:cNvPr id="53"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2</a:t>
              </a:r>
            </a:p>
          </p:txBody>
        </p:sp>
      </p:grpSp>
      <p:grpSp>
        <p:nvGrpSpPr>
          <p:cNvPr id="54" name="Group 51"/>
          <p:cNvGrpSpPr>
            <a:grpSpLocks/>
          </p:cNvGrpSpPr>
          <p:nvPr/>
        </p:nvGrpSpPr>
        <p:grpSpPr bwMode="auto">
          <a:xfrm>
            <a:off x="4114800" y="3103564"/>
            <a:ext cx="5029200" cy="369888"/>
            <a:chOff x="2375" y="2764"/>
            <a:chExt cx="3168" cy="233"/>
          </a:xfrm>
        </p:grpSpPr>
        <p:sp>
          <p:nvSpPr>
            <p:cNvPr id="55"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56"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3</a:t>
              </a:r>
            </a:p>
          </p:txBody>
        </p:sp>
        <p:sp>
          <p:nvSpPr>
            <p:cNvPr id="57"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3</a:t>
              </a:r>
            </a:p>
          </p:txBody>
        </p:sp>
      </p:grpSp>
      <p:grpSp>
        <p:nvGrpSpPr>
          <p:cNvPr id="58" name="Group 51"/>
          <p:cNvGrpSpPr>
            <a:grpSpLocks/>
          </p:cNvGrpSpPr>
          <p:nvPr/>
        </p:nvGrpSpPr>
        <p:grpSpPr bwMode="auto">
          <a:xfrm>
            <a:off x="4114800" y="2722564"/>
            <a:ext cx="5029200" cy="369888"/>
            <a:chOff x="2375" y="2764"/>
            <a:chExt cx="3168" cy="233"/>
          </a:xfrm>
        </p:grpSpPr>
        <p:sp>
          <p:nvSpPr>
            <p:cNvPr id="59" name="Line 39"/>
            <p:cNvSpPr>
              <a:spLocks noChangeShapeType="1"/>
            </p:cNvSpPr>
            <p:nvPr/>
          </p:nvSpPr>
          <p:spPr bwMode="auto">
            <a:xfrm>
              <a:off x="2716" y="2912"/>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60"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4</a:t>
              </a:r>
            </a:p>
          </p:txBody>
        </p:sp>
        <p:sp>
          <p:nvSpPr>
            <p:cNvPr id="61"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4</a:t>
              </a:r>
            </a:p>
          </p:txBody>
        </p:sp>
      </p:grpSp>
      <p:grpSp>
        <p:nvGrpSpPr>
          <p:cNvPr id="62" name="Group 42"/>
          <p:cNvGrpSpPr>
            <a:grpSpLocks/>
          </p:cNvGrpSpPr>
          <p:nvPr/>
        </p:nvGrpSpPr>
        <p:grpSpPr bwMode="auto">
          <a:xfrm>
            <a:off x="6435725" y="2362999"/>
            <a:ext cx="346075" cy="3046413"/>
            <a:chOff x="3477" y="1746"/>
            <a:chExt cx="218" cy="1919"/>
          </a:xfrm>
        </p:grpSpPr>
        <p:sp>
          <p:nvSpPr>
            <p:cNvPr id="63" name="Text Box 43"/>
            <p:cNvSpPr txBox="1">
              <a:spLocks noChangeArrowheads="1"/>
            </p:cNvSpPr>
            <p:nvPr/>
          </p:nvSpPr>
          <p:spPr bwMode="auto">
            <a:xfrm>
              <a:off x="3477" y="3491"/>
              <a:ext cx="218"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20</a:t>
              </a:r>
              <a:endParaRPr lang="en-US" baseline="-25000" dirty="0">
                <a:latin typeface="Arial"/>
                <a:cs typeface="Arial"/>
              </a:endParaRPr>
            </a:p>
          </p:txBody>
        </p:sp>
        <p:sp>
          <p:nvSpPr>
            <p:cNvPr id="64" name="Line 44"/>
            <p:cNvSpPr>
              <a:spLocks noChangeShapeType="1"/>
            </p:cNvSpPr>
            <p:nvPr/>
          </p:nvSpPr>
          <p:spPr bwMode="auto">
            <a:xfrm flipH="1">
              <a:off x="3578"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grpSp>
        <p:nvGrpSpPr>
          <p:cNvPr id="65" name="Group 51"/>
          <p:cNvGrpSpPr>
            <a:grpSpLocks/>
          </p:cNvGrpSpPr>
          <p:nvPr/>
        </p:nvGrpSpPr>
        <p:grpSpPr bwMode="auto">
          <a:xfrm>
            <a:off x="4114800" y="2133602"/>
            <a:ext cx="5029200" cy="369888"/>
            <a:chOff x="2375" y="2764"/>
            <a:chExt cx="3168" cy="233"/>
          </a:xfrm>
        </p:grpSpPr>
        <p:sp>
          <p:nvSpPr>
            <p:cNvPr id="66" name="Line 39"/>
            <p:cNvSpPr>
              <a:spLocks noChangeShapeType="1"/>
            </p:cNvSpPr>
            <p:nvPr/>
          </p:nvSpPr>
          <p:spPr bwMode="auto">
            <a:xfrm>
              <a:off x="2716" y="2912"/>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67" name="Text Box 40"/>
            <p:cNvSpPr txBox="1">
              <a:spLocks noChangeArrowheads="1"/>
            </p:cNvSpPr>
            <p:nvPr/>
          </p:nvSpPr>
          <p:spPr bwMode="auto">
            <a:xfrm>
              <a:off x="2375" y="2764"/>
              <a:ext cx="363" cy="233"/>
            </a:xfrm>
            <a:prstGeom prst="rect">
              <a:avLst/>
            </a:prstGeom>
            <a:noFill/>
            <a:ln w="9525">
              <a:noFill/>
              <a:miter lim="800000"/>
              <a:headEnd/>
              <a:tailEnd/>
            </a:ln>
          </p:spPr>
          <p:txBody>
            <a:bodyPr wrap="square">
              <a:spAutoFit/>
            </a:bodyPr>
            <a:lstStyle/>
            <a:p>
              <a:pPr algn="r">
                <a:spcBef>
                  <a:spcPct val="50000"/>
                </a:spcBef>
              </a:pPr>
              <a:r>
                <a:rPr lang="en-US" dirty="0">
                  <a:latin typeface="Arial"/>
                  <a:cs typeface="Arial"/>
                </a:rPr>
                <a:t>P</a:t>
              </a:r>
              <a:r>
                <a:rPr lang="en-US" baseline="-25000" dirty="0">
                  <a:latin typeface="Arial"/>
                  <a:cs typeface="Arial"/>
                </a:rPr>
                <a:t>5</a:t>
              </a:r>
            </a:p>
          </p:txBody>
        </p:sp>
        <p:sp>
          <p:nvSpPr>
            <p:cNvPr id="68" name="Text Box 41"/>
            <p:cNvSpPr txBox="1">
              <a:spLocks noChangeArrowheads="1"/>
            </p:cNvSpPr>
            <p:nvPr/>
          </p:nvSpPr>
          <p:spPr bwMode="auto">
            <a:xfrm>
              <a:off x="5012" y="2791"/>
              <a:ext cx="531" cy="174"/>
            </a:xfrm>
            <a:prstGeom prst="rect">
              <a:avLst/>
            </a:prstGeom>
            <a:noFill/>
            <a:ln w="9525">
              <a:noFill/>
              <a:miter lim="800000"/>
              <a:headEnd/>
              <a:tailEnd/>
            </a:ln>
          </p:spPr>
          <p:txBody>
            <a:bodyPr wrap="square" lIns="0" tIns="0" rIns="0" bIns="0">
              <a:spAutoFit/>
            </a:bodyPr>
            <a:lstStyle/>
            <a:p>
              <a:pPr>
                <a:spcBef>
                  <a:spcPct val="50000"/>
                </a:spcBef>
              </a:pPr>
              <a:r>
                <a:rPr lang="en-US" dirty="0">
                  <a:latin typeface="Arial"/>
                  <a:cs typeface="Arial"/>
                </a:rPr>
                <a:t>MR</a:t>
              </a:r>
              <a:r>
                <a:rPr lang="en-US" baseline="-25000" dirty="0">
                  <a:latin typeface="Arial"/>
                  <a:cs typeface="Arial"/>
                </a:rPr>
                <a:t>5</a:t>
              </a:r>
            </a:p>
          </p:txBody>
        </p:sp>
      </p:grpSp>
      <p:grpSp>
        <p:nvGrpSpPr>
          <p:cNvPr id="69" name="Group 42"/>
          <p:cNvGrpSpPr>
            <a:grpSpLocks/>
          </p:cNvGrpSpPr>
          <p:nvPr/>
        </p:nvGrpSpPr>
        <p:grpSpPr bwMode="auto">
          <a:xfrm>
            <a:off x="6892925" y="2362999"/>
            <a:ext cx="346075" cy="3046413"/>
            <a:chOff x="3477" y="1746"/>
            <a:chExt cx="218" cy="1919"/>
          </a:xfrm>
        </p:grpSpPr>
        <p:sp>
          <p:nvSpPr>
            <p:cNvPr id="70" name="Text Box 43"/>
            <p:cNvSpPr txBox="1">
              <a:spLocks noChangeArrowheads="1"/>
            </p:cNvSpPr>
            <p:nvPr/>
          </p:nvSpPr>
          <p:spPr bwMode="auto">
            <a:xfrm>
              <a:off x="3477" y="3491"/>
              <a:ext cx="218" cy="174"/>
            </a:xfrm>
            <a:prstGeom prst="rect">
              <a:avLst/>
            </a:prstGeom>
            <a:noFill/>
            <a:ln w="9525">
              <a:noFill/>
              <a:miter lim="800000"/>
              <a:headEnd/>
              <a:tailEnd/>
            </a:ln>
          </p:spPr>
          <p:txBody>
            <a:bodyPr wrap="square" lIns="0" tIns="0" rIns="0" bIns="0">
              <a:spAutoFit/>
            </a:bodyPr>
            <a:lstStyle/>
            <a:p>
              <a:pPr algn="ctr">
                <a:spcBef>
                  <a:spcPct val="50000"/>
                </a:spcBef>
              </a:pPr>
              <a:r>
                <a:rPr lang="en-US" dirty="0">
                  <a:latin typeface="Arial"/>
                  <a:cs typeface="Arial"/>
                </a:rPr>
                <a:t>25</a:t>
              </a:r>
              <a:endParaRPr lang="en-US" baseline="-25000" dirty="0">
                <a:latin typeface="Arial"/>
                <a:cs typeface="Arial"/>
              </a:endParaRPr>
            </a:p>
          </p:txBody>
        </p:sp>
        <p:sp>
          <p:nvSpPr>
            <p:cNvPr id="71" name="Line 44"/>
            <p:cNvSpPr>
              <a:spLocks noChangeShapeType="1"/>
            </p:cNvSpPr>
            <p:nvPr/>
          </p:nvSpPr>
          <p:spPr bwMode="auto">
            <a:xfrm flipH="1">
              <a:off x="3578" y="1746"/>
              <a:ext cx="0" cy="1688"/>
            </a:xfrm>
            <a:prstGeom prst="line">
              <a:avLst/>
            </a:prstGeom>
            <a:noFill/>
            <a:ln w="19050">
              <a:solidFill>
                <a:srgbClr val="777777"/>
              </a:solidFill>
              <a:prstDash val="lgDash"/>
              <a:round/>
              <a:headEnd/>
              <a:tailEnd/>
            </a:ln>
          </p:spPr>
          <p:txBody>
            <a:bodyPr/>
            <a:lstStyle/>
            <a:p>
              <a:endParaRPr lang="en-US">
                <a:latin typeface="Arial"/>
                <a:cs typeface="Arial"/>
              </a:endParaRPr>
            </a:p>
          </p:txBody>
        </p:sp>
      </p:grpSp>
      <p:sp>
        <p:nvSpPr>
          <p:cNvPr id="4" name="Footer Placeholder 3">
            <a:extLst>
              <a:ext uri="{FF2B5EF4-FFF2-40B4-BE49-F238E27FC236}">
                <a16:creationId xmlns:a16="http://schemas.microsoft.com/office/drawing/2014/main" id="{912B6FEE-655E-74C0-E9F1-572D6DB07F7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579296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2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0"/>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54"/>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5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5"/>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5"/>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44"/>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47"/>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62"/>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6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animEffect transition="in" filter="wipe(left)">
                                      <p:cBhvr>
                                        <p:cTn id="29" dur="500"/>
                                        <p:tgtEl>
                                          <p:spTgt spid="5">
                                            <p:txEl>
                                              <p:pRg st="0" end="0"/>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wipe(left)">
                                      <p:cBhvr>
                                        <p:cTn id="33" dur="500"/>
                                        <p:tgtEl>
                                          <p:spTgt spid="58"/>
                                        </p:tgtEl>
                                      </p:cBhvr>
                                    </p:animEffect>
                                  </p:childTnLst>
                                </p:cTn>
                              </p:par>
                            </p:childTnLst>
                          </p:cTn>
                        </p:par>
                        <p:par>
                          <p:cTn id="34" fill="hold">
                            <p:stCondLst>
                              <p:cond delay="1000"/>
                            </p:stCondLst>
                            <p:childTnLst>
                              <p:par>
                                <p:cTn id="35" presetID="22" presetClass="entr" presetSubtype="4" fill="hold" nodeType="after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wipe(down)">
                                      <p:cBhvr>
                                        <p:cTn id="37" dur="500"/>
                                        <p:tgtEl>
                                          <p:spTgt spid="62"/>
                                        </p:tgtEl>
                                      </p:cBhvr>
                                    </p:animEffect>
                                  </p:childTnLst>
                                </p:cTn>
                              </p:par>
                            </p:childTnLst>
                          </p:cTn>
                        </p:par>
                        <p:par>
                          <p:cTn id="38" fill="hold">
                            <p:stCondLst>
                              <p:cond delay="1500"/>
                            </p:stCondLst>
                            <p:childTnLst>
                              <p:par>
                                <p:cTn id="39" presetID="22" presetClass="entr" presetSubtype="8" fill="hold" grpId="0" nodeType="after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animEffect transition="in" filter="wipe(left)">
                                      <p:cBhvr>
                                        <p:cTn id="41" dur="500"/>
                                        <p:tgtEl>
                                          <p:spTgt spid="5">
                                            <p:txEl>
                                              <p:pRg st="1" end="1"/>
                                            </p:txEl>
                                          </p:spTgt>
                                        </p:tgtEl>
                                      </p:cBhvr>
                                    </p:animEffect>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5">
                                            <p:txEl>
                                              <p:pRg st="2" end="2"/>
                                            </p:txEl>
                                          </p:spTgt>
                                        </p:tgtEl>
                                        <p:attrNameLst>
                                          <p:attrName>style.visibility</p:attrName>
                                        </p:attrNameLst>
                                      </p:cBhvr>
                                      <p:to>
                                        <p:strVal val="visible"/>
                                      </p:to>
                                    </p:set>
                                    <p:animEffect transition="in" filter="wipe(left)">
                                      <p:cBhvr>
                                        <p:cTn id="45" dur="500"/>
                                        <p:tgtEl>
                                          <p:spTgt spid="5">
                                            <p:txEl>
                                              <p:pRg st="2" end="2"/>
                                            </p:txEl>
                                          </p:spTgt>
                                        </p:tgtEl>
                                      </p:cBhvr>
                                    </p:animEffect>
                                  </p:childTnLst>
                                </p:cTn>
                              </p:par>
                            </p:childTnLst>
                          </p:cTn>
                        </p:par>
                        <p:par>
                          <p:cTn id="46" fill="hold">
                            <p:stCondLst>
                              <p:cond delay="2500"/>
                            </p:stCondLst>
                            <p:childTnLst>
                              <p:par>
                                <p:cTn id="47" presetID="22" presetClass="entr" presetSubtype="8" fill="hold" grpId="0" nodeType="afterEffect">
                                  <p:stCondLst>
                                    <p:cond delay="0"/>
                                  </p:stCondLst>
                                  <p:childTnLst>
                                    <p:set>
                                      <p:cBhvr>
                                        <p:cTn id="48" dur="1" fill="hold">
                                          <p:stCondLst>
                                            <p:cond delay="0"/>
                                          </p:stCondLst>
                                        </p:cTn>
                                        <p:tgtEl>
                                          <p:spTgt spid="5">
                                            <p:txEl>
                                              <p:pRg st="3" end="3"/>
                                            </p:txEl>
                                          </p:spTgt>
                                        </p:tgtEl>
                                        <p:attrNameLst>
                                          <p:attrName>style.visibility</p:attrName>
                                        </p:attrNameLst>
                                      </p:cBhvr>
                                      <p:to>
                                        <p:strVal val="visible"/>
                                      </p:to>
                                    </p:set>
                                    <p:animEffect transition="in" filter="wipe(left)">
                                      <p:cBhvr>
                                        <p:cTn id="49" dur="500"/>
                                        <p:tgtEl>
                                          <p:spTgt spid="5">
                                            <p:txEl>
                                              <p:pRg st="3" end="3"/>
                                            </p:txEl>
                                          </p:spTgt>
                                        </p:tgtEl>
                                      </p:cBhvr>
                                    </p:animEffect>
                                  </p:childTnLst>
                                </p:cTn>
                              </p:par>
                            </p:childTnLst>
                          </p:cTn>
                        </p:par>
                        <p:par>
                          <p:cTn id="50" fill="hold">
                            <p:stCondLst>
                              <p:cond delay="3000"/>
                            </p:stCondLst>
                            <p:childTnLst>
                              <p:par>
                                <p:cTn id="51" presetID="22" presetClass="entr" presetSubtype="8" fill="hold" grpId="0" nodeType="afterEffect">
                                  <p:stCondLst>
                                    <p:cond delay="0"/>
                                  </p:stCondLst>
                                  <p:childTnLst>
                                    <p:set>
                                      <p:cBhvr>
                                        <p:cTn id="52" dur="1" fill="hold">
                                          <p:stCondLst>
                                            <p:cond delay="0"/>
                                          </p:stCondLst>
                                        </p:cTn>
                                        <p:tgtEl>
                                          <p:spTgt spid="5">
                                            <p:txEl>
                                              <p:pRg st="4" end="4"/>
                                            </p:txEl>
                                          </p:spTgt>
                                        </p:tgtEl>
                                        <p:attrNameLst>
                                          <p:attrName>style.visibility</p:attrName>
                                        </p:attrNameLst>
                                      </p:cBhvr>
                                      <p:to>
                                        <p:strVal val="visible"/>
                                      </p:to>
                                    </p:set>
                                    <p:animEffect transition="in" filter="wipe(left)">
                                      <p:cBhvr>
                                        <p:cTn id="53" dur="500"/>
                                        <p:tgtEl>
                                          <p:spTgt spid="5">
                                            <p:txEl>
                                              <p:pRg st="4" end="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5">
                                            <p:txEl>
                                              <p:pRg st="5" end="5"/>
                                            </p:txEl>
                                          </p:spTgt>
                                        </p:tgtEl>
                                        <p:attrNameLst>
                                          <p:attrName>style.visibility</p:attrName>
                                        </p:attrNameLst>
                                      </p:cBhvr>
                                      <p:to>
                                        <p:strVal val="visible"/>
                                      </p:to>
                                    </p:set>
                                    <p:animEffect transition="in" filter="wipe(left)">
                                      <p:cBhvr>
                                        <p:cTn id="58" dur="500"/>
                                        <p:tgtEl>
                                          <p:spTgt spid="5">
                                            <p:txEl>
                                              <p:pRg st="5" end="5"/>
                                            </p:txEl>
                                          </p:spTgt>
                                        </p:tgtEl>
                                      </p:cBhvr>
                                    </p:animEffect>
                                  </p:childTnLst>
                                </p:cTn>
                              </p:par>
                            </p:childTnLst>
                          </p:cTn>
                        </p:par>
                        <p:par>
                          <p:cTn id="59" fill="hold">
                            <p:stCondLst>
                              <p:cond delay="500"/>
                            </p:stCondLst>
                            <p:childTnLst>
                              <p:par>
                                <p:cTn id="60" presetID="1" presetClass="exit" presetSubtype="0" fill="hold" nodeType="afterEffect">
                                  <p:stCondLst>
                                    <p:cond delay="0"/>
                                  </p:stCondLst>
                                  <p:childTnLst>
                                    <p:set>
                                      <p:cBhvr>
                                        <p:cTn id="61" dur="1" fill="hold">
                                          <p:stCondLst>
                                            <p:cond delay="0"/>
                                          </p:stCondLst>
                                        </p:cTn>
                                        <p:tgtEl>
                                          <p:spTgt spid="58"/>
                                        </p:tgtEl>
                                        <p:attrNameLst>
                                          <p:attrName>style.visibility</p:attrName>
                                        </p:attrNameLst>
                                      </p:cBhvr>
                                      <p:to>
                                        <p:strVal val="hidden"/>
                                      </p:to>
                                    </p:set>
                                  </p:childTnLst>
                                </p:cTn>
                              </p:par>
                            </p:childTnLst>
                          </p:cTn>
                        </p:par>
                        <p:par>
                          <p:cTn id="62" fill="hold">
                            <p:stCondLst>
                              <p:cond delay="500"/>
                            </p:stCondLst>
                            <p:childTnLst>
                              <p:par>
                                <p:cTn id="63" presetID="1" presetClass="exit" presetSubtype="0" fill="hold" nodeType="afterEffect">
                                  <p:stCondLst>
                                    <p:cond delay="0"/>
                                  </p:stCondLst>
                                  <p:childTnLst>
                                    <p:set>
                                      <p:cBhvr>
                                        <p:cTn id="64" dur="1" fill="hold">
                                          <p:stCondLst>
                                            <p:cond delay="0"/>
                                          </p:stCondLst>
                                        </p:cTn>
                                        <p:tgtEl>
                                          <p:spTgt spid="62"/>
                                        </p:tgtEl>
                                        <p:attrNameLst>
                                          <p:attrName>style.visibility</p:attrName>
                                        </p:attrNameLst>
                                      </p:cBhvr>
                                      <p:to>
                                        <p:strVal val="hidden"/>
                                      </p:to>
                                    </p:se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65"/>
                                        </p:tgtEl>
                                        <p:attrNameLst>
                                          <p:attrName>style.visibility</p:attrName>
                                        </p:attrNameLst>
                                      </p:cBhvr>
                                      <p:to>
                                        <p:strVal val="visible"/>
                                      </p:to>
                                    </p:set>
                                    <p:animEffect transition="in" filter="wipe(left)">
                                      <p:cBhvr>
                                        <p:cTn id="68" dur="500"/>
                                        <p:tgtEl>
                                          <p:spTgt spid="65"/>
                                        </p:tgtEl>
                                      </p:cBhvr>
                                    </p:animEffect>
                                  </p:childTnLst>
                                </p:cTn>
                              </p:par>
                            </p:childTnLst>
                          </p:cTn>
                        </p:par>
                        <p:par>
                          <p:cTn id="69" fill="hold">
                            <p:stCondLst>
                              <p:cond delay="1000"/>
                            </p:stCondLst>
                            <p:childTnLst>
                              <p:par>
                                <p:cTn id="70" presetID="22" presetClass="entr" presetSubtype="4" fill="hold" nodeType="afterEffect">
                                  <p:stCondLst>
                                    <p:cond delay="0"/>
                                  </p:stCondLst>
                                  <p:childTnLst>
                                    <p:set>
                                      <p:cBhvr>
                                        <p:cTn id="71" dur="1" fill="hold">
                                          <p:stCondLst>
                                            <p:cond delay="0"/>
                                          </p:stCondLst>
                                        </p:cTn>
                                        <p:tgtEl>
                                          <p:spTgt spid="69"/>
                                        </p:tgtEl>
                                        <p:attrNameLst>
                                          <p:attrName>style.visibility</p:attrName>
                                        </p:attrNameLst>
                                      </p:cBhvr>
                                      <p:to>
                                        <p:strVal val="visible"/>
                                      </p:to>
                                    </p:set>
                                    <p:animEffect transition="in" filter="wipe(down)">
                                      <p:cBhvr>
                                        <p:cTn id="72" dur="500"/>
                                        <p:tgtEl>
                                          <p:spTgt spid="69"/>
                                        </p:tgtEl>
                                      </p:cBhvr>
                                    </p:animEffect>
                                  </p:childTnLst>
                                </p:cTn>
                              </p:par>
                            </p:childTnLst>
                          </p:cTn>
                        </p:par>
                        <p:par>
                          <p:cTn id="73" fill="hold">
                            <p:stCondLst>
                              <p:cond delay="1500"/>
                            </p:stCondLst>
                            <p:childTnLst>
                              <p:par>
                                <p:cTn id="74" presetID="22" presetClass="entr" presetSubtype="8" fill="hold" grpId="0" nodeType="afterEffect">
                                  <p:stCondLst>
                                    <p:cond delay="0"/>
                                  </p:stCondLst>
                                  <p:childTnLst>
                                    <p:set>
                                      <p:cBhvr>
                                        <p:cTn id="75" dur="1" fill="hold">
                                          <p:stCondLst>
                                            <p:cond delay="0"/>
                                          </p:stCondLst>
                                        </p:cTn>
                                        <p:tgtEl>
                                          <p:spTgt spid="5">
                                            <p:txEl>
                                              <p:pRg st="6" end="6"/>
                                            </p:txEl>
                                          </p:spTgt>
                                        </p:tgtEl>
                                        <p:attrNameLst>
                                          <p:attrName>style.visibility</p:attrName>
                                        </p:attrNameLst>
                                      </p:cBhvr>
                                      <p:to>
                                        <p:strVal val="visible"/>
                                      </p:to>
                                    </p:set>
                                    <p:animEffect transition="in" filter="wipe(left)">
                                      <p:cBhvr>
                                        <p:cTn id="76" dur="500"/>
                                        <p:tgtEl>
                                          <p:spTgt spid="5">
                                            <p:txEl>
                                              <p:pRg st="6" end="6"/>
                                            </p:txEl>
                                          </p:spTgt>
                                        </p:tgtEl>
                                      </p:cBhvr>
                                    </p:animEffect>
                                  </p:childTnLst>
                                </p:cTn>
                              </p:par>
                            </p:childTnLst>
                          </p:cTn>
                        </p:par>
                        <p:par>
                          <p:cTn id="77" fill="hold">
                            <p:stCondLst>
                              <p:cond delay="2000"/>
                            </p:stCondLst>
                            <p:childTnLst>
                              <p:par>
                                <p:cTn id="78" presetID="22" presetClass="entr" presetSubtype="8" fill="hold" grpId="0" nodeType="afterEffect">
                                  <p:stCondLst>
                                    <p:cond delay="0"/>
                                  </p:stCondLst>
                                  <p:childTnLst>
                                    <p:set>
                                      <p:cBhvr>
                                        <p:cTn id="79" dur="1" fill="hold">
                                          <p:stCondLst>
                                            <p:cond delay="0"/>
                                          </p:stCondLst>
                                        </p:cTn>
                                        <p:tgtEl>
                                          <p:spTgt spid="5">
                                            <p:txEl>
                                              <p:pRg st="7" end="7"/>
                                            </p:txEl>
                                          </p:spTgt>
                                        </p:tgtEl>
                                        <p:attrNameLst>
                                          <p:attrName>style.visibility</p:attrName>
                                        </p:attrNameLst>
                                      </p:cBhvr>
                                      <p:to>
                                        <p:strVal val="visible"/>
                                      </p:to>
                                    </p:set>
                                    <p:animEffect transition="in" filter="wipe(left)">
                                      <p:cBhvr>
                                        <p:cTn id="80" dur="500"/>
                                        <p:tgtEl>
                                          <p:spTgt spid="5">
                                            <p:txEl>
                                              <p:pRg st="7" end="7"/>
                                            </p:txEl>
                                          </p:spTgt>
                                        </p:tgtEl>
                                      </p:cBhvr>
                                    </p:animEffect>
                                  </p:childTnLst>
                                </p:cTn>
                              </p:par>
                            </p:childTnLst>
                          </p:cTn>
                        </p:par>
                        <p:par>
                          <p:cTn id="81" fill="hold">
                            <p:stCondLst>
                              <p:cond delay="2500"/>
                            </p:stCondLst>
                            <p:childTnLst>
                              <p:par>
                                <p:cTn id="82" presetID="22" presetClass="entr" presetSubtype="8" fill="hold" grpId="0" nodeType="afterEffect">
                                  <p:stCondLst>
                                    <p:cond delay="0"/>
                                  </p:stCondLst>
                                  <p:childTnLst>
                                    <p:set>
                                      <p:cBhvr>
                                        <p:cTn id="83" dur="1" fill="hold">
                                          <p:stCondLst>
                                            <p:cond delay="0"/>
                                          </p:stCondLst>
                                        </p:cTn>
                                        <p:tgtEl>
                                          <p:spTgt spid="5">
                                            <p:txEl>
                                              <p:pRg st="8" end="8"/>
                                            </p:txEl>
                                          </p:spTgt>
                                        </p:tgtEl>
                                        <p:attrNameLst>
                                          <p:attrName>style.visibility</p:attrName>
                                        </p:attrNameLst>
                                      </p:cBhvr>
                                      <p:to>
                                        <p:strVal val="visible"/>
                                      </p:to>
                                    </p:set>
                                    <p:animEffect transition="in" filter="wipe(left)">
                                      <p:cBhvr>
                                        <p:cTn id="84"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6"/>
          <p:cNvGrpSpPr>
            <a:grpSpLocks/>
          </p:cNvGrpSpPr>
          <p:nvPr/>
        </p:nvGrpSpPr>
        <p:grpSpPr bwMode="auto">
          <a:xfrm>
            <a:off x="5106988" y="2573338"/>
            <a:ext cx="2587625" cy="2640012"/>
            <a:chOff x="3217" y="1621"/>
            <a:chExt cx="1630" cy="1663"/>
          </a:xfrm>
        </p:grpSpPr>
        <p:sp>
          <p:nvSpPr>
            <p:cNvPr id="35927" name="Line 33"/>
            <p:cNvSpPr>
              <a:spLocks noChangeShapeType="1"/>
            </p:cNvSpPr>
            <p:nvPr/>
          </p:nvSpPr>
          <p:spPr bwMode="auto">
            <a:xfrm flipV="1">
              <a:off x="3217" y="1833"/>
              <a:ext cx="1332" cy="1451"/>
            </a:xfrm>
            <a:prstGeom prst="line">
              <a:avLst/>
            </a:prstGeom>
            <a:noFill/>
            <a:ln w="38100">
              <a:solidFill>
                <a:srgbClr val="333399"/>
              </a:solidFill>
              <a:round/>
              <a:headEnd/>
              <a:tailEnd/>
            </a:ln>
          </p:spPr>
          <p:txBody>
            <a:bodyPr/>
            <a:lstStyle/>
            <a:p>
              <a:endParaRPr lang="en-US">
                <a:latin typeface="Arial"/>
                <a:cs typeface="Arial"/>
              </a:endParaRPr>
            </a:p>
          </p:txBody>
        </p:sp>
        <p:sp>
          <p:nvSpPr>
            <p:cNvPr id="35928" name="Text Box 34"/>
            <p:cNvSpPr txBox="1">
              <a:spLocks noChangeArrowheads="1"/>
            </p:cNvSpPr>
            <p:nvPr/>
          </p:nvSpPr>
          <p:spPr bwMode="auto">
            <a:xfrm>
              <a:off x="4545" y="1621"/>
              <a:ext cx="302" cy="233"/>
            </a:xfrm>
            <a:prstGeom prst="rect">
              <a:avLst/>
            </a:prstGeom>
            <a:noFill/>
            <a:ln w="9525">
              <a:noFill/>
              <a:miter lim="800000"/>
              <a:headEnd/>
              <a:tailEnd/>
            </a:ln>
          </p:spPr>
          <p:txBody>
            <a:bodyPr lIns="0" tIns="0" rIns="0" bIns="0">
              <a:spAutoFit/>
            </a:bodyPr>
            <a:lstStyle/>
            <a:p>
              <a:pPr>
                <a:spcBef>
                  <a:spcPct val="50000"/>
                </a:spcBef>
              </a:pPr>
              <a:r>
                <a:rPr lang="en-US" sz="2400" b="1" i="1">
                  <a:latin typeface="Arial"/>
                  <a:cs typeface="Arial"/>
                </a:rPr>
                <a:t>S</a:t>
              </a:r>
              <a:r>
                <a:rPr lang="en-US" sz="2400" b="1" baseline="-25000">
                  <a:latin typeface="Arial"/>
                  <a:cs typeface="Arial"/>
                </a:rPr>
                <a:t>1</a:t>
              </a:r>
            </a:p>
          </p:txBody>
        </p:sp>
      </p:grpSp>
      <p:grpSp>
        <p:nvGrpSpPr>
          <p:cNvPr id="3" name="Group 79"/>
          <p:cNvGrpSpPr>
            <a:grpSpLocks/>
          </p:cNvGrpSpPr>
          <p:nvPr/>
        </p:nvGrpSpPr>
        <p:grpSpPr bwMode="auto">
          <a:xfrm>
            <a:off x="884238" y="3357563"/>
            <a:ext cx="1649412" cy="1058862"/>
            <a:chOff x="557" y="2115"/>
            <a:chExt cx="1039" cy="667"/>
          </a:xfrm>
        </p:grpSpPr>
        <p:sp>
          <p:nvSpPr>
            <p:cNvPr id="35924" name="Rectangle 2"/>
            <p:cNvSpPr>
              <a:spLocks noChangeArrowheads="1"/>
            </p:cNvSpPr>
            <p:nvPr/>
          </p:nvSpPr>
          <p:spPr bwMode="auto">
            <a:xfrm>
              <a:off x="557" y="2536"/>
              <a:ext cx="1039" cy="246"/>
            </a:xfrm>
            <a:prstGeom prst="rect">
              <a:avLst/>
            </a:prstGeom>
            <a:solidFill>
              <a:srgbClr val="FFCC99"/>
            </a:solidFill>
            <a:ln w="9525">
              <a:noFill/>
              <a:miter lim="800000"/>
              <a:headEnd/>
              <a:tailEnd/>
            </a:ln>
          </p:spPr>
          <p:txBody>
            <a:bodyPr wrap="none" anchor="ctr"/>
            <a:lstStyle/>
            <a:p>
              <a:endParaRPr lang="en-US">
                <a:latin typeface="Arial"/>
                <a:cs typeface="Arial"/>
              </a:endParaRPr>
            </a:p>
          </p:txBody>
        </p:sp>
        <p:sp>
          <p:nvSpPr>
            <p:cNvPr id="35925" name="Text Box 55"/>
            <p:cNvSpPr txBox="1">
              <a:spLocks noChangeArrowheads="1"/>
            </p:cNvSpPr>
            <p:nvPr/>
          </p:nvSpPr>
          <p:spPr bwMode="auto">
            <a:xfrm>
              <a:off x="693" y="2115"/>
              <a:ext cx="480" cy="233"/>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Profit</a:t>
              </a:r>
            </a:p>
          </p:txBody>
        </p:sp>
        <p:sp>
          <p:nvSpPr>
            <p:cNvPr id="35926" name="Line 56"/>
            <p:cNvSpPr>
              <a:spLocks noChangeShapeType="1"/>
            </p:cNvSpPr>
            <p:nvPr/>
          </p:nvSpPr>
          <p:spPr bwMode="auto">
            <a:xfrm>
              <a:off x="959" y="2342"/>
              <a:ext cx="114" cy="271"/>
            </a:xfrm>
            <a:prstGeom prst="line">
              <a:avLst/>
            </a:prstGeom>
            <a:noFill/>
            <a:ln w="9525">
              <a:solidFill>
                <a:schemeClr val="tx1"/>
              </a:solidFill>
              <a:round/>
              <a:headEnd/>
              <a:tailEnd/>
            </a:ln>
          </p:spPr>
          <p:txBody>
            <a:bodyPr/>
            <a:lstStyle/>
            <a:p>
              <a:endParaRPr lang="en-US">
                <a:latin typeface="Arial"/>
                <a:cs typeface="Arial"/>
              </a:endParaRPr>
            </a:p>
          </p:txBody>
        </p:sp>
      </p:grpSp>
      <p:grpSp>
        <p:nvGrpSpPr>
          <p:cNvPr id="4" name="Group 67"/>
          <p:cNvGrpSpPr>
            <a:grpSpLocks/>
          </p:cNvGrpSpPr>
          <p:nvPr/>
        </p:nvGrpSpPr>
        <p:grpSpPr bwMode="auto">
          <a:xfrm>
            <a:off x="5113338" y="4037014"/>
            <a:ext cx="2808287" cy="1589088"/>
            <a:chOff x="3221" y="2543"/>
            <a:chExt cx="1769" cy="1001"/>
          </a:xfrm>
        </p:grpSpPr>
        <p:sp>
          <p:nvSpPr>
            <p:cNvPr id="35922" name="Line 35"/>
            <p:cNvSpPr>
              <a:spLocks noChangeShapeType="1"/>
            </p:cNvSpPr>
            <p:nvPr/>
          </p:nvSpPr>
          <p:spPr bwMode="auto">
            <a:xfrm>
              <a:off x="3221" y="2543"/>
              <a:ext cx="1459" cy="907"/>
            </a:xfrm>
            <a:prstGeom prst="line">
              <a:avLst/>
            </a:prstGeom>
            <a:noFill/>
            <a:ln w="38100">
              <a:solidFill>
                <a:srgbClr val="333399"/>
              </a:solidFill>
              <a:round/>
              <a:headEnd/>
              <a:tailEnd/>
            </a:ln>
          </p:spPr>
          <p:txBody>
            <a:bodyPr/>
            <a:lstStyle/>
            <a:p>
              <a:endParaRPr lang="en-US">
                <a:latin typeface="Arial"/>
                <a:cs typeface="Arial"/>
              </a:endParaRPr>
            </a:p>
          </p:txBody>
        </p:sp>
        <p:sp>
          <p:nvSpPr>
            <p:cNvPr id="35923" name="Text Box 58"/>
            <p:cNvSpPr txBox="1">
              <a:spLocks noChangeArrowheads="1"/>
            </p:cNvSpPr>
            <p:nvPr/>
          </p:nvSpPr>
          <p:spPr bwMode="auto">
            <a:xfrm>
              <a:off x="4688" y="3311"/>
              <a:ext cx="302" cy="233"/>
            </a:xfrm>
            <a:prstGeom prst="rect">
              <a:avLst/>
            </a:prstGeom>
            <a:noFill/>
            <a:ln w="9525">
              <a:noFill/>
              <a:miter lim="800000"/>
              <a:headEnd/>
              <a:tailEnd/>
            </a:ln>
          </p:spPr>
          <p:txBody>
            <a:bodyPr lIns="0" tIns="0" rIns="0" bIns="0">
              <a:spAutoFit/>
            </a:bodyPr>
            <a:lstStyle/>
            <a:p>
              <a:pPr>
                <a:spcBef>
                  <a:spcPct val="50000"/>
                </a:spcBef>
              </a:pPr>
              <a:r>
                <a:rPr lang="en-US" sz="2400" b="1" i="1">
                  <a:latin typeface="Arial"/>
                  <a:cs typeface="Arial"/>
                </a:rPr>
                <a:t>D</a:t>
              </a:r>
              <a:r>
                <a:rPr lang="en-US" sz="2400" b="1" baseline="-25000">
                  <a:latin typeface="Arial"/>
                  <a:cs typeface="Arial"/>
                </a:rPr>
                <a:t>1</a:t>
              </a:r>
            </a:p>
          </p:txBody>
        </p:sp>
      </p:grpSp>
      <p:grpSp>
        <p:nvGrpSpPr>
          <p:cNvPr id="5" name="Group 61"/>
          <p:cNvGrpSpPr>
            <a:grpSpLocks/>
          </p:cNvGrpSpPr>
          <p:nvPr/>
        </p:nvGrpSpPr>
        <p:grpSpPr bwMode="auto">
          <a:xfrm>
            <a:off x="4178300" y="4125916"/>
            <a:ext cx="4738688" cy="671513"/>
            <a:chOff x="2632" y="2599"/>
            <a:chExt cx="2985" cy="423"/>
          </a:xfrm>
        </p:grpSpPr>
        <p:sp>
          <p:nvSpPr>
            <p:cNvPr id="35919" name="Line 12"/>
            <p:cNvSpPr>
              <a:spLocks noChangeShapeType="1"/>
            </p:cNvSpPr>
            <p:nvPr/>
          </p:nvSpPr>
          <p:spPr bwMode="auto">
            <a:xfrm>
              <a:off x="3044" y="2819"/>
              <a:ext cx="1882" cy="0"/>
            </a:xfrm>
            <a:prstGeom prst="line">
              <a:avLst/>
            </a:prstGeom>
            <a:noFill/>
            <a:ln w="28575">
              <a:solidFill>
                <a:srgbClr val="006600"/>
              </a:solidFill>
              <a:round/>
              <a:headEnd/>
              <a:tailEnd/>
            </a:ln>
          </p:spPr>
          <p:txBody>
            <a:bodyPr/>
            <a:lstStyle/>
            <a:p>
              <a:endParaRPr lang="en-US">
                <a:latin typeface="Arial"/>
                <a:cs typeface="Arial"/>
              </a:endParaRPr>
            </a:p>
          </p:txBody>
        </p:sp>
        <p:sp>
          <p:nvSpPr>
            <p:cNvPr id="35920" name="Text Box 13"/>
            <p:cNvSpPr txBox="1">
              <a:spLocks noChangeArrowheads="1"/>
            </p:cNvSpPr>
            <p:nvPr/>
          </p:nvSpPr>
          <p:spPr bwMode="auto">
            <a:xfrm>
              <a:off x="2632" y="2668"/>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sp>
          <p:nvSpPr>
            <p:cNvPr id="35921" name="Text Box 57"/>
            <p:cNvSpPr txBox="1">
              <a:spLocks noChangeArrowheads="1"/>
            </p:cNvSpPr>
            <p:nvPr/>
          </p:nvSpPr>
          <p:spPr bwMode="auto">
            <a:xfrm>
              <a:off x="4862" y="2599"/>
              <a:ext cx="755" cy="423"/>
            </a:xfrm>
            <a:prstGeom prst="rect">
              <a:avLst/>
            </a:prstGeom>
            <a:noFill/>
            <a:ln w="9525">
              <a:noFill/>
              <a:miter lim="800000"/>
              <a:headEnd/>
              <a:tailEnd/>
            </a:ln>
          </p:spPr>
          <p:txBody>
            <a:bodyPr lIns="0" tIns="0" rIns="0" bIns="0">
              <a:spAutoFit/>
            </a:bodyPr>
            <a:lstStyle/>
            <a:p>
              <a:pPr>
                <a:lnSpc>
                  <a:spcPct val="90000"/>
                </a:lnSpc>
              </a:pPr>
              <a:r>
                <a:rPr lang="en-US" sz="2400">
                  <a:latin typeface="Arial"/>
                  <a:cs typeface="Arial"/>
                </a:rPr>
                <a:t>long-run</a:t>
              </a:r>
            </a:p>
            <a:p>
              <a:pPr>
                <a:lnSpc>
                  <a:spcPct val="90000"/>
                </a:lnSpc>
              </a:pPr>
              <a:r>
                <a:rPr lang="en-US" sz="2400">
                  <a:latin typeface="Arial"/>
                  <a:cs typeface="Arial"/>
                </a:rPr>
                <a:t>supply</a:t>
              </a:r>
              <a:endParaRPr lang="en-US" sz="2400" baseline="-25000">
                <a:latin typeface="Arial"/>
                <a:cs typeface="Arial"/>
              </a:endParaRPr>
            </a:p>
          </p:txBody>
        </p:sp>
      </p:grpSp>
      <p:grpSp>
        <p:nvGrpSpPr>
          <p:cNvPr id="6" name="Group 72"/>
          <p:cNvGrpSpPr>
            <a:grpSpLocks/>
          </p:cNvGrpSpPr>
          <p:nvPr/>
        </p:nvGrpSpPr>
        <p:grpSpPr bwMode="auto">
          <a:xfrm>
            <a:off x="5199063" y="3367087"/>
            <a:ext cx="3057525" cy="1936749"/>
            <a:chOff x="3275" y="2121"/>
            <a:chExt cx="1926" cy="1220"/>
          </a:xfrm>
        </p:grpSpPr>
        <p:sp>
          <p:nvSpPr>
            <p:cNvPr id="35917" name="Line 36"/>
            <p:cNvSpPr>
              <a:spLocks noChangeShapeType="1"/>
            </p:cNvSpPr>
            <p:nvPr/>
          </p:nvSpPr>
          <p:spPr bwMode="auto">
            <a:xfrm>
              <a:off x="3275" y="2121"/>
              <a:ext cx="1686" cy="1047"/>
            </a:xfrm>
            <a:prstGeom prst="line">
              <a:avLst/>
            </a:prstGeom>
            <a:noFill/>
            <a:ln w="38100">
              <a:solidFill>
                <a:srgbClr val="CC0000"/>
              </a:solidFill>
              <a:round/>
              <a:headEnd/>
              <a:tailEnd/>
            </a:ln>
          </p:spPr>
          <p:txBody>
            <a:bodyPr/>
            <a:lstStyle/>
            <a:p>
              <a:endParaRPr lang="en-US">
                <a:latin typeface="Arial"/>
                <a:cs typeface="Arial"/>
              </a:endParaRPr>
            </a:p>
          </p:txBody>
        </p:sp>
        <p:sp>
          <p:nvSpPr>
            <p:cNvPr id="35918" name="Text Box 59"/>
            <p:cNvSpPr txBox="1">
              <a:spLocks noChangeArrowheads="1"/>
            </p:cNvSpPr>
            <p:nvPr/>
          </p:nvSpPr>
          <p:spPr bwMode="auto">
            <a:xfrm>
              <a:off x="4976" y="3108"/>
              <a:ext cx="225" cy="233"/>
            </a:xfrm>
            <a:prstGeom prst="rect">
              <a:avLst/>
            </a:prstGeom>
            <a:noFill/>
            <a:ln w="9525">
              <a:noFill/>
              <a:miter lim="800000"/>
              <a:headEnd/>
              <a:tailEnd/>
            </a:ln>
          </p:spPr>
          <p:txBody>
            <a:bodyPr lIns="0" tIns="0" rIns="0" bIns="0">
              <a:spAutoFit/>
            </a:bodyPr>
            <a:lstStyle/>
            <a:p>
              <a:pPr>
                <a:spcBef>
                  <a:spcPct val="50000"/>
                </a:spcBef>
              </a:pPr>
              <a:r>
                <a:rPr lang="en-US" sz="2400" b="1" i="1">
                  <a:latin typeface="Arial"/>
                  <a:cs typeface="Arial"/>
                </a:rPr>
                <a:t>D</a:t>
              </a:r>
              <a:r>
                <a:rPr lang="en-US" sz="2400" b="1" baseline="-25000">
                  <a:latin typeface="Arial"/>
                  <a:cs typeface="Arial"/>
                </a:rPr>
                <a:t>2</a:t>
              </a:r>
            </a:p>
          </p:txBody>
        </p:sp>
      </p:grpSp>
      <p:sp>
        <p:nvSpPr>
          <p:cNvPr id="35849" name="Rectangle 4"/>
          <p:cNvSpPr>
            <a:spLocks noGrp="1" noChangeArrowheads="1"/>
          </p:cNvSpPr>
          <p:nvPr>
            <p:ph type="title"/>
          </p:nvPr>
        </p:nvSpPr>
        <p:spPr/>
        <p:txBody>
          <a:bodyPr/>
          <a:lstStyle/>
          <a:p>
            <a:pPr algn="ctr" eaLnBrk="1" hangingPunct="1"/>
            <a:r>
              <a:rPr lang="en-US" sz="3200" dirty="0"/>
              <a:t>SR and LR Effects of an Increase in Demand</a:t>
            </a:r>
          </a:p>
        </p:txBody>
      </p:sp>
      <p:sp>
        <p:nvSpPr>
          <p:cNvPr id="25" name="Slide Number Placeholder 24"/>
          <p:cNvSpPr>
            <a:spLocks noGrp="1"/>
          </p:cNvSpPr>
          <p:nvPr>
            <p:ph type="sldNum" sz="quarter" idx="10"/>
          </p:nvPr>
        </p:nvSpPr>
        <p:spPr/>
        <p:txBody>
          <a:bodyPr/>
          <a:lstStyle/>
          <a:p>
            <a:pPr>
              <a:defRPr/>
            </a:pPr>
            <a:fld id="{2F37425F-5E17-4209-B948-B5CE2119E408}" type="slidenum">
              <a:rPr lang="en-US" smtClean="0"/>
              <a:pPr>
                <a:defRPr/>
              </a:pPr>
              <a:t>30</a:t>
            </a:fld>
            <a:endParaRPr lang="en-US" dirty="0"/>
          </a:p>
        </p:txBody>
      </p:sp>
      <p:grpSp>
        <p:nvGrpSpPr>
          <p:cNvPr id="7" name="Group 5"/>
          <p:cNvGrpSpPr>
            <a:grpSpLocks/>
          </p:cNvGrpSpPr>
          <p:nvPr/>
        </p:nvGrpSpPr>
        <p:grpSpPr bwMode="auto">
          <a:xfrm>
            <a:off x="1328738" y="2678113"/>
            <a:ext cx="2493962" cy="2851150"/>
            <a:chOff x="995" y="1624"/>
            <a:chExt cx="1571" cy="1796"/>
          </a:xfrm>
        </p:grpSpPr>
        <p:sp>
          <p:nvSpPr>
            <p:cNvPr id="35915" name="Line 6"/>
            <p:cNvSpPr>
              <a:spLocks noChangeShapeType="1"/>
            </p:cNvSpPr>
            <p:nvPr/>
          </p:nvSpPr>
          <p:spPr bwMode="auto">
            <a:xfrm flipV="1">
              <a:off x="995" y="1862"/>
              <a:ext cx="1239" cy="1558"/>
            </a:xfrm>
            <a:prstGeom prst="line">
              <a:avLst/>
            </a:prstGeom>
            <a:noFill/>
            <a:ln w="38100">
              <a:solidFill>
                <a:srgbClr val="333399"/>
              </a:solidFill>
              <a:round/>
              <a:headEnd/>
              <a:tailEnd/>
            </a:ln>
          </p:spPr>
          <p:txBody>
            <a:bodyPr/>
            <a:lstStyle/>
            <a:p>
              <a:endParaRPr lang="en-US">
                <a:latin typeface="Arial"/>
                <a:cs typeface="Arial"/>
              </a:endParaRPr>
            </a:p>
          </p:txBody>
        </p:sp>
        <p:sp>
          <p:nvSpPr>
            <p:cNvPr id="35916" name="Text Box 7"/>
            <p:cNvSpPr txBox="1">
              <a:spLocks noChangeArrowheads="1"/>
            </p:cNvSpPr>
            <p:nvPr/>
          </p:nvSpPr>
          <p:spPr bwMode="auto">
            <a:xfrm>
              <a:off x="2183" y="1624"/>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8" name="Group 8"/>
          <p:cNvGrpSpPr>
            <a:grpSpLocks/>
          </p:cNvGrpSpPr>
          <p:nvPr/>
        </p:nvGrpSpPr>
        <p:grpSpPr bwMode="auto">
          <a:xfrm>
            <a:off x="1063625" y="2952750"/>
            <a:ext cx="2936875" cy="1516063"/>
            <a:chOff x="828" y="1797"/>
            <a:chExt cx="1850" cy="955"/>
          </a:xfrm>
        </p:grpSpPr>
        <p:sp>
          <p:nvSpPr>
            <p:cNvPr id="35913" name="Arc 9"/>
            <p:cNvSpPr>
              <a:spLocks/>
            </p:cNvSpPr>
            <p:nvPr/>
          </p:nvSpPr>
          <p:spPr bwMode="auto">
            <a:xfrm flipH="1" flipV="1">
              <a:off x="828" y="1797"/>
              <a:ext cx="1461" cy="955"/>
            </a:xfrm>
            <a:custGeom>
              <a:avLst/>
              <a:gdLst>
                <a:gd name="T0" fmla="*/ 0 w 34271"/>
                <a:gd name="T1" fmla="*/ 0 h 21600"/>
                <a:gd name="T2" fmla="*/ 0 w 34271"/>
                <a:gd name="T3" fmla="*/ 0 h 21600"/>
                <a:gd name="T4" fmla="*/ 0 w 34271"/>
                <a:gd name="T5" fmla="*/ 0 h 21600"/>
                <a:gd name="T6" fmla="*/ 0 60000 65536"/>
                <a:gd name="T7" fmla="*/ 0 60000 65536"/>
                <a:gd name="T8" fmla="*/ 0 60000 65536"/>
                <a:gd name="T9" fmla="*/ 0 w 34271"/>
                <a:gd name="T10" fmla="*/ 0 h 21600"/>
                <a:gd name="T11" fmla="*/ 34271 w 34271"/>
                <a:gd name="T12" fmla="*/ 21600 h 21600"/>
              </a:gdLst>
              <a:ahLst/>
              <a:cxnLst>
                <a:cxn ang="T6">
                  <a:pos x="T0" y="T1"/>
                </a:cxn>
                <a:cxn ang="T7">
                  <a:pos x="T2" y="T3"/>
                </a:cxn>
                <a:cxn ang="T8">
                  <a:pos x="T4" y="T5"/>
                </a:cxn>
              </a:cxnLst>
              <a:rect l="T9" t="T10" r="T11" b="T12"/>
              <a:pathLst>
                <a:path w="34271" h="21600" fill="none" extrusionOk="0">
                  <a:moveTo>
                    <a:pt x="0" y="9663"/>
                  </a:moveTo>
                  <a:cubicBezTo>
                    <a:pt x="4001" y="3628"/>
                    <a:pt x="10761" y="-1"/>
                    <a:pt x="18002" y="0"/>
                  </a:cubicBezTo>
                  <a:cubicBezTo>
                    <a:pt x="24237" y="0"/>
                    <a:pt x="30168" y="2694"/>
                    <a:pt x="34270" y="7391"/>
                  </a:cubicBezTo>
                </a:path>
                <a:path w="34271" h="21600" stroke="0" extrusionOk="0">
                  <a:moveTo>
                    <a:pt x="0" y="9663"/>
                  </a:moveTo>
                  <a:cubicBezTo>
                    <a:pt x="4001" y="3628"/>
                    <a:pt x="10761" y="-1"/>
                    <a:pt x="18002" y="0"/>
                  </a:cubicBezTo>
                  <a:cubicBezTo>
                    <a:pt x="24237" y="0"/>
                    <a:pt x="30168" y="2694"/>
                    <a:pt x="34270" y="7391"/>
                  </a:cubicBezTo>
                  <a:lnTo>
                    <a:pt x="18002"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35914" name="Text Box 10"/>
            <p:cNvSpPr txBox="1">
              <a:spLocks noChangeArrowheads="1"/>
            </p:cNvSpPr>
            <p:nvPr/>
          </p:nvSpPr>
          <p:spPr bwMode="auto">
            <a:xfrm>
              <a:off x="2213" y="2101"/>
              <a:ext cx="465"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ATC</a:t>
              </a:r>
            </a:p>
          </p:txBody>
        </p:sp>
      </p:grpSp>
      <p:grpSp>
        <p:nvGrpSpPr>
          <p:cNvPr id="9" name="Group 62"/>
          <p:cNvGrpSpPr>
            <a:grpSpLocks/>
          </p:cNvGrpSpPr>
          <p:nvPr/>
        </p:nvGrpSpPr>
        <p:grpSpPr bwMode="auto">
          <a:xfrm>
            <a:off x="222250" y="4232275"/>
            <a:ext cx="3556000" cy="457200"/>
            <a:chOff x="140" y="2666"/>
            <a:chExt cx="2240" cy="288"/>
          </a:xfrm>
        </p:grpSpPr>
        <p:sp>
          <p:nvSpPr>
            <p:cNvPr id="35911" name="Line 3"/>
            <p:cNvSpPr>
              <a:spLocks noChangeShapeType="1"/>
            </p:cNvSpPr>
            <p:nvPr/>
          </p:nvSpPr>
          <p:spPr bwMode="auto">
            <a:xfrm>
              <a:off x="552" y="2817"/>
              <a:ext cx="1828" cy="0"/>
            </a:xfrm>
            <a:prstGeom prst="line">
              <a:avLst/>
            </a:prstGeom>
            <a:noFill/>
            <a:ln w="28575">
              <a:solidFill>
                <a:srgbClr val="006600"/>
              </a:solidFill>
              <a:round/>
              <a:headEnd/>
              <a:tailEnd/>
            </a:ln>
          </p:spPr>
          <p:txBody>
            <a:bodyPr/>
            <a:lstStyle/>
            <a:p>
              <a:endParaRPr lang="en-US">
                <a:latin typeface="Arial"/>
                <a:cs typeface="Arial"/>
              </a:endParaRPr>
            </a:p>
          </p:txBody>
        </p:sp>
        <p:sp>
          <p:nvSpPr>
            <p:cNvPr id="35912" name="Text Box 11"/>
            <p:cNvSpPr txBox="1">
              <a:spLocks noChangeArrowheads="1"/>
            </p:cNvSpPr>
            <p:nvPr/>
          </p:nvSpPr>
          <p:spPr bwMode="auto">
            <a:xfrm>
              <a:off x="140" y="2666"/>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grpSp>
        <p:nvGrpSpPr>
          <p:cNvPr id="10" name="Group 14"/>
          <p:cNvGrpSpPr>
            <a:grpSpLocks/>
          </p:cNvGrpSpPr>
          <p:nvPr/>
        </p:nvGrpSpPr>
        <p:grpSpPr bwMode="auto">
          <a:xfrm>
            <a:off x="4572000" y="2205038"/>
            <a:ext cx="4208463" cy="4051300"/>
            <a:chOff x="2880" y="1389"/>
            <a:chExt cx="2651" cy="2552"/>
          </a:xfrm>
        </p:grpSpPr>
        <p:sp>
          <p:nvSpPr>
            <p:cNvPr id="35902" name="Text Box 15"/>
            <p:cNvSpPr txBox="1">
              <a:spLocks noChangeArrowheads="1"/>
            </p:cNvSpPr>
            <p:nvPr/>
          </p:nvSpPr>
          <p:spPr bwMode="auto">
            <a:xfrm>
              <a:off x="3609" y="1389"/>
              <a:ext cx="991" cy="288"/>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Market</a:t>
              </a:r>
            </a:p>
          </p:txBody>
        </p:sp>
        <p:grpSp>
          <p:nvGrpSpPr>
            <p:cNvPr id="11" name="Group 16"/>
            <p:cNvGrpSpPr>
              <a:grpSpLocks/>
            </p:cNvGrpSpPr>
            <p:nvPr/>
          </p:nvGrpSpPr>
          <p:grpSpPr bwMode="auto">
            <a:xfrm>
              <a:off x="2880" y="1470"/>
              <a:ext cx="2651" cy="2471"/>
              <a:chOff x="2880" y="1470"/>
              <a:chExt cx="2651" cy="2471"/>
            </a:xfrm>
          </p:grpSpPr>
          <p:grpSp>
            <p:nvGrpSpPr>
              <p:cNvPr id="12" name="Group 17"/>
              <p:cNvGrpSpPr>
                <a:grpSpLocks/>
              </p:cNvGrpSpPr>
              <p:nvPr/>
            </p:nvGrpSpPr>
            <p:grpSpPr bwMode="auto">
              <a:xfrm>
                <a:off x="2880" y="1470"/>
                <a:ext cx="2361" cy="2309"/>
                <a:chOff x="2880" y="1470"/>
                <a:chExt cx="2361" cy="2309"/>
              </a:xfrm>
            </p:grpSpPr>
            <p:grpSp>
              <p:nvGrpSpPr>
                <p:cNvPr id="13" name="Group 18"/>
                <p:cNvGrpSpPr>
                  <a:grpSpLocks/>
                </p:cNvGrpSpPr>
                <p:nvPr/>
              </p:nvGrpSpPr>
              <p:grpSpPr bwMode="auto">
                <a:xfrm>
                  <a:off x="3049" y="1717"/>
                  <a:ext cx="1864" cy="1896"/>
                  <a:chOff x="3049" y="1681"/>
                  <a:chExt cx="1864" cy="1932"/>
                </a:xfrm>
              </p:grpSpPr>
              <p:sp>
                <p:nvSpPr>
                  <p:cNvPr id="35909" name="Line 19"/>
                  <p:cNvSpPr>
                    <a:spLocks noChangeShapeType="1"/>
                  </p:cNvSpPr>
                  <p:nvPr/>
                </p:nvSpPr>
                <p:spPr bwMode="auto">
                  <a:xfrm>
                    <a:off x="3049" y="1681"/>
                    <a:ext cx="0" cy="1931"/>
                  </a:xfrm>
                  <a:prstGeom prst="line">
                    <a:avLst/>
                  </a:prstGeom>
                  <a:noFill/>
                  <a:ln w="9525">
                    <a:solidFill>
                      <a:schemeClr val="tx1"/>
                    </a:solidFill>
                    <a:round/>
                    <a:headEnd/>
                    <a:tailEnd/>
                  </a:ln>
                </p:spPr>
                <p:txBody>
                  <a:bodyPr/>
                  <a:lstStyle/>
                  <a:p>
                    <a:endParaRPr lang="en-US">
                      <a:latin typeface="Arial"/>
                      <a:cs typeface="Arial"/>
                    </a:endParaRPr>
                  </a:p>
                </p:txBody>
              </p:sp>
              <p:sp>
                <p:nvSpPr>
                  <p:cNvPr id="35910" name="Line 20"/>
                  <p:cNvSpPr>
                    <a:spLocks noChangeShapeType="1"/>
                  </p:cNvSpPr>
                  <p:nvPr/>
                </p:nvSpPr>
                <p:spPr bwMode="auto">
                  <a:xfrm>
                    <a:off x="3049" y="3613"/>
                    <a:ext cx="1864"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5907" name="Text Box 21"/>
                <p:cNvSpPr txBox="1">
                  <a:spLocks noChangeArrowheads="1"/>
                </p:cNvSpPr>
                <p:nvPr/>
              </p:nvSpPr>
              <p:spPr bwMode="auto">
                <a:xfrm>
                  <a:off x="4886" y="3481"/>
                  <a:ext cx="355"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5908" name="Text Box 22"/>
                <p:cNvSpPr txBox="1">
                  <a:spLocks noChangeArrowheads="1"/>
                </p:cNvSpPr>
                <p:nvPr/>
              </p:nvSpPr>
              <p:spPr bwMode="auto">
                <a:xfrm>
                  <a:off x="2880" y="1470"/>
                  <a:ext cx="298"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grpSp>
          <p:sp>
            <p:nvSpPr>
              <p:cNvPr id="35905" name="Text Box 23"/>
              <p:cNvSpPr txBox="1">
                <a:spLocks noChangeArrowheads="1"/>
              </p:cNvSpPr>
              <p:nvPr/>
            </p:nvSpPr>
            <p:spPr bwMode="auto">
              <a:xfrm>
                <a:off x="4687" y="3653"/>
                <a:ext cx="844"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(market)</a:t>
                </a:r>
              </a:p>
            </p:txBody>
          </p:sp>
        </p:grpSp>
      </p:grpSp>
      <p:sp>
        <p:nvSpPr>
          <p:cNvPr id="35854" name="Text Box 24"/>
          <p:cNvSpPr txBox="1">
            <a:spLocks noChangeArrowheads="1"/>
          </p:cNvSpPr>
          <p:nvPr/>
        </p:nvSpPr>
        <p:spPr bwMode="auto">
          <a:xfrm>
            <a:off x="1554163" y="2208213"/>
            <a:ext cx="1573212" cy="457200"/>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One firm</a:t>
            </a:r>
          </a:p>
        </p:txBody>
      </p:sp>
      <p:grpSp>
        <p:nvGrpSpPr>
          <p:cNvPr id="14" name="Group 25"/>
          <p:cNvGrpSpPr>
            <a:grpSpLocks/>
          </p:cNvGrpSpPr>
          <p:nvPr/>
        </p:nvGrpSpPr>
        <p:grpSpPr bwMode="auto">
          <a:xfrm>
            <a:off x="625475" y="2336800"/>
            <a:ext cx="3789363" cy="3925888"/>
            <a:chOff x="394" y="1472"/>
            <a:chExt cx="2387" cy="2473"/>
          </a:xfrm>
        </p:grpSpPr>
        <p:grpSp>
          <p:nvGrpSpPr>
            <p:cNvPr id="15" name="Group 26"/>
            <p:cNvGrpSpPr>
              <a:grpSpLocks/>
            </p:cNvGrpSpPr>
            <p:nvPr/>
          </p:nvGrpSpPr>
          <p:grpSpPr bwMode="auto">
            <a:xfrm>
              <a:off x="394" y="1472"/>
              <a:ext cx="2247" cy="2303"/>
              <a:chOff x="394" y="1472"/>
              <a:chExt cx="2247" cy="2303"/>
            </a:xfrm>
          </p:grpSpPr>
          <p:grpSp>
            <p:nvGrpSpPr>
              <p:cNvPr id="16" name="Group 27"/>
              <p:cNvGrpSpPr>
                <a:grpSpLocks/>
              </p:cNvGrpSpPr>
              <p:nvPr/>
            </p:nvGrpSpPr>
            <p:grpSpPr bwMode="auto">
              <a:xfrm>
                <a:off x="555" y="1719"/>
                <a:ext cx="1774" cy="1890"/>
                <a:chOff x="1489" y="785"/>
                <a:chExt cx="3650" cy="2492"/>
              </a:xfrm>
            </p:grpSpPr>
            <p:sp>
              <p:nvSpPr>
                <p:cNvPr id="35900" name="Line 28"/>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35901" name="Line 29"/>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5898" name="Text Box 30"/>
              <p:cNvSpPr txBox="1">
                <a:spLocks noChangeArrowheads="1"/>
              </p:cNvSpPr>
              <p:nvPr/>
            </p:nvSpPr>
            <p:spPr bwMode="auto">
              <a:xfrm>
                <a:off x="2303" y="3477"/>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5899" name="Text Box 31"/>
              <p:cNvSpPr txBox="1">
                <a:spLocks noChangeArrowheads="1"/>
              </p:cNvSpPr>
              <p:nvPr/>
            </p:nvSpPr>
            <p:spPr bwMode="auto">
              <a:xfrm>
                <a:off x="394" y="1472"/>
                <a:ext cx="284"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grpSp>
        <p:sp>
          <p:nvSpPr>
            <p:cNvPr id="35896" name="Text Box 32"/>
            <p:cNvSpPr txBox="1">
              <a:spLocks noChangeArrowheads="1"/>
            </p:cNvSpPr>
            <p:nvPr/>
          </p:nvSpPr>
          <p:spPr bwMode="auto">
            <a:xfrm>
              <a:off x="2171" y="3657"/>
              <a:ext cx="610"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(firm)</a:t>
              </a:r>
            </a:p>
          </p:txBody>
        </p:sp>
      </p:grpSp>
      <p:grpSp>
        <p:nvGrpSpPr>
          <p:cNvPr id="17" name="Group 68"/>
          <p:cNvGrpSpPr>
            <a:grpSpLocks/>
          </p:cNvGrpSpPr>
          <p:nvPr/>
        </p:nvGrpSpPr>
        <p:grpSpPr bwMode="auto">
          <a:xfrm>
            <a:off x="4340225" y="3816355"/>
            <a:ext cx="1879600" cy="369888"/>
            <a:chOff x="2734" y="2404"/>
            <a:chExt cx="1184" cy="233"/>
          </a:xfrm>
        </p:grpSpPr>
        <p:sp>
          <p:nvSpPr>
            <p:cNvPr id="35893" name="Text Box 39"/>
            <p:cNvSpPr txBox="1">
              <a:spLocks noChangeArrowheads="1"/>
            </p:cNvSpPr>
            <p:nvPr/>
          </p:nvSpPr>
          <p:spPr bwMode="auto">
            <a:xfrm>
              <a:off x="2734" y="2404"/>
              <a:ext cx="260"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2</a:t>
              </a:r>
            </a:p>
          </p:txBody>
        </p:sp>
        <p:sp>
          <p:nvSpPr>
            <p:cNvPr id="35894" name="Line 41"/>
            <p:cNvSpPr>
              <a:spLocks noChangeShapeType="1"/>
            </p:cNvSpPr>
            <p:nvPr/>
          </p:nvSpPr>
          <p:spPr bwMode="auto">
            <a:xfrm>
              <a:off x="3048" y="2523"/>
              <a:ext cx="870" cy="0"/>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18" name="Group 77"/>
          <p:cNvGrpSpPr>
            <a:grpSpLocks/>
          </p:cNvGrpSpPr>
          <p:nvPr/>
        </p:nvGrpSpPr>
        <p:grpSpPr bwMode="auto">
          <a:xfrm>
            <a:off x="222250" y="3775075"/>
            <a:ext cx="3556000" cy="457200"/>
            <a:chOff x="140" y="2378"/>
            <a:chExt cx="2240" cy="288"/>
          </a:xfrm>
        </p:grpSpPr>
        <p:sp>
          <p:nvSpPr>
            <p:cNvPr id="35891" name="Line 47"/>
            <p:cNvSpPr>
              <a:spLocks noChangeShapeType="1"/>
            </p:cNvSpPr>
            <p:nvPr/>
          </p:nvSpPr>
          <p:spPr bwMode="auto">
            <a:xfrm>
              <a:off x="552" y="2529"/>
              <a:ext cx="1828" cy="0"/>
            </a:xfrm>
            <a:prstGeom prst="line">
              <a:avLst/>
            </a:prstGeom>
            <a:noFill/>
            <a:ln w="28575">
              <a:solidFill>
                <a:srgbClr val="CC0000"/>
              </a:solidFill>
              <a:round/>
              <a:headEnd/>
              <a:tailEnd/>
            </a:ln>
          </p:spPr>
          <p:txBody>
            <a:bodyPr/>
            <a:lstStyle/>
            <a:p>
              <a:endParaRPr lang="en-US">
                <a:latin typeface="Arial"/>
                <a:cs typeface="Arial"/>
              </a:endParaRPr>
            </a:p>
          </p:txBody>
        </p:sp>
        <p:sp>
          <p:nvSpPr>
            <p:cNvPr id="35892" name="Text Box 48"/>
            <p:cNvSpPr txBox="1">
              <a:spLocks noChangeArrowheads="1"/>
            </p:cNvSpPr>
            <p:nvPr/>
          </p:nvSpPr>
          <p:spPr bwMode="auto">
            <a:xfrm>
              <a:off x="140" y="2378"/>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grpSp>
      <p:sp>
        <p:nvSpPr>
          <p:cNvPr id="138289" name="Oval 49"/>
          <p:cNvSpPr>
            <a:spLocks noChangeAspect="1" noChangeArrowheads="1"/>
          </p:cNvSpPr>
          <p:nvPr/>
        </p:nvSpPr>
        <p:spPr bwMode="auto">
          <a:xfrm>
            <a:off x="2474913" y="3954463"/>
            <a:ext cx="115887" cy="11430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38290" name="Oval 50"/>
          <p:cNvSpPr>
            <a:spLocks noChangeAspect="1" noChangeArrowheads="1"/>
          </p:cNvSpPr>
          <p:nvPr/>
        </p:nvSpPr>
        <p:spPr bwMode="auto">
          <a:xfrm>
            <a:off x="2111375" y="4410075"/>
            <a:ext cx="115888" cy="11430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19" name="Group 76"/>
          <p:cNvGrpSpPr>
            <a:grpSpLocks/>
          </p:cNvGrpSpPr>
          <p:nvPr/>
        </p:nvGrpSpPr>
        <p:grpSpPr bwMode="auto">
          <a:xfrm>
            <a:off x="5576888" y="4416426"/>
            <a:ext cx="438150" cy="1692276"/>
            <a:chOff x="3513" y="2782"/>
            <a:chExt cx="276" cy="1066"/>
          </a:xfrm>
        </p:grpSpPr>
        <p:sp>
          <p:nvSpPr>
            <p:cNvPr id="35888" name="Text Box 40"/>
            <p:cNvSpPr txBox="1">
              <a:spLocks noChangeArrowheads="1"/>
            </p:cNvSpPr>
            <p:nvPr/>
          </p:nvSpPr>
          <p:spPr bwMode="auto">
            <a:xfrm>
              <a:off x="3513" y="3615"/>
              <a:ext cx="276"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35889" name="Line 42"/>
            <p:cNvSpPr>
              <a:spLocks noChangeShapeType="1"/>
            </p:cNvSpPr>
            <p:nvPr/>
          </p:nvSpPr>
          <p:spPr bwMode="auto">
            <a:xfrm>
              <a:off x="3652" y="2833"/>
              <a:ext cx="0" cy="77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5890" name="Oval 51"/>
            <p:cNvSpPr>
              <a:spLocks noChangeAspect="1" noChangeArrowheads="1"/>
            </p:cNvSpPr>
            <p:nvPr/>
          </p:nvSpPr>
          <p:spPr bwMode="auto">
            <a:xfrm>
              <a:off x="3612" y="2782"/>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0" name="Group 75"/>
          <p:cNvGrpSpPr>
            <a:grpSpLocks/>
          </p:cNvGrpSpPr>
          <p:nvPr/>
        </p:nvGrpSpPr>
        <p:grpSpPr bwMode="auto">
          <a:xfrm>
            <a:off x="6029325" y="3944939"/>
            <a:ext cx="461963" cy="2163763"/>
            <a:chOff x="3798" y="2485"/>
            <a:chExt cx="291" cy="1363"/>
          </a:xfrm>
        </p:grpSpPr>
        <p:sp>
          <p:nvSpPr>
            <p:cNvPr id="35885" name="Line 44"/>
            <p:cNvSpPr>
              <a:spLocks noChangeShapeType="1"/>
            </p:cNvSpPr>
            <p:nvPr/>
          </p:nvSpPr>
          <p:spPr bwMode="auto">
            <a:xfrm>
              <a:off x="3919" y="2542"/>
              <a:ext cx="0" cy="1069"/>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5886" name="Text Box 45"/>
            <p:cNvSpPr txBox="1">
              <a:spLocks noChangeArrowheads="1"/>
            </p:cNvSpPr>
            <p:nvPr/>
          </p:nvSpPr>
          <p:spPr bwMode="auto">
            <a:xfrm>
              <a:off x="3798" y="3615"/>
              <a:ext cx="291"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35887" name="Oval 52"/>
            <p:cNvSpPr>
              <a:spLocks noChangeAspect="1" noChangeArrowheads="1"/>
            </p:cNvSpPr>
            <p:nvPr/>
          </p:nvSpPr>
          <p:spPr bwMode="auto">
            <a:xfrm>
              <a:off x="3880" y="2485"/>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38294" name="Oval 54"/>
          <p:cNvSpPr>
            <a:spLocks noChangeAspect="1" noChangeArrowheads="1"/>
          </p:cNvSpPr>
          <p:nvPr/>
        </p:nvSpPr>
        <p:spPr bwMode="auto">
          <a:xfrm>
            <a:off x="2471738" y="4354513"/>
            <a:ext cx="115887" cy="11430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38303" name="Line 63"/>
          <p:cNvSpPr>
            <a:spLocks noChangeShapeType="1"/>
          </p:cNvSpPr>
          <p:nvPr/>
        </p:nvSpPr>
        <p:spPr bwMode="auto">
          <a:xfrm>
            <a:off x="6835775" y="4995863"/>
            <a:ext cx="812800" cy="0"/>
          </a:xfrm>
          <a:prstGeom prst="line">
            <a:avLst/>
          </a:prstGeom>
          <a:noFill/>
          <a:ln w="44450">
            <a:solidFill>
              <a:srgbClr val="A50021"/>
            </a:solidFill>
            <a:round/>
            <a:headEnd/>
            <a:tailEnd type="stealth" w="lg" len="lg"/>
          </a:ln>
        </p:spPr>
        <p:txBody>
          <a:bodyPr/>
          <a:lstStyle/>
          <a:p>
            <a:endParaRPr lang="en-US">
              <a:latin typeface="Arial"/>
              <a:cs typeface="Arial"/>
            </a:endParaRPr>
          </a:p>
        </p:txBody>
      </p:sp>
      <p:sp>
        <p:nvSpPr>
          <p:cNvPr id="138304" name="Line 64"/>
          <p:cNvSpPr>
            <a:spLocks noChangeShapeType="1"/>
          </p:cNvSpPr>
          <p:nvPr/>
        </p:nvSpPr>
        <p:spPr bwMode="auto">
          <a:xfrm>
            <a:off x="6573838" y="3721100"/>
            <a:ext cx="981075" cy="0"/>
          </a:xfrm>
          <a:prstGeom prst="line">
            <a:avLst/>
          </a:prstGeom>
          <a:noFill/>
          <a:ln w="44450">
            <a:solidFill>
              <a:srgbClr val="006699"/>
            </a:solidFill>
            <a:round/>
            <a:headEnd/>
            <a:tailEnd type="stealth" w="lg" len="lg"/>
          </a:ln>
        </p:spPr>
        <p:txBody>
          <a:bodyPr/>
          <a:lstStyle/>
          <a:p>
            <a:endParaRPr lang="en-US">
              <a:latin typeface="Arial"/>
              <a:cs typeface="Arial"/>
            </a:endParaRPr>
          </a:p>
        </p:txBody>
      </p:sp>
      <p:grpSp>
        <p:nvGrpSpPr>
          <p:cNvPr id="21" name="Group 65"/>
          <p:cNvGrpSpPr>
            <a:grpSpLocks/>
          </p:cNvGrpSpPr>
          <p:nvPr/>
        </p:nvGrpSpPr>
        <p:grpSpPr bwMode="auto">
          <a:xfrm>
            <a:off x="6069013" y="3190875"/>
            <a:ext cx="2235200" cy="2257425"/>
            <a:chOff x="3823" y="2010"/>
            <a:chExt cx="1408" cy="1422"/>
          </a:xfrm>
        </p:grpSpPr>
        <p:sp>
          <p:nvSpPr>
            <p:cNvPr id="35883" name="Line 37"/>
            <p:cNvSpPr>
              <a:spLocks noChangeShapeType="1"/>
            </p:cNvSpPr>
            <p:nvPr/>
          </p:nvSpPr>
          <p:spPr bwMode="auto">
            <a:xfrm flipV="1">
              <a:off x="3823" y="2222"/>
              <a:ext cx="1111" cy="1210"/>
            </a:xfrm>
            <a:prstGeom prst="line">
              <a:avLst/>
            </a:prstGeom>
            <a:noFill/>
            <a:ln w="38100">
              <a:solidFill>
                <a:srgbClr val="0000FF"/>
              </a:solidFill>
              <a:round/>
              <a:headEnd/>
              <a:tailEnd/>
            </a:ln>
          </p:spPr>
          <p:txBody>
            <a:bodyPr/>
            <a:lstStyle/>
            <a:p>
              <a:endParaRPr lang="en-US">
                <a:latin typeface="Arial"/>
                <a:cs typeface="Arial"/>
              </a:endParaRPr>
            </a:p>
          </p:txBody>
        </p:sp>
        <p:sp>
          <p:nvSpPr>
            <p:cNvPr id="35884" name="Text Box 38"/>
            <p:cNvSpPr txBox="1">
              <a:spLocks noChangeArrowheads="1"/>
            </p:cNvSpPr>
            <p:nvPr/>
          </p:nvSpPr>
          <p:spPr bwMode="auto">
            <a:xfrm>
              <a:off x="4929" y="2010"/>
              <a:ext cx="302" cy="233"/>
            </a:xfrm>
            <a:prstGeom prst="rect">
              <a:avLst/>
            </a:prstGeom>
            <a:noFill/>
            <a:ln w="9525">
              <a:noFill/>
              <a:miter lim="800000"/>
              <a:headEnd/>
              <a:tailEnd/>
            </a:ln>
          </p:spPr>
          <p:txBody>
            <a:bodyPr lIns="0" tIns="0" rIns="0" bIns="0">
              <a:spAutoFit/>
            </a:bodyPr>
            <a:lstStyle/>
            <a:p>
              <a:pPr>
                <a:spcBef>
                  <a:spcPct val="50000"/>
                </a:spcBef>
              </a:pPr>
              <a:r>
                <a:rPr lang="en-US" sz="2400" b="1" i="1">
                  <a:latin typeface="Arial"/>
                  <a:cs typeface="Arial"/>
                </a:rPr>
                <a:t>S</a:t>
              </a:r>
              <a:r>
                <a:rPr lang="en-US" sz="2400" b="1" baseline="-25000">
                  <a:latin typeface="Arial"/>
                  <a:cs typeface="Arial"/>
                </a:rPr>
                <a:t>2</a:t>
              </a:r>
            </a:p>
          </p:txBody>
        </p:sp>
      </p:grpSp>
      <p:grpSp>
        <p:nvGrpSpPr>
          <p:cNvPr id="22" name="Group 74"/>
          <p:cNvGrpSpPr>
            <a:grpSpLocks/>
          </p:cNvGrpSpPr>
          <p:nvPr/>
        </p:nvGrpSpPr>
        <p:grpSpPr bwMode="auto">
          <a:xfrm>
            <a:off x="6772275" y="4418014"/>
            <a:ext cx="457200" cy="1690688"/>
            <a:chOff x="4266" y="2783"/>
            <a:chExt cx="288" cy="1065"/>
          </a:xfrm>
        </p:grpSpPr>
        <p:sp>
          <p:nvSpPr>
            <p:cNvPr id="35880" name="Line 43"/>
            <p:cNvSpPr>
              <a:spLocks noChangeShapeType="1"/>
            </p:cNvSpPr>
            <p:nvPr/>
          </p:nvSpPr>
          <p:spPr bwMode="auto">
            <a:xfrm>
              <a:off x="4396" y="2836"/>
              <a:ext cx="0" cy="77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5881" name="Text Box 46"/>
            <p:cNvSpPr txBox="1">
              <a:spLocks noChangeArrowheads="1"/>
            </p:cNvSpPr>
            <p:nvPr/>
          </p:nvSpPr>
          <p:spPr bwMode="auto">
            <a:xfrm>
              <a:off x="4266" y="3615"/>
              <a:ext cx="28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3</a:t>
              </a:r>
            </a:p>
          </p:txBody>
        </p:sp>
        <p:sp>
          <p:nvSpPr>
            <p:cNvPr id="35882" name="Oval 53"/>
            <p:cNvSpPr>
              <a:spLocks noChangeAspect="1" noChangeArrowheads="1"/>
            </p:cNvSpPr>
            <p:nvPr/>
          </p:nvSpPr>
          <p:spPr bwMode="auto">
            <a:xfrm>
              <a:off x="4355" y="2783"/>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38321" name="Text Box 81"/>
          <p:cNvSpPr txBox="1">
            <a:spLocks noChangeArrowheads="1"/>
          </p:cNvSpPr>
          <p:nvPr/>
        </p:nvSpPr>
        <p:spPr bwMode="auto">
          <a:xfrm>
            <a:off x="701675" y="1127125"/>
            <a:ext cx="2547938" cy="854075"/>
          </a:xfrm>
          <a:prstGeom prst="rect">
            <a:avLst/>
          </a:prstGeom>
          <a:solidFill>
            <a:srgbClr val="E3F0FA"/>
          </a:solidFill>
          <a:ln w="9525">
            <a:noFill/>
            <a:miter lim="800000"/>
            <a:headEnd/>
            <a:tailEnd/>
          </a:ln>
        </p:spPr>
        <p:txBody>
          <a:bodyPr>
            <a:spAutoFit/>
          </a:bodyPr>
          <a:lstStyle/>
          <a:p>
            <a:pPr>
              <a:spcBef>
                <a:spcPct val="50000"/>
              </a:spcBef>
            </a:pPr>
            <a:r>
              <a:rPr lang="en-US" sz="2500" dirty="0">
                <a:solidFill>
                  <a:srgbClr val="4E519E"/>
                </a:solidFill>
                <a:latin typeface="Arial"/>
                <a:cs typeface="Arial"/>
              </a:rPr>
              <a:t>A firm begins in long-run </a:t>
            </a:r>
            <a:r>
              <a:rPr lang="en-US" sz="2500" dirty="0" err="1">
                <a:solidFill>
                  <a:srgbClr val="4E519E"/>
                </a:solidFill>
                <a:latin typeface="Arial"/>
                <a:cs typeface="Arial"/>
              </a:rPr>
              <a:t>eq’m</a:t>
            </a:r>
            <a:r>
              <a:rPr lang="en-US" sz="2500" dirty="0">
                <a:solidFill>
                  <a:srgbClr val="4E519E"/>
                </a:solidFill>
                <a:latin typeface="Arial"/>
                <a:cs typeface="Arial"/>
              </a:rPr>
              <a:t>…</a:t>
            </a:r>
          </a:p>
        </p:txBody>
      </p:sp>
      <p:sp>
        <p:nvSpPr>
          <p:cNvPr id="138322" name="Text Box 82"/>
          <p:cNvSpPr txBox="1">
            <a:spLocks noChangeArrowheads="1"/>
          </p:cNvSpPr>
          <p:nvPr/>
        </p:nvSpPr>
        <p:spPr bwMode="auto">
          <a:xfrm>
            <a:off x="5153025" y="1127125"/>
            <a:ext cx="3417888" cy="854075"/>
          </a:xfrm>
          <a:prstGeom prst="rect">
            <a:avLst/>
          </a:prstGeom>
          <a:solidFill>
            <a:schemeClr val="bg1"/>
          </a:solidFill>
          <a:ln w="9525">
            <a:solidFill>
              <a:srgbClr val="AE1221"/>
            </a:solidFill>
            <a:miter lim="800000"/>
            <a:headEnd/>
            <a:tailEnd/>
          </a:ln>
        </p:spPr>
        <p:txBody>
          <a:bodyPr>
            <a:spAutoFit/>
          </a:bodyPr>
          <a:lstStyle/>
          <a:p>
            <a:pPr>
              <a:spcBef>
                <a:spcPct val="50000"/>
              </a:spcBef>
            </a:pPr>
            <a:r>
              <a:rPr lang="en-US" sz="2500" dirty="0">
                <a:solidFill>
                  <a:srgbClr val="4E519E"/>
                </a:solidFill>
                <a:latin typeface="Arial"/>
                <a:cs typeface="Arial"/>
              </a:rPr>
              <a:t>…but then an increase in demand raises </a:t>
            </a:r>
            <a:r>
              <a:rPr lang="en-US" sz="2500" b="1" i="1" dirty="0">
                <a:solidFill>
                  <a:srgbClr val="4E519E"/>
                </a:solidFill>
                <a:latin typeface="Arial"/>
                <a:cs typeface="Arial"/>
              </a:rPr>
              <a:t>P</a:t>
            </a:r>
            <a:r>
              <a:rPr lang="en-US" sz="2500" dirty="0">
                <a:solidFill>
                  <a:srgbClr val="4E519E"/>
                </a:solidFill>
                <a:latin typeface="Arial"/>
                <a:cs typeface="Arial"/>
              </a:rPr>
              <a:t>,…</a:t>
            </a:r>
            <a:endParaRPr lang="en-US" sz="2500" b="1" i="1" dirty="0">
              <a:solidFill>
                <a:srgbClr val="4E519E"/>
              </a:solidFill>
              <a:latin typeface="Arial"/>
              <a:cs typeface="Arial"/>
            </a:endParaRPr>
          </a:p>
        </p:txBody>
      </p:sp>
      <p:sp>
        <p:nvSpPr>
          <p:cNvPr id="138323" name="Text Box 83"/>
          <p:cNvSpPr txBox="1">
            <a:spLocks noChangeArrowheads="1"/>
          </p:cNvSpPr>
          <p:nvPr/>
        </p:nvSpPr>
        <p:spPr bwMode="auto">
          <a:xfrm>
            <a:off x="457200" y="1127125"/>
            <a:ext cx="2803525" cy="854075"/>
          </a:xfrm>
          <a:prstGeom prst="rect">
            <a:avLst/>
          </a:prstGeom>
          <a:solidFill>
            <a:srgbClr val="E3F0FA"/>
          </a:solidFill>
          <a:ln w="9525">
            <a:noFill/>
            <a:miter lim="800000"/>
            <a:headEnd/>
            <a:tailEnd/>
          </a:ln>
        </p:spPr>
        <p:txBody>
          <a:bodyPr>
            <a:spAutoFit/>
          </a:bodyPr>
          <a:lstStyle/>
          <a:p>
            <a:pPr>
              <a:spcBef>
                <a:spcPct val="50000"/>
              </a:spcBef>
            </a:pPr>
            <a:r>
              <a:rPr lang="en-US" sz="2500" dirty="0">
                <a:solidFill>
                  <a:srgbClr val="4E519E"/>
                </a:solidFill>
                <a:latin typeface="Arial"/>
                <a:cs typeface="Arial"/>
              </a:rPr>
              <a:t>…leading to SR profits for the firm.</a:t>
            </a:r>
            <a:endParaRPr lang="en-US" sz="2500" b="1" i="1" dirty="0">
              <a:solidFill>
                <a:srgbClr val="4E519E"/>
              </a:solidFill>
              <a:latin typeface="Arial"/>
              <a:cs typeface="Arial"/>
            </a:endParaRPr>
          </a:p>
        </p:txBody>
      </p:sp>
      <p:sp>
        <p:nvSpPr>
          <p:cNvPr id="138324" name="Text Box 84"/>
          <p:cNvSpPr txBox="1">
            <a:spLocks noChangeArrowheads="1"/>
          </p:cNvSpPr>
          <p:nvPr/>
        </p:nvSpPr>
        <p:spPr bwMode="auto">
          <a:xfrm>
            <a:off x="3794125" y="1127125"/>
            <a:ext cx="5121275" cy="854075"/>
          </a:xfrm>
          <a:prstGeom prst="rect">
            <a:avLst/>
          </a:prstGeom>
          <a:solidFill>
            <a:schemeClr val="bg1"/>
          </a:solidFill>
          <a:ln w="9525">
            <a:solidFill>
              <a:srgbClr val="AE1221"/>
            </a:solidFill>
            <a:miter lim="800000"/>
            <a:headEnd/>
            <a:tailEnd/>
          </a:ln>
        </p:spPr>
        <p:txBody>
          <a:bodyPr>
            <a:spAutoFit/>
          </a:bodyPr>
          <a:lstStyle/>
          <a:p>
            <a:pPr>
              <a:spcBef>
                <a:spcPct val="50000"/>
              </a:spcBef>
            </a:pPr>
            <a:r>
              <a:rPr lang="en-US" sz="2500" dirty="0">
                <a:solidFill>
                  <a:srgbClr val="4E519E"/>
                </a:solidFill>
                <a:latin typeface="Arial"/>
                <a:cs typeface="Arial"/>
              </a:rPr>
              <a:t>Over time, profits induce entry, </a:t>
            </a:r>
            <a:br>
              <a:rPr lang="en-US" sz="2500" dirty="0">
                <a:solidFill>
                  <a:srgbClr val="4E519E"/>
                </a:solidFill>
                <a:latin typeface="Arial"/>
                <a:cs typeface="Arial"/>
              </a:rPr>
            </a:br>
            <a:r>
              <a:rPr lang="en-US" sz="2500" dirty="0">
                <a:solidFill>
                  <a:srgbClr val="4E519E"/>
                </a:solidFill>
                <a:latin typeface="Arial"/>
                <a:cs typeface="Arial"/>
              </a:rPr>
              <a:t>shifting </a:t>
            </a:r>
            <a:r>
              <a:rPr lang="en-US" sz="2500" b="1" i="1" dirty="0">
                <a:solidFill>
                  <a:srgbClr val="4E519E"/>
                </a:solidFill>
                <a:latin typeface="Arial"/>
                <a:cs typeface="Arial"/>
              </a:rPr>
              <a:t>S</a:t>
            </a:r>
            <a:r>
              <a:rPr lang="en-US" sz="2500" dirty="0">
                <a:solidFill>
                  <a:srgbClr val="4E519E"/>
                </a:solidFill>
                <a:latin typeface="Arial"/>
                <a:cs typeface="Arial"/>
              </a:rPr>
              <a:t> to the right, reducing </a:t>
            </a:r>
            <a:r>
              <a:rPr lang="en-US" sz="2500" b="1" i="1" dirty="0">
                <a:solidFill>
                  <a:srgbClr val="4E519E"/>
                </a:solidFill>
                <a:latin typeface="Arial"/>
                <a:cs typeface="Arial"/>
              </a:rPr>
              <a:t>P</a:t>
            </a:r>
            <a:r>
              <a:rPr lang="en-US" sz="2500" dirty="0">
                <a:solidFill>
                  <a:srgbClr val="4E519E"/>
                </a:solidFill>
                <a:latin typeface="Arial"/>
                <a:cs typeface="Arial"/>
              </a:rPr>
              <a:t>…</a:t>
            </a:r>
            <a:endParaRPr lang="en-US" sz="2500" b="1" i="1" dirty="0">
              <a:solidFill>
                <a:srgbClr val="4E519E"/>
              </a:solidFill>
              <a:latin typeface="Arial"/>
              <a:cs typeface="Arial"/>
            </a:endParaRPr>
          </a:p>
        </p:txBody>
      </p:sp>
      <p:sp>
        <p:nvSpPr>
          <p:cNvPr id="138325" name="Text Box 85"/>
          <p:cNvSpPr txBox="1">
            <a:spLocks noChangeArrowheads="1"/>
          </p:cNvSpPr>
          <p:nvPr/>
        </p:nvSpPr>
        <p:spPr bwMode="auto">
          <a:xfrm>
            <a:off x="2268538" y="1127125"/>
            <a:ext cx="4179887" cy="854075"/>
          </a:xfrm>
          <a:prstGeom prst="rect">
            <a:avLst/>
          </a:prstGeom>
          <a:solidFill>
            <a:srgbClr val="E3F0FA"/>
          </a:solidFill>
          <a:ln w="9525">
            <a:noFill/>
            <a:miter lim="800000"/>
            <a:headEnd/>
            <a:tailEnd/>
          </a:ln>
        </p:spPr>
        <p:txBody>
          <a:bodyPr>
            <a:spAutoFit/>
          </a:bodyPr>
          <a:lstStyle/>
          <a:p>
            <a:pPr>
              <a:spcBef>
                <a:spcPct val="50000"/>
              </a:spcBef>
            </a:pPr>
            <a:r>
              <a:rPr lang="en-US" sz="2500" dirty="0">
                <a:solidFill>
                  <a:srgbClr val="4E519E"/>
                </a:solidFill>
                <a:latin typeface="Arial"/>
                <a:cs typeface="Arial"/>
              </a:rPr>
              <a:t>…driving profits to zero </a:t>
            </a:r>
            <a:br>
              <a:rPr lang="en-US" sz="2500" dirty="0">
                <a:solidFill>
                  <a:srgbClr val="4E519E"/>
                </a:solidFill>
                <a:latin typeface="Arial"/>
                <a:cs typeface="Arial"/>
              </a:rPr>
            </a:br>
            <a:r>
              <a:rPr lang="en-US" sz="2500" dirty="0">
                <a:solidFill>
                  <a:srgbClr val="4E519E"/>
                </a:solidFill>
                <a:latin typeface="Arial"/>
                <a:cs typeface="Arial"/>
              </a:rPr>
              <a:t>and restoring long-run </a:t>
            </a:r>
            <a:r>
              <a:rPr lang="en-US" sz="2500" dirty="0" err="1">
                <a:solidFill>
                  <a:srgbClr val="4E519E"/>
                </a:solidFill>
                <a:latin typeface="Arial"/>
                <a:cs typeface="Arial"/>
              </a:rPr>
              <a:t>eq’m</a:t>
            </a:r>
            <a:r>
              <a:rPr lang="en-US" sz="2500" dirty="0">
                <a:solidFill>
                  <a:srgbClr val="4E519E"/>
                </a:solidFill>
                <a:latin typeface="Arial"/>
                <a:cs typeface="Arial"/>
              </a:rPr>
              <a:t>.</a:t>
            </a:r>
            <a:endParaRPr lang="en-US" sz="2500" b="1" i="1" dirty="0">
              <a:solidFill>
                <a:srgbClr val="4E519E"/>
              </a:solidFill>
              <a:latin typeface="Arial"/>
              <a:cs typeface="Arial"/>
            </a:endParaRPr>
          </a:p>
        </p:txBody>
      </p:sp>
      <p:sp>
        <p:nvSpPr>
          <p:cNvPr id="138326" name="Line 86"/>
          <p:cNvSpPr>
            <a:spLocks noChangeShapeType="1"/>
          </p:cNvSpPr>
          <p:nvPr/>
        </p:nvSpPr>
        <p:spPr bwMode="auto">
          <a:xfrm flipV="1">
            <a:off x="4838700" y="4014788"/>
            <a:ext cx="0" cy="438150"/>
          </a:xfrm>
          <a:prstGeom prst="line">
            <a:avLst/>
          </a:prstGeom>
          <a:noFill/>
          <a:ln w="38100">
            <a:solidFill>
              <a:srgbClr val="A50021"/>
            </a:solidFill>
            <a:round/>
            <a:headEnd/>
            <a:tailEnd type="stealth" w="lg" len="lg"/>
          </a:ln>
        </p:spPr>
        <p:txBody>
          <a:bodyPr/>
          <a:lstStyle/>
          <a:p>
            <a:endParaRPr lang="en-US">
              <a:latin typeface="Arial"/>
              <a:cs typeface="Arial"/>
            </a:endParaRPr>
          </a:p>
        </p:txBody>
      </p:sp>
      <p:sp>
        <p:nvSpPr>
          <p:cNvPr id="138327" name="Line 87"/>
          <p:cNvSpPr>
            <a:spLocks noChangeShapeType="1"/>
          </p:cNvSpPr>
          <p:nvPr/>
        </p:nvSpPr>
        <p:spPr bwMode="auto">
          <a:xfrm rot="10800000" flipV="1">
            <a:off x="4841875" y="4024313"/>
            <a:ext cx="0" cy="438150"/>
          </a:xfrm>
          <a:prstGeom prst="line">
            <a:avLst/>
          </a:prstGeom>
          <a:noFill/>
          <a:ln w="38100">
            <a:solidFill>
              <a:srgbClr val="006699"/>
            </a:solidFill>
            <a:round/>
            <a:headEnd/>
            <a:tailEnd type="stealth" w="lg" len="lg"/>
          </a:ln>
        </p:spPr>
        <p:txBody>
          <a:bodyPr/>
          <a:lstStyle/>
          <a:p>
            <a:endParaRPr lang="en-US">
              <a:latin typeface="Arial"/>
              <a:cs typeface="Arial"/>
            </a:endParaRPr>
          </a:p>
        </p:txBody>
      </p:sp>
      <p:sp>
        <p:nvSpPr>
          <p:cNvPr id="138328" name="Line 88"/>
          <p:cNvSpPr>
            <a:spLocks noChangeShapeType="1"/>
          </p:cNvSpPr>
          <p:nvPr/>
        </p:nvSpPr>
        <p:spPr bwMode="auto">
          <a:xfrm flipV="1">
            <a:off x="881063" y="4021138"/>
            <a:ext cx="0" cy="438150"/>
          </a:xfrm>
          <a:prstGeom prst="line">
            <a:avLst/>
          </a:prstGeom>
          <a:noFill/>
          <a:ln w="38100">
            <a:solidFill>
              <a:srgbClr val="A50021"/>
            </a:solidFill>
            <a:round/>
            <a:headEnd/>
            <a:tailEnd type="stealth" w="lg" len="lg"/>
          </a:ln>
        </p:spPr>
        <p:txBody>
          <a:bodyPr/>
          <a:lstStyle/>
          <a:p>
            <a:endParaRPr lang="en-US">
              <a:latin typeface="Arial"/>
              <a:cs typeface="Arial"/>
            </a:endParaRPr>
          </a:p>
        </p:txBody>
      </p:sp>
      <p:sp>
        <p:nvSpPr>
          <p:cNvPr id="138329" name="Line 89"/>
          <p:cNvSpPr>
            <a:spLocks noChangeShapeType="1"/>
          </p:cNvSpPr>
          <p:nvPr/>
        </p:nvSpPr>
        <p:spPr bwMode="auto">
          <a:xfrm rot="10800000" flipV="1">
            <a:off x="879475" y="4025900"/>
            <a:ext cx="0" cy="438150"/>
          </a:xfrm>
          <a:prstGeom prst="line">
            <a:avLst/>
          </a:prstGeom>
          <a:noFill/>
          <a:ln w="38100">
            <a:solidFill>
              <a:srgbClr val="006699"/>
            </a:solidFill>
            <a:round/>
            <a:headEnd/>
            <a:tailEnd type="stealth" w="lg" len="lg"/>
          </a:ln>
        </p:spPr>
        <p:txBody>
          <a:bodyPr/>
          <a:lstStyle/>
          <a:p>
            <a:endParaRPr lang="en-US">
              <a:latin typeface="Arial"/>
              <a:cs typeface="Arial"/>
            </a:endParaRPr>
          </a:p>
        </p:txBody>
      </p:sp>
      <p:sp>
        <p:nvSpPr>
          <p:cNvPr id="35876" name="Text Box 90"/>
          <p:cNvSpPr txBox="1">
            <a:spLocks noChangeArrowheads="1"/>
          </p:cNvSpPr>
          <p:nvPr/>
        </p:nvSpPr>
        <p:spPr bwMode="auto">
          <a:xfrm>
            <a:off x="5634038" y="4025900"/>
            <a:ext cx="268287" cy="369332"/>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A</a:t>
            </a:r>
          </a:p>
        </p:txBody>
      </p:sp>
      <p:sp>
        <p:nvSpPr>
          <p:cNvPr id="138331" name="Text Box 91"/>
          <p:cNvSpPr txBox="1">
            <a:spLocks noChangeArrowheads="1"/>
          </p:cNvSpPr>
          <p:nvPr/>
        </p:nvSpPr>
        <p:spPr bwMode="auto">
          <a:xfrm>
            <a:off x="6070600" y="3576638"/>
            <a:ext cx="268288" cy="369332"/>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B</a:t>
            </a:r>
          </a:p>
        </p:txBody>
      </p:sp>
      <p:sp>
        <p:nvSpPr>
          <p:cNvPr id="138332" name="Text Box 92"/>
          <p:cNvSpPr txBox="1">
            <a:spLocks noChangeArrowheads="1"/>
          </p:cNvSpPr>
          <p:nvPr/>
        </p:nvSpPr>
        <p:spPr bwMode="auto">
          <a:xfrm>
            <a:off x="6813550" y="4038600"/>
            <a:ext cx="268288" cy="369332"/>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C</a:t>
            </a:r>
          </a:p>
        </p:txBody>
      </p:sp>
      <p:sp>
        <p:nvSpPr>
          <p:cNvPr id="35879"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23" name="Footer Placeholder 22">
            <a:extLst>
              <a:ext uri="{FF2B5EF4-FFF2-40B4-BE49-F238E27FC236}">
                <a16:creationId xmlns:a16="http://schemas.microsoft.com/office/drawing/2014/main" id="{E1CB9317-C7A9-5B71-D213-8BABDEAF186F}"/>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4961918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8322"/>
                                        </p:tgtEl>
                                        <p:attrNameLst>
                                          <p:attrName>style.visibility</p:attrName>
                                        </p:attrNameLst>
                                      </p:cBhvr>
                                      <p:to>
                                        <p:strVal val="visible"/>
                                      </p:to>
                                    </p:set>
                                    <p:animEffect transition="in" filter="fade">
                                      <p:cBhvr>
                                        <p:cTn id="7" dur="500"/>
                                        <p:tgtEl>
                                          <p:spTgt spid="138322"/>
                                        </p:tgtEl>
                                      </p:cBhvr>
                                    </p:animEffect>
                                  </p:childTnLst>
                                </p:cTn>
                              </p:par>
                              <p:par>
                                <p:cTn id="8" presetID="10" presetClass="exit" presetSubtype="0" fill="hold" grpId="0" nodeType="withEffect">
                                  <p:stCondLst>
                                    <p:cond delay="0"/>
                                  </p:stCondLst>
                                  <p:childTnLst>
                                    <p:animEffect transition="out" filter="fade">
                                      <p:cBhvr>
                                        <p:cTn id="9" dur="500"/>
                                        <p:tgtEl>
                                          <p:spTgt spid="138321"/>
                                        </p:tgtEl>
                                      </p:cBhvr>
                                    </p:animEffect>
                                    <p:set>
                                      <p:cBhvr>
                                        <p:cTn id="10" dur="1" fill="hold">
                                          <p:stCondLst>
                                            <p:cond delay="499"/>
                                          </p:stCondLst>
                                        </p:cTn>
                                        <p:tgtEl>
                                          <p:spTgt spid="138321"/>
                                        </p:tgtEl>
                                        <p:attrNameLst>
                                          <p:attrName>style.visibility</p:attrName>
                                        </p:attrNameLst>
                                      </p:cBhvr>
                                      <p:to>
                                        <p:strVal val="hidden"/>
                                      </p:to>
                                    </p:set>
                                  </p:childTnLst>
                                </p:cTn>
                              </p:par>
                            </p:childTnLst>
                          </p:cTn>
                        </p:par>
                        <p:par>
                          <p:cTn id="11" fill="hold">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138303"/>
                                        </p:tgtEl>
                                        <p:attrNameLst>
                                          <p:attrName>style.visibility</p:attrName>
                                        </p:attrNameLst>
                                      </p:cBhvr>
                                      <p:to>
                                        <p:strVal val="visible"/>
                                      </p:to>
                                    </p:set>
                                    <p:anim calcmode="lin" valueType="num">
                                      <p:cBhvr>
                                        <p:cTn id="14" dur="500" fill="hold"/>
                                        <p:tgtEl>
                                          <p:spTgt spid="138303"/>
                                        </p:tgtEl>
                                        <p:attrNameLst>
                                          <p:attrName>ppt_x</p:attrName>
                                        </p:attrNameLst>
                                      </p:cBhvr>
                                      <p:tavLst>
                                        <p:tav tm="0">
                                          <p:val>
                                            <p:strVal val="#ppt_x-#ppt_w/2"/>
                                          </p:val>
                                        </p:tav>
                                        <p:tav tm="100000">
                                          <p:val>
                                            <p:strVal val="#ppt_x"/>
                                          </p:val>
                                        </p:tav>
                                      </p:tavLst>
                                    </p:anim>
                                    <p:anim calcmode="lin" valueType="num">
                                      <p:cBhvr>
                                        <p:cTn id="15" dur="500" fill="hold"/>
                                        <p:tgtEl>
                                          <p:spTgt spid="138303"/>
                                        </p:tgtEl>
                                        <p:attrNameLst>
                                          <p:attrName>ppt_y</p:attrName>
                                        </p:attrNameLst>
                                      </p:cBhvr>
                                      <p:tavLst>
                                        <p:tav tm="0">
                                          <p:val>
                                            <p:strVal val="#ppt_y"/>
                                          </p:val>
                                        </p:tav>
                                        <p:tav tm="100000">
                                          <p:val>
                                            <p:strVal val="#ppt_y"/>
                                          </p:val>
                                        </p:tav>
                                      </p:tavLst>
                                    </p:anim>
                                    <p:anim calcmode="lin" valueType="num">
                                      <p:cBhvr>
                                        <p:cTn id="16" dur="500" fill="hold"/>
                                        <p:tgtEl>
                                          <p:spTgt spid="138303"/>
                                        </p:tgtEl>
                                        <p:attrNameLst>
                                          <p:attrName>ppt_w</p:attrName>
                                        </p:attrNameLst>
                                      </p:cBhvr>
                                      <p:tavLst>
                                        <p:tav tm="0">
                                          <p:val>
                                            <p:fltVal val="0"/>
                                          </p:val>
                                        </p:tav>
                                        <p:tav tm="100000">
                                          <p:val>
                                            <p:strVal val="#ppt_w"/>
                                          </p:val>
                                        </p:tav>
                                      </p:tavLst>
                                    </p:anim>
                                    <p:anim calcmode="lin" valueType="num">
                                      <p:cBhvr>
                                        <p:cTn id="17" dur="500" fill="hold"/>
                                        <p:tgtEl>
                                          <p:spTgt spid="138303"/>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18" presetClass="entr" presetSubtype="6"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strips(downRigh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4" fill="hold" grpId="0" nodeType="clickEffect">
                                  <p:stCondLst>
                                    <p:cond delay="0"/>
                                  </p:stCondLst>
                                  <p:childTnLst>
                                    <p:set>
                                      <p:cBhvr>
                                        <p:cTn id="25" dur="1" fill="hold">
                                          <p:stCondLst>
                                            <p:cond delay="0"/>
                                          </p:stCondLst>
                                        </p:cTn>
                                        <p:tgtEl>
                                          <p:spTgt spid="138326"/>
                                        </p:tgtEl>
                                        <p:attrNameLst>
                                          <p:attrName>style.visibility</p:attrName>
                                        </p:attrNameLst>
                                      </p:cBhvr>
                                      <p:to>
                                        <p:strVal val="visible"/>
                                      </p:to>
                                    </p:set>
                                    <p:anim calcmode="lin" valueType="num">
                                      <p:cBhvr>
                                        <p:cTn id="26" dur="500" fill="hold"/>
                                        <p:tgtEl>
                                          <p:spTgt spid="138326"/>
                                        </p:tgtEl>
                                        <p:attrNameLst>
                                          <p:attrName>ppt_x</p:attrName>
                                        </p:attrNameLst>
                                      </p:cBhvr>
                                      <p:tavLst>
                                        <p:tav tm="0">
                                          <p:val>
                                            <p:strVal val="#ppt_x"/>
                                          </p:val>
                                        </p:tav>
                                        <p:tav tm="100000">
                                          <p:val>
                                            <p:strVal val="#ppt_x"/>
                                          </p:val>
                                        </p:tav>
                                      </p:tavLst>
                                    </p:anim>
                                    <p:anim calcmode="lin" valueType="num">
                                      <p:cBhvr>
                                        <p:cTn id="27" dur="500" fill="hold"/>
                                        <p:tgtEl>
                                          <p:spTgt spid="138326"/>
                                        </p:tgtEl>
                                        <p:attrNameLst>
                                          <p:attrName>ppt_y</p:attrName>
                                        </p:attrNameLst>
                                      </p:cBhvr>
                                      <p:tavLst>
                                        <p:tav tm="0">
                                          <p:val>
                                            <p:strVal val="#ppt_y+#ppt_h/2"/>
                                          </p:val>
                                        </p:tav>
                                        <p:tav tm="100000">
                                          <p:val>
                                            <p:strVal val="#ppt_y"/>
                                          </p:val>
                                        </p:tav>
                                      </p:tavLst>
                                    </p:anim>
                                    <p:anim calcmode="lin" valueType="num">
                                      <p:cBhvr>
                                        <p:cTn id="28" dur="500" fill="hold"/>
                                        <p:tgtEl>
                                          <p:spTgt spid="138326"/>
                                        </p:tgtEl>
                                        <p:attrNameLst>
                                          <p:attrName>ppt_w</p:attrName>
                                        </p:attrNameLst>
                                      </p:cBhvr>
                                      <p:tavLst>
                                        <p:tav tm="0">
                                          <p:val>
                                            <p:strVal val="#ppt_w"/>
                                          </p:val>
                                        </p:tav>
                                        <p:tav tm="100000">
                                          <p:val>
                                            <p:strVal val="#ppt_w"/>
                                          </p:val>
                                        </p:tav>
                                      </p:tavLst>
                                    </p:anim>
                                    <p:anim calcmode="lin" valueType="num">
                                      <p:cBhvr>
                                        <p:cTn id="29" dur="500" fill="hold"/>
                                        <p:tgtEl>
                                          <p:spTgt spid="138326"/>
                                        </p:tgtEl>
                                        <p:attrNameLst>
                                          <p:attrName>ppt_h</p:attrName>
                                        </p:attrNameLst>
                                      </p:cBhvr>
                                      <p:tavLst>
                                        <p:tav tm="0">
                                          <p:val>
                                            <p:fltVal val="0"/>
                                          </p:val>
                                        </p:tav>
                                        <p:tav tm="100000">
                                          <p:val>
                                            <p:strVal val="#ppt_h"/>
                                          </p:val>
                                        </p:tav>
                                      </p:tavLst>
                                    </p:anim>
                                  </p:childTnLst>
                                </p:cTn>
                              </p:par>
                              <p:par>
                                <p:cTn id="30" presetID="17" presetClass="entr" presetSubtype="4" fill="hold" grpId="0" nodeType="withEffect">
                                  <p:stCondLst>
                                    <p:cond delay="0"/>
                                  </p:stCondLst>
                                  <p:childTnLst>
                                    <p:set>
                                      <p:cBhvr>
                                        <p:cTn id="31" dur="1" fill="hold">
                                          <p:stCondLst>
                                            <p:cond delay="0"/>
                                          </p:stCondLst>
                                        </p:cTn>
                                        <p:tgtEl>
                                          <p:spTgt spid="138328"/>
                                        </p:tgtEl>
                                        <p:attrNameLst>
                                          <p:attrName>style.visibility</p:attrName>
                                        </p:attrNameLst>
                                      </p:cBhvr>
                                      <p:to>
                                        <p:strVal val="visible"/>
                                      </p:to>
                                    </p:set>
                                    <p:anim calcmode="lin" valueType="num">
                                      <p:cBhvr>
                                        <p:cTn id="32" dur="500" fill="hold"/>
                                        <p:tgtEl>
                                          <p:spTgt spid="138328"/>
                                        </p:tgtEl>
                                        <p:attrNameLst>
                                          <p:attrName>ppt_x</p:attrName>
                                        </p:attrNameLst>
                                      </p:cBhvr>
                                      <p:tavLst>
                                        <p:tav tm="0">
                                          <p:val>
                                            <p:strVal val="#ppt_x"/>
                                          </p:val>
                                        </p:tav>
                                        <p:tav tm="100000">
                                          <p:val>
                                            <p:strVal val="#ppt_x"/>
                                          </p:val>
                                        </p:tav>
                                      </p:tavLst>
                                    </p:anim>
                                    <p:anim calcmode="lin" valueType="num">
                                      <p:cBhvr>
                                        <p:cTn id="33" dur="500" fill="hold"/>
                                        <p:tgtEl>
                                          <p:spTgt spid="138328"/>
                                        </p:tgtEl>
                                        <p:attrNameLst>
                                          <p:attrName>ppt_y</p:attrName>
                                        </p:attrNameLst>
                                      </p:cBhvr>
                                      <p:tavLst>
                                        <p:tav tm="0">
                                          <p:val>
                                            <p:strVal val="#ppt_y+#ppt_h/2"/>
                                          </p:val>
                                        </p:tav>
                                        <p:tav tm="100000">
                                          <p:val>
                                            <p:strVal val="#ppt_y"/>
                                          </p:val>
                                        </p:tav>
                                      </p:tavLst>
                                    </p:anim>
                                    <p:anim calcmode="lin" valueType="num">
                                      <p:cBhvr>
                                        <p:cTn id="34" dur="500" fill="hold"/>
                                        <p:tgtEl>
                                          <p:spTgt spid="138328"/>
                                        </p:tgtEl>
                                        <p:attrNameLst>
                                          <p:attrName>ppt_w</p:attrName>
                                        </p:attrNameLst>
                                      </p:cBhvr>
                                      <p:tavLst>
                                        <p:tav tm="0">
                                          <p:val>
                                            <p:strVal val="#ppt_w"/>
                                          </p:val>
                                        </p:tav>
                                        <p:tav tm="100000">
                                          <p:val>
                                            <p:strVal val="#ppt_w"/>
                                          </p:val>
                                        </p:tav>
                                      </p:tavLst>
                                    </p:anim>
                                    <p:anim calcmode="lin" valueType="num">
                                      <p:cBhvr>
                                        <p:cTn id="35" dur="500" fill="hold"/>
                                        <p:tgtEl>
                                          <p:spTgt spid="138328"/>
                                        </p:tgtEl>
                                        <p:attrNameLst>
                                          <p:attrName>ppt_h</p:attrName>
                                        </p:attrNameLst>
                                      </p:cBhvr>
                                      <p:tavLst>
                                        <p:tav tm="0">
                                          <p:val>
                                            <p:fltVal val="0"/>
                                          </p:val>
                                        </p:tav>
                                        <p:tav tm="100000">
                                          <p:val>
                                            <p:strVal val="#ppt_h"/>
                                          </p:val>
                                        </p:tav>
                                      </p:tavLst>
                                    </p:anim>
                                  </p:childTnLst>
                                </p:cTn>
                              </p:par>
                            </p:childTnLst>
                          </p:cTn>
                        </p:par>
                        <p:par>
                          <p:cTn id="36" fill="hold">
                            <p:stCondLst>
                              <p:cond delay="500"/>
                            </p:stCondLst>
                            <p:childTnLst>
                              <p:par>
                                <p:cTn id="37" presetID="22" presetClass="entr" presetSubtype="2"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5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8331"/>
                                        </p:tgtEl>
                                        <p:attrNameLst>
                                          <p:attrName>style.visibility</p:attrName>
                                        </p:attrNameLst>
                                      </p:cBhvr>
                                      <p:to>
                                        <p:strVal val="visible"/>
                                      </p:to>
                                    </p:set>
                                    <p:animEffect transition="in" filter="fade">
                                      <p:cBhvr>
                                        <p:cTn id="42" dur="500"/>
                                        <p:tgtEl>
                                          <p:spTgt spid="138331"/>
                                        </p:tgtEl>
                                      </p:cBhvr>
                                    </p:animEffect>
                                  </p:childTnLst>
                                </p:cTn>
                              </p:par>
                              <p:par>
                                <p:cTn id="43" presetID="22" presetClass="entr" presetSubtype="1"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up)">
                                      <p:cBhvr>
                                        <p:cTn id="45" dur="500"/>
                                        <p:tgtEl>
                                          <p:spTgt spid="20"/>
                                        </p:tgtEl>
                                      </p:cBhvr>
                                    </p:animEffect>
                                  </p:childTnLst>
                                </p:cTn>
                              </p:par>
                            </p:childTnLst>
                          </p:cTn>
                        </p:par>
                        <p:par>
                          <p:cTn id="46" fill="hold">
                            <p:stCondLst>
                              <p:cond delay="1000"/>
                            </p:stCondLst>
                            <p:childTnLst>
                              <p:par>
                                <p:cTn id="47" presetID="22" presetClass="entr" presetSubtype="2" fill="hold"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right)">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38323"/>
                                        </p:tgtEl>
                                        <p:attrNameLst>
                                          <p:attrName>style.visibility</p:attrName>
                                        </p:attrNameLst>
                                      </p:cBhvr>
                                      <p:to>
                                        <p:strVal val="visible"/>
                                      </p:to>
                                    </p:set>
                                    <p:animEffect transition="in" filter="fade">
                                      <p:cBhvr>
                                        <p:cTn id="54" dur="500"/>
                                        <p:tgtEl>
                                          <p:spTgt spid="138323"/>
                                        </p:tgtEl>
                                      </p:cBhvr>
                                    </p:animEffect>
                                  </p:childTnLst>
                                </p:cTn>
                              </p:par>
                              <p:par>
                                <p:cTn id="55" presetID="10" presetClass="exit" presetSubtype="0" fill="hold" grpId="1" nodeType="withEffect">
                                  <p:stCondLst>
                                    <p:cond delay="0"/>
                                  </p:stCondLst>
                                  <p:childTnLst>
                                    <p:animEffect transition="out" filter="fade">
                                      <p:cBhvr>
                                        <p:cTn id="56" dur="500"/>
                                        <p:tgtEl>
                                          <p:spTgt spid="138303"/>
                                        </p:tgtEl>
                                      </p:cBhvr>
                                    </p:animEffect>
                                    <p:set>
                                      <p:cBhvr>
                                        <p:cTn id="57" dur="1" fill="hold">
                                          <p:stCondLst>
                                            <p:cond delay="499"/>
                                          </p:stCondLst>
                                        </p:cTn>
                                        <p:tgtEl>
                                          <p:spTgt spid="138303"/>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138326"/>
                                        </p:tgtEl>
                                      </p:cBhvr>
                                    </p:animEffect>
                                    <p:set>
                                      <p:cBhvr>
                                        <p:cTn id="60" dur="1" fill="hold">
                                          <p:stCondLst>
                                            <p:cond delay="499"/>
                                          </p:stCondLst>
                                        </p:cTn>
                                        <p:tgtEl>
                                          <p:spTgt spid="138326"/>
                                        </p:tgtEl>
                                        <p:attrNameLst>
                                          <p:attrName>style.visibility</p:attrName>
                                        </p:attrNameLst>
                                      </p:cBhvr>
                                      <p:to>
                                        <p:strVal val="hidden"/>
                                      </p:to>
                                    </p:set>
                                  </p:childTnLst>
                                </p:cTn>
                              </p:par>
                              <p:par>
                                <p:cTn id="61" presetID="10" presetClass="exit" presetSubtype="0" fill="hold" grpId="1" nodeType="withEffect">
                                  <p:stCondLst>
                                    <p:cond delay="0"/>
                                  </p:stCondLst>
                                  <p:childTnLst>
                                    <p:animEffect transition="out" filter="fade">
                                      <p:cBhvr>
                                        <p:cTn id="62" dur="500"/>
                                        <p:tgtEl>
                                          <p:spTgt spid="138328"/>
                                        </p:tgtEl>
                                      </p:cBhvr>
                                    </p:animEffect>
                                    <p:set>
                                      <p:cBhvr>
                                        <p:cTn id="63" dur="1" fill="hold">
                                          <p:stCondLst>
                                            <p:cond delay="499"/>
                                          </p:stCondLst>
                                        </p:cTn>
                                        <p:tgtEl>
                                          <p:spTgt spid="138328"/>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500"/>
                                        <p:tgtEl>
                                          <p:spTgt spid="138322"/>
                                        </p:tgtEl>
                                      </p:cBhvr>
                                    </p:animEffect>
                                    <p:set>
                                      <p:cBhvr>
                                        <p:cTn id="66" dur="1" fill="hold">
                                          <p:stCondLst>
                                            <p:cond delay="499"/>
                                          </p:stCondLst>
                                        </p:cTn>
                                        <p:tgtEl>
                                          <p:spTgt spid="138322"/>
                                        </p:tgtEl>
                                        <p:attrNameLst>
                                          <p:attrName>style.visibility</p:attrName>
                                        </p:attrNameLst>
                                      </p:cBhvr>
                                      <p:to>
                                        <p:strVal val="hidden"/>
                                      </p:to>
                                    </p:set>
                                  </p:childTnLst>
                                </p:cTn>
                              </p:par>
                            </p:childTnLst>
                          </p:cTn>
                        </p:par>
                        <p:par>
                          <p:cTn id="67" fill="hold">
                            <p:stCondLst>
                              <p:cond delay="500"/>
                            </p:stCondLst>
                            <p:childTnLst>
                              <p:par>
                                <p:cTn id="68" presetID="10" presetClass="entr" presetSubtype="0" fill="hold" grpId="0" nodeType="afterEffect">
                                  <p:stCondLst>
                                    <p:cond delay="0"/>
                                  </p:stCondLst>
                                  <p:childTnLst>
                                    <p:set>
                                      <p:cBhvr>
                                        <p:cTn id="69" dur="1" fill="hold">
                                          <p:stCondLst>
                                            <p:cond delay="0"/>
                                          </p:stCondLst>
                                        </p:cTn>
                                        <p:tgtEl>
                                          <p:spTgt spid="138294"/>
                                        </p:tgtEl>
                                        <p:attrNameLst>
                                          <p:attrName>style.visibility</p:attrName>
                                        </p:attrNameLst>
                                      </p:cBhvr>
                                      <p:to>
                                        <p:strVal val="visible"/>
                                      </p:to>
                                    </p:set>
                                    <p:animEffect transition="in" filter="fade">
                                      <p:cBhvr>
                                        <p:cTn id="70" dur="500"/>
                                        <p:tgtEl>
                                          <p:spTgt spid="13829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38289"/>
                                        </p:tgtEl>
                                        <p:attrNameLst>
                                          <p:attrName>style.visibility</p:attrName>
                                        </p:attrNameLst>
                                      </p:cBhvr>
                                      <p:to>
                                        <p:strVal val="visible"/>
                                      </p:to>
                                    </p:set>
                                    <p:animEffect transition="in" filter="fade">
                                      <p:cBhvr>
                                        <p:cTn id="73" dur="500"/>
                                        <p:tgtEl>
                                          <p:spTgt spid="138289"/>
                                        </p:tgtEl>
                                      </p:cBhvr>
                                    </p:animEffect>
                                  </p:childTnLst>
                                </p:cTn>
                              </p:par>
                              <p:par>
                                <p:cTn id="74" presetID="10" presetClass="entr" presetSubtype="0" fill="hold" nodeType="with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fade">
                                      <p:cBhvr>
                                        <p:cTn id="76" dur="500"/>
                                        <p:tgtEl>
                                          <p:spTgt spid="3"/>
                                        </p:tgtEl>
                                      </p:cBhvr>
                                    </p:animEffect>
                                  </p:childTnLst>
                                </p:cTn>
                              </p:par>
                              <p:par>
                                <p:cTn id="77" presetID="10" presetClass="exit" presetSubtype="0" fill="hold" grpId="0" nodeType="withEffect">
                                  <p:stCondLst>
                                    <p:cond delay="0"/>
                                  </p:stCondLst>
                                  <p:childTnLst>
                                    <p:animEffect transition="out" filter="fade">
                                      <p:cBhvr>
                                        <p:cTn id="78" dur="500"/>
                                        <p:tgtEl>
                                          <p:spTgt spid="138290"/>
                                        </p:tgtEl>
                                      </p:cBhvr>
                                    </p:animEffect>
                                    <p:set>
                                      <p:cBhvr>
                                        <p:cTn id="79" dur="1" fill="hold">
                                          <p:stCondLst>
                                            <p:cond delay="499"/>
                                          </p:stCondLst>
                                        </p:cTn>
                                        <p:tgtEl>
                                          <p:spTgt spid="138290"/>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38324"/>
                                        </p:tgtEl>
                                        <p:attrNameLst>
                                          <p:attrName>style.visibility</p:attrName>
                                        </p:attrNameLst>
                                      </p:cBhvr>
                                      <p:to>
                                        <p:strVal val="visible"/>
                                      </p:to>
                                    </p:set>
                                    <p:animEffect transition="in" filter="fade">
                                      <p:cBhvr>
                                        <p:cTn id="84" dur="500"/>
                                        <p:tgtEl>
                                          <p:spTgt spid="138324"/>
                                        </p:tgtEl>
                                      </p:cBhvr>
                                    </p:animEffect>
                                  </p:childTnLst>
                                </p:cTn>
                              </p:par>
                              <p:par>
                                <p:cTn id="85" presetID="10" presetClass="exit" presetSubtype="0" fill="hold" grpId="1" nodeType="withEffect">
                                  <p:stCondLst>
                                    <p:cond delay="0"/>
                                  </p:stCondLst>
                                  <p:childTnLst>
                                    <p:animEffect transition="out" filter="fade">
                                      <p:cBhvr>
                                        <p:cTn id="86" dur="500"/>
                                        <p:tgtEl>
                                          <p:spTgt spid="138323"/>
                                        </p:tgtEl>
                                      </p:cBhvr>
                                    </p:animEffect>
                                    <p:set>
                                      <p:cBhvr>
                                        <p:cTn id="87" dur="1" fill="hold">
                                          <p:stCondLst>
                                            <p:cond delay="499"/>
                                          </p:stCondLst>
                                        </p:cTn>
                                        <p:tgtEl>
                                          <p:spTgt spid="138323"/>
                                        </p:tgtEl>
                                        <p:attrNameLst>
                                          <p:attrName>style.visibility</p:attrName>
                                        </p:attrNameLst>
                                      </p:cBhvr>
                                      <p:to>
                                        <p:strVal val="hidden"/>
                                      </p:to>
                                    </p:set>
                                  </p:childTnLst>
                                </p:cTn>
                              </p:par>
                            </p:childTnLst>
                          </p:cTn>
                        </p:par>
                        <p:par>
                          <p:cTn id="88" fill="hold">
                            <p:stCondLst>
                              <p:cond delay="500"/>
                            </p:stCondLst>
                            <p:childTnLst>
                              <p:par>
                                <p:cTn id="89" presetID="17" presetClass="entr" presetSubtype="8" fill="hold" grpId="0" nodeType="afterEffect">
                                  <p:stCondLst>
                                    <p:cond delay="0"/>
                                  </p:stCondLst>
                                  <p:childTnLst>
                                    <p:set>
                                      <p:cBhvr>
                                        <p:cTn id="90" dur="1" fill="hold">
                                          <p:stCondLst>
                                            <p:cond delay="0"/>
                                          </p:stCondLst>
                                        </p:cTn>
                                        <p:tgtEl>
                                          <p:spTgt spid="138304"/>
                                        </p:tgtEl>
                                        <p:attrNameLst>
                                          <p:attrName>style.visibility</p:attrName>
                                        </p:attrNameLst>
                                      </p:cBhvr>
                                      <p:to>
                                        <p:strVal val="visible"/>
                                      </p:to>
                                    </p:set>
                                    <p:anim calcmode="lin" valueType="num">
                                      <p:cBhvr>
                                        <p:cTn id="91" dur="500" fill="hold"/>
                                        <p:tgtEl>
                                          <p:spTgt spid="138304"/>
                                        </p:tgtEl>
                                        <p:attrNameLst>
                                          <p:attrName>ppt_x</p:attrName>
                                        </p:attrNameLst>
                                      </p:cBhvr>
                                      <p:tavLst>
                                        <p:tav tm="0">
                                          <p:val>
                                            <p:strVal val="#ppt_x-#ppt_w/2"/>
                                          </p:val>
                                        </p:tav>
                                        <p:tav tm="100000">
                                          <p:val>
                                            <p:strVal val="#ppt_x"/>
                                          </p:val>
                                        </p:tav>
                                      </p:tavLst>
                                    </p:anim>
                                    <p:anim calcmode="lin" valueType="num">
                                      <p:cBhvr>
                                        <p:cTn id="92" dur="500" fill="hold"/>
                                        <p:tgtEl>
                                          <p:spTgt spid="138304"/>
                                        </p:tgtEl>
                                        <p:attrNameLst>
                                          <p:attrName>ppt_y</p:attrName>
                                        </p:attrNameLst>
                                      </p:cBhvr>
                                      <p:tavLst>
                                        <p:tav tm="0">
                                          <p:val>
                                            <p:strVal val="#ppt_y"/>
                                          </p:val>
                                        </p:tav>
                                        <p:tav tm="100000">
                                          <p:val>
                                            <p:strVal val="#ppt_y"/>
                                          </p:val>
                                        </p:tav>
                                      </p:tavLst>
                                    </p:anim>
                                    <p:anim calcmode="lin" valueType="num">
                                      <p:cBhvr>
                                        <p:cTn id="93" dur="500" fill="hold"/>
                                        <p:tgtEl>
                                          <p:spTgt spid="138304"/>
                                        </p:tgtEl>
                                        <p:attrNameLst>
                                          <p:attrName>ppt_w</p:attrName>
                                        </p:attrNameLst>
                                      </p:cBhvr>
                                      <p:tavLst>
                                        <p:tav tm="0">
                                          <p:val>
                                            <p:fltVal val="0"/>
                                          </p:val>
                                        </p:tav>
                                        <p:tav tm="100000">
                                          <p:val>
                                            <p:strVal val="#ppt_w"/>
                                          </p:val>
                                        </p:tav>
                                      </p:tavLst>
                                    </p:anim>
                                    <p:anim calcmode="lin" valueType="num">
                                      <p:cBhvr>
                                        <p:cTn id="94" dur="500" fill="hold"/>
                                        <p:tgtEl>
                                          <p:spTgt spid="138304"/>
                                        </p:tgtEl>
                                        <p:attrNameLst>
                                          <p:attrName>ppt_h</p:attrName>
                                        </p:attrNameLst>
                                      </p:cBhvr>
                                      <p:tavLst>
                                        <p:tav tm="0">
                                          <p:val>
                                            <p:strVal val="#ppt_h"/>
                                          </p:val>
                                        </p:tav>
                                        <p:tav tm="100000">
                                          <p:val>
                                            <p:strVal val="#ppt_h"/>
                                          </p:val>
                                        </p:tav>
                                      </p:tavLst>
                                    </p:anim>
                                  </p:childTnLst>
                                </p:cTn>
                              </p:par>
                            </p:childTnLst>
                          </p:cTn>
                        </p:par>
                        <p:par>
                          <p:cTn id="95" fill="hold">
                            <p:stCondLst>
                              <p:cond delay="1000"/>
                            </p:stCondLst>
                            <p:childTnLst>
                              <p:par>
                                <p:cTn id="96" presetID="18" presetClass="entr" presetSubtype="12" fill="hold" nodeType="after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strips(downLeft)">
                                      <p:cBhvr>
                                        <p:cTn id="98" dur="500"/>
                                        <p:tgtEl>
                                          <p:spTgt spid="21"/>
                                        </p:tgtEl>
                                      </p:cBhvr>
                                    </p:animEffect>
                                  </p:childTnLst>
                                </p:cTn>
                              </p:par>
                            </p:childTnLst>
                          </p:cTn>
                        </p:par>
                      </p:childTnLst>
                    </p:cTn>
                  </p:par>
                  <p:par>
                    <p:cTn id="99" fill="hold">
                      <p:stCondLst>
                        <p:cond delay="indefinite"/>
                      </p:stCondLst>
                      <p:childTnLst>
                        <p:par>
                          <p:cTn id="100" fill="hold">
                            <p:stCondLst>
                              <p:cond delay="0"/>
                            </p:stCondLst>
                            <p:childTnLst>
                              <p:par>
                                <p:cTn id="101" presetID="17" presetClass="entr" presetSubtype="1" fill="hold" grpId="0" nodeType="clickEffect">
                                  <p:stCondLst>
                                    <p:cond delay="0"/>
                                  </p:stCondLst>
                                  <p:childTnLst>
                                    <p:set>
                                      <p:cBhvr>
                                        <p:cTn id="102" dur="1" fill="hold">
                                          <p:stCondLst>
                                            <p:cond delay="0"/>
                                          </p:stCondLst>
                                        </p:cTn>
                                        <p:tgtEl>
                                          <p:spTgt spid="138327"/>
                                        </p:tgtEl>
                                        <p:attrNameLst>
                                          <p:attrName>style.visibility</p:attrName>
                                        </p:attrNameLst>
                                      </p:cBhvr>
                                      <p:to>
                                        <p:strVal val="visible"/>
                                      </p:to>
                                    </p:set>
                                    <p:anim calcmode="lin" valueType="num">
                                      <p:cBhvr>
                                        <p:cTn id="103" dur="500" fill="hold"/>
                                        <p:tgtEl>
                                          <p:spTgt spid="138327"/>
                                        </p:tgtEl>
                                        <p:attrNameLst>
                                          <p:attrName>ppt_x</p:attrName>
                                        </p:attrNameLst>
                                      </p:cBhvr>
                                      <p:tavLst>
                                        <p:tav tm="0">
                                          <p:val>
                                            <p:strVal val="#ppt_x"/>
                                          </p:val>
                                        </p:tav>
                                        <p:tav tm="100000">
                                          <p:val>
                                            <p:strVal val="#ppt_x"/>
                                          </p:val>
                                        </p:tav>
                                      </p:tavLst>
                                    </p:anim>
                                    <p:anim calcmode="lin" valueType="num">
                                      <p:cBhvr>
                                        <p:cTn id="104" dur="500" fill="hold"/>
                                        <p:tgtEl>
                                          <p:spTgt spid="138327"/>
                                        </p:tgtEl>
                                        <p:attrNameLst>
                                          <p:attrName>ppt_y</p:attrName>
                                        </p:attrNameLst>
                                      </p:cBhvr>
                                      <p:tavLst>
                                        <p:tav tm="0">
                                          <p:val>
                                            <p:strVal val="#ppt_y-#ppt_h/2"/>
                                          </p:val>
                                        </p:tav>
                                        <p:tav tm="100000">
                                          <p:val>
                                            <p:strVal val="#ppt_y"/>
                                          </p:val>
                                        </p:tav>
                                      </p:tavLst>
                                    </p:anim>
                                    <p:anim calcmode="lin" valueType="num">
                                      <p:cBhvr>
                                        <p:cTn id="105" dur="500" fill="hold"/>
                                        <p:tgtEl>
                                          <p:spTgt spid="138327"/>
                                        </p:tgtEl>
                                        <p:attrNameLst>
                                          <p:attrName>ppt_w</p:attrName>
                                        </p:attrNameLst>
                                      </p:cBhvr>
                                      <p:tavLst>
                                        <p:tav tm="0">
                                          <p:val>
                                            <p:strVal val="#ppt_w"/>
                                          </p:val>
                                        </p:tav>
                                        <p:tav tm="100000">
                                          <p:val>
                                            <p:strVal val="#ppt_w"/>
                                          </p:val>
                                        </p:tav>
                                      </p:tavLst>
                                    </p:anim>
                                    <p:anim calcmode="lin" valueType="num">
                                      <p:cBhvr>
                                        <p:cTn id="106" dur="500" fill="hold"/>
                                        <p:tgtEl>
                                          <p:spTgt spid="138327"/>
                                        </p:tgtEl>
                                        <p:attrNameLst>
                                          <p:attrName>ppt_h</p:attrName>
                                        </p:attrNameLst>
                                      </p:cBhvr>
                                      <p:tavLst>
                                        <p:tav tm="0">
                                          <p:val>
                                            <p:fltVal val="0"/>
                                          </p:val>
                                        </p:tav>
                                        <p:tav tm="100000">
                                          <p:val>
                                            <p:strVal val="#ppt_h"/>
                                          </p:val>
                                        </p:tav>
                                      </p:tavLst>
                                    </p:anim>
                                  </p:childTnLst>
                                </p:cTn>
                              </p:par>
                              <p:par>
                                <p:cTn id="107" presetID="17" presetClass="entr" presetSubtype="1" fill="hold" grpId="0" nodeType="withEffect">
                                  <p:stCondLst>
                                    <p:cond delay="0"/>
                                  </p:stCondLst>
                                  <p:childTnLst>
                                    <p:set>
                                      <p:cBhvr>
                                        <p:cTn id="108" dur="1" fill="hold">
                                          <p:stCondLst>
                                            <p:cond delay="0"/>
                                          </p:stCondLst>
                                        </p:cTn>
                                        <p:tgtEl>
                                          <p:spTgt spid="138329"/>
                                        </p:tgtEl>
                                        <p:attrNameLst>
                                          <p:attrName>style.visibility</p:attrName>
                                        </p:attrNameLst>
                                      </p:cBhvr>
                                      <p:to>
                                        <p:strVal val="visible"/>
                                      </p:to>
                                    </p:set>
                                    <p:anim calcmode="lin" valueType="num">
                                      <p:cBhvr>
                                        <p:cTn id="109" dur="500" fill="hold"/>
                                        <p:tgtEl>
                                          <p:spTgt spid="138329"/>
                                        </p:tgtEl>
                                        <p:attrNameLst>
                                          <p:attrName>ppt_x</p:attrName>
                                        </p:attrNameLst>
                                      </p:cBhvr>
                                      <p:tavLst>
                                        <p:tav tm="0">
                                          <p:val>
                                            <p:strVal val="#ppt_x"/>
                                          </p:val>
                                        </p:tav>
                                        <p:tav tm="100000">
                                          <p:val>
                                            <p:strVal val="#ppt_x"/>
                                          </p:val>
                                        </p:tav>
                                      </p:tavLst>
                                    </p:anim>
                                    <p:anim calcmode="lin" valueType="num">
                                      <p:cBhvr>
                                        <p:cTn id="110" dur="500" fill="hold"/>
                                        <p:tgtEl>
                                          <p:spTgt spid="138329"/>
                                        </p:tgtEl>
                                        <p:attrNameLst>
                                          <p:attrName>ppt_y</p:attrName>
                                        </p:attrNameLst>
                                      </p:cBhvr>
                                      <p:tavLst>
                                        <p:tav tm="0">
                                          <p:val>
                                            <p:strVal val="#ppt_y-#ppt_h/2"/>
                                          </p:val>
                                        </p:tav>
                                        <p:tav tm="100000">
                                          <p:val>
                                            <p:strVal val="#ppt_y"/>
                                          </p:val>
                                        </p:tav>
                                      </p:tavLst>
                                    </p:anim>
                                    <p:anim calcmode="lin" valueType="num">
                                      <p:cBhvr>
                                        <p:cTn id="111" dur="500" fill="hold"/>
                                        <p:tgtEl>
                                          <p:spTgt spid="138329"/>
                                        </p:tgtEl>
                                        <p:attrNameLst>
                                          <p:attrName>ppt_w</p:attrName>
                                        </p:attrNameLst>
                                      </p:cBhvr>
                                      <p:tavLst>
                                        <p:tav tm="0">
                                          <p:val>
                                            <p:strVal val="#ppt_w"/>
                                          </p:val>
                                        </p:tav>
                                        <p:tav tm="100000">
                                          <p:val>
                                            <p:strVal val="#ppt_w"/>
                                          </p:val>
                                        </p:tav>
                                      </p:tavLst>
                                    </p:anim>
                                    <p:anim calcmode="lin" valueType="num">
                                      <p:cBhvr>
                                        <p:cTn id="112" dur="500" fill="hold"/>
                                        <p:tgtEl>
                                          <p:spTgt spid="138329"/>
                                        </p:tgtEl>
                                        <p:attrNameLst>
                                          <p:attrName>ppt_h</p:attrName>
                                        </p:attrNameLst>
                                      </p:cBhvr>
                                      <p:tavLst>
                                        <p:tav tm="0">
                                          <p:val>
                                            <p:fltVal val="0"/>
                                          </p:val>
                                        </p:tav>
                                        <p:tav tm="100000">
                                          <p:val>
                                            <p:strVal val="#ppt_h"/>
                                          </p:val>
                                        </p:tav>
                                      </p:tavLst>
                                    </p:anim>
                                  </p:childTnLst>
                                </p:cTn>
                              </p:par>
                            </p:childTnLst>
                          </p:cTn>
                        </p:par>
                        <p:par>
                          <p:cTn id="113" fill="hold">
                            <p:stCondLst>
                              <p:cond delay="500"/>
                            </p:stCondLst>
                            <p:childTnLst>
                              <p:par>
                                <p:cTn id="114" presetID="22" presetClass="entr" presetSubtype="1" fill="hold" nodeType="afterEffect">
                                  <p:stCondLst>
                                    <p:cond delay="0"/>
                                  </p:stCondLst>
                                  <p:childTnLst>
                                    <p:set>
                                      <p:cBhvr>
                                        <p:cTn id="115" dur="1" fill="hold">
                                          <p:stCondLst>
                                            <p:cond delay="0"/>
                                          </p:stCondLst>
                                        </p:cTn>
                                        <p:tgtEl>
                                          <p:spTgt spid="22"/>
                                        </p:tgtEl>
                                        <p:attrNameLst>
                                          <p:attrName>style.visibility</p:attrName>
                                        </p:attrNameLst>
                                      </p:cBhvr>
                                      <p:to>
                                        <p:strVal val="visible"/>
                                      </p:to>
                                    </p:set>
                                    <p:animEffect transition="in" filter="wipe(up)">
                                      <p:cBhvr>
                                        <p:cTn id="116" dur="500"/>
                                        <p:tgtEl>
                                          <p:spTgt spid="2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138332"/>
                                        </p:tgtEl>
                                        <p:attrNameLst>
                                          <p:attrName>style.visibility</p:attrName>
                                        </p:attrNameLst>
                                      </p:cBhvr>
                                      <p:to>
                                        <p:strVal val="visible"/>
                                      </p:to>
                                    </p:set>
                                    <p:animEffect transition="in" filter="fade">
                                      <p:cBhvr>
                                        <p:cTn id="119" dur="500"/>
                                        <p:tgtEl>
                                          <p:spTgt spid="138332"/>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138325"/>
                                        </p:tgtEl>
                                        <p:attrNameLst>
                                          <p:attrName>style.visibility</p:attrName>
                                        </p:attrNameLst>
                                      </p:cBhvr>
                                      <p:to>
                                        <p:strVal val="visible"/>
                                      </p:to>
                                    </p:set>
                                    <p:animEffect transition="in" filter="fade">
                                      <p:cBhvr>
                                        <p:cTn id="124" dur="500"/>
                                        <p:tgtEl>
                                          <p:spTgt spid="138325"/>
                                        </p:tgtEl>
                                      </p:cBhvr>
                                    </p:animEffect>
                                  </p:childTnLst>
                                </p:cTn>
                              </p:par>
                              <p:par>
                                <p:cTn id="125" presetID="10" presetClass="exit" presetSubtype="0" fill="hold" grpId="1" nodeType="withEffect">
                                  <p:stCondLst>
                                    <p:cond delay="0"/>
                                  </p:stCondLst>
                                  <p:childTnLst>
                                    <p:animEffect transition="out" filter="fade">
                                      <p:cBhvr>
                                        <p:cTn id="126" dur="500"/>
                                        <p:tgtEl>
                                          <p:spTgt spid="138324"/>
                                        </p:tgtEl>
                                      </p:cBhvr>
                                    </p:animEffect>
                                    <p:set>
                                      <p:cBhvr>
                                        <p:cTn id="127" dur="1" fill="hold">
                                          <p:stCondLst>
                                            <p:cond delay="499"/>
                                          </p:stCondLst>
                                        </p:cTn>
                                        <p:tgtEl>
                                          <p:spTgt spid="138324"/>
                                        </p:tgtEl>
                                        <p:attrNameLst>
                                          <p:attrName>style.visibility</p:attrName>
                                        </p:attrNameLst>
                                      </p:cBhvr>
                                      <p:to>
                                        <p:strVal val="hidden"/>
                                      </p:to>
                                    </p:set>
                                  </p:childTnLst>
                                </p:cTn>
                              </p:par>
                              <p:par>
                                <p:cTn id="128" presetID="10" presetClass="exit" presetSubtype="0" fill="hold" grpId="1" nodeType="withEffect">
                                  <p:stCondLst>
                                    <p:cond delay="0"/>
                                  </p:stCondLst>
                                  <p:childTnLst>
                                    <p:animEffect transition="out" filter="fade">
                                      <p:cBhvr>
                                        <p:cTn id="129" dur="500"/>
                                        <p:tgtEl>
                                          <p:spTgt spid="138304"/>
                                        </p:tgtEl>
                                      </p:cBhvr>
                                    </p:animEffect>
                                    <p:set>
                                      <p:cBhvr>
                                        <p:cTn id="130" dur="1" fill="hold">
                                          <p:stCondLst>
                                            <p:cond delay="499"/>
                                          </p:stCondLst>
                                        </p:cTn>
                                        <p:tgtEl>
                                          <p:spTgt spid="138304"/>
                                        </p:tgtEl>
                                        <p:attrNameLst>
                                          <p:attrName>style.visibility</p:attrName>
                                        </p:attrNameLst>
                                      </p:cBhvr>
                                      <p:to>
                                        <p:strVal val="hidden"/>
                                      </p:to>
                                    </p:set>
                                  </p:childTnLst>
                                </p:cTn>
                              </p:par>
                              <p:par>
                                <p:cTn id="131" presetID="10" presetClass="exit" presetSubtype="0" fill="hold" grpId="1" nodeType="withEffect">
                                  <p:stCondLst>
                                    <p:cond delay="0"/>
                                  </p:stCondLst>
                                  <p:childTnLst>
                                    <p:animEffect transition="out" filter="fade">
                                      <p:cBhvr>
                                        <p:cTn id="132" dur="500"/>
                                        <p:tgtEl>
                                          <p:spTgt spid="138327"/>
                                        </p:tgtEl>
                                      </p:cBhvr>
                                    </p:animEffect>
                                    <p:set>
                                      <p:cBhvr>
                                        <p:cTn id="133" dur="1" fill="hold">
                                          <p:stCondLst>
                                            <p:cond delay="499"/>
                                          </p:stCondLst>
                                        </p:cTn>
                                        <p:tgtEl>
                                          <p:spTgt spid="138327"/>
                                        </p:tgtEl>
                                        <p:attrNameLst>
                                          <p:attrName>style.visibility</p:attrName>
                                        </p:attrNameLst>
                                      </p:cBhvr>
                                      <p:to>
                                        <p:strVal val="hidden"/>
                                      </p:to>
                                    </p:set>
                                  </p:childTnLst>
                                </p:cTn>
                              </p:par>
                              <p:par>
                                <p:cTn id="134" presetID="10" presetClass="exit" presetSubtype="0" fill="hold" grpId="1" nodeType="withEffect">
                                  <p:stCondLst>
                                    <p:cond delay="0"/>
                                  </p:stCondLst>
                                  <p:childTnLst>
                                    <p:animEffect transition="out" filter="fade">
                                      <p:cBhvr>
                                        <p:cTn id="135" dur="500"/>
                                        <p:tgtEl>
                                          <p:spTgt spid="138329"/>
                                        </p:tgtEl>
                                      </p:cBhvr>
                                    </p:animEffect>
                                    <p:set>
                                      <p:cBhvr>
                                        <p:cTn id="136" dur="1" fill="hold">
                                          <p:stCondLst>
                                            <p:cond delay="499"/>
                                          </p:stCondLst>
                                        </p:cTn>
                                        <p:tgtEl>
                                          <p:spTgt spid="138329"/>
                                        </p:tgtEl>
                                        <p:attrNameLst>
                                          <p:attrName>style.visibility</p:attrName>
                                        </p:attrNameLst>
                                      </p:cBhvr>
                                      <p:to>
                                        <p:strVal val="hidden"/>
                                      </p:to>
                                    </p:set>
                                  </p:childTnLst>
                                </p:cTn>
                              </p:par>
                            </p:childTnLst>
                          </p:cTn>
                        </p:par>
                        <p:par>
                          <p:cTn id="137" fill="hold">
                            <p:stCondLst>
                              <p:cond delay="500"/>
                            </p:stCondLst>
                            <p:childTnLst>
                              <p:par>
                                <p:cTn id="138" presetID="10" presetClass="exit" presetSubtype="0" fill="hold" grpId="1" nodeType="afterEffect">
                                  <p:stCondLst>
                                    <p:cond delay="0"/>
                                  </p:stCondLst>
                                  <p:childTnLst>
                                    <p:animEffect transition="out" filter="fade">
                                      <p:cBhvr>
                                        <p:cTn id="139" dur="500"/>
                                        <p:tgtEl>
                                          <p:spTgt spid="138294"/>
                                        </p:tgtEl>
                                      </p:cBhvr>
                                    </p:animEffect>
                                    <p:set>
                                      <p:cBhvr>
                                        <p:cTn id="140" dur="1" fill="hold">
                                          <p:stCondLst>
                                            <p:cond delay="499"/>
                                          </p:stCondLst>
                                        </p:cTn>
                                        <p:tgtEl>
                                          <p:spTgt spid="138294"/>
                                        </p:tgtEl>
                                        <p:attrNameLst>
                                          <p:attrName>style.visibility</p:attrName>
                                        </p:attrNameLst>
                                      </p:cBhvr>
                                      <p:to>
                                        <p:strVal val="hidden"/>
                                      </p:to>
                                    </p:set>
                                  </p:childTnLst>
                                </p:cTn>
                              </p:par>
                              <p:par>
                                <p:cTn id="141" presetID="10" presetClass="exit" presetSubtype="0" fill="hold" grpId="1" nodeType="withEffect">
                                  <p:stCondLst>
                                    <p:cond delay="0"/>
                                  </p:stCondLst>
                                  <p:childTnLst>
                                    <p:animEffect transition="out" filter="fade">
                                      <p:cBhvr>
                                        <p:cTn id="142" dur="500"/>
                                        <p:tgtEl>
                                          <p:spTgt spid="138289"/>
                                        </p:tgtEl>
                                      </p:cBhvr>
                                    </p:animEffect>
                                    <p:set>
                                      <p:cBhvr>
                                        <p:cTn id="143" dur="1" fill="hold">
                                          <p:stCondLst>
                                            <p:cond delay="499"/>
                                          </p:stCondLst>
                                        </p:cTn>
                                        <p:tgtEl>
                                          <p:spTgt spid="138289"/>
                                        </p:tgtEl>
                                        <p:attrNameLst>
                                          <p:attrName>style.visibility</p:attrName>
                                        </p:attrNameLst>
                                      </p:cBhvr>
                                      <p:to>
                                        <p:strVal val="hidden"/>
                                      </p:to>
                                    </p:set>
                                  </p:childTnLst>
                                </p:cTn>
                              </p:par>
                              <p:par>
                                <p:cTn id="144" presetID="10" presetClass="exit" presetSubtype="0" fill="hold" nodeType="withEffect">
                                  <p:stCondLst>
                                    <p:cond delay="0"/>
                                  </p:stCondLst>
                                  <p:childTnLst>
                                    <p:animEffect transition="out" filter="fade">
                                      <p:cBhvr>
                                        <p:cTn id="145" dur="500"/>
                                        <p:tgtEl>
                                          <p:spTgt spid="3"/>
                                        </p:tgtEl>
                                      </p:cBhvr>
                                    </p:animEffect>
                                    <p:set>
                                      <p:cBhvr>
                                        <p:cTn id="146" dur="1" fill="hold">
                                          <p:stCondLst>
                                            <p:cond delay="499"/>
                                          </p:stCondLst>
                                        </p:cTn>
                                        <p:tgtEl>
                                          <p:spTgt spid="3"/>
                                        </p:tgtEl>
                                        <p:attrNameLst>
                                          <p:attrName>style.visibility</p:attrName>
                                        </p:attrNameLst>
                                      </p:cBhvr>
                                      <p:to>
                                        <p:strVal val="hidden"/>
                                      </p:to>
                                    </p:set>
                                  </p:childTnLst>
                                </p:cTn>
                              </p:par>
                              <p:par>
                                <p:cTn id="147" presetID="10" presetClass="entr" presetSubtype="0" fill="hold" grpId="1" nodeType="withEffect">
                                  <p:stCondLst>
                                    <p:cond delay="0"/>
                                  </p:stCondLst>
                                  <p:childTnLst>
                                    <p:set>
                                      <p:cBhvr>
                                        <p:cTn id="148" dur="1" fill="hold">
                                          <p:stCondLst>
                                            <p:cond delay="0"/>
                                          </p:stCondLst>
                                        </p:cTn>
                                        <p:tgtEl>
                                          <p:spTgt spid="138290"/>
                                        </p:tgtEl>
                                        <p:attrNameLst>
                                          <p:attrName>style.visibility</p:attrName>
                                        </p:attrNameLst>
                                      </p:cBhvr>
                                      <p:to>
                                        <p:strVal val="visible"/>
                                      </p:to>
                                    </p:set>
                                    <p:animEffect transition="in" filter="fade">
                                      <p:cBhvr>
                                        <p:cTn id="149" dur="500"/>
                                        <p:tgtEl>
                                          <p:spTgt spid="138290"/>
                                        </p:tgtEl>
                                      </p:cBhvr>
                                    </p:animEffect>
                                  </p:childTnLst>
                                </p:cTn>
                              </p:par>
                              <p:par>
                                <p:cTn id="150" presetID="10" presetClass="exit" presetSubtype="0" fill="hold" nodeType="withEffect">
                                  <p:stCondLst>
                                    <p:cond delay="0"/>
                                  </p:stCondLst>
                                  <p:childTnLst>
                                    <p:animEffect transition="out" filter="fade">
                                      <p:cBhvr>
                                        <p:cTn id="151" dur="500"/>
                                        <p:tgtEl>
                                          <p:spTgt spid="18"/>
                                        </p:tgtEl>
                                      </p:cBhvr>
                                    </p:animEffect>
                                    <p:set>
                                      <p:cBhvr>
                                        <p:cTn id="152"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89" grpId="0" animBg="1"/>
      <p:bldP spid="138289" grpId="1" animBg="1"/>
      <p:bldP spid="138290" grpId="0" animBg="1"/>
      <p:bldP spid="138290" grpId="1" animBg="1"/>
      <p:bldP spid="138294" grpId="0" animBg="1"/>
      <p:bldP spid="138294" grpId="1" animBg="1"/>
      <p:bldP spid="138303" grpId="0" animBg="1"/>
      <p:bldP spid="138303" grpId="1" animBg="1"/>
      <p:bldP spid="138304" grpId="0" animBg="1"/>
      <p:bldP spid="138304" grpId="1" animBg="1"/>
      <p:bldP spid="138321" grpId="0" animBg="1"/>
      <p:bldP spid="138322" grpId="0" animBg="1"/>
      <p:bldP spid="138322" grpId="1" animBg="1"/>
      <p:bldP spid="138323" grpId="0" animBg="1"/>
      <p:bldP spid="138323" grpId="1" animBg="1"/>
      <p:bldP spid="138324" grpId="0" animBg="1"/>
      <p:bldP spid="138324" grpId="1" animBg="1"/>
      <p:bldP spid="138325" grpId="0" animBg="1"/>
      <p:bldP spid="138326" grpId="0" animBg="1"/>
      <p:bldP spid="138326" grpId="1" animBg="1"/>
      <p:bldP spid="138327" grpId="0" animBg="1"/>
      <p:bldP spid="138327" grpId="1" animBg="1"/>
      <p:bldP spid="138328" grpId="0" animBg="1"/>
      <p:bldP spid="138328" grpId="1" animBg="1"/>
      <p:bldP spid="138329" grpId="0" animBg="1"/>
      <p:bldP spid="138329" grpId="1" animBg="1"/>
      <p:bldP spid="138331" grpId="0"/>
      <p:bldP spid="138332" grpId="0"/>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Title 1"/>
          <p:cNvSpPr>
            <a:spLocks noGrp="1"/>
          </p:cNvSpPr>
          <p:nvPr>
            <p:ph type="title"/>
          </p:nvPr>
        </p:nvSpPr>
        <p:spPr>
          <a:xfrm>
            <a:off x="188912" y="100939"/>
            <a:ext cx="8726487" cy="661061"/>
          </a:xfrm>
        </p:spPr>
        <p:txBody>
          <a:bodyPr/>
          <a:lstStyle/>
          <a:p>
            <a:pPr algn="ctr"/>
            <a:r>
              <a:rPr lang="en-US" altLang="en-US" sz="3000" dirty="0">
                <a:solidFill>
                  <a:srgbClr val="AE1221"/>
                </a:solidFill>
              </a:rPr>
              <a:t>Figure 8: An increase in demand in SR and LR (a)</a:t>
            </a:r>
          </a:p>
        </p:txBody>
      </p:sp>
      <p:sp>
        <p:nvSpPr>
          <p:cNvPr id="38915" name="Slide Number Placeholder 2"/>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1284235F-34C2-47B4-9A2A-0CA0B70B7458}" type="slidenum">
              <a:rPr lang="en-US" altLang="en-US" sz="1200" smtClean="0">
                <a:solidFill>
                  <a:srgbClr val="002060"/>
                </a:solidFill>
              </a:rPr>
              <a:pPr eaLnBrk="1" hangingPunct="1"/>
              <a:t>31</a:t>
            </a:fld>
            <a:endParaRPr lang="en-US" altLang="en-US" sz="1200">
              <a:solidFill>
                <a:srgbClr val="002060"/>
              </a:solidFill>
            </a:endParaRPr>
          </a:p>
        </p:txBody>
      </p:sp>
      <p:sp>
        <p:nvSpPr>
          <p:cNvPr id="3" name="Text Placeholder 2"/>
          <p:cNvSpPr>
            <a:spLocks noGrp="1"/>
          </p:cNvSpPr>
          <p:nvPr>
            <p:ph idx="12"/>
          </p:nvPr>
        </p:nvSpPr>
        <p:spPr>
          <a:xfrm>
            <a:off x="188912" y="5423090"/>
            <a:ext cx="8955088" cy="977710"/>
          </a:xfrm>
        </p:spPr>
        <p:txBody>
          <a:bodyPr>
            <a:noAutofit/>
          </a:bodyPr>
          <a:lstStyle/>
          <a:p>
            <a:pPr marL="0" indent="0">
              <a:buNone/>
            </a:pPr>
            <a:r>
              <a:rPr lang="en-US" altLang="en-US" sz="2000" dirty="0"/>
              <a:t>Panel (a) shows a market in a long-run equilibrium at point A. In this equilibrium, each firm makes zero profit, and the price equals the minimum average total cost.</a:t>
            </a:r>
            <a:endParaRPr lang="en-US" sz="2000" dirty="0"/>
          </a:p>
        </p:txBody>
      </p:sp>
      <p:grpSp>
        <p:nvGrpSpPr>
          <p:cNvPr id="2" name="Group 21"/>
          <p:cNvGrpSpPr>
            <a:grpSpLocks/>
          </p:cNvGrpSpPr>
          <p:nvPr/>
        </p:nvGrpSpPr>
        <p:grpSpPr bwMode="auto">
          <a:xfrm>
            <a:off x="4870450" y="1471613"/>
            <a:ext cx="3957638" cy="3363912"/>
            <a:chOff x="1336475" y="1291362"/>
            <a:chExt cx="3957545" cy="3364558"/>
          </a:xfrm>
        </p:grpSpPr>
        <p:sp>
          <p:nvSpPr>
            <p:cNvPr id="7" name="Rectangle 6"/>
            <p:cNvSpPr/>
            <p:nvPr/>
          </p:nvSpPr>
          <p:spPr>
            <a:xfrm>
              <a:off x="1830176" y="1637503"/>
              <a:ext cx="3463844" cy="30057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38971" name="Group 16"/>
            <p:cNvGrpSpPr>
              <a:grpSpLocks/>
            </p:cNvGrpSpPr>
            <p:nvPr/>
          </p:nvGrpSpPr>
          <p:grpSpPr bwMode="auto">
            <a:xfrm>
              <a:off x="1336475" y="1291362"/>
              <a:ext cx="710584" cy="3364558"/>
              <a:chOff x="1336475" y="1291362"/>
              <a:chExt cx="710584" cy="3364558"/>
            </a:xfrm>
          </p:grpSpPr>
          <p:cxnSp>
            <p:nvCxnSpPr>
              <p:cNvPr id="9" name="Straight Connector 8"/>
              <p:cNvCxnSpPr/>
              <p:nvPr/>
            </p:nvCxnSpPr>
            <p:spPr>
              <a:xfrm rot="5400000">
                <a:off x="290802" y="3129246"/>
                <a:ext cx="30533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973" name="TextBox 25"/>
              <p:cNvSpPr txBox="1">
                <a:spLocks noChangeArrowheads="1"/>
              </p:cNvSpPr>
              <p:nvPr/>
            </p:nvSpPr>
            <p:spPr bwMode="auto">
              <a:xfrm>
                <a:off x="1336475" y="1291362"/>
                <a:ext cx="710584" cy="3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algn="r" eaLnBrk="1" hangingPunct="1"/>
                <a:r>
                  <a:rPr lang="en-US" altLang="en-US" sz="1800">
                    <a:solidFill>
                      <a:srgbClr val="000000"/>
                    </a:solidFill>
                  </a:rPr>
                  <a:t>Price</a:t>
                </a:r>
              </a:p>
            </p:txBody>
          </p:sp>
        </p:grpSp>
      </p:grpSp>
      <p:grpSp>
        <p:nvGrpSpPr>
          <p:cNvPr id="4" name="Group 10"/>
          <p:cNvGrpSpPr>
            <a:grpSpLocks/>
          </p:cNvGrpSpPr>
          <p:nvPr/>
        </p:nvGrpSpPr>
        <p:grpSpPr bwMode="auto">
          <a:xfrm>
            <a:off x="188913" y="1460500"/>
            <a:ext cx="3919537" cy="3365500"/>
            <a:chOff x="1363798" y="1291457"/>
            <a:chExt cx="3919600" cy="3364463"/>
          </a:xfrm>
        </p:grpSpPr>
        <p:sp>
          <p:nvSpPr>
            <p:cNvPr id="12" name="Rectangle 11"/>
            <p:cNvSpPr/>
            <p:nvPr/>
          </p:nvSpPr>
          <p:spPr>
            <a:xfrm>
              <a:off x="1828942" y="1639013"/>
              <a:ext cx="3454456" cy="30042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38967" name="Group 16"/>
            <p:cNvGrpSpPr>
              <a:grpSpLocks/>
            </p:cNvGrpSpPr>
            <p:nvPr/>
          </p:nvGrpSpPr>
          <p:grpSpPr bwMode="auto">
            <a:xfrm>
              <a:off x="1363798" y="1291457"/>
              <a:ext cx="710525" cy="3364463"/>
              <a:chOff x="1363798" y="1291457"/>
              <a:chExt cx="710525" cy="3364463"/>
            </a:xfrm>
          </p:grpSpPr>
          <p:cxnSp>
            <p:nvCxnSpPr>
              <p:cNvPr id="14" name="Straight Connector 13"/>
              <p:cNvCxnSpPr/>
              <p:nvPr/>
            </p:nvCxnSpPr>
            <p:spPr>
              <a:xfrm rot="5400000">
                <a:off x="291126" y="3129216"/>
                <a:ext cx="3053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969" name="TextBox 8"/>
              <p:cNvSpPr txBox="1">
                <a:spLocks noChangeArrowheads="1"/>
              </p:cNvSpPr>
              <p:nvPr/>
            </p:nvSpPr>
            <p:spPr bwMode="auto">
              <a:xfrm>
                <a:off x="1363798" y="1291457"/>
                <a:ext cx="710525" cy="369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algn="r" eaLnBrk="1" hangingPunct="1"/>
                <a:r>
                  <a:rPr lang="en-US" altLang="en-US" sz="1800">
                    <a:solidFill>
                      <a:srgbClr val="000000"/>
                    </a:solidFill>
                  </a:rPr>
                  <a:t>Price</a:t>
                </a:r>
              </a:p>
            </p:txBody>
          </p:sp>
        </p:grpSp>
      </p:grpSp>
      <p:grpSp>
        <p:nvGrpSpPr>
          <p:cNvPr id="6" name="Group 10"/>
          <p:cNvGrpSpPr>
            <a:grpSpLocks/>
          </p:cNvGrpSpPr>
          <p:nvPr/>
        </p:nvGrpSpPr>
        <p:grpSpPr bwMode="auto">
          <a:xfrm>
            <a:off x="490538" y="4819650"/>
            <a:ext cx="3622675" cy="728663"/>
            <a:chOff x="1665262" y="4649621"/>
            <a:chExt cx="3621859" cy="729155"/>
          </a:xfrm>
        </p:grpSpPr>
        <p:cxnSp>
          <p:nvCxnSpPr>
            <p:cNvPr id="18" name="Straight Connector 17"/>
            <p:cNvCxnSpPr/>
            <p:nvPr/>
          </p:nvCxnSpPr>
          <p:spPr>
            <a:xfrm flipV="1">
              <a:off x="1817628" y="4649621"/>
              <a:ext cx="3469493" cy="47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964" name="TextBox 12"/>
            <p:cNvSpPr txBox="1">
              <a:spLocks noChangeArrowheads="1"/>
            </p:cNvSpPr>
            <p:nvPr/>
          </p:nvSpPr>
          <p:spPr bwMode="auto">
            <a:xfrm>
              <a:off x="4118705" y="4676902"/>
              <a:ext cx="1107758" cy="701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(market) </a:t>
              </a:r>
            </a:p>
          </p:txBody>
        </p:sp>
        <p:sp>
          <p:nvSpPr>
            <p:cNvPr id="38965" name="TextBox 13"/>
            <p:cNvSpPr txBox="1">
              <a:spLocks noChangeArrowheads="1"/>
            </p:cNvSpPr>
            <p:nvPr/>
          </p:nvSpPr>
          <p:spPr bwMode="auto">
            <a:xfrm>
              <a:off x="1665262" y="4665028"/>
              <a:ext cx="312839" cy="369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1" name="TextBox 20"/>
          <p:cNvSpPr txBox="1">
            <a:spLocks noChangeArrowheads="1"/>
          </p:cNvSpPr>
          <p:nvPr/>
        </p:nvSpPr>
        <p:spPr bwMode="auto">
          <a:xfrm>
            <a:off x="1541463" y="1271588"/>
            <a:ext cx="1166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Market</a:t>
            </a:r>
          </a:p>
        </p:txBody>
      </p:sp>
      <p:grpSp>
        <p:nvGrpSpPr>
          <p:cNvPr id="8" name="Group 26"/>
          <p:cNvGrpSpPr>
            <a:grpSpLocks/>
          </p:cNvGrpSpPr>
          <p:nvPr/>
        </p:nvGrpSpPr>
        <p:grpSpPr bwMode="auto">
          <a:xfrm>
            <a:off x="5199063" y="4833938"/>
            <a:ext cx="3676650" cy="711200"/>
            <a:chOff x="1665205" y="4655130"/>
            <a:chExt cx="3677849" cy="710875"/>
          </a:xfrm>
        </p:grpSpPr>
        <p:cxnSp>
          <p:nvCxnSpPr>
            <p:cNvPr id="23" name="Straight Connector 22"/>
            <p:cNvCxnSpPr/>
            <p:nvPr/>
          </p:nvCxnSpPr>
          <p:spPr>
            <a:xfrm>
              <a:off x="1817655" y="4655130"/>
              <a:ext cx="3369774" cy="15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961" name="TextBox 28"/>
            <p:cNvSpPr txBox="1">
              <a:spLocks noChangeArrowheads="1"/>
            </p:cNvSpPr>
            <p:nvPr/>
          </p:nvSpPr>
          <p:spPr bwMode="auto">
            <a:xfrm>
              <a:off x="4299014" y="4665029"/>
              <a:ext cx="1044040" cy="700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(firm) </a:t>
              </a:r>
            </a:p>
          </p:txBody>
        </p:sp>
        <p:sp>
          <p:nvSpPr>
            <p:cNvPr id="38962" name="TextBox 29"/>
            <p:cNvSpPr txBox="1">
              <a:spLocks noChangeArrowheads="1"/>
            </p:cNvSpPr>
            <p:nvPr/>
          </p:nvSpPr>
          <p:spPr bwMode="auto">
            <a:xfrm>
              <a:off x="1665205" y="4665029"/>
              <a:ext cx="312955" cy="368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6" name="TextBox 25"/>
          <p:cNvSpPr txBox="1">
            <a:spLocks noChangeArrowheads="1"/>
          </p:cNvSpPr>
          <p:nvPr/>
        </p:nvSpPr>
        <p:spPr bwMode="auto">
          <a:xfrm>
            <a:off x="6361113" y="1271588"/>
            <a:ext cx="769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Firm</a:t>
            </a:r>
          </a:p>
        </p:txBody>
      </p:sp>
      <p:grpSp>
        <p:nvGrpSpPr>
          <p:cNvPr id="10" name="Group 14"/>
          <p:cNvGrpSpPr>
            <a:grpSpLocks/>
          </p:cNvGrpSpPr>
          <p:nvPr/>
        </p:nvGrpSpPr>
        <p:grpSpPr bwMode="auto">
          <a:xfrm>
            <a:off x="5599113" y="2271713"/>
            <a:ext cx="3236912" cy="1400175"/>
            <a:chOff x="1769428" y="2446317"/>
            <a:chExt cx="3238148" cy="1401279"/>
          </a:xfrm>
        </p:grpSpPr>
        <p:sp>
          <p:nvSpPr>
            <p:cNvPr id="28" name="Freeform 27"/>
            <p:cNvSpPr/>
            <p:nvPr/>
          </p:nvSpPr>
          <p:spPr>
            <a:xfrm>
              <a:off x="1769428" y="2446317"/>
              <a:ext cx="2766481" cy="1401279"/>
            </a:xfrm>
            <a:custGeom>
              <a:avLst/>
              <a:gdLst>
                <a:gd name="connsiteX0" fmla="*/ 0 w 4488873"/>
                <a:gd name="connsiteY0" fmla="*/ 0 h 1021278"/>
                <a:gd name="connsiteX1" fmla="*/ 4488873 w 4488873"/>
                <a:gd name="connsiteY1" fmla="*/ 1021278 h 1021278"/>
                <a:gd name="connsiteX0" fmla="*/ 0 w 4488873"/>
                <a:gd name="connsiteY0" fmla="*/ 0 h 1717964"/>
                <a:gd name="connsiteX1" fmla="*/ 4488873 w 4488873"/>
                <a:gd name="connsiteY1" fmla="*/ 1021278 h 1717964"/>
                <a:gd name="connsiteX0" fmla="*/ 0 w 4488873"/>
                <a:gd name="connsiteY0" fmla="*/ 0 h 1785258"/>
                <a:gd name="connsiteX1" fmla="*/ 4488873 w 4488873"/>
                <a:gd name="connsiteY1" fmla="*/ 1021278 h 1785258"/>
                <a:gd name="connsiteX0" fmla="*/ 0 w 4987636"/>
                <a:gd name="connsiteY0" fmla="*/ 0 h 1717964"/>
                <a:gd name="connsiteX1" fmla="*/ 4987636 w 4987636"/>
                <a:gd name="connsiteY1" fmla="*/ 665018 h 1717964"/>
                <a:gd name="connsiteX0" fmla="*/ 0 w 4987636"/>
                <a:gd name="connsiteY0" fmla="*/ 0 h 1868385"/>
                <a:gd name="connsiteX1" fmla="*/ 4987636 w 4987636"/>
                <a:gd name="connsiteY1" fmla="*/ 665018 h 1868385"/>
                <a:gd name="connsiteX0" fmla="*/ 0 w 4987636"/>
                <a:gd name="connsiteY0" fmla="*/ 0 h 1868385"/>
                <a:gd name="connsiteX1" fmla="*/ 4987636 w 4987636"/>
                <a:gd name="connsiteY1" fmla="*/ 665018 h 1868385"/>
                <a:gd name="connsiteX0" fmla="*/ 0 w 4987636"/>
                <a:gd name="connsiteY0" fmla="*/ 0 h 1717964"/>
                <a:gd name="connsiteX1" fmla="*/ 4987636 w 4987636"/>
                <a:gd name="connsiteY1" fmla="*/ 665018 h 1717964"/>
                <a:gd name="connsiteX0" fmla="*/ 0 w 4987636"/>
                <a:gd name="connsiteY0" fmla="*/ 0 h 1785258"/>
                <a:gd name="connsiteX1" fmla="*/ 4987636 w 4987636"/>
                <a:gd name="connsiteY1" fmla="*/ 665018 h 1785258"/>
              </a:gdLst>
              <a:ahLst/>
              <a:cxnLst>
                <a:cxn ang="0">
                  <a:pos x="connsiteX0" y="connsiteY0"/>
                </a:cxn>
                <a:cxn ang="0">
                  <a:pos x="connsiteX1" y="connsiteY1"/>
                </a:cxn>
              </a:cxnLst>
              <a:rect l="l" t="t" r="r" b="b"/>
              <a:pathLst>
                <a:path w="4987636" h="1785258">
                  <a:moveTo>
                    <a:pt x="0" y="0"/>
                  </a:moveTo>
                  <a:cubicBezTo>
                    <a:pt x="1009402" y="1717964"/>
                    <a:pt x="2168182" y="1785258"/>
                    <a:pt x="4987636" y="665018"/>
                  </a:cubicBezTo>
                </a:path>
              </a:pathLst>
            </a:custGeom>
            <a:ln w="38100">
              <a:solidFill>
                <a:srgbClr val="005EA4"/>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a:solidFill>
                  <a:srgbClr val="000000"/>
                </a:solidFill>
              </a:endParaRPr>
            </a:p>
          </p:txBody>
        </p:sp>
        <p:sp>
          <p:nvSpPr>
            <p:cNvPr id="38959" name="TextBox 20"/>
            <p:cNvSpPr txBox="1">
              <a:spLocks noChangeArrowheads="1"/>
            </p:cNvSpPr>
            <p:nvPr/>
          </p:nvSpPr>
          <p:spPr bwMode="auto">
            <a:xfrm>
              <a:off x="4378166" y="2662639"/>
              <a:ext cx="629410" cy="369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ATC</a:t>
              </a:r>
            </a:p>
          </p:txBody>
        </p:sp>
      </p:grpSp>
      <p:grpSp>
        <p:nvGrpSpPr>
          <p:cNvPr id="11" name="Group 15"/>
          <p:cNvGrpSpPr>
            <a:grpSpLocks/>
          </p:cNvGrpSpPr>
          <p:nvPr/>
        </p:nvGrpSpPr>
        <p:grpSpPr bwMode="auto">
          <a:xfrm>
            <a:off x="5562600" y="2287588"/>
            <a:ext cx="2601913" cy="2144712"/>
            <a:chOff x="1058890" y="1550283"/>
            <a:chExt cx="2602164" cy="2144921"/>
          </a:xfrm>
        </p:grpSpPr>
        <p:cxnSp>
          <p:nvCxnSpPr>
            <p:cNvPr id="31" name="Straight Connector 30"/>
            <p:cNvCxnSpPr/>
            <p:nvPr/>
          </p:nvCxnSpPr>
          <p:spPr>
            <a:xfrm flipV="1">
              <a:off x="1058890" y="1866226"/>
              <a:ext cx="2113167" cy="18289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957" name="TextBox 17"/>
            <p:cNvSpPr txBox="1">
              <a:spLocks noChangeArrowheads="1"/>
            </p:cNvSpPr>
            <p:nvPr/>
          </p:nvSpPr>
          <p:spPr bwMode="auto">
            <a:xfrm>
              <a:off x="3117499" y="1550283"/>
              <a:ext cx="543555"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MC</a:t>
              </a:r>
            </a:p>
          </p:txBody>
        </p:sp>
      </p:grpSp>
      <p:sp>
        <p:nvSpPr>
          <p:cNvPr id="33" name="TextBox 32"/>
          <p:cNvSpPr txBox="1">
            <a:spLocks noChangeArrowheads="1"/>
          </p:cNvSpPr>
          <p:nvPr/>
        </p:nvSpPr>
        <p:spPr bwMode="auto">
          <a:xfrm>
            <a:off x="3411538" y="920750"/>
            <a:ext cx="2446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(a) Initial Condition</a:t>
            </a:r>
          </a:p>
        </p:txBody>
      </p:sp>
      <p:grpSp>
        <p:nvGrpSpPr>
          <p:cNvPr id="13" name="Group 47"/>
          <p:cNvGrpSpPr>
            <a:grpSpLocks/>
          </p:cNvGrpSpPr>
          <p:nvPr/>
        </p:nvGrpSpPr>
        <p:grpSpPr bwMode="auto">
          <a:xfrm>
            <a:off x="831850" y="2338388"/>
            <a:ext cx="3319463" cy="1857375"/>
            <a:chOff x="1353795" y="2679850"/>
            <a:chExt cx="3319330" cy="1856524"/>
          </a:xfrm>
        </p:grpSpPr>
        <p:cxnSp>
          <p:nvCxnSpPr>
            <p:cNvPr id="35" name="Straight Connector 34"/>
            <p:cNvCxnSpPr/>
            <p:nvPr/>
          </p:nvCxnSpPr>
          <p:spPr>
            <a:xfrm flipV="1">
              <a:off x="1353795" y="2981337"/>
              <a:ext cx="1995408" cy="1555037"/>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38955" name="TextBox 46"/>
            <p:cNvSpPr txBox="1">
              <a:spLocks noChangeArrowheads="1"/>
            </p:cNvSpPr>
            <p:nvPr/>
          </p:nvSpPr>
          <p:spPr bwMode="auto">
            <a:xfrm>
              <a:off x="2445779" y="2679850"/>
              <a:ext cx="2227346" cy="36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Short-run supply, S</a:t>
              </a:r>
              <a:r>
                <a:rPr lang="en-US" altLang="en-US" sz="1800" baseline="-25000">
                  <a:solidFill>
                    <a:srgbClr val="000000"/>
                  </a:solidFill>
                </a:rPr>
                <a:t>1</a:t>
              </a:r>
            </a:p>
          </p:txBody>
        </p:sp>
      </p:grpSp>
      <p:grpSp>
        <p:nvGrpSpPr>
          <p:cNvPr id="15" name="Group 49"/>
          <p:cNvGrpSpPr>
            <a:grpSpLocks/>
          </p:cNvGrpSpPr>
          <p:nvPr/>
        </p:nvGrpSpPr>
        <p:grpSpPr bwMode="auto">
          <a:xfrm>
            <a:off x="831850" y="2568575"/>
            <a:ext cx="2906713" cy="2073275"/>
            <a:chOff x="1353795" y="2909455"/>
            <a:chExt cx="2906807" cy="2073630"/>
          </a:xfrm>
        </p:grpSpPr>
        <p:cxnSp>
          <p:nvCxnSpPr>
            <p:cNvPr id="38" name="Straight Connector 37"/>
            <p:cNvCxnSpPr/>
            <p:nvPr/>
          </p:nvCxnSpPr>
          <p:spPr>
            <a:xfrm>
              <a:off x="1353795" y="2909455"/>
              <a:ext cx="2101918" cy="1662398"/>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38953" name="TextBox 48"/>
            <p:cNvSpPr txBox="1">
              <a:spLocks noChangeArrowheads="1"/>
            </p:cNvSpPr>
            <p:nvPr/>
          </p:nvSpPr>
          <p:spPr bwMode="auto">
            <a:xfrm>
              <a:off x="2823904" y="4613550"/>
              <a:ext cx="1436698" cy="369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Demand, D</a:t>
              </a:r>
              <a:r>
                <a:rPr lang="en-US" altLang="en-US" sz="1800" baseline="-25000">
                  <a:solidFill>
                    <a:srgbClr val="000000"/>
                  </a:solidFill>
                </a:rPr>
                <a:t>1</a:t>
              </a:r>
            </a:p>
          </p:txBody>
        </p:sp>
      </p:grpSp>
      <p:grpSp>
        <p:nvGrpSpPr>
          <p:cNvPr id="17" name="Group 53"/>
          <p:cNvGrpSpPr>
            <a:grpSpLocks/>
          </p:cNvGrpSpPr>
          <p:nvPr/>
        </p:nvGrpSpPr>
        <p:grpSpPr bwMode="auto">
          <a:xfrm>
            <a:off x="1644650" y="3387725"/>
            <a:ext cx="449263" cy="1817688"/>
            <a:chOff x="1786876" y="3729646"/>
            <a:chExt cx="448757" cy="1817115"/>
          </a:xfrm>
        </p:grpSpPr>
        <p:cxnSp>
          <p:nvCxnSpPr>
            <p:cNvPr id="41" name="Straight Connector 40"/>
            <p:cNvCxnSpPr/>
            <p:nvPr/>
          </p:nvCxnSpPr>
          <p:spPr>
            <a:xfrm rot="5400000">
              <a:off x="1275684" y="4459666"/>
              <a:ext cx="1461627" cy="158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8951" name="TextBox 52"/>
            <p:cNvSpPr txBox="1">
              <a:spLocks noChangeArrowheads="1"/>
            </p:cNvSpPr>
            <p:nvPr/>
          </p:nvSpPr>
          <p:spPr bwMode="auto">
            <a:xfrm>
              <a:off x="1786876" y="5177632"/>
              <a:ext cx="448757" cy="36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1</a:t>
              </a:r>
            </a:p>
          </p:txBody>
        </p:sp>
      </p:grpSp>
      <p:cxnSp>
        <p:nvCxnSpPr>
          <p:cNvPr id="43" name="Straight Connector 42"/>
          <p:cNvCxnSpPr/>
          <p:nvPr/>
        </p:nvCxnSpPr>
        <p:spPr>
          <a:xfrm flipV="1">
            <a:off x="3365500" y="3375025"/>
            <a:ext cx="1508125"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9" name="Group 62"/>
          <p:cNvGrpSpPr>
            <a:grpSpLocks/>
          </p:cNvGrpSpPr>
          <p:nvPr/>
        </p:nvGrpSpPr>
        <p:grpSpPr bwMode="auto">
          <a:xfrm>
            <a:off x="211138" y="3097213"/>
            <a:ext cx="3656012" cy="701675"/>
            <a:chOff x="732567" y="3437893"/>
            <a:chExt cx="3657163" cy="702422"/>
          </a:xfrm>
        </p:grpSpPr>
        <p:grpSp>
          <p:nvGrpSpPr>
            <p:cNvPr id="38946" name="Group 31"/>
            <p:cNvGrpSpPr>
              <a:grpSpLocks/>
            </p:cNvGrpSpPr>
            <p:nvPr/>
          </p:nvGrpSpPr>
          <p:grpSpPr bwMode="auto">
            <a:xfrm>
              <a:off x="732567" y="3528941"/>
              <a:ext cx="3555104" cy="369695"/>
              <a:chOff x="1387667" y="2972791"/>
              <a:chExt cx="3555104" cy="369695"/>
            </a:xfrm>
          </p:grpSpPr>
          <p:cxnSp>
            <p:nvCxnSpPr>
              <p:cNvPr id="47" name="Straight Connector 46"/>
              <p:cNvCxnSpPr/>
              <p:nvPr/>
            </p:nvCxnSpPr>
            <p:spPr>
              <a:xfrm>
                <a:off x="1832307" y="3172564"/>
                <a:ext cx="3110891" cy="0"/>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8949" name="TextBox 33"/>
              <p:cNvSpPr txBox="1">
                <a:spLocks noChangeArrowheads="1"/>
              </p:cNvSpPr>
              <p:nvPr/>
            </p:nvSpPr>
            <p:spPr bwMode="auto">
              <a:xfrm>
                <a:off x="1387667" y="2972791"/>
                <a:ext cx="423488" cy="369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sp>
          <p:nvSpPr>
            <p:cNvPr id="38947" name="TextBox 61"/>
            <p:cNvSpPr txBox="1">
              <a:spLocks noChangeArrowheads="1"/>
            </p:cNvSpPr>
            <p:nvPr/>
          </p:nvSpPr>
          <p:spPr bwMode="auto">
            <a:xfrm>
              <a:off x="3281802" y="3437893"/>
              <a:ext cx="1107928" cy="7024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Long-run</a:t>
              </a:r>
            </a:p>
            <a:p>
              <a:pPr eaLnBrk="1" hangingPunct="1"/>
              <a:r>
                <a:rPr lang="en-US" altLang="en-US" sz="1800">
                  <a:solidFill>
                    <a:srgbClr val="000000"/>
                  </a:solidFill>
                </a:rPr>
                <a:t>supply</a:t>
              </a:r>
              <a:endParaRPr lang="en-US" altLang="en-US" sz="1800" baseline="-25000">
                <a:solidFill>
                  <a:srgbClr val="000000"/>
                </a:solidFill>
              </a:endParaRPr>
            </a:p>
          </p:txBody>
        </p:sp>
      </p:grpSp>
      <p:grpSp>
        <p:nvGrpSpPr>
          <p:cNvPr id="22" name="Group 31"/>
          <p:cNvGrpSpPr>
            <a:grpSpLocks/>
          </p:cNvGrpSpPr>
          <p:nvPr/>
        </p:nvGrpSpPr>
        <p:grpSpPr bwMode="auto">
          <a:xfrm>
            <a:off x="4879975" y="3186113"/>
            <a:ext cx="3554413" cy="369887"/>
            <a:chOff x="1387611" y="2972795"/>
            <a:chExt cx="3554481" cy="369787"/>
          </a:xfrm>
        </p:grpSpPr>
        <p:cxnSp>
          <p:nvCxnSpPr>
            <p:cNvPr id="50" name="Straight Connector 49"/>
            <p:cNvCxnSpPr/>
            <p:nvPr/>
          </p:nvCxnSpPr>
          <p:spPr>
            <a:xfrm>
              <a:off x="1830532" y="3172766"/>
              <a:ext cx="3111560" cy="0"/>
            </a:xfrm>
            <a:prstGeom prst="line">
              <a:avLst/>
            </a:prstGeom>
            <a:ln w="57150">
              <a:solidFill>
                <a:srgbClr val="005EA4"/>
              </a:solidFill>
              <a:prstDash val="solid"/>
            </a:ln>
          </p:spPr>
          <p:style>
            <a:lnRef idx="1">
              <a:schemeClr val="accent1"/>
            </a:lnRef>
            <a:fillRef idx="0">
              <a:schemeClr val="accent1"/>
            </a:fillRef>
            <a:effectRef idx="0">
              <a:schemeClr val="accent1"/>
            </a:effectRef>
            <a:fontRef idx="minor">
              <a:schemeClr val="tx1"/>
            </a:fontRef>
          </p:style>
        </p:cxnSp>
        <p:sp>
          <p:nvSpPr>
            <p:cNvPr id="38945" name="TextBox 67"/>
            <p:cNvSpPr txBox="1">
              <a:spLocks noChangeArrowheads="1"/>
            </p:cNvSpPr>
            <p:nvPr/>
          </p:nvSpPr>
          <p:spPr bwMode="auto">
            <a:xfrm>
              <a:off x="1387611" y="2972795"/>
              <a:ext cx="423596" cy="36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grpSp>
        <p:nvGrpSpPr>
          <p:cNvPr id="24" name="Group 77"/>
          <p:cNvGrpSpPr>
            <a:grpSpLocks/>
          </p:cNvGrpSpPr>
          <p:nvPr/>
        </p:nvGrpSpPr>
        <p:grpSpPr bwMode="auto">
          <a:xfrm>
            <a:off x="911225" y="1608138"/>
            <a:ext cx="2500313" cy="1858962"/>
            <a:chOff x="816375" y="1949230"/>
            <a:chExt cx="2500131" cy="1858942"/>
          </a:xfrm>
        </p:grpSpPr>
        <p:grpSp>
          <p:nvGrpSpPr>
            <p:cNvPr id="38939" name="Group 57"/>
            <p:cNvGrpSpPr>
              <a:grpSpLocks/>
            </p:cNvGrpSpPr>
            <p:nvPr/>
          </p:nvGrpSpPr>
          <p:grpSpPr bwMode="auto">
            <a:xfrm>
              <a:off x="1614187" y="3360708"/>
              <a:ext cx="338512" cy="447464"/>
              <a:chOff x="2552321" y="2743191"/>
              <a:chExt cx="338512" cy="447464"/>
            </a:xfrm>
          </p:grpSpPr>
          <p:sp>
            <p:nvSpPr>
              <p:cNvPr id="38942"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38943" name="TextBox 56"/>
              <p:cNvSpPr txBox="1">
                <a:spLocks noChangeArrowheads="1"/>
              </p:cNvSpPr>
              <p:nvPr/>
            </p:nvSpPr>
            <p:spPr bwMode="auto">
              <a:xfrm>
                <a:off x="2552321" y="2743191"/>
                <a:ext cx="338512" cy="36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a:t>
                </a:r>
                <a:endParaRPr lang="en-US" altLang="en-US" sz="1800" baseline="-25000">
                  <a:solidFill>
                    <a:srgbClr val="000000"/>
                  </a:solidFill>
                </a:endParaRPr>
              </a:p>
            </p:txBody>
          </p:sp>
        </p:grpSp>
        <p:sp>
          <p:nvSpPr>
            <p:cNvPr id="38940" name="TextBox 73"/>
            <p:cNvSpPr txBox="1">
              <a:spLocks noChangeArrowheads="1"/>
            </p:cNvSpPr>
            <p:nvPr/>
          </p:nvSpPr>
          <p:spPr bwMode="auto">
            <a:xfrm>
              <a:off x="816375" y="1949230"/>
              <a:ext cx="2500131" cy="701875"/>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1. A market begins in</a:t>
              </a:r>
            </a:p>
            <a:p>
              <a:pPr eaLnBrk="1" hangingPunct="1"/>
              <a:r>
                <a:rPr lang="en-US" altLang="en-US" sz="1800">
                  <a:solidFill>
                    <a:srgbClr val="000000"/>
                  </a:solidFill>
                </a:rPr>
                <a:t>long-run equilibrium…</a:t>
              </a:r>
            </a:p>
          </p:txBody>
        </p:sp>
        <p:cxnSp>
          <p:nvCxnSpPr>
            <p:cNvPr id="55" name="Straight Connector 54"/>
            <p:cNvCxnSpPr/>
            <p:nvPr/>
          </p:nvCxnSpPr>
          <p:spPr>
            <a:xfrm rot="16200000" flipV="1">
              <a:off x="1090970" y="2825533"/>
              <a:ext cx="736592" cy="4063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oup 81"/>
          <p:cNvGrpSpPr>
            <a:grpSpLocks/>
          </p:cNvGrpSpPr>
          <p:nvPr/>
        </p:nvGrpSpPr>
        <p:grpSpPr bwMode="auto">
          <a:xfrm>
            <a:off x="5703888" y="1631950"/>
            <a:ext cx="2347912" cy="1820863"/>
            <a:chOff x="5485697" y="1974086"/>
            <a:chExt cx="2347259" cy="1820231"/>
          </a:xfrm>
        </p:grpSpPr>
        <p:sp>
          <p:nvSpPr>
            <p:cNvPr id="38936" name="Freeform 183"/>
            <p:cNvSpPr>
              <a:spLocks/>
            </p:cNvSpPr>
            <p:nvPr/>
          </p:nvSpPr>
          <p:spPr bwMode="auto">
            <a:xfrm>
              <a:off x="6488379" y="3657638"/>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38937" name="TextBox 78"/>
            <p:cNvSpPr txBox="1">
              <a:spLocks noChangeArrowheads="1"/>
            </p:cNvSpPr>
            <p:nvPr/>
          </p:nvSpPr>
          <p:spPr bwMode="auto">
            <a:xfrm>
              <a:off x="5485697" y="1974086"/>
              <a:ext cx="2347259" cy="701641"/>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2. …with the firm</a:t>
              </a:r>
            </a:p>
            <a:p>
              <a:pPr eaLnBrk="1" hangingPunct="1"/>
              <a:r>
                <a:rPr lang="en-US" altLang="en-US" sz="1800">
                  <a:solidFill>
                    <a:srgbClr val="000000"/>
                  </a:solidFill>
                </a:rPr>
                <a:t>earning zero profit.</a:t>
              </a:r>
            </a:p>
          </p:txBody>
        </p:sp>
        <p:cxnSp>
          <p:nvCxnSpPr>
            <p:cNvPr id="61" name="Straight Connector 60"/>
            <p:cNvCxnSpPr/>
            <p:nvPr/>
          </p:nvCxnSpPr>
          <p:spPr>
            <a:xfrm rot="16200000" flipV="1">
              <a:off x="5758704" y="2921477"/>
              <a:ext cx="964865" cy="5269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Footer Placeholder 4">
            <a:extLst>
              <a:ext uri="{FF2B5EF4-FFF2-40B4-BE49-F238E27FC236}">
                <a16:creationId xmlns:a16="http://schemas.microsoft.com/office/drawing/2014/main" id="{B317A403-0922-31AA-D17A-7BE5F1B2709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061247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left)">
                                      <p:cBhvr>
                                        <p:cTn id="13" dur="500"/>
                                        <p:tgtEl>
                                          <p:spTgt spid="26"/>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22" presetClass="entr" presetSubtype="4"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4"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500"/>
                                        <p:tgtEl>
                                          <p:spTgt spid="2"/>
                                        </p:tgtEl>
                                      </p:cBhvr>
                                    </p:animEffect>
                                  </p:childTnLst>
                                </p:cTn>
                              </p:par>
                            </p:childTnLst>
                          </p:cTn>
                        </p:par>
                        <p:par>
                          <p:cTn id="28" fill="hold" nodeType="afterGroup">
                            <p:stCondLst>
                              <p:cond delay="1500"/>
                            </p:stCondLst>
                            <p:childTnLst>
                              <p:par>
                                <p:cTn id="29" presetID="22" presetClass="entr" presetSubtype="8"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1000"/>
                                        <p:tgtEl>
                                          <p:spTgt spid="15"/>
                                        </p:tgtEl>
                                      </p:cBhvr>
                                    </p:animEffect>
                                  </p:childTnLst>
                                </p:cTn>
                              </p:par>
                            </p:childTnLst>
                          </p:cTn>
                        </p:par>
                        <p:par>
                          <p:cTn id="32" fill="hold" nodeType="afterGroup">
                            <p:stCondLst>
                              <p:cond delay="2500"/>
                            </p:stCondLst>
                            <p:childTnLst>
                              <p:par>
                                <p:cTn id="33" presetID="22" presetClass="entr" presetSubtype="8"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1000"/>
                                        <p:tgtEl>
                                          <p:spTgt spid="13"/>
                                        </p:tgtEl>
                                      </p:cBhvr>
                                    </p:animEffect>
                                  </p:childTnLst>
                                </p:cTn>
                              </p:par>
                            </p:childTnLst>
                          </p:cTn>
                        </p:par>
                        <p:par>
                          <p:cTn id="36" fill="hold" nodeType="afterGroup">
                            <p:stCondLst>
                              <p:cond delay="3500"/>
                            </p:stCondLst>
                            <p:childTnLst>
                              <p:par>
                                <p:cTn id="37" presetID="22" presetClass="entr" presetSubtype="8"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1000"/>
                                        <p:tgtEl>
                                          <p:spTgt spid="19"/>
                                        </p:tgtEl>
                                      </p:cBhvr>
                                    </p:animEffect>
                                  </p:childTnLst>
                                </p:cTn>
                              </p:par>
                            </p:childTnLst>
                          </p:cTn>
                        </p:par>
                        <p:par>
                          <p:cTn id="40" fill="hold" nodeType="afterGroup">
                            <p:stCondLst>
                              <p:cond delay="4500"/>
                            </p:stCondLst>
                            <p:childTnLst>
                              <p:par>
                                <p:cTn id="41" presetID="22" presetClass="entr" presetSubtype="1"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up)">
                                      <p:cBhvr>
                                        <p:cTn id="43" dur="500"/>
                                        <p:tgtEl>
                                          <p:spTgt spid="17"/>
                                        </p:tgtEl>
                                      </p:cBhvr>
                                    </p:animEffect>
                                  </p:childTnLst>
                                </p:cTn>
                              </p:par>
                            </p:childTnLst>
                          </p:cTn>
                        </p:par>
                        <p:par>
                          <p:cTn id="44" fill="hold" nodeType="afterGroup">
                            <p:stCondLst>
                              <p:cond delay="5000"/>
                            </p:stCondLst>
                            <p:childTnLst>
                              <p:par>
                                <p:cTn id="45" presetID="22" presetClass="entr" presetSubtype="8" fill="hold"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childTnLst>
                          </p:cTn>
                        </p:par>
                        <p:par>
                          <p:cTn id="48" fill="hold" nodeType="afterGroup">
                            <p:stCondLst>
                              <p:cond delay="5500"/>
                            </p:stCondLst>
                            <p:childTnLst>
                              <p:par>
                                <p:cTn id="49" presetID="22" presetClass="entr" presetSubtype="8" fill="hold"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left)">
                                      <p:cBhvr>
                                        <p:cTn id="51" dur="1000"/>
                                        <p:tgtEl>
                                          <p:spTgt spid="10"/>
                                        </p:tgtEl>
                                      </p:cBhvr>
                                    </p:animEffect>
                                  </p:childTnLst>
                                </p:cTn>
                              </p:par>
                            </p:childTnLst>
                          </p:cTn>
                        </p:par>
                        <p:par>
                          <p:cTn id="52" fill="hold" nodeType="afterGroup">
                            <p:stCondLst>
                              <p:cond delay="6500"/>
                            </p:stCondLst>
                            <p:childTnLst>
                              <p:par>
                                <p:cTn id="53" presetID="22" presetClass="entr" presetSubtype="8" fill="hold" nodeType="after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left)">
                                      <p:cBhvr>
                                        <p:cTn id="55" dur="1000"/>
                                        <p:tgtEl>
                                          <p:spTgt spid="11"/>
                                        </p:tgtEl>
                                      </p:cBhvr>
                                    </p:animEffect>
                                  </p:childTnLst>
                                </p:cTn>
                              </p:par>
                            </p:childTnLst>
                          </p:cTn>
                        </p:par>
                        <p:par>
                          <p:cTn id="56" fill="hold" nodeType="afterGroup">
                            <p:stCondLst>
                              <p:cond delay="7500"/>
                            </p:stCondLst>
                            <p:childTnLst>
                              <p:par>
                                <p:cTn id="57" presetID="22" presetClass="entr" presetSubtype="8" fill="hold" nodeType="after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wipe(left)">
                                      <p:cBhvr>
                                        <p:cTn id="59" dur="500"/>
                                        <p:tgtEl>
                                          <p:spTgt spid="43"/>
                                        </p:tgtEl>
                                      </p:cBhvr>
                                    </p:animEffect>
                                  </p:childTnLst>
                                </p:cTn>
                              </p:par>
                            </p:childTnLst>
                          </p:cTn>
                        </p:par>
                        <p:par>
                          <p:cTn id="60" fill="hold" nodeType="afterGroup">
                            <p:stCondLst>
                              <p:cond delay="8000"/>
                            </p:stCondLst>
                            <p:childTnLst>
                              <p:par>
                                <p:cTn id="61" presetID="22" presetClass="entr" presetSubtype="8" fill="hold"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wipe(left)">
                                      <p:cBhvr>
                                        <p:cTn id="63" dur="1000"/>
                                        <p:tgtEl>
                                          <p:spTgt spid="22"/>
                                        </p:tgtEl>
                                      </p:cBhvr>
                                    </p:animEffect>
                                  </p:childTnLst>
                                </p:cTn>
                              </p:par>
                            </p:childTnLst>
                          </p:cTn>
                        </p:par>
                        <p:par>
                          <p:cTn id="64" fill="hold" nodeType="afterGroup">
                            <p:stCondLst>
                              <p:cond delay="9000"/>
                            </p:stCondLst>
                            <p:childTnLst>
                              <p:par>
                                <p:cTn id="65" presetID="22" presetClass="entr" presetSubtype="8" fill="hold"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left)">
                                      <p:cBhvr>
                                        <p:cTn id="67" dur="500"/>
                                        <p:tgtEl>
                                          <p:spTgt spid="27"/>
                                        </p:tgtEl>
                                      </p:cBhvr>
                                    </p:animEffect>
                                  </p:childTnLst>
                                </p:cTn>
                              </p:par>
                            </p:childTnLst>
                          </p:cTn>
                        </p:par>
                        <p:par>
                          <p:cTn id="68" fill="hold">
                            <p:stCondLst>
                              <p:cond delay="9500"/>
                            </p:stCondLst>
                            <p:childTnLst>
                              <p:par>
                                <p:cTn id="69" presetID="22" presetClass="entr" presetSubtype="8" fill="hold" grpId="0" nodeType="afterEffect">
                                  <p:stCondLst>
                                    <p:cond delay="0"/>
                                  </p:stCondLst>
                                  <p:childTnLst>
                                    <p:set>
                                      <p:cBhvr>
                                        <p:cTn id="70" dur="1" fill="hold">
                                          <p:stCondLst>
                                            <p:cond delay="0"/>
                                          </p:stCondLst>
                                        </p:cTn>
                                        <p:tgtEl>
                                          <p:spTgt spid="3">
                                            <p:txEl>
                                              <p:pRg st="0" end="0"/>
                                            </p:txEl>
                                          </p:spTgt>
                                        </p:tgtEl>
                                        <p:attrNameLst>
                                          <p:attrName>style.visibility</p:attrName>
                                        </p:attrNameLst>
                                      </p:cBhvr>
                                      <p:to>
                                        <p:strVal val="visible"/>
                                      </p:to>
                                    </p:set>
                                    <p:animEffect transition="in" filter="wipe(left)">
                                      <p:cBhvr>
                                        <p:cTn id="7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6" grpId="0"/>
      <p:bldP spid="33"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algn="ctr"/>
            <a:r>
              <a:rPr lang="en-US" altLang="en-US" sz="3000" dirty="0">
                <a:solidFill>
                  <a:srgbClr val="AE1221"/>
                </a:solidFill>
              </a:rPr>
              <a:t>Figure 8: An increase in demand in SR and LR (b)</a:t>
            </a:r>
          </a:p>
        </p:txBody>
      </p:sp>
      <p:sp>
        <p:nvSpPr>
          <p:cNvPr id="39939" name="Slide Number Placeholder 2"/>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F8CF4D57-5306-4935-B551-3FE5B530F721}" type="slidenum">
              <a:rPr lang="en-US" altLang="en-US" sz="1200" smtClean="0">
                <a:solidFill>
                  <a:srgbClr val="002060"/>
                </a:solidFill>
              </a:rPr>
              <a:pPr eaLnBrk="1" hangingPunct="1"/>
              <a:t>32</a:t>
            </a:fld>
            <a:endParaRPr lang="en-US" altLang="en-US" sz="1200">
              <a:solidFill>
                <a:srgbClr val="002060"/>
              </a:solidFill>
            </a:endParaRPr>
          </a:p>
        </p:txBody>
      </p:sp>
      <p:sp>
        <p:nvSpPr>
          <p:cNvPr id="3" name="Text Placeholder 2"/>
          <p:cNvSpPr>
            <a:spLocks noGrp="1"/>
          </p:cNvSpPr>
          <p:nvPr>
            <p:ph idx="12"/>
          </p:nvPr>
        </p:nvSpPr>
        <p:spPr>
          <a:xfrm>
            <a:off x="0" y="5193707"/>
            <a:ext cx="9144000" cy="1276789"/>
          </a:xfrm>
        </p:spPr>
        <p:txBody>
          <a:bodyPr>
            <a:noAutofit/>
          </a:bodyPr>
          <a:lstStyle/>
          <a:p>
            <a:pPr marL="0" indent="0">
              <a:buNone/>
            </a:pPr>
            <a:r>
              <a:rPr lang="en-US" altLang="en-US" sz="1800" dirty="0"/>
              <a:t>Panel (b) shows what happens in the short run when demand rises from D</a:t>
            </a:r>
            <a:r>
              <a:rPr lang="en-US" altLang="en-US" sz="1800" baseline="-25000" dirty="0"/>
              <a:t>1</a:t>
            </a:r>
            <a:r>
              <a:rPr lang="en-US" altLang="en-US" sz="1800" dirty="0"/>
              <a:t> to D</a:t>
            </a:r>
            <a:r>
              <a:rPr lang="en-US" altLang="en-US" sz="1800" baseline="-25000" dirty="0"/>
              <a:t>2</a:t>
            </a:r>
            <a:r>
              <a:rPr lang="en-US" altLang="en-US" sz="1800" dirty="0"/>
              <a:t>. The equilibrium goes from point A to point B, price rises from P</a:t>
            </a:r>
            <a:r>
              <a:rPr lang="en-US" altLang="en-US" sz="1800" baseline="-25000" dirty="0"/>
              <a:t>1</a:t>
            </a:r>
            <a:r>
              <a:rPr lang="en-US" altLang="en-US" sz="1800" dirty="0"/>
              <a:t> to P</a:t>
            </a:r>
            <a:r>
              <a:rPr lang="en-US" altLang="en-US" sz="1800" baseline="-25000" dirty="0"/>
              <a:t>2</a:t>
            </a:r>
            <a:r>
              <a:rPr lang="en-US" altLang="en-US" sz="1800" dirty="0"/>
              <a:t>, and the quantity sold in the market rises from Q</a:t>
            </a:r>
            <a:r>
              <a:rPr lang="en-US" altLang="en-US" sz="1800" baseline="-25000" dirty="0"/>
              <a:t>1</a:t>
            </a:r>
            <a:r>
              <a:rPr lang="en-US" altLang="en-US" sz="1800" dirty="0"/>
              <a:t> to Q</a:t>
            </a:r>
            <a:r>
              <a:rPr lang="en-US" altLang="en-US" sz="1800" baseline="-25000" dirty="0"/>
              <a:t>2</a:t>
            </a:r>
            <a:r>
              <a:rPr lang="en-US" altLang="en-US" sz="1800" dirty="0"/>
              <a:t>. Because price now exceeds average total cost, each firm now makes a profit, which, over time, encourages new firms to enter the market.</a:t>
            </a:r>
          </a:p>
        </p:txBody>
      </p:sp>
      <p:grpSp>
        <p:nvGrpSpPr>
          <p:cNvPr id="2" name="Group 4"/>
          <p:cNvGrpSpPr>
            <a:grpSpLocks/>
          </p:cNvGrpSpPr>
          <p:nvPr/>
        </p:nvGrpSpPr>
        <p:grpSpPr bwMode="auto">
          <a:xfrm>
            <a:off x="4787900" y="1343025"/>
            <a:ext cx="3898900" cy="3351213"/>
            <a:chOff x="1363773" y="1305010"/>
            <a:chExt cx="3898841" cy="3350910"/>
          </a:xfrm>
        </p:grpSpPr>
        <p:sp>
          <p:nvSpPr>
            <p:cNvPr id="7" name="Rectangle 6"/>
            <p:cNvSpPr/>
            <p:nvPr/>
          </p:nvSpPr>
          <p:spPr>
            <a:xfrm>
              <a:off x="1828904" y="1638355"/>
              <a:ext cx="3433710" cy="30048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40012" name="Group 16"/>
            <p:cNvGrpSpPr>
              <a:grpSpLocks/>
            </p:cNvGrpSpPr>
            <p:nvPr/>
          </p:nvGrpSpPr>
          <p:grpSpPr bwMode="auto">
            <a:xfrm>
              <a:off x="1363773" y="1305010"/>
              <a:ext cx="710583" cy="3350910"/>
              <a:chOff x="1363773" y="1305010"/>
              <a:chExt cx="710583" cy="3350910"/>
            </a:xfrm>
          </p:grpSpPr>
          <p:cxnSp>
            <p:nvCxnSpPr>
              <p:cNvPr id="9" name="Straight Connector 8"/>
              <p:cNvCxnSpPr/>
              <p:nvPr/>
            </p:nvCxnSpPr>
            <p:spPr>
              <a:xfrm rot="5400000">
                <a:off x="291547" y="3129677"/>
                <a:ext cx="30524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014" name="TextBox 8"/>
              <p:cNvSpPr txBox="1">
                <a:spLocks noChangeArrowheads="1"/>
              </p:cNvSpPr>
              <p:nvPr/>
            </p:nvSpPr>
            <p:spPr bwMode="auto">
              <a:xfrm>
                <a:off x="1363773" y="1305010"/>
                <a:ext cx="710583" cy="3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algn="r" eaLnBrk="1" hangingPunct="1"/>
                <a:r>
                  <a:rPr lang="en-US" altLang="en-US" sz="1800">
                    <a:solidFill>
                      <a:srgbClr val="000000"/>
                    </a:solidFill>
                  </a:rPr>
                  <a:t>Price</a:t>
                </a:r>
              </a:p>
            </p:txBody>
          </p:sp>
        </p:grpSp>
      </p:grpSp>
      <p:grpSp>
        <p:nvGrpSpPr>
          <p:cNvPr id="4" name="Group 9"/>
          <p:cNvGrpSpPr>
            <a:grpSpLocks/>
          </p:cNvGrpSpPr>
          <p:nvPr/>
        </p:nvGrpSpPr>
        <p:grpSpPr bwMode="auto">
          <a:xfrm>
            <a:off x="188913" y="1319213"/>
            <a:ext cx="4081462" cy="3365500"/>
            <a:chOff x="1350161" y="1291457"/>
            <a:chExt cx="4082704" cy="3364463"/>
          </a:xfrm>
        </p:grpSpPr>
        <p:sp>
          <p:nvSpPr>
            <p:cNvPr id="12" name="Rectangle 11"/>
            <p:cNvSpPr/>
            <p:nvPr/>
          </p:nvSpPr>
          <p:spPr>
            <a:xfrm>
              <a:off x="1829732" y="1639012"/>
              <a:ext cx="3603133" cy="30042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40008" name="Group 16"/>
            <p:cNvGrpSpPr>
              <a:grpSpLocks/>
            </p:cNvGrpSpPr>
            <p:nvPr/>
          </p:nvGrpSpPr>
          <p:grpSpPr bwMode="auto">
            <a:xfrm>
              <a:off x="1350161" y="1291457"/>
              <a:ext cx="710527" cy="3364463"/>
              <a:chOff x="1350161" y="1291457"/>
              <a:chExt cx="710527" cy="3364463"/>
            </a:xfrm>
          </p:grpSpPr>
          <p:cxnSp>
            <p:nvCxnSpPr>
              <p:cNvPr id="14" name="Straight Connector 13"/>
              <p:cNvCxnSpPr/>
              <p:nvPr/>
            </p:nvCxnSpPr>
            <p:spPr>
              <a:xfrm rot="5400000">
                <a:off x="290323" y="3129216"/>
                <a:ext cx="3053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010" name="TextBox 8"/>
              <p:cNvSpPr txBox="1">
                <a:spLocks noChangeArrowheads="1"/>
              </p:cNvSpPr>
              <p:nvPr/>
            </p:nvSpPr>
            <p:spPr bwMode="auto">
              <a:xfrm>
                <a:off x="1350161" y="1291457"/>
                <a:ext cx="710527" cy="369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algn="r" eaLnBrk="1" hangingPunct="1"/>
                <a:r>
                  <a:rPr lang="en-US" altLang="en-US" sz="1800">
                    <a:solidFill>
                      <a:srgbClr val="000000"/>
                    </a:solidFill>
                  </a:rPr>
                  <a:t>Price</a:t>
                </a:r>
              </a:p>
            </p:txBody>
          </p:sp>
        </p:grpSp>
      </p:grpSp>
      <p:grpSp>
        <p:nvGrpSpPr>
          <p:cNvPr id="6" name="Group 15"/>
          <p:cNvGrpSpPr>
            <a:grpSpLocks/>
          </p:cNvGrpSpPr>
          <p:nvPr/>
        </p:nvGrpSpPr>
        <p:grpSpPr bwMode="auto">
          <a:xfrm>
            <a:off x="503238" y="4670425"/>
            <a:ext cx="3784600" cy="723900"/>
            <a:chOff x="1665262" y="4654201"/>
            <a:chExt cx="3784174" cy="724574"/>
          </a:xfrm>
        </p:grpSpPr>
        <p:cxnSp>
          <p:nvCxnSpPr>
            <p:cNvPr id="18" name="Straight Connector 17"/>
            <p:cNvCxnSpPr/>
            <p:nvPr/>
          </p:nvCxnSpPr>
          <p:spPr>
            <a:xfrm flipV="1">
              <a:off x="1817645" y="4654201"/>
              <a:ext cx="3628617" cy="15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005" name="TextBox 17"/>
            <p:cNvSpPr txBox="1">
              <a:spLocks noChangeArrowheads="1"/>
            </p:cNvSpPr>
            <p:nvPr/>
          </p:nvSpPr>
          <p:spPr bwMode="auto">
            <a:xfrm>
              <a:off x="4341677" y="4676902"/>
              <a:ext cx="1107759" cy="70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(market) </a:t>
              </a:r>
            </a:p>
          </p:txBody>
        </p:sp>
        <p:sp>
          <p:nvSpPr>
            <p:cNvPr id="40006" name="TextBox 18"/>
            <p:cNvSpPr txBox="1">
              <a:spLocks noChangeArrowheads="1"/>
            </p:cNvSpPr>
            <p:nvPr/>
          </p:nvSpPr>
          <p:spPr bwMode="auto">
            <a:xfrm>
              <a:off x="1665262" y="4665028"/>
              <a:ext cx="312839" cy="369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1" name="TextBox 20"/>
          <p:cNvSpPr txBox="1">
            <a:spLocks noChangeArrowheads="1"/>
          </p:cNvSpPr>
          <p:nvPr/>
        </p:nvSpPr>
        <p:spPr bwMode="auto">
          <a:xfrm>
            <a:off x="1597025" y="1117600"/>
            <a:ext cx="1125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Market</a:t>
            </a:r>
          </a:p>
        </p:txBody>
      </p:sp>
      <p:grpSp>
        <p:nvGrpSpPr>
          <p:cNvPr id="8" name="Group 20"/>
          <p:cNvGrpSpPr>
            <a:grpSpLocks/>
          </p:cNvGrpSpPr>
          <p:nvPr/>
        </p:nvGrpSpPr>
        <p:grpSpPr bwMode="auto">
          <a:xfrm>
            <a:off x="5089525" y="4679950"/>
            <a:ext cx="3678238" cy="712788"/>
            <a:chOff x="1665204" y="4655130"/>
            <a:chExt cx="3677849" cy="710875"/>
          </a:xfrm>
        </p:grpSpPr>
        <p:cxnSp>
          <p:nvCxnSpPr>
            <p:cNvPr id="23" name="Straight Connector 22"/>
            <p:cNvCxnSpPr/>
            <p:nvPr/>
          </p:nvCxnSpPr>
          <p:spPr>
            <a:xfrm>
              <a:off x="1817588" y="4655130"/>
              <a:ext cx="3369907" cy="15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002" name="TextBox 22"/>
            <p:cNvSpPr txBox="1">
              <a:spLocks noChangeArrowheads="1"/>
            </p:cNvSpPr>
            <p:nvPr/>
          </p:nvSpPr>
          <p:spPr bwMode="auto">
            <a:xfrm>
              <a:off x="4299013" y="4665029"/>
              <a:ext cx="1044040" cy="700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(firm) </a:t>
              </a:r>
            </a:p>
          </p:txBody>
        </p:sp>
        <p:sp>
          <p:nvSpPr>
            <p:cNvPr id="40003" name="TextBox 23"/>
            <p:cNvSpPr txBox="1">
              <a:spLocks noChangeArrowheads="1"/>
            </p:cNvSpPr>
            <p:nvPr/>
          </p:nvSpPr>
          <p:spPr bwMode="auto">
            <a:xfrm>
              <a:off x="1665204" y="4665029"/>
              <a:ext cx="312955" cy="368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6" name="TextBox 25"/>
          <p:cNvSpPr txBox="1">
            <a:spLocks noChangeArrowheads="1"/>
          </p:cNvSpPr>
          <p:nvPr/>
        </p:nvSpPr>
        <p:spPr bwMode="auto">
          <a:xfrm>
            <a:off x="6251575" y="1127125"/>
            <a:ext cx="769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Firm</a:t>
            </a:r>
          </a:p>
        </p:txBody>
      </p:sp>
      <p:sp>
        <p:nvSpPr>
          <p:cNvPr id="27" name="TextBox 26"/>
          <p:cNvSpPr txBox="1">
            <a:spLocks noChangeArrowheads="1"/>
          </p:cNvSpPr>
          <p:nvPr/>
        </p:nvSpPr>
        <p:spPr bwMode="auto">
          <a:xfrm>
            <a:off x="3089275" y="881063"/>
            <a:ext cx="29575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(b) Short-Run Response</a:t>
            </a:r>
          </a:p>
        </p:txBody>
      </p:sp>
      <p:grpSp>
        <p:nvGrpSpPr>
          <p:cNvPr id="10" name="Group 32"/>
          <p:cNvGrpSpPr>
            <a:grpSpLocks/>
          </p:cNvGrpSpPr>
          <p:nvPr/>
        </p:nvGrpSpPr>
        <p:grpSpPr bwMode="auto">
          <a:xfrm>
            <a:off x="846138" y="2173288"/>
            <a:ext cx="2436812" cy="1868487"/>
            <a:chOff x="1353795" y="2667975"/>
            <a:chExt cx="2438718" cy="1868399"/>
          </a:xfrm>
        </p:grpSpPr>
        <p:cxnSp>
          <p:nvCxnSpPr>
            <p:cNvPr id="29" name="Straight Connector 28"/>
            <p:cNvCxnSpPr/>
            <p:nvPr/>
          </p:nvCxnSpPr>
          <p:spPr>
            <a:xfrm flipV="1">
              <a:off x="1353795" y="2980697"/>
              <a:ext cx="1993870" cy="1555677"/>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0000" name="TextBox 34"/>
            <p:cNvSpPr txBox="1">
              <a:spLocks noChangeArrowheads="1"/>
            </p:cNvSpPr>
            <p:nvPr/>
          </p:nvSpPr>
          <p:spPr bwMode="auto">
            <a:xfrm>
              <a:off x="3368842" y="2667975"/>
              <a:ext cx="423671" cy="36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S</a:t>
              </a:r>
              <a:r>
                <a:rPr lang="en-US" altLang="en-US" sz="1800" baseline="-25000">
                  <a:solidFill>
                    <a:srgbClr val="000000"/>
                  </a:solidFill>
                </a:rPr>
                <a:t>1</a:t>
              </a:r>
            </a:p>
          </p:txBody>
        </p:sp>
      </p:grpSp>
      <p:grpSp>
        <p:nvGrpSpPr>
          <p:cNvPr id="11" name="Group 35"/>
          <p:cNvGrpSpPr>
            <a:grpSpLocks/>
          </p:cNvGrpSpPr>
          <p:nvPr/>
        </p:nvGrpSpPr>
        <p:grpSpPr bwMode="auto">
          <a:xfrm>
            <a:off x="846138" y="2414588"/>
            <a:ext cx="2460625" cy="2027237"/>
            <a:chOff x="1353795" y="2909455"/>
            <a:chExt cx="2460540" cy="2025863"/>
          </a:xfrm>
        </p:grpSpPr>
        <p:cxnSp>
          <p:nvCxnSpPr>
            <p:cNvPr id="32" name="Straight Connector 31"/>
            <p:cNvCxnSpPr/>
            <p:nvPr/>
          </p:nvCxnSpPr>
          <p:spPr>
            <a:xfrm>
              <a:off x="1353795" y="2909455"/>
              <a:ext cx="2101777" cy="1662572"/>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39998" name="TextBox 37"/>
            <p:cNvSpPr txBox="1">
              <a:spLocks noChangeArrowheads="1"/>
            </p:cNvSpPr>
            <p:nvPr/>
          </p:nvSpPr>
          <p:spPr bwMode="auto">
            <a:xfrm>
              <a:off x="3378034" y="4566049"/>
              <a:ext cx="436301" cy="36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D</a:t>
              </a:r>
              <a:r>
                <a:rPr lang="en-US" altLang="en-US" sz="1800" baseline="-25000">
                  <a:solidFill>
                    <a:srgbClr val="000000"/>
                  </a:solidFill>
                </a:rPr>
                <a:t>1</a:t>
              </a:r>
            </a:p>
          </p:txBody>
        </p:sp>
      </p:grpSp>
      <p:grpSp>
        <p:nvGrpSpPr>
          <p:cNvPr id="13" name="Group 38"/>
          <p:cNvGrpSpPr>
            <a:grpSpLocks/>
          </p:cNvGrpSpPr>
          <p:nvPr/>
        </p:nvGrpSpPr>
        <p:grpSpPr bwMode="auto">
          <a:xfrm>
            <a:off x="1658938" y="3233738"/>
            <a:ext cx="449262" cy="1819275"/>
            <a:chOff x="1786876" y="3729646"/>
            <a:chExt cx="448757" cy="1817115"/>
          </a:xfrm>
        </p:grpSpPr>
        <p:cxnSp>
          <p:nvCxnSpPr>
            <p:cNvPr id="35" name="Straight Connector 34"/>
            <p:cNvCxnSpPr/>
            <p:nvPr/>
          </p:nvCxnSpPr>
          <p:spPr>
            <a:xfrm rot="5400000">
              <a:off x="1275529" y="4459822"/>
              <a:ext cx="1461937" cy="1585"/>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9996" name="TextBox 40"/>
            <p:cNvSpPr txBox="1">
              <a:spLocks noChangeArrowheads="1"/>
            </p:cNvSpPr>
            <p:nvPr/>
          </p:nvSpPr>
          <p:spPr bwMode="auto">
            <a:xfrm>
              <a:off x="1786876" y="5177632"/>
              <a:ext cx="448757" cy="36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1</a:t>
              </a:r>
            </a:p>
          </p:txBody>
        </p:sp>
      </p:grpSp>
      <p:grpSp>
        <p:nvGrpSpPr>
          <p:cNvPr id="15" name="Group 42"/>
          <p:cNvGrpSpPr>
            <a:grpSpLocks/>
          </p:cNvGrpSpPr>
          <p:nvPr/>
        </p:nvGrpSpPr>
        <p:grpSpPr bwMode="auto">
          <a:xfrm>
            <a:off x="223838" y="2897188"/>
            <a:ext cx="4094162" cy="701675"/>
            <a:chOff x="732586" y="3391549"/>
            <a:chExt cx="4093927" cy="702422"/>
          </a:xfrm>
        </p:grpSpPr>
        <p:grpSp>
          <p:nvGrpSpPr>
            <p:cNvPr id="39991" name="Group 31"/>
            <p:cNvGrpSpPr>
              <a:grpSpLocks/>
            </p:cNvGrpSpPr>
            <p:nvPr/>
          </p:nvGrpSpPr>
          <p:grpSpPr bwMode="auto">
            <a:xfrm>
              <a:off x="732586" y="3528941"/>
              <a:ext cx="3554738" cy="369695"/>
              <a:chOff x="1387686" y="2972791"/>
              <a:chExt cx="3554738" cy="369695"/>
            </a:xfrm>
          </p:grpSpPr>
          <p:cxnSp>
            <p:nvCxnSpPr>
              <p:cNvPr id="40" name="Straight Connector 39"/>
              <p:cNvCxnSpPr/>
              <p:nvPr/>
            </p:nvCxnSpPr>
            <p:spPr>
              <a:xfrm>
                <a:off x="1830573" y="3172307"/>
                <a:ext cx="3111321" cy="0"/>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9994" name="TextBox 46"/>
              <p:cNvSpPr txBox="1">
                <a:spLocks noChangeArrowheads="1"/>
              </p:cNvSpPr>
              <p:nvPr/>
            </p:nvSpPr>
            <p:spPr bwMode="auto">
              <a:xfrm>
                <a:off x="1387686" y="2972791"/>
                <a:ext cx="423446" cy="369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sp>
          <p:nvSpPr>
            <p:cNvPr id="39992" name="TextBox 44"/>
            <p:cNvSpPr txBox="1">
              <a:spLocks noChangeArrowheads="1"/>
            </p:cNvSpPr>
            <p:nvPr/>
          </p:nvSpPr>
          <p:spPr bwMode="auto">
            <a:xfrm>
              <a:off x="3718693" y="3391549"/>
              <a:ext cx="1107820" cy="702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Long-run</a:t>
              </a:r>
            </a:p>
            <a:p>
              <a:pPr eaLnBrk="1" hangingPunct="1"/>
              <a:r>
                <a:rPr lang="en-US" altLang="en-US" sz="1800">
                  <a:solidFill>
                    <a:srgbClr val="000000"/>
                  </a:solidFill>
                </a:rPr>
                <a:t>supply</a:t>
              </a:r>
              <a:endParaRPr lang="en-US" altLang="en-US" sz="1800" baseline="-25000">
                <a:solidFill>
                  <a:srgbClr val="000000"/>
                </a:solidFill>
              </a:endParaRPr>
            </a:p>
          </p:txBody>
        </p:sp>
      </p:grpSp>
      <p:grpSp>
        <p:nvGrpSpPr>
          <p:cNvPr id="19" name="Group 31"/>
          <p:cNvGrpSpPr>
            <a:grpSpLocks/>
          </p:cNvGrpSpPr>
          <p:nvPr/>
        </p:nvGrpSpPr>
        <p:grpSpPr bwMode="auto">
          <a:xfrm>
            <a:off x="4770438" y="3032125"/>
            <a:ext cx="1906587" cy="369888"/>
            <a:chOff x="1387661" y="2972795"/>
            <a:chExt cx="1905840" cy="369787"/>
          </a:xfrm>
        </p:grpSpPr>
        <p:cxnSp>
          <p:nvCxnSpPr>
            <p:cNvPr id="43" name="Straight Connector 42"/>
            <p:cNvCxnSpPr/>
            <p:nvPr/>
          </p:nvCxnSpPr>
          <p:spPr>
            <a:xfrm>
              <a:off x="1831987" y="3172765"/>
              <a:ext cx="1461514" cy="1588"/>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9990" name="TextBox 49"/>
            <p:cNvSpPr txBox="1">
              <a:spLocks noChangeArrowheads="1"/>
            </p:cNvSpPr>
            <p:nvPr/>
          </p:nvSpPr>
          <p:spPr bwMode="auto">
            <a:xfrm>
              <a:off x="1387661" y="2972795"/>
              <a:ext cx="423497" cy="36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grpSp>
        <p:nvGrpSpPr>
          <p:cNvPr id="20" name="Group 57"/>
          <p:cNvGrpSpPr>
            <a:grpSpLocks/>
          </p:cNvGrpSpPr>
          <p:nvPr/>
        </p:nvGrpSpPr>
        <p:grpSpPr bwMode="auto">
          <a:xfrm>
            <a:off x="1735138" y="2865438"/>
            <a:ext cx="338137" cy="447675"/>
            <a:chOff x="2552168" y="2743191"/>
            <a:chExt cx="338816" cy="447464"/>
          </a:xfrm>
        </p:grpSpPr>
        <p:sp>
          <p:nvSpPr>
            <p:cNvPr id="39987"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39988" name="TextBox 55"/>
            <p:cNvSpPr txBox="1">
              <a:spLocks noChangeArrowheads="1"/>
            </p:cNvSpPr>
            <p:nvPr/>
          </p:nvSpPr>
          <p:spPr bwMode="auto">
            <a:xfrm>
              <a:off x="2552168" y="2743191"/>
              <a:ext cx="338816" cy="36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a:t>
              </a:r>
              <a:endParaRPr lang="en-US" altLang="en-US" sz="1800" baseline="-25000">
                <a:solidFill>
                  <a:srgbClr val="000000"/>
                </a:solidFill>
              </a:endParaRPr>
            </a:p>
          </p:txBody>
        </p:sp>
      </p:grpSp>
      <p:grpSp>
        <p:nvGrpSpPr>
          <p:cNvPr id="22" name="Group 93"/>
          <p:cNvGrpSpPr>
            <a:grpSpLocks/>
          </p:cNvGrpSpPr>
          <p:nvPr/>
        </p:nvGrpSpPr>
        <p:grpSpPr bwMode="auto">
          <a:xfrm>
            <a:off x="941388" y="1444625"/>
            <a:ext cx="3221037" cy="1158875"/>
            <a:chOff x="831272" y="1938881"/>
            <a:chExt cx="3223082" cy="1160578"/>
          </a:xfrm>
        </p:grpSpPr>
        <p:sp>
          <p:nvSpPr>
            <p:cNvPr id="39985" name="TextBox 60"/>
            <p:cNvSpPr txBox="1">
              <a:spLocks noChangeArrowheads="1"/>
            </p:cNvSpPr>
            <p:nvPr/>
          </p:nvSpPr>
          <p:spPr bwMode="auto">
            <a:xfrm>
              <a:off x="831272" y="1938881"/>
              <a:ext cx="3223082" cy="647143"/>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3. But then an increase in demand raises the price…</a:t>
              </a:r>
            </a:p>
          </p:txBody>
        </p:sp>
        <p:cxnSp>
          <p:nvCxnSpPr>
            <p:cNvPr id="50" name="Straight Connector 49"/>
            <p:cNvCxnSpPr/>
            <p:nvPr/>
          </p:nvCxnSpPr>
          <p:spPr>
            <a:xfrm rot="16200000" flipV="1">
              <a:off x="1617373" y="2673530"/>
              <a:ext cx="503977" cy="3478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94"/>
          <p:cNvGrpSpPr>
            <a:grpSpLocks/>
          </p:cNvGrpSpPr>
          <p:nvPr/>
        </p:nvGrpSpPr>
        <p:grpSpPr bwMode="auto">
          <a:xfrm>
            <a:off x="5664200" y="1582738"/>
            <a:ext cx="1898650" cy="1470025"/>
            <a:chOff x="5555197" y="2077864"/>
            <a:chExt cx="1897275" cy="1470112"/>
          </a:xfrm>
        </p:grpSpPr>
        <p:sp>
          <p:nvSpPr>
            <p:cNvPr id="39983" name="TextBox 62"/>
            <p:cNvSpPr txBox="1">
              <a:spLocks noChangeArrowheads="1"/>
            </p:cNvSpPr>
            <p:nvPr/>
          </p:nvSpPr>
          <p:spPr bwMode="auto">
            <a:xfrm>
              <a:off x="5555197" y="2077864"/>
              <a:ext cx="1897275" cy="701852"/>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4. …leading to</a:t>
              </a:r>
            </a:p>
            <a:p>
              <a:pPr eaLnBrk="1" hangingPunct="1"/>
              <a:r>
                <a:rPr lang="en-US" altLang="en-US" sz="1800">
                  <a:solidFill>
                    <a:srgbClr val="000000"/>
                  </a:solidFill>
                </a:rPr>
                <a:t>short-run profits.</a:t>
              </a:r>
            </a:p>
          </p:txBody>
        </p:sp>
        <p:cxnSp>
          <p:nvCxnSpPr>
            <p:cNvPr id="53" name="Straight Connector 52"/>
            <p:cNvCxnSpPr/>
            <p:nvPr/>
          </p:nvCxnSpPr>
          <p:spPr>
            <a:xfrm rot="16200000" flipV="1">
              <a:off x="5726232" y="3038467"/>
              <a:ext cx="741407" cy="277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oup 64"/>
          <p:cNvGrpSpPr>
            <a:grpSpLocks/>
          </p:cNvGrpSpPr>
          <p:nvPr/>
        </p:nvGrpSpPr>
        <p:grpSpPr bwMode="auto">
          <a:xfrm>
            <a:off x="1247775" y="2162175"/>
            <a:ext cx="2460625" cy="2027238"/>
            <a:chOff x="1353795" y="2909455"/>
            <a:chExt cx="2460541" cy="2025863"/>
          </a:xfrm>
        </p:grpSpPr>
        <p:cxnSp>
          <p:nvCxnSpPr>
            <p:cNvPr id="55" name="Straight Connector 54"/>
            <p:cNvCxnSpPr/>
            <p:nvPr/>
          </p:nvCxnSpPr>
          <p:spPr>
            <a:xfrm>
              <a:off x="1353795" y="2909455"/>
              <a:ext cx="2101778" cy="166257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9982" name="TextBox 66"/>
            <p:cNvSpPr txBox="1">
              <a:spLocks noChangeArrowheads="1"/>
            </p:cNvSpPr>
            <p:nvPr/>
          </p:nvSpPr>
          <p:spPr bwMode="auto">
            <a:xfrm>
              <a:off x="3378035" y="4566049"/>
              <a:ext cx="436301" cy="36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D</a:t>
              </a:r>
              <a:r>
                <a:rPr lang="en-US" altLang="en-US" sz="1800" baseline="-25000">
                  <a:solidFill>
                    <a:srgbClr val="000000"/>
                  </a:solidFill>
                </a:rPr>
                <a:t>2</a:t>
              </a:r>
            </a:p>
          </p:txBody>
        </p:sp>
      </p:grpSp>
      <p:grpSp>
        <p:nvGrpSpPr>
          <p:cNvPr id="28" name="Group 57"/>
          <p:cNvGrpSpPr>
            <a:grpSpLocks/>
          </p:cNvGrpSpPr>
          <p:nvPr/>
        </p:nvGrpSpPr>
        <p:grpSpPr bwMode="auto">
          <a:xfrm>
            <a:off x="2089150" y="2554288"/>
            <a:ext cx="338138" cy="447675"/>
            <a:chOff x="2552175" y="2743191"/>
            <a:chExt cx="338816" cy="447464"/>
          </a:xfrm>
        </p:grpSpPr>
        <p:sp>
          <p:nvSpPr>
            <p:cNvPr id="39979"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39980" name="TextBox 69"/>
            <p:cNvSpPr txBox="1">
              <a:spLocks noChangeArrowheads="1"/>
            </p:cNvSpPr>
            <p:nvPr/>
          </p:nvSpPr>
          <p:spPr bwMode="auto">
            <a:xfrm>
              <a:off x="2552175" y="2743191"/>
              <a:ext cx="338816" cy="36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B</a:t>
              </a:r>
              <a:endParaRPr lang="en-US" altLang="en-US" sz="1800" baseline="-25000">
                <a:solidFill>
                  <a:srgbClr val="000000"/>
                </a:solidFill>
              </a:endParaRPr>
            </a:p>
          </p:txBody>
        </p:sp>
      </p:grpSp>
      <p:grpSp>
        <p:nvGrpSpPr>
          <p:cNvPr id="30" name="Group 70"/>
          <p:cNvGrpSpPr>
            <a:grpSpLocks/>
          </p:cNvGrpSpPr>
          <p:nvPr/>
        </p:nvGrpSpPr>
        <p:grpSpPr bwMode="auto">
          <a:xfrm>
            <a:off x="2012950" y="2971800"/>
            <a:ext cx="449263" cy="2090738"/>
            <a:chOff x="1786877" y="3457699"/>
            <a:chExt cx="448756" cy="2089175"/>
          </a:xfrm>
        </p:grpSpPr>
        <p:cxnSp>
          <p:nvCxnSpPr>
            <p:cNvPr id="61" name="Straight Connector 60"/>
            <p:cNvCxnSpPr/>
            <p:nvPr/>
          </p:nvCxnSpPr>
          <p:spPr>
            <a:xfrm rot="5400000">
              <a:off x="1140371" y="4323033"/>
              <a:ext cx="1733841" cy="3171"/>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9978" name="TextBox 72"/>
            <p:cNvSpPr txBox="1">
              <a:spLocks noChangeArrowheads="1"/>
            </p:cNvSpPr>
            <p:nvPr/>
          </p:nvSpPr>
          <p:spPr bwMode="auto">
            <a:xfrm>
              <a:off x="1786877" y="5177632"/>
              <a:ext cx="448756" cy="369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2</a:t>
              </a:r>
            </a:p>
          </p:txBody>
        </p:sp>
      </p:grpSp>
      <p:grpSp>
        <p:nvGrpSpPr>
          <p:cNvPr id="31" name="Group 76"/>
          <p:cNvGrpSpPr>
            <a:grpSpLocks/>
          </p:cNvGrpSpPr>
          <p:nvPr/>
        </p:nvGrpSpPr>
        <p:grpSpPr bwMode="auto">
          <a:xfrm>
            <a:off x="233363" y="2735263"/>
            <a:ext cx="4416425" cy="369887"/>
            <a:chOff x="124990" y="3230096"/>
            <a:chExt cx="4414926" cy="369788"/>
          </a:xfrm>
        </p:grpSpPr>
        <p:cxnSp>
          <p:nvCxnSpPr>
            <p:cNvPr id="64" name="Straight Connector 63"/>
            <p:cNvCxnSpPr/>
            <p:nvPr/>
          </p:nvCxnSpPr>
          <p:spPr>
            <a:xfrm flipV="1">
              <a:off x="569339" y="3426893"/>
              <a:ext cx="3970577" cy="3174"/>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9976" name="TextBox 75"/>
            <p:cNvSpPr txBox="1">
              <a:spLocks noChangeArrowheads="1"/>
            </p:cNvSpPr>
            <p:nvPr/>
          </p:nvSpPr>
          <p:spPr bwMode="auto">
            <a:xfrm>
              <a:off x="124990" y="3230096"/>
              <a:ext cx="423437" cy="36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2</a:t>
              </a:r>
            </a:p>
          </p:txBody>
        </p:sp>
      </p:grpSp>
      <p:grpSp>
        <p:nvGrpSpPr>
          <p:cNvPr id="33" name="Group 31"/>
          <p:cNvGrpSpPr>
            <a:grpSpLocks/>
          </p:cNvGrpSpPr>
          <p:nvPr/>
        </p:nvGrpSpPr>
        <p:grpSpPr bwMode="auto">
          <a:xfrm>
            <a:off x="4781550" y="2732088"/>
            <a:ext cx="3554413" cy="369887"/>
            <a:chOff x="1387611" y="2972791"/>
            <a:chExt cx="3554481" cy="368059"/>
          </a:xfrm>
        </p:grpSpPr>
        <p:cxnSp>
          <p:nvCxnSpPr>
            <p:cNvPr id="67" name="Straight Connector 66"/>
            <p:cNvCxnSpPr/>
            <p:nvPr/>
          </p:nvCxnSpPr>
          <p:spPr>
            <a:xfrm>
              <a:off x="1830532" y="3171827"/>
              <a:ext cx="3111560" cy="0"/>
            </a:xfrm>
            <a:prstGeom prst="line">
              <a:avLst/>
            </a:prstGeom>
            <a:ln w="57150">
              <a:solidFill>
                <a:srgbClr val="005EA4"/>
              </a:solidFill>
              <a:prstDash val="solid"/>
            </a:ln>
          </p:spPr>
          <p:style>
            <a:lnRef idx="1">
              <a:schemeClr val="accent1"/>
            </a:lnRef>
            <a:fillRef idx="0">
              <a:schemeClr val="accent1"/>
            </a:fillRef>
            <a:effectRef idx="0">
              <a:schemeClr val="accent1"/>
            </a:effectRef>
            <a:fontRef idx="minor">
              <a:schemeClr val="tx1"/>
            </a:fontRef>
          </p:style>
        </p:cxnSp>
        <p:sp>
          <p:nvSpPr>
            <p:cNvPr id="39974" name="TextBox 80"/>
            <p:cNvSpPr txBox="1">
              <a:spLocks noChangeArrowheads="1"/>
            </p:cNvSpPr>
            <p:nvPr/>
          </p:nvSpPr>
          <p:spPr bwMode="auto">
            <a:xfrm>
              <a:off x="1387611" y="2972791"/>
              <a:ext cx="423596" cy="368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2</a:t>
              </a:r>
            </a:p>
          </p:txBody>
        </p:sp>
      </p:grpSp>
      <p:cxnSp>
        <p:nvCxnSpPr>
          <p:cNvPr id="69" name="Straight Connector 68"/>
          <p:cNvCxnSpPr/>
          <p:nvPr/>
        </p:nvCxnSpPr>
        <p:spPr>
          <a:xfrm rot="5400000">
            <a:off x="6878638" y="3043238"/>
            <a:ext cx="261937" cy="1587"/>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10800000" flipV="1">
            <a:off x="5253038" y="3165475"/>
            <a:ext cx="1746250" cy="1588"/>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1" name="Rectangle 70"/>
          <p:cNvSpPr/>
          <p:nvPr/>
        </p:nvSpPr>
        <p:spPr>
          <a:xfrm>
            <a:off x="5260975" y="2957513"/>
            <a:ext cx="1733550" cy="190500"/>
          </a:xfrm>
          <a:prstGeom prst="rect">
            <a:avLst/>
          </a:prstGeom>
          <a:solidFill>
            <a:srgbClr val="99CCFF"/>
          </a:solidFill>
          <a:ln>
            <a:solidFill>
              <a:srgbClr val="99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a:solidFill>
                <a:srgbClr val="000000"/>
              </a:solidFill>
            </a:endParaRPr>
          </a:p>
        </p:txBody>
      </p:sp>
      <p:grpSp>
        <p:nvGrpSpPr>
          <p:cNvPr id="34" name="Group 28"/>
          <p:cNvGrpSpPr>
            <a:grpSpLocks/>
          </p:cNvGrpSpPr>
          <p:nvPr/>
        </p:nvGrpSpPr>
        <p:grpSpPr bwMode="auto">
          <a:xfrm>
            <a:off x="5453063" y="2089150"/>
            <a:ext cx="2692400" cy="2189163"/>
            <a:chOff x="1058890" y="1504165"/>
            <a:chExt cx="2691398" cy="2191039"/>
          </a:xfrm>
        </p:grpSpPr>
        <p:cxnSp>
          <p:nvCxnSpPr>
            <p:cNvPr id="73" name="Straight Connector 72"/>
            <p:cNvCxnSpPr/>
            <p:nvPr/>
          </p:nvCxnSpPr>
          <p:spPr>
            <a:xfrm flipV="1">
              <a:off x="1058890" y="1866425"/>
              <a:ext cx="2113763" cy="18287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9972" name="TextBox 30"/>
            <p:cNvSpPr txBox="1">
              <a:spLocks noChangeArrowheads="1"/>
            </p:cNvSpPr>
            <p:nvPr/>
          </p:nvSpPr>
          <p:spPr bwMode="auto">
            <a:xfrm>
              <a:off x="3206733" y="1504165"/>
              <a:ext cx="543555"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MC</a:t>
              </a:r>
            </a:p>
          </p:txBody>
        </p:sp>
      </p:grpSp>
      <p:grpSp>
        <p:nvGrpSpPr>
          <p:cNvPr id="36" name="Group 14"/>
          <p:cNvGrpSpPr>
            <a:grpSpLocks/>
          </p:cNvGrpSpPr>
          <p:nvPr/>
        </p:nvGrpSpPr>
        <p:grpSpPr bwMode="auto">
          <a:xfrm>
            <a:off x="5489575" y="2117725"/>
            <a:ext cx="3236913" cy="1400175"/>
            <a:chOff x="1769428" y="2446317"/>
            <a:chExt cx="3238149" cy="1401279"/>
          </a:xfrm>
        </p:grpSpPr>
        <p:sp>
          <p:nvSpPr>
            <p:cNvPr id="76" name="Freeform 75"/>
            <p:cNvSpPr/>
            <p:nvPr/>
          </p:nvSpPr>
          <p:spPr>
            <a:xfrm>
              <a:off x="1769428" y="2446317"/>
              <a:ext cx="2766481" cy="1401279"/>
            </a:xfrm>
            <a:custGeom>
              <a:avLst/>
              <a:gdLst>
                <a:gd name="connsiteX0" fmla="*/ 0 w 4488873"/>
                <a:gd name="connsiteY0" fmla="*/ 0 h 1021278"/>
                <a:gd name="connsiteX1" fmla="*/ 4488873 w 4488873"/>
                <a:gd name="connsiteY1" fmla="*/ 1021278 h 1021278"/>
                <a:gd name="connsiteX0" fmla="*/ 0 w 4488873"/>
                <a:gd name="connsiteY0" fmla="*/ 0 h 1717964"/>
                <a:gd name="connsiteX1" fmla="*/ 4488873 w 4488873"/>
                <a:gd name="connsiteY1" fmla="*/ 1021278 h 1717964"/>
                <a:gd name="connsiteX0" fmla="*/ 0 w 4488873"/>
                <a:gd name="connsiteY0" fmla="*/ 0 h 1785258"/>
                <a:gd name="connsiteX1" fmla="*/ 4488873 w 4488873"/>
                <a:gd name="connsiteY1" fmla="*/ 1021278 h 1785258"/>
                <a:gd name="connsiteX0" fmla="*/ 0 w 4987636"/>
                <a:gd name="connsiteY0" fmla="*/ 0 h 1717964"/>
                <a:gd name="connsiteX1" fmla="*/ 4987636 w 4987636"/>
                <a:gd name="connsiteY1" fmla="*/ 665018 h 1717964"/>
                <a:gd name="connsiteX0" fmla="*/ 0 w 4987636"/>
                <a:gd name="connsiteY0" fmla="*/ 0 h 1868385"/>
                <a:gd name="connsiteX1" fmla="*/ 4987636 w 4987636"/>
                <a:gd name="connsiteY1" fmla="*/ 665018 h 1868385"/>
                <a:gd name="connsiteX0" fmla="*/ 0 w 4987636"/>
                <a:gd name="connsiteY0" fmla="*/ 0 h 1868385"/>
                <a:gd name="connsiteX1" fmla="*/ 4987636 w 4987636"/>
                <a:gd name="connsiteY1" fmla="*/ 665018 h 1868385"/>
                <a:gd name="connsiteX0" fmla="*/ 0 w 4987636"/>
                <a:gd name="connsiteY0" fmla="*/ 0 h 1717964"/>
                <a:gd name="connsiteX1" fmla="*/ 4987636 w 4987636"/>
                <a:gd name="connsiteY1" fmla="*/ 665018 h 1717964"/>
                <a:gd name="connsiteX0" fmla="*/ 0 w 4987636"/>
                <a:gd name="connsiteY0" fmla="*/ 0 h 1785258"/>
                <a:gd name="connsiteX1" fmla="*/ 4987636 w 4987636"/>
                <a:gd name="connsiteY1" fmla="*/ 665018 h 1785258"/>
              </a:gdLst>
              <a:ahLst/>
              <a:cxnLst>
                <a:cxn ang="0">
                  <a:pos x="connsiteX0" y="connsiteY0"/>
                </a:cxn>
                <a:cxn ang="0">
                  <a:pos x="connsiteX1" y="connsiteY1"/>
                </a:cxn>
              </a:cxnLst>
              <a:rect l="l" t="t" r="r" b="b"/>
              <a:pathLst>
                <a:path w="4987636" h="1785258">
                  <a:moveTo>
                    <a:pt x="0" y="0"/>
                  </a:moveTo>
                  <a:cubicBezTo>
                    <a:pt x="1009402" y="1717964"/>
                    <a:pt x="2168182" y="1785258"/>
                    <a:pt x="4987636" y="665018"/>
                  </a:cubicBezTo>
                </a:path>
              </a:pathLst>
            </a:custGeom>
            <a:ln w="38100">
              <a:solidFill>
                <a:srgbClr val="005EA4"/>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a:solidFill>
                  <a:srgbClr val="000000"/>
                </a:solidFill>
              </a:endParaRPr>
            </a:p>
          </p:txBody>
        </p:sp>
        <p:sp>
          <p:nvSpPr>
            <p:cNvPr id="39970" name="TextBox 27"/>
            <p:cNvSpPr txBox="1">
              <a:spLocks noChangeArrowheads="1"/>
            </p:cNvSpPr>
            <p:nvPr/>
          </p:nvSpPr>
          <p:spPr bwMode="auto">
            <a:xfrm>
              <a:off x="4378167" y="2629415"/>
              <a:ext cx="629410" cy="369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ATC</a:t>
              </a:r>
            </a:p>
          </p:txBody>
        </p:sp>
      </p:grpSp>
      <p:sp>
        <p:nvSpPr>
          <p:cNvPr id="78" name="Freeform 183"/>
          <p:cNvSpPr>
            <a:spLocks/>
          </p:cNvSpPr>
          <p:nvPr/>
        </p:nvSpPr>
        <p:spPr bwMode="auto">
          <a:xfrm>
            <a:off x="6931025" y="2862263"/>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5" name="Footer Placeholder 4">
            <a:extLst>
              <a:ext uri="{FF2B5EF4-FFF2-40B4-BE49-F238E27FC236}">
                <a16:creationId xmlns:a16="http://schemas.microsoft.com/office/drawing/2014/main" id="{5BAD46BD-5A60-7FE0-B4E4-4DB3779B90C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608421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left)">
                                      <p:cBhvr>
                                        <p:cTn id="13" dur="500"/>
                                        <p:tgtEl>
                                          <p:spTgt spid="26"/>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22" presetClass="entr" presetSubtype="4"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4"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500"/>
                                        <p:tgtEl>
                                          <p:spTgt spid="2"/>
                                        </p:tgtEl>
                                      </p:cBhvr>
                                    </p:animEffect>
                                  </p:childTnLst>
                                </p:cTn>
                              </p:par>
                            </p:childTnLst>
                          </p:cTn>
                        </p:par>
                        <p:par>
                          <p:cTn id="28" fill="hold" nodeType="afterGroup">
                            <p:stCondLst>
                              <p:cond delay="1500"/>
                            </p:stCondLst>
                            <p:childTnLst>
                              <p:par>
                                <p:cTn id="29" presetID="22" presetClass="entr" presetSubtype="8"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1000"/>
                                        <p:tgtEl>
                                          <p:spTgt spid="11"/>
                                        </p:tgtEl>
                                      </p:cBhvr>
                                    </p:animEffect>
                                  </p:childTnLst>
                                </p:cTn>
                              </p:par>
                            </p:childTnLst>
                          </p:cTn>
                        </p:par>
                        <p:par>
                          <p:cTn id="32" fill="hold" nodeType="afterGroup">
                            <p:stCondLst>
                              <p:cond delay="2500"/>
                            </p:stCondLst>
                            <p:childTnLst>
                              <p:par>
                                <p:cTn id="33" presetID="22" presetClass="entr" presetSubtype="8"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1000"/>
                                        <p:tgtEl>
                                          <p:spTgt spid="10"/>
                                        </p:tgtEl>
                                      </p:cBhvr>
                                    </p:animEffect>
                                  </p:childTnLst>
                                </p:cTn>
                              </p:par>
                            </p:childTnLst>
                          </p:cTn>
                        </p:par>
                        <p:par>
                          <p:cTn id="36" fill="hold" nodeType="afterGroup">
                            <p:stCondLst>
                              <p:cond delay="3500"/>
                            </p:stCondLst>
                            <p:childTnLst>
                              <p:par>
                                <p:cTn id="37" presetID="22" presetClass="entr" presetSubtype="8" fill="hold"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left)">
                                      <p:cBhvr>
                                        <p:cTn id="39" dur="500"/>
                                        <p:tgtEl>
                                          <p:spTgt spid="20"/>
                                        </p:tgtEl>
                                      </p:cBhvr>
                                    </p:animEffect>
                                  </p:childTnLst>
                                </p:cTn>
                              </p:par>
                            </p:childTnLst>
                          </p:cTn>
                        </p:par>
                        <p:par>
                          <p:cTn id="40" fill="hold" nodeType="afterGroup">
                            <p:stCondLst>
                              <p:cond delay="4000"/>
                            </p:stCondLst>
                            <p:childTnLst>
                              <p:par>
                                <p:cTn id="41" presetID="22" presetClass="entr" presetSubtype="8"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1000"/>
                                        <p:tgtEl>
                                          <p:spTgt spid="15"/>
                                        </p:tgtEl>
                                      </p:cBhvr>
                                    </p:animEffect>
                                  </p:childTnLst>
                                </p:cTn>
                              </p:par>
                            </p:childTnLst>
                          </p:cTn>
                        </p:par>
                        <p:par>
                          <p:cTn id="44" fill="hold" nodeType="afterGroup">
                            <p:stCondLst>
                              <p:cond delay="5000"/>
                            </p:stCondLst>
                            <p:childTnLst>
                              <p:par>
                                <p:cTn id="45" presetID="22" presetClass="entr" presetSubtype="1"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par>
                          <p:cTn id="48" fill="hold" nodeType="afterGroup">
                            <p:stCondLst>
                              <p:cond delay="5500"/>
                            </p:stCondLst>
                            <p:childTnLst>
                              <p:par>
                                <p:cTn id="49" presetID="22" presetClass="entr" presetSubtype="8" fill="hold" nodeType="after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left)">
                                      <p:cBhvr>
                                        <p:cTn id="51" dur="1000"/>
                                        <p:tgtEl>
                                          <p:spTgt spid="36"/>
                                        </p:tgtEl>
                                      </p:cBhvr>
                                    </p:animEffect>
                                  </p:childTnLst>
                                </p:cTn>
                              </p:par>
                            </p:childTnLst>
                          </p:cTn>
                        </p:par>
                        <p:par>
                          <p:cTn id="52" fill="hold" nodeType="afterGroup">
                            <p:stCondLst>
                              <p:cond delay="6500"/>
                            </p:stCondLst>
                            <p:childTnLst>
                              <p:par>
                                <p:cTn id="53" presetID="22" presetClass="entr" presetSubtype="8" fill="hold" nodeType="after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wipe(left)">
                                      <p:cBhvr>
                                        <p:cTn id="55" dur="1000"/>
                                        <p:tgtEl>
                                          <p:spTgt spid="34"/>
                                        </p:tgtEl>
                                      </p:cBhvr>
                                    </p:animEffect>
                                  </p:childTnLst>
                                </p:cTn>
                              </p:par>
                            </p:childTnLst>
                          </p:cTn>
                        </p:par>
                        <p:par>
                          <p:cTn id="56" fill="hold" nodeType="afterGroup">
                            <p:stCondLst>
                              <p:cond delay="7500"/>
                            </p:stCondLst>
                            <p:childTnLst>
                              <p:par>
                                <p:cTn id="57" presetID="22" presetClass="entr" presetSubtype="8" fill="hold"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left)">
                                      <p:cBhvr>
                                        <p:cTn id="59" dur="1000"/>
                                        <p:tgtEl>
                                          <p:spTgt spid="19"/>
                                        </p:tgtEl>
                                      </p:cBhvr>
                                    </p:animEffect>
                                  </p:childTnLst>
                                </p:cTn>
                              </p:par>
                            </p:childTnLst>
                          </p:cTn>
                        </p:par>
                        <p:par>
                          <p:cTn id="60" fill="hold" nodeType="afterGroup">
                            <p:stCondLst>
                              <p:cond delay="8500"/>
                            </p:stCondLst>
                            <p:childTnLst>
                              <p:par>
                                <p:cTn id="61" presetID="22" presetClass="entr" presetSubtype="8" fill="hold" nodeType="afterEffect">
                                  <p:stCondLst>
                                    <p:cond delay="1000"/>
                                  </p:stCondLst>
                                  <p:childTnLst>
                                    <p:set>
                                      <p:cBhvr>
                                        <p:cTn id="62" dur="1" fill="hold">
                                          <p:stCondLst>
                                            <p:cond delay="0"/>
                                          </p:stCondLst>
                                        </p:cTn>
                                        <p:tgtEl>
                                          <p:spTgt spid="25"/>
                                        </p:tgtEl>
                                        <p:attrNameLst>
                                          <p:attrName>style.visibility</p:attrName>
                                        </p:attrNameLst>
                                      </p:cBhvr>
                                      <p:to>
                                        <p:strVal val="visible"/>
                                      </p:to>
                                    </p:set>
                                    <p:animEffect transition="in" filter="wipe(left)">
                                      <p:cBhvr>
                                        <p:cTn id="63" dur="1000"/>
                                        <p:tgtEl>
                                          <p:spTgt spid="25"/>
                                        </p:tgtEl>
                                      </p:cBhvr>
                                    </p:animEffect>
                                  </p:childTnLst>
                                </p:cTn>
                              </p:par>
                            </p:childTnLst>
                          </p:cTn>
                        </p:par>
                        <p:par>
                          <p:cTn id="64" fill="hold" nodeType="afterGroup">
                            <p:stCondLst>
                              <p:cond delay="10500"/>
                            </p:stCondLst>
                            <p:childTnLst>
                              <p:par>
                                <p:cTn id="65" presetID="22" presetClass="entr" presetSubtype="8" fill="hold" nodeType="after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500"/>
                                        <p:tgtEl>
                                          <p:spTgt spid="28"/>
                                        </p:tgtEl>
                                      </p:cBhvr>
                                    </p:animEffect>
                                  </p:childTnLst>
                                </p:cTn>
                              </p:par>
                            </p:childTnLst>
                          </p:cTn>
                        </p:par>
                        <p:par>
                          <p:cTn id="68" fill="hold" nodeType="afterGroup">
                            <p:stCondLst>
                              <p:cond delay="11000"/>
                            </p:stCondLst>
                            <p:childTnLst>
                              <p:par>
                                <p:cTn id="69" presetID="22" presetClass="entr" presetSubtype="8" fill="hold" nodeType="after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wipe(left)">
                                      <p:cBhvr>
                                        <p:cTn id="71" dur="500"/>
                                        <p:tgtEl>
                                          <p:spTgt spid="31"/>
                                        </p:tgtEl>
                                      </p:cBhvr>
                                    </p:animEffect>
                                  </p:childTnLst>
                                </p:cTn>
                              </p:par>
                            </p:childTnLst>
                          </p:cTn>
                        </p:par>
                        <p:par>
                          <p:cTn id="72" fill="hold" nodeType="afterGroup">
                            <p:stCondLst>
                              <p:cond delay="11500"/>
                            </p:stCondLst>
                            <p:childTnLst>
                              <p:par>
                                <p:cTn id="73" presetID="22" presetClass="entr" presetSubtype="1" fill="hold"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wipe(up)">
                                      <p:cBhvr>
                                        <p:cTn id="75" dur="500"/>
                                        <p:tgtEl>
                                          <p:spTgt spid="30"/>
                                        </p:tgtEl>
                                      </p:cBhvr>
                                    </p:animEffect>
                                  </p:childTnLst>
                                </p:cTn>
                              </p:par>
                            </p:childTnLst>
                          </p:cTn>
                        </p:par>
                        <p:par>
                          <p:cTn id="76" fill="hold" nodeType="afterGroup">
                            <p:stCondLst>
                              <p:cond delay="12000"/>
                            </p:stCondLst>
                            <p:childTnLst>
                              <p:par>
                                <p:cTn id="77" presetID="22" presetClass="entr" presetSubtype="8" fill="hold" nodeType="after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wipe(left)">
                                      <p:cBhvr>
                                        <p:cTn id="79" dur="500"/>
                                        <p:tgtEl>
                                          <p:spTgt spid="22"/>
                                        </p:tgtEl>
                                      </p:cBhvr>
                                    </p:animEffect>
                                  </p:childTnLst>
                                </p:cTn>
                              </p:par>
                            </p:childTnLst>
                          </p:cTn>
                        </p:par>
                        <p:par>
                          <p:cTn id="80" fill="hold" nodeType="afterGroup">
                            <p:stCondLst>
                              <p:cond delay="12500"/>
                            </p:stCondLst>
                            <p:childTnLst>
                              <p:par>
                                <p:cTn id="81" presetID="22" presetClass="entr" presetSubtype="8" fill="hold" nodeType="after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wipe(left)">
                                      <p:cBhvr>
                                        <p:cTn id="83" dur="1000"/>
                                        <p:tgtEl>
                                          <p:spTgt spid="33"/>
                                        </p:tgtEl>
                                      </p:cBhvr>
                                    </p:animEffect>
                                  </p:childTnLst>
                                </p:cTn>
                              </p:par>
                            </p:childTnLst>
                          </p:cTn>
                        </p:par>
                        <p:par>
                          <p:cTn id="84" fill="hold" nodeType="afterGroup">
                            <p:stCondLst>
                              <p:cond delay="13500"/>
                            </p:stCondLst>
                            <p:childTnLst>
                              <p:par>
                                <p:cTn id="85" presetID="22" presetClass="entr" presetSubtype="8" fill="hold" grpId="0" nodeType="afterEffect">
                                  <p:stCondLst>
                                    <p:cond delay="0"/>
                                  </p:stCondLst>
                                  <p:childTnLst>
                                    <p:set>
                                      <p:cBhvr>
                                        <p:cTn id="86" dur="1" fill="hold">
                                          <p:stCondLst>
                                            <p:cond delay="0"/>
                                          </p:stCondLst>
                                        </p:cTn>
                                        <p:tgtEl>
                                          <p:spTgt spid="78"/>
                                        </p:tgtEl>
                                        <p:attrNameLst>
                                          <p:attrName>style.visibility</p:attrName>
                                        </p:attrNameLst>
                                      </p:cBhvr>
                                      <p:to>
                                        <p:strVal val="visible"/>
                                      </p:to>
                                    </p:set>
                                    <p:animEffect transition="in" filter="wipe(left)">
                                      <p:cBhvr>
                                        <p:cTn id="87" dur="500"/>
                                        <p:tgtEl>
                                          <p:spTgt spid="78"/>
                                        </p:tgtEl>
                                      </p:cBhvr>
                                    </p:animEffect>
                                  </p:childTnLst>
                                </p:cTn>
                              </p:par>
                            </p:childTnLst>
                          </p:cTn>
                        </p:par>
                        <p:par>
                          <p:cTn id="88" fill="hold" nodeType="afterGroup">
                            <p:stCondLst>
                              <p:cond delay="14000"/>
                            </p:stCondLst>
                            <p:childTnLst>
                              <p:par>
                                <p:cTn id="89" presetID="22" presetClass="entr" presetSubtype="8" fill="hold" nodeType="afterEffect">
                                  <p:stCondLst>
                                    <p:cond delay="0"/>
                                  </p:stCondLst>
                                  <p:childTnLst>
                                    <p:set>
                                      <p:cBhvr>
                                        <p:cTn id="90" dur="1" fill="hold">
                                          <p:stCondLst>
                                            <p:cond delay="0"/>
                                          </p:stCondLst>
                                        </p:cTn>
                                        <p:tgtEl>
                                          <p:spTgt spid="69"/>
                                        </p:tgtEl>
                                        <p:attrNameLst>
                                          <p:attrName>style.visibility</p:attrName>
                                        </p:attrNameLst>
                                      </p:cBhvr>
                                      <p:to>
                                        <p:strVal val="visible"/>
                                      </p:to>
                                    </p:set>
                                    <p:animEffect transition="in" filter="wipe(left)">
                                      <p:cBhvr>
                                        <p:cTn id="91" dur="500"/>
                                        <p:tgtEl>
                                          <p:spTgt spid="69"/>
                                        </p:tgtEl>
                                      </p:cBhvr>
                                    </p:animEffect>
                                  </p:childTnLst>
                                </p:cTn>
                              </p:par>
                            </p:childTnLst>
                          </p:cTn>
                        </p:par>
                        <p:par>
                          <p:cTn id="92" fill="hold" nodeType="afterGroup">
                            <p:stCondLst>
                              <p:cond delay="14500"/>
                            </p:stCondLst>
                            <p:childTnLst>
                              <p:par>
                                <p:cTn id="93" presetID="22" presetClass="entr" presetSubtype="2" fill="hold" nodeType="afterEffect">
                                  <p:stCondLst>
                                    <p:cond delay="0"/>
                                  </p:stCondLst>
                                  <p:childTnLst>
                                    <p:set>
                                      <p:cBhvr>
                                        <p:cTn id="94" dur="1" fill="hold">
                                          <p:stCondLst>
                                            <p:cond delay="0"/>
                                          </p:stCondLst>
                                        </p:cTn>
                                        <p:tgtEl>
                                          <p:spTgt spid="70"/>
                                        </p:tgtEl>
                                        <p:attrNameLst>
                                          <p:attrName>style.visibility</p:attrName>
                                        </p:attrNameLst>
                                      </p:cBhvr>
                                      <p:to>
                                        <p:strVal val="visible"/>
                                      </p:to>
                                    </p:set>
                                    <p:animEffect transition="in" filter="wipe(right)">
                                      <p:cBhvr>
                                        <p:cTn id="95" dur="500"/>
                                        <p:tgtEl>
                                          <p:spTgt spid="70"/>
                                        </p:tgtEl>
                                      </p:cBhvr>
                                    </p:animEffect>
                                  </p:childTnLst>
                                </p:cTn>
                              </p:par>
                            </p:childTnLst>
                          </p:cTn>
                        </p:par>
                        <p:par>
                          <p:cTn id="96" fill="hold" nodeType="afterGroup">
                            <p:stCondLst>
                              <p:cond delay="15000"/>
                            </p:stCondLst>
                            <p:childTnLst>
                              <p:par>
                                <p:cTn id="97" presetID="22" presetClass="entr" presetSubtype="8" fill="hold" grpId="0" nodeType="afterEffect">
                                  <p:stCondLst>
                                    <p:cond delay="0"/>
                                  </p:stCondLst>
                                  <p:childTnLst>
                                    <p:set>
                                      <p:cBhvr>
                                        <p:cTn id="98" dur="1" fill="hold">
                                          <p:stCondLst>
                                            <p:cond delay="0"/>
                                          </p:stCondLst>
                                        </p:cTn>
                                        <p:tgtEl>
                                          <p:spTgt spid="71"/>
                                        </p:tgtEl>
                                        <p:attrNameLst>
                                          <p:attrName>style.visibility</p:attrName>
                                        </p:attrNameLst>
                                      </p:cBhvr>
                                      <p:to>
                                        <p:strVal val="visible"/>
                                      </p:to>
                                    </p:set>
                                    <p:animEffect transition="in" filter="wipe(left)">
                                      <p:cBhvr>
                                        <p:cTn id="99" dur="500"/>
                                        <p:tgtEl>
                                          <p:spTgt spid="71"/>
                                        </p:tgtEl>
                                      </p:cBhvr>
                                    </p:animEffect>
                                  </p:childTnLst>
                                </p:cTn>
                              </p:par>
                            </p:childTnLst>
                          </p:cTn>
                        </p:par>
                        <p:par>
                          <p:cTn id="100" fill="hold" nodeType="afterGroup">
                            <p:stCondLst>
                              <p:cond delay="15500"/>
                            </p:stCondLst>
                            <p:childTnLst>
                              <p:par>
                                <p:cTn id="101" presetID="22" presetClass="entr" presetSubtype="8" fill="hold" nodeType="after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wipe(left)">
                                      <p:cBhvr>
                                        <p:cTn id="103" dur="500"/>
                                        <p:tgtEl>
                                          <p:spTgt spid="24"/>
                                        </p:tgtEl>
                                      </p:cBhvr>
                                    </p:animEffect>
                                  </p:childTnLst>
                                </p:cTn>
                              </p:par>
                            </p:childTnLst>
                          </p:cTn>
                        </p:par>
                        <p:par>
                          <p:cTn id="104" fill="hold">
                            <p:stCondLst>
                              <p:cond delay="16000"/>
                            </p:stCondLst>
                            <p:childTnLst>
                              <p:par>
                                <p:cTn id="105" presetID="22" presetClass="entr" presetSubtype="8" fill="hold" grpId="0" nodeType="afterEffect">
                                  <p:stCondLst>
                                    <p:cond delay="0"/>
                                  </p:stCondLst>
                                  <p:childTnLst>
                                    <p:set>
                                      <p:cBhvr>
                                        <p:cTn id="106" dur="1" fill="hold">
                                          <p:stCondLst>
                                            <p:cond delay="0"/>
                                          </p:stCondLst>
                                        </p:cTn>
                                        <p:tgtEl>
                                          <p:spTgt spid="3">
                                            <p:txEl>
                                              <p:pRg st="0" end="0"/>
                                            </p:txEl>
                                          </p:spTgt>
                                        </p:tgtEl>
                                        <p:attrNameLst>
                                          <p:attrName>style.visibility</p:attrName>
                                        </p:attrNameLst>
                                      </p:cBhvr>
                                      <p:to>
                                        <p:strVal val="visible"/>
                                      </p:to>
                                    </p:set>
                                    <p:animEffect transition="in" filter="wipe(left)">
                                      <p:cBhvr>
                                        <p:cTn id="10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6" grpId="0"/>
      <p:bldP spid="27" grpId="0"/>
      <p:bldP spid="71" grpId="0" animBg="1"/>
      <p:bldP spid="78"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algn="ctr"/>
            <a:r>
              <a:rPr lang="en-US" altLang="en-US" sz="3000" dirty="0">
                <a:solidFill>
                  <a:srgbClr val="AE1221"/>
                </a:solidFill>
              </a:rPr>
              <a:t>Figure 8: An increase in demand in SR and LR (c)</a:t>
            </a:r>
          </a:p>
        </p:txBody>
      </p:sp>
      <p:sp>
        <p:nvSpPr>
          <p:cNvPr id="40963" name="Slide Number Placeholder 2"/>
          <p:cNvSpPr>
            <a:spLocks noGrp="1"/>
          </p:cNvSpPr>
          <p:nvPr>
            <p:ph type="sldNum" sz="quarter" idx="10"/>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1D94B5C2-F3F7-4AAE-9672-D3EBD8DE40B3}" type="slidenum">
              <a:rPr lang="en-US" altLang="en-US" sz="1200" smtClean="0">
                <a:solidFill>
                  <a:srgbClr val="002060"/>
                </a:solidFill>
              </a:rPr>
              <a:pPr eaLnBrk="1" hangingPunct="1"/>
              <a:t>33</a:t>
            </a:fld>
            <a:endParaRPr lang="en-US" altLang="en-US" sz="1200">
              <a:solidFill>
                <a:srgbClr val="002060"/>
              </a:solidFill>
            </a:endParaRPr>
          </a:p>
        </p:txBody>
      </p:sp>
      <p:sp>
        <p:nvSpPr>
          <p:cNvPr id="3" name="Text Placeholder 2"/>
          <p:cNvSpPr>
            <a:spLocks noGrp="1"/>
          </p:cNvSpPr>
          <p:nvPr>
            <p:ph idx="12"/>
          </p:nvPr>
        </p:nvSpPr>
        <p:spPr>
          <a:xfrm>
            <a:off x="0" y="5257799"/>
            <a:ext cx="9144000" cy="1306513"/>
          </a:xfrm>
        </p:spPr>
        <p:txBody>
          <a:bodyPr>
            <a:normAutofit/>
          </a:bodyPr>
          <a:lstStyle/>
          <a:p>
            <a:pPr marL="0" indent="0">
              <a:buNone/>
            </a:pPr>
            <a:r>
              <a:rPr lang="en-US" altLang="en-US" sz="1600" dirty="0"/>
              <a:t>Panel (c) shows how this entry shifts the short-run supply curve to the right from S</a:t>
            </a:r>
            <a:r>
              <a:rPr lang="en-US" altLang="en-US" sz="1600" baseline="-25000" dirty="0"/>
              <a:t>1</a:t>
            </a:r>
            <a:r>
              <a:rPr lang="en-US" altLang="en-US" sz="1600" dirty="0"/>
              <a:t> to S</a:t>
            </a:r>
            <a:r>
              <a:rPr lang="en-US" altLang="en-US" sz="1600" baseline="-25000" dirty="0"/>
              <a:t>2</a:t>
            </a:r>
            <a:r>
              <a:rPr lang="en-US" altLang="en-US" sz="1600" dirty="0"/>
              <a:t>. In the new long-run equilibrium, point C, price has returned to P</a:t>
            </a:r>
            <a:r>
              <a:rPr lang="en-US" altLang="en-US" sz="1600" baseline="-25000" dirty="0"/>
              <a:t>1</a:t>
            </a:r>
            <a:r>
              <a:rPr lang="en-US" altLang="en-US" sz="1600" dirty="0"/>
              <a:t>, but the quantity sold has increased to Q</a:t>
            </a:r>
            <a:r>
              <a:rPr lang="en-US" altLang="en-US" sz="1600" baseline="-25000" dirty="0"/>
              <a:t>3</a:t>
            </a:r>
            <a:r>
              <a:rPr lang="en-US" altLang="en-US" sz="1600" dirty="0"/>
              <a:t>. Profits are again zero, and price is back to the minimum of average total cost, but the market has more firms to satisfy the greater demand.</a:t>
            </a:r>
          </a:p>
        </p:txBody>
      </p:sp>
      <p:grpSp>
        <p:nvGrpSpPr>
          <p:cNvPr id="2" name="Group 4"/>
          <p:cNvGrpSpPr>
            <a:grpSpLocks/>
          </p:cNvGrpSpPr>
          <p:nvPr/>
        </p:nvGrpSpPr>
        <p:grpSpPr bwMode="auto">
          <a:xfrm>
            <a:off x="4889500" y="1336675"/>
            <a:ext cx="3856038" cy="3370263"/>
            <a:chOff x="1438341" y="1284723"/>
            <a:chExt cx="3855679" cy="3371197"/>
          </a:xfrm>
        </p:grpSpPr>
        <p:sp>
          <p:nvSpPr>
            <p:cNvPr id="7" name="Rectangle 6"/>
            <p:cNvSpPr/>
            <p:nvPr/>
          </p:nvSpPr>
          <p:spPr>
            <a:xfrm>
              <a:off x="1828830" y="1637246"/>
              <a:ext cx="3465190" cy="300597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41040" name="Group 16"/>
            <p:cNvGrpSpPr>
              <a:grpSpLocks/>
            </p:cNvGrpSpPr>
            <p:nvPr/>
          </p:nvGrpSpPr>
          <p:grpSpPr bwMode="auto">
            <a:xfrm>
              <a:off x="1438341" y="1284723"/>
              <a:ext cx="710583" cy="3371197"/>
              <a:chOff x="1438341" y="1284723"/>
              <a:chExt cx="710583" cy="3371197"/>
            </a:xfrm>
          </p:grpSpPr>
          <p:cxnSp>
            <p:nvCxnSpPr>
              <p:cNvPr id="9" name="Straight Connector 8"/>
              <p:cNvCxnSpPr/>
              <p:nvPr/>
            </p:nvCxnSpPr>
            <p:spPr>
              <a:xfrm rot="5400000">
                <a:off x="290914" y="3129116"/>
                <a:ext cx="30536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042" name="TextBox 8"/>
              <p:cNvSpPr txBox="1">
                <a:spLocks noChangeArrowheads="1"/>
              </p:cNvSpPr>
              <p:nvPr/>
            </p:nvSpPr>
            <p:spPr bwMode="auto">
              <a:xfrm>
                <a:off x="1438341" y="1284723"/>
                <a:ext cx="710583" cy="3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Price</a:t>
                </a:r>
              </a:p>
            </p:txBody>
          </p:sp>
        </p:grpSp>
      </p:grpSp>
      <p:grpSp>
        <p:nvGrpSpPr>
          <p:cNvPr id="4" name="Group 9"/>
          <p:cNvGrpSpPr>
            <a:grpSpLocks/>
          </p:cNvGrpSpPr>
          <p:nvPr/>
        </p:nvGrpSpPr>
        <p:grpSpPr bwMode="auto">
          <a:xfrm>
            <a:off x="142875" y="1336675"/>
            <a:ext cx="4033838" cy="3360738"/>
            <a:chOff x="1277668" y="1297171"/>
            <a:chExt cx="4033969" cy="3358749"/>
          </a:xfrm>
        </p:grpSpPr>
        <p:sp>
          <p:nvSpPr>
            <p:cNvPr id="12" name="Rectangle 11"/>
            <p:cNvSpPr/>
            <p:nvPr/>
          </p:nvSpPr>
          <p:spPr>
            <a:xfrm>
              <a:off x="1830136" y="1639868"/>
              <a:ext cx="3481501" cy="300335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41036" name="Group 16"/>
            <p:cNvGrpSpPr>
              <a:grpSpLocks/>
            </p:cNvGrpSpPr>
            <p:nvPr/>
          </p:nvGrpSpPr>
          <p:grpSpPr bwMode="auto">
            <a:xfrm>
              <a:off x="1277668" y="1297171"/>
              <a:ext cx="710526" cy="3358749"/>
              <a:chOff x="1277668" y="1297171"/>
              <a:chExt cx="710526" cy="3358749"/>
            </a:xfrm>
          </p:grpSpPr>
          <p:cxnSp>
            <p:nvCxnSpPr>
              <p:cNvPr id="14" name="Straight Connector 13"/>
              <p:cNvCxnSpPr/>
              <p:nvPr/>
            </p:nvCxnSpPr>
            <p:spPr>
              <a:xfrm rot="5400000">
                <a:off x="291164" y="3129649"/>
                <a:ext cx="305254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038" name="TextBox 8"/>
              <p:cNvSpPr txBox="1">
                <a:spLocks noChangeArrowheads="1"/>
              </p:cNvSpPr>
              <p:nvPr/>
            </p:nvSpPr>
            <p:spPr bwMode="auto">
              <a:xfrm>
                <a:off x="1277668" y="1297171"/>
                <a:ext cx="710526" cy="369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Price</a:t>
                </a:r>
              </a:p>
            </p:txBody>
          </p:sp>
        </p:grpSp>
      </p:grpSp>
      <p:grpSp>
        <p:nvGrpSpPr>
          <p:cNvPr id="6" name="Group 15"/>
          <p:cNvGrpSpPr>
            <a:grpSpLocks/>
          </p:cNvGrpSpPr>
          <p:nvPr/>
        </p:nvGrpSpPr>
        <p:grpSpPr bwMode="auto">
          <a:xfrm>
            <a:off x="538163" y="4692650"/>
            <a:ext cx="3711575" cy="727075"/>
            <a:chOff x="1672441" y="4652311"/>
            <a:chExt cx="3711922" cy="726468"/>
          </a:xfrm>
        </p:grpSpPr>
        <p:cxnSp>
          <p:nvCxnSpPr>
            <p:cNvPr id="18" name="Straight Connector 17"/>
            <p:cNvCxnSpPr/>
            <p:nvPr/>
          </p:nvCxnSpPr>
          <p:spPr>
            <a:xfrm flipV="1">
              <a:off x="1816917" y="4652311"/>
              <a:ext cx="3507116" cy="31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033" name="TextBox 17"/>
            <p:cNvSpPr txBox="1">
              <a:spLocks noChangeArrowheads="1"/>
            </p:cNvSpPr>
            <p:nvPr/>
          </p:nvSpPr>
          <p:spPr bwMode="auto">
            <a:xfrm>
              <a:off x="4276605" y="4676905"/>
              <a:ext cx="1107758" cy="701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(market) </a:t>
              </a:r>
            </a:p>
          </p:txBody>
        </p:sp>
        <p:sp>
          <p:nvSpPr>
            <p:cNvPr id="41034" name="TextBox 18"/>
            <p:cNvSpPr txBox="1">
              <a:spLocks noChangeArrowheads="1"/>
            </p:cNvSpPr>
            <p:nvPr/>
          </p:nvSpPr>
          <p:spPr bwMode="auto">
            <a:xfrm>
              <a:off x="1672441" y="4665028"/>
              <a:ext cx="312839" cy="369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1" name="TextBox 20"/>
          <p:cNvSpPr txBox="1">
            <a:spLocks noChangeArrowheads="1"/>
          </p:cNvSpPr>
          <p:nvPr/>
        </p:nvSpPr>
        <p:spPr bwMode="auto">
          <a:xfrm>
            <a:off x="1619250" y="1106488"/>
            <a:ext cx="1130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Market</a:t>
            </a:r>
          </a:p>
        </p:txBody>
      </p:sp>
      <p:grpSp>
        <p:nvGrpSpPr>
          <p:cNvPr id="8" name="Group 20"/>
          <p:cNvGrpSpPr>
            <a:grpSpLocks/>
          </p:cNvGrpSpPr>
          <p:nvPr/>
        </p:nvGrpSpPr>
        <p:grpSpPr bwMode="auto">
          <a:xfrm>
            <a:off x="5124450" y="4705350"/>
            <a:ext cx="3716338" cy="711200"/>
            <a:chOff x="1672441" y="4655130"/>
            <a:chExt cx="3717981" cy="710875"/>
          </a:xfrm>
        </p:grpSpPr>
        <p:cxnSp>
          <p:nvCxnSpPr>
            <p:cNvPr id="23" name="Straight Connector 22"/>
            <p:cNvCxnSpPr/>
            <p:nvPr/>
          </p:nvCxnSpPr>
          <p:spPr>
            <a:xfrm>
              <a:off x="1816968" y="4655130"/>
              <a:ext cx="348610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030" name="TextBox 22"/>
            <p:cNvSpPr txBox="1">
              <a:spLocks noChangeArrowheads="1"/>
            </p:cNvSpPr>
            <p:nvPr/>
          </p:nvSpPr>
          <p:spPr bwMode="auto">
            <a:xfrm>
              <a:off x="4346383" y="4665029"/>
              <a:ext cx="1044039" cy="700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(firm) </a:t>
              </a:r>
            </a:p>
          </p:txBody>
        </p:sp>
        <p:sp>
          <p:nvSpPr>
            <p:cNvPr id="41031" name="TextBox 23"/>
            <p:cNvSpPr txBox="1">
              <a:spLocks noChangeArrowheads="1"/>
            </p:cNvSpPr>
            <p:nvPr/>
          </p:nvSpPr>
          <p:spPr bwMode="auto">
            <a:xfrm>
              <a:off x="1672441" y="4665029"/>
              <a:ext cx="312955" cy="368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6" name="TextBox 25"/>
          <p:cNvSpPr txBox="1">
            <a:spLocks noChangeArrowheads="1"/>
          </p:cNvSpPr>
          <p:nvPr/>
        </p:nvSpPr>
        <p:spPr bwMode="auto">
          <a:xfrm>
            <a:off x="6278563" y="1106488"/>
            <a:ext cx="769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Firm</a:t>
            </a:r>
          </a:p>
        </p:txBody>
      </p:sp>
      <p:sp>
        <p:nvSpPr>
          <p:cNvPr id="27" name="TextBox 26"/>
          <p:cNvSpPr txBox="1">
            <a:spLocks noChangeArrowheads="1"/>
          </p:cNvSpPr>
          <p:nvPr/>
        </p:nvSpPr>
        <p:spPr bwMode="auto">
          <a:xfrm>
            <a:off x="3138488" y="855663"/>
            <a:ext cx="2935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(c) Long-Run Response</a:t>
            </a:r>
          </a:p>
        </p:txBody>
      </p:sp>
      <p:grpSp>
        <p:nvGrpSpPr>
          <p:cNvPr id="10" name="Group 26"/>
          <p:cNvGrpSpPr>
            <a:grpSpLocks/>
          </p:cNvGrpSpPr>
          <p:nvPr/>
        </p:nvGrpSpPr>
        <p:grpSpPr bwMode="auto">
          <a:xfrm>
            <a:off x="873125" y="2198688"/>
            <a:ext cx="2451100" cy="1868487"/>
            <a:chOff x="1353795" y="2667975"/>
            <a:chExt cx="2452422" cy="1868399"/>
          </a:xfrm>
        </p:grpSpPr>
        <p:cxnSp>
          <p:nvCxnSpPr>
            <p:cNvPr id="29" name="Straight Connector 28"/>
            <p:cNvCxnSpPr/>
            <p:nvPr/>
          </p:nvCxnSpPr>
          <p:spPr>
            <a:xfrm flipV="1">
              <a:off x="1353795" y="2980697"/>
              <a:ext cx="1994975" cy="1555677"/>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1028" name="TextBox 28"/>
            <p:cNvSpPr txBox="1">
              <a:spLocks noChangeArrowheads="1"/>
            </p:cNvSpPr>
            <p:nvPr/>
          </p:nvSpPr>
          <p:spPr bwMode="auto">
            <a:xfrm>
              <a:off x="3382546" y="2667975"/>
              <a:ext cx="423671" cy="36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S</a:t>
              </a:r>
              <a:r>
                <a:rPr lang="en-US" altLang="en-US" sz="1800" baseline="-25000">
                  <a:solidFill>
                    <a:srgbClr val="000000"/>
                  </a:solidFill>
                </a:rPr>
                <a:t>1</a:t>
              </a:r>
            </a:p>
          </p:txBody>
        </p:sp>
      </p:grpSp>
      <p:grpSp>
        <p:nvGrpSpPr>
          <p:cNvPr id="11" name="Group 29"/>
          <p:cNvGrpSpPr>
            <a:grpSpLocks/>
          </p:cNvGrpSpPr>
          <p:nvPr/>
        </p:nvGrpSpPr>
        <p:grpSpPr bwMode="auto">
          <a:xfrm>
            <a:off x="873125" y="2439988"/>
            <a:ext cx="2474913" cy="2027237"/>
            <a:chOff x="1353795" y="2909455"/>
            <a:chExt cx="2474948" cy="2025863"/>
          </a:xfrm>
        </p:grpSpPr>
        <p:cxnSp>
          <p:nvCxnSpPr>
            <p:cNvPr id="32" name="Straight Connector 31"/>
            <p:cNvCxnSpPr/>
            <p:nvPr/>
          </p:nvCxnSpPr>
          <p:spPr>
            <a:xfrm>
              <a:off x="1353795" y="2909455"/>
              <a:ext cx="2101880" cy="1662572"/>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1026" name="TextBox 31"/>
            <p:cNvSpPr txBox="1">
              <a:spLocks noChangeArrowheads="1"/>
            </p:cNvSpPr>
            <p:nvPr/>
          </p:nvSpPr>
          <p:spPr bwMode="auto">
            <a:xfrm>
              <a:off x="3392442" y="4566049"/>
              <a:ext cx="436301" cy="36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D</a:t>
              </a:r>
              <a:r>
                <a:rPr lang="en-US" altLang="en-US" sz="1800" baseline="-25000">
                  <a:solidFill>
                    <a:srgbClr val="000000"/>
                  </a:solidFill>
                </a:rPr>
                <a:t>1</a:t>
              </a:r>
            </a:p>
          </p:txBody>
        </p:sp>
      </p:grpSp>
      <p:grpSp>
        <p:nvGrpSpPr>
          <p:cNvPr id="13" name="Group 32"/>
          <p:cNvGrpSpPr>
            <a:grpSpLocks/>
          </p:cNvGrpSpPr>
          <p:nvPr/>
        </p:nvGrpSpPr>
        <p:grpSpPr bwMode="auto">
          <a:xfrm>
            <a:off x="1700213" y="3259138"/>
            <a:ext cx="449262" cy="1817687"/>
            <a:chOff x="1801101" y="3729646"/>
            <a:chExt cx="448757" cy="1817115"/>
          </a:xfrm>
        </p:grpSpPr>
        <p:cxnSp>
          <p:nvCxnSpPr>
            <p:cNvPr id="35" name="Straight Connector 34"/>
            <p:cNvCxnSpPr/>
            <p:nvPr/>
          </p:nvCxnSpPr>
          <p:spPr>
            <a:xfrm rot="5400000">
              <a:off x="1275637" y="4459667"/>
              <a:ext cx="1461627" cy="158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1024" name="TextBox 34"/>
            <p:cNvSpPr txBox="1">
              <a:spLocks noChangeArrowheads="1"/>
            </p:cNvSpPr>
            <p:nvPr/>
          </p:nvSpPr>
          <p:spPr bwMode="auto">
            <a:xfrm>
              <a:off x="1801101" y="5177632"/>
              <a:ext cx="448757" cy="36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1</a:t>
              </a:r>
            </a:p>
          </p:txBody>
        </p:sp>
      </p:grpSp>
      <p:grpSp>
        <p:nvGrpSpPr>
          <p:cNvPr id="15" name="Group 57"/>
          <p:cNvGrpSpPr>
            <a:grpSpLocks/>
          </p:cNvGrpSpPr>
          <p:nvPr/>
        </p:nvGrpSpPr>
        <p:grpSpPr bwMode="auto">
          <a:xfrm>
            <a:off x="1771650" y="2890838"/>
            <a:ext cx="338138" cy="447675"/>
            <a:chOff x="2561115" y="2743191"/>
            <a:chExt cx="338815" cy="447464"/>
          </a:xfrm>
        </p:grpSpPr>
        <p:sp>
          <p:nvSpPr>
            <p:cNvPr id="41021"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41022" name="TextBox 45"/>
            <p:cNvSpPr txBox="1">
              <a:spLocks noChangeArrowheads="1"/>
            </p:cNvSpPr>
            <p:nvPr/>
          </p:nvSpPr>
          <p:spPr bwMode="auto">
            <a:xfrm>
              <a:off x="2561115" y="2743191"/>
              <a:ext cx="338815" cy="36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a:t>
              </a:r>
              <a:endParaRPr lang="en-US" altLang="en-US" sz="1800" baseline="-25000">
                <a:solidFill>
                  <a:srgbClr val="000000"/>
                </a:solidFill>
              </a:endParaRPr>
            </a:p>
          </p:txBody>
        </p:sp>
      </p:grpSp>
      <p:grpSp>
        <p:nvGrpSpPr>
          <p:cNvPr id="17" name="Group 52"/>
          <p:cNvGrpSpPr>
            <a:grpSpLocks/>
          </p:cNvGrpSpPr>
          <p:nvPr/>
        </p:nvGrpSpPr>
        <p:grpSpPr bwMode="auto">
          <a:xfrm>
            <a:off x="1274763" y="2187575"/>
            <a:ext cx="2474912" cy="2027238"/>
            <a:chOff x="1353795" y="2909455"/>
            <a:chExt cx="2474948" cy="2025863"/>
          </a:xfrm>
        </p:grpSpPr>
        <p:cxnSp>
          <p:nvCxnSpPr>
            <p:cNvPr id="41" name="Straight Connector 40"/>
            <p:cNvCxnSpPr/>
            <p:nvPr/>
          </p:nvCxnSpPr>
          <p:spPr>
            <a:xfrm>
              <a:off x="1353795" y="2909455"/>
              <a:ext cx="2101881" cy="166257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1020" name="TextBox 54"/>
            <p:cNvSpPr txBox="1">
              <a:spLocks noChangeArrowheads="1"/>
            </p:cNvSpPr>
            <p:nvPr/>
          </p:nvSpPr>
          <p:spPr bwMode="auto">
            <a:xfrm>
              <a:off x="3392442" y="4566049"/>
              <a:ext cx="436301" cy="36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D</a:t>
              </a:r>
              <a:r>
                <a:rPr lang="en-US" altLang="en-US" sz="1800" baseline="-25000">
                  <a:solidFill>
                    <a:srgbClr val="000000"/>
                  </a:solidFill>
                </a:rPr>
                <a:t>2</a:t>
              </a:r>
            </a:p>
          </p:txBody>
        </p:sp>
      </p:grpSp>
      <p:grpSp>
        <p:nvGrpSpPr>
          <p:cNvPr id="19" name="Group 57"/>
          <p:cNvGrpSpPr>
            <a:grpSpLocks/>
          </p:cNvGrpSpPr>
          <p:nvPr/>
        </p:nvGrpSpPr>
        <p:grpSpPr bwMode="auto">
          <a:xfrm>
            <a:off x="2125663" y="2579688"/>
            <a:ext cx="338137" cy="447675"/>
            <a:chOff x="2561122" y="2743191"/>
            <a:chExt cx="338815" cy="447464"/>
          </a:xfrm>
        </p:grpSpPr>
        <p:sp>
          <p:nvSpPr>
            <p:cNvPr id="41017"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41018" name="TextBox 57"/>
            <p:cNvSpPr txBox="1">
              <a:spLocks noChangeArrowheads="1"/>
            </p:cNvSpPr>
            <p:nvPr/>
          </p:nvSpPr>
          <p:spPr bwMode="auto">
            <a:xfrm>
              <a:off x="2561122" y="2743191"/>
              <a:ext cx="338815" cy="36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B</a:t>
              </a:r>
              <a:endParaRPr lang="en-US" altLang="en-US" sz="1800" baseline="-25000">
                <a:solidFill>
                  <a:srgbClr val="000000"/>
                </a:solidFill>
              </a:endParaRPr>
            </a:p>
          </p:txBody>
        </p:sp>
      </p:grpSp>
      <p:grpSp>
        <p:nvGrpSpPr>
          <p:cNvPr id="20" name="Group 58"/>
          <p:cNvGrpSpPr>
            <a:grpSpLocks/>
          </p:cNvGrpSpPr>
          <p:nvPr/>
        </p:nvGrpSpPr>
        <p:grpSpPr bwMode="auto">
          <a:xfrm>
            <a:off x="2054225" y="2997200"/>
            <a:ext cx="449263" cy="2090738"/>
            <a:chOff x="1801100" y="3457699"/>
            <a:chExt cx="448756" cy="2089175"/>
          </a:xfrm>
        </p:grpSpPr>
        <p:cxnSp>
          <p:nvCxnSpPr>
            <p:cNvPr id="47" name="Straight Connector 46"/>
            <p:cNvCxnSpPr/>
            <p:nvPr/>
          </p:nvCxnSpPr>
          <p:spPr>
            <a:xfrm rot="5400000">
              <a:off x="1140323" y="4323033"/>
              <a:ext cx="1733841" cy="3171"/>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1016" name="TextBox 60"/>
            <p:cNvSpPr txBox="1">
              <a:spLocks noChangeArrowheads="1"/>
            </p:cNvSpPr>
            <p:nvPr/>
          </p:nvSpPr>
          <p:spPr bwMode="auto">
            <a:xfrm>
              <a:off x="1801100" y="5177632"/>
              <a:ext cx="448756" cy="369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2</a:t>
              </a:r>
            </a:p>
          </p:txBody>
        </p:sp>
      </p:grpSp>
      <p:grpSp>
        <p:nvGrpSpPr>
          <p:cNvPr id="22" name="Group 61"/>
          <p:cNvGrpSpPr>
            <a:grpSpLocks/>
          </p:cNvGrpSpPr>
          <p:nvPr/>
        </p:nvGrpSpPr>
        <p:grpSpPr bwMode="auto">
          <a:xfrm>
            <a:off x="274638" y="2760663"/>
            <a:ext cx="1987550" cy="369887"/>
            <a:chOff x="138578" y="3230096"/>
            <a:chExt cx="1987105" cy="369788"/>
          </a:xfrm>
        </p:grpSpPr>
        <p:cxnSp>
          <p:nvCxnSpPr>
            <p:cNvPr id="50" name="Straight Connector 49"/>
            <p:cNvCxnSpPr/>
            <p:nvPr/>
          </p:nvCxnSpPr>
          <p:spPr>
            <a:xfrm>
              <a:off x="568694" y="3430067"/>
              <a:ext cx="1556989" cy="1587"/>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1014" name="TextBox 63"/>
            <p:cNvSpPr txBox="1">
              <a:spLocks noChangeArrowheads="1"/>
            </p:cNvSpPr>
            <p:nvPr/>
          </p:nvSpPr>
          <p:spPr bwMode="auto">
            <a:xfrm>
              <a:off x="138578" y="3230096"/>
              <a:ext cx="423419" cy="36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2</a:t>
              </a:r>
            </a:p>
          </p:txBody>
        </p:sp>
      </p:grpSp>
      <p:grpSp>
        <p:nvGrpSpPr>
          <p:cNvPr id="24" name="Group 70"/>
          <p:cNvGrpSpPr>
            <a:grpSpLocks/>
          </p:cNvGrpSpPr>
          <p:nvPr/>
        </p:nvGrpSpPr>
        <p:grpSpPr bwMode="auto">
          <a:xfrm>
            <a:off x="5480050" y="2112963"/>
            <a:ext cx="2476500" cy="2190750"/>
            <a:chOff x="1058890" y="1503507"/>
            <a:chExt cx="2475492" cy="2191697"/>
          </a:xfrm>
        </p:grpSpPr>
        <p:cxnSp>
          <p:nvCxnSpPr>
            <p:cNvPr id="53" name="Straight Connector 52"/>
            <p:cNvCxnSpPr/>
            <p:nvPr/>
          </p:nvCxnSpPr>
          <p:spPr>
            <a:xfrm flipV="1">
              <a:off x="1058890" y="1865613"/>
              <a:ext cx="2113689" cy="18295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012" name="TextBox 72"/>
            <p:cNvSpPr txBox="1">
              <a:spLocks noChangeArrowheads="1"/>
            </p:cNvSpPr>
            <p:nvPr/>
          </p:nvSpPr>
          <p:spPr bwMode="auto">
            <a:xfrm>
              <a:off x="2990827" y="1503507"/>
              <a:ext cx="543555"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MC</a:t>
              </a:r>
            </a:p>
          </p:txBody>
        </p:sp>
      </p:grpSp>
      <p:grpSp>
        <p:nvGrpSpPr>
          <p:cNvPr id="25" name="Group 14"/>
          <p:cNvGrpSpPr>
            <a:grpSpLocks/>
          </p:cNvGrpSpPr>
          <p:nvPr/>
        </p:nvGrpSpPr>
        <p:grpSpPr bwMode="auto">
          <a:xfrm>
            <a:off x="5516563" y="2143125"/>
            <a:ext cx="3262312" cy="1400175"/>
            <a:chOff x="1769428" y="2446317"/>
            <a:chExt cx="3263768" cy="1401279"/>
          </a:xfrm>
        </p:grpSpPr>
        <p:sp>
          <p:nvSpPr>
            <p:cNvPr id="56" name="Freeform 55"/>
            <p:cNvSpPr/>
            <p:nvPr/>
          </p:nvSpPr>
          <p:spPr>
            <a:xfrm>
              <a:off x="1769428" y="2446317"/>
              <a:ext cx="2766659" cy="1401279"/>
            </a:xfrm>
            <a:custGeom>
              <a:avLst/>
              <a:gdLst>
                <a:gd name="connsiteX0" fmla="*/ 0 w 4488873"/>
                <a:gd name="connsiteY0" fmla="*/ 0 h 1021278"/>
                <a:gd name="connsiteX1" fmla="*/ 4488873 w 4488873"/>
                <a:gd name="connsiteY1" fmla="*/ 1021278 h 1021278"/>
                <a:gd name="connsiteX0" fmla="*/ 0 w 4488873"/>
                <a:gd name="connsiteY0" fmla="*/ 0 h 1717964"/>
                <a:gd name="connsiteX1" fmla="*/ 4488873 w 4488873"/>
                <a:gd name="connsiteY1" fmla="*/ 1021278 h 1717964"/>
                <a:gd name="connsiteX0" fmla="*/ 0 w 4488873"/>
                <a:gd name="connsiteY0" fmla="*/ 0 h 1785258"/>
                <a:gd name="connsiteX1" fmla="*/ 4488873 w 4488873"/>
                <a:gd name="connsiteY1" fmla="*/ 1021278 h 1785258"/>
                <a:gd name="connsiteX0" fmla="*/ 0 w 4987636"/>
                <a:gd name="connsiteY0" fmla="*/ 0 h 1717964"/>
                <a:gd name="connsiteX1" fmla="*/ 4987636 w 4987636"/>
                <a:gd name="connsiteY1" fmla="*/ 665018 h 1717964"/>
                <a:gd name="connsiteX0" fmla="*/ 0 w 4987636"/>
                <a:gd name="connsiteY0" fmla="*/ 0 h 1868385"/>
                <a:gd name="connsiteX1" fmla="*/ 4987636 w 4987636"/>
                <a:gd name="connsiteY1" fmla="*/ 665018 h 1868385"/>
                <a:gd name="connsiteX0" fmla="*/ 0 w 4987636"/>
                <a:gd name="connsiteY0" fmla="*/ 0 h 1868385"/>
                <a:gd name="connsiteX1" fmla="*/ 4987636 w 4987636"/>
                <a:gd name="connsiteY1" fmla="*/ 665018 h 1868385"/>
                <a:gd name="connsiteX0" fmla="*/ 0 w 4987636"/>
                <a:gd name="connsiteY0" fmla="*/ 0 h 1717964"/>
                <a:gd name="connsiteX1" fmla="*/ 4987636 w 4987636"/>
                <a:gd name="connsiteY1" fmla="*/ 665018 h 1717964"/>
                <a:gd name="connsiteX0" fmla="*/ 0 w 4987636"/>
                <a:gd name="connsiteY0" fmla="*/ 0 h 1785258"/>
                <a:gd name="connsiteX1" fmla="*/ 4987636 w 4987636"/>
                <a:gd name="connsiteY1" fmla="*/ 665018 h 1785258"/>
              </a:gdLst>
              <a:ahLst/>
              <a:cxnLst>
                <a:cxn ang="0">
                  <a:pos x="connsiteX0" y="connsiteY0"/>
                </a:cxn>
                <a:cxn ang="0">
                  <a:pos x="connsiteX1" y="connsiteY1"/>
                </a:cxn>
              </a:cxnLst>
              <a:rect l="l" t="t" r="r" b="b"/>
              <a:pathLst>
                <a:path w="4987636" h="1785258">
                  <a:moveTo>
                    <a:pt x="0" y="0"/>
                  </a:moveTo>
                  <a:cubicBezTo>
                    <a:pt x="1009402" y="1717964"/>
                    <a:pt x="2168182" y="1785258"/>
                    <a:pt x="4987636" y="665018"/>
                  </a:cubicBezTo>
                </a:path>
              </a:pathLst>
            </a:custGeom>
            <a:ln w="38100">
              <a:solidFill>
                <a:srgbClr val="005EA4"/>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a:solidFill>
                  <a:srgbClr val="000000"/>
                </a:solidFill>
              </a:endParaRPr>
            </a:p>
          </p:txBody>
        </p:sp>
        <p:sp>
          <p:nvSpPr>
            <p:cNvPr id="41010" name="TextBox 75"/>
            <p:cNvSpPr txBox="1">
              <a:spLocks noChangeArrowheads="1"/>
            </p:cNvSpPr>
            <p:nvPr/>
          </p:nvSpPr>
          <p:spPr bwMode="auto">
            <a:xfrm>
              <a:off x="4403786" y="2703616"/>
              <a:ext cx="629410" cy="369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ATC</a:t>
              </a:r>
            </a:p>
          </p:txBody>
        </p:sp>
      </p:grpSp>
      <p:grpSp>
        <p:nvGrpSpPr>
          <p:cNvPr id="28" name="Group 77"/>
          <p:cNvGrpSpPr>
            <a:grpSpLocks/>
          </p:cNvGrpSpPr>
          <p:nvPr/>
        </p:nvGrpSpPr>
        <p:grpSpPr bwMode="auto">
          <a:xfrm>
            <a:off x="788988" y="1490663"/>
            <a:ext cx="3857625" cy="1458912"/>
            <a:chOff x="653143" y="1959579"/>
            <a:chExt cx="3857777" cy="1460496"/>
          </a:xfrm>
        </p:grpSpPr>
        <p:sp>
          <p:nvSpPr>
            <p:cNvPr id="41007" name="TextBox 78"/>
            <p:cNvSpPr txBox="1">
              <a:spLocks noChangeArrowheads="1"/>
            </p:cNvSpPr>
            <p:nvPr/>
          </p:nvSpPr>
          <p:spPr bwMode="auto">
            <a:xfrm>
              <a:off x="653143" y="1959579"/>
              <a:ext cx="3857777" cy="646556"/>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5. When profits induce entry, supply increases and the price falls,…</a:t>
              </a:r>
            </a:p>
          </p:txBody>
        </p:sp>
        <p:cxnSp>
          <p:nvCxnSpPr>
            <p:cNvPr id="60" name="Straight Connector 59"/>
            <p:cNvCxnSpPr/>
            <p:nvPr/>
          </p:nvCxnSpPr>
          <p:spPr>
            <a:xfrm rot="16200000" flipV="1">
              <a:off x="2045005" y="2911624"/>
              <a:ext cx="824807" cy="1920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oup 80"/>
          <p:cNvGrpSpPr>
            <a:grpSpLocks/>
          </p:cNvGrpSpPr>
          <p:nvPr/>
        </p:nvGrpSpPr>
        <p:grpSpPr bwMode="auto">
          <a:xfrm>
            <a:off x="5616575" y="1425575"/>
            <a:ext cx="2516188" cy="1768475"/>
            <a:chOff x="5186485" y="1751227"/>
            <a:chExt cx="2515801" cy="1770369"/>
          </a:xfrm>
        </p:grpSpPr>
        <p:sp>
          <p:nvSpPr>
            <p:cNvPr id="41005" name="TextBox 81"/>
            <p:cNvSpPr txBox="1">
              <a:spLocks noChangeArrowheads="1"/>
            </p:cNvSpPr>
            <p:nvPr/>
          </p:nvSpPr>
          <p:spPr bwMode="auto">
            <a:xfrm>
              <a:off x="5186485" y="1751227"/>
              <a:ext cx="2515801" cy="646728"/>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6. …restoring long-run equilibrium.</a:t>
              </a:r>
            </a:p>
          </p:txBody>
        </p:sp>
        <p:cxnSp>
          <p:nvCxnSpPr>
            <p:cNvPr id="63" name="Straight Connector 62"/>
            <p:cNvCxnSpPr/>
            <p:nvPr/>
          </p:nvCxnSpPr>
          <p:spPr>
            <a:xfrm rot="5400000" flipH="1" flipV="1">
              <a:off x="5785781" y="2887593"/>
              <a:ext cx="1123564" cy="1444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83"/>
          <p:cNvGrpSpPr>
            <a:grpSpLocks/>
          </p:cNvGrpSpPr>
          <p:nvPr/>
        </p:nvGrpSpPr>
        <p:grpSpPr bwMode="auto">
          <a:xfrm>
            <a:off x="1381125" y="2351088"/>
            <a:ext cx="2452688" cy="1868487"/>
            <a:chOff x="1353795" y="2667975"/>
            <a:chExt cx="2452145" cy="1868399"/>
          </a:xfrm>
        </p:grpSpPr>
        <p:cxnSp>
          <p:nvCxnSpPr>
            <p:cNvPr id="65" name="Straight Connector 64"/>
            <p:cNvCxnSpPr/>
            <p:nvPr/>
          </p:nvCxnSpPr>
          <p:spPr>
            <a:xfrm flipV="1">
              <a:off x="1353795" y="2980697"/>
              <a:ext cx="1995046" cy="155567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1004" name="TextBox 85"/>
            <p:cNvSpPr txBox="1">
              <a:spLocks noChangeArrowheads="1"/>
            </p:cNvSpPr>
            <p:nvPr/>
          </p:nvSpPr>
          <p:spPr bwMode="auto">
            <a:xfrm>
              <a:off x="3382546" y="2667975"/>
              <a:ext cx="423394" cy="36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S</a:t>
              </a:r>
              <a:r>
                <a:rPr lang="en-US" altLang="en-US" sz="1800" baseline="-25000">
                  <a:solidFill>
                    <a:srgbClr val="000000"/>
                  </a:solidFill>
                </a:rPr>
                <a:t>2</a:t>
              </a:r>
            </a:p>
          </p:txBody>
        </p:sp>
      </p:grpSp>
      <p:grpSp>
        <p:nvGrpSpPr>
          <p:cNvPr id="43008" name="Group 57"/>
          <p:cNvGrpSpPr>
            <a:grpSpLocks/>
          </p:cNvGrpSpPr>
          <p:nvPr/>
        </p:nvGrpSpPr>
        <p:grpSpPr bwMode="auto">
          <a:xfrm>
            <a:off x="2492375" y="2886075"/>
            <a:ext cx="350838" cy="447675"/>
            <a:chOff x="2561113" y="2743191"/>
            <a:chExt cx="351753" cy="447464"/>
          </a:xfrm>
        </p:grpSpPr>
        <p:sp>
          <p:nvSpPr>
            <p:cNvPr id="41001"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41002" name="TextBox 88"/>
            <p:cNvSpPr txBox="1">
              <a:spLocks noChangeArrowheads="1"/>
            </p:cNvSpPr>
            <p:nvPr/>
          </p:nvSpPr>
          <p:spPr bwMode="auto">
            <a:xfrm>
              <a:off x="2561113" y="2743191"/>
              <a:ext cx="351753" cy="36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C</a:t>
              </a:r>
              <a:endParaRPr lang="en-US" altLang="en-US" sz="1800" baseline="-25000">
                <a:solidFill>
                  <a:srgbClr val="000000"/>
                </a:solidFill>
              </a:endParaRPr>
            </a:p>
          </p:txBody>
        </p:sp>
      </p:grpSp>
      <p:grpSp>
        <p:nvGrpSpPr>
          <p:cNvPr id="43009" name="Group 90"/>
          <p:cNvGrpSpPr>
            <a:grpSpLocks/>
          </p:cNvGrpSpPr>
          <p:nvPr/>
        </p:nvGrpSpPr>
        <p:grpSpPr bwMode="auto">
          <a:xfrm>
            <a:off x="2422525" y="3257550"/>
            <a:ext cx="449263" cy="1817688"/>
            <a:chOff x="1801101" y="3729644"/>
            <a:chExt cx="448755" cy="1817117"/>
          </a:xfrm>
        </p:grpSpPr>
        <p:cxnSp>
          <p:nvCxnSpPr>
            <p:cNvPr id="71" name="Straight Connector 70"/>
            <p:cNvCxnSpPr/>
            <p:nvPr/>
          </p:nvCxnSpPr>
          <p:spPr>
            <a:xfrm rot="5400000">
              <a:off x="1275636" y="4459665"/>
              <a:ext cx="1461629" cy="1585"/>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1000" name="TextBox 92"/>
            <p:cNvSpPr txBox="1">
              <a:spLocks noChangeArrowheads="1"/>
            </p:cNvSpPr>
            <p:nvPr/>
          </p:nvSpPr>
          <p:spPr bwMode="auto">
            <a:xfrm>
              <a:off x="1801101" y="5177632"/>
              <a:ext cx="448755" cy="36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3</a:t>
              </a:r>
            </a:p>
          </p:txBody>
        </p:sp>
      </p:grpSp>
      <p:cxnSp>
        <p:nvCxnSpPr>
          <p:cNvPr id="73" name="Straight Connector 72"/>
          <p:cNvCxnSpPr/>
          <p:nvPr/>
        </p:nvCxnSpPr>
        <p:spPr>
          <a:xfrm flipV="1">
            <a:off x="3282950" y="3246438"/>
            <a:ext cx="1508125"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43014" name="Group 31"/>
          <p:cNvGrpSpPr>
            <a:grpSpLocks/>
          </p:cNvGrpSpPr>
          <p:nvPr/>
        </p:nvGrpSpPr>
        <p:grpSpPr bwMode="auto">
          <a:xfrm>
            <a:off x="4811713" y="3057525"/>
            <a:ext cx="3540125" cy="369888"/>
            <a:chOff x="1401278" y="2972795"/>
            <a:chExt cx="3540814" cy="369787"/>
          </a:xfrm>
        </p:grpSpPr>
        <p:cxnSp>
          <p:nvCxnSpPr>
            <p:cNvPr id="75" name="Straight Connector 74"/>
            <p:cNvCxnSpPr/>
            <p:nvPr/>
          </p:nvCxnSpPr>
          <p:spPr>
            <a:xfrm>
              <a:off x="1829986" y="3172765"/>
              <a:ext cx="3112106" cy="0"/>
            </a:xfrm>
            <a:prstGeom prst="line">
              <a:avLst/>
            </a:prstGeom>
            <a:ln w="57150">
              <a:solidFill>
                <a:srgbClr val="005EA4"/>
              </a:solidFill>
              <a:prstDash val="solid"/>
            </a:ln>
          </p:spPr>
          <p:style>
            <a:lnRef idx="1">
              <a:schemeClr val="accent1"/>
            </a:lnRef>
            <a:fillRef idx="0">
              <a:schemeClr val="accent1"/>
            </a:fillRef>
            <a:effectRef idx="0">
              <a:schemeClr val="accent1"/>
            </a:effectRef>
            <a:fontRef idx="minor">
              <a:schemeClr val="tx1"/>
            </a:fontRef>
          </p:style>
        </p:cxnSp>
        <p:sp>
          <p:nvSpPr>
            <p:cNvPr id="40998" name="TextBox 96"/>
            <p:cNvSpPr txBox="1">
              <a:spLocks noChangeArrowheads="1"/>
            </p:cNvSpPr>
            <p:nvPr/>
          </p:nvSpPr>
          <p:spPr bwMode="auto">
            <a:xfrm>
              <a:off x="1401278" y="2972795"/>
              <a:ext cx="423596" cy="36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grpSp>
        <p:nvGrpSpPr>
          <p:cNvPr id="43015" name="Group 35"/>
          <p:cNvGrpSpPr>
            <a:grpSpLocks/>
          </p:cNvGrpSpPr>
          <p:nvPr/>
        </p:nvGrpSpPr>
        <p:grpSpPr bwMode="auto">
          <a:xfrm>
            <a:off x="265113" y="2906713"/>
            <a:ext cx="3911600" cy="701675"/>
            <a:chOff x="746178" y="3376048"/>
            <a:chExt cx="3911336" cy="702422"/>
          </a:xfrm>
        </p:grpSpPr>
        <p:grpSp>
          <p:nvGrpSpPr>
            <p:cNvPr id="40993" name="Group 31"/>
            <p:cNvGrpSpPr>
              <a:grpSpLocks/>
            </p:cNvGrpSpPr>
            <p:nvPr/>
          </p:nvGrpSpPr>
          <p:grpSpPr bwMode="auto">
            <a:xfrm>
              <a:off x="746178" y="3528941"/>
              <a:ext cx="3541146" cy="369695"/>
              <a:chOff x="1401278" y="2972791"/>
              <a:chExt cx="3541146" cy="369695"/>
            </a:xfrm>
          </p:grpSpPr>
          <p:cxnSp>
            <p:nvCxnSpPr>
              <p:cNvPr id="80" name="Straight Connector 79"/>
              <p:cNvCxnSpPr/>
              <p:nvPr/>
            </p:nvCxnSpPr>
            <p:spPr>
              <a:xfrm>
                <a:off x="1831461" y="3172699"/>
                <a:ext cx="3111290" cy="0"/>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0996" name="TextBox 39"/>
              <p:cNvSpPr txBox="1">
                <a:spLocks noChangeArrowheads="1"/>
              </p:cNvSpPr>
              <p:nvPr/>
            </p:nvSpPr>
            <p:spPr bwMode="auto">
              <a:xfrm>
                <a:off x="1401278" y="2972791"/>
                <a:ext cx="423446" cy="369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sp>
          <p:nvSpPr>
            <p:cNvPr id="40994" name="TextBox 37"/>
            <p:cNvSpPr txBox="1">
              <a:spLocks noChangeArrowheads="1"/>
            </p:cNvSpPr>
            <p:nvPr/>
          </p:nvSpPr>
          <p:spPr bwMode="auto">
            <a:xfrm>
              <a:off x="3549695" y="3376048"/>
              <a:ext cx="1107819" cy="702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Long-run</a:t>
              </a:r>
            </a:p>
            <a:p>
              <a:pPr eaLnBrk="1" hangingPunct="1"/>
              <a:r>
                <a:rPr lang="en-US" altLang="en-US" sz="1800">
                  <a:solidFill>
                    <a:srgbClr val="000000"/>
                  </a:solidFill>
                </a:rPr>
                <a:t>supply</a:t>
              </a:r>
              <a:endParaRPr lang="en-US" altLang="en-US" sz="1800" baseline="-25000">
                <a:solidFill>
                  <a:srgbClr val="000000"/>
                </a:solidFill>
              </a:endParaRPr>
            </a:p>
          </p:txBody>
        </p:sp>
      </p:grpSp>
      <p:sp>
        <p:nvSpPr>
          <p:cNvPr id="82" name="Freeform 183"/>
          <p:cNvSpPr>
            <a:spLocks/>
          </p:cNvSpPr>
          <p:nvPr/>
        </p:nvSpPr>
        <p:spPr bwMode="auto">
          <a:xfrm>
            <a:off x="6637338" y="3197225"/>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5" name="Footer Placeholder 4">
            <a:extLst>
              <a:ext uri="{FF2B5EF4-FFF2-40B4-BE49-F238E27FC236}">
                <a16:creationId xmlns:a16="http://schemas.microsoft.com/office/drawing/2014/main" id="{BC4D8C34-7B99-695E-B210-6C4FC33F501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504437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left)">
                                      <p:cBhvr>
                                        <p:cTn id="13" dur="500"/>
                                        <p:tgtEl>
                                          <p:spTgt spid="26"/>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22" presetClass="entr" presetSubtype="4"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4"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500"/>
                                        <p:tgtEl>
                                          <p:spTgt spid="2"/>
                                        </p:tgtEl>
                                      </p:cBhvr>
                                    </p:animEffect>
                                  </p:childTnLst>
                                </p:cTn>
                              </p:par>
                            </p:childTnLst>
                          </p:cTn>
                        </p:par>
                        <p:par>
                          <p:cTn id="28" fill="hold" nodeType="afterGroup">
                            <p:stCondLst>
                              <p:cond delay="1500"/>
                            </p:stCondLst>
                            <p:childTnLst>
                              <p:par>
                                <p:cTn id="29" presetID="22" presetClass="entr" presetSubtype="8"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par>
                          <p:cTn id="32" fill="hold" nodeType="afterGroup">
                            <p:stCondLst>
                              <p:cond delay="2000"/>
                            </p:stCondLst>
                            <p:childTnLst>
                              <p:par>
                                <p:cTn id="33" presetID="22" presetClass="entr" presetSubtype="8"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par>
                          <p:cTn id="36" fill="hold" nodeType="afterGroup">
                            <p:stCondLst>
                              <p:cond delay="2500"/>
                            </p:stCondLst>
                            <p:childTnLst>
                              <p:par>
                                <p:cTn id="37" presetID="22" presetClass="entr" presetSubtype="8"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childTnLst>
                          </p:cTn>
                        </p:par>
                        <p:par>
                          <p:cTn id="40" fill="hold" nodeType="afterGroup">
                            <p:stCondLst>
                              <p:cond delay="3000"/>
                            </p:stCondLst>
                            <p:childTnLst>
                              <p:par>
                                <p:cTn id="41" presetID="22" presetClass="entr" presetSubtype="8" fill="hold" nodeType="afterEffect">
                                  <p:stCondLst>
                                    <p:cond delay="0"/>
                                  </p:stCondLst>
                                  <p:childTnLst>
                                    <p:set>
                                      <p:cBhvr>
                                        <p:cTn id="42" dur="1" fill="hold">
                                          <p:stCondLst>
                                            <p:cond delay="0"/>
                                          </p:stCondLst>
                                        </p:cTn>
                                        <p:tgtEl>
                                          <p:spTgt spid="43015"/>
                                        </p:tgtEl>
                                        <p:attrNameLst>
                                          <p:attrName>style.visibility</p:attrName>
                                        </p:attrNameLst>
                                      </p:cBhvr>
                                      <p:to>
                                        <p:strVal val="visible"/>
                                      </p:to>
                                    </p:set>
                                    <p:animEffect transition="in" filter="wipe(left)">
                                      <p:cBhvr>
                                        <p:cTn id="43" dur="500"/>
                                        <p:tgtEl>
                                          <p:spTgt spid="43015"/>
                                        </p:tgtEl>
                                      </p:cBhvr>
                                    </p:animEffect>
                                  </p:childTnLst>
                                </p:cTn>
                              </p:par>
                            </p:childTnLst>
                          </p:cTn>
                        </p:par>
                        <p:par>
                          <p:cTn id="44" fill="hold" nodeType="afterGroup">
                            <p:stCondLst>
                              <p:cond delay="3500"/>
                            </p:stCondLst>
                            <p:childTnLst>
                              <p:par>
                                <p:cTn id="45" presetID="22" presetClass="entr" presetSubtype="1"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par>
                          <p:cTn id="48" fill="hold" nodeType="afterGroup">
                            <p:stCondLst>
                              <p:cond delay="4000"/>
                            </p:stCondLst>
                            <p:childTnLst>
                              <p:par>
                                <p:cTn id="49" presetID="22" presetClass="entr" presetSubtype="8"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left)">
                                      <p:cBhvr>
                                        <p:cTn id="51" dur="500"/>
                                        <p:tgtEl>
                                          <p:spTgt spid="25"/>
                                        </p:tgtEl>
                                      </p:cBhvr>
                                    </p:animEffect>
                                  </p:childTnLst>
                                </p:cTn>
                              </p:par>
                            </p:childTnLst>
                          </p:cTn>
                        </p:par>
                        <p:par>
                          <p:cTn id="52" fill="hold" nodeType="afterGroup">
                            <p:stCondLst>
                              <p:cond delay="4500"/>
                            </p:stCondLst>
                            <p:childTnLst>
                              <p:par>
                                <p:cTn id="53" presetID="22" presetClass="entr" presetSubtype="8" fill="hold"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wipe(left)">
                                      <p:cBhvr>
                                        <p:cTn id="55" dur="500"/>
                                        <p:tgtEl>
                                          <p:spTgt spid="24"/>
                                        </p:tgtEl>
                                      </p:cBhvr>
                                    </p:animEffect>
                                  </p:childTnLst>
                                </p:cTn>
                              </p:par>
                            </p:childTnLst>
                          </p:cTn>
                        </p:par>
                        <p:par>
                          <p:cTn id="56" fill="hold" nodeType="afterGroup">
                            <p:stCondLst>
                              <p:cond delay="5000"/>
                            </p:stCondLst>
                            <p:childTnLst>
                              <p:par>
                                <p:cTn id="57" presetID="22" presetClass="entr" presetSubtype="8" fill="hold"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left)">
                                      <p:cBhvr>
                                        <p:cTn id="59" dur="500"/>
                                        <p:tgtEl>
                                          <p:spTgt spid="17"/>
                                        </p:tgtEl>
                                      </p:cBhvr>
                                    </p:animEffect>
                                  </p:childTnLst>
                                </p:cTn>
                              </p:par>
                            </p:childTnLst>
                          </p:cTn>
                        </p:par>
                        <p:par>
                          <p:cTn id="60" fill="hold" nodeType="afterGroup">
                            <p:stCondLst>
                              <p:cond delay="5500"/>
                            </p:stCondLst>
                            <p:childTnLst>
                              <p:par>
                                <p:cTn id="61" presetID="22" presetClass="entr" presetSubtype="8"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left)">
                                      <p:cBhvr>
                                        <p:cTn id="63" dur="500"/>
                                        <p:tgtEl>
                                          <p:spTgt spid="19"/>
                                        </p:tgtEl>
                                      </p:cBhvr>
                                    </p:animEffect>
                                  </p:childTnLst>
                                </p:cTn>
                              </p:par>
                            </p:childTnLst>
                          </p:cTn>
                        </p:par>
                        <p:par>
                          <p:cTn id="64" fill="hold" nodeType="afterGroup">
                            <p:stCondLst>
                              <p:cond delay="6000"/>
                            </p:stCondLst>
                            <p:childTnLst>
                              <p:par>
                                <p:cTn id="65" presetID="22" presetClass="entr" presetSubtype="8" fill="hold"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childTnLst>
                          </p:cTn>
                        </p:par>
                        <p:par>
                          <p:cTn id="68" fill="hold" nodeType="afterGroup">
                            <p:stCondLst>
                              <p:cond delay="6500"/>
                            </p:stCondLst>
                            <p:childTnLst>
                              <p:par>
                                <p:cTn id="69" presetID="22" presetClass="entr" presetSubtype="1" fill="hold" nodeType="after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up)">
                                      <p:cBhvr>
                                        <p:cTn id="71" dur="500"/>
                                        <p:tgtEl>
                                          <p:spTgt spid="20"/>
                                        </p:tgtEl>
                                      </p:cBhvr>
                                    </p:animEffect>
                                  </p:childTnLst>
                                </p:cTn>
                              </p:par>
                            </p:childTnLst>
                          </p:cTn>
                        </p:par>
                        <p:par>
                          <p:cTn id="72" fill="hold" nodeType="afterGroup">
                            <p:stCondLst>
                              <p:cond delay="7000"/>
                            </p:stCondLst>
                            <p:childTnLst>
                              <p:par>
                                <p:cTn id="73" presetID="22" presetClass="entr" presetSubtype="8" fill="hold" nodeType="afterEffect">
                                  <p:stCondLst>
                                    <p:cond delay="1000"/>
                                  </p:stCondLst>
                                  <p:childTnLst>
                                    <p:set>
                                      <p:cBhvr>
                                        <p:cTn id="74" dur="1" fill="hold">
                                          <p:stCondLst>
                                            <p:cond delay="0"/>
                                          </p:stCondLst>
                                        </p:cTn>
                                        <p:tgtEl>
                                          <p:spTgt spid="31"/>
                                        </p:tgtEl>
                                        <p:attrNameLst>
                                          <p:attrName>style.visibility</p:attrName>
                                        </p:attrNameLst>
                                      </p:cBhvr>
                                      <p:to>
                                        <p:strVal val="visible"/>
                                      </p:to>
                                    </p:set>
                                    <p:animEffect transition="in" filter="wipe(left)">
                                      <p:cBhvr>
                                        <p:cTn id="75" dur="1000"/>
                                        <p:tgtEl>
                                          <p:spTgt spid="31"/>
                                        </p:tgtEl>
                                      </p:cBhvr>
                                    </p:animEffect>
                                  </p:childTnLst>
                                </p:cTn>
                              </p:par>
                            </p:childTnLst>
                          </p:cTn>
                        </p:par>
                        <p:par>
                          <p:cTn id="76" fill="hold" nodeType="afterGroup">
                            <p:stCondLst>
                              <p:cond delay="9000"/>
                            </p:stCondLst>
                            <p:childTnLst>
                              <p:par>
                                <p:cTn id="77" presetID="22" presetClass="entr" presetSubtype="8" fill="hold" nodeType="afterEffect">
                                  <p:stCondLst>
                                    <p:cond delay="0"/>
                                  </p:stCondLst>
                                  <p:childTnLst>
                                    <p:set>
                                      <p:cBhvr>
                                        <p:cTn id="78" dur="1" fill="hold">
                                          <p:stCondLst>
                                            <p:cond delay="0"/>
                                          </p:stCondLst>
                                        </p:cTn>
                                        <p:tgtEl>
                                          <p:spTgt spid="43008"/>
                                        </p:tgtEl>
                                        <p:attrNameLst>
                                          <p:attrName>style.visibility</p:attrName>
                                        </p:attrNameLst>
                                      </p:cBhvr>
                                      <p:to>
                                        <p:strVal val="visible"/>
                                      </p:to>
                                    </p:set>
                                    <p:animEffect transition="in" filter="wipe(left)">
                                      <p:cBhvr>
                                        <p:cTn id="79" dur="500"/>
                                        <p:tgtEl>
                                          <p:spTgt spid="43008"/>
                                        </p:tgtEl>
                                      </p:cBhvr>
                                    </p:animEffect>
                                  </p:childTnLst>
                                </p:cTn>
                              </p:par>
                            </p:childTnLst>
                          </p:cTn>
                        </p:par>
                        <p:par>
                          <p:cTn id="80" fill="hold" nodeType="afterGroup">
                            <p:stCondLst>
                              <p:cond delay="9500"/>
                            </p:stCondLst>
                            <p:childTnLst>
                              <p:par>
                                <p:cTn id="81" presetID="22" presetClass="entr" presetSubtype="1" fill="hold" nodeType="afterEffect">
                                  <p:stCondLst>
                                    <p:cond delay="0"/>
                                  </p:stCondLst>
                                  <p:childTnLst>
                                    <p:set>
                                      <p:cBhvr>
                                        <p:cTn id="82" dur="1" fill="hold">
                                          <p:stCondLst>
                                            <p:cond delay="0"/>
                                          </p:stCondLst>
                                        </p:cTn>
                                        <p:tgtEl>
                                          <p:spTgt spid="43009"/>
                                        </p:tgtEl>
                                        <p:attrNameLst>
                                          <p:attrName>style.visibility</p:attrName>
                                        </p:attrNameLst>
                                      </p:cBhvr>
                                      <p:to>
                                        <p:strVal val="visible"/>
                                      </p:to>
                                    </p:set>
                                    <p:animEffect transition="in" filter="wipe(up)">
                                      <p:cBhvr>
                                        <p:cTn id="83" dur="500"/>
                                        <p:tgtEl>
                                          <p:spTgt spid="43009"/>
                                        </p:tgtEl>
                                      </p:cBhvr>
                                    </p:animEffect>
                                  </p:childTnLst>
                                </p:cTn>
                              </p:par>
                            </p:childTnLst>
                          </p:cTn>
                        </p:par>
                        <p:par>
                          <p:cTn id="84" fill="hold" nodeType="afterGroup">
                            <p:stCondLst>
                              <p:cond delay="10000"/>
                            </p:stCondLst>
                            <p:childTnLst>
                              <p:par>
                                <p:cTn id="85" presetID="22" presetClass="entr" presetSubtype="8" fill="hold" nodeType="after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left)">
                                      <p:cBhvr>
                                        <p:cTn id="87" dur="500"/>
                                        <p:tgtEl>
                                          <p:spTgt spid="28"/>
                                        </p:tgtEl>
                                      </p:cBhvr>
                                    </p:animEffect>
                                  </p:childTnLst>
                                </p:cTn>
                              </p:par>
                            </p:childTnLst>
                          </p:cTn>
                        </p:par>
                        <p:par>
                          <p:cTn id="88" fill="hold" nodeType="afterGroup">
                            <p:stCondLst>
                              <p:cond delay="10500"/>
                            </p:stCondLst>
                            <p:childTnLst>
                              <p:par>
                                <p:cTn id="89" presetID="22" presetClass="entr" presetSubtype="8" fill="hold" nodeType="afterEffect">
                                  <p:stCondLst>
                                    <p:cond delay="0"/>
                                  </p:stCondLst>
                                  <p:childTnLst>
                                    <p:set>
                                      <p:cBhvr>
                                        <p:cTn id="90" dur="1" fill="hold">
                                          <p:stCondLst>
                                            <p:cond delay="0"/>
                                          </p:stCondLst>
                                        </p:cTn>
                                        <p:tgtEl>
                                          <p:spTgt spid="73"/>
                                        </p:tgtEl>
                                        <p:attrNameLst>
                                          <p:attrName>style.visibility</p:attrName>
                                        </p:attrNameLst>
                                      </p:cBhvr>
                                      <p:to>
                                        <p:strVal val="visible"/>
                                      </p:to>
                                    </p:set>
                                    <p:animEffect transition="in" filter="wipe(left)">
                                      <p:cBhvr>
                                        <p:cTn id="91" dur="500"/>
                                        <p:tgtEl>
                                          <p:spTgt spid="73"/>
                                        </p:tgtEl>
                                      </p:cBhvr>
                                    </p:animEffect>
                                  </p:childTnLst>
                                </p:cTn>
                              </p:par>
                            </p:childTnLst>
                          </p:cTn>
                        </p:par>
                        <p:par>
                          <p:cTn id="92" fill="hold" nodeType="afterGroup">
                            <p:stCondLst>
                              <p:cond delay="11000"/>
                            </p:stCondLst>
                            <p:childTnLst>
                              <p:par>
                                <p:cTn id="93" presetID="22" presetClass="entr" presetSubtype="8" fill="hold" nodeType="afterEffect">
                                  <p:stCondLst>
                                    <p:cond delay="0"/>
                                  </p:stCondLst>
                                  <p:childTnLst>
                                    <p:set>
                                      <p:cBhvr>
                                        <p:cTn id="94" dur="1" fill="hold">
                                          <p:stCondLst>
                                            <p:cond delay="0"/>
                                          </p:stCondLst>
                                        </p:cTn>
                                        <p:tgtEl>
                                          <p:spTgt spid="43014"/>
                                        </p:tgtEl>
                                        <p:attrNameLst>
                                          <p:attrName>style.visibility</p:attrName>
                                        </p:attrNameLst>
                                      </p:cBhvr>
                                      <p:to>
                                        <p:strVal val="visible"/>
                                      </p:to>
                                    </p:set>
                                    <p:animEffect transition="in" filter="wipe(left)">
                                      <p:cBhvr>
                                        <p:cTn id="95" dur="1000"/>
                                        <p:tgtEl>
                                          <p:spTgt spid="43014"/>
                                        </p:tgtEl>
                                      </p:cBhvr>
                                    </p:animEffect>
                                  </p:childTnLst>
                                </p:cTn>
                              </p:par>
                            </p:childTnLst>
                          </p:cTn>
                        </p:par>
                        <p:par>
                          <p:cTn id="96" fill="hold" nodeType="afterGroup">
                            <p:stCondLst>
                              <p:cond delay="12000"/>
                            </p:stCondLst>
                            <p:childTnLst>
                              <p:par>
                                <p:cTn id="97" presetID="22" presetClass="entr" presetSubtype="8" fill="hold" grpId="0" nodeType="afterEffect">
                                  <p:stCondLst>
                                    <p:cond delay="0"/>
                                  </p:stCondLst>
                                  <p:childTnLst>
                                    <p:set>
                                      <p:cBhvr>
                                        <p:cTn id="98" dur="1" fill="hold">
                                          <p:stCondLst>
                                            <p:cond delay="0"/>
                                          </p:stCondLst>
                                        </p:cTn>
                                        <p:tgtEl>
                                          <p:spTgt spid="82"/>
                                        </p:tgtEl>
                                        <p:attrNameLst>
                                          <p:attrName>style.visibility</p:attrName>
                                        </p:attrNameLst>
                                      </p:cBhvr>
                                      <p:to>
                                        <p:strVal val="visible"/>
                                      </p:to>
                                    </p:set>
                                    <p:animEffect transition="in" filter="wipe(left)">
                                      <p:cBhvr>
                                        <p:cTn id="99" dur="500"/>
                                        <p:tgtEl>
                                          <p:spTgt spid="82"/>
                                        </p:tgtEl>
                                      </p:cBhvr>
                                    </p:animEffect>
                                  </p:childTnLst>
                                </p:cTn>
                              </p:par>
                            </p:childTnLst>
                          </p:cTn>
                        </p:par>
                        <p:par>
                          <p:cTn id="100" fill="hold" nodeType="afterGroup">
                            <p:stCondLst>
                              <p:cond delay="12500"/>
                            </p:stCondLst>
                            <p:childTnLst>
                              <p:par>
                                <p:cTn id="101" presetID="22" presetClass="entr" presetSubtype="8" fill="hold" nodeType="after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wipe(left)">
                                      <p:cBhvr>
                                        <p:cTn id="103" dur="500"/>
                                        <p:tgtEl>
                                          <p:spTgt spid="30"/>
                                        </p:tgtEl>
                                      </p:cBhvr>
                                    </p:animEffect>
                                  </p:childTnLst>
                                </p:cTn>
                              </p:par>
                            </p:childTnLst>
                          </p:cTn>
                        </p:par>
                        <p:par>
                          <p:cTn id="104" fill="hold">
                            <p:stCondLst>
                              <p:cond delay="13000"/>
                            </p:stCondLst>
                            <p:childTnLst>
                              <p:par>
                                <p:cTn id="105" presetID="22" presetClass="entr" presetSubtype="8" fill="hold" grpId="0" nodeType="afterEffect">
                                  <p:stCondLst>
                                    <p:cond delay="0"/>
                                  </p:stCondLst>
                                  <p:childTnLst>
                                    <p:set>
                                      <p:cBhvr>
                                        <p:cTn id="106" dur="1" fill="hold">
                                          <p:stCondLst>
                                            <p:cond delay="0"/>
                                          </p:stCondLst>
                                        </p:cTn>
                                        <p:tgtEl>
                                          <p:spTgt spid="3">
                                            <p:txEl>
                                              <p:pRg st="0" end="0"/>
                                            </p:txEl>
                                          </p:spTgt>
                                        </p:tgtEl>
                                        <p:attrNameLst>
                                          <p:attrName>style.visibility</p:attrName>
                                        </p:attrNameLst>
                                      </p:cBhvr>
                                      <p:to>
                                        <p:strVal val="visible"/>
                                      </p:to>
                                    </p:set>
                                    <p:animEffect transition="in" filter="wipe(left)">
                                      <p:cBhvr>
                                        <p:cTn id="10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6" grpId="0"/>
      <p:bldP spid="27" grpId="0"/>
      <p:bldP spid="8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wrap="square" anchor="ctr"/>
          <a:lstStyle/>
          <a:p>
            <a:r>
              <a:rPr lang="en-US" altLang="en-US" dirty="0"/>
              <a:t>Long-Run Supply Curve </a:t>
            </a:r>
          </a:p>
        </p:txBody>
      </p:sp>
      <p:sp>
        <p:nvSpPr>
          <p:cNvPr id="41987" name="Content Placeholder 2"/>
          <p:cNvSpPr>
            <a:spLocks noGrp="1"/>
          </p:cNvSpPr>
          <p:nvPr>
            <p:ph idx="1"/>
          </p:nvPr>
        </p:nvSpPr>
        <p:spPr>
          <a:prstGeom prst="rect">
            <a:avLst/>
          </a:prstGeom>
        </p:spPr>
        <p:txBody>
          <a:bodyPr/>
          <a:lstStyle/>
          <a:p>
            <a:r>
              <a:rPr lang="en-US" altLang="en-US" dirty="0"/>
              <a:t>Long-run supply curve is horizontal if:</a:t>
            </a:r>
          </a:p>
          <a:p>
            <a:pPr lvl="1"/>
            <a:r>
              <a:rPr lang="en-US" altLang="en-US" dirty="0"/>
              <a:t>All firms have identical costs</a:t>
            </a:r>
          </a:p>
          <a:p>
            <a:pPr lvl="1"/>
            <a:r>
              <a:rPr lang="en-US" altLang="en-US" dirty="0"/>
              <a:t>And costs do not change as other firms enter or exit the market</a:t>
            </a:r>
          </a:p>
          <a:p>
            <a:r>
              <a:rPr lang="en-US" altLang="en-US" dirty="0"/>
              <a:t>Long-run supply curve might slope upward if:</a:t>
            </a:r>
          </a:p>
          <a:p>
            <a:pPr lvl="1"/>
            <a:r>
              <a:rPr lang="en-US" altLang="en-US" dirty="0"/>
              <a:t>Firms have different costs</a:t>
            </a:r>
          </a:p>
          <a:p>
            <a:pPr lvl="1"/>
            <a:r>
              <a:rPr lang="en-US" altLang="en-US" dirty="0"/>
              <a:t>Or costs rise as firms enter the market</a:t>
            </a:r>
          </a:p>
        </p:txBody>
      </p:sp>
      <p:sp>
        <p:nvSpPr>
          <p:cNvPr id="4198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FBFA167D-BEC2-4C01-8F38-9FDB22951DE0}" type="slidenum">
              <a:rPr lang="en-US" altLang="en-US" sz="1200" smtClean="0">
                <a:solidFill>
                  <a:srgbClr val="002060"/>
                </a:solidFill>
              </a:rPr>
              <a:pPr eaLnBrk="1" hangingPunct="1"/>
              <a:t>34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55671592-AF9A-0E7C-86DB-8CDEFD28E9BB}"/>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69607124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LR </a:t>
            </a:r>
            <a:r>
              <a:rPr lang="en-US" altLang="en-US" b="1" i="1" dirty="0"/>
              <a:t>S</a:t>
            </a:r>
            <a:r>
              <a:rPr lang="en-US" altLang="en-US" dirty="0"/>
              <a:t> Curve might Slope Upward – 1 </a:t>
            </a:r>
            <a:endParaRPr lang="en-US" dirty="0"/>
          </a:p>
        </p:txBody>
      </p:sp>
      <p:sp>
        <p:nvSpPr>
          <p:cNvPr id="3" name="Content Placeholder 2"/>
          <p:cNvSpPr>
            <a:spLocks noGrp="1"/>
          </p:cNvSpPr>
          <p:nvPr>
            <p:ph idx="1"/>
          </p:nvPr>
        </p:nvSpPr>
        <p:spPr>
          <a:prstGeom prst="rect">
            <a:avLst/>
          </a:prstGeom>
        </p:spPr>
        <p:txBody>
          <a:bodyPr/>
          <a:lstStyle/>
          <a:p>
            <a:r>
              <a:rPr lang="en-US" dirty="0"/>
              <a:t>Costs rise as firms enter the market</a:t>
            </a:r>
          </a:p>
          <a:p>
            <a:pPr lvl="1"/>
            <a:r>
              <a:rPr lang="en-US" sz="3000" dirty="0"/>
              <a:t>In some industries, the supply of a key input is limited (e.g., amount of land suitable for farming is fixed).</a:t>
            </a:r>
          </a:p>
          <a:p>
            <a:pPr lvl="1"/>
            <a:r>
              <a:rPr lang="en-US" sz="3000" dirty="0"/>
              <a:t>The entry of new firms increases demand for this input, causing its price to rise.  </a:t>
            </a:r>
          </a:p>
          <a:p>
            <a:pPr lvl="1"/>
            <a:r>
              <a:rPr lang="en-US" sz="3000" dirty="0"/>
              <a:t>This increases all firms’ costs.  </a:t>
            </a:r>
          </a:p>
          <a:p>
            <a:pPr lvl="1"/>
            <a:r>
              <a:rPr lang="en-US" sz="3000" dirty="0"/>
              <a:t>Hence, an increase in </a:t>
            </a:r>
            <a:r>
              <a:rPr lang="en-US" sz="3000" b="1" i="1" dirty="0"/>
              <a:t>P</a:t>
            </a:r>
            <a:r>
              <a:rPr lang="en-US" sz="3000" dirty="0"/>
              <a:t> is required to increase the market quantity supplied, so </a:t>
            </a:r>
            <a:r>
              <a:rPr lang="en-US" sz="3000" u="sng" dirty="0"/>
              <a:t>the supply curve is upward-sloping</a:t>
            </a:r>
            <a:r>
              <a:rPr lang="en-US" sz="3000" dirty="0"/>
              <a:t>. </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35</a:t>
            </a:fld>
            <a:endParaRPr lang="en-US"/>
          </a:p>
        </p:txBody>
      </p:sp>
      <p:sp>
        <p:nvSpPr>
          <p:cNvPr id="5" name="Footer Placeholder 4">
            <a:extLst>
              <a:ext uri="{FF2B5EF4-FFF2-40B4-BE49-F238E27FC236}">
                <a16:creationId xmlns:a16="http://schemas.microsoft.com/office/drawing/2014/main" id="{B24E73C2-51C5-EDCB-3A04-26149185A9A4}"/>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7263524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wrap="square" anchor="ctr"/>
          <a:lstStyle/>
          <a:p>
            <a:r>
              <a:rPr lang="en-US" altLang="en-US" dirty="0"/>
              <a:t>LR </a:t>
            </a:r>
            <a:r>
              <a:rPr lang="en-US" altLang="en-US" b="1" i="1" dirty="0"/>
              <a:t>S</a:t>
            </a:r>
            <a:r>
              <a:rPr lang="en-US" altLang="en-US" dirty="0"/>
              <a:t> Curve might Slope Upward – 2 </a:t>
            </a:r>
          </a:p>
        </p:txBody>
      </p:sp>
      <p:sp>
        <p:nvSpPr>
          <p:cNvPr id="41987" name="Content Placeholder 2"/>
          <p:cNvSpPr>
            <a:spLocks noGrp="1"/>
          </p:cNvSpPr>
          <p:nvPr>
            <p:ph idx="1"/>
          </p:nvPr>
        </p:nvSpPr>
        <p:spPr>
          <a:prstGeom prst="rect">
            <a:avLst/>
          </a:prstGeom>
        </p:spPr>
        <p:txBody>
          <a:bodyPr/>
          <a:lstStyle/>
          <a:p>
            <a:r>
              <a:rPr lang="en-US" altLang="en-US" dirty="0"/>
              <a:t>Firms have different costs</a:t>
            </a:r>
          </a:p>
          <a:p>
            <a:pPr lvl="1"/>
            <a:r>
              <a:rPr lang="en-US" altLang="en-US" dirty="0"/>
              <a:t>As P rises, firms with lower costs enter the market before those with higher costs. </a:t>
            </a:r>
          </a:p>
          <a:p>
            <a:pPr lvl="1"/>
            <a:r>
              <a:rPr lang="en-US" altLang="en-US" dirty="0"/>
              <a:t>Further increases in P make it worthwhile </a:t>
            </a:r>
            <a:br>
              <a:rPr lang="en-US" altLang="en-US" dirty="0"/>
            </a:br>
            <a:r>
              <a:rPr lang="en-US" altLang="en-US" dirty="0"/>
              <a:t>for higher-cost firms to enter the market, </a:t>
            </a:r>
            <a:br>
              <a:rPr lang="en-US" altLang="en-US" dirty="0"/>
            </a:br>
            <a:r>
              <a:rPr lang="en-US" altLang="en-US" dirty="0"/>
              <a:t>which increases market quantity supplied.  </a:t>
            </a:r>
          </a:p>
          <a:p>
            <a:pPr lvl="1"/>
            <a:r>
              <a:rPr lang="en-US" altLang="en-US" dirty="0"/>
              <a:t>Hence, </a:t>
            </a:r>
            <a:r>
              <a:rPr lang="en-US" altLang="en-US" u="sng" dirty="0"/>
              <a:t>LR market supply curve slopes upward.</a:t>
            </a:r>
          </a:p>
        </p:txBody>
      </p:sp>
      <p:sp>
        <p:nvSpPr>
          <p:cNvPr id="4198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FBFA167D-BEC2-4C01-8F38-9FDB22951DE0}" type="slidenum">
              <a:rPr lang="en-US" altLang="en-US" sz="1200" smtClean="0">
                <a:solidFill>
                  <a:srgbClr val="002060"/>
                </a:solidFill>
              </a:rPr>
              <a:pPr eaLnBrk="1" hangingPunct="1"/>
              <a:t>36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720F5092-3D7C-2B05-C446-F825BF564DCF}"/>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59312115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Efficiency of a Competitive Market</a:t>
            </a:r>
          </a:p>
        </p:txBody>
      </p:sp>
      <p:sp>
        <p:nvSpPr>
          <p:cNvPr id="3" name="Content Placeholder 2"/>
          <p:cNvSpPr>
            <a:spLocks noGrp="1"/>
          </p:cNvSpPr>
          <p:nvPr>
            <p:ph idx="1"/>
          </p:nvPr>
        </p:nvSpPr>
        <p:spPr>
          <a:prstGeom prst="rect">
            <a:avLst/>
          </a:prstGeom>
        </p:spPr>
        <p:txBody>
          <a:bodyPr/>
          <a:lstStyle/>
          <a:p>
            <a:r>
              <a:rPr lang="en-US" dirty="0"/>
              <a:t>Profit-maximization: </a:t>
            </a:r>
            <a:r>
              <a:rPr lang="en-US" b="1" i="1" dirty="0"/>
              <a:t>Q</a:t>
            </a:r>
            <a:r>
              <a:rPr lang="en-US" dirty="0"/>
              <a:t> where </a:t>
            </a:r>
            <a:r>
              <a:rPr lang="en-US" b="1" i="1" dirty="0"/>
              <a:t>MC</a:t>
            </a:r>
            <a:r>
              <a:rPr lang="en-US" dirty="0"/>
              <a:t> = </a:t>
            </a:r>
            <a:r>
              <a:rPr lang="en-US" b="1" i="1" dirty="0"/>
              <a:t>MR</a:t>
            </a:r>
          </a:p>
          <a:p>
            <a:pPr lvl="1"/>
            <a:r>
              <a:rPr lang="en-US" dirty="0"/>
              <a:t>Perfect competition: </a:t>
            </a:r>
            <a:r>
              <a:rPr lang="en-US" b="1" i="1" dirty="0"/>
              <a:t>P</a:t>
            </a:r>
            <a:r>
              <a:rPr lang="en-US" dirty="0"/>
              <a:t> = </a:t>
            </a:r>
            <a:r>
              <a:rPr lang="en-US" b="1" i="1" dirty="0"/>
              <a:t>MR</a:t>
            </a:r>
          </a:p>
          <a:p>
            <a:pPr lvl="1"/>
            <a:r>
              <a:rPr lang="en-US" dirty="0"/>
              <a:t>So, in the competitive equilibrium:  </a:t>
            </a:r>
            <a:r>
              <a:rPr lang="en-US" b="1" i="1" dirty="0"/>
              <a:t>P</a:t>
            </a:r>
            <a:r>
              <a:rPr lang="en-US" dirty="0"/>
              <a:t> = </a:t>
            </a:r>
            <a:r>
              <a:rPr lang="en-US" b="1" i="1" dirty="0"/>
              <a:t>MC</a:t>
            </a:r>
          </a:p>
          <a:p>
            <a:r>
              <a:rPr lang="en-US" dirty="0"/>
              <a:t>The competitive equilibrium is efficient</a:t>
            </a:r>
          </a:p>
          <a:p>
            <a:pPr lvl="1"/>
            <a:r>
              <a:rPr lang="en-US" dirty="0"/>
              <a:t>Maximizes total surplus because </a:t>
            </a:r>
            <a:r>
              <a:rPr lang="en-US" b="1" i="1" dirty="0"/>
              <a:t>P</a:t>
            </a:r>
            <a:r>
              <a:rPr lang="en-US" dirty="0"/>
              <a:t> = </a:t>
            </a:r>
            <a:r>
              <a:rPr lang="en-US" b="1" i="1" dirty="0"/>
              <a:t>MC</a:t>
            </a:r>
          </a:p>
          <a:p>
            <a:pPr lvl="2"/>
            <a:r>
              <a:rPr lang="en-US" b="1" i="1" dirty="0"/>
              <a:t>MC</a:t>
            </a:r>
            <a:r>
              <a:rPr lang="en-US" dirty="0"/>
              <a:t> is the cost of producing the marginal unit </a:t>
            </a:r>
          </a:p>
          <a:p>
            <a:pPr lvl="2"/>
            <a:r>
              <a:rPr lang="en-US" b="1" i="1" dirty="0"/>
              <a:t>P</a:t>
            </a:r>
            <a:r>
              <a:rPr lang="en-US" dirty="0"/>
              <a:t> is value to buyers of the marginal unit</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37</a:t>
            </a:fld>
            <a:endParaRPr lang="en-US"/>
          </a:p>
        </p:txBody>
      </p:sp>
      <p:sp>
        <p:nvSpPr>
          <p:cNvPr id="5" name="Footer Placeholder 4">
            <a:extLst>
              <a:ext uri="{FF2B5EF4-FFF2-40B4-BE49-F238E27FC236}">
                <a16:creationId xmlns:a16="http://schemas.microsoft.com/office/drawing/2014/main" id="{74D571D3-D85A-8E07-FA30-BB6149228F3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99407874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228600" y="688622"/>
            <a:ext cx="8763000" cy="5864578"/>
          </a:xfrm>
        </p:spPr>
        <p:txBody>
          <a:bodyPr/>
          <a:lstStyle/>
          <a:p>
            <a:pPr marL="0" indent="0">
              <a:buNone/>
            </a:pPr>
            <a:r>
              <a:rPr lang="en-US" sz="2800" dirty="0"/>
              <a:t>	Walking into a Walmart store at 2:00 a.m. with a friend to buy some cat food, your friend says, “I can’t believe that these stores stay open all night. There are 10 shoppers in this store, and only one checkout lane is open. It doesn’t make any sense for this store to be open all night.” </a:t>
            </a:r>
          </a:p>
          <a:p>
            <a:pPr marL="514350" indent="-514350">
              <a:buFont typeface="+mj-lt"/>
              <a:buAutoNum type="alphaUcPeriod"/>
            </a:pPr>
            <a:r>
              <a:rPr lang="en-US" sz="2800" dirty="0">
                <a:solidFill>
                  <a:schemeClr val="tx1"/>
                </a:solidFill>
              </a:rPr>
              <a:t>Why do you think this Walmart is open all night?</a:t>
            </a:r>
          </a:p>
          <a:p>
            <a:pPr marL="514350" indent="-514350">
              <a:buFont typeface="+mj-lt"/>
              <a:buAutoNum type="alphaUcPeriod"/>
            </a:pPr>
            <a:r>
              <a:rPr lang="en-US" sz="2800" dirty="0">
                <a:solidFill>
                  <a:schemeClr val="tx1"/>
                </a:solidFill>
              </a:rPr>
              <a:t>Are the costs of rent, equipment, fixtures, salaries of management, and so on rel­evant when Walmart makes the decision whether to stay open all night?</a:t>
            </a:r>
          </a:p>
          <a:p>
            <a:pPr marL="514350" indent="-514350">
              <a:buFont typeface="+mj-lt"/>
              <a:buAutoNum type="alphaUcPeriod"/>
            </a:pPr>
            <a:r>
              <a:rPr lang="en-US" sz="2800" dirty="0">
                <a:solidFill>
                  <a:schemeClr val="tx1"/>
                </a:solidFill>
              </a:rPr>
              <a:t>If Walmart had 10 customers during its daytime hours, do you think it would continue to operate? </a:t>
            </a: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38</a:t>
            </a:fld>
            <a:endParaRPr lang="en-US" dirty="0"/>
          </a:p>
        </p:txBody>
      </p:sp>
    </p:spTree>
    <p:extLst>
      <p:ext uri="{BB962C8B-B14F-4D97-AF65-F5344CB8AC3E}">
        <p14:creationId xmlns:p14="http://schemas.microsoft.com/office/powerpoint/2010/main" val="42339871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000" dirty="0"/>
              <a:t>A competitive firm is </a:t>
            </a:r>
            <a:r>
              <a:rPr lang="en-US" sz="3000" dirty="0">
                <a:solidFill>
                  <a:srgbClr val="AE1221"/>
                </a:solidFill>
              </a:rPr>
              <a:t>a price taker</a:t>
            </a:r>
          </a:p>
          <a:p>
            <a:pPr lvl="1"/>
            <a:r>
              <a:rPr lang="en-US" sz="2800" dirty="0"/>
              <a:t>Its revenue is proportional to the amount of output it produces.</a:t>
            </a:r>
          </a:p>
          <a:p>
            <a:pPr lvl="1"/>
            <a:r>
              <a:rPr lang="en-US" sz="2800" dirty="0">
                <a:solidFill>
                  <a:srgbClr val="AE1221"/>
                </a:solidFill>
              </a:rPr>
              <a:t>P = MR = AR</a:t>
            </a:r>
          </a:p>
          <a:p>
            <a:pPr lvl="1"/>
            <a:r>
              <a:rPr lang="en-US" sz="2800" dirty="0"/>
              <a:t>The firm’s marginal-cost curve is its supply curve</a:t>
            </a:r>
          </a:p>
          <a:p>
            <a:r>
              <a:rPr lang="en-US" sz="3000" dirty="0">
                <a:solidFill>
                  <a:srgbClr val="AE1221"/>
                </a:solidFill>
              </a:rPr>
              <a:t>Short run: </a:t>
            </a:r>
            <a:r>
              <a:rPr lang="en-US" sz="3000" dirty="0"/>
              <a:t>a firm cannot recover its FC</a:t>
            </a:r>
          </a:p>
          <a:p>
            <a:pPr lvl="1"/>
            <a:r>
              <a:rPr lang="en-US" sz="2800" dirty="0"/>
              <a:t>Shut down temporarily if P &lt; AVC</a:t>
            </a:r>
          </a:p>
          <a:p>
            <a:r>
              <a:rPr lang="en-US" sz="3000" dirty="0">
                <a:solidFill>
                  <a:srgbClr val="AE1221"/>
                </a:solidFill>
              </a:rPr>
              <a:t>Long run: </a:t>
            </a:r>
            <a:r>
              <a:rPr lang="en-US" sz="3000" dirty="0"/>
              <a:t>the firm can recover both FC and VC</a:t>
            </a:r>
          </a:p>
          <a:p>
            <a:pPr lvl="1"/>
            <a:r>
              <a:rPr lang="en-US" sz="2800" dirty="0"/>
              <a:t>Exit if P &lt; ATC</a:t>
            </a:r>
            <a:endParaRPr lang="en-US" sz="30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39</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AEAB103A-415F-9D82-9558-EEED35E1779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0326594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000" dirty="0"/>
              <a:t>In a market with free entry and exit, </a:t>
            </a:r>
            <a:r>
              <a:rPr lang="en-US" sz="3000" dirty="0">
                <a:solidFill>
                  <a:srgbClr val="AE1221"/>
                </a:solidFill>
              </a:rPr>
              <a:t>economic profit is driven to zero in the long run</a:t>
            </a:r>
            <a:r>
              <a:rPr lang="en-US" sz="3000" dirty="0"/>
              <a:t>. </a:t>
            </a:r>
          </a:p>
          <a:p>
            <a:pPr lvl="1"/>
            <a:r>
              <a:rPr lang="en-US" sz="2800" dirty="0"/>
              <a:t>All firms produce at efficient scale, </a:t>
            </a:r>
            <a:r>
              <a:rPr lang="en-US" sz="2800" dirty="0">
                <a:solidFill>
                  <a:srgbClr val="AE1221"/>
                </a:solidFill>
              </a:rPr>
              <a:t>P = min ATC</a:t>
            </a:r>
          </a:p>
          <a:p>
            <a:pPr lvl="1"/>
            <a:r>
              <a:rPr lang="en-US" sz="2800" dirty="0"/>
              <a:t>The number of firms adjusts to satisfy the quantity demanded at this price.</a:t>
            </a:r>
          </a:p>
          <a:p>
            <a:r>
              <a:rPr lang="en-US" sz="3000" dirty="0">
                <a:solidFill>
                  <a:srgbClr val="AE1221"/>
                </a:solidFill>
              </a:rPr>
              <a:t>Changes in demand </a:t>
            </a:r>
            <a:r>
              <a:rPr lang="en-US" sz="3000" dirty="0"/>
              <a:t>have different effects over different time horizons. </a:t>
            </a:r>
          </a:p>
          <a:p>
            <a:pPr lvl="1"/>
            <a:r>
              <a:rPr lang="en-US" sz="2800" dirty="0"/>
              <a:t>Short run, an increase in demand raises prices and leads to profits (a decrease in demand lowers prices and leads to losses). </a:t>
            </a:r>
          </a:p>
          <a:p>
            <a:pPr lvl="1"/>
            <a:r>
              <a:rPr lang="en-US" sz="2800" dirty="0"/>
              <a:t>Long run: zero-profit equilibrium</a:t>
            </a:r>
            <a:endParaRPr lang="en-US" sz="26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40</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9C41B005-A92F-299F-5D0B-3A24EBF74DE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987062541"/>
      </p:ext>
    </p:extLst>
  </p:cSld>
  <p:clrMapOvr>
    <a:masterClrMapping/>
  </p:clrMapOvr>
  <p:transition/>
</p:sld>
</file>

<file path=ppt/theme/theme1.xml><?xml version="1.0" encoding="utf-8"?>
<a:theme xmlns:a="http://schemas.openxmlformats.org/drawingml/2006/main" name="1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41494</TotalTime>
  <Words>7412</Words>
  <Application>Microsoft Office PowerPoint</Application>
  <PresentationFormat>On-screen Show (4:3)</PresentationFormat>
  <Paragraphs>928</Paragraphs>
  <Slides>40</Slides>
  <Notes>40</Notes>
  <HiddenSlides>3</HiddenSlides>
  <MMClips>0</MMClips>
  <ScaleCrop>false</ScaleCrop>
  <HeadingPairs>
    <vt:vector size="6" baseType="variant">
      <vt:variant>
        <vt:lpstr>Fonts Used</vt:lpstr>
      </vt:variant>
      <vt:variant>
        <vt:i4>7</vt:i4>
      </vt:variant>
      <vt:variant>
        <vt:lpstr>Theme</vt:lpstr>
      </vt:variant>
      <vt:variant>
        <vt:i4>10</vt:i4>
      </vt:variant>
      <vt:variant>
        <vt:lpstr>Slide Titles</vt:lpstr>
      </vt:variant>
      <vt:variant>
        <vt:i4>40</vt:i4>
      </vt:variant>
    </vt:vector>
  </HeadingPairs>
  <TitlesOfParts>
    <vt:vector size="57" baseType="lpstr">
      <vt:lpstr>Arial</vt:lpstr>
      <vt:lpstr>Calibri</vt:lpstr>
      <vt:lpstr>Cambria</vt:lpstr>
      <vt:lpstr>Georgia</vt:lpstr>
      <vt:lpstr>Sabon-Bold</vt:lpstr>
      <vt:lpstr>Tahoma</vt:lpstr>
      <vt:lpstr>Wingdings</vt:lpstr>
      <vt:lpstr>1_Chapter title</vt:lpstr>
      <vt:lpstr>Intro / Summary</vt:lpstr>
      <vt:lpstr>Chapter content</vt:lpstr>
      <vt:lpstr>Figure</vt:lpstr>
      <vt:lpstr>Table</vt:lpstr>
      <vt:lpstr>ActiveLearning or Ex</vt:lpstr>
      <vt:lpstr>Case study</vt:lpstr>
      <vt:lpstr>Think-Pair-Share</vt:lpstr>
      <vt:lpstr>Ask Experts</vt:lpstr>
      <vt:lpstr>Appendix</vt:lpstr>
      <vt:lpstr>PowerPoint Presentation</vt:lpstr>
      <vt:lpstr>IN THIS CHAPTER</vt:lpstr>
      <vt:lpstr>What is a Competitive Market?</vt:lpstr>
      <vt:lpstr>The Revenue of a Competitive Firm</vt:lpstr>
      <vt:lpstr>EXAMPLE 1: Amari's Apple Orchard: Revenue </vt:lpstr>
      <vt:lpstr>Profit Maximization</vt:lpstr>
      <vt:lpstr>EXAMPLE 2: Amari’s Apple Orchard: Profit</vt:lpstr>
      <vt:lpstr>MC and the Firm’s Supply Decision – 1 </vt:lpstr>
      <vt:lpstr>MC and the Firm’s Supply Decision – 2 </vt:lpstr>
      <vt:lpstr>Shutdown or Exit?</vt:lpstr>
      <vt:lpstr>Short-run Decision to Shut Down</vt:lpstr>
      <vt:lpstr>A Competitive Firm’s Short Run Supply Curve</vt:lpstr>
      <vt:lpstr>Sunk Costs</vt:lpstr>
      <vt:lpstr>Active Learning 1: Your favorite concert</vt:lpstr>
      <vt:lpstr>A Firm’s Long-Run Decision</vt:lpstr>
      <vt:lpstr>The Competitive Firm’s Long Run Supply Curve</vt:lpstr>
      <vt:lpstr>EXAMPLE 3: Amari’s Profit: the graph</vt:lpstr>
      <vt:lpstr>Active Learning 2: Identifying profit or loss</vt:lpstr>
      <vt:lpstr>Active Learning 2: Answers</vt:lpstr>
      <vt:lpstr>Market Supply:  Assumptions</vt:lpstr>
      <vt:lpstr>Short Run Market Supply Curve</vt:lpstr>
      <vt:lpstr>The Short Run Market Supply Curve</vt:lpstr>
      <vt:lpstr>Entry and Exit in the Long Run</vt:lpstr>
      <vt:lpstr>The Zero-Profit Condition</vt:lpstr>
      <vt:lpstr>The Long Run Market Supply Curve</vt:lpstr>
      <vt:lpstr>Why Stay in Business with Zero Profit?</vt:lpstr>
      <vt:lpstr>Active Learning 3: Let’s recap!</vt:lpstr>
      <vt:lpstr>Active Learning 3: Answers P1, P2, P3</vt:lpstr>
      <vt:lpstr>Active Learning 3: Answers P4, P5</vt:lpstr>
      <vt:lpstr>SR and LR Effects of an Increase in Demand</vt:lpstr>
      <vt:lpstr>Figure 8: An increase in demand in SR and LR (a)</vt:lpstr>
      <vt:lpstr>Figure 8: An increase in demand in SR and LR (b)</vt:lpstr>
      <vt:lpstr>Figure 8: An increase in demand in SR and LR (c)</vt:lpstr>
      <vt:lpstr>Long-Run Supply Curve </vt:lpstr>
      <vt:lpstr>LR S Curve might Slope Upward – 1 </vt:lpstr>
      <vt:lpstr>LR S Curve might Slope Upward – 2 </vt:lpstr>
      <vt:lpstr>Efficiency of a Competitive Market</vt:lpstr>
      <vt:lpstr>THINK-PAIR-SHARE</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1446</cp:revision>
  <cp:lastPrinted>2019-05-14T19:06:14Z</cp:lastPrinted>
  <dcterms:created xsi:type="dcterms:W3CDTF">2016-03-16T19:41:09Z</dcterms:created>
  <dcterms:modified xsi:type="dcterms:W3CDTF">2026-01-20T15:23:21Z</dcterms:modified>
</cp:coreProperties>
</file>
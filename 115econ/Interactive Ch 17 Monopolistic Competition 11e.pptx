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6.xml" ContentType="application/vnd.openxmlformats-officedocument.theme+xml"/>
  <Override PartName="/ppt/slideLayouts/slideLayout15.xml" ContentType="application/vnd.openxmlformats-officedocument.presentationml.slideLayout+xml"/>
  <Override PartName="/ppt/theme/theme7.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8.xml" ContentType="application/vnd.openxmlformats-officedocument.theme+xml"/>
  <Override PartName="/ppt/slideLayouts/slideLayout18.xml" ContentType="application/vnd.openxmlformats-officedocument.presentationml.slideLayout+xml"/>
  <Override PartName="/ppt/theme/theme9.xml" ContentType="application/vnd.openxmlformats-officedocument.theme+xml"/>
  <Override PartName="/ppt/slideLayouts/slideLayout19.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 id="2147483680" r:id="rId2"/>
    <p:sldMasterId id="2147483663" r:id="rId3"/>
    <p:sldMasterId id="2147483665" r:id="rId4"/>
    <p:sldMasterId id="2147483668" r:id="rId5"/>
    <p:sldMasterId id="2147483678" r:id="rId6"/>
    <p:sldMasterId id="2147483670" r:id="rId7"/>
    <p:sldMasterId id="2147483684" r:id="rId8"/>
    <p:sldMasterId id="2147483675" r:id="rId9"/>
    <p:sldMasterId id="2147483672" r:id="rId10"/>
  </p:sldMasterIdLst>
  <p:notesMasterIdLst>
    <p:notesMasterId r:id="rId39"/>
  </p:notesMasterIdLst>
  <p:handoutMasterIdLst>
    <p:handoutMasterId r:id="rId40"/>
  </p:handoutMasterIdLst>
  <p:sldIdLst>
    <p:sldId id="256" r:id="rId11"/>
    <p:sldId id="374" r:id="rId12"/>
    <p:sldId id="1582" r:id="rId13"/>
    <p:sldId id="1520" r:id="rId14"/>
    <p:sldId id="1499" r:id="rId15"/>
    <p:sldId id="1500" r:id="rId16"/>
    <p:sldId id="1521" r:id="rId17"/>
    <p:sldId id="1501" r:id="rId18"/>
    <p:sldId id="1502" r:id="rId19"/>
    <p:sldId id="1503" r:id="rId20"/>
    <p:sldId id="1504" r:id="rId21"/>
    <p:sldId id="1505" r:id="rId22"/>
    <p:sldId id="1506" r:id="rId23"/>
    <p:sldId id="1507" r:id="rId24"/>
    <p:sldId id="1508" r:id="rId25"/>
    <p:sldId id="1509" r:id="rId26"/>
    <p:sldId id="1583" r:id="rId27"/>
    <p:sldId id="1512" r:id="rId28"/>
    <p:sldId id="1513" r:id="rId29"/>
    <p:sldId id="1514" r:id="rId30"/>
    <p:sldId id="1522" r:id="rId31"/>
    <p:sldId id="1523" r:id="rId32"/>
    <p:sldId id="1515" r:id="rId33"/>
    <p:sldId id="1516" r:id="rId34"/>
    <p:sldId id="1584" r:id="rId35"/>
    <p:sldId id="1525" r:id="rId36"/>
    <p:sldId id="1400" r:id="rId37"/>
    <p:sldId id="1524" r:id="rId38"/>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519E"/>
    <a:srgbClr val="AE1221"/>
    <a:srgbClr val="E3F0FA"/>
    <a:srgbClr val="F45006"/>
    <a:srgbClr val="CCFFCC"/>
    <a:srgbClr val="FFCCCC"/>
    <a:srgbClr val="0000FF"/>
    <a:srgbClr val="D0D1E8"/>
    <a:srgbClr val="66FF33"/>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897429-58C9-4EF3-8D45-D154DDE04DDA}" v="7" dt="2026-01-15T21:48:48.2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83624" autoAdjust="0"/>
  </p:normalViewPr>
  <p:slideViewPr>
    <p:cSldViewPr>
      <p:cViewPr varScale="1">
        <p:scale>
          <a:sx n="53" d="100"/>
          <a:sy n="53" d="100"/>
        </p:scale>
        <p:origin x="1672" y="28"/>
      </p:cViewPr>
      <p:guideLst>
        <p:guide orient="horz" pos="2160"/>
        <p:guide pos="2880"/>
      </p:guideLst>
    </p:cSldViewPr>
  </p:slideViewPr>
  <p:outlineViewPr>
    <p:cViewPr>
      <p:scale>
        <a:sx n="33" d="100"/>
        <a:sy n="33" d="100"/>
      </p:scale>
      <p:origin x="0" y="-42888"/>
    </p:cViewPr>
  </p:outlineViewPr>
  <p:notesTextViewPr>
    <p:cViewPr>
      <p:scale>
        <a:sx n="125" d="100"/>
        <a:sy n="125" d="100"/>
      </p:scale>
      <p:origin x="0" y="0"/>
    </p:cViewPr>
  </p:notesTextViewPr>
  <p:sorterViewPr>
    <p:cViewPr>
      <p:scale>
        <a:sx n="130" d="100"/>
        <a:sy n="130" d="100"/>
      </p:scale>
      <p:origin x="0" y="0"/>
    </p:cViewPr>
  </p:sorterViewPr>
  <p:notesViewPr>
    <p:cSldViewPr>
      <p:cViewPr>
        <p:scale>
          <a:sx n="60" d="100"/>
          <a:sy n="60" d="100"/>
        </p:scale>
        <p:origin x="4216" y="121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notesMaster" Target="notesMasters/notesMaster1.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microsoft.com/office/2015/10/relationships/revisionInfo" Target="revisionInfo.xml"/><Relationship Id="rId20" Type="http://schemas.openxmlformats.org/officeDocument/2006/relationships/slide" Target="slides/slide10.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coin, Shannon" userId="3f4e7fc1-6c2e-4059-b6c3-22af03bf749a" providerId="ADAL" clId="{E0921B5F-CAE8-4497-A9EF-24510461A92C}"/>
    <pc:docChg chg="modSld modMainMaster">
      <pc:chgData name="Aucoin, Shannon" userId="3f4e7fc1-6c2e-4059-b6c3-22af03bf749a" providerId="ADAL" clId="{E0921B5F-CAE8-4497-A9EF-24510461A92C}" dt="2026-01-15T21:49:20.589" v="8" actId="1076"/>
      <pc:docMkLst>
        <pc:docMk/>
      </pc:docMkLst>
      <pc:sldChg chg="modSp mod">
        <pc:chgData name="Aucoin, Shannon" userId="3f4e7fc1-6c2e-4059-b6c3-22af03bf749a" providerId="ADAL" clId="{E0921B5F-CAE8-4497-A9EF-24510461A92C}" dt="2026-01-15T21:49:20.589" v="8" actId="1076"/>
        <pc:sldMkLst>
          <pc:docMk/>
          <pc:sldMk cId="2962300543" sldId="256"/>
        </pc:sldMkLst>
        <pc:spChg chg="mod">
          <ac:chgData name="Aucoin, Shannon" userId="3f4e7fc1-6c2e-4059-b6c3-22af03bf749a" providerId="ADAL" clId="{E0921B5F-CAE8-4497-A9EF-24510461A92C}" dt="2026-01-15T21:48:11.367" v="0"/>
          <ac:spMkLst>
            <pc:docMk/>
            <pc:sldMk cId="2962300543" sldId="256"/>
            <ac:spMk id="6" creationId="{00000000-0000-0000-0000-000000000000}"/>
          </ac:spMkLst>
        </pc:spChg>
        <pc:spChg chg="mod">
          <ac:chgData name="Aucoin, Shannon" userId="3f4e7fc1-6c2e-4059-b6c3-22af03bf749a" providerId="ADAL" clId="{E0921B5F-CAE8-4497-A9EF-24510461A92C}" dt="2026-01-15T21:49:17.019" v="7" actId="1076"/>
          <ac:spMkLst>
            <pc:docMk/>
            <pc:sldMk cId="2962300543" sldId="256"/>
            <ac:spMk id="8" creationId="{00000000-0000-0000-0000-000000000000}"/>
          </ac:spMkLst>
        </pc:spChg>
        <pc:spChg chg="mod">
          <ac:chgData name="Aucoin, Shannon" userId="3f4e7fc1-6c2e-4059-b6c3-22af03bf749a" providerId="ADAL" clId="{E0921B5F-CAE8-4497-A9EF-24510461A92C}" dt="2026-01-15T21:49:20.589" v="8" actId="1076"/>
          <ac:spMkLst>
            <pc:docMk/>
            <pc:sldMk cId="2962300543" sldId="256"/>
            <ac:spMk id="9" creationId="{00000000-0000-0000-0000-000000000000}"/>
          </ac:spMkLst>
        </pc:spChg>
      </pc:sldChg>
      <pc:sldMasterChg chg="modSp">
        <pc:chgData name="Aucoin, Shannon" userId="3f4e7fc1-6c2e-4059-b6c3-22af03bf749a" providerId="ADAL" clId="{E0921B5F-CAE8-4497-A9EF-24510461A92C}" dt="2026-01-15T21:48:33.259" v="1"/>
        <pc:sldMasterMkLst>
          <pc:docMk/>
          <pc:sldMasterMk cId="1007448745" sldId="2147483670"/>
        </pc:sldMasterMkLst>
        <pc:spChg chg="mod">
          <ac:chgData name="Aucoin, Shannon" userId="3f4e7fc1-6c2e-4059-b6c3-22af03bf749a" providerId="ADAL" clId="{E0921B5F-CAE8-4497-A9EF-24510461A92C}" dt="2026-01-15T21:48:33.259" v="1"/>
          <ac:spMkLst>
            <pc:docMk/>
            <pc:sldMasterMk cId="1007448745" sldId="2147483670"/>
            <ac:spMk id="9" creationId="{00000000-0000-0000-0000-000000000000}"/>
          </ac:spMkLst>
        </pc:spChg>
      </pc:sldMasterChg>
      <pc:sldMasterChg chg="modSp">
        <pc:chgData name="Aucoin, Shannon" userId="3f4e7fc1-6c2e-4059-b6c3-22af03bf749a" providerId="ADAL" clId="{E0921B5F-CAE8-4497-A9EF-24510461A92C}" dt="2026-01-15T21:48:48.248" v="4"/>
        <pc:sldMasterMkLst>
          <pc:docMk/>
          <pc:sldMasterMk cId="3578277993" sldId="2147483672"/>
        </pc:sldMasterMkLst>
        <pc:spChg chg="mod">
          <ac:chgData name="Aucoin, Shannon" userId="3f4e7fc1-6c2e-4059-b6c3-22af03bf749a" providerId="ADAL" clId="{E0921B5F-CAE8-4497-A9EF-24510461A92C}" dt="2026-01-15T21:48:48.248" v="4"/>
          <ac:spMkLst>
            <pc:docMk/>
            <pc:sldMasterMk cId="3578277993" sldId="2147483672"/>
            <ac:spMk id="15" creationId="{00000000-0000-0000-0000-000000000000}"/>
          </ac:spMkLst>
        </pc:spChg>
      </pc:sldMasterChg>
      <pc:sldMasterChg chg="modSp">
        <pc:chgData name="Aucoin, Shannon" userId="3f4e7fc1-6c2e-4059-b6c3-22af03bf749a" providerId="ADAL" clId="{E0921B5F-CAE8-4497-A9EF-24510461A92C}" dt="2026-01-15T21:48:42.751" v="3"/>
        <pc:sldMasterMkLst>
          <pc:docMk/>
          <pc:sldMasterMk cId="540183629" sldId="2147483675"/>
        </pc:sldMasterMkLst>
        <pc:spChg chg="mod">
          <ac:chgData name="Aucoin, Shannon" userId="3f4e7fc1-6c2e-4059-b6c3-22af03bf749a" providerId="ADAL" clId="{E0921B5F-CAE8-4497-A9EF-24510461A92C}" dt="2026-01-15T21:48:42.751" v="3"/>
          <ac:spMkLst>
            <pc:docMk/>
            <pc:sldMasterMk cId="540183629" sldId="2147483675"/>
            <ac:spMk id="11" creationId="{00000000-0000-0000-0000-000000000000}"/>
          </ac:spMkLst>
        </pc:spChg>
      </pc:sldMasterChg>
      <pc:sldMasterChg chg="modSp">
        <pc:chgData name="Aucoin, Shannon" userId="3f4e7fc1-6c2e-4059-b6c3-22af03bf749a" providerId="ADAL" clId="{E0921B5F-CAE8-4497-A9EF-24510461A92C}" dt="2026-01-15T21:48:39.161" v="2"/>
        <pc:sldMasterMkLst>
          <pc:docMk/>
          <pc:sldMasterMk cId="3728541375" sldId="2147483684"/>
        </pc:sldMasterMkLst>
        <pc:spChg chg="mod">
          <ac:chgData name="Aucoin, Shannon" userId="3f4e7fc1-6c2e-4059-b6c3-22af03bf749a" providerId="ADAL" clId="{E0921B5F-CAE8-4497-A9EF-24510461A92C}" dt="2026-01-15T21:48:39.161" v="2"/>
          <ac:spMkLst>
            <pc:docMk/>
            <pc:sldMasterMk cId="3728541375" sldId="2147483684"/>
            <ac:spMk id="1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a:defRPr sz="1200"/>
            </a:lvl1pPr>
          </a:lstStyle>
          <a:p>
            <a:fld id="{9CBA0846-EC1A-40DB-8F81-96AE9A64BBB3}" type="datetimeFigureOut">
              <a:rPr lang="en-US" smtClean="0"/>
              <a:t>1/20/2026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a:defRPr sz="1200"/>
            </a:lvl1pPr>
          </a:lstStyle>
          <a:p>
            <a:fld id="{C3CE0DA8-8A21-4DAB-8D09-F8325147C991}" type="slidenum">
              <a:rPr lang="en-US" smtClean="0"/>
              <a:t>‹#›</a:t>
            </a:fld>
            <a:endParaRPr lang="en-US"/>
          </a:p>
        </p:txBody>
      </p:sp>
    </p:spTree>
    <p:extLst>
      <p:ext uri="{BB962C8B-B14F-4D97-AF65-F5344CB8AC3E}">
        <p14:creationId xmlns:p14="http://schemas.microsoft.com/office/powerpoint/2010/main" val="4026689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a:defRPr sz="1200"/>
            </a:lvl1pPr>
          </a:lstStyle>
          <a:p>
            <a:fld id="{EF5DD168-A957-4784-9C8A-5438585B9AF9}" type="datetimeFigureOut">
              <a:rPr lang="en-US" smtClean="0"/>
              <a:t>1/20/2026</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560570"/>
            <a:ext cx="6177280" cy="432054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Examples of monopolistic competition are everywhere</a:t>
            </a:r>
            <a:r>
              <a:rPr lang="en-US" sz="1200"/>
              <a:t>: the </a:t>
            </a:r>
            <a:r>
              <a:rPr lang="en-US" sz="1200" dirty="0"/>
              <a:t>clothes students wear, the fancy frozen coffee drinks they slurp up on their way to class, the magazines they read, the nightclubs where they dance.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As a result, students find the theory of monopolistic competition more relevant than the theory of perfect competition, which best describes products like wheat and soybeans, products that few students ever consider buying.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last part of the chapter, on advertising and brand names, is especially interesting and useful for business students.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students are reasonably comfortable with the material on perfect competition and monopoly, then this chapter should not be difficult.  It is also shorter than average.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dirty="0"/>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Here are the main sections in this chapter: </a:t>
            </a:r>
          </a:p>
          <a:p>
            <a:pPr marL="228600" indent="-228600">
              <a:buAutoNum type="arabicPeriod"/>
            </a:pPr>
            <a:r>
              <a:rPr lang="en-US" dirty="0"/>
              <a:t>Between Monopoly and Perfect Competition</a:t>
            </a:r>
          </a:p>
          <a:p>
            <a:pPr marL="228600" indent="-228600">
              <a:buAutoNum type="arabicPeriod"/>
            </a:pPr>
            <a:r>
              <a:rPr lang="en-US" dirty="0"/>
              <a:t>Competition with Differentiated Products</a:t>
            </a:r>
          </a:p>
          <a:p>
            <a:pPr marL="228600" indent="-228600">
              <a:buAutoNum type="arabicPeriod"/>
            </a:pPr>
            <a:r>
              <a:rPr lang="en-US" dirty="0"/>
              <a:t>Advertising</a:t>
            </a:r>
          </a:p>
          <a:p>
            <a:pPr marL="228600" indent="-228600">
              <a:buAutoNum type="arabicPeriod"/>
            </a:pPr>
            <a:r>
              <a:rPr lang="en-US" dirty="0"/>
              <a:t>Conclusion</a:t>
            </a:r>
          </a:p>
          <a:p>
            <a:pPr marL="228600" indent="-228600">
              <a:buAutoNum type="arabicPeriod"/>
            </a:pPr>
            <a:endParaRPr lang="en-US" dirty="0"/>
          </a:p>
          <a:p>
            <a:pPr marL="0" indent="0">
              <a:buNone/>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dirty="0"/>
          </a:p>
        </p:txBody>
      </p:sp>
    </p:spTree>
    <p:extLst>
      <p:ext uri="{BB962C8B-B14F-4D97-AF65-F5344CB8AC3E}">
        <p14:creationId xmlns:p14="http://schemas.microsoft.com/office/powerpoint/2010/main" val="1362360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In the preceding two chapters, we studied the two extremes of the competition spectrum.  This chapter focuses on monopolistic competition, one of the market structures in between the two extremes.  </a:t>
            </a:r>
          </a:p>
          <a:p>
            <a:pPr defTabSz="966612">
              <a:defRPr/>
            </a:pPr>
            <a:endParaRPr lang="en-US" dirty="0"/>
          </a:p>
          <a:p>
            <a:pPr defTabSz="966612">
              <a:defRPr/>
            </a:pPr>
            <a:r>
              <a:rPr lang="en-US" dirty="0"/>
              <a:t>Examples of each market type:</a:t>
            </a:r>
          </a:p>
          <a:p>
            <a:pPr defTabSz="966612">
              <a:defRPr/>
            </a:pPr>
            <a:endParaRPr lang="en-US" dirty="0"/>
          </a:p>
          <a:p>
            <a:pPr defTabSz="966612">
              <a:defRPr/>
            </a:pPr>
            <a:r>
              <a:rPr lang="en-US" dirty="0"/>
              <a:t> Perfect competition:  wheat, milk</a:t>
            </a:r>
          </a:p>
          <a:p>
            <a:pPr defTabSz="966612">
              <a:defRPr/>
            </a:pPr>
            <a:endParaRPr lang="en-US" dirty="0"/>
          </a:p>
          <a:p>
            <a:pPr defTabSz="966612">
              <a:defRPr/>
            </a:pPr>
            <a:r>
              <a:rPr lang="en-US" dirty="0"/>
              <a:t> Monopoly:  tap water, cable TV</a:t>
            </a:r>
          </a:p>
          <a:p>
            <a:pPr defTabSz="966612">
              <a:defRPr/>
            </a:pPr>
            <a:endParaRPr lang="en-US" dirty="0"/>
          </a:p>
          <a:p>
            <a:pPr defTabSz="966612">
              <a:defRPr/>
            </a:pPr>
            <a:r>
              <a:rPr lang="en-US" dirty="0"/>
              <a:t> Oligopoly:  tennis balls, cigarettes (we study oligopoly in the next chapter)</a:t>
            </a:r>
          </a:p>
          <a:p>
            <a:pPr defTabSz="966612">
              <a:defRPr/>
            </a:pPr>
            <a:endParaRPr lang="en-US" dirty="0"/>
          </a:p>
          <a:p>
            <a:pPr defTabSz="966612">
              <a:defRPr/>
            </a:pPr>
            <a:r>
              <a:rPr lang="en-US" dirty="0"/>
              <a:t> Monopolistic competition:  novels, movies, restaurants</a:t>
            </a:r>
          </a:p>
          <a:p>
            <a:pPr defTabSz="966612">
              <a:defRPr/>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dirty="0"/>
          </a:p>
        </p:txBody>
      </p:sp>
    </p:spTree>
    <p:extLst>
      <p:ext uri="{BB962C8B-B14F-4D97-AF65-F5344CB8AC3E}">
        <p14:creationId xmlns:p14="http://schemas.microsoft.com/office/powerpoint/2010/main" val="452384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the next chapter we see how oligopolies work, and how strategic interactions among them plays a big role in the analysis of how these markets work.  The industries with a 4-firm concentration ratio grater than 90% are best described as oligopolies.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29111071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400550"/>
            <a:ext cx="5852160" cy="4480560"/>
          </a:xfrm>
        </p:spPr>
        <p:txBody>
          <a:bodyPr/>
          <a:lstStyle/>
          <a:p>
            <a:pPr eaLnBrk="1" hangingPunct="1"/>
            <a:r>
              <a:rPr lang="en-US" dirty="0"/>
              <a:t>While not all are emphasized in the book, here are some</a:t>
            </a:r>
            <a:r>
              <a:rPr lang="en-US" baseline="0" dirty="0"/>
              <a:t> ways producers differentiate their products: actual physical differences (a 30” TV offers a different Super Bowl experience than a 70” TV, right?), advertising (or branding), and location.</a:t>
            </a:r>
            <a:endParaRPr lang="en-US" dirty="0"/>
          </a:p>
          <a:p>
            <a:pPr eaLnBrk="1" hangingPunct="1"/>
            <a:endParaRPr lang="en-US" dirty="0"/>
          </a:p>
          <a:p>
            <a:pPr eaLnBrk="1" hangingPunct="1"/>
            <a:r>
              <a:rPr lang="en-US" dirty="0"/>
              <a:t>Gasoline seems like an undifferentiated product, yet different gas stations charge different prices.  How can some gas stations get away with charging 5 or even 10 cents more per gallon?  The answer is product differentiation by location.  </a:t>
            </a:r>
          </a:p>
          <a:p>
            <a:pPr eaLnBrk="1" hangingPunct="1"/>
            <a:endParaRPr lang="en-US" dirty="0"/>
          </a:p>
          <a:p>
            <a:pPr eaLnBrk="1" hangingPunct="1"/>
            <a:r>
              <a:rPr lang="en-US" dirty="0"/>
              <a:t>Imagine you’re driving home in rush-hour traffic from a grueling 10-hour day at the office.  The orange warning light comes on, indicating your car needs gas.  After uttering a few choice words, you notice two gas stations at an upcoming intersection.  The one on the right charges 5 cents more than the one on the left, but is easily accessible.  The one on the left would require you to make a left-hand turn in heavy traffic to get into the station, and another to get out.  And how much would you save?  If you buy 20 gallons, you’d save only $1.  </a:t>
            </a:r>
          </a:p>
          <a:p>
            <a:pPr eaLnBrk="1" hangingPunct="1"/>
            <a:endParaRPr lang="en-US" dirty="0"/>
          </a:p>
          <a:p>
            <a:pPr eaLnBrk="1" hangingPunct="1"/>
            <a:r>
              <a:rPr lang="en-US" dirty="0"/>
              <a:t>Alternatively, imagine you run a gas station located in a highly residential area, in which there are few other businesses—including gas stations.  If people want gas, they can buy it from you, or they can drive 10 minutes to a more commercial area with lots of gas stations.  Your location allows you to charge a higher price.  </a:t>
            </a:r>
          </a:p>
          <a:p>
            <a:pPr eaLnBrk="1" hangingPunct="1"/>
            <a:endParaRPr lang="en-US" dirty="0"/>
          </a:p>
          <a:p>
            <a:pPr eaLnBrk="1" hangingPunct="1"/>
            <a:r>
              <a:rPr lang="en-US" dirty="0"/>
              <a:t>Businesspeople have long understood that location is a critical dimension of product differentiation.  Hence the saying “location, location, location.”  </a:t>
            </a:r>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dirty="0"/>
          </a:p>
        </p:txBody>
      </p:sp>
    </p:spTree>
    <p:extLst>
      <p:ext uri="{BB962C8B-B14F-4D97-AF65-F5344CB8AC3E}">
        <p14:creationId xmlns:p14="http://schemas.microsoft.com/office/powerpoint/2010/main" val="4523843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In all 3 types of structures, firms want to maximize profit, they use the MR = MC rule, and they can make profit in the SR. Only the perfectly competitive firm produces the welfare-maximizing output. </a:t>
            </a:r>
          </a:p>
          <a:p>
            <a:pPr eaLnBrk="1" hangingPunct="1"/>
            <a:endParaRPr lang="en-US" dirty="0"/>
          </a:p>
          <a:p>
            <a:pPr eaLnBrk="1" hangingPunct="1"/>
            <a:r>
              <a:rPr lang="en-US" dirty="0"/>
              <a:t>Monopolistic competition:</a:t>
            </a:r>
          </a:p>
          <a:p>
            <a:pPr marL="171450" indent="-171450" eaLnBrk="1" hangingPunct="1">
              <a:buFont typeface="Arial" panose="020B0604020202020204" pitchFamily="34" charset="0"/>
              <a:buChar char="•"/>
            </a:pPr>
            <a:r>
              <a:rPr lang="en-US" dirty="0"/>
              <a:t>Long-run profits are zero because of free entry/exit.  </a:t>
            </a:r>
          </a:p>
          <a:p>
            <a:pPr marL="171450" indent="-171450" eaLnBrk="1" hangingPunct="1">
              <a:buFont typeface="Arial" panose="020B0604020202020204" pitchFamily="34" charset="0"/>
              <a:buChar char="•"/>
            </a:pPr>
            <a:r>
              <a:rPr lang="en-US" dirty="0"/>
              <a:t>Market power:</a:t>
            </a:r>
            <a:r>
              <a:rPr lang="en-US" baseline="0" dirty="0"/>
              <a:t> </a:t>
            </a:r>
            <a:r>
              <a:rPr lang="en-US" dirty="0"/>
              <a:t>it sells a product that is at least somewhat different from products sold by other firms. </a:t>
            </a:r>
            <a:r>
              <a:rPr lang="en-US" baseline="0" dirty="0"/>
              <a:t>Generally, the more differentiated the product is (in the eye of the consumer), the greater the market power it has over the price.</a:t>
            </a:r>
            <a:r>
              <a:rPr lang="en-US" dirty="0"/>
              <a:t> </a:t>
            </a:r>
          </a:p>
          <a:p>
            <a:pPr marL="171450" indent="-171450" eaLnBrk="1" hangingPunct="1">
              <a:buFont typeface="Arial" panose="020B0604020202020204" pitchFamily="34" charset="0"/>
              <a:buChar char="•"/>
            </a:pPr>
            <a:r>
              <a:rPr lang="en-US" dirty="0"/>
              <a:t>The D curve is downward-sloping because the firm has a bit of market power and sells a unique variety. Firms</a:t>
            </a:r>
            <a:r>
              <a:rPr lang="en-US" baseline="0" dirty="0"/>
              <a:t> compete over customers.</a:t>
            </a:r>
            <a:endParaRPr lang="en-US" dirty="0"/>
          </a:p>
          <a:p>
            <a:pPr eaLnBrk="1" hangingPunct="1"/>
            <a:endParaRPr lang="en-US" dirty="0"/>
          </a:p>
          <a:p>
            <a:pPr eaLnBrk="1" hangingPunct="1"/>
            <a:r>
              <a:rPr lang="en-US" dirty="0"/>
              <a:t>A monopoly is the sole seller of a product with no close substitutes.  In contrast, the monopolistic competitor sells a product with many close substitutes.  As a result, demand for the monopolist’s product is less elastic than demand for the monopolistic competitor’s product.  </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dirty="0"/>
          </a:p>
        </p:txBody>
      </p:sp>
    </p:spTree>
    <p:extLst>
      <p:ext uri="{BB962C8B-B14F-4D97-AF65-F5344CB8AC3E}">
        <p14:creationId xmlns:p14="http://schemas.microsoft.com/office/powerpoint/2010/main" val="4113519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1 from the textbook. It helps students better</a:t>
            </a:r>
            <a:r>
              <a:rPr lang="en-US" baseline="0" dirty="0"/>
              <a:t> understand why not only the number of firms in a market is important, but also the type of goods produced.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4107940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1297533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4A11CCA3-2125-45E2-A60F-A1832D57B3D1}" type="slidenum">
              <a:rPr lang="en-US" smtClean="0"/>
              <a:pPr/>
              <a:t>9</a:t>
            </a:fld>
            <a:endParaRPr lang="en-US" dirty="0"/>
          </a:p>
        </p:txBody>
      </p:sp>
      <p:sp>
        <p:nvSpPr>
          <p:cNvPr id="37891"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4DBF40A3-9C37-4194-AD4E-69DE674DFA8E}" type="slidenum">
              <a:rPr lang="en-US" sz="1300">
                <a:cs typeface="Arial" charset="0"/>
              </a:rPr>
              <a:pPr algn="r"/>
              <a:t>9</a:t>
            </a:fld>
            <a:endParaRPr lang="en-US" sz="1300" dirty="0">
              <a:cs typeface="Arial" charset="0"/>
            </a:endParaRPr>
          </a:p>
        </p:txBody>
      </p:sp>
      <p:sp>
        <p:nvSpPr>
          <p:cNvPr id="37892" name="Rectangle 2"/>
          <p:cNvSpPr>
            <a:spLocks noGrp="1" noRot="1" noChangeAspect="1" noChangeArrowheads="1" noTextEdit="1"/>
          </p:cNvSpPr>
          <p:nvPr>
            <p:ph type="sldImg"/>
          </p:nvPr>
        </p:nvSpPr>
        <p:spPr>
          <a:xfrm>
            <a:off x="1257300" y="561975"/>
            <a:ext cx="4800600" cy="3600450"/>
          </a:xfrm>
          <a:ln/>
        </p:spPr>
      </p:sp>
      <p:sp>
        <p:nvSpPr>
          <p:cNvPr id="37893" name="Rectangle 3"/>
          <p:cNvSpPr>
            <a:spLocks noGrp="1" noChangeArrowheads="1"/>
          </p:cNvSpPr>
          <p:nvPr>
            <p:ph type="body" idx="1"/>
          </p:nvPr>
        </p:nvSpPr>
        <p:spPr>
          <a:xfrm>
            <a:off x="731520" y="4460557"/>
            <a:ext cx="5852160" cy="4420553"/>
          </a:xfrm>
          <a:noFill/>
          <a:ln/>
        </p:spPr>
        <p:txBody>
          <a:bodyPr/>
          <a:lstStyle/>
          <a:p>
            <a:pPr eaLnBrk="1" hangingPunct="1"/>
            <a:r>
              <a:rPr lang="en-US" dirty="0"/>
              <a:t>Your students should be familiar with this graph</a:t>
            </a:r>
            <a:r>
              <a:rPr lang="en-US" baseline="0" dirty="0"/>
              <a:t> because it is very similar </a:t>
            </a:r>
            <a:r>
              <a:rPr lang="en-US" dirty="0"/>
              <a:t>to that of the monopoly firm.  Give your students a few minutes to identify the profit on the graph before showing the answers (</a:t>
            </a:r>
            <a:r>
              <a:rPr lang="en-US" b="1" i="1" dirty="0"/>
              <a:t>Q</a:t>
            </a:r>
            <a:r>
              <a:rPr lang="en-US" dirty="0"/>
              <a:t> is identified on the 4</a:t>
            </a:r>
            <a:r>
              <a:rPr lang="en-US" baseline="30000" dirty="0"/>
              <a:t>th</a:t>
            </a:r>
            <a:r>
              <a:rPr lang="en-US" dirty="0"/>
              <a:t> click). </a:t>
            </a:r>
          </a:p>
          <a:p>
            <a:pPr eaLnBrk="1" hangingPunct="1"/>
            <a:endParaRPr lang="en-US" dirty="0"/>
          </a:p>
          <a:p>
            <a:pPr eaLnBrk="1" hangingPunct="1"/>
            <a:r>
              <a:rPr lang="en-US" dirty="0"/>
              <a:t>One subtle difference is that the demand curve (and </a:t>
            </a:r>
            <a:r>
              <a:rPr lang="en-US" b="1" i="1" dirty="0"/>
              <a:t>MR</a:t>
            </a:r>
            <a:r>
              <a:rPr lang="en-US" dirty="0"/>
              <a:t> curve) facing the monopolistically competitive firm is likely to be flatter than the demand curve facing the monopolist, as the monopolistic competitor faces competition from other firms selling similar products.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E37EDBE9-AB5B-4EE1-9D12-BFADB57EBC15}" type="slidenum">
              <a:rPr lang="en-US" smtClean="0"/>
              <a:pPr/>
              <a:t>10</a:t>
            </a:fld>
            <a:endParaRPr lang="en-US" dirty="0"/>
          </a:p>
        </p:txBody>
      </p:sp>
      <p:sp>
        <p:nvSpPr>
          <p:cNvPr id="38915"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776AFE85-A1B3-4780-B089-39119475828A}" type="slidenum">
              <a:rPr lang="en-US" sz="1300">
                <a:cs typeface="Arial" charset="0"/>
              </a:rPr>
              <a:pPr algn="r"/>
              <a:t>10</a:t>
            </a:fld>
            <a:endParaRPr lang="en-US" sz="1300" dirty="0">
              <a:cs typeface="Arial" charset="0"/>
            </a:endParaRPr>
          </a:p>
        </p:txBody>
      </p:sp>
      <p:sp>
        <p:nvSpPr>
          <p:cNvPr id="38916" name="Rectangle 2"/>
          <p:cNvSpPr>
            <a:spLocks noGrp="1" noRot="1" noChangeAspect="1" noChangeArrowheads="1" noTextEdit="1"/>
          </p:cNvSpPr>
          <p:nvPr>
            <p:ph type="sldImg"/>
          </p:nvPr>
        </p:nvSpPr>
        <p:spPr>
          <a:xfrm>
            <a:off x="1257300" y="561975"/>
            <a:ext cx="4800600" cy="3600450"/>
          </a:xfrm>
          <a:ln/>
        </p:spPr>
      </p:sp>
      <p:sp>
        <p:nvSpPr>
          <p:cNvPr id="38917" name="Rectangle 3"/>
          <p:cNvSpPr>
            <a:spLocks noGrp="1" noChangeArrowheads="1"/>
          </p:cNvSpPr>
          <p:nvPr>
            <p:ph type="body" idx="1"/>
          </p:nvPr>
        </p:nvSpPr>
        <p:spPr>
          <a:xfrm>
            <a:off x="731520" y="4460557"/>
            <a:ext cx="5852160" cy="4420553"/>
          </a:xfrm>
          <a:noFill/>
          <a:ln/>
        </p:spPr>
        <p:txBody>
          <a:bodyPr/>
          <a:lstStyle/>
          <a:p>
            <a:pPr eaLnBrk="1" hangingPunct="1"/>
            <a:r>
              <a:rPr lang="en-US" dirty="0"/>
              <a:t>Give your students a few minutes to formulate</a:t>
            </a:r>
            <a:r>
              <a:rPr lang="en-US" baseline="0" dirty="0"/>
              <a:t> their answer before asking for volunteers to share their work.</a:t>
            </a:r>
          </a:p>
          <a:p>
            <a:pPr eaLnBrk="1" hangingPunct="1"/>
            <a:r>
              <a:rPr lang="en-US" baseline="0" dirty="0"/>
              <a:t>(</a:t>
            </a:r>
            <a:r>
              <a:rPr lang="en-US" b="1" i="1" baseline="0" dirty="0"/>
              <a:t>Q</a:t>
            </a:r>
            <a:r>
              <a:rPr lang="en-US" baseline="0" dirty="0"/>
              <a:t> is identified on the 2</a:t>
            </a:r>
            <a:r>
              <a:rPr lang="en-US" baseline="30000" dirty="0"/>
              <a:t>nd</a:t>
            </a:r>
            <a:r>
              <a:rPr lang="en-US" baseline="0" dirty="0"/>
              <a:t> click)</a:t>
            </a: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Short run:  Under monopolistic competition, firm behavior is very similar to monopoly.  </a:t>
            </a:r>
          </a:p>
          <a:p>
            <a:pPr marL="171450" indent="-171450">
              <a:buFont typeface="Arial" panose="020B0604020202020204" pitchFamily="34" charset="0"/>
              <a:buChar char="•"/>
            </a:pPr>
            <a:r>
              <a:rPr lang="en-US" dirty="0"/>
              <a:t>Long run:  In monopolistic competition, entry and exit drive economic profit to zero. </a:t>
            </a:r>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dirty="0"/>
          </a:p>
        </p:txBody>
      </p:sp>
    </p:spTree>
    <p:extLst>
      <p:ext uri="{BB962C8B-B14F-4D97-AF65-F5344CB8AC3E}">
        <p14:creationId xmlns:p14="http://schemas.microsoft.com/office/powerpoint/2010/main" val="10552021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6EC8B3F5-88E1-45A8-9F16-3C2C4331C03D}" type="slidenum">
              <a:rPr lang="en-US" smtClean="0"/>
              <a:pPr/>
              <a:t>12</a:t>
            </a:fld>
            <a:endParaRPr lang="en-US" dirty="0"/>
          </a:p>
        </p:txBody>
      </p:sp>
      <p:sp>
        <p:nvSpPr>
          <p:cNvPr id="40963"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1587585C-ACF8-43F8-A701-87E2F0700031}" type="slidenum">
              <a:rPr lang="en-US" sz="1300">
                <a:cs typeface="Arial" charset="0"/>
              </a:rPr>
              <a:pPr algn="r"/>
              <a:t>12</a:t>
            </a:fld>
            <a:endParaRPr lang="en-US" sz="1300" dirty="0">
              <a:cs typeface="Arial" charset="0"/>
            </a:endParaRPr>
          </a:p>
        </p:txBody>
      </p:sp>
      <p:sp>
        <p:nvSpPr>
          <p:cNvPr id="40964" name="Rectangle 2"/>
          <p:cNvSpPr>
            <a:spLocks noGrp="1" noRot="1" noChangeAspect="1" noChangeArrowheads="1" noTextEdit="1"/>
          </p:cNvSpPr>
          <p:nvPr>
            <p:ph type="sldImg"/>
          </p:nvPr>
        </p:nvSpPr>
        <p:spPr>
          <a:xfrm>
            <a:off x="1257300" y="561975"/>
            <a:ext cx="4800600" cy="3600450"/>
          </a:xfrm>
          <a:ln/>
        </p:spPr>
      </p:sp>
      <p:sp>
        <p:nvSpPr>
          <p:cNvPr id="40965" name="Rectangle 3"/>
          <p:cNvSpPr>
            <a:spLocks noGrp="1" noChangeArrowheads="1"/>
          </p:cNvSpPr>
          <p:nvPr>
            <p:ph type="body" idx="1"/>
          </p:nvPr>
        </p:nvSpPr>
        <p:spPr>
          <a:xfrm>
            <a:off x="731520" y="4460557"/>
            <a:ext cx="5852160" cy="4420553"/>
          </a:xfrm>
          <a:noFill/>
          <a:ln/>
        </p:spPr>
        <p:txBody>
          <a:bodyPr/>
          <a:lstStyle/>
          <a:p>
            <a:pPr eaLnBrk="1" hangingPunct="1"/>
            <a:r>
              <a:rPr lang="en-US" dirty="0"/>
              <a:t>In long-run</a:t>
            </a:r>
            <a:r>
              <a:rPr lang="en-US" baseline="0" dirty="0"/>
              <a:t> equilibrium, the demand curve is tangent to the </a:t>
            </a:r>
            <a:r>
              <a:rPr lang="en-US" b="1" i="1" baseline="0" dirty="0"/>
              <a:t>ATC</a:t>
            </a:r>
            <a:r>
              <a:rPr lang="en-US" baseline="0" dirty="0"/>
              <a:t> curve at the same quantity where </a:t>
            </a:r>
            <a:r>
              <a:rPr lang="en-US" b="1" i="1" baseline="0" dirty="0"/>
              <a:t>MR</a:t>
            </a:r>
            <a:r>
              <a:rPr lang="en-US" baseline="0" dirty="0"/>
              <a:t> = </a:t>
            </a:r>
            <a:r>
              <a:rPr lang="en-US" b="1" i="1" baseline="0" dirty="0"/>
              <a:t>MC</a:t>
            </a:r>
            <a:r>
              <a:rPr lang="en-US" baseline="0" dirty="0"/>
              <a:t>. </a:t>
            </a:r>
            <a:endParaRPr lang="en-US" dirty="0"/>
          </a:p>
          <a:p>
            <a:pPr eaLnBrk="1" hangingPunct="1"/>
            <a:r>
              <a:rPr lang="en-US" dirty="0"/>
              <a:t>The level of output that minimizes </a:t>
            </a:r>
            <a:r>
              <a:rPr lang="en-US" b="1" i="1" dirty="0"/>
              <a:t>ATC</a:t>
            </a:r>
            <a:r>
              <a:rPr lang="en-US" dirty="0"/>
              <a:t> is greater than the output that maximizes the monopolistic competitor’s profits.  Hence, we say the monopolistic competitor operates with excess capacity.  (More on this topic on the next slide.)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Due to the markup of price over marginal cost, the market output under monopolistic competition will be smaller than the socially efficient output, as we discuss on the following slides. </a:t>
            </a:r>
          </a:p>
          <a:p>
            <a:endParaRPr lang="en-US" dirty="0"/>
          </a:p>
          <a:p>
            <a:r>
              <a:rPr lang="en-US" dirty="0"/>
              <a:t>The </a:t>
            </a:r>
            <a:r>
              <a:rPr lang="en-US" u="sng" dirty="0"/>
              <a:t>Excess capacity </a:t>
            </a:r>
            <a:r>
              <a:rPr lang="en-US" dirty="0"/>
              <a:t>in monopolistic competition is the difference between the efficient scale quantity (at min ATC, where competitive firms produce in the LR) and the smaller Q produced in monopolistic competition in LR (where MC = MR and the D curve is tangent to ATC).</a:t>
            </a:r>
          </a:p>
          <a:p>
            <a:endParaRPr lang="en-US" dirty="0"/>
          </a:p>
          <a:p>
            <a:r>
              <a:rPr lang="en-US" u="sng" dirty="0"/>
              <a:t>Markup over MC</a:t>
            </a:r>
            <a:r>
              <a:rPr lang="en-US" dirty="0"/>
              <a:t>: in LR equilibrium, the monopolistically competitive firm produces Q where MR=MC, but the P is on the D curve (and the D curve is tangent to the ATC curve), so P &gt; MC (whereas in perfect competition P = MC = min ATC in LR) </a:t>
            </a:r>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1112167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sources of inefficiency is discussed in more detail on the following slide.</a:t>
            </a:r>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29650167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The problem of markup pricing facing policymakers here is similar to the problem arising from natural monopoly:  </a:t>
            </a:r>
          </a:p>
          <a:p>
            <a:pPr eaLnBrk="1" hangingPunct="1"/>
            <a:r>
              <a:rPr lang="en-US" dirty="0"/>
              <a:t>With natural monopoly, </a:t>
            </a:r>
            <a:r>
              <a:rPr lang="en-US" b="1" i="1" dirty="0"/>
              <a:t>ATC</a:t>
            </a:r>
            <a:r>
              <a:rPr lang="en-US" dirty="0"/>
              <a:t> is always falling, so </a:t>
            </a:r>
            <a:r>
              <a:rPr lang="en-US" b="1" i="1" dirty="0"/>
              <a:t>MC</a:t>
            </a:r>
            <a:r>
              <a:rPr lang="en-US" dirty="0"/>
              <a:t> is below </a:t>
            </a:r>
            <a:r>
              <a:rPr lang="en-US" b="1" i="1" dirty="0"/>
              <a:t>ATC</a:t>
            </a:r>
            <a:r>
              <a:rPr lang="en-US" dirty="0"/>
              <a:t>.  If regulators force a natural monopoly to price at marginal cost, it will incur losses. Yet, it is not easy for policymakers to fix this problem for monopolistically competitive firms:  Firms earn zero profits, so cannot require them to reduce prices. </a:t>
            </a:r>
          </a:p>
          <a:p>
            <a:pPr eaLnBrk="1" hangingPunct="1"/>
            <a:endParaRPr lang="en-US" dirty="0"/>
          </a:p>
          <a:p>
            <a:r>
              <a:rPr lang="en-US" dirty="0"/>
              <a:t>The product-variety externality is a positive one for consumers; while</a:t>
            </a:r>
            <a:r>
              <a:rPr lang="en-US" baseline="0" dirty="0"/>
              <a:t> the business-stealing externality is a negative one on existing producers. </a:t>
            </a:r>
            <a:r>
              <a:rPr lang="en-US" dirty="0"/>
              <a:t>It’s not clear which externality effect is bigger, and it may in fact differ by industry.  </a:t>
            </a:r>
          </a:p>
          <a:p>
            <a:pPr defTabSz="966612">
              <a:defRPr/>
            </a:pPr>
            <a:endParaRPr lang="en-US" dirty="0"/>
          </a:p>
          <a:p>
            <a:r>
              <a:rPr lang="en-US" dirty="0"/>
              <a:t>The inefficiencies of monopolistic competition are subtle, hard to measure, and hard to fix.  There is easy way for policymakers to improve the market outcome. </a:t>
            </a:r>
          </a:p>
        </p:txBody>
      </p:sp>
      <p:sp>
        <p:nvSpPr>
          <p:cNvPr id="4" name="Slide Number Placeholder 3"/>
          <p:cNvSpPr>
            <a:spLocks noGrp="1"/>
          </p:cNvSpPr>
          <p:nvPr>
            <p:ph type="sldNum" sz="quarter" idx="10"/>
          </p:nvPr>
        </p:nvSpPr>
        <p:spPr/>
        <p:txBody>
          <a:bodyPr/>
          <a:lstStyle/>
          <a:p>
            <a:fld id="{2CAF6792-DBE1-4461-97FA-F85A7B48814E}" type="slidenum">
              <a:rPr lang="en-US" smtClean="0"/>
              <a:t>15</a:t>
            </a:fld>
            <a:endParaRPr lang="en-US"/>
          </a:p>
        </p:txBody>
      </p:sp>
    </p:spTree>
    <p:extLst>
      <p:ext uri="{BB962C8B-B14F-4D97-AF65-F5344CB8AC3E}">
        <p14:creationId xmlns:p14="http://schemas.microsoft.com/office/powerpoint/2010/main" val="18738606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300" dirty="0"/>
              <a:t>Consider breaking up your lecture with a 10-minute discussion.  First, give your students a few quiet moments to formulate their responses. Then, ask for volunteers to share their answers.  If you have a chalkboard or dry-erase board, concisely paraphrase each student’s response as it is volunteered.  If a student volunteers a “wrong” answer, write it down anyway.  After the class has generated a list, have the class go over each item on the list to make sure it really belongs on the list. </a:t>
            </a:r>
          </a:p>
          <a:p>
            <a:pPr eaLnBrk="1" hangingPunct="1"/>
            <a:endParaRPr lang="en-US" sz="1300" dirty="0"/>
          </a:p>
          <a:p>
            <a:pPr eaLnBrk="1" hangingPunct="1"/>
            <a:r>
              <a:rPr lang="en-US" sz="1300" dirty="0"/>
              <a:t>Benefits:  </a:t>
            </a:r>
          </a:p>
          <a:p>
            <a:pPr eaLnBrk="1" hangingPunct="1"/>
            <a:endParaRPr lang="en-US" sz="1300" dirty="0"/>
          </a:p>
          <a:p>
            <a:pPr eaLnBrk="1" hangingPunct="1"/>
            <a:r>
              <a:rPr lang="en-US" sz="1300" dirty="0"/>
              <a:t>1) Breaks up the lecture into chunks.  </a:t>
            </a:r>
          </a:p>
          <a:p>
            <a:pPr eaLnBrk="1" hangingPunct="1"/>
            <a:r>
              <a:rPr lang="en-US" sz="1300" dirty="0"/>
              <a:t>2) Engages students.  </a:t>
            </a:r>
          </a:p>
          <a:p>
            <a:pPr eaLnBrk="1" hangingPunct="1"/>
            <a:r>
              <a:rPr lang="en-US" sz="1300" dirty="0"/>
              <a:t>3) Gets students to think about the implications of the market structures they’ve studied so far.  (Hopefully, some will recognize that product differentiation is a critical determinant of firms’ motivation to spend on advertising.)  </a:t>
            </a:r>
          </a:p>
          <a:p>
            <a:pPr eaLnBrk="1" hangingPunct="1"/>
            <a:r>
              <a:rPr lang="en-US" sz="1300" dirty="0"/>
              <a:t>4) Makes students feel invested in learning the second half of the chapter. </a:t>
            </a:r>
          </a:p>
          <a:p>
            <a:pPr eaLnBrk="1" hangingPunct="1"/>
            <a:endParaRPr lang="en-US" sz="1300" dirty="0"/>
          </a:p>
          <a:p>
            <a:pPr eaLnBrk="1" hangingPunct="1"/>
            <a:r>
              <a:rPr lang="en-US" sz="1300" dirty="0"/>
              <a:t>You can also ask your students if the</a:t>
            </a:r>
            <a:r>
              <a:rPr lang="en-US" sz="1300" baseline="0" dirty="0"/>
              <a:t> quality of the ad plays a role (compare, for example, the ad for the local used car lot with an ad aired during the Super Bowl)</a:t>
            </a:r>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27967146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monopolistically competitive industries, product differentiation and markup pricing  lead naturally to the use of advertising  </a:t>
            </a:r>
          </a:p>
          <a:p>
            <a:r>
              <a:rPr lang="en-US" dirty="0"/>
              <a:t>The more differentiated the products, the more advertising firms buy . </a:t>
            </a:r>
          </a:p>
          <a:p>
            <a:r>
              <a:rPr lang="en-US" dirty="0"/>
              <a:t>Economists disagree about the social value of advertising: </a:t>
            </a:r>
          </a:p>
          <a:p>
            <a:pPr marL="171450" indent="-171450">
              <a:buFont typeface="Arial" panose="020B0604020202020204" pitchFamily="34" charset="0"/>
              <a:buChar char="•"/>
            </a:pPr>
            <a:r>
              <a:rPr lang="en-US" dirty="0"/>
              <a:t>Wasting resources?</a:t>
            </a:r>
          </a:p>
          <a:p>
            <a:pPr marL="171450" indent="-171450">
              <a:buFont typeface="Arial" panose="020B0604020202020204" pitchFamily="34" charset="0"/>
              <a:buChar char="•"/>
            </a:pPr>
            <a:r>
              <a:rPr lang="en-US" dirty="0"/>
              <a:t>Valuable purpose?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817542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1899510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The first case study was by Lee Benham, published in the </a:t>
            </a:r>
            <a:r>
              <a:rPr lang="en-US" i="1" dirty="0"/>
              <a:t>Journal of Law and Economics</a:t>
            </a:r>
            <a:r>
              <a:rPr lang="en-US" dirty="0"/>
              <a:t> in 1972.  </a:t>
            </a:r>
          </a:p>
          <a:p>
            <a:pPr defTabSz="966612">
              <a:defRPr/>
            </a:pPr>
            <a:r>
              <a:rPr lang="en-US" dirty="0"/>
              <a:t>The second one was by </a:t>
            </a:r>
            <a:r>
              <a:rPr lang="en-US" sz="1200" b="0" i="0" u="none" strike="noStrike" kern="1200" baseline="0" dirty="0">
                <a:solidFill>
                  <a:schemeClr val="tx1"/>
                </a:solidFill>
                <a:latin typeface="+mn-lt"/>
                <a:ea typeface="+mn-ea"/>
                <a:cs typeface="+mn-cs"/>
              </a:rPr>
              <a:t>Jeffrey </a:t>
            </a:r>
            <a:r>
              <a:rPr lang="en-US" sz="1200" b="0" i="0" u="none" strike="noStrike" kern="1200" baseline="0" dirty="0" err="1">
                <a:solidFill>
                  <a:schemeClr val="tx1"/>
                </a:solidFill>
                <a:latin typeface="+mn-lt"/>
                <a:ea typeface="+mn-ea"/>
                <a:cs typeface="+mn-cs"/>
              </a:rPr>
              <a:t>Milyo</a:t>
            </a:r>
            <a:r>
              <a:rPr lang="en-US" sz="1200" b="0" i="0" u="none" strike="noStrike" kern="1200" baseline="0" dirty="0">
                <a:solidFill>
                  <a:schemeClr val="tx1"/>
                </a:solidFill>
                <a:latin typeface="+mn-lt"/>
                <a:ea typeface="+mn-ea"/>
                <a:cs typeface="+mn-cs"/>
              </a:rPr>
              <a:t> and Joel </a:t>
            </a:r>
            <a:r>
              <a:rPr lang="en-US" sz="1200" b="0" i="0" u="none" strike="noStrike" kern="1200" baseline="0" dirty="0" err="1">
                <a:solidFill>
                  <a:schemeClr val="tx1"/>
                </a:solidFill>
                <a:latin typeface="+mn-lt"/>
                <a:ea typeface="+mn-ea"/>
                <a:cs typeface="+mn-cs"/>
              </a:rPr>
              <a:t>Waldfogel</a:t>
            </a:r>
            <a:r>
              <a:rPr lang="en-US" sz="1200" b="0" i="0" u="none" strike="noStrike" kern="1200" baseline="0" dirty="0">
                <a:solidFill>
                  <a:schemeClr val="tx1"/>
                </a:solidFill>
                <a:latin typeface="+mn-lt"/>
                <a:ea typeface="+mn-ea"/>
                <a:cs typeface="+mn-cs"/>
              </a:rPr>
              <a:t>, published in the </a:t>
            </a:r>
            <a:r>
              <a:rPr lang="en-US" sz="1200" b="0" i="1" u="none" strike="noStrike" kern="1200" baseline="0" dirty="0">
                <a:solidFill>
                  <a:schemeClr val="tx1"/>
                </a:solidFill>
                <a:latin typeface="+mn-lt"/>
                <a:ea typeface="+mn-ea"/>
                <a:cs typeface="+mn-cs"/>
              </a:rPr>
              <a:t>American Economic Review </a:t>
            </a:r>
            <a:r>
              <a:rPr lang="en-US" sz="1200" b="0" i="0" u="none" strike="noStrike" kern="1200" baseline="0" dirty="0">
                <a:solidFill>
                  <a:schemeClr val="tx1"/>
                </a:solidFill>
                <a:latin typeface="+mn-lt"/>
                <a:ea typeface="+mn-ea"/>
                <a:cs typeface="+mn-cs"/>
              </a:rPr>
              <a:t>in 1999.</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textbook discusses this research in more detail in the Case Study: How advertising Affects Prices.</a:t>
            </a:r>
            <a:r>
              <a:rPr lang="en-US" baseline="0" dirty="0"/>
              <a:t> </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1182125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firm’s willingness to spend huge amounts on advertising may signal the quality of its product to consumers, regardless of the content of ads.   </a:t>
            </a:r>
          </a:p>
          <a:p>
            <a:r>
              <a:rPr lang="en-US" dirty="0"/>
              <a:t>Ads may convince buyers to try a product once, but the product must be of high quality for people to become repeat buyers.  </a:t>
            </a:r>
          </a:p>
          <a:p>
            <a:r>
              <a:rPr lang="en-US" dirty="0"/>
              <a:t>The most expensive ads are not worthwhile unless they lead to repeat buyers.  </a:t>
            </a:r>
          </a:p>
          <a:p>
            <a:r>
              <a:rPr lang="en-US" dirty="0"/>
              <a:t>When consumers see expensive ads, they think the product must be good if the company is willing to spend so much on advertising.</a:t>
            </a:r>
            <a:r>
              <a:rPr lang="en-US" baseline="0" dirty="0"/>
              <a:t> The example on the next slide should prove this. </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20</a:t>
            </a:fld>
            <a:endParaRPr lang="en-US"/>
          </a:p>
        </p:txBody>
      </p:sp>
    </p:spTree>
    <p:extLst>
      <p:ext uri="{BB962C8B-B14F-4D97-AF65-F5344CB8AC3E}">
        <p14:creationId xmlns:p14="http://schemas.microsoft.com/office/powerpoint/2010/main" val="13413542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both companies run the ad,</a:t>
            </a:r>
            <a:r>
              <a:rPr lang="en-US" baseline="0" dirty="0"/>
              <a:t> each gains 500,000 new customers for the first month. </a:t>
            </a:r>
          </a:p>
          <a:p>
            <a:r>
              <a:rPr lang="en-US" baseline="0" dirty="0"/>
              <a:t>The cost of the ad is $8 million for Colgate and $8 million for Crest. </a:t>
            </a:r>
          </a:p>
          <a:p>
            <a:endParaRPr lang="en-US" dirty="0"/>
          </a:p>
          <a:p>
            <a:r>
              <a:rPr lang="en-US" dirty="0"/>
              <a:t>Give your students a few minutes</a:t>
            </a:r>
            <a:r>
              <a:rPr lang="en-US" baseline="0" dirty="0"/>
              <a:t> to formulate an answer. The calculations are on the next slide.</a:t>
            </a:r>
          </a:p>
          <a:p>
            <a:r>
              <a:rPr lang="en-US" baseline="0" dirty="0"/>
              <a:t>Point out that if the consumers like the new toothpaste, they will continue to purchase one tube every month. So, which company is most likely to get repeat customers?</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21</a:t>
            </a:fld>
            <a:endParaRPr lang="en-US"/>
          </a:p>
        </p:txBody>
      </p:sp>
    </p:spTree>
    <p:extLst>
      <p:ext uri="{BB962C8B-B14F-4D97-AF65-F5344CB8AC3E}">
        <p14:creationId xmlns:p14="http://schemas.microsoft.com/office/powerpoint/2010/main" val="9871903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Colgate, with the bad tasting toothpaste, runs</a:t>
            </a:r>
            <a:r>
              <a:rPr lang="en-US" baseline="0" dirty="0"/>
              <a:t> the ad, 500,000 consumers will buy it, but only once! So Colgate will have no repeat customers.</a:t>
            </a:r>
          </a:p>
          <a:p>
            <a:r>
              <a:rPr lang="en-US" baseline="0" dirty="0"/>
              <a:t>If Crest runs the ad, they will gain 500,000 consumers that will buy it once, love it, and continue to buy 1 tube of Crest every month.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22</a:t>
            </a:fld>
            <a:endParaRPr lang="en-US"/>
          </a:p>
        </p:txBody>
      </p:sp>
    </p:spTree>
    <p:extLst>
      <p:ext uri="{BB962C8B-B14F-4D97-AF65-F5344CB8AC3E}">
        <p14:creationId xmlns:p14="http://schemas.microsoft.com/office/powerpoint/2010/main" val="40114635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27539665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Differentiated products are everywhere; and examples of monopolistic competition abound.</a:t>
            </a:r>
          </a:p>
          <a:p>
            <a:r>
              <a:rPr lang="en-US" dirty="0"/>
              <a:t>The theory of monopolistic competition describes many markets in the economy, yet offers little guidance to policymakers looking to improve the market’s allocation of resources.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6058471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r>
              <a:rPr lang="en-US" dirty="0"/>
              <a:t>Suggestion:</a:t>
            </a:r>
            <a:r>
              <a:rPr lang="en-US" baseline="0" dirty="0"/>
              <a:t> For the Think-Pair-Share activities, if time allows, allow students to work in small groups for 5-10 minutes. Then allow student groups to share with other groups or with the entire class</a:t>
            </a:r>
            <a:r>
              <a:rPr lang="en-US" dirty="0"/>
              <a:t>.  Or, you can treat the Think-Pair-Share activity</a:t>
            </a:r>
            <a:r>
              <a:rPr lang="en-US" baseline="0" dirty="0"/>
              <a:t> as an open-to-all in–class discussion.</a:t>
            </a:r>
          </a:p>
          <a:p>
            <a:pPr defTabSz="948507"/>
            <a:endParaRPr lang="en-US" baseline="0" dirty="0"/>
          </a:p>
          <a:p>
            <a:pPr defTabSz="948507"/>
            <a:r>
              <a:rPr lang="en-US" baseline="0" dirty="0"/>
              <a:t>The questions for this activity are on the next slide, as are the discussion points.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002060"/>
                </a:solidFill>
              </a:rPr>
              <a:t>Discussion points:  </a:t>
            </a:r>
          </a:p>
          <a:p>
            <a:r>
              <a:rPr lang="en-US" sz="1200" kern="1200" dirty="0">
                <a:solidFill>
                  <a:schemeClr val="tx1"/>
                </a:solidFill>
                <a:effectLst/>
                <a:latin typeface="+mn-lt"/>
                <a:ea typeface="+mn-ea"/>
                <a:cs typeface="+mn-cs"/>
              </a:rPr>
              <a:t>A. Viewers learned that Nike was willing to spend an enormous amount of money to promote its new line of LeBron James basketball shoes. This signals that their market research suggests that they have a high-quality product that will generate repeat sales.</a:t>
            </a:r>
          </a:p>
          <a:p>
            <a:r>
              <a:rPr lang="en-US" sz="1200" kern="1200" dirty="0">
                <a:solidFill>
                  <a:schemeClr val="tx1"/>
                </a:solidFill>
                <a:effectLst/>
                <a:latin typeface="+mn-lt"/>
                <a:ea typeface="+mn-ea"/>
                <a:cs typeface="+mn-cs"/>
              </a:rPr>
              <a:t>B. Yes. The use of the brand name provides information that the product is of high quality and that the firm has incentive to maintain high quality. Nike is a multibillion-dollar company that would not want to risk losing existing sales of shoes and sportswear by marketing poor-quality basketball shoes marked with the Nike brand name.</a:t>
            </a:r>
          </a:p>
          <a:p>
            <a:r>
              <a:rPr lang="en-US" sz="1200" kern="1200" dirty="0">
                <a:solidFill>
                  <a:schemeClr val="tx1"/>
                </a:solidFill>
                <a:effectLst/>
                <a:latin typeface="+mn-lt"/>
                <a:ea typeface="+mn-ea"/>
                <a:cs typeface="+mn-cs"/>
              </a:rPr>
              <a:t>C. Advertising tends to increase competition and decrease prices to consumers because it often provides information about prices, the existence of new products, and the location of retail outlets and it provides new firms with the means to attract customers from existing firms.</a:t>
            </a:r>
          </a:p>
          <a:p>
            <a:pPr defTabSz="948507"/>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3706611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Content Placeholder 5"/>
          <p:cNvSpPr>
            <a:spLocks noGrp="1"/>
          </p:cNvSpPr>
          <p:nvPr>
            <p:ph sz="quarter" idx="12" hasCustomPrompt="1"/>
          </p:nvPr>
        </p:nvSpPr>
        <p:spPr>
          <a:xfrm>
            <a:off x="5364404" y="1850232"/>
            <a:ext cx="3335336" cy="2667000"/>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5486400" y="5181600"/>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Tree>
    <p:extLst>
      <p:ext uri="{BB962C8B-B14F-4D97-AF65-F5344CB8AC3E}">
        <p14:creationId xmlns:p14="http://schemas.microsoft.com/office/powerpoint/2010/main" val="383568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 this chapter">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34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304800" y="0"/>
            <a:ext cx="8686800" cy="889000"/>
          </a:xfrm>
        </p:spPr>
        <p:txBody>
          <a:bodyPr/>
          <a:lstStyle>
            <a:lvl1pPr algn="l">
              <a:defRPr sz="4800" b="1" baseline="0">
                <a:solidFill>
                  <a:srgbClr val="4E519E"/>
                </a:solidFill>
              </a:defRPr>
            </a:lvl1pPr>
          </a:lstStyle>
          <a:p>
            <a:r>
              <a:rPr lang="en-US" dirty="0"/>
              <a:t>IN THIS ****</a:t>
            </a:r>
          </a:p>
        </p:txBody>
      </p:sp>
    </p:spTree>
    <p:extLst>
      <p:ext uri="{BB962C8B-B14F-4D97-AF65-F5344CB8AC3E}">
        <p14:creationId xmlns:p14="http://schemas.microsoft.com/office/powerpoint/2010/main" val="273159307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h in a nutshell">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0" y="8744"/>
            <a:ext cx="9144000" cy="889000"/>
          </a:xfrm>
        </p:spPr>
        <p:txBody>
          <a:bodyPr/>
          <a:lstStyle>
            <a:lvl1pPr>
              <a:defRPr b="1"/>
            </a:lvl1pPr>
          </a:lstStyle>
          <a:p>
            <a:r>
              <a:rPr lang="en-US" dirty="0"/>
              <a:t>CHAPTER ****</a:t>
            </a:r>
          </a:p>
        </p:txBody>
      </p:sp>
    </p:spTree>
    <p:extLst>
      <p:ext uri="{BB962C8B-B14F-4D97-AF65-F5344CB8AC3E}">
        <p14:creationId xmlns:p14="http://schemas.microsoft.com/office/powerpoint/2010/main" val="290362407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MM Layou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Footer Placeholder 5">
            <a:extLst>
              <a:ext uri="{FF2B5EF4-FFF2-40B4-BE49-F238E27FC236}">
                <a16:creationId xmlns:a16="http://schemas.microsoft.com/office/drawing/2014/main" id="{CADFF2DC-AB6C-9C87-CB47-B613743F2B0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0467275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Footer Placeholder 5">
            <a:extLst>
              <a:ext uri="{FF2B5EF4-FFF2-40B4-BE49-F238E27FC236}">
                <a16:creationId xmlns:a16="http://schemas.microsoft.com/office/drawing/2014/main" id="{CADFF2DC-AB6C-9C87-CB47-B613743F2B0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3977559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rgbClr val="4E519E"/>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
        <p:nvSpPr>
          <p:cNvPr id="6" name="Footer Placeholder 5">
            <a:extLst>
              <a:ext uri="{FF2B5EF4-FFF2-40B4-BE49-F238E27FC236}">
                <a16:creationId xmlns:a16="http://schemas.microsoft.com/office/drawing/2014/main" id="{D6CC48C9-2DF5-86B2-52F6-3553FB63E4E3}"/>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600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8588375" cy="2479675"/>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7" name="Text Placeholder 6"/>
          <p:cNvSpPr>
            <a:spLocks noGrp="1"/>
          </p:cNvSpPr>
          <p:nvPr>
            <p:ph type="body" sz="quarter" idx="12"/>
          </p:nvPr>
        </p:nvSpPr>
        <p:spPr>
          <a:xfrm>
            <a:off x="304800" y="3581400"/>
            <a:ext cx="8686800" cy="25908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5B1924E0-10F3-9B23-4A6D-B7A794FC706B}"/>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883470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wipe(left)">
                                      <p:cBhvr>
                                        <p:cTn id="28" dur="500"/>
                                        <p:tgtEl>
                                          <p:spTgt spid="7">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left)">
                                      <p:cBhvr>
                                        <p:cTn id="32" dur="500"/>
                                        <p:tgtEl>
                                          <p:spTgt spid="7">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left)">
                                      <p:cBhvr>
                                        <p:cTn id="36" dur="500"/>
                                        <p:tgtEl>
                                          <p:spTgt spid="7">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left)">
                                      <p:cBhvr>
                                        <p:cTn id="40" dur="500"/>
                                        <p:tgtEl>
                                          <p:spTgt spid="7">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wipe(left)">
                                      <p:cBhvr>
                                        <p:cTn id="44"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7" grpId="0" uiExpand="1" build="p">
        <p:tmplLst>
          <p:tmpl lvl="1">
            <p:tnLst>
              <p:par>
                <p:cTn presetID="22" presetClass="entr" presetSubtype="8"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9757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888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ctive Learning1">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a:extLst>
              <a:ext uri="{FF2B5EF4-FFF2-40B4-BE49-F238E27FC236}">
                <a16:creationId xmlns:a16="http://schemas.microsoft.com/office/drawing/2014/main" id="{17B77F17-B778-0463-4050-5A3EDA879F7A}"/>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4E519E"/>
                </a:solidFill>
              </a:defRPr>
            </a:lvl1pPr>
            <a:lvl2pPr>
              <a:defRPr sz="3000">
                <a:solidFill>
                  <a:srgbClr val="4E519E"/>
                </a:solidFill>
              </a:defRPr>
            </a:lvl2pPr>
            <a:lvl3pPr>
              <a:defRPr sz="2400">
                <a:solidFill>
                  <a:srgbClr val="4E519E"/>
                </a:solidFill>
              </a:defRPr>
            </a:lvl3pPr>
            <a:lvl4pPr>
              <a:defRPr sz="2000">
                <a:solidFill>
                  <a:srgbClr val="4E519E"/>
                </a:solidFill>
              </a:defRPr>
            </a:lvl4pPr>
            <a:lvl5pPr>
              <a:defRPr sz="1800">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9B7DD5BC-6889-55B8-E161-048CBF284B93}"/>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73273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28C9FCF9-4C2A-8540-818D-BA23E2ACC0B6}"/>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687485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914400"/>
            <a:ext cx="8518947" cy="5257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828EFF68-0D13-3713-8BC9-76BE687BDC06}"/>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902763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AL or EX BT no animation">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6" name="Content Placeholder 2"/>
          <p:cNvSpPr>
            <a:spLocks noGrp="1"/>
          </p:cNvSpPr>
          <p:nvPr>
            <p:ph idx="12" hasCustomPrompt="1"/>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 NO ANIM</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8861536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5" name="Title 4">
            <a:extLst>
              <a:ext uri="{FF2B5EF4-FFF2-40B4-BE49-F238E27FC236}">
                <a16:creationId xmlns:a16="http://schemas.microsoft.com/office/drawing/2014/main" id="{702A7941-629B-80AB-3C95-443682B8FE1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2464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57150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xfrm>
            <a:off x="8763000" y="6477000"/>
            <a:ext cx="381000" cy="381000"/>
          </a:xfrm>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4294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23622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6" name="Content Placeholder 2"/>
          <p:cNvSpPr>
            <a:spLocks noGrp="1"/>
          </p:cNvSpPr>
          <p:nvPr>
            <p:ph idx="12"/>
          </p:nvPr>
        </p:nvSpPr>
        <p:spPr>
          <a:xfrm>
            <a:off x="457200" y="3124200"/>
            <a:ext cx="8458200" cy="3200400"/>
          </a:xfrm>
        </p:spPr>
        <p:txBody>
          <a:bodyPr/>
          <a:lstStyle>
            <a:lvl1pPr>
              <a:defRPr>
                <a:solidFill>
                  <a:srgbClr val="4E519E"/>
                </a:solidFill>
              </a:defRPr>
            </a:lvl1pPr>
            <a:lvl2pPr>
              <a:defRPr>
                <a:solidFill>
                  <a:srgbClr val="4E519E"/>
                </a:solidFill>
              </a:defRPr>
            </a:lvl2pPr>
            <a:lvl3pPr>
              <a:defRPr>
                <a:solidFill>
                  <a:srgbClr val="4E519E"/>
                </a:solidFill>
              </a:defRPr>
            </a:lvl3pPr>
            <a:lvl4pPr>
              <a:defRPr>
                <a:solidFill>
                  <a:srgbClr val="4E519E"/>
                </a:solidFill>
              </a:defRPr>
            </a:lvl4pPr>
            <a:lvl5pPr>
              <a:defRPr>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854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6" name="Text Placeholder 5"/>
          <p:cNvSpPr>
            <a:spLocks noGrp="1"/>
          </p:cNvSpPr>
          <p:nvPr>
            <p:ph type="body" sz="quarter" idx="12" hasCustomPrompt="1"/>
          </p:nvPr>
        </p:nvSpPr>
        <p:spPr>
          <a:xfrm>
            <a:off x="1600200" y="533400"/>
            <a:ext cx="7315200" cy="533400"/>
          </a:xfrm>
          <a:noFill/>
        </p:spPr>
        <p:txBody>
          <a:bodyPr/>
          <a:lstStyle>
            <a:lvl1pPr marL="0" indent="0">
              <a:buNone/>
              <a:defRPr sz="3200" i="0">
                <a:solidFill>
                  <a:schemeClr val="tx1"/>
                </a:solidFill>
                <a:latin typeface="+mn-lt"/>
              </a:defRPr>
            </a:lvl1pPr>
            <a:lvl2pPr marL="457200" indent="0">
              <a:buNone/>
              <a:defRPr sz="3600" i="0">
                <a:latin typeface="Georgia" panose="02040502050405020303" pitchFamily="18" charset="0"/>
              </a:defRPr>
            </a:lvl2pPr>
            <a:lvl3pPr marL="914400" indent="0">
              <a:buNone/>
              <a:defRPr/>
            </a:lvl3pPr>
            <a:lvl4pPr marL="1371600" indent="0">
              <a:buNone/>
              <a:defRPr/>
            </a:lvl4pPr>
            <a:lvl5pPr marL="1828800" indent="0">
              <a:buNone/>
              <a:defRPr/>
            </a:lvl5pPr>
          </a:lstStyle>
          <a:p>
            <a:pPr lvl="1"/>
            <a:r>
              <a:rPr lang="en-US" dirty="0"/>
              <a:t>Click to edit title (Georgia 36)</a:t>
            </a:r>
          </a:p>
        </p:txBody>
      </p:sp>
      <p:sp>
        <p:nvSpPr>
          <p:cNvPr id="9" name="Text Placeholder 5"/>
          <p:cNvSpPr>
            <a:spLocks noGrp="1"/>
          </p:cNvSpPr>
          <p:nvPr>
            <p:ph type="body" sz="quarter" idx="14"/>
          </p:nvPr>
        </p:nvSpPr>
        <p:spPr>
          <a:xfrm>
            <a:off x="228600" y="1600200"/>
            <a:ext cx="8686800" cy="4267200"/>
          </a:xfrm>
        </p:spPr>
        <p:txBody>
          <a:bodyPr/>
          <a:lstStyle>
            <a:lvl1pPr marL="0" indent="0">
              <a:buNone/>
              <a:defRPr sz="3200" i="1">
                <a:solidFill>
                  <a:srgbClr val="4E519E"/>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0"/>
            <a:endParaRPr lang="en-US" dirty="0"/>
          </a:p>
        </p:txBody>
      </p:sp>
    </p:spTree>
    <p:extLst>
      <p:ext uri="{BB962C8B-B14F-4D97-AF65-F5344CB8AC3E}">
        <p14:creationId xmlns:p14="http://schemas.microsoft.com/office/powerpoint/2010/main" val="3695449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Tree>
    <p:extLst>
      <p:ext uri="{BB962C8B-B14F-4D97-AF65-F5344CB8AC3E}">
        <p14:creationId xmlns:p14="http://schemas.microsoft.com/office/powerpoint/2010/main" val="503719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6.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theme" Target="../theme/theme3.xml"/><Relationship Id="rId4"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5.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2.xml"/><Relationship Id="rId7" Type="http://schemas.openxmlformats.org/officeDocument/2006/relationships/image" Target="../media/image15.emf"/><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heme" Target="../theme/theme6.xml"/><Relationship Id="rId5" Type="http://schemas.openxmlformats.org/officeDocument/2006/relationships/slideLayout" Target="../slideLayouts/slideLayout14.xml"/><Relationship Id="rId10" Type="http://schemas.openxmlformats.org/officeDocument/2006/relationships/image" Target="../media/image17.png"/><Relationship Id="rId4" Type="http://schemas.openxmlformats.org/officeDocument/2006/relationships/slideLayout" Target="../slideLayouts/slideLayout13.xml"/><Relationship Id="rId9" Type="http://schemas.openxmlformats.org/officeDocument/2006/relationships/image" Target="../media/image16.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theme" Target="../theme/theme7.xml"/><Relationship Id="rId1" Type="http://schemas.openxmlformats.org/officeDocument/2006/relationships/slideLayout" Target="../slideLayouts/slideLayout15.xml"/><Relationship Id="rId4" Type="http://schemas.openxmlformats.org/officeDocument/2006/relationships/image" Target="../media/image19.png"/></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theme" Target="../theme/theme9.xml"/><Relationship Id="rId1" Type="http://schemas.openxmlformats.org/officeDocument/2006/relationships/slideLayout" Target="../slideLayouts/slideLayout1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theme" Target="../theme/theme10.xml"/><Relationship Id="rId1" Type="http://schemas.openxmlformats.org/officeDocument/2006/relationships/slideLayout" Target="../slideLayouts/slideLayout19.xml"/><Relationship Id="rId5" Type="http://schemas.openxmlformats.org/officeDocument/2006/relationships/image" Target="../media/image30.png"/><Relationship Id="rId4" Type="http://schemas.openxmlformats.org/officeDocument/2006/relationships/image" Target="../media/image2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Graphical user interface, application, Word&#10;&#10;Description automatically generated">
            <a:extLst>
              <a:ext uri="{FF2B5EF4-FFF2-40B4-BE49-F238E27FC236}">
                <a16:creationId xmlns:a16="http://schemas.microsoft.com/office/drawing/2014/main" id="{E9B11B6E-9615-7F0C-3B0A-DB8437E05A7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59640" y="76200"/>
            <a:ext cx="1708160" cy="1524000"/>
          </a:xfrm>
          <a:prstGeom prst="rect">
            <a:avLst/>
          </a:prstGeom>
        </p:spPr>
      </p:pic>
      <p:pic>
        <p:nvPicPr>
          <p:cNvPr id="9" name="Picture 8" descr="Graphical user interface, application, Word&#10;&#10;Description automatically generated">
            <a:extLst>
              <a:ext uri="{FF2B5EF4-FFF2-40B4-BE49-F238E27FC236}">
                <a16:creationId xmlns:a16="http://schemas.microsoft.com/office/drawing/2014/main" id="{620D8FBC-857E-BE90-7729-A8DBA01FD4E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a:off x="5105400" y="4780472"/>
            <a:ext cx="1708160" cy="1524000"/>
          </a:xfrm>
          <a:prstGeom prst="rect">
            <a:avLst/>
          </a:prstGeom>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sp>
        <p:nvSpPr>
          <p:cNvPr id="3" name="Footer Placeholder 2"/>
          <p:cNvSpPr>
            <a:spLocks noGrp="1"/>
          </p:cNvSpPr>
          <p:nvPr>
            <p:ph type="ftr" sz="quarter" idx="3"/>
          </p:nvPr>
        </p:nvSpPr>
        <p:spPr>
          <a:xfrm>
            <a:off x="533400" y="6400800"/>
            <a:ext cx="81534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Text Placeholder 5"/>
          <p:cNvSpPr>
            <a:spLocks noGrp="1"/>
          </p:cNvSpPr>
          <p:nvPr>
            <p:ph type="body" idx="1"/>
          </p:nvPr>
        </p:nvSpPr>
        <p:spPr>
          <a:xfrm>
            <a:off x="5410200" y="3352801"/>
            <a:ext cx="3276600" cy="2438400"/>
          </a:xfrm>
          <a:prstGeom prst="rect">
            <a:avLst/>
          </a:prstGeom>
        </p:spPr>
        <p:txBody>
          <a:bodyPr vert="horz" lIns="91440" tIns="45720" rIns="91440" bIns="45720" rtlCol="0">
            <a:normAutofit/>
          </a:bodyPr>
          <a:lstStyle/>
          <a:p>
            <a:pPr lvl="0"/>
            <a:r>
              <a:rPr lang="en-US" dirty="0"/>
              <a:t>Chapter title</a:t>
            </a:r>
          </a:p>
        </p:txBody>
      </p:sp>
      <p:sp>
        <p:nvSpPr>
          <p:cNvPr id="13" name="Content Placeholder 10">
            <a:extLst>
              <a:ext uri="{FF2B5EF4-FFF2-40B4-BE49-F238E27FC236}">
                <a16:creationId xmlns:a16="http://schemas.microsoft.com/office/drawing/2014/main" id="{486EB530-E7B8-F66D-2025-07563BFAEE72}"/>
              </a:ext>
            </a:extLst>
          </p:cNvPr>
          <p:cNvSpPr txBox="1">
            <a:spLocks/>
          </p:cNvSpPr>
          <p:nvPr userDrawn="1"/>
        </p:nvSpPr>
        <p:spPr>
          <a:xfrm>
            <a:off x="0" y="6009870"/>
            <a:ext cx="4089260" cy="314730"/>
          </a:xfrm>
          <a:prstGeom prst="rect">
            <a:avLst/>
          </a:prstGeom>
        </p:spPr>
        <p:txBody>
          <a:bodyPr>
            <a:noAutofit/>
          </a:bodyPr>
          <a:lst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r"/>
            <a:r>
              <a:rPr lang="en-US" sz="1600" kern="0" dirty="0">
                <a:solidFill>
                  <a:schemeClr val="bg1"/>
                </a:solidFill>
              </a:rPr>
              <a:t>TENTH EDITION</a:t>
            </a:r>
          </a:p>
        </p:txBody>
      </p:sp>
      <p:pic>
        <p:nvPicPr>
          <p:cNvPr id="5" name="Picture 4">
            <a:extLst>
              <a:ext uri="{FF2B5EF4-FFF2-40B4-BE49-F238E27FC236}">
                <a16:creationId xmlns:a16="http://schemas.microsoft.com/office/drawing/2014/main" id="{BE55F61A-BD22-31EE-55B9-798DE9BBA8EE}"/>
              </a:ext>
            </a:extLst>
          </p:cNvPr>
          <p:cNvPicPr>
            <a:picLocks noChangeAspect="1"/>
          </p:cNvPicPr>
          <p:nvPr userDrawn="1"/>
        </p:nvPicPr>
        <p:blipFill>
          <a:blip r:embed="rId4"/>
          <a:stretch>
            <a:fillRect/>
          </a:stretch>
        </p:blipFill>
        <p:spPr>
          <a:xfrm>
            <a:off x="-1" y="1439"/>
            <a:ext cx="4953001" cy="6362582"/>
          </a:xfrm>
          <a:prstGeom prst="rect">
            <a:avLst/>
          </a:prstGeom>
        </p:spPr>
      </p:pic>
    </p:spTree>
    <p:extLst>
      <p:ext uri="{BB962C8B-B14F-4D97-AF65-F5344CB8AC3E}">
        <p14:creationId xmlns:p14="http://schemas.microsoft.com/office/powerpoint/2010/main" val="1734634759"/>
      </p:ext>
    </p:extLst>
  </p:cSld>
  <p:clrMap bg1="lt1" tx1="dk1" bg2="lt2" tx2="dk2" accent1="accent1" accent2="accent2" accent3="accent3" accent4="accent4" accent5="accent5" accent6="accent6" hlink="hlink" folHlink="folHlink"/>
  <p:sldLayoutIdLst>
    <p:sldLayoutId id="2147483702"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180AAF-20EA-4DB4-8DC2-C520C0BC20A4}"/>
              </a:ext>
            </a:extLst>
          </p:cNvPr>
          <p:cNvPicPr>
            <a:picLocks noChangeAspect="1"/>
          </p:cNvPicPr>
          <p:nvPr userDrawn="1"/>
        </p:nvPicPr>
        <p:blipFill>
          <a:blip r:embed="rId4"/>
          <a:stretch>
            <a:fillRect/>
          </a:stretch>
        </p:blipFill>
        <p:spPr>
          <a:xfrm>
            <a:off x="179694" y="990600"/>
            <a:ext cx="8964306" cy="5486400"/>
          </a:xfrm>
          <a:prstGeom prst="rect">
            <a:avLst/>
          </a:prstGeom>
        </p:spPr>
      </p:pic>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IN THIS CH OR NUTSHELL</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This is the intro slide and the summary slide (chapter in a nutshell) design</a:t>
            </a:r>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12"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3" name="Picture 2">
            <a:extLst>
              <a:ext uri="{FF2B5EF4-FFF2-40B4-BE49-F238E27FC236}">
                <a16:creationId xmlns:a16="http://schemas.microsoft.com/office/drawing/2014/main" id="{2938E7E8-A8AC-338C-C902-7554EB445130}"/>
              </a:ext>
            </a:extLst>
          </p:cNvPr>
          <p:cNvPicPr>
            <a:picLocks noChangeAspect="1"/>
          </p:cNvPicPr>
          <p:nvPr userDrawn="1"/>
        </p:nvPicPr>
        <p:blipFill>
          <a:blip r:embed="rId5"/>
          <a:stretch>
            <a:fillRect/>
          </a:stretch>
        </p:blipFill>
        <p:spPr>
          <a:xfrm rot="5400000">
            <a:off x="-3107143" y="3107143"/>
            <a:ext cx="6477000" cy="262713"/>
          </a:xfrm>
          <a:prstGeom prst="rect">
            <a:avLst/>
          </a:prstGeom>
        </p:spPr>
      </p:pic>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91" r:id="rId1"/>
    <p:sldLayoutId id="2147483695"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800" baseline="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baseline="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74B579F0-E89E-33CA-1756-CFC6F437DFEC}"/>
              </a:ext>
            </a:extLst>
          </p:cNvPr>
          <p:cNvGrpSpPr/>
          <p:nvPr userDrawn="1"/>
        </p:nvGrpSpPr>
        <p:grpSpPr>
          <a:xfrm>
            <a:off x="61522" y="129262"/>
            <a:ext cx="9020956" cy="785138"/>
            <a:chOff x="61522" y="53062"/>
            <a:chExt cx="9020956" cy="785138"/>
          </a:xfrm>
        </p:grpSpPr>
        <p:pic>
          <p:nvPicPr>
            <p:cNvPr id="28" name="Picture 27">
              <a:extLst>
                <a:ext uri="{FF2B5EF4-FFF2-40B4-BE49-F238E27FC236}">
                  <a16:creationId xmlns:a16="http://schemas.microsoft.com/office/drawing/2014/main" id="{0EA1A926-702E-834C-1A3D-07FD4552C8F6}"/>
                </a:ext>
              </a:extLst>
            </p:cNvPr>
            <p:cNvPicPr>
              <a:picLocks noChangeAspect="1"/>
            </p:cNvPicPr>
            <p:nvPr userDrawn="1"/>
          </p:nvPicPr>
          <p:blipFill>
            <a:blip r:embed="rId6"/>
            <a:stretch>
              <a:fillRect/>
            </a:stretch>
          </p:blipFill>
          <p:spPr>
            <a:xfrm>
              <a:off x="8153400" y="53063"/>
              <a:ext cx="929078" cy="785137"/>
            </a:xfrm>
            <a:prstGeom prst="rect">
              <a:avLst/>
            </a:prstGeom>
          </p:spPr>
        </p:pic>
        <p:pic>
          <p:nvPicPr>
            <p:cNvPr id="29" name="Picture 28">
              <a:extLst>
                <a:ext uri="{FF2B5EF4-FFF2-40B4-BE49-F238E27FC236}">
                  <a16:creationId xmlns:a16="http://schemas.microsoft.com/office/drawing/2014/main" id="{0CCCE13B-1BF1-FF9C-0315-A8F59C7FB0E7}"/>
                </a:ext>
              </a:extLst>
            </p:cNvPr>
            <p:cNvPicPr>
              <a:picLocks noChangeAspect="1"/>
            </p:cNvPicPr>
            <p:nvPr userDrawn="1"/>
          </p:nvPicPr>
          <p:blipFill>
            <a:blip r:embed="rId6"/>
            <a:stretch>
              <a:fillRect/>
            </a:stretch>
          </p:blipFill>
          <p:spPr>
            <a:xfrm rot="10800000">
              <a:off x="61522" y="53062"/>
              <a:ext cx="929078" cy="785137"/>
            </a:xfrm>
            <a:prstGeom prst="rect">
              <a:avLst/>
            </a:prstGeom>
          </p:spPr>
        </p:pic>
      </p:grpSp>
      <p:sp>
        <p:nvSpPr>
          <p:cNvPr id="2053" name="Rectangle 3"/>
          <p:cNvSpPr>
            <a:spLocks noGrp="1" noChangeAspect="1" noChangeArrowheads="1"/>
          </p:cNvSpPr>
          <p:nvPr>
            <p:ph type="title"/>
          </p:nvPr>
        </p:nvSpPr>
        <p:spPr bwMode="auto">
          <a:xfrm>
            <a:off x="1" y="77788"/>
            <a:ext cx="91440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8"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17" name="Picture 16">
            <a:extLst>
              <a:ext uri="{FF2B5EF4-FFF2-40B4-BE49-F238E27FC236}">
                <a16:creationId xmlns:a16="http://schemas.microsoft.com/office/drawing/2014/main" id="{4248DB47-1941-E4A0-DF66-72A55A5C1F36}"/>
              </a:ext>
            </a:extLst>
          </p:cNvPr>
          <p:cNvPicPr>
            <a:picLocks noChangeAspect="1"/>
          </p:cNvPicPr>
          <p:nvPr userDrawn="1"/>
        </p:nvPicPr>
        <p:blipFill>
          <a:blip r:embed="rId7"/>
          <a:stretch>
            <a:fillRect/>
          </a:stretch>
        </p:blipFill>
        <p:spPr>
          <a:xfrm rot="10800000">
            <a:off x="277809" y="6400800"/>
            <a:ext cx="8588373" cy="52388"/>
          </a:xfrm>
          <a:prstGeom prst="rect">
            <a:avLst/>
          </a:prstGeom>
        </p:spPr>
      </p:pic>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99" r:id="rId2"/>
    <p:sldLayoutId id="2147483674" r:id="rId3"/>
    <p:sldLayoutId id="2147483682" r:id="rId4"/>
  </p:sldLayoutIdLst>
  <p:transition/>
  <p:hf hdr="0" dt="0"/>
  <p:txStyles>
    <p:titleStyle>
      <a:lvl1pPr algn="ctr" rtl="0" eaLnBrk="0" fontAlgn="base" hangingPunct="0">
        <a:spcBef>
          <a:spcPct val="0"/>
        </a:spcBef>
        <a:spcAft>
          <a:spcPct val="0"/>
        </a:spcAft>
        <a:defRPr sz="400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0" y="6341886"/>
            <a:ext cx="8763000" cy="516114"/>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1" name="Group 10"/>
          <p:cNvGrpSpPr/>
          <p:nvPr/>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grpSp>
        <p:nvGrpSpPr>
          <p:cNvPr id="4" name="Group 3"/>
          <p:cNvGrpSpPr/>
          <p:nvPr/>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p:ph type="ftr" sz="quarter" idx="3"/>
          </p:nvPr>
        </p:nvSpPr>
        <p:spPr>
          <a:xfrm>
            <a:off x="0" y="6352697"/>
            <a:ext cx="8763000" cy="505303"/>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7F4DFE-5B5A-0F39-64B6-B61C4321E799}"/>
              </a:ext>
            </a:extLst>
          </p:cNvPr>
          <p:cNvPicPr>
            <a:picLocks noChangeAspect="1"/>
          </p:cNvPicPr>
          <p:nvPr userDrawn="1"/>
        </p:nvPicPr>
        <p:blipFill>
          <a:blip r:embed="rId7"/>
          <a:stretch>
            <a:fillRect/>
          </a:stretch>
        </p:blipFill>
        <p:spPr>
          <a:xfrm>
            <a:off x="454616" y="6462712"/>
            <a:ext cx="8384583" cy="319088"/>
          </a:xfrm>
          <a:prstGeom prst="rect">
            <a:avLst/>
          </a:prstGeom>
        </p:spPr>
      </p:pic>
      <p:pic>
        <p:nvPicPr>
          <p:cNvPr id="4" name="Picture 3">
            <a:extLst>
              <a:ext uri="{FF2B5EF4-FFF2-40B4-BE49-F238E27FC236}">
                <a16:creationId xmlns:a16="http://schemas.microsoft.com/office/drawing/2014/main" id="{849DCBD9-D40B-6CAD-1A54-E203D88E57AC}"/>
              </a:ext>
            </a:extLst>
          </p:cNvPr>
          <p:cNvPicPr>
            <a:picLocks noChangeAspect="1"/>
          </p:cNvPicPr>
          <p:nvPr userDrawn="1"/>
        </p:nvPicPr>
        <p:blipFill>
          <a:blip r:embed="rId7"/>
          <a:stretch>
            <a:fillRect/>
          </a:stretch>
        </p:blipFill>
        <p:spPr>
          <a:xfrm>
            <a:off x="0" y="1327"/>
            <a:ext cx="9139238" cy="821138"/>
          </a:xfrm>
          <a:prstGeom prst="rect">
            <a:avLst/>
          </a:prstGeom>
        </p:spPr>
      </p:pic>
      <p:pic>
        <p:nvPicPr>
          <p:cNvPr id="17" name="Picture 16">
            <a:extLst>
              <a:ext uri="{FF2B5EF4-FFF2-40B4-BE49-F238E27FC236}">
                <a16:creationId xmlns:a16="http://schemas.microsoft.com/office/drawing/2014/main" id="{4AD3E7FE-6E54-466F-EC88-F05CE3993E20}"/>
              </a:ext>
            </a:extLst>
          </p:cNvPr>
          <p:cNvPicPr>
            <a:picLocks noChangeAspect="1"/>
          </p:cNvPicPr>
          <p:nvPr userDrawn="1"/>
        </p:nvPicPr>
        <p:blipFill>
          <a:blip r:embed="rId8"/>
          <a:stretch>
            <a:fillRect/>
          </a:stretch>
        </p:blipFill>
        <p:spPr>
          <a:xfrm rot="5400000">
            <a:off x="8734673" y="6444442"/>
            <a:ext cx="365685" cy="309030"/>
          </a:xfrm>
          <a:prstGeom prst="rect">
            <a:avLst/>
          </a:prstGeom>
        </p:spPr>
      </p:pic>
      <p:sp>
        <p:nvSpPr>
          <p:cNvPr id="2053" name="Rectangle 3"/>
          <p:cNvSpPr>
            <a:spLocks noGrp="1" noChangeAspect="1" noChangeArrowheads="1"/>
          </p:cNvSpPr>
          <p:nvPr>
            <p:ph type="title"/>
          </p:nvPr>
        </p:nvSpPr>
        <p:spPr bwMode="auto">
          <a:xfrm>
            <a:off x="76201" y="153987"/>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Example or Active Learning</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454616" y="6324601"/>
            <a:ext cx="8308384" cy="533400"/>
          </a:xfrm>
          <a:prstGeom prst="rect">
            <a:avLst/>
          </a:prstGeom>
          <a:noFill/>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ext Placeholder 1"/>
          <p:cNvSpPr>
            <a:spLocks noGrp="1"/>
          </p:cNvSpPr>
          <p:nvPr>
            <p:ph type="body" idx="1"/>
          </p:nvPr>
        </p:nvSpPr>
        <p:spPr>
          <a:xfrm>
            <a:off x="457200" y="838200"/>
            <a:ext cx="8229600" cy="5287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8" name="Group 17">
            <a:extLst>
              <a:ext uri="{FF2B5EF4-FFF2-40B4-BE49-F238E27FC236}">
                <a16:creationId xmlns:a16="http://schemas.microsoft.com/office/drawing/2014/main" id="{C58E302B-FABF-FA0C-348A-455077386DAF}"/>
              </a:ext>
            </a:extLst>
          </p:cNvPr>
          <p:cNvGrpSpPr/>
          <p:nvPr userDrawn="1"/>
        </p:nvGrpSpPr>
        <p:grpSpPr>
          <a:xfrm rot="10800000">
            <a:off x="76200" y="709251"/>
            <a:ext cx="8915400" cy="205149"/>
            <a:chOff x="173212" y="914401"/>
            <a:chExt cx="8751395" cy="205149"/>
          </a:xfrm>
        </p:grpSpPr>
        <p:grpSp>
          <p:nvGrpSpPr>
            <p:cNvPr id="19" name="Group 18">
              <a:extLst>
                <a:ext uri="{FF2B5EF4-FFF2-40B4-BE49-F238E27FC236}">
                  <a16:creationId xmlns:a16="http://schemas.microsoft.com/office/drawing/2014/main" id="{7B83ED49-5D52-1702-CFDA-08FF8A8D1285}"/>
                </a:ext>
              </a:extLst>
            </p:cNvPr>
            <p:cNvGrpSpPr/>
            <p:nvPr userDrawn="1"/>
          </p:nvGrpSpPr>
          <p:grpSpPr>
            <a:xfrm>
              <a:off x="182419" y="972231"/>
              <a:ext cx="8742188" cy="147319"/>
              <a:chOff x="182419" y="972231"/>
              <a:chExt cx="8742188" cy="147319"/>
            </a:xfrm>
          </p:grpSpPr>
          <p:pic>
            <p:nvPicPr>
              <p:cNvPr id="23" name="Picture 22">
                <a:extLst>
                  <a:ext uri="{FF2B5EF4-FFF2-40B4-BE49-F238E27FC236}">
                    <a16:creationId xmlns:a16="http://schemas.microsoft.com/office/drawing/2014/main" id="{EB7CBBFE-1FD8-6695-0855-7E26EDBDF26D}"/>
                  </a:ext>
                </a:extLst>
              </p:cNvPr>
              <p:cNvPicPr>
                <a:picLocks noChangeAspect="1"/>
              </p:cNvPicPr>
              <p:nvPr userDrawn="1"/>
            </p:nvPicPr>
            <p:blipFill>
              <a:blip r:embed="rId9"/>
              <a:stretch>
                <a:fillRect/>
              </a:stretch>
            </p:blipFill>
            <p:spPr>
              <a:xfrm>
                <a:off x="182419" y="999349"/>
                <a:ext cx="8709024" cy="78106"/>
              </a:xfrm>
              <a:prstGeom prst="rect">
                <a:avLst/>
              </a:prstGeom>
            </p:spPr>
          </p:pic>
          <p:pic>
            <p:nvPicPr>
              <p:cNvPr id="24" name="Picture 23">
                <a:extLst>
                  <a:ext uri="{FF2B5EF4-FFF2-40B4-BE49-F238E27FC236}">
                    <a16:creationId xmlns:a16="http://schemas.microsoft.com/office/drawing/2014/main" id="{7BF9B322-2E99-9E6E-6BA5-3ABDEE517647}"/>
                  </a:ext>
                </a:extLst>
              </p:cNvPr>
              <p:cNvPicPr>
                <a:picLocks noChangeAspect="1"/>
              </p:cNvPicPr>
              <p:nvPr userDrawn="1"/>
            </p:nvPicPr>
            <p:blipFill>
              <a:blip r:embed="rId10"/>
              <a:stretch>
                <a:fillRect/>
              </a:stretch>
            </p:blipFill>
            <p:spPr>
              <a:xfrm>
                <a:off x="8878888" y="972231"/>
                <a:ext cx="45719" cy="147319"/>
              </a:xfrm>
              <a:prstGeom prst="rect">
                <a:avLst/>
              </a:prstGeom>
            </p:spPr>
          </p:pic>
        </p:grpSp>
        <p:grpSp>
          <p:nvGrpSpPr>
            <p:cNvPr id="20" name="Group 19">
              <a:extLst>
                <a:ext uri="{FF2B5EF4-FFF2-40B4-BE49-F238E27FC236}">
                  <a16:creationId xmlns:a16="http://schemas.microsoft.com/office/drawing/2014/main" id="{FC4DFDE6-0794-A6B7-7778-C4D905B9B37F}"/>
                </a:ext>
              </a:extLst>
            </p:cNvPr>
            <p:cNvGrpSpPr/>
            <p:nvPr userDrawn="1"/>
          </p:nvGrpSpPr>
          <p:grpSpPr>
            <a:xfrm rot="10800000">
              <a:off x="173212" y="914401"/>
              <a:ext cx="8742188" cy="147319"/>
              <a:chOff x="182419" y="972231"/>
              <a:chExt cx="8742188" cy="147319"/>
            </a:xfrm>
          </p:grpSpPr>
          <p:pic>
            <p:nvPicPr>
              <p:cNvPr id="21" name="Picture 20">
                <a:extLst>
                  <a:ext uri="{FF2B5EF4-FFF2-40B4-BE49-F238E27FC236}">
                    <a16:creationId xmlns:a16="http://schemas.microsoft.com/office/drawing/2014/main" id="{A0614DD3-6B35-A130-B108-3B73E013D137}"/>
                  </a:ext>
                </a:extLst>
              </p:cNvPr>
              <p:cNvPicPr>
                <a:picLocks noChangeAspect="1"/>
              </p:cNvPicPr>
              <p:nvPr userDrawn="1"/>
            </p:nvPicPr>
            <p:blipFill>
              <a:blip r:embed="rId9"/>
              <a:stretch>
                <a:fillRect/>
              </a:stretch>
            </p:blipFill>
            <p:spPr>
              <a:xfrm>
                <a:off x="182419" y="999349"/>
                <a:ext cx="8709024" cy="78106"/>
              </a:xfrm>
              <a:prstGeom prst="rect">
                <a:avLst/>
              </a:prstGeom>
            </p:spPr>
          </p:pic>
          <p:pic>
            <p:nvPicPr>
              <p:cNvPr id="22" name="Picture 21">
                <a:extLst>
                  <a:ext uri="{FF2B5EF4-FFF2-40B4-BE49-F238E27FC236}">
                    <a16:creationId xmlns:a16="http://schemas.microsoft.com/office/drawing/2014/main" id="{DBDB4FDD-2418-CF5A-0520-EF73D15AA112}"/>
                  </a:ext>
                </a:extLst>
              </p:cNvPr>
              <p:cNvPicPr>
                <a:picLocks noChangeAspect="1"/>
              </p:cNvPicPr>
              <p:nvPr userDrawn="1"/>
            </p:nvPicPr>
            <p:blipFill>
              <a:blip r:embed="rId10"/>
              <a:stretch>
                <a:fillRect/>
              </a:stretch>
            </p:blipFill>
            <p:spPr>
              <a:xfrm>
                <a:off x="8878888" y="972231"/>
                <a:ext cx="45719" cy="147319"/>
              </a:xfrm>
              <a:prstGeom prst="rect">
                <a:avLst/>
              </a:prstGeom>
            </p:spPr>
          </p:pic>
        </p:grpSp>
      </p:gr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 id="2147483686" r:id="rId2"/>
    <p:sldLayoutId id="2147483688" r:id="rId3"/>
    <p:sldLayoutId id="2147483690" r:id="rId4"/>
    <p:sldLayoutId id="2147483700" r:id="rId5"/>
  </p:sldLayoutIdLst>
  <p:transition/>
  <p:hf hdr="0" dt="0"/>
  <p:txStyles>
    <p:titleStyle>
      <a:lvl1pPr algn="l"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4E519E"/>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966" y="6400800"/>
            <a:ext cx="49203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pic>
        <p:nvPicPr>
          <p:cNvPr id="512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9" name="Footer Placeholder 4"/>
          <p:cNvSpPr txBox="1">
            <a:spLocks/>
          </p:cNvSpPr>
          <p:nvPr userDrawn="1"/>
        </p:nvSpPr>
        <p:spPr>
          <a:xfrm>
            <a:off x="0" y="6324601"/>
            <a:ext cx="8763000" cy="533400"/>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9440A22-8BFD-4B5B-3FE6-E3BF3CB45070}"/>
              </a:ext>
            </a:extLst>
          </p:cNvPr>
          <p:cNvPicPr>
            <a:picLocks noChangeAspect="1"/>
          </p:cNvPicPr>
          <p:nvPr userDrawn="1"/>
        </p:nvPicPr>
        <p:blipFill>
          <a:blip r:embed="rId4"/>
          <a:stretch>
            <a:fillRect/>
          </a:stretch>
        </p:blipFill>
        <p:spPr>
          <a:xfrm>
            <a:off x="8735581" y="6455228"/>
            <a:ext cx="408419" cy="402772"/>
          </a:xfrm>
          <a:prstGeom prst="rect">
            <a:avLst/>
          </a:prstGeom>
        </p:spPr>
      </p:pic>
      <p:grpSp>
        <p:nvGrpSpPr>
          <p:cNvPr id="14" name="Group 13">
            <a:extLst>
              <a:ext uri="{FF2B5EF4-FFF2-40B4-BE49-F238E27FC236}">
                <a16:creationId xmlns:a16="http://schemas.microsoft.com/office/drawing/2014/main" id="{E9160293-9784-8198-02AC-A2CE5BF52997}"/>
              </a:ext>
            </a:extLst>
          </p:cNvPr>
          <p:cNvGrpSpPr/>
          <p:nvPr userDrawn="1"/>
        </p:nvGrpSpPr>
        <p:grpSpPr>
          <a:xfrm>
            <a:off x="0" y="0"/>
            <a:ext cx="9143998" cy="783771"/>
            <a:chOff x="0" y="0"/>
            <a:chExt cx="9143998" cy="783771"/>
          </a:xfrm>
        </p:grpSpPr>
        <p:pic>
          <p:nvPicPr>
            <p:cNvPr id="13" name="Picture 12">
              <a:extLst>
                <a:ext uri="{FF2B5EF4-FFF2-40B4-BE49-F238E27FC236}">
                  <a16:creationId xmlns:a16="http://schemas.microsoft.com/office/drawing/2014/main" id="{CA342020-04AE-B9F5-ADE2-3A64EEF3308A}"/>
                </a:ext>
              </a:extLst>
            </p:cNvPr>
            <p:cNvPicPr>
              <a:picLocks noChangeAspect="1"/>
            </p:cNvPicPr>
            <p:nvPr userDrawn="1"/>
          </p:nvPicPr>
          <p:blipFill>
            <a:blip r:embed="rId5"/>
            <a:stretch>
              <a:fillRect/>
            </a:stretch>
          </p:blipFill>
          <p:spPr>
            <a:xfrm>
              <a:off x="990600" y="1"/>
              <a:ext cx="8153398" cy="783770"/>
            </a:xfrm>
            <a:prstGeom prst="rect">
              <a:avLst/>
            </a:prstGeom>
          </p:spPr>
        </p:pic>
        <p:pic>
          <p:nvPicPr>
            <p:cNvPr id="8" name="Picture 7">
              <a:extLst>
                <a:ext uri="{FF2B5EF4-FFF2-40B4-BE49-F238E27FC236}">
                  <a16:creationId xmlns:a16="http://schemas.microsoft.com/office/drawing/2014/main" id="{00E185A2-CC12-C835-B35E-A13F8B5EBDB4}"/>
                </a:ext>
              </a:extLst>
            </p:cNvPr>
            <p:cNvPicPr>
              <a:picLocks noChangeAspect="1"/>
            </p:cNvPicPr>
            <p:nvPr userDrawn="1"/>
          </p:nvPicPr>
          <p:blipFill>
            <a:blip r:embed="rId6"/>
            <a:stretch>
              <a:fillRect/>
            </a:stretch>
          </p:blipFill>
          <p:spPr>
            <a:xfrm>
              <a:off x="0" y="0"/>
              <a:ext cx="990599" cy="783771"/>
            </a:xfrm>
            <a:prstGeom prst="rect">
              <a:avLst/>
            </a:prstGeom>
          </p:spPr>
        </p:pic>
      </p:grpSp>
      <p:sp>
        <p:nvSpPr>
          <p:cNvPr id="5122" name="Rectangle 2"/>
          <p:cNvSpPr>
            <a:spLocks noGrp="1" noChangeAspect="1" noChangeArrowheads="1"/>
          </p:cNvSpPr>
          <p:nvPr>
            <p:ph type="title"/>
          </p:nvPr>
        </p:nvSpPr>
        <p:spPr bwMode="auto">
          <a:xfrm>
            <a:off x="152399" y="0"/>
            <a:ext cx="8991599"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THINK-PAIR-SHARE</a:t>
            </a:r>
          </a:p>
        </p:txBody>
      </p:sp>
      <p:sp>
        <p:nvSpPr>
          <p:cNvPr id="6150" name="Rectangle 3"/>
          <p:cNvSpPr>
            <a:spLocks noGrp="1" noChangeAspect="1" noChangeArrowheads="1"/>
          </p:cNvSpPr>
          <p:nvPr>
            <p:ph type="body" idx="1"/>
          </p:nvPr>
        </p:nvSpPr>
        <p:spPr bwMode="auto">
          <a:xfrm>
            <a:off x="457200" y="783770"/>
            <a:ext cx="8458200" cy="569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735580" y="6498769"/>
            <a:ext cx="408420" cy="359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686800" cy="381002"/>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28541375"/>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3F128-001E-7656-E092-6EE95225596B}"/>
              </a:ext>
            </a:extLst>
          </p:cNvPr>
          <p:cNvPicPr>
            <a:picLocks noChangeAspect="1"/>
          </p:cNvPicPr>
          <p:nvPr userDrawn="1"/>
        </p:nvPicPr>
        <p:blipFill>
          <a:blip r:embed="rId3"/>
          <a:stretch>
            <a:fillRect/>
          </a:stretch>
        </p:blipFill>
        <p:spPr>
          <a:xfrm>
            <a:off x="8674028" y="6400800"/>
            <a:ext cx="469971" cy="457200"/>
          </a:xfrm>
          <a:prstGeom prst="rect">
            <a:avLst/>
          </a:prstGeom>
        </p:spPr>
      </p:pic>
      <p:sp>
        <p:nvSpPr>
          <p:cNvPr id="6150" name="Rectangle 3"/>
          <p:cNvSpPr>
            <a:spLocks noGrp="1" noChangeAspect="1" noChangeArrowheads="1"/>
          </p:cNvSpPr>
          <p:nvPr>
            <p:ph type="body" idx="1"/>
          </p:nvPr>
        </p:nvSpPr>
        <p:spPr bwMode="auto">
          <a:xfrm>
            <a:off x="304800" y="1602867"/>
            <a:ext cx="8610600" cy="4721733"/>
          </a:xfrm>
          <a:prstGeom prst="rect">
            <a:avLst/>
          </a:prstGeom>
          <a:solidFill>
            <a:srgbClr val="EAEAF4"/>
          </a:solidFill>
          <a:ln>
            <a:noFill/>
          </a:ln>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763000" cy="381001"/>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grpSp>
        <p:nvGrpSpPr>
          <p:cNvPr id="14" name="Group 13">
            <a:extLst>
              <a:ext uri="{FF2B5EF4-FFF2-40B4-BE49-F238E27FC236}">
                <a16:creationId xmlns:a16="http://schemas.microsoft.com/office/drawing/2014/main" id="{C835EDD8-042A-A0F3-75F7-909EAC7F38E6}"/>
              </a:ext>
            </a:extLst>
          </p:cNvPr>
          <p:cNvGrpSpPr/>
          <p:nvPr userDrawn="1"/>
        </p:nvGrpSpPr>
        <p:grpSpPr>
          <a:xfrm>
            <a:off x="1" y="0"/>
            <a:ext cx="9143999" cy="1541739"/>
            <a:chOff x="1" y="0"/>
            <a:chExt cx="9143999" cy="1541739"/>
          </a:xfrm>
        </p:grpSpPr>
        <p:grpSp>
          <p:nvGrpSpPr>
            <p:cNvPr id="10" name="Group 9">
              <a:extLst>
                <a:ext uri="{FF2B5EF4-FFF2-40B4-BE49-F238E27FC236}">
                  <a16:creationId xmlns:a16="http://schemas.microsoft.com/office/drawing/2014/main" id="{57574C9D-ED38-72ED-879E-F046CD7F6BD9}"/>
                </a:ext>
              </a:extLst>
            </p:cNvPr>
            <p:cNvGrpSpPr/>
            <p:nvPr userDrawn="1"/>
          </p:nvGrpSpPr>
          <p:grpSpPr>
            <a:xfrm>
              <a:off x="1" y="0"/>
              <a:ext cx="9143999" cy="1541739"/>
              <a:chOff x="1" y="0"/>
              <a:chExt cx="9143999" cy="1541739"/>
            </a:xfrm>
          </p:grpSpPr>
          <p:pic>
            <p:nvPicPr>
              <p:cNvPr id="5" name="Picture 4">
                <a:extLst>
                  <a:ext uri="{FF2B5EF4-FFF2-40B4-BE49-F238E27FC236}">
                    <a16:creationId xmlns:a16="http://schemas.microsoft.com/office/drawing/2014/main" id="{9F3AA3B5-A27E-5099-151F-DFF30B7FAE97}"/>
                  </a:ext>
                </a:extLst>
              </p:cNvPr>
              <p:cNvPicPr>
                <a:picLocks noChangeAspect="1"/>
              </p:cNvPicPr>
              <p:nvPr userDrawn="1"/>
            </p:nvPicPr>
            <p:blipFill>
              <a:blip r:embed="rId4"/>
              <a:stretch>
                <a:fillRect/>
              </a:stretch>
            </p:blipFill>
            <p:spPr>
              <a:xfrm>
                <a:off x="1" y="1"/>
                <a:ext cx="2514600" cy="1541738"/>
              </a:xfrm>
              <a:prstGeom prst="rect">
                <a:avLst/>
              </a:prstGeom>
            </p:spPr>
          </p:pic>
          <p:pic>
            <p:nvPicPr>
              <p:cNvPr id="7" name="Picture 6">
                <a:extLst>
                  <a:ext uri="{FF2B5EF4-FFF2-40B4-BE49-F238E27FC236}">
                    <a16:creationId xmlns:a16="http://schemas.microsoft.com/office/drawing/2014/main" id="{4F7CD589-4119-0ED3-C53A-837840172358}"/>
                  </a:ext>
                </a:extLst>
              </p:cNvPr>
              <p:cNvPicPr>
                <a:picLocks noChangeAspect="1"/>
              </p:cNvPicPr>
              <p:nvPr userDrawn="1"/>
            </p:nvPicPr>
            <p:blipFill>
              <a:blip r:embed="rId5"/>
              <a:stretch>
                <a:fillRect/>
              </a:stretch>
            </p:blipFill>
            <p:spPr>
              <a:xfrm>
                <a:off x="1600200" y="228598"/>
                <a:ext cx="7543800" cy="1022134"/>
              </a:xfrm>
              <a:prstGeom prst="rect">
                <a:avLst/>
              </a:prstGeom>
            </p:spPr>
          </p:pic>
          <p:pic>
            <p:nvPicPr>
              <p:cNvPr id="9" name="Picture 8">
                <a:extLst>
                  <a:ext uri="{FF2B5EF4-FFF2-40B4-BE49-F238E27FC236}">
                    <a16:creationId xmlns:a16="http://schemas.microsoft.com/office/drawing/2014/main" id="{83666958-61BB-7105-6346-670E1D304595}"/>
                  </a:ext>
                </a:extLst>
              </p:cNvPr>
              <p:cNvPicPr>
                <a:picLocks noChangeAspect="1"/>
              </p:cNvPicPr>
              <p:nvPr userDrawn="1"/>
            </p:nvPicPr>
            <p:blipFill>
              <a:blip r:embed="rId6"/>
              <a:stretch>
                <a:fillRect/>
              </a:stretch>
            </p:blipFill>
            <p:spPr>
              <a:xfrm>
                <a:off x="1447799" y="0"/>
                <a:ext cx="7696199" cy="272353"/>
              </a:xfrm>
              <a:prstGeom prst="rect">
                <a:avLst/>
              </a:prstGeom>
            </p:spPr>
          </p:pic>
        </p:grpSp>
        <p:pic>
          <p:nvPicPr>
            <p:cNvPr id="13" name="Picture 12">
              <a:extLst>
                <a:ext uri="{FF2B5EF4-FFF2-40B4-BE49-F238E27FC236}">
                  <a16:creationId xmlns:a16="http://schemas.microsoft.com/office/drawing/2014/main" id="{7EA6DF6B-C553-3A68-E18A-F19AD7ADAE04}"/>
                </a:ext>
              </a:extLst>
            </p:cNvPr>
            <p:cNvPicPr>
              <a:picLocks noChangeAspect="1"/>
            </p:cNvPicPr>
            <p:nvPr userDrawn="1"/>
          </p:nvPicPr>
          <p:blipFill>
            <a:blip r:embed="rId7"/>
            <a:stretch>
              <a:fillRect/>
            </a:stretch>
          </p:blipFill>
          <p:spPr>
            <a:xfrm>
              <a:off x="1444752" y="1243584"/>
              <a:ext cx="7699246" cy="292608"/>
            </a:xfrm>
            <a:prstGeom prst="rect">
              <a:avLst/>
            </a:prstGeom>
          </p:spPr>
        </p:pic>
      </p:grpSp>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FCD5D5FD-C24C-4EC1-877A-4A06FFD43F54}" type="slidenum">
              <a:rPr lang="en-US" smtClean="0"/>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 name="Group 2"/>
          <p:cNvGrpSpPr/>
          <p:nvPr/>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15" name="Footer Placeholder 4"/>
          <p:cNvSpPr txBox="1">
            <a:spLocks/>
          </p:cNvSpPr>
          <p:nvPr userDrawn="1"/>
        </p:nvSpPr>
        <p:spPr>
          <a:xfrm>
            <a:off x="0" y="6488113"/>
            <a:ext cx="8763000" cy="369888"/>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
        <p:nvSpPr>
          <p:cNvPr id="12" name="Footer Placeholder 2"/>
          <p:cNvSpPr>
            <a:spLocks noGrp="1"/>
          </p:cNvSpPr>
          <p:nvPr>
            <p:ph type="ftr" sz="quarter" idx="11"/>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
        <p:nvSpPr>
          <p:cNvPr id="8" name="Text Placeholder 7"/>
          <p:cNvSpPr>
            <a:spLocks noGrp="1"/>
          </p:cNvSpPr>
          <p:nvPr>
            <p:ph sz="quarter" idx="12"/>
          </p:nvPr>
        </p:nvSpPr>
        <p:spPr>
          <a:xfrm>
            <a:off x="4585855" y="2777836"/>
            <a:ext cx="4876800" cy="2667000"/>
          </a:xfrm>
        </p:spPr>
        <p:txBody>
          <a:bodyPr anchor="ctr">
            <a:normAutofit/>
          </a:bodyPr>
          <a:lstStyle/>
          <a:p>
            <a:pPr algn="ctr">
              <a:defRPr/>
            </a:pPr>
            <a:r>
              <a:rPr lang="en-US" sz="3500" dirty="0">
                <a:latin typeface="+mj-lt"/>
              </a:rPr>
              <a:t>Monopolistic</a:t>
            </a:r>
          </a:p>
          <a:p>
            <a:pPr algn="ctr">
              <a:defRPr/>
            </a:pPr>
            <a:r>
              <a:rPr lang="en-US" sz="3500" dirty="0">
                <a:latin typeface="+mj-lt"/>
              </a:rPr>
              <a:t>Competition</a:t>
            </a:r>
          </a:p>
        </p:txBody>
      </p:sp>
      <p:sp>
        <p:nvSpPr>
          <p:cNvPr id="9" name="Content Placeholder 8"/>
          <p:cNvSpPr>
            <a:spLocks noGrp="1"/>
          </p:cNvSpPr>
          <p:nvPr>
            <p:ph sz="quarter" idx="4294967295"/>
          </p:nvPr>
        </p:nvSpPr>
        <p:spPr>
          <a:xfrm>
            <a:off x="5620905" y="812222"/>
            <a:ext cx="2806700" cy="2019300"/>
          </a:xfrm>
          <a:blipFill>
            <a:blip r:embed="rId3"/>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17</a:t>
            </a:r>
          </a:p>
        </p:txBody>
      </p:sp>
      <p:sp>
        <p:nvSpPr>
          <p:cNvPr id="2" name="TextBox 1">
            <a:extLst>
              <a:ext uri="{FF2B5EF4-FFF2-40B4-BE49-F238E27FC236}">
                <a16:creationId xmlns:a16="http://schemas.microsoft.com/office/drawing/2014/main" id="{10F4D8C4-D70B-CAC3-166D-1D67A9800172}"/>
              </a:ext>
            </a:extLst>
          </p:cNvPr>
          <p:cNvSpPr txBox="1">
            <a:spLocks noGrp="1" noRot="1" noMove="1" noResize="1" noEditPoints="1" noAdjustHandles="1" noChangeArrowheads="1" noChangeShapeType="1"/>
          </p:cNvSpPr>
          <p:nvPr/>
        </p:nvSpPr>
        <p:spPr>
          <a:xfrm>
            <a:off x="5486400" y="5105400"/>
            <a:ext cx="2941205" cy="940378"/>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962300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3200" dirty="0"/>
              <a:t>What market structures lie between perfect competition and monopoly, and what are their characteristics? </a:t>
            </a:r>
          </a:p>
          <a:p>
            <a:r>
              <a:rPr lang="en-US" sz="3200" dirty="0"/>
              <a:t>How do monopolistically competitive firms choose price and quantity?  Do they earn economic profit?</a:t>
            </a:r>
          </a:p>
          <a:p>
            <a:r>
              <a:rPr lang="en-US" sz="3200" dirty="0"/>
              <a:t>How does monopolistic competition affect society’s welfare?</a:t>
            </a:r>
          </a:p>
          <a:p>
            <a:r>
              <a:rPr lang="en-US" sz="3200" dirty="0"/>
              <a:t>What are the social costs and benefits of advertising? </a:t>
            </a:r>
          </a:p>
          <a:p>
            <a:endParaRPr lang="en-US" sz="32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dirty="0"/>
          </a:p>
        </p:txBody>
      </p:sp>
      <p:sp>
        <p:nvSpPr>
          <p:cNvPr id="5" name="Footer Placeholder 4">
            <a:extLst>
              <a:ext uri="{FF2B5EF4-FFF2-40B4-BE49-F238E27FC236}">
                <a16:creationId xmlns:a16="http://schemas.microsoft.com/office/drawing/2014/main" id="{27E57AAB-6BFA-88D4-671C-09588D0D0EE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p:nvPr>
        </p:nvSpPr>
        <p:spPr/>
        <p:txBody>
          <a:bodyPr/>
          <a:lstStyle/>
          <a:p>
            <a:r>
              <a:rPr lang="en-US" dirty="0"/>
              <a:t>IN THIS CHAPTER</a:t>
            </a:r>
          </a:p>
        </p:txBody>
      </p:sp>
    </p:spTree>
    <p:extLst>
      <p:ext uri="{BB962C8B-B14F-4D97-AF65-F5344CB8AC3E}">
        <p14:creationId xmlns:p14="http://schemas.microsoft.com/office/powerpoint/2010/main" val="7383311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p:sp>
        <p:nvSpPr>
          <p:cNvPr id="3" name="Content Placeholder 2"/>
          <p:cNvSpPr>
            <a:spLocks noGrp="1"/>
          </p:cNvSpPr>
          <p:nvPr>
            <p:ph idx="1"/>
          </p:nvPr>
        </p:nvSpPr>
        <p:spPr/>
        <p:txBody>
          <a:bodyPr/>
          <a:lstStyle/>
          <a:p>
            <a:r>
              <a:rPr lang="en-US" sz="3200" dirty="0"/>
              <a:t>Two extreme forms of market structures:</a:t>
            </a:r>
          </a:p>
          <a:p>
            <a:pPr lvl="1">
              <a:buFont typeface="Arial" panose="020B0604020202020204" pitchFamily="34" charset="0"/>
              <a:buChar char="•"/>
            </a:pPr>
            <a:r>
              <a:rPr lang="en-US" sz="2800" u="sng" dirty="0">
                <a:solidFill>
                  <a:srgbClr val="4E519E"/>
                </a:solidFill>
              </a:rPr>
              <a:t>Perfect competition</a:t>
            </a:r>
            <a:r>
              <a:rPr lang="en-US" sz="2800" dirty="0">
                <a:solidFill>
                  <a:srgbClr val="4E519E"/>
                </a:solidFill>
              </a:rPr>
              <a:t>: </a:t>
            </a:r>
            <a:r>
              <a:rPr lang="en-US" sz="2800" dirty="0"/>
              <a:t>many firms, identical products, price takers, </a:t>
            </a:r>
            <a:r>
              <a:rPr lang="en-US" sz="2800" b="1" i="1" dirty="0"/>
              <a:t>P</a:t>
            </a:r>
            <a:r>
              <a:rPr lang="en-US" sz="2800" dirty="0"/>
              <a:t> = </a:t>
            </a:r>
            <a:r>
              <a:rPr lang="en-US" sz="2800" b="1" i="1" dirty="0"/>
              <a:t>MC</a:t>
            </a:r>
          </a:p>
          <a:p>
            <a:pPr lvl="1">
              <a:buFont typeface="Arial" panose="020B0604020202020204" pitchFamily="34" charset="0"/>
              <a:buChar char="•"/>
            </a:pPr>
            <a:r>
              <a:rPr lang="en-US" sz="2800" u="sng" dirty="0">
                <a:solidFill>
                  <a:srgbClr val="4E519E"/>
                </a:solidFill>
              </a:rPr>
              <a:t>Monopoly</a:t>
            </a:r>
            <a:r>
              <a:rPr lang="en-US" sz="2800" dirty="0">
                <a:solidFill>
                  <a:srgbClr val="4E519E"/>
                </a:solidFill>
              </a:rPr>
              <a:t>:</a:t>
            </a:r>
            <a:r>
              <a:rPr lang="en-US" sz="2800" dirty="0"/>
              <a:t> one firm, price maker, </a:t>
            </a:r>
            <a:r>
              <a:rPr lang="en-US" sz="2800" b="1" i="1" dirty="0"/>
              <a:t>P</a:t>
            </a:r>
            <a:r>
              <a:rPr lang="en-US" sz="2800" dirty="0"/>
              <a:t> &gt; </a:t>
            </a:r>
            <a:r>
              <a:rPr lang="en-US" sz="2800" b="1" i="1" dirty="0"/>
              <a:t>MC</a:t>
            </a:r>
          </a:p>
          <a:p>
            <a:r>
              <a:rPr lang="en-US" sz="3200" dirty="0"/>
              <a:t>Imperfect competition – in between the extremes:</a:t>
            </a:r>
          </a:p>
          <a:p>
            <a:pPr lvl="1">
              <a:buFont typeface="Arial" panose="020B0604020202020204" pitchFamily="34" charset="0"/>
              <a:buChar char="•"/>
            </a:pPr>
            <a:r>
              <a:rPr lang="en-US" sz="2800" u="sng" dirty="0">
                <a:solidFill>
                  <a:srgbClr val="4E519E"/>
                </a:solidFill>
              </a:rPr>
              <a:t>Oligopoly</a:t>
            </a:r>
            <a:r>
              <a:rPr lang="en-US" sz="2800" dirty="0">
                <a:solidFill>
                  <a:srgbClr val="4E519E"/>
                </a:solidFill>
              </a:rPr>
              <a:t>:</a:t>
            </a:r>
            <a:r>
              <a:rPr lang="en-US" sz="2800" dirty="0"/>
              <a:t> only a few sellers offer similar or identical products. </a:t>
            </a:r>
          </a:p>
          <a:p>
            <a:pPr lvl="1">
              <a:buFont typeface="Arial" panose="020B0604020202020204" pitchFamily="34" charset="0"/>
              <a:buChar char="•"/>
            </a:pPr>
            <a:r>
              <a:rPr lang="en-US" sz="2800" u="sng" dirty="0">
                <a:solidFill>
                  <a:srgbClr val="4E519E"/>
                </a:solidFill>
              </a:rPr>
              <a:t>Monopolistic competition</a:t>
            </a:r>
            <a:r>
              <a:rPr lang="en-US" sz="2800" dirty="0">
                <a:solidFill>
                  <a:srgbClr val="4E519E"/>
                </a:solidFill>
              </a:rPr>
              <a:t>: </a:t>
            </a:r>
            <a:r>
              <a:rPr lang="en-US" sz="2800" dirty="0"/>
              <a:t>many firms sell similar but not identical products.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a:t>
            </a:fld>
            <a:endParaRPr lang="en-US" dirty="0"/>
          </a:p>
        </p:txBody>
      </p:sp>
      <p:sp>
        <p:nvSpPr>
          <p:cNvPr id="5" name="Footer Placeholder 4">
            <a:extLst>
              <a:ext uri="{FF2B5EF4-FFF2-40B4-BE49-F238E27FC236}">
                <a16:creationId xmlns:a16="http://schemas.microsoft.com/office/drawing/2014/main" id="{77C7A7D0-ECD5-A4AE-4B8F-86FB986B245F}"/>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33498603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Oligopoly </a:t>
            </a:r>
          </a:p>
        </p:txBody>
      </p:sp>
      <p:sp>
        <p:nvSpPr>
          <p:cNvPr id="3" name="Content Placeholder 2"/>
          <p:cNvSpPr>
            <a:spLocks noGrp="1"/>
          </p:cNvSpPr>
          <p:nvPr>
            <p:ph idx="1"/>
          </p:nvPr>
        </p:nvSpPr>
        <p:spPr/>
        <p:txBody>
          <a:bodyPr/>
          <a:lstStyle/>
          <a:p>
            <a:r>
              <a:rPr lang="en-US" dirty="0"/>
              <a:t>Concentration ratio</a:t>
            </a:r>
          </a:p>
          <a:p>
            <a:pPr lvl="1"/>
            <a:r>
              <a:rPr lang="en-US" dirty="0"/>
              <a:t>Measure a market’s domination by a small number of firms</a:t>
            </a:r>
          </a:p>
          <a:p>
            <a:pPr lvl="1"/>
            <a:r>
              <a:rPr lang="en-US" dirty="0"/>
              <a:t>The percentage of total output in the market supplied by the four largest firms</a:t>
            </a:r>
          </a:p>
          <a:p>
            <a:pPr lvl="1"/>
            <a:r>
              <a:rPr lang="en-US" dirty="0"/>
              <a:t>Less than 50% for most industries</a:t>
            </a:r>
          </a:p>
          <a:p>
            <a:pPr lvl="1"/>
            <a:r>
              <a:rPr lang="en-US" dirty="0">
                <a:solidFill>
                  <a:srgbClr val="4E519E"/>
                </a:solidFill>
              </a:rPr>
              <a:t>Greater than 90% in: aircraft manufacturing, tobacco, passenger car rentals, and express delivery services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a:t>
            </a:fld>
            <a:endParaRPr lang="en-US"/>
          </a:p>
        </p:txBody>
      </p:sp>
      <p:sp>
        <p:nvSpPr>
          <p:cNvPr id="5" name="Footer Placeholder 4">
            <a:extLst>
              <a:ext uri="{FF2B5EF4-FFF2-40B4-BE49-F238E27FC236}">
                <a16:creationId xmlns:a16="http://schemas.microsoft.com/office/drawing/2014/main" id="{2BDAEBEA-D873-51D6-23F5-FAB4D5879D1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49983426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Monopolistic Competition</a:t>
            </a:r>
          </a:p>
        </p:txBody>
      </p:sp>
      <p:sp>
        <p:nvSpPr>
          <p:cNvPr id="3" name="Content Placeholder 2"/>
          <p:cNvSpPr>
            <a:spLocks noGrp="1"/>
          </p:cNvSpPr>
          <p:nvPr>
            <p:ph idx="1"/>
          </p:nvPr>
        </p:nvSpPr>
        <p:spPr/>
        <p:txBody>
          <a:bodyPr/>
          <a:lstStyle/>
          <a:p>
            <a:r>
              <a:rPr lang="en-US" dirty="0"/>
              <a:t>Characteristics:</a:t>
            </a:r>
          </a:p>
          <a:p>
            <a:pPr lvl="1"/>
            <a:r>
              <a:rPr lang="en-US" dirty="0"/>
              <a:t>Numerous firms competing over customers</a:t>
            </a:r>
          </a:p>
          <a:p>
            <a:pPr lvl="1"/>
            <a:r>
              <a:rPr lang="en-US" dirty="0"/>
              <a:t>Product differentiation</a:t>
            </a:r>
          </a:p>
          <a:p>
            <a:pPr lvl="2"/>
            <a:r>
              <a:rPr lang="en-US" dirty="0"/>
              <a:t>Not price takers; </a:t>
            </a:r>
            <a:r>
              <a:rPr lang="en-US" b="1" i="1" dirty="0"/>
              <a:t>D</a:t>
            </a:r>
            <a:r>
              <a:rPr lang="en-US" dirty="0"/>
              <a:t> curve slopes downward</a:t>
            </a:r>
          </a:p>
          <a:p>
            <a:pPr lvl="1"/>
            <a:r>
              <a:rPr lang="en-US" dirty="0"/>
              <a:t>Free entry and exit</a:t>
            </a:r>
          </a:p>
          <a:p>
            <a:pPr lvl="2"/>
            <a:r>
              <a:rPr lang="en-US" dirty="0"/>
              <a:t>Zero economic profit in the long run</a:t>
            </a:r>
          </a:p>
          <a:p>
            <a:r>
              <a:rPr lang="en-US" sz="3000" dirty="0">
                <a:solidFill>
                  <a:srgbClr val="4E519E"/>
                </a:solidFill>
              </a:rPr>
              <a:t>Examples: </a:t>
            </a:r>
          </a:p>
          <a:p>
            <a:pPr lvl="1"/>
            <a:r>
              <a:rPr lang="en-US" sz="3000" dirty="0">
                <a:solidFill>
                  <a:srgbClr val="4E519E"/>
                </a:solidFill>
              </a:rPr>
              <a:t>Books, video games, restaurants, piano lessons, cookies, clothing</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5</a:t>
            </a:fld>
            <a:endParaRPr lang="en-US" dirty="0"/>
          </a:p>
        </p:txBody>
      </p:sp>
      <p:sp>
        <p:nvSpPr>
          <p:cNvPr id="5" name="Footer Placeholder 4">
            <a:extLst>
              <a:ext uri="{FF2B5EF4-FFF2-40B4-BE49-F238E27FC236}">
                <a16:creationId xmlns:a16="http://schemas.microsoft.com/office/drawing/2014/main" id="{908A2208-86E6-15D0-4DF2-AA53CB80F3D8}"/>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08258769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659042849"/>
              </p:ext>
            </p:extLst>
          </p:nvPr>
        </p:nvGraphicFramePr>
        <p:xfrm>
          <a:off x="381000" y="990600"/>
          <a:ext cx="8382000" cy="539496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20000"/>
                    </a:ext>
                  </a:extLst>
                </a:gridCol>
                <a:gridCol w="2076768">
                  <a:extLst>
                    <a:ext uri="{9D8B030D-6E8A-4147-A177-3AD203B41FA5}">
                      <a16:colId xmlns:a16="http://schemas.microsoft.com/office/drawing/2014/main" val="20001"/>
                    </a:ext>
                  </a:extLst>
                </a:gridCol>
                <a:gridCol w="2143442">
                  <a:extLst>
                    <a:ext uri="{9D8B030D-6E8A-4147-A177-3AD203B41FA5}">
                      <a16:colId xmlns:a16="http://schemas.microsoft.com/office/drawing/2014/main" val="20002"/>
                    </a:ext>
                  </a:extLst>
                </a:gridCol>
                <a:gridCol w="2028190">
                  <a:extLst>
                    <a:ext uri="{9D8B030D-6E8A-4147-A177-3AD203B41FA5}">
                      <a16:colId xmlns:a16="http://schemas.microsoft.com/office/drawing/2014/main" val="20003"/>
                    </a:ext>
                  </a:extLst>
                </a:gridCol>
              </a:tblGrid>
              <a:tr h="718347">
                <a:tc>
                  <a:txBody>
                    <a:bodyPr/>
                    <a:lstStyle/>
                    <a:p>
                      <a:pPr algn="ctr"/>
                      <a:r>
                        <a:rPr lang="en-US" sz="2400" dirty="0">
                          <a:solidFill>
                            <a:schemeClr val="tx1"/>
                          </a:solidFill>
                        </a:rPr>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dirty="0">
                          <a:solidFill>
                            <a:schemeClr val="tx1"/>
                          </a:solidFill>
                        </a:rPr>
                        <a:t>Perfect</a:t>
                      </a:r>
                    </a:p>
                    <a:p>
                      <a:pPr algn="ctr"/>
                      <a:r>
                        <a:rPr lang="en-US" sz="2400" dirty="0">
                          <a:solidFill>
                            <a:schemeClr val="tx1"/>
                          </a:solidFill>
                        </a:rPr>
                        <a:t>competition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dirty="0">
                          <a:solidFill>
                            <a:srgbClr val="4E519E"/>
                          </a:solidFill>
                        </a:rPr>
                        <a:t>Monopolistic</a:t>
                      </a:r>
                    </a:p>
                    <a:p>
                      <a:pPr algn="ctr"/>
                      <a:r>
                        <a:rPr lang="en-US" sz="2400" dirty="0">
                          <a:solidFill>
                            <a:srgbClr val="4E519E"/>
                          </a:solidFill>
                        </a:rPr>
                        <a:t>competition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dirty="0">
                          <a:solidFill>
                            <a:schemeClr val="tx1"/>
                          </a:solidFill>
                        </a:rPr>
                        <a:t>Monopoly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0"/>
                  </a:ext>
                </a:extLst>
              </a:tr>
              <a:tr h="399081">
                <a:tc>
                  <a:txBody>
                    <a:bodyPr/>
                    <a:lstStyle/>
                    <a:p>
                      <a:r>
                        <a:rPr lang="en-US" sz="2200" dirty="0">
                          <a:solidFill>
                            <a:schemeClr val="tx1"/>
                          </a:solidFill>
                        </a:rPr>
                        <a:t>Number </a:t>
                      </a:r>
                      <a:r>
                        <a:rPr lang="en-US" sz="2200" baseline="0" dirty="0">
                          <a:solidFill>
                            <a:schemeClr val="tx1"/>
                          </a:solidFill>
                        </a:rPr>
                        <a:t>of firms</a:t>
                      </a:r>
                      <a:endParaRPr lang="en-US" sz="2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a:solidFill>
                            <a:schemeClr val="tx1"/>
                          </a:solidFill>
                        </a:rPr>
                        <a:t>Many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a:solidFill>
                            <a:schemeClr val="tx1"/>
                          </a:solidFill>
                        </a:rPr>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a:solidFill>
                            <a:schemeClr val="tx1"/>
                          </a:solidFill>
                        </a:rPr>
                        <a:t>One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99081">
                <a:tc>
                  <a:txBody>
                    <a:bodyPr/>
                    <a:lstStyle/>
                    <a:p>
                      <a:r>
                        <a:rPr lang="en-US" sz="2200" dirty="0">
                          <a:solidFill>
                            <a:schemeClr val="tx1"/>
                          </a:solidFill>
                        </a:rPr>
                        <a:t>Free entry/exit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200" dirty="0">
                          <a:solidFill>
                            <a:schemeClr val="tx1"/>
                          </a:solidFill>
                        </a:rPr>
                        <a:t>Yes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200" dirty="0">
                          <a:solidFill>
                            <a:schemeClr val="tx1"/>
                          </a:solidFill>
                        </a:rPr>
                        <a:t>No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2"/>
                  </a:ext>
                </a:extLst>
              </a:tr>
              <a:tr h="399081">
                <a:tc>
                  <a:txBody>
                    <a:bodyPr/>
                    <a:lstStyle/>
                    <a:p>
                      <a:r>
                        <a:rPr lang="en-US" sz="2200" dirty="0">
                          <a:solidFill>
                            <a:schemeClr val="tx1"/>
                          </a:solidFill>
                        </a:rPr>
                        <a:t>LR economic profit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a:solidFill>
                            <a:schemeClr val="tx1"/>
                          </a:solidFill>
                        </a:rPr>
                        <a:t>Zero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a:solidFill>
                            <a:schemeClr val="tx1"/>
                          </a:solidFill>
                        </a:rPr>
                        <a:t>Positive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99081">
                <a:tc>
                  <a:txBody>
                    <a:bodyPr/>
                    <a:lstStyle/>
                    <a:p>
                      <a:r>
                        <a:rPr lang="en-US" sz="2200" dirty="0">
                          <a:solidFill>
                            <a:schemeClr val="tx1"/>
                          </a:solidFill>
                        </a:rPr>
                        <a:t>Products firm sells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200" dirty="0">
                          <a:solidFill>
                            <a:schemeClr val="tx1"/>
                          </a:solidFill>
                        </a:rPr>
                        <a:t>Identical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200" dirty="0">
                          <a:solidFill>
                            <a:schemeClr val="tx1"/>
                          </a:solidFill>
                        </a:rPr>
                        <a:t>No close substitute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4"/>
                  </a:ext>
                </a:extLst>
              </a:tr>
              <a:tr h="399081">
                <a:tc>
                  <a:txBody>
                    <a:bodyPr/>
                    <a:lstStyle/>
                    <a:p>
                      <a:r>
                        <a:rPr lang="en-US" sz="2200" dirty="0">
                          <a:solidFill>
                            <a:schemeClr val="tx1"/>
                          </a:solidFill>
                        </a:rPr>
                        <a:t>Market power?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a:solidFill>
                            <a:schemeClr val="tx1"/>
                          </a:solidFill>
                        </a:rPr>
                        <a:t>None</a:t>
                      </a:r>
                    </a:p>
                    <a:p>
                      <a:pPr algn="ctr"/>
                      <a:r>
                        <a:rPr lang="en-US" sz="2200" dirty="0">
                          <a:solidFill>
                            <a:schemeClr val="tx1"/>
                          </a:solidFill>
                        </a:rPr>
                        <a:t>P = MC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a:solidFill>
                            <a:schemeClr val="tx1"/>
                          </a:solidFill>
                        </a:rPr>
                        <a:t>Yes </a:t>
                      </a:r>
                    </a:p>
                    <a:p>
                      <a:pPr algn="ctr"/>
                      <a:r>
                        <a:rPr lang="en-US" sz="2200" dirty="0">
                          <a:solidFill>
                            <a:schemeClr val="tx1"/>
                          </a:solidFill>
                        </a:rPr>
                        <a:t>P &gt; MC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99081">
                <a:tc>
                  <a:txBody>
                    <a:bodyPr/>
                    <a:lstStyle/>
                    <a:p>
                      <a:r>
                        <a:rPr lang="en-US" sz="2200" dirty="0">
                          <a:solidFill>
                            <a:schemeClr val="tx1"/>
                          </a:solidFill>
                        </a:rPr>
                        <a:t>D curve facing firm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200" dirty="0">
                          <a:solidFill>
                            <a:schemeClr val="tx1"/>
                          </a:solidFill>
                        </a:rPr>
                        <a:t>Horizontal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endParaRPr lang="en-US" sz="22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200" dirty="0">
                          <a:solidFill>
                            <a:schemeClr val="tx1"/>
                          </a:solidFill>
                        </a:rPr>
                        <a:t>Downward-sloping (market 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6"/>
                  </a:ext>
                </a:extLst>
              </a:tr>
            </a:tbl>
          </a:graphicData>
        </a:graphic>
      </p:graphicFrame>
      <p:sp>
        <p:nvSpPr>
          <p:cNvPr id="2" name="Title 1"/>
          <p:cNvSpPr>
            <a:spLocks noGrp="1"/>
          </p:cNvSpPr>
          <p:nvPr>
            <p:ph type="title"/>
          </p:nvPr>
        </p:nvSpPr>
        <p:spPr/>
        <p:txBody>
          <a:bodyPr/>
          <a:lstStyle/>
          <a:p>
            <a:pPr algn="ctr"/>
            <a:r>
              <a:rPr lang="en-US" dirty="0">
                <a:solidFill>
                  <a:srgbClr val="AE1221"/>
                </a:solidFill>
              </a:rPr>
              <a:t>Comparisons </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6</a:t>
            </a:fld>
            <a:endParaRPr lang="en-US" dirty="0"/>
          </a:p>
        </p:txBody>
      </p:sp>
      <p:sp>
        <p:nvSpPr>
          <p:cNvPr id="9" name="Content Placeholder 8"/>
          <p:cNvSpPr>
            <a:spLocks noGrp="1"/>
          </p:cNvSpPr>
          <p:nvPr>
            <p:ph idx="12"/>
          </p:nvPr>
        </p:nvSpPr>
        <p:spPr>
          <a:xfrm>
            <a:off x="3200400" y="1798320"/>
            <a:ext cx="4724400" cy="4221480"/>
          </a:xfrm>
        </p:spPr>
        <p:txBody>
          <a:bodyPr>
            <a:noAutofit/>
          </a:bodyPr>
          <a:lstStyle/>
          <a:p>
            <a:pPr marL="0" indent="0" algn="ctr">
              <a:buNone/>
            </a:pPr>
            <a:r>
              <a:rPr lang="en-US" sz="2200" dirty="0">
                <a:solidFill>
                  <a:srgbClr val="4E519E"/>
                </a:solidFill>
              </a:rPr>
              <a:t>Many</a:t>
            </a:r>
          </a:p>
          <a:p>
            <a:pPr marL="0" indent="0" algn="ctr">
              <a:buNone/>
            </a:pPr>
            <a:r>
              <a:rPr lang="en-US" sz="2000" dirty="0">
                <a:solidFill>
                  <a:srgbClr val="4E519E"/>
                </a:solidFill>
              </a:rPr>
              <a:t>   </a:t>
            </a:r>
          </a:p>
          <a:p>
            <a:pPr marL="0" indent="0" algn="ctr">
              <a:buNone/>
            </a:pPr>
            <a:r>
              <a:rPr lang="en-US" sz="2200" dirty="0">
                <a:solidFill>
                  <a:srgbClr val="4E519E"/>
                </a:solidFill>
              </a:rPr>
              <a:t>Yes</a:t>
            </a:r>
          </a:p>
          <a:p>
            <a:pPr marL="0" indent="0" algn="ctr">
              <a:buNone/>
            </a:pPr>
            <a:r>
              <a:rPr lang="en-US" sz="2200" dirty="0">
                <a:solidFill>
                  <a:srgbClr val="4E519E"/>
                </a:solidFill>
              </a:rPr>
              <a:t>Zero</a:t>
            </a:r>
          </a:p>
          <a:p>
            <a:pPr marL="0" indent="0" algn="ctr">
              <a:buNone/>
            </a:pPr>
            <a:r>
              <a:rPr lang="en-US" sz="2000" dirty="0">
                <a:solidFill>
                  <a:srgbClr val="4E519E"/>
                </a:solidFill>
              </a:rPr>
              <a:t>  </a:t>
            </a:r>
          </a:p>
          <a:p>
            <a:pPr marL="0" indent="0" algn="ctr">
              <a:buNone/>
            </a:pPr>
            <a:r>
              <a:rPr lang="en-US" sz="2200" dirty="0">
                <a:solidFill>
                  <a:srgbClr val="4E519E"/>
                </a:solidFill>
              </a:rPr>
              <a:t>Differentiated</a:t>
            </a:r>
          </a:p>
          <a:p>
            <a:pPr marL="0" indent="0" algn="ctr">
              <a:buNone/>
            </a:pPr>
            <a:r>
              <a:rPr lang="en-US" sz="2000" dirty="0">
                <a:solidFill>
                  <a:srgbClr val="4E519E"/>
                </a:solidFill>
              </a:rPr>
              <a:t> </a:t>
            </a:r>
          </a:p>
          <a:p>
            <a:pPr marL="0" indent="0" algn="ctr">
              <a:buNone/>
            </a:pPr>
            <a:r>
              <a:rPr lang="en-US" sz="2200" dirty="0">
                <a:solidFill>
                  <a:srgbClr val="4E519E"/>
                </a:solidFill>
              </a:rPr>
              <a:t>Yes</a:t>
            </a:r>
          </a:p>
          <a:p>
            <a:pPr marL="0" indent="0" algn="ctr">
              <a:buNone/>
            </a:pPr>
            <a:r>
              <a:rPr lang="en-US" sz="2200" dirty="0">
                <a:solidFill>
                  <a:srgbClr val="4E519E"/>
                </a:solidFill>
              </a:rPr>
              <a:t>P &gt; MC</a:t>
            </a:r>
          </a:p>
          <a:p>
            <a:pPr marL="0" indent="0" algn="ctr">
              <a:buNone/>
            </a:pPr>
            <a:r>
              <a:rPr lang="en-US" sz="2200" dirty="0">
                <a:solidFill>
                  <a:srgbClr val="4E519E"/>
                </a:solidFill>
              </a:rPr>
              <a:t>Downward-sloping </a:t>
            </a:r>
          </a:p>
        </p:txBody>
      </p:sp>
      <p:sp>
        <p:nvSpPr>
          <p:cNvPr id="7" name="Footer Placeholder 2"/>
          <p:cNvSpPr>
            <a:spLocks noGrp="1"/>
          </p:cNvSpPr>
          <p:nvPr>
            <p:ph type="ftr" sz="quarter" idx="13"/>
          </p:nvPr>
        </p:nvSpPr>
        <p:spPr>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2301685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wipe(left)">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wipe(left)">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wipe(left)">
                                      <p:cBhvr>
                                        <p:cTn id="22" dur="500"/>
                                        <p:tgtEl>
                                          <p:spTgt spid="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animEffect transition="in" filter="wipe(left)">
                                      <p:cBhvr>
                                        <p:cTn id="27" dur="500"/>
                                        <p:tgtEl>
                                          <p:spTgt spid="9">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xEl>
                                              <p:pRg st="8" end="8"/>
                                            </p:txEl>
                                          </p:spTgt>
                                        </p:tgtEl>
                                        <p:attrNameLst>
                                          <p:attrName>style.visibility</p:attrName>
                                        </p:attrNameLst>
                                      </p:cBhvr>
                                      <p:to>
                                        <p:strVal val="visible"/>
                                      </p:to>
                                    </p:set>
                                    <p:animEffect transition="in" filter="wipe(left)">
                                      <p:cBhvr>
                                        <p:cTn id="32" dur="500"/>
                                        <p:tgtEl>
                                          <p:spTgt spid="9">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xEl>
                                              <p:pRg st="9" end="9"/>
                                            </p:txEl>
                                          </p:spTgt>
                                        </p:tgtEl>
                                        <p:attrNameLst>
                                          <p:attrName>style.visibility</p:attrName>
                                        </p:attrNameLst>
                                      </p:cBhvr>
                                      <p:to>
                                        <p:strVal val="visible"/>
                                      </p:to>
                                    </p:set>
                                    <p:animEffect transition="in" filter="wipe(left)">
                                      <p:cBhvr>
                                        <p:cTn id="37"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The Four Types of Market Structure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7</a:t>
            </a:fld>
            <a:endParaRPr lang="en-US"/>
          </a:p>
        </p:txBody>
      </p:sp>
      <p:sp>
        <p:nvSpPr>
          <p:cNvPr id="6" name="TextBox 5"/>
          <p:cNvSpPr txBox="1"/>
          <p:nvPr/>
        </p:nvSpPr>
        <p:spPr>
          <a:xfrm>
            <a:off x="2209800" y="903890"/>
            <a:ext cx="2943434" cy="523220"/>
          </a:xfrm>
          <a:prstGeom prst="rect">
            <a:avLst/>
          </a:prstGeom>
          <a:solidFill>
            <a:srgbClr val="E3F0FA"/>
          </a:solidFill>
          <a:ln>
            <a:solidFill>
              <a:srgbClr val="002060"/>
            </a:solidFill>
          </a:ln>
        </p:spPr>
        <p:txBody>
          <a:bodyPr wrap="none" rtlCol="0">
            <a:spAutoFit/>
          </a:bodyPr>
          <a:lstStyle/>
          <a:p>
            <a:r>
              <a:rPr lang="en-US" sz="2800" dirty="0"/>
              <a:t>Number of firms?</a:t>
            </a:r>
          </a:p>
        </p:txBody>
      </p:sp>
      <p:sp>
        <p:nvSpPr>
          <p:cNvPr id="10" name="TextBox 9"/>
          <p:cNvSpPr txBox="1"/>
          <p:nvPr/>
        </p:nvSpPr>
        <p:spPr>
          <a:xfrm>
            <a:off x="174855" y="4590411"/>
            <a:ext cx="1856598" cy="1692771"/>
          </a:xfrm>
          <a:prstGeom prst="rect">
            <a:avLst/>
          </a:prstGeom>
          <a:solidFill>
            <a:srgbClr val="E3F0FA"/>
          </a:solidFill>
          <a:ln>
            <a:solidFill>
              <a:srgbClr val="002060"/>
            </a:solidFill>
          </a:ln>
        </p:spPr>
        <p:txBody>
          <a:bodyPr wrap="none" rtlCol="0">
            <a:spAutoFit/>
          </a:bodyPr>
          <a:lstStyle/>
          <a:p>
            <a:pPr algn="ctr"/>
            <a:r>
              <a:rPr lang="en-US" sz="2600" b="1" dirty="0">
                <a:solidFill>
                  <a:srgbClr val="4E519E"/>
                </a:solidFill>
              </a:rPr>
              <a:t>Monopoly</a:t>
            </a:r>
          </a:p>
          <a:p>
            <a:pPr algn="ctr"/>
            <a:endParaRPr lang="en-US" sz="2600" dirty="0"/>
          </a:p>
          <a:p>
            <a:r>
              <a:rPr lang="en-US" sz="2600" dirty="0"/>
              <a:t>Tap water</a:t>
            </a:r>
          </a:p>
          <a:p>
            <a:r>
              <a:rPr lang="en-US" sz="2600" dirty="0"/>
              <a:t>Cable TV</a:t>
            </a:r>
          </a:p>
        </p:txBody>
      </p:sp>
      <p:sp>
        <p:nvSpPr>
          <p:cNvPr id="11" name="TextBox 10"/>
          <p:cNvSpPr txBox="1"/>
          <p:nvPr/>
        </p:nvSpPr>
        <p:spPr>
          <a:xfrm>
            <a:off x="2133600" y="4590411"/>
            <a:ext cx="2002471" cy="1692771"/>
          </a:xfrm>
          <a:prstGeom prst="rect">
            <a:avLst/>
          </a:prstGeom>
          <a:solidFill>
            <a:srgbClr val="E3F0FA"/>
          </a:solidFill>
          <a:ln>
            <a:solidFill>
              <a:srgbClr val="002060"/>
            </a:solidFill>
          </a:ln>
        </p:spPr>
        <p:txBody>
          <a:bodyPr wrap="none" rtlCol="0">
            <a:spAutoFit/>
          </a:bodyPr>
          <a:lstStyle/>
          <a:p>
            <a:pPr algn="ctr"/>
            <a:r>
              <a:rPr lang="en-US" sz="2600" b="1" dirty="0">
                <a:solidFill>
                  <a:srgbClr val="4E519E"/>
                </a:solidFill>
              </a:rPr>
              <a:t>Oligopoly</a:t>
            </a:r>
          </a:p>
          <a:p>
            <a:pPr algn="ctr"/>
            <a:endParaRPr lang="en-US" sz="2600" dirty="0"/>
          </a:p>
          <a:p>
            <a:r>
              <a:rPr lang="en-US" sz="2600" dirty="0"/>
              <a:t>Tennis balls</a:t>
            </a:r>
          </a:p>
          <a:p>
            <a:r>
              <a:rPr lang="en-US" sz="2600" dirty="0"/>
              <a:t>Cigarettes </a:t>
            </a:r>
          </a:p>
        </p:txBody>
      </p:sp>
      <p:sp>
        <p:nvSpPr>
          <p:cNvPr id="12" name="TextBox 11"/>
          <p:cNvSpPr txBox="1"/>
          <p:nvPr/>
        </p:nvSpPr>
        <p:spPr>
          <a:xfrm>
            <a:off x="4876800" y="2286000"/>
            <a:ext cx="3143233" cy="523220"/>
          </a:xfrm>
          <a:prstGeom prst="rect">
            <a:avLst/>
          </a:prstGeom>
          <a:solidFill>
            <a:srgbClr val="E3F0FA"/>
          </a:solidFill>
          <a:ln>
            <a:solidFill>
              <a:srgbClr val="002060"/>
            </a:solidFill>
          </a:ln>
        </p:spPr>
        <p:txBody>
          <a:bodyPr wrap="none" rtlCol="0">
            <a:spAutoFit/>
          </a:bodyPr>
          <a:lstStyle/>
          <a:p>
            <a:r>
              <a:rPr lang="en-US" sz="2800" dirty="0"/>
              <a:t>Type of products?</a:t>
            </a:r>
          </a:p>
        </p:txBody>
      </p:sp>
      <p:sp>
        <p:nvSpPr>
          <p:cNvPr id="15" name="TextBox 14"/>
          <p:cNvSpPr txBox="1"/>
          <p:nvPr/>
        </p:nvSpPr>
        <p:spPr>
          <a:xfrm>
            <a:off x="4267200" y="4190301"/>
            <a:ext cx="2345642" cy="2092881"/>
          </a:xfrm>
          <a:prstGeom prst="rect">
            <a:avLst/>
          </a:prstGeom>
          <a:solidFill>
            <a:srgbClr val="E3F0FA"/>
          </a:solidFill>
          <a:ln>
            <a:solidFill>
              <a:srgbClr val="002060"/>
            </a:solidFill>
          </a:ln>
        </p:spPr>
        <p:txBody>
          <a:bodyPr wrap="none" rtlCol="0">
            <a:spAutoFit/>
          </a:bodyPr>
          <a:lstStyle/>
          <a:p>
            <a:pPr algn="ctr"/>
            <a:r>
              <a:rPr lang="en-US" sz="2600" b="1" dirty="0">
                <a:solidFill>
                  <a:srgbClr val="4E519E"/>
                </a:solidFill>
              </a:rPr>
              <a:t>Monopolistic </a:t>
            </a:r>
          </a:p>
          <a:p>
            <a:pPr algn="ctr"/>
            <a:r>
              <a:rPr lang="en-US" sz="2600" b="1" dirty="0">
                <a:solidFill>
                  <a:srgbClr val="4E519E"/>
                </a:solidFill>
              </a:rPr>
              <a:t>Competition</a:t>
            </a:r>
          </a:p>
          <a:p>
            <a:pPr algn="ctr"/>
            <a:endParaRPr lang="en-US" sz="2600" b="1" dirty="0"/>
          </a:p>
          <a:p>
            <a:r>
              <a:rPr lang="en-US" sz="2600" dirty="0"/>
              <a:t>Novels</a:t>
            </a:r>
          </a:p>
          <a:p>
            <a:r>
              <a:rPr lang="en-US" sz="2600" dirty="0"/>
              <a:t>Movies</a:t>
            </a:r>
          </a:p>
        </p:txBody>
      </p:sp>
      <p:sp>
        <p:nvSpPr>
          <p:cNvPr id="16" name="TextBox 15"/>
          <p:cNvSpPr txBox="1"/>
          <p:nvPr/>
        </p:nvSpPr>
        <p:spPr>
          <a:xfrm>
            <a:off x="6781800" y="4190301"/>
            <a:ext cx="2138855" cy="2092881"/>
          </a:xfrm>
          <a:prstGeom prst="rect">
            <a:avLst/>
          </a:prstGeom>
          <a:solidFill>
            <a:srgbClr val="E3F0FA"/>
          </a:solidFill>
          <a:ln>
            <a:solidFill>
              <a:srgbClr val="002060"/>
            </a:solidFill>
          </a:ln>
        </p:spPr>
        <p:txBody>
          <a:bodyPr wrap="none" rtlCol="0">
            <a:spAutoFit/>
          </a:bodyPr>
          <a:lstStyle/>
          <a:p>
            <a:pPr algn="ctr"/>
            <a:r>
              <a:rPr lang="en-US" sz="2600" b="1" dirty="0">
                <a:solidFill>
                  <a:srgbClr val="4E519E"/>
                </a:solidFill>
              </a:rPr>
              <a:t>Perfect</a:t>
            </a:r>
          </a:p>
          <a:p>
            <a:pPr algn="ctr"/>
            <a:r>
              <a:rPr lang="en-US" sz="2600" b="1" dirty="0">
                <a:solidFill>
                  <a:srgbClr val="4E519E"/>
                </a:solidFill>
              </a:rPr>
              <a:t>Competition</a:t>
            </a:r>
          </a:p>
          <a:p>
            <a:pPr algn="ctr"/>
            <a:endParaRPr lang="en-US" sz="2600" b="1" dirty="0"/>
          </a:p>
          <a:p>
            <a:r>
              <a:rPr lang="en-US" sz="2600" dirty="0"/>
              <a:t>Wheat</a:t>
            </a:r>
          </a:p>
          <a:p>
            <a:r>
              <a:rPr lang="en-US" sz="2600" dirty="0"/>
              <a:t>Milk</a:t>
            </a:r>
          </a:p>
        </p:txBody>
      </p:sp>
      <p:grpSp>
        <p:nvGrpSpPr>
          <p:cNvPr id="31" name="Group 30"/>
          <p:cNvGrpSpPr/>
          <p:nvPr/>
        </p:nvGrpSpPr>
        <p:grpSpPr>
          <a:xfrm>
            <a:off x="1103154" y="1427110"/>
            <a:ext cx="2578363" cy="3163301"/>
            <a:chOff x="1103154" y="1427110"/>
            <a:chExt cx="2578363" cy="3163301"/>
          </a:xfrm>
        </p:grpSpPr>
        <p:sp>
          <p:nvSpPr>
            <p:cNvPr id="7" name="TextBox 6"/>
            <p:cNvSpPr txBox="1"/>
            <p:nvPr/>
          </p:nvSpPr>
          <p:spPr>
            <a:xfrm>
              <a:off x="1903438" y="1851997"/>
              <a:ext cx="766555" cy="830997"/>
            </a:xfrm>
            <a:prstGeom prst="rect">
              <a:avLst/>
            </a:prstGeom>
            <a:noFill/>
          </p:spPr>
          <p:txBody>
            <a:bodyPr wrap="none" rtlCol="0">
              <a:spAutoFit/>
            </a:bodyPr>
            <a:lstStyle/>
            <a:p>
              <a:pPr algn="ctr"/>
              <a:r>
                <a:rPr lang="en-US" sz="2400" dirty="0"/>
                <a:t>One</a:t>
              </a:r>
            </a:p>
            <a:p>
              <a:pPr algn="ctr"/>
              <a:r>
                <a:rPr lang="en-US" sz="2400" dirty="0"/>
                <a:t>firm</a:t>
              </a:r>
            </a:p>
          </p:txBody>
        </p:sp>
        <p:cxnSp>
          <p:nvCxnSpPr>
            <p:cNvPr id="18" name="Straight Connector 17"/>
            <p:cNvCxnSpPr>
              <a:stCxn id="6" idx="2"/>
              <a:endCxn id="10" idx="0"/>
            </p:cNvCxnSpPr>
            <p:nvPr/>
          </p:nvCxnSpPr>
          <p:spPr bwMode="auto">
            <a:xfrm flipH="1">
              <a:off x="1103154" y="1427110"/>
              <a:ext cx="2578363" cy="3163301"/>
            </a:xfrm>
            <a:prstGeom prst="line">
              <a:avLst/>
            </a:prstGeom>
            <a:noFill/>
            <a:ln w="9525" cap="flat" cmpd="sng" algn="ctr">
              <a:solidFill>
                <a:schemeClr val="tx1"/>
              </a:solidFill>
              <a:prstDash val="solid"/>
              <a:round/>
              <a:headEnd type="none" w="med" len="med"/>
              <a:tailEnd type="none" w="med" len="med"/>
            </a:ln>
            <a:effectLst/>
          </p:spPr>
        </p:cxnSp>
      </p:grpSp>
      <p:grpSp>
        <p:nvGrpSpPr>
          <p:cNvPr id="32" name="Group 31"/>
          <p:cNvGrpSpPr/>
          <p:nvPr/>
        </p:nvGrpSpPr>
        <p:grpSpPr>
          <a:xfrm>
            <a:off x="2312991" y="1427110"/>
            <a:ext cx="1368526" cy="3163301"/>
            <a:chOff x="2312991" y="1427110"/>
            <a:chExt cx="1368526" cy="3163301"/>
          </a:xfrm>
        </p:grpSpPr>
        <p:sp>
          <p:nvSpPr>
            <p:cNvPr id="8" name="TextBox 7"/>
            <p:cNvSpPr txBox="1"/>
            <p:nvPr/>
          </p:nvSpPr>
          <p:spPr>
            <a:xfrm>
              <a:off x="2312991" y="3489615"/>
              <a:ext cx="851515" cy="830997"/>
            </a:xfrm>
            <a:prstGeom prst="rect">
              <a:avLst/>
            </a:prstGeom>
            <a:noFill/>
          </p:spPr>
          <p:txBody>
            <a:bodyPr wrap="none" rtlCol="0">
              <a:spAutoFit/>
            </a:bodyPr>
            <a:lstStyle/>
            <a:p>
              <a:pPr algn="ctr"/>
              <a:r>
                <a:rPr lang="en-US" sz="2400" dirty="0"/>
                <a:t>Few</a:t>
              </a:r>
            </a:p>
            <a:p>
              <a:pPr algn="ctr"/>
              <a:r>
                <a:rPr lang="en-US" sz="2400" dirty="0"/>
                <a:t>firms</a:t>
              </a:r>
            </a:p>
          </p:txBody>
        </p:sp>
        <p:cxnSp>
          <p:nvCxnSpPr>
            <p:cNvPr id="22" name="Straight Connector 21"/>
            <p:cNvCxnSpPr>
              <a:stCxn id="6" idx="2"/>
              <a:endCxn id="11" idx="0"/>
            </p:cNvCxnSpPr>
            <p:nvPr/>
          </p:nvCxnSpPr>
          <p:spPr bwMode="auto">
            <a:xfrm flipH="1">
              <a:off x="3134836" y="1427110"/>
              <a:ext cx="546681" cy="3163301"/>
            </a:xfrm>
            <a:prstGeom prst="line">
              <a:avLst/>
            </a:prstGeom>
            <a:noFill/>
            <a:ln w="9525" cap="flat" cmpd="sng" algn="ctr">
              <a:solidFill>
                <a:schemeClr val="tx1"/>
              </a:solidFill>
              <a:prstDash val="solid"/>
              <a:round/>
              <a:headEnd type="none" w="med" len="med"/>
              <a:tailEnd type="none" w="med" len="med"/>
            </a:ln>
            <a:effectLst/>
          </p:spPr>
        </p:cxnSp>
      </p:grpSp>
      <p:grpSp>
        <p:nvGrpSpPr>
          <p:cNvPr id="33" name="Group 32"/>
          <p:cNvGrpSpPr/>
          <p:nvPr/>
        </p:nvGrpSpPr>
        <p:grpSpPr>
          <a:xfrm>
            <a:off x="3681517" y="1427110"/>
            <a:ext cx="3252683" cy="858890"/>
            <a:chOff x="3681517" y="1427110"/>
            <a:chExt cx="3252683" cy="858890"/>
          </a:xfrm>
        </p:grpSpPr>
        <p:sp>
          <p:nvSpPr>
            <p:cNvPr id="9" name="TextBox 8"/>
            <p:cNvSpPr txBox="1"/>
            <p:nvPr/>
          </p:nvSpPr>
          <p:spPr>
            <a:xfrm>
              <a:off x="5244314" y="1524000"/>
              <a:ext cx="1689886" cy="461665"/>
            </a:xfrm>
            <a:prstGeom prst="rect">
              <a:avLst/>
            </a:prstGeom>
            <a:noFill/>
          </p:spPr>
          <p:txBody>
            <a:bodyPr wrap="none" rtlCol="0">
              <a:spAutoFit/>
            </a:bodyPr>
            <a:lstStyle/>
            <a:p>
              <a:pPr algn="ctr"/>
              <a:r>
                <a:rPr lang="en-US" sz="2400" dirty="0"/>
                <a:t>Many firms</a:t>
              </a:r>
            </a:p>
          </p:txBody>
        </p:sp>
        <p:cxnSp>
          <p:nvCxnSpPr>
            <p:cNvPr id="25" name="Straight Connector 24"/>
            <p:cNvCxnSpPr>
              <a:stCxn id="6" idx="2"/>
              <a:endCxn id="12" idx="0"/>
            </p:cNvCxnSpPr>
            <p:nvPr/>
          </p:nvCxnSpPr>
          <p:spPr bwMode="auto">
            <a:xfrm>
              <a:off x="3681517" y="1427110"/>
              <a:ext cx="2766900" cy="858890"/>
            </a:xfrm>
            <a:prstGeom prst="line">
              <a:avLst/>
            </a:prstGeom>
            <a:noFill/>
            <a:ln w="9525" cap="flat" cmpd="sng" algn="ctr">
              <a:solidFill>
                <a:schemeClr val="tx1"/>
              </a:solidFill>
              <a:prstDash val="solid"/>
              <a:round/>
              <a:headEnd type="none" w="med" len="med"/>
              <a:tailEnd type="none" w="med" len="med"/>
            </a:ln>
            <a:effectLst/>
          </p:spPr>
        </p:cxnSp>
      </p:grpSp>
      <p:grpSp>
        <p:nvGrpSpPr>
          <p:cNvPr id="34" name="Group 33"/>
          <p:cNvGrpSpPr/>
          <p:nvPr/>
        </p:nvGrpSpPr>
        <p:grpSpPr>
          <a:xfrm>
            <a:off x="4008480" y="2809220"/>
            <a:ext cx="2439937" cy="1381081"/>
            <a:chOff x="4008480" y="2809220"/>
            <a:chExt cx="2439937" cy="1381081"/>
          </a:xfrm>
        </p:grpSpPr>
        <p:sp>
          <p:nvSpPr>
            <p:cNvPr id="13" name="TextBox 12"/>
            <p:cNvSpPr txBox="1"/>
            <p:nvPr/>
          </p:nvSpPr>
          <p:spPr>
            <a:xfrm>
              <a:off x="4008480" y="3207603"/>
              <a:ext cx="2011320" cy="830997"/>
            </a:xfrm>
            <a:prstGeom prst="rect">
              <a:avLst/>
            </a:prstGeom>
            <a:noFill/>
          </p:spPr>
          <p:txBody>
            <a:bodyPr wrap="none" rtlCol="0">
              <a:spAutoFit/>
            </a:bodyPr>
            <a:lstStyle/>
            <a:p>
              <a:pPr algn="ctr"/>
              <a:r>
                <a:rPr lang="en-US" sz="2400" dirty="0"/>
                <a:t>Differentiated</a:t>
              </a:r>
            </a:p>
            <a:p>
              <a:pPr algn="ctr"/>
              <a:r>
                <a:rPr lang="en-US" sz="2400" dirty="0"/>
                <a:t>products</a:t>
              </a:r>
            </a:p>
          </p:txBody>
        </p:sp>
        <p:cxnSp>
          <p:nvCxnSpPr>
            <p:cNvPr id="27" name="Straight Connector 26"/>
            <p:cNvCxnSpPr>
              <a:stCxn id="12" idx="2"/>
              <a:endCxn id="15" idx="0"/>
            </p:cNvCxnSpPr>
            <p:nvPr/>
          </p:nvCxnSpPr>
          <p:spPr bwMode="auto">
            <a:xfrm flipH="1">
              <a:off x="5440021" y="2809220"/>
              <a:ext cx="1008396" cy="1381081"/>
            </a:xfrm>
            <a:prstGeom prst="line">
              <a:avLst/>
            </a:prstGeom>
            <a:noFill/>
            <a:ln w="9525" cap="flat" cmpd="sng" algn="ctr">
              <a:solidFill>
                <a:schemeClr val="tx1"/>
              </a:solidFill>
              <a:prstDash val="solid"/>
              <a:round/>
              <a:headEnd type="none" w="med" len="med"/>
              <a:tailEnd type="none" w="med" len="med"/>
            </a:ln>
            <a:effectLst/>
          </p:spPr>
        </p:cxnSp>
      </p:grpSp>
      <p:grpSp>
        <p:nvGrpSpPr>
          <p:cNvPr id="35" name="Group 34"/>
          <p:cNvGrpSpPr/>
          <p:nvPr/>
        </p:nvGrpSpPr>
        <p:grpSpPr>
          <a:xfrm>
            <a:off x="6448417" y="2809220"/>
            <a:ext cx="2232862" cy="1381081"/>
            <a:chOff x="6448417" y="2809220"/>
            <a:chExt cx="2232862" cy="1381081"/>
          </a:xfrm>
        </p:grpSpPr>
        <p:sp>
          <p:nvSpPr>
            <p:cNvPr id="14" name="TextBox 13"/>
            <p:cNvSpPr txBox="1"/>
            <p:nvPr/>
          </p:nvSpPr>
          <p:spPr>
            <a:xfrm>
              <a:off x="7315200" y="2971800"/>
              <a:ext cx="1366079" cy="830997"/>
            </a:xfrm>
            <a:prstGeom prst="rect">
              <a:avLst/>
            </a:prstGeom>
            <a:noFill/>
          </p:spPr>
          <p:txBody>
            <a:bodyPr wrap="none" rtlCol="0">
              <a:spAutoFit/>
            </a:bodyPr>
            <a:lstStyle/>
            <a:p>
              <a:pPr algn="ctr"/>
              <a:r>
                <a:rPr lang="en-US" sz="2400" dirty="0"/>
                <a:t>Identical</a:t>
              </a:r>
            </a:p>
            <a:p>
              <a:pPr algn="ctr"/>
              <a:r>
                <a:rPr lang="en-US" sz="2400" dirty="0"/>
                <a:t>products</a:t>
              </a:r>
            </a:p>
          </p:txBody>
        </p:sp>
        <p:cxnSp>
          <p:nvCxnSpPr>
            <p:cNvPr id="29" name="Straight Connector 28"/>
            <p:cNvCxnSpPr>
              <a:stCxn id="12" idx="2"/>
              <a:endCxn id="16" idx="0"/>
            </p:cNvCxnSpPr>
            <p:nvPr/>
          </p:nvCxnSpPr>
          <p:spPr bwMode="auto">
            <a:xfrm>
              <a:off x="6448417" y="2809220"/>
              <a:ext cx="1402811" cy="1381081"/>
            </a:xfrm>
            <a:prstGeom prst="line">
              <a:avLst/>
            </a:prstGeom>
            <a:noFill/>
            <a:ln w="9525" cap="flat" cmpd="sng" algn="ctr">
              <a:solidFill>
                <a:schemeClr val="tx1"/>
              </a:solidFill>
              <a:prstDash val="solid"/>
              <a:round/>
              <a:headEnd type="none" w="med" len="med"/>
              <a:tailEnd type="none" w="med" len="med"/>
            </a:ln>
            <a:effectLst/>
          </p:spPr>
        </p:cxnSp>
      </p:grpSp>
      <p:sp>
        <p:nvSpPr>
          <p:cNvPr id="3" name="Footer Placeholder 2">
            <a:extLst>
              <a:ext uri="{FF2B5EF4-FFF2-40B4-BE49-F238E27FC236}">
                <a16:creationId xmlns:a16="http://schemas.microsoft.com/office/drawing/2014/main" id="{3134D1DB-878B-319C-81E3-3DA72EC86593}"/>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8803172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up)">
                                      <p:cBhvr>
                                        <p:cTn id="12" dur="500"/>
                                        <p:tgtEl>
                                          <p:spTgt spid="31"/>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wipe(up)">
                                      <p:cBhvr>
                                        <p:cTn id="21" dur="500"/>
                                        <p:tgtEl>
                                          <p:spTgt spid="3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wipe(up)">
                                      <p:cBhvr>
                                        <p:cTn id="30" dur="500"/>
                                        <p:tgtEl>
                                          <p:spTgt spid="3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ipe(up)">
                                      <p:cBhvr>
                                        <p:cTn id="40" dur="500"/>
                                        <p:tgtEl>
                                          <p:spTgt spid="34"/>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wipe(up)">
                                      <p:cBhvr>
                                        <p:cTn id="49" dur="500"/>
                                        <p:tgtEl>
                                          <p:spTgt spid="35"/>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left)">
                                      <p:cBhvr>
                                        <p:cTn id="5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5"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wrap="square" anchor="ctr"/>
          <a:lstStyle/>
          <a:p>
            <a:r>
              <a:rPr lang="en-US" altLang="en-US" dirty="0"/>
              <a:t>Short Run Equilibrium</a:t>
            </a:r>
          </a:p>
        </p:txBody>
      </p:sp>
      <p:sp>
        <p:nvSpPr>
          <p:cNvPr id="14339" name="Content Placeholder 2"/>
          <p:cNvSpPr>
            <a:spLocks noGrp="1"/>
          </p:cNvSpPr>
          <p:nvPr>
            <p:ph idx="1"/>
          </p:nvPr>
        </p:nvSpPr>
        <p:spPr>
          <a:prstGeom prst="rect">
            <a:avLst/>
          </a:prstGeom>
        </p:spPr>
        <p:txBody>
          <a:bodyPr/>
          <a:lstStyle/>
          <a:p>
            <a:r>
              <a:rPr lang="en-US" altLang="en-US" dirty="0"/>
              <a:t>Profit maximization in the short-run for the monopolistically competitive firm:</a:t>
            </a:r>
          </a:p>
          <a:p>
            <a:pPr lvl="1"/>
            <a:r>
              <a:rPr lang="en-US" altLang="en-US" dirty="0"/>
              <a:t>Produce the quantity where </a:t>
            </a:r>
            <a:r>
              <a:rPr lang="en-US" altLang="en-US" b="1" i="1" dirty="0"/>
              <a:t>MR</a:t>
            </a:r>
            <a:r>
              <a:rPr lang="en-US" altLang="en-US" dirty="0"/>
              <a:t> = </a:t>
            </a:r>
            <a:r>
              <a:rPr lang="en-US" altLang="en-US" b="1" i="1" dirty="0"/>
              <a:t>MC</a:t>
            </a:r>
          </a:p>
          <a:p>
            <a:pPr lvl="1"/>
            <a:r>
              <a:rPr lang="en-US" altLang="en-US" dirty="0"/>
              <a:t>Price: on the demand curve</a:t>
            </a:r>
          </a:p>
          <a:p>
            <a:pPr lvl="1"/>
            <a:r>
              <a:rPr lang="en-US" altLang="en-US" dirty="0"/>
              <a:t>If </a:t>
            </a:r>
            <a:r>
              <a:rPr lang="en-US" altLang="en-US" b="1" i="1" dirty="0"/>
              <a:t>P</a:t>
            </a:r>
            <a:r>
              <a:rPr lang="en-US" altLang="en-US" dirty="0"/>
              <a:t> &gt; </a:t>
            </a:r>
            <a:r>
              <a:rPr lang="en-US" altLang="en-US" b="1" i="1" dirty="0"/>
              <a:t>ATC</a:t>
            </a:r>
            <a:r>
              <a:rPr lang="en-US" altLang="en-US" dirty="0"/>
              <a:t>: profit</a:t>
            </a:r>
          </a:p>
          <a:p>
            <a:pPr lvl="1"/>
            <a:r>
              <a:rPr lang="en-US" altLang="en-US" dirty="0"/>
              <a:t>If </a:t>
            </a:r>
            <a:r>
              <a:rPr lang="en-US" altLang="en-US" b="1" i="1" dirty="0"/>
              <a:t>P</a:t>
            </a:r>
            <a:r>
              <a:rPr lang="en-US" altLang="en-US" dirty="0"/>
              <a:t> &lt; </a:t>
            </a:r>
            <a:r>
              <a:rPr lang="en-US" altLang="en-US" b="1" i="1" dirty="0"/>
              <a:t>ATC</a:t>
            </a:r>
            <a:r>
              <a:rPr lang="en-US" altLang="en-US" dirty="0"/>
              <a:t>: loss</a:t>
            </a:r>
          </a:p>
          <a:p>
            <a:pPr lvl="1"/>
            <a:r>
              <a:rPr lang="en-US" altLang="en-US" dirty="0"/>
              <a:t>Similar to monopoly </a:t>
            </a:r>
          </a:p>
        </p:txBody>
      </p:sp>
      <p:sp>
        <p:nvSpPr>
          <p:cNvPr id="14341"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4D5ECC6E-E5F8-4F05-9F37-8094FD055D43}" type="slidenum">
              <a:rPr lang="en-US" altLang="en-US" sz="1200" smtClean="0">
                <a:solidFill>
                  <a:srgbClr val="002060"/>
                </a:solidFill>
              </a:rPr>
              <a:pPr eaLnBrk="1" hangingPunct="1"/>
              <a:t>8</a:t>
            </a:fld>
            <a:endParaRPr lang="en-US" altLang="en-US" sz="1200" dirty="0">
              <a:solidFill>
                <a:srgbClr val="002060"/>
              </a:solidFill>
            </a:endParaRPr>
          </a:p>
        </p:txBody>
      </p:sp>
      <p:sp>
        <p:nvSpPr>
          <p:cNvPr id="2" name="Footer Placeholder 1">
            <a:extLst>
              <a:ext uri="{FF2B5EF4-FFF2-40B4-BE49-F238E27FC236}">
                <a16:creationId xmlns:a16="http://schemas.microsoft.com/office/drawing/2014/main" id="{74372492-E44F-0507-5F97-48B1CDA62073}"/>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21375130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58"/>
          <p:cNvGrpSpPr>
            <a:grpSpLocks/>
          </p:cNvGrpSpPr>
          <p:nvPr/>
        </p:nvGrpSpPr>
        <p:grpSpPr bwMode="auto">
          <a:xfrm>
            <a:off x="5046662" y="2018074"/>
            <a:ext cx="2066925" cy="1409700"/>
            <a:chOff x="3018" y="1553"/>
            <a:chExt cx="1302" cy="888"/>
          </a:xfrm>
        </p:grpSpPr>
        <p:sp>
          <p:nvSpPr>
            <p:cNvPr id="10278" name="Rectangle 2"/>
            <p:cNvSpPr>
              <a:spLocks noChangeArrowheads="1"/>
            </p:cNvSpPr>
            <p:nvPr/>
          </p:nvSpPr>
          <p:spPr bwMode="auto">
            <a:xfrm>
              <a:off x="3018" y="2053"/>
              <a:ext cx="928" cy="388"/>
            </a:xfrm>
            <a:prstGeom prst="rect">
              <a:avLst/>
            </a:prstGeom>
            <a:solidFill>
              <a:srgbClr val="FFCCCC"/>
            </a:solidFill>
            <a:ln w="9525">
              <a:noFill/>
              <a:miter lim="800000"/>
              <a:headEnd/>
              <a:tailEnd/>
            </a:ln>
          </p:spPr>
          <p:txBody>
            <a:bodyPr wrap="none" anchor="ctr"/>
            <a:lstStyle/>
            <a:p>
              <a:endParaRPr lang="en-US" dirty="0">
                <a:latin typeface="Arial"/>
                <a:cs typeface="Arial"/>
              </a:endParaRPr>
            </a:p>
          </p:txBody>
        </p:sp>
        <p:grpSp>
          <p:nvGrpSpPr>
            <p:cNvPr id="3" name="Group 55"/>
            <p:cNvGrpSpPr>
              <a:grpSpLocks/>
            </p:cNvGrpSpPr>
            <p:nvPr/>
          </p:nvGrpSpPr>
          <p:grpSpPr bwMode="auto">
            <a:xfrm>
              <a:off x="3709" y="1553"/>
              <a:ext cx="611" cy="582"/>
              <a:chOff x="3730" y="1567"/>
              <a:chExt cx="611" cy="582"/>
            </a:xfrm>
          </p:grpSpPr>
          <p:sp>
            <p:nvSpPr>
              <p:cNvPr id="10280" name="Text Box 53"/>
              <p:cNvSpPr txBox="1">
                <a:spLocks noChangeArrowheads="1"/>
              </p:cNvSpPr>
              <p:nvPr/>
            </p:nvSpPr>
            <p:spPr bwMode="auto">
              <a:xfrm>
                <a:off x="3730" y="1567"/>
                <a:ext cx="611" cy="288"/>
              </a:xfrm>
              <a:prstGeom prst="rect">
                <a:avLst/>
              </a:prstGeom>
              <a:noFill/>
              <a:ln w="9525">
                <a:noFill/>
                <a:miter lim="800000"/>
                <a:headEnd/>
                <a:tailEnd/>
              </a:ln>
            </p:spPr>
            <p:txBody>
              <a:bodyPr>
                <a:spAutoFit/>
              </a:bodyPr>
              <a:lstStyle/>
              <a:p>
                <a:pPr algn="ctr">
                  <a:spcBef>
                    <a:spcPct val="50000"/>
                  </a:spcBef>
                </a:pPr>
                <a:r>
                  <a:rPr lang="en-US" sz="2400" dirty="0">
                    <a:solidFill>
                      <a:srgbClr val="4E519E"/>
                    </a:solidFill>
                    <a:latin typeface="Arial"/>
                    <a:cs typeface="Arial"/>
                  </a:rPr>
                  <a:t>profit</a:t>
                </a:r>
              </a:p>
            </p:txBody>
          </p:sp>
          <p:sp>
            <p:nvSpPr>
              <p:cNvPr id="10281" name="Line 54"/>
              <p:cNvSpPr>
                <a:spLocks noChangeShapeType="1"/>
              </p:cNvSpPr>
              <p:nvPr/>
            </p:nvSpPr>
            <p:spPr bwMode="auto">
              <a:xfrm flipV="1">
                <a:off x="3737" y="1833"/>
                <a:ext cx="288" cy="316"/>
              </a:xfrm>
              <a:prstGeom prst="line">
                <a:avLst/>
              </a:prstGeom>
              <a:noFill/>
              <a:ln w="9525">
                <a:solidFill>
                  <a:schemeClr val="tx1"/>
                </a:solidFill>
                <a:round/>
                <a:headEnd/>
                <a:tailEnd/>
              </a:ln>
            </p:spPr>
            <p:txBody>
              <a:bodyPr/>
              <a:lstStyle/>
              <a:p>
                <a:endParaRPr lang="en-US" dirty="0">
                  <a:latin typeface="Arial"/>
                  <a:cs typeface="Arial"/>
                </a:endParaRPr>
              </a:p>
            </p:txBody>
          </p:sp>
        </p:grpSp>
      </p:grpSp>
      <p:grpSp>
        <p:nvGrpSpPr>
          <p:cNvPr id="4" name="Group 51"/>
          <p:cNvGrpSpPr>
            <a:grpSpLocks/>
          </p:cNvGrpSpPr>
          <p:nvPr/>
        </p:nvGrpSpPr>
        <p:grpSpPr bwMode="auto">
          <a:xfrm>
            <a:off x="4287837" y="3242041"/>
            <a:ext cx="2236788" cy="369888"/>
            <a:chOff x="2540" y="2324"/>
            <a:chExt cx="1409" cy="233"/>
          </a:xfrm>
        </p:grpSpPr>
        <p:sp>
          <p:nvSpPr>
            <p:cNvPr id="10276" name="Line 44"/>
            <p:cNvSpPr>
              <a:spLocks noChangeShapeType="1"/>
            </p:cNvSpPr>
            <p:nvPr/>
          </p:nvSpPr>
          <p:spPr bwMode="auto">
            <a:xfrm flipH="1">
              <a:off x="3017" y="2443"/>
              <a:ext cx="932" cy="0"/>
            </a:xfrm>
            <a:prstGeom prst="line">
              <a:avLst/>
            </a:prstGeom>
            <a:noFill/>
            <a:ln w="9525">
              <a:solidFill>
                <a:schemeClr val="tx1"/>
              </a:solidFill>
              <a:prstDash val="lgDash"/>
              <a:round/>
              <a:headEnd/>
              <a:tailEnd/>
            </a:ln>
          </p:spPr>
          <p:txBody>
            <a:bodyPr/>
            <a:lstStyle/>
            <a:p>
              <a:endParaRPr lang="en-US" dirty="0">
                <a:latin typeface="Arial"/>
                <a:cs typeface="Arial"/>
              </a:endParaRPr>
            </a:p>
          </p:txBody>
        </p:sp>
        <p:sp>
          <p:nvSpPr>
            <p:cNvPr id="10277" name="Rectangle 46"/>
            <p:cNvSpPr>
              <a:spLocks noChangeArrowheads="1"/>
            </p:cNvSpPr>
            <p:nvPr/>
          </p:nvSpPr>
          <p:spPr bwMode="auto">
            <a:xfrm>
              <a:off x="2540" y="2324"/>
              <a:ext cx="427" cy="233"/>
            </a:xfrm>
            <a:prstGeom prst="rect">
              <a:avLst/>
            </a:prstGeom>
            <a:noFill/>
            <a:ln w="9525">
              <a:noFill/>
              <a:miter lim="800000"/>
              <a:headEnd/>
              <a:tailEnd/>
            </a:ln>
          </p:spPr>
          <p:txBody>
            <a:bodyPr lIns="0" tIns="0" rIns="0" bIns="0">
              <a:spAutoFit/>
            </a:bodyPr>
            <a:lstStyle/>
            <a:p>
              <a:pPr algn="r"/>
              <a:r>
                <a:rPr lang="en-US" sz="2400" i="1" dirty="0">
                  <a:latin typeface="Arial"/>
                  <a:cs typeface="Arial"/>
                </a:rPr>
                <a:t>ATC</a:t>
              </a:r>
            </a:p>
          </p:txBody>
        </p:sp>
      </p:grpSp>
      <p:grpSp>
        <p:nvGrpSpPr>
          <p:cNvPr id="5" name="Group 52"/>
          <p:cNvGrpSpPr>
            <a:grpSpLocks/>
          </p:cNvGrpSpPr>
          <p:nvPr/>
        </p:nvGrpSpPr>
        <p:grpSpPr bwMode="auto">
          <a:xfrm>
            <a:off x="4687887" y="2618149"/>
            <a:ext cx="1836738" cy="1393825"/>
            <a:chOff x="2792" y="1931"/>
            <a:chExt cx="1157" cy="878"/>
          </a:xfrm>
        </p:grpSpPr>
        <p:grpSp>
          <p:nvGrpSpPr>
            <p:cNvPr id="6" name="Group 3"/>
            <p:cNvGrpSpPr>
              <a:grpSpLocks/>
            </p:cNvGrpSpPr>
            <p:nvPr/>
          </p:nvGrpSpPr>
          <p:grpSpPr bwMode="auto">
            <a:xfrm>
              <a:off x="3017" y="2052"/>
              <a:ext cx="932" cy="757"/>
              <a:chOff x="357" y="2450"/>
              <a:chExt cx="795" cy="646"/>
            </a:xfrm>
          </p:grpSpPr>
          <p:sp>
            <p:nvSpPr>
              <p:cNvPr id="10274" name="Line 4"/>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dirty="0">
                  <a:latin typeface="Arial"/>
                  <a:cs typeface="Arial"/>
                </a:endParaRPr>
              </a:p>
            </p:txBody>
          </p:sp>
          <p:sp>
            <p:nvSpPr>
              <p:cNvPr id="10275" name="Line 5"/>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dirty="0">
                  <a:latin typeface="Arial"/>
                  <a:cs typeface="Arial"/>
                </a:endParaRPr>
              </a:p>
            </p:txBody>
          </p:sp>
        </p:grpSp>
        <p:sp>
          <p:nvSpPr>
            <p:cNvPr id="10273" name="Rectangle 45"/>
            <p:cNvSpPr>
              <a:spLocks noChangeArrowheads="1"/>
            </p:cNvSpPr>
            <p:nvPr/>
          </p:nvSpPr>
          <p:spPr bwMode="auto">
            <a:xfrm>
              <a:off x="2792" y="1931"/>
              <a:ext cx="170" cy="233"/>
            </a:xfrm>
            <a:prstGeom prst="rect">
              <a:avLst/>
            </a:prstGeom>
            <a:noFill/>
            <a:ln w="9525">
              <a:noFill/>
              <a:miter lim="800000"/>
              <a:headEnd/>
              <a:tailEnd/>
            </a:ln>
          </p:spPr>
          <p:txBody>
            <a:bodyPr wrap="none" lIns="0" tIns="0" rIns="0" bIns="0">
              <a:spAutoFit/>
            </a:bodyPr>
            <a:lstStyle/>
            <a:p>
              <a:pPr algn="r"/>
              <a:r>
                <a:rPr lang="en-US" sz="2400" b="1" i="1" dirty="0">
                  <a:latin typeface="Arial"/>
                  <a:cs typeface="Arial"/>
                </a:rPr>
                <a:t>P</a:t>
              </a:r>
            </a:p>
          </p:txBody>
        </p:sp>
      </p:grpSp>
      <p:sp>
        <p:nvSpPr>
          <p:cNvPr id="10247" name="Rectangle 6"/>
          <p:cNvSpPr>
            <a:spLocks noGrp="1" noChangeArrowheads="1"/>
          </p:cNvSpPr>
          <p:nvPr>
            <p:ph type="title"/>
          </p:nvPr>
        </p:nvSpPr>
        <p:spPr/>
        <p:txBody>
          <a:bodyPr>
            <a:noAutofit/>
          </a:bodyPr>
          <a:lstStyle/>
          <a:p>
            <a:pPr eaLnBrk="1" hangingPunct="1">
              <a:lnSpc>
                <a:spcPct val="110000"/>
              </a:lnSpc>
            </a:pPr>
            <a:r>
              <a:rPr lang="en-US" dirty="0">
                <a:solidFill>
                  <a:srgbClr val="AE1221"/>
                </a:solidFill>
              </a:rPr>
              <a:t>EXAMPLE 1: </a:t>
            </a:r>
            <a:r>
              <a:rPr lang="en-US" dirty="0">
                <a:solidFill>
                  <a:schemeClr val="tx1"/>
                </a:solidFill>
              </a:rPr>
              <a:t>Short-run equilibrium</a:t>
            </a:r>
          </a:p>
        </p:txBody>
      </p:sp>
      <p:sp>
        <p:nvSpPr>
          <p:cNvPr id="15" name="Slide Number Placeholder 14"/>
          <p:cNvSpPr>
            <a:spLocks noGrp="1"/>
          </p:cNvSpPr>
          <p:nvPr>
            <p:ph type="sldNum" sz="quarter" idx="10"/>
          </p:nvPr>
        </p:nvSpPr>
        <p:spPr/>
        <p:txBody>
          <a:bodyPr/>
          <a:lstStyle/>
          <a:p>
            <a:pPr>
              <a:defRPr/>
            </a:pPr>
            <a:fld id="{073C29DC-2178-4274-9150-45F8EBD31C2D}" type="slidenum">
              <a:rPr lang="en-US" smtClean="0"/>
              <a:pPr>
                <a:defRPr/>
              </a:pPr>
              <a:t>9</a:t>
            </a:fld>
            <a:endParaRPr lang="en-US" dirty="0"/>
          </a:p>
        </p:txBody>
      </p:sp>
      <p:sp>
        <p:nvSpPr>
          <p:cNvPr id="123911" name="Rectangle 7"/>
          <p:cNvSpPr>
            <a:spLocks noGrp="1" noChangeArrowheads="1"/>
          </p:cNvSpPr>
          <p:nvPr>
            <p:ph idx="12"/>
          </p:nvPr>
        </p:nvSpPr>
        <p:spPr>
          <a:xfrm>
            <a:off x="381000" y="914400"/>
            <a:ext cx="4114800" cy="5257800"/>
          </a:xfrm>
        </p:spPr>
        <p:txBody>
          <a:bodyPr>
            <a:normAutofit lnSpcReduction="10000"/>
          </a:bodyPr>
          <a:lstStyle/>
          <a:p>
            <a:pPr marL="0" indent="0" eaLnBrk="1" hangingPunct="1">
              <a:spcBef>
                <a:spcPct val="50000"/>
              </a:spcBef>
              <a:buFont typeface="Wingdings" pitchFamily="2" charset="2"/>
              <a:buNone/>
            </a:pPr>
            <a:r>
              <a:rPr lang="en-US" sz="2800" dirty="0"/>
              <a:t>The firm faces a downward-sloping </a:t>
            </a:r>
            <a:br>
              <a:rPr lang="en-US" sz="2800" dirty="0"/>
            </a:br>
            <a:r>
              <a:rPr lang="en-US" sz="2800" b="1" i="1" dirty="0"/>
              <a:t>D</a:t>
            </a:r>
            <a:r>
              <a:rPr lang="en-US" sz="2800" dirty="0"/>
              <a:t> curve. </a:t>
            </a:r>
          </a:p>
          <a:p>
            <a:pPr marL="0" indent="0" eaLnBrk="1" hangingPunct="1">
              <a:spcBef>
                <a:spcPct val="50000"/>
              </a:spcBef>
              <a:buFont typeface="Wingdings" pitchFamily="2" charset="2"/>
              <a:buNone/>
            </a:pPr>
            <a:r>
              <a:rPr lang="en-US" sz="2800" dirty="0"/>
              <a:t>At each </a:t>
            </a:r>
            <a:r>
              <a:rPr lang="en-US" sz="2800" b="1" i="1" dirty="0"/>
              <a:t>Q</a:t>
            </a:r>
            <a:r>
              <a:rPr lang="en-US" sz="2800" dirty="0"/>
              <a:t>, </a:t>
            </a:r>
            <a:r>
              <a:rPr lang="en-US" sz="2800" b="1" i="1" dirty="0">
                <a:solidFill>
                  <a:srgbClr val="C00000"/>
                </a:solidFill>
              </a:rPr>
              <a:t>MR</a:t>
            </a:r>
            <a:r>
              <a:rPr lang="en-US" sz="2800" dirty="0">
                <a:solidFill>
                  <a:srgbClr val="C00000"/>
                </a:solidFill>
              </a:rPr>
              <a:t> &lt; </a:t>
            </a:r>
            <a:r>
              <a:rPr lang="en-US" sz="2800" b="1" i="1" dirty="0">
                <a:solidFill>
                  <a:srgbClr val="C00000"/>
                </a:solidFill>
              </a:rPr>
              <a:t>P</a:t>
            </a:r>
            <a:r>
              <a:rPr lang="en-US" sz="2800" dirty="0"/>
              <a:t>.</a:t>
            </a:r>
          </a:p>
          <a:p>
            <a:pPr marL="0" indent="0" eaLnBrk="1" hangingPunct="1">
              <a:spcBef>
                <a:spcPct val="50000"/>
              </a:spcBef>
              <a:buFont typeface="Wingdings" pitchFamily="2" charset="2"/>
              <a:buNone/>
            </a:pPr>
            <a:r>
              <a:rPr lang="en-US" sz="2800" dirty="0">
                <a:solidFill>
                  <a:srgbClr val="4E519E"/>
                </a:solidFill>
              </a:rPr>
              <a:t>Identify the firm’s profit or loss. </a:t>
            </a:r>
          </a:p>
          <a:p>
            <a:pPr marL="0" indent="0" eaLnBrk="1" hangingPunct="1">
              <a:spcBef>
                <a:spcPct val="50000"/>
              </a:spcBef>
              <a:buFont typeface="Wingdings" pitchFamily="2" charset="2"/>
              <a:buNone/>
            </a:pPr>
            <a:r>
              <a:rPr lang="en-US" sz="2800" dirty="0">
                <a:solidFill>
                  <a:srgbClr val="4E519E"/>
                </a:solidFill>
              </a:rPr>
              <a:t>To maximize profit, firm produces </a:t>
            </a:r>
            <a:r>
              <a:rPr lang="en-US" sz="2800" b="1" i="1" dirty="0">
                <a:solidFill>
                  <a:srgbClr val="4E519E"/>
                </a:solidFill>
              </a:rPr>
              <a:t>Q</a:t>
            </a:r>
            <a:r>
              <a:rPr lang="en-US" sz="2800" dirty="0">
                <a:solidFill>
                  <a:srgbClr val="4E519E"/>
                </a:solidFill>
              </a:rPr>
              <a:t> where 	</a:t>
            </a:r>
            <a:r>
              <a:rPr lang="en-US" sz="2800" b="1" i="1" dirty="0">
                <a:solidFill>
                  <a:srgbClr val="4E519E"/>
                </a:solidFill>
              </a:rPr>
              <a:t>MR</a:t>
            </a:r>
            <a:r>
              <a:rPr lang="en-US" sz="2800" dirty="0">
                <a:solidFill>
                  <a:srgbClr val="4E519E"/>
                </a:solidFill>
              </a:rPr>
              <a:t> = </a:t>
            </a:r>
            <a:r>
              <a:rPr lang="en-US" sz="2800" b="1" i="1" dirty="0">
                <a:solidFill>
                  <a:srgbClr val="4E519E"/>
                </a:solidFill>
              </a:rPr>
              <a:t>MC</a:t>
            </a:r>
            <a:r>
              <a:rPr lang="en-US" sz="2800" i="1" dirty="0">
                <a:solidFill>
                  <a:srgbClr val="4E519E"/>
                </a:solidFill>
              </a:rPr>
              <a:t>.</a:t>
            </a:r>
            <a:endParaRPr lang="en-US" sz="2800" dirty="0">
              <a:solidFill>
                <a:srgbClr val="4E519E"/>
              </a:solidFill>
            </a:endParaRPr>
          </a:p>
          <a:p>
            <a:pPr marL="0" indent="0" eaLnBrk="1" hangingPunct="1">
              <a:spcBef>
                <a:spcPct val="50000"/>
              </a:spcBef>
              <a:buFont typeface="Wingdings" pitchFamily="2" charset="2"/>
              <a:buNone/>
            </a:pPr>
            <a:r>
              <a:rPr lang="en-US" sz="2800" dirty="0">
                <a:solidFill>
                  <a:srgbClr val="4E519E"/>
                </a:solidFill>
              </a:rPr>
              <a:t>The firm uses the </a:t>
            </a:r>
            <a:br>
              <a:rPr lang="en-US" sz="2800" dirty="0">
                <a:solidFill>
                  <a:srgbClr val="4E519E"/>
                </a:solidFill>
              </a:rPr>
            </a:br>
            <a:r>
              <a:rPr lang="en-US" sz="2800" b="1" i="1" dirty="0">
                <a:solidFill>
                  <a:srgbClr val="4E519E"/>
                </a:solidFill>
              </a:rPr>
              <a:t>D</a:t>
            </a:r>
            <a:r>
              <a:rPr lang="en-US" sz="2800" dirty="0">
                <a:solidFill>
                  <a:srgbClr val="4E519E"/>
                </a:solidFill>
              </a:rPr>
              <a:t> curve to set </a:t>
            </a:r>
            <a:r>
              <a:rPr lang="en-US" sz="2800" b="1" i="1" dirty="0">
                <a:solidFill>
                  <a:srgbClr val="4E519E"/>
                </a:solidFill>
              </a:rPr>
              <a:t>P</a:t>
            </a:r>
            <a:r>
              <a:rPr lang="en-US" sz="2800" dirty="0">
                <a:solidFill>
                  <a:srgbClr val="4E519E"/>
                </a:solidFill>
              </a:rPr>
              <a:t>.  </a:t>
            </a:r>
            <a:endParaRPr lang="en-US" sz="2800" b="1" i="1" dirty="0">
              <a:solidFill>
                <a:srgbClr val="4E519E"/>
              </a:solidFill>
            </a:endParaRPr>
          </a:p>
        </p:txBody>
      </p:sp>
      <p:grpSp>
        <p:nvGrpSpPr>
          <p:cNvPr id="7" name="Group 8"/>
          <p:cNvGrpSpPr>
            <a:grpSpLocks/>
          </p:cNvGrpSpPr>
          <p:nvPr/>
        </p:nvGrpSpPr>
        <p:grpSpPr bwMode="auto">
          <a:xfrm>
            <a:off x="3462337" y="1668824"/>
            <a:ext cx="5376863" cy="3893776"/>
            <a:chOff x="1579" y="1014"/>
            <a:chExt cx="3434" cy="2654"/>
          </a:xfrm>
        </p:grpSpPr>
        <p:grpSp>
          <p:nvGrpSpPr>
            <p:cNvPr id="8" name="Group 9"/>
            <p:cNvGrpSpPr>
              <a:grpSpLocks/>
            </p:cNvGrpSpPr>
            <p:nvPr/>
          </p:nvGrpSpPr>
          <p:grpSpPr bwMode="auto">
            <a:xfrm>
              <a:off x="2591" y="1080"/>
              <a:ext cx="2262" cy="2284"/>
              <a:chOff x="1489" y="785"/>
              <a:chExt cx="3650" cy="2492"/>
            </a:xfrm>
          </p:grpSpPr>
          <p:sp>
            <p:nvSpPr>
              <p:cNvPr id="10270" name="Line 10"/>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dirty="0">
                  <a:latin typeface="Arial"/>
                  <a:cs typeface="Arial"/>
                </a:endParaRPr>
              </a:p>
            </p:txBody>
          </p:sp>
          <p:sp>
            <p:nvSpPr>
              <p:cNvPr id="10271" name="Line 11"/>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dirty="0">
                  <a:latin typeface="Arial"/>
                  <a:cs typeface="Arial"/>
                </a:endParaRPr>
              </a:p>
            </p:txBody>
          </p:sp>
        </p:grpSp>
        <p:sp>
          <p:nvSpPr>
            <p:cNvPr id="10268" name="Text Box 12"/>
            <p:cNvSpPr txBox="1">
              <a:spLocks noChangeArrowheads="1"/>
            </p:cNvSpPr>
            <p:nvPr/>
          </p:nvSpPr>
          <p:spPr bwMode="auto">
            <a:xfrm>
              <a:off x="4232" y="3416"/>
              <a:ext cx="781" cy="252"/>
            </a:xfrm>
            <a:prstGeom prst="rect">
              <a:avLst/>
            </a:prstGeom>
            <a:noFill/>
            <a:ln w="9525">
              <a:noFill/>
              <a:miter lim="800000"/>
              <a:headEnd/>
              <a:tailEnd/>
            </a:ln>
          </p:spPr>
          <p:txBody>
            <a:bodyPr lIns="0" tIns="0" rIns="0" bIns="0">
              <a:spAutoFit/>
            </a:bodyPr>
            <a:lstStyle/>
            <a:p>
              <a:pPr algn="r">
                <a:spcBef>
                  <a:spcPct val="50000"/>
                </a:spcBef>
              </a:pPr>
              <a:r>
                <a:rPr lang="en-US" sz="2400" dirty="0">
                  <a:latin typeface="Arial"/>
                  <a:cs typeface="Arial"/>
                </a:rPr>
                <a:t>Quantity</a:t>
              </a:r>
            </a:p>
          </p:txBody>
        </p:sp>
        <p:sp>
          <p:nvSpPr>
            <p:cNvPr id="10269" name="Text Box 13"/>
            <p:cNvSpPr txBox="1">
              <a:spLocks noChangeArrowheads="1"/>
            </p:cNvSpPr>
            <p:nvPr/>
          </p:nvSpPr>
          <p:spPr bwMode="auto">
            <a:xfrm>
              <a:off x="1579" y="1014"/>
              <a:ext cx="1001" cy="312"/>
            </a:xfrm>
            <a:prstGeom prst="rect">
              <a:avLst/>
            </a:prstGeom>
            <a:noFill/>
            <a:ln w="9525">
              <a:noFill/>
              <a:miter lim="800000"/>
              <a:headEnd/>
              <a:tailEnd/>
            </a:ln>
          </p:spPr>
          <p:txBody>
            <a:bodyPr>
              <a:spAutoFit/>
            </a:bodyPr>
            <a:lstStyle/>
            <a:p>
              <a:pPr algn="r">
                <a:spcBef>
                  <a:spcPct val="50000"/>
                </a:spcBef>
              </a:pPr>
              <a:r>
                <a:rPr lang="en-US" sz="2400" dirty="0">
                  <a:latin typeface="Arial"/>
                  <a:cs typeface="Arial"/>
                </a:rPr>
                <a:t>Price</a:t>
              </a:r>
            </a:p>
          </p:txBody>
        </p:sp>
      </p:grpSp>
      <p:grpSp>
        <p:nvGrpSpPr>
          <p:cNvPr id="9" name="Group 39"/>
          <p:cNvGrpSpPr>
            <a:grpSpLocks/>
          </p:cNvGrpSpPr>
          <p:nvPr/>
        </p:nvGrpSpPr>
        <p:grpSpPr bwMode="auto">
          <a:xfrm>
            <a:off x="5416550" y="1364024"/>
            <a:ext cx="3346450" cy="2127250"/>
            <a:chOff x="2859" y="931"/>
            <a:chExt cx="2108" cy="1340"/>
          </a:xfrm>
        </p:grpSpPr>
        <p:sp>
          <p:nvSpPr>
            <p:cNvPr id="10265" name="Arc 15"/>
            <p:cNvSpPr>
              <a:spLocks/>
            </p:cNvSpPr>
            <p:nvPr/>
          </p:nvSpPr>
          <p:spPr bwMode="auto">
            <a:xfrm flipH="1" flipV="1">
              <a:off x="2859" y="931"/>
              <a:ext cx="1759" cy="1340"/>
            </a:xfrm>
            <a:custGeom>
              <a:avLst/>
              <a:gdLst>
                <a:gd name="T0" fmla="*/ 0 w 33610"/>
                <a:gd name="T1" fmla="*/ 0 h 21600"/>
                <a:gd name="T2" fmla="*/ 0 w 33610"/>
                <a:gd name="T3" fmla="*/ 0 h 21600"/>
                <a:gd name="T4" fmla="*/ 0 w 33610"/>
                <a:gd name="T5" fmla="*/ 0 h 21600"/>
                <a:gd name="T6" fmla="*/ 0 60000 65536"/>
                <a:gd name="T7" fmla="*/ 0 60000 65536"/>
                <a:gd name="T8" fmla="*/ 0 60000 65536"/>
                <a:gd name="T9" fmla="*/ 0 w 33610"/>
                <a:gd name="T10" fmla="*/ 0 h 21600"/>
                <a:gd name="T11" fmla="*/ 33610 w 33610"/>
                <a:gd name="T12" fmla="*/ 21600 h 21600"/>
              </a:gdLst>
              <a:ahLst/>
              <a:cxnLst>
                <a:cxn ang="T6">
                  <a:pos x="T0" y="T1"/>
                </a:cxn>
                <a:cxn ang="T7">
                  <a:pos x="T2" y="T3"/>
                </a:cxn>
                <a:cxn ang="T8">
                  <a:pos x="T4" y="T5"/>
                </a:cxn>
              </a:cxnLst>
              <a:rect l="T9" t="T10" r="T11" b="T12"/>
              <a:pathLst>
                <a:path w="33610" h="21600" fill="none" extrusionOk="0">
                  <a:moveTo>
                    <a:pt x="0" y="6309"/>
                  </a:moveTo>
                  <a:cubicBezTo>
                    <a:pt x="4049" y="2268"/>
                    <a:pt x="9535" y="-1"/>
                    <a:pt x="15256" y="0"/>
                  </a:cubicBezTo>
                  <a:cubicBezTo>
                    <a:pt x="22728" y="0"/>
                    <a:pt x="29669" y="3861"/>
                    <a:pt x="33609" y="10211"/>
                  </a:cubicBezTo>
                </a:path>
                <a:path w="33610" h="21600" stroke="0" extrusionOk="0">
                  <a:moveTo>
                    <a:pt x="0" y="6309"/>
                  </a:moveTo>
                  <a:cubicBezTo>
                    <a:pt x="4049" y="2268"/>
                    <a:pt x="9535" y="-1"/>
                    <a:pt x="15256" y="0"/>
                  </a:cubicBezTo>
                  <a:cubicBezTo>
                    <a:pt x="22728" y="0"/>
                    <a:pt x="29669" y="3861"/>
                    <a:pt x="33609" y="10211"/>
                  </a:cubicBezTo>
                  <a:lnTo>
                    <a:pt x="15256" y="21600"/>
                  </a:lnTo>
                  <a:close/>
                </a:path>
              </a:pathLst>
            </a:custGeom>
            <a:noFill/>
            <a:ln w="38100">
              <a:solidFill>
                <a:srgbClr val="333399"/>
              </a:solidFill>
              <a:round/>
              <a:headEnd/>
              <a:tailEnd/>
            </a:ln>
          </p:spPr>
          <p:txBody>
            <a:bodyPr wrap="none" anchor="ctr"/>
            <a:lstStyle/>
            <a:p>
              <a:endParaRPr lang="en-US" dirty="0">
                <a:latin typeface="Arial"/>
                <a:cs typeface="Arial"/>
              </a:endParaRPr>
            </a:p>
          </p:txBody>
        </p:sp>
        <p:sp>
          <p:nvSpPr>
            <p:cNvPr id="10266" name="Text Box 16"/>
            <p:cNvSpPr txBox="1">
              <a:spLocks noChangeArrowheads="1"/>
            </p:cNvSpPr>
            <p:nvPr/>
          </p:nvSpPr>
          <p:spPr bwMode="auto">
            <a:xfrm>
              <a:off x="4444" y="1659"/>
              <a:ext cx="523" cy="233"/>
            </a:xfrm>
            <a:prstGeom prst="rect">
              <a:avLst/>
            </a:prstGeom>
            <a:noFill/>
            <a:ln w="9525">
              <a:noFill/>
              <a:miter lim="800000"/>
              <a:headEnd/>
              <a:tailEnd/>
            </a:ln>
          </p:spPr>
          <p:txBody>
            <a:bodyPr lIns="0" tIns="0" rIns="0" bIns="0">
              <a:spAutoFit/>
            </a:bodyPr>
            <a:lstStyle/>
            <a:p>
              <a:pPr algn="ctr">
                <a:spcBef>
                  <a:spcPct val="50000"/>
                </a:spcBef>
              </a:pPr>
              <a:r>
                <a:rPr lang="en-US" sz="2400" i="1" dirty="0">
                  <a:latin typeface="Arial"/>
                  <a:cs typeface="Arial"/>
                </a:rPr>
                <a:t>ATC</a:t>
              </a:r>
            </a:p>
          </p:txBody>
        </p:sp>
      </p:grpSp>
      <p:grpSp>
        <p:nvGrpSpPr>
          <p:cNvPr id="10" name="Group 47"/>
          <p:cNvGrpSpPr>
            <a:grpSpLocks/>
          </p:cNvGrpSpPr>
          <p:nvPr/>
        </p:nvGrpSpPr>
        <p:grpSpPr bwMode="auto">
          <a:xfrm>
            <a:off x="5421312" y="2245087"/>
            <a:ext cx="3117850" cy="1665288"/>
            <a:chOff x="3254" y="1696"/>
            <a:chExt cx="1964" cy="1049"/>
          </a:xfrm>
        </p:grpSpPr>
        <p:sp>
          <p:nvSpPr>
            <p:cNvPr id="10263" name="Line 18"/>
            <p:cNvSpPr>
              <a:spLocks noChangeShapeType="1"/>
            </p:cNvSpPr>
            <p:nvPr/>
          </p:nvSpPr>
          <p:spPr bwMode="auto">
            <a:xfrm>
              <a:off x="3254" y="1696"/>
              <a:ext cx="1736" cy="895"/>
            </a:xfrm>
            <a:prstGeom prst="line">
              <a:avLst/>
            </a:prstGeom>
            <a:noFill/>
            <a:ln w="38100">
              <a:solidFill>
                <a:srgbClr val="333399"/>
              </a:solidFill>
              <a:round/>
              <a:headEnd/>
              <a:tailEnd/>
            </a:ln>
          </p:spPr>
          <p:txBody>
            <a:bodyPr/>
            <a:lstStyle/>
            <a:p>
              <a:endParaRPr lang="en-US" dirty="0">
                <a:latin typeface="Arial"/>
                <a:cs typeface="Arial"/>
              </a:endParaRPr>
            </a:p>
          </p:txBody>
        </p:sp>
        <p:sp>
          <p:nvSpPr>
            <p:cNvPr id="10264" name="Text Box 19"/>
            <p:cNvSpPr txBox="1">
              <a:spLocks noChangeArrowheads="1"/>
            </p:cNvSpPr>
            <p:nvPr/>
          </p:nvSpPr>
          <p:spPr bwMode="auto">
            <a:xfrm>
              <a:off x="4944" y="2512"/>
              <a:ext cx="274" cy="233"/>
            </a:xfrm>
            <a:prstGeom prst="rect">
              <a:avLst/>
            </a:prstGeom>
            <a:noFill/>
            <a:ln w="9525">
              <a:noFill/>
              <a:miter lim="800000"/>
              <a:headEnd/>
              <a:tailEnd/>
            </a:ln>
          </p:spPr>
          <p:txBody>
            <a:bodyPr lIns="0" tIns="0" rIns="0" bIns="0">
              <a:spAutoFit/>
            </a:bodyPr>
            <a:lstStyle/>
            <a:p>
              <a:pPr algn="ctr">
                <a:spcBef>
                  <a:spcPct val="50000"/>
                </a:spcBef>
              </a:pPr>
              <a:r>
                <a:rPr lang="en-US" sz="2400" i="1" dirty="0">
                  <a:latin typeface="Arial"/>
                  <a:cs typeface="Arial"/>
                </a:rPr>
                <a:t>D</a:t>
              </a:r>
            </a:p>
          </p:txBody>
        </p:sp>
      </p:grpSp>
      <p:grpSp>
        <p:nvGrpSpPr>
          <p:cNvPr id="11" name="Group 48"/>
          <p:cNvGrpSpPr>
            <a:grpSpLocks/>
          </p:cNvGrpSpPr>
          <p:nvPr/>
        </p:nvGrpSpPr>
        <p:grpSpPr bwMode="auto">
          <a:xfrm>
            <a:off x="5338762" y="2927712"/>
            <a:ext cx="2268538" cy="1898651"/>
            <a:chOff x="3202" y="2126"/>
            <a:chExt cx="1429" cy="1196"/>
          </a:xfrm>
        </p:grpSpPr>
        <p:sp>
          <p:nvSpPr>
            <p:cNvPr id="10261" name="Line 21"/>
            <p:cNvSpPr>
              <a:spLocks noChangeShapeType="1"/>
            </p:cNvSpPr>
            <p:nvPr/>
          </p:nvSpPr>
          <p:spPr bwMode="auto">
            <a:xfrm>
              <a:off x="3202" y="2126"/>
              <a:ext cx="1098" cy="1004"/>
            </a:xfrm>
            <a:prstGeom prst="line">
              <a:avLst/>
            </a:prstGeom>
            <a:noFill/>
            <a:ln w="38100">
              <a:solidFill>
                <a:srgbClr val="CC0000"/>
              </a:solidFill>
              <a:round/>
              <a:headEnd/>
              <a:tailEnd/>
            </a:ln>
          </p:spPr>
          <p:txBody>
            <a:bodyPr/>
            <a:lstStyle/>
            <a:p>
              <a:endParaRPr lang="en-US" dirty="0">
                <a:latin typeface="Arial"/>
                <a:cs typeface="Arial"/>
              </a:endParaRPr>
            </a:p>
          </p:txBody>
        </p:sp>
        <p:sp>
          <p:nvSpPr>
            <p:cNvPr id="10262" name="Text Box 22"/>
            <p:cNvSpPr txBox="1">
              <a:spLocks noChangeArrowheads="1"/>
            </p:cNvSpPr>
            <p:nvPr/>
          </p:nvSpPr>
          <p:spPr bwMode="auto">
            <a:xfrm>
              <a:off x="4257" y="3089"/>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dirty="0">
                  <a:latin typeface="Arial"/>
                  <a:cs typeface="Arial"/>
                </a:rPr>
                <a:t>MR</a:t>
              </a:r>
            </a:p>
          </p:txBody>
        </p:sp>
      </p:grpSp>
      <p:grpSp>
        <p:nvGrpSpPr>
          <p:cNvPr id="12" name="Group 38"/>
          <p:cNvGrpSpPr>
            <a:grpSpLocks/>
          </p:cNvGrpSpPr>
          <p:nvPr/>
        </p:nvGrpSpPr>
        <p:grpSpPr bwMode="auto">
          <a:xfrm>
            <a:off x="3365500" y="983024"/>
            <a:ext cx="4600575" cy="3687762"/>
            <a:chOff x="1591" y="691"/>
            <a:chExt cx="2898" cy="2323"/>
          </a:xfrm>
        </p:grpSpPr>
        <p:sp>
          <p:nvSpPr>
            <p:cNvPr id="10259" name="Text Box 25"/>
            <p:cNvSpPr txBox="1">
              <a:spLocks noChangeArrowheads="1"/>
            </p:cNvSpPr>
            <p:nvPr/>
          </p:nvSpPr>
          <p:spPr bwMode="auto">
            <a:xfrm>
              <a:off x="4118" y="1342"/>
              <a:ext cx="371" cy="233"/>
            </a:xfrm>
            <a:prstGeom prst="rect">
              <a:avLst/>
            </a:prstGeom>
            <a:noFill/>
            <a:ln w="9525">
              <a:noFill/>
              <a:miter lim="800000"/>
              <a:headEnd/>
              <a:tailEnd/>
            </a:ln>
          </p:spPr>
          <p:txBody>
            <a:bodyPr lIns="0" tIns="0" rIns="0" bIns="0">
              <a:spAutoFit/>
            </a:bodyPr>
            <a:lstStyle/>
            <a:p>
              <a:pPr algn="ctr">
                <a:spcBef>
                  <a:spcPct val="50000"/>
                </a:spcBef>
              </a:pPr>
              <a:r>
                <a:rPr lang="en-US" sz="2400" i="1" dirty="0">
                  <a:latin typeface="Arial"/>
                  <a:cs typeface="Arial"/>
                </a:rPr>
                <a:t>MC</a:t>
              </a:r>
            </a:p>
          </p:txBody>
        </p:sp>
        <p:sp>
          <p:nvSpPr>
            <p:cNvPr id="10260" name="Arc 37"/>
            <p:cNvSpPr>
              <a:spLocks/>
            </p:cNvSpPr>
            <p:nvPr/>
          </p:nvSpPr>
          <p:spPr bwMode="auto">
            <a:xfrm flipV="1">
              <a:off x="1591" y="691"/>
              <a:ext cx="2653" cy="2323"/>
            </a:xfrm>
            <a:custGeom>
              <a:avLst/>
              <a:gdLst>
                <a:gd name="T0" fmla="*/ 0 w 20469"/>
                <a:gd name="T1" fmla="*/ 0 h 18502"/>
                <a:gd name="T2" fmla="*/ 0 w 20469"/>
                <a:gd name="T3" fmla="*/ 0 h 18502"/>
                <a:gd name="T4" fmla="*/ 0 w 20469"/>
                <a:gd name="T5" fmla="*/ 0 h 18502"/>
                <a:gd name="T6" fmla="*/ 0 60000 65536"/>
                <a:gd name="T7" fmla="*/ 0 60000 65536"/>
                <a:gd name="T8" fmla="*/ 0 60000 65536"/>
                <a:gd name="T9" fmla="*/ 0 w 20469"/>
                <a:gd name="T10" fmla="*/ 0 h 18502"/>
                <a:gd name="T11" fmla="*/ 20469 w 20469"/>
                <a:gd name="T12" fmla="*/ 18502 h 18502"/>
              </a:gdLst>
              <a:ahLst/>
              <a:cxnLst>
                <a:cxn ang="T6">
                  <a:pos x="T0" y="T1"/>
                </a:cxn>
                <a:cxn ang="T7">
                  <a:pos x="T2" y="T3"/>
                </a:cxn>
                <a:cxn ang="T8">
                  <a:pos x="T4" y="T5"/>
                </a:cxn>
              </a:cxnLst>
              <a:rect l="T9" t="T10" r="T11" b="T12"/>
              <a:pathLst>
                <a:path w="20469" h="18502" fill="none" extrusionOk="0">
                  <a:moveTo>
                    <a:pt x="11146" y="-1"/>
                  </a:moveTo>
                  <a:cubicBezTo>
                    <a:pt x="15530" y="2641"/>
                    <a:pt x="18834" y="6753"/>
                    <a:pt x="20468" y="11604"/>
                  </a:cubicBezTo>
                </a:path>
                <a:path w="20469" h="18502" stroke="0" extrusionOk="0">
                  <a:moveTo>
                    <a:pt x="11146" y="-1"/>
                  </a:moveTo>
                  <a:cubicBezTo>
                    <a:pt x="15530" y="2641"/>
                    <a:pt x="18834" y="6753"/>
                    <a:pt x="20468" y="11604"/>
                  </a:cubicBezTo>
                  <a:lnTo>
                    <a:pt x="0" y="18502"/>
                  </a:lnTo>
                  <a:close/>
                </a:path>
              </a:pathLst>
            </a:custGeom>
            <a:noFill/>
            <a:ln w="38100">
              <a:solidFill>
                <a:srgbClr val="CC0000"/>
              </a:solidFill>
              <a:round/>
              <a:headEnd/>
              <a:tailEnd/>
            </a:ln>
          </p:spPr>
          <p:txBody>
            <a:bodyPr wrap="none" anchor="ctr"/>
            <a:lstStyle/>
            <a:p>
              <a:endParaRPr lang="en-US" dirty="0">
                <a:latin typeface="Arial"/>
                <a:cs typeface="Arial"/>
              </a:endParaRPr>
            </a:p>
          </p:txBody>
        </p:sp>
      </p:grpSp>
      <p:grpSp>
        <p:nvGrpSpPr>
          <p:cNvPr id="13" name="Group 50"/>
          <p:cNvGrpSpPr>
            <a:grpSpLocks/>
          </p:cNvGrpSpPr>
          <p:nvPr/>
        </p:nvGrpSpPr>
        <p:grpSpPr bwMode="auto">
          <a:xfrm>
            <a:off x="6245225" y="3951649"/>
            <a:ext cx="517525" cy="1593850"/>
            <a:chOff x="3773" y="2771"/>
            <a:chExt cx="326" cy="1004"/>
          </a:xfrm>
        </p:grpSpPr>
        <p:sp>
          <p:nvSpPr>
            <p:cNvPr id="10256" name="Line 49"/>
            <p:cNvSpPr>
              <a:spLocks noChangeShapeType="1"/>
            </p:cNvSpPr>
            <p:nvPr/>
          </p:nvSpPr>
          <p:spPr bwMode="auto">
            <a:xfrm>
              <a:off x="3948" y="2812"/>
              <a:ext cx="0" cy="692"/>
            </a:xfrm>
            <a:prstGeom prst="line">
              <a:avLst/>
            </a:prstGeom>
            <a:noFill/>
            <a:ln w="9525">
              <a:solidFill>
                <a:schemeClr val="tx1"/>
              </a:solidFill>
              <a:prstDash val="lgDash"/>
              <a:round/>
              <a:headEnd/>
              <a:tailEnd/>
            </a:ln>
          </p:spPr>
          <p:txBody>
            <a:bodyPr/>
            <a:lstStyle/>
            <a:p>
              <a:endParaRPr lang="en-US" dirty="0">
                <a:latin typeface="Arial"/>
                <a:cs typeface="Arial"/>
              </a:endParaRPr>
            </a:p>
          </p:txBody>
        </p:sp>
        <p:sp>
          <p:nvSpPr>
            <p:cNvPr id="10257" name="Text Box 28"/>
            <p:cNvSpPr txBox="1">
              <a:spLocks noChangeArrowheads="1"/>
            </p:cNvSpPr>
            <p:nvPr/>
          </p:nvSpPr>
          <p:spPr bwMode="auto">
            <a:xfrm>
              <a:off x="3773" y="3487"/>
              <a:ext cx="326" cy="28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p>
          </p:txBody>
        </p:sp>
        <p:sp>
          <p:nvSpPr>
            <p:cNvPr id="10258" name="Oval 41"/>
            <p:cNvSpPr>
              <a:spLocks noChangeAspect="1" noChangeArrowheads="1"/>
            </p:cNvSpPr>
            <p:nvPr/>
          </p:nvSpPr>
          <p:spPr bwMode="auto">
            <a:xfrm>
              <a:off x="3910" y="2771"/>
              <a:ext cx="75" cy="74"/>
            </a:xfrm>
            <a:prstGeom prst="ellipse">
              <a:avLst/>
            </a:prstGeom>
            <a:solidFill>
              <a:srgbClr val="000000"/>
            </a:solidFill>
            <a:ln w="9525">
              <a:noFill/>
              <a:prstDash val="dash"/>
              <a:round/>
              <a:headEnd/>
              <a:tailEnd/>
            </a:ln>
          </p:spPr>
          <p:txBody>
            <a:bodyPr wrap="none" anchor="ctr"/>
            <a:lstStyle/>
            <a:p>
              <a:endParaRPr lang="en-US" dirty="0">
                <a:latin typeface="Arial"/>
                <a:cs typeface="Arial"/>
              </a:endParaRPr>
            </a:p>
          </p:txBody>
        </p:sp>
      </p:grpSp>
      <p:sp>
        <p:nvSpPr>
          <p:cNvPr id="10255"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dirty="0">
                <a:latin typeface="Tahoma" pitchFamily="34" charset="0"/>
                <a:cs typeface="Arial" charset="0"/>
              </a:rPr>
              <a:t>0</a:t>
            </a:r>
          </a:p>
        </p:txBody>
      </p:sp>
      <p:sp>
        <p:nvSpPr>
          <p:cNvPr id="14" name="Footer Placeholder 13">
            <a:extLst>
              <a:ext uri="{FF2B5EF4-FFF2-40B4-BE49-F238E27FC236}">
                <a16:creationId xmlns:a16="http://schemas.microsoft.com/office/drawing/2014/main" id="{DC006BA5-B817-2846-2789-065A37CE4ECD}"/>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9859612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911">
                                            <p:txEl>
                                              <p:pRg st="0" end="0"/>
                                            </p:txEl>
                                          </p:spTgt>
                                        </p:tgtEl>
                                        <p:attrNameLst>
                                          <p:attrName>style.visibility</p:attrName>
                                        </p:attrNameLst>
                                      </p:cBhvr>
                                      <p:to>
                                        <p:strVal val="visible"/>
                                      </p:to>
                                    </p:set>
                                    <p:animEffect transition="in" filter="wipe(left)">
                                      <p:cBhvr>
                                        <p:cTn id="7" dur="500"/>
                                        <p:tgtEl>
                                          <p:spTgt spid="123911">
                                            <p:txEl>
                                              <p:pRg st="0" end="0"/>
                                            </p:txEl>
                                          </p:spTgt>
                                        </p:tgtEl>
                                      </p:cBhvr>
                                    </p:animEffect>
                                  </p:childTnLst>
                                </p:cTn>
                              </p:par>
                              <p:par>
                                <p:cTn id="8" presetID="18" presetClass="entr" presetSubtype="6"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strips(downRight)">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3911">
                                            <p:txEl>
                                              <p:pRg st="1" end="1"/>
                                            </p:txEl>
                                          </p:spTgt>
                                        </p:tgtEl>
                                        <p:attrNameLst>
                                          <p:attrName>style.visibility</p:attrName>
                                        </p:attrNameLst>
                                      </p:cBhvr>
                                      <p:to>
                                        <p:strVal val="visible"/>
                                      </p:to>
                                    </p:set>
                                    <p:animEffect transition="in" filter="wipe(left)">
                                      <p:cBhvr>
                                        <p:cTn id="15" dur="500"/>
                                        <p:tgtEl>
                                          <p:spTgt spid="123911">
                                            <p:txEl>
                                              <p:pRg st="1" end="1"/>
                                            </p:txEl>
                                          </p:spTgt>
                                        </p:tgtEl>
                                      </p:cBhvr>
                                    </p:animEffect>
                                  </p:childTnLst>
                                </p:cTn>
                              </p:par>
                              <p:par>
                                <p:cTn id="16" presetID="18" presetClass="entr" presetSubtype="6"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strips(downRight)">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23911">
                                            <p:txEl>
                                              <p:pRg st="2" end="2"/>
                                            </p:txEl>
                                          </p:spTgt>
                                        </p:tgtEl>
                                        <p:attrNameLst>
                                          <p:attrName>style.visibility</p:attrName>
                                        </p:attrNameLst>
                                      </p:cBhvr>
                                      <p:to>
                                        <p:strVal val="visible"/>
                                      </p:to>
                                    </p:set>
                                    <p:animEffect transition="in" filter="wipe(left)">
                                      <p:cBhvr>
                                        <p:cTn id="30" dur="500"/>
                                        <p:tgtEl>
                                          <p:spTgt spid="123911">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3911">
                                            <p:txEl>
                                              <p:pRg st="3" end="3"/>
                                            </p:txEl>
                                          </p:spTgt>
                                        </p:tgtEl>
                                        <p:attrNameLst>
                                          <p:attrName>style.visibility</p:attrName>
                                        </p:attrNameLst>
                                      </p:cBhvr>
                                      <p:to>
                                        <p:strVal val="visible"/>
                                      </p:to>
                                    </p:set>
                                    <p:animEffect transition="in" filter="wipe(left)">
                                      <p:cBhvr>
                                        <p:cTn id="35" dur="500"/>
                                        <p:tgtEl>
                                          <p:spTgt spid="123911">
                                            <p:txEl>
                                              <p:pRg st="3" end="3"/>
                                            </p:txEl>
                                          </p:spTgt>
                                        </p:tgtEl>
                                      </p:cBhvr>
                                    </p:animEffect>
                                  </p:childTnLst>
                                </p:cTn>
                              </p:par>
                              <p:par>
                                <p:cTn id="36" presetID="22" presetClass="entr" presetSubtype="1"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up)">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23911">
                                            <p:txEl>
                                              <p:pRg st="4" end="4"/>
                                            </p:txEl>
                                          </p:spTgt>
                                        </p:tgtEl>
                                        <p:attrNameLst>
                                          <p:attrName>style.visibility</p:attrName>
                                        </p:attrNameLst>
                                      </p:cBhvr>
                                      <p:to>
                                        <p:strVal val="visible"/>
                                      </p:to>
                                    </p:set>
                                    <p:animEffect transition="in" filter="wipe(left)">
                                      <p:cBhvr>
                                        <p:cTn id="43" dur="500"/>
                                        <p:tgtEl>
                                          <p:spTgt spid="123911">
                                            <p:txEl>
                                              <p:pRg st="4" end="4"/>
                                            </p:txEl>
                                          </p:spTgt>
                                        </p:tgtEl>
                                      </p:cBhvr>
                                    </p:animEffect>
                                  </p:childTnLst>
                                </p:cTn>
                              </p:par>
                              <p:par>
                                <p:cTn id="44" presetID="18" presetClass="entr" presetSubtype="9" fill="hold" nodeType="with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strips(upLeft)">
                                      <p:cBhvr>
                                        <p:cTn id="46" dur="500"/>
                                        <p:tgtEl>
                                          <p:spTgt spid="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nodeType="click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wipe(right)">
                                      <p:cBhvr>
                                        <p:cTn id="51" dur="500"/>
                                        <p:tgtEl>
                                          <p:spTgt spid="4"/>
                                        </p:tgtEl>
                                      </p:cBhvr>
                                    </p:animEffect>
                                  </p:childTnLst>
                                </p:cTn>
                              </p:par>
                            </p:childTnLst>
                          </p:cTn>
                        </p:par>
                        <p:par>
                          <p:cTn id="52" fill="hold">
                            <p:stCondLst>
                              <p:cond delay="500"/>
                            </p:stCondLst>
                            <p:childTnLst>
                              <p:par>
                                <p:cTn id="53" presetID="10" presetClass="entr" presetSubtype="0" fill="hold" nodeType="after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fade">
                                      <p:cBhvr>
                                        <p:cTn id="5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11" grpId="0" uiExpand="1" build="p" bldLvl="5"/>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39"/>
          <p:cNvGrpSpPr>
            <a:grpSpLocks/>
          </p:cNvGrpSpPr>
          <p:nvPr/>
        </p:nvGrpSpPr>
        <p:grpSpPr bwMode="auto">
          <a:xfrm>
            <a:off x="4973638" y="2387961"/>
            <a:ext cx="1960562" cy="1314450"/>
            <a:chOff x="3021" y="1834"/>
            <a:chExt cx="1235" cy="828"/>
          </a:xfrm>
        </p:grpSpPr>
        <p:sp>
          <p:nvSpPr>
            <p:cNvPr id="11298" name="Rectangle 3"/>
            <p:cNvSpPr>
              <a:spLocks noChangeArrowheads="1"/>
            </p:cNvSpPr>
            <p:nvPr/>
          </p:nvSpPr>
          <p:spPr bwMode="auto">
            <a:xfrm>
              <a:off x="3021" y="2353"/>
              <a:ext cx="712" cy="309"/>
            </a:xfrm>
            <a:prstGeom prst="rect">
              <a:avLst/>
            </a:prstGeom>
            <a:solidFill>
              <a:srgbClr val="66CCFF"/>
            </a:solidFill>
            <a:ln w="9525">
              <a:noFill/>
              <a:miter lim="800000"/>
              <a:headEnd/>
              <a:tailEnd/>
            </a:ln>
          </p:spPr>
          <p:txBody>
            <a:bodyPr wrap="none" anchor="ctr"/>
            <a:lstStyle/>
            <a:p>
              <a:endParaRPr lang="en-US" dirty="0">
                <a:latin typeface="Arial"/>
                <a:cs typeface="Arial"/>
              </a:endParaRPr>
            </a:p>
          </p:txBody>
        </p:sp>
        <p:grpSp>
          <p:nvGrpSpPr>
            <p:cNvPr id="3" name="Group 36"/>
            <p:cNvGrpSpPr>
              <a:grpSpLocks/>
            </p:cNvGrpSpPr>
            <p:nvPr/>
          </p:nvGrpSpPr>
          <p:grpSpPr bwMode="auto">
            <a:xfrm>
              <a:off x="3526" y="1834"/>
              <a:ext cx="730" cy="582"/>
              <a:chOff x="3730" y="1567"/>
              <a:chExt cx="611" cy="582"/>
            </a:xfrm>
          </p:grpSpPr>
          <p:sp>
            <p:nvSpPr>
              <p:cNvPr id="11300" name="Text Box 37"/>
              <p:cNvSpPr txBox="1">
                <a:spLocks noChangeArrowheads="1"/>
              </p:cNvSpPr>
              <p:nvPr/>
            </p:nvSpPr>
            <p:spPr bwMode="auto">
              <a:xfrm>
                <a:off x="3730" y="1567"/>
                <a:ext cx="611" cy="288"/>
              </a:xfrm>
              <a:prstGeom prst="rect">
                <a:avLst/>
              </a:prstGeom>
              <a:noFill/>
              <a:ln w="9525">
                <a:noFill/>
                <a:miter lim="800000"/>
                <a:headEnd/>
                <a:tailEnd/>
              </a:ln>
            </p:spPr>
            <p:txBody>
              <a:bodyPr>
                <a:spAutoFit/>
              </a:bodyPr>
              <a:lstStyle/>
              <a:p>
                <a:pPr algn="ctr">
                  <a:spcBef>
                    <a:spcPct val="50000"/>
                  </a:spcBef>
                </a:pPr>
                <a:r>
                  <a:rPr lang="en-US" sz="2400" dirty="0">
                    <a:solidFill>
                      <a:srgbClr val="4E519E"/>
                    </a:solidFill>
                    <a:latin typeface="Arial"/>
                    <a:cs typeface="Arial"/>
                  </a:rPr>
                  <a:t>losses</a:t>
                </a:r>
              </a:p>
            </p:txBody>
          </p:sp>
          <p:sp>
            <p:nvSpPr>
              <p:cNvPr id="11301" name="Line 38"/>
              <p:cNvSpPr>
                <a:spLocks noChangeShapeType="1"/>
              </p:cNvSpPr>
              <p:nvPr/>
            </p:nvSpPr>
            <p:spPr bwMode="auto">
              <a:xfrm flipV="1">
                <a:off x="3737" y="1833"/>
                <a:ext cx="288" cy="316"/>
              </a:xfrm>
              <a:prstGeom prst="line">
                <a:avLst/>
              </a:prstGeom>
              <a:noFill/>
              <a:ln w="9525">
                <a:solidFill>
                  <a:schemeClr val="tx1"/>
                </a:solidFill>
                <a:round/>
                <a:headEnd/>
                <a:tailEnd/>
              </a:ln>
            </p:spPr>
            <p:txBody>
              <a:bodyPr/>
              <a:lstStyle/>
              <a:p>
                <a:endParaRPr lang="en-US" dirty="0">
                  <a:latin typeface="Arial"/>
                  <a:cs typeface="Arial"/>
                </a:endParaRPr>
              </a:p>
            </p:txBody>
          </p:sp>
        </p:grpSp>
      </p:grpSp>
      <p:sp>
        <p:nvSpPr>
          <p:cNvPr id="11270" name="Rectangle 7"/>
          <p:cNvSpPr>
            <a:spLocks noGrp="1" noChangeArrowheads="1"/>
          </p:cNvSpPr>
          <p:nvPr>
            <p:ph type="title"/>
          </p:nvPr>
        </p:nvSpPr>
        <p:spPr/>
        <p:txBody>
          <a:bodyPr>
            <a:noAutofit/>
          </a:bodyPr>
          <a:lstStyle/>
          <a:p>
            <a:pPr eaLnBrk="1" hangingPunct="1">
              <a:lnSpc>
                <a:spcPct val="110000"/>
              </a:lnSpc>
            </a:pPr>
            <a:r>
              <a:rPr lang="en-US" sz="3600" dirty="0">
                <a:solidFill>
                  <a:srgbClr val="AE1221"/>
                </a:solidFill>
              </a:rPr>
              <a:t>Active Learning 1: </a:t>
            </a:r>
            <a:r>
              <a:rPr lang="en-US" sz="3600" dirty="0">
                <a:solidFill>
                  <a:schemeClr val="tx1"/>
                </a:solidFill>
              </a:rPr>
              <a:t>Profit or loss in SR?</a:t>
            </a:r>
          </a:p>
        </p:txBody>
      </p:sp>
      <p:sp>
        <p:nvSpPr>
          <p:cNvPr id="12" name="Slide Number Placeholder 11"/>
          <p:cNvSpPr>
            <a:spLocks noGrp="1"/>
          </p:cNvSpPr>
          <p:nvPr>
            <p:ph type="sldNum" sz="quarter" idx="10"/>
          </p:nvPr>
        </p:nvSpPr>
        <p:spPr/>
        <p:txBody>
          <a:bodyPr/>
          <a:lstStyle/>
          <a:p>
            <a:pPr>
              <a:defRPr/>
            </a:pPr>
            <a:fld id="{073C29DC-2178-4274-9150-45F8EBD31C2D}" type="slidenum">
              <a:rPr lang="en-US" smtClean="0"/>
              <a:pPr>
                <a:defRPr/>
              </a:pPr>
              <a:t>10</a:t>
            </a:fld>
            <a:endParaRPr lang="en-US" dirty="0"/>
          </a:p>
        </p:txBody>
      </p:sp>
      <p:sp>
        <p:nvSpPr>
          <p:cNvPr id="130056" name="Rectangle 8"/>
          <p:cNvSpPr>
            <a:spLocks noGrp="1" noChangeArrowheads="1"/>
          </p:cNvSpPr>
          <p:nvPr>
            <p:ph idx="12"/>
          </p:nvPr>
        </p:nvSpPr>
        <p:spPr>
          <a:xfrm>
            <a:off x="381000" y="1066800"/>
            <a:ext cx="3657599" cy="5105400"/>
          </a:xfrm>
        </p:spPr>
        <p:txBody>
          <a:bodyPr>
            <a:normAutofit/>
          </a:bodyPr>
          <a:lstStyle/>
          <a:p>
            <a:pPr marL="0" indent="0" eaLnBrk="1" hangingPunct="1">
              <a:spcBef>
                <a:spcPct val="50000"/>
              </a:spcBef>
              <a:buNone/>
            </a:pPr>
            <a:r>
              <a:rPr lang="en-US" sz="2800" dirty="0"/>
              <a:t>Identify the firm’s profit or loss. </a:t>
            </a:r>
          </a:p>
          <a:p>
            <a:pPr marL="0" indent="0" eaLnBrk="1" hangingPunct="1">
              <a:spcBef>
                <a:spcPct val="50000"/>
              </a:spcBef>
              <a:buFont typeface="Wingdings" pitchFamily="2" charset="2"/>
              <a:buNone/>
            </a:pPr>
            <a:r>
              <a:rPr lang="en-US" sz="2800" dirty="0">
                <a:solidFill>
                  <a:srgbClr val="4E519E"/>
                </a:solidFill>
              </a:rPr>
              <a:t>For this firm, </a:t>
            </a:r>
            <a:br>
              <a:rPr lang="en-US" sz="2800" dirty="0">
                <a:solidFill>
                  <a:srgbClr val="4E519E"/>
                </a:solidFill>
              </a:rPr>
            </a:br>
            <a:r>
              <a:rPr lang="en-US" sz="2800" b="1" i="1" dirty="0">
                <a:solidFill>
                  <a:srgbClr val="4E519E"/>
                </a:solidFill>
              </a:rPr>
              <a:t>P</a:t>
            </a:r>
            <a:r>
              <a:rPr lang="en-US" sz="2800" dirty="0">
                <a:solidFill>
                  <a:srgbClr val="4E519E"/>
                </a:solidFill>
              </a:rPr>
              <a:t> &lt; </a:t>
            </a:r>
            <a:r>
              <a:rPr lang="en-US" sz="2800" b="1" i="1" dirty="0">
                <a:solidFill>
                  <a:srgbClr val="4E519E"/>
                </a:solidFill>
              </a:rPr>
              <a:t>ATC</a:t>
            </a:r>
            <a:r>
              <a:rPr lang="en-US" sz="2800" dirty="0">
                <a:solidFill>
                  <a:srgbClr val="4E519E"/>
                </a:solidFill>
              </a:rPr>
              <a:t> at the output where </a:t>
            </a:r>
            <a:r>
              <a:rPr lang="en-US" sz="2800" b="1" i="1" dirty="0">
                <a:solidFill>
                  <a:srgbClr val="4E519E"/>
                </a:solidFill>
              </a:rPr>
              <a:t>MR</a:t>
            </a:r>
            <a:r>
              <a:rPr lang="en-US" sz="2800" dirty="0">
                <a:solidFill>
                  <a:srgbClr val="4E519E"/>
                </a:solidFill>
              </a:rPr>
              <a:t> = </a:t>
            </a:r>
            <a:r>
              <a:rPr lang="en-US" sz="2800" b="1" i="1" dirty="0">
                <a:solidFill>
                  <a:srgbClr val="4E519E"/>
                </a:solidFill>
              </a:rPr>
              <a:t>MC</a:t>
            </a:r>
            <a:r>
              <a:rPr lang="en-US" sz="2800" dirty="0">
                <a:solidFill>
                  <a:srgbClr val="4E519E"/>
                </a:solidFill>
              </a:rPr>
              <a:t>.  </a:t>
            </a:r>
          </a:p>
          <a:p>
            <a:pPr marL="0" indent="0" eaLnBrk="1" hangingPunct="1">
              <a:spcBef>
                <a:spcPct val="50000"/>
              </a:spcBef>
              <a:buFont typeface="Wingdings" pitchFamily="2" charset="2"/>
              <a:buNone/>
            </a:pPr>
            <a:r>
              <a:rPr lang="en-US" sz="2800" dirty="0">
                <a:solidFill>
                  <a:srgbClr val="4E519E"/>
                </a:solidFill>
              </a:rPr>
              <a:t>The best this firm can do is to minimize its losses.  </a:t>
            </a:r>
          </a:p>
        </p:txBody>
      </p:sp>
      <p:grpSp>
        <p:nvGrpSpPr>
          <p:cNvPr id="5" name="Group 9"/>
          <p:cNvGrpSpPr>
            <a:grpSpLocks/>
          </p:cNvGrpSpPr>
          <p:nvPr/>
        </p:nvGrpSpPr>
        <p:grpSpPr bwMode="auto">
          <a:xfrm>
            <a:off x="3386137" y="1592624"/>
            <a:ext cx="5376863" cy="3893776"/>
            <a:chOff x="1579" y="1014"/>
            <a:chExt cx="3434" cy="2654"/>
          </a:xfrm>
        </p:grpSpPr>
        <p:grpSp>
          <p:nvGrpSpPr>
            <p:cNvPr id="6" name="Group 10"/>
            <p:cNvGrpSpPr>
              <a:grpSpLocks/>
            </p:cNvGrpSpPr>
            <p:nvPr/>
          </p:nvGrpSpPr>
          <p:grpSpPr bwMode="auto">
            <a:xfrm>
              <a:off x="2591" y="1080"/>
              <a:ext cx="2262" cy="2284"/>
              <a:chOff x="1489" y="785"/>
              <a:chExt cx="3650" cy="2492"/>
            </a:xfrm>
          </p:grpSpPr>
          <p:sp>
            <p:nvSpPr>
              <p:cNvPr id="11294" name="Line 11"/>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dirty="0">
                  <a:latin typeface="Arial"/>
                  <a:cs typeface="Arial"/>
                </a:endParaRPr>
              </a:p>
            </p:txBody>
          </p:sp>
          <p:sp>
            <p:nvSpPr>
              <p:cNvPr id="11295" name="Line 12"/>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dirty="0">
                  <a:latin typeface="Arial"/>
                  <a:cs typeface="Arial"/>
                </a:endParaRPr>
              </a:p>
            </p:txBody>
          </p:sp>
        </p:grpSp>
        <p:sp>
          <p:nvSpPr>
            <p:cNvPr id="11292" name="Text Box 13"/>
            <p:cNvSpPr txBox="1">
              <a:spLocks noChangeArrowheads="1"/>
            </p:cNvSpPr>
            <p:nvPr/>
          </p:nvSpPr>
          <p:spPr bwMode="auto">
            <a:xfrm>
              <a:off x="4232" y="3416"/>
              <a:ext cx="781" cy="252"/>
            </a:xfrm>
            <a:prstGeom prst="rect">
              <a:avLst/>
            </a:prstGeom>
            <a:noFill/>
            <a:ln w="9525">
              <a:noFill/>
              <a:miter lim="800000"/>
              <a:headEnd/>
              <a:tailEnd/>
            </a:ln>
          </p:spPr>
          <p:txBody>
            <a:bodyPr lIns="0" tIns="0" rIns="0" bIns="0">
              <a:spAutoFit/>
            </a:bodyPr>
            <a:lstStyle/>
            <a:p>
              <a:pPr algn="r">
                <a:spcBef>
                  <a:spcPct val="50000"/>
                </a:spcBef>
              </a:pPr>
              <a:r>
                <a:rPr lang="en-US" sz="2400" dirty="0">
                  <a:latin typeface="Arial"/>
                  <a:cs typeface="Arial"/>
                </a:rPr>
                <a:t>Quantity</a:t>
              </a:r>
            </a:p>
          </p:txBody>
        </p:sp>
        <p:sp>
          <p:nvSpPr>
            <p:cNvPr id="11293" name="Text Box 14"/>
            <p:cNvSpPr txBox="1">
              <a:spLocks noChangeArrowheads="1"/>
            </p:cNvSpPr>
            <p:nvPr/>
          </p:nvSpPr>
          <p:spPr bwMode="auto">
            <a:xfrm>
              <a:off x="1579" y="1014"/>
              <a:ext cx="1001" cy="312"/>
            </a:xfrm>
            <a:prstGeom prst="rect">
              <a:avLst/>
            </a:prstGeom>
            <a:noFill/>
            <a:ln w="9525">
              <a:noFill/>
              <a:miter lim="800000"/>
              <a:headEnd/>
              <a:tailEnd/>
            </a:ln>
          </p:spPr>
          <p:txBody>
            <a:bodyPr>
              <a:spAutoFit/>
            </a:bodyPr>
            <a:lstStyle/>
            <a:p>
              <a:pPr algn="r">
                <a:spcBef>
                  <a:spcPct val="50000"/>
                </a:spcBef>
              </a:pPr>
              <a:r>
                <a:rPr lang="en-US" sz="2400" dirty="0">
                  <a:latin typeface="Arial"/>
                  <a:cs typeface="Arial"/>
                </a:rPr>
                <a:t>Price</a:t>
              </a:r>
            </a:p>
          </p:txBody>
        </p:sp>
      </p:grpSp>
      <p:grpSp>
        <p:nvGrpSpPr>
          <p:cNvPr id="7" name="Group 15"/>
          <p:cNvGrpSpPr>
            <a:grpSpLocks/>
          </p:cNvGrpSpPr>
          <p:nvPr/>
        </p:nvGrpSpPr>
        <p:grpSpPr bwMode="auto">
          <a:xfrm>
            <a:off x="5340350" y="1287824"/>
            <a:ext cx="3346450" cy="2127250"/>
            <a:chOff x="2859" y="931"/>
            <a:chExt cx="2108" cy="1340"/>
          </a:xfrm>
        </p:grpSpPr>
        <p:sp>
          <p:nvSpPr>
            <p:cNvPr id="11289" name="Arc 16"/>
            <p:cNvSpPr>
              <a:spLocks/>
            </p:cNvSpPr>
            <p:nvPr/>
          </p:nvSpPr>
          <p:spPr bwMode="auto">
            <a:xfrm flipH="1" flipV="1">
              <a:off x="2859" y="931"/>
              <a:ext cx="1759" cy="1340"/>
            </a:xfrm>
            <a:custGeom>
              <a:avLst/>
              <a:gdLst>
                <a:gd name="T0" fmla="*/ 0 w 33610"/>
                <a:gd name="T1" fmla="*/ 0 h 21600"/>
                <a:gd name="T2" fmla="*/ 0 w 33610"/>
                <a:gd name="T3" fmla="*/ 0 h 21600"/>
                <a:gd name="T4" fmla="*/ 0 w 33610"/>
                <a:gd name="T5" fmla="*/ 0 h 21600"/>
                <a:gd name="T6" fmla="*/ 0 60000 65536"/>
                <a:gd name="T7" fmla="*/ 0 60000 65536"/>
                <a:gd name="T8" fmla="*/ 0 60000 65536"/>
                <a:gd name="T9" fmla="*/ 0 w 33610"/>
                <a:gd name="T10" fmla="*/ 0 h 21600"/>
                <a:gd name="T11" fmla="*/ 33610 w 33610"/>
                <a:gd name="T12" fmla="*/ 21600 h 21600"/>
              </a:gdLst>
              <a:ahLst/>
              <a:cxnLst>
                <a:cxn ang="T6">
                  <a:pos x="T0" y="T1"/>
                </a:cxn>
                <a:cxn ang="T7">
                  <a:pos x="T2" y="T3"/>
                </a:cxn>
                <a:cxn ang="T8">
                  <a:pos x="T4" y="T5"/>
                </a:cxn>
              </a:cxnLst>
              <a:rect l="T9" t="T10" r="T11" b="T12"/>
              <a:pathLst>
                <a:path w="33610" h="21600" fill="none" extrusionOk="0">
                  <a:moveTo>
                    <a:pt x="0" y="6309"/>
                  </a:moveTo>
                  <a:cubicBezTo>
                    <a:pt x="4049" y="2268"/>
                    <a:pt x="9535" y="-1"/>
                    <a:pt x="15256" y="0"/>
                  </a:cubicBezTo>
                  <a:cubicBezTo>
                    <a:pt x="22728" y="0"/>
                    <a:pt x="29669" y="3861"/>
                    <a:pt x="33609" y="10211"/>
                  </a:cubicBezTo>
                </a:path>
                <a:path w="33610" h="21600" stroke="0" extrusionOk="0">
                  <a:moveTo>
                    <a:pt x="0" y="6309"/>
                  </a:moveTo>
                  <a:cubicBezTo>
                    <a:pt x="4049" y="2268"/>
                    <a:pt x="9535" y="-1"/>
                    <a:pt x="15256" y="0"/>
                  </a:cubicBezTo>
                  <a:cubicBezTo>
                    <a:pt x="22728" y="0"/>
                    <a:pt x="29669" y="3861"/>
                    <a:pt x="33609" y="10211"/>
                  </a:cubicBezTo>
                  <a:lnTo>
                    <a:pt x="15256" y="21600"/>
                  </a:lnTo>
                  <a:close/>
                </a:path>
              </a:pathLst>
            </a:custGeom>
            <a:noFill/>
            <a:ln w="38100">
              <a:solidFill>
                <a:srgbClr val="333399"/>
              </a:solidFill>
              <a:round/>
              <a:headEnd/>
              <a:tailEnd/>
            </a:ln>
          </p:spPr>
          <p:txBody>
            <a:bodyPr wrap="none" anchor="ctr"/>
            <a:lstStyle/>
            <a:p>
              <a:endParaRPr lang="en-US" dirty="0">
                <a:latin typeface="Arial"/>
                <a:cs typeface="Arial"/>
              </a:endParaRPr>
            </a:p>
          </p:txBody>
        </p:sp>
        <p:sp>
          <p:nvSpPr>
            <p:cNvPr id="11290" name="Text Box 17"/>
            <p:cNvSpPr txBox="1">
              <a:spLocks noChangeArrowheads="1"/>
            </p:cNvSpPr>
            <p:nvPr/>
          </p:nvSpPr>
          <p:spPr bwMode="auto">
            <a:xfrm>
              <a:off x="4444" y="1659"/>
              <a:ext cx="523" cy="233"/>
            </a:xfrm>
            <a:prstGeom prst="rect">
              <a:avLst/>
            </a:prstGeom>
            <a:noFill/>
            <a:ln w="9525">
              <a:noFill/>
              <a:miter lim="800000"/>
              <a:headEnd/>
              <a:tailEnd/>
            </a:ln>
          </p:spPr>
          <p:txBody>
            <a:bodyPr lIns="0" tIns="0" rIns="0" bIns="0">
              <a:spAutoFit/>
            </a:bodyPr>
            <a:lstStyle/>
            <a:p>
              <a:pPr algn="ctr">
                <a:spcBef>
                  <a:spcPct val="50000"/>
                </a:spcBef>
              </a:pPr>
              <a:r>
                <a:rPr lang="en-US" sz="2400" i="1" dirty="0">
                  <a:latin typeface="Arial"/>
                  <a:cs typeface="Arial"/>
                </a:rPr>
                <a:t>ATC</a:t>
              </a:r>
            </a:p>
          </p:txBody>
        </p:sp>
      </p:grpSp>
      <p:grpSp>
        <p:nvGrpSpPr>
          <p:cNvPr id="14" name="Group 13"/>
          <p:cNvGrpSpPr/>
          <p:nvPr/>
        </p:nvGrpSpPr>
        <p:grpSpPr>
          <a:xfrm>
            <a:off x="4211637" y="3026136"/>
            <a:ext cx="1895475" cy="369332"/>
            <a:chOff x="4211637" y="3026136"/>
            <a:chExt cx="1895475" cy="369332"/>
          </a:xfrm>
        </p:grpSpPr>
        <p:sp>
          <p:nvSpPr>
            <p:cNvPr id="11296" name="Line 5"/>
            <p:cNvSpPr>
              <a:spLocks noChangeShapeType="1"/>
            </p:cNvSpPr>
            <p:nvPr/>
          </p:nvSpPr>
          <p:spPr bwMode="auto">
            <a:xfrm>
              <a:off x="4973637" y="3208699"/>
              <a:ext cx="1133475" cy="0"/>
            </a:xfrm>
            <a:prstGeom prst="line">
              <a:avLst/>
            </a:prstGeom>
            <a:noFill/>
            <a:ln w="9525">
              <a:solidFill>
                <a:schemeClr val="tx1"/>
              </a:solidFill>
              <a:prstDash val="lgDash"/>
              <a:round/>
              <a:headEnd/>
              <a:tailEnd/>
            </a:ln>
          </p:spPr>
          <p:txBody>
            <a:bodyPr/>
            <a:lstStyle/>
            <a:p>
              <a:endParaRPr lang="en-US" dirty="0">
                <a:latin typeface="Arial"/>
                <a:cs typeface="Arial"/>
              </a:endParaRPr>
            </a:p>
          </p:txBody>
        </p:sp>
        <p:sp>
          <p:nvSpPr>
            <p:cNvPr id="11276" name="Rectangle 24"/>
            <p:cNvSpPr>
              <a:spLocks noChangeArrowheads="1"/>
            </p:cNvSpPr>
            <p:nvPr/>
          </p:nvSpPr>
          <p:spPr bwMode="auto">
            <a:xfrm>
              <a:off x="4211637" y="3026136"/>
              <a:ext cx="677863" cy="369332"/>
            </a:xfrm>
            <a:prstGeom prst="rect">
              <a:avLst/>
            </a:prstGeom>
            <a:noFill/>
            <a:ln w="9525">
              <a:noFill/>
              <a:miter lim="800000"/>
              <a:headEnd/>
              <a:tailEnd/>
            </a:ln>
          </p:spPr>
          <p:txBody>
            <a:bodyPr lIns="0" tIns="0" rIns="0" bIns="0">
              <a:spAutoFit/>
            </a:bodyPr>
            <a:lstStyle/>
            <a:p>
              <a:pPr algn="r"/>
              <a:r>
                <a:rPr lang="en-US" sz="2400" i="1" dirty="0">
                  <a:latin typeface="Arial"/>
                  <a:cs typeface="Arial"/>
                </a:rPr>
                <a:t>ATC</a:t>
              </a:r>
            </a:p>
          </p:txBody>
        </p:sp>
      </p:grpSp>
      <p:grpSp>
        <p:nvGrpSpPr>
          <p:cNvPr id="8" name="Group 25"/>
          <p:cNvGrpSpPr>
            <a:grpSpLocks/>
          </p:cNvGrpSpPr>
          <p:nvPr/>
        </p:nvGrpSpPr>
        <p:grpSpPr bwMode="auto">
          <a:xfrm>
            <a:off x="3289300" y="906824"/>
            <a:ext cx="4600575" cy="3687762"/>
            <a:chOff x="1591" y="691"/>
            <a:chExt cx="2898" cy="2323"/>
          </a:xfrm>
        </p:grpSpPr>
        <p:sp>
          <p:nvSpPr>
            <p:cNvPr id="11287" name="Text Box 26"/>
            <p:cNvSpPr txBox="1">
              <a:spLocks noChangeArrowheads="1"/>
            </p:cNvSpPr>
            <p:nvPr/>
          </p:nvSpPr>
          <p:spPr bwMode="auto">
            <a:xfrm>
              <a:off x="4118" y="1342"/>
              <a:ext cx="371" cy="233"/>
            </a:xfrm>
            <a:prstGeom prst="rect">
              <a:avLst/>
            </a:prstGeom>
            <a:noFill/>
            <a:ln w="9525">
              <a:noFill/>
              <a:miter lim="800000"/>
              <a:headEnd/>
              <a:tailEnd/>
            </a:ln>
          </p:spPr>
          <p:txBody>
            <a:bodyPr lIns="0" tIns="0" rIns="0" bIns="0">
              <a:spAutoFit/>
            </a:bodyPr>
            <a:lstStyle/>
            <a:p>
              <a:pPr algn="ctr">
                <a:spcBef>
                  <a:spcPct val="50000"/>
                </a:spcBef>
              </a:pPr>
              <a:r>
                <a:rPr lang="en-US" sz="2400" i="1" dirty="0">
                  <a:latin typeface="Arial"/>
                  <a:cs typeface="Arial"/>
                </a:rPr>
                <a:t>MC</a:t>
              </a:r>
            </a:p>
          </p:txBody>
        </p:sp>
        <p:sp>
          <p:nvSpPr>
            <p:cNvPr id="11288" name="Arc 27"/>
            <p:cNvSpPr>
              <a:spLocks/>
            </p:cNvSpPr>
            <p:nvPr/>
          </p:nvSpPr>
          <p:spPr bwMode="auto">
            <a:xfrm flipV="1">
              <a:off x="1591" y="691"/>
              <a:ext cx="2653" cy="2323"/>
            </a:xfrm>
            <a:custGeom>
              <a:avLst/>
              <a:gdLst>
                <a:gd name="T0" fmla="*/ 0 w 20469"/>
                <a:gd name="T1" fmla="*/ 0 h 18502"/>
                <a:gd name="T2" fmla="*/ 0 w 20469"/>
                <a:gd name="T3" fmla="*/ 0 h 18502"/>
                <a:gd name="T4" fmla="*/ 0 w 20469"/>
                <a:gd name="T5" fmla="*/ 0 h 18502"/>
                <a:gd name="T6" fmla="*/ 0 60000 65536"/>
                <a:gd name="T7" fmla="*/ 0 60000 65536"/>
                <a:gd name="T8" fmla="*/ 0 60000 65536"/>
                <a:gd name="T9" fmla="*/ 0 w 20469"/>
                <a:gd name="T10" fmla="*/ 0 h 18502"/>
                <a:gd name="T11" fmla="*/ 20469 w 20469"/>
                <a:gd name="T12" fmla="*/ 18502 h 18502"/>
              </a:gdLst>
              <a:ahLst/>
              <a:cxnLst>
                <a:cxn ang="T6">
                  <a:pos x="T0" y="T1"/>
                </a:cxn>
                <a:cxn ang="T7">
                  <a:pos x="T2" y="T3"/>
                </a:cxn>
                <a:cxn ang="T8">
                  <a:pos x="T4" y="T5"/>
                </a:cxn>
              </a:cxnLst>
              <a:rect l="T9" t="T10" r="T11" b="T12"/>
              <a:pathLst>
                <a:path w="20469" h="18502" fill="none" extrusionOk="0">
                  <a:moveTo>
                    <a:pt x="11146" y="-1"/>
                  </a:moveTo>
                  <a:cubicBezTo>
                    <a:pt x="15530" y="2641"/>
                    <a:pt x="18834" y="6753"/>
                    <a:pt x="20468" y="11604"/>
                  </a:cubicBezTo>
                </a:path>
                <a:path w="20469" h="18502" stroke="0" extrusionOk="0">
                  <a:moveTo>
                    <a:pt x="11146" y="-1"/>
                  </a:moveTo>
                  <a:cubicBezTo>
                    <a:pt x="15530" y="2641"/>
                    <a:pt x="18834" y="6753"/>
                    <a:pt x="20468" y="11604"/>
                  </a:cubicBezTo>
                  <a:lnTo>
                    <a:pt x="0" y="18502"/>
                  </a:lnTo>
                  <a:close/>
                </a:path>
              </a:pathLst>
            </a:custGeom>
            <a:noFill/>
            <a:ln w="38100">
              <a:solidFill>
                <a:srgbClr val="CC0000"/>
              </a:solidFill>
              <a:round/>
              <a:headEnd/>
              <a:tailEnd/>
            </a:ln>
          </p:spPr>
          <p:txBody>
            <a:bodyPr wrap="none" anchor="ctr"/>
            <a:lstStyle/>
            <a:p>
              <a:endParaRPr lang="en-US" dirty="0">
                <a:latin typeface="Arial"/>
                <a:cs typeface="Arial"/>
              </a:endParaRPr>
            </a:p>
          </p:txBody>
        </p:sp>
      </p:grpSp>
      <p:grpSp>
        <p:nvGrpSpPr>
          <p:cNvPr id="13" name="Group 12"/>
          <p:cNvGrpSpPr/>
          <p:nvPr/>
        </p:nvGrpSpPr>
        <p:grpSpPr>
          <a:xfrm>
            <a:off x="4611532" y="3526199"/>
            <a:ext cx="1498755" cy="369332"/>
            <a:chOff x="4611532" y="3526199"/>
            <a:chExt cx="1498755" cy="369332"/>
          </a:xfrm>
        </p:grpSpPr>
        <p:sp>
          <p:nvSpPr>
            <p:cNvPr id="11275" name="Rectangle 23"/>
            <p:cNvSpPr>
              <a:spLocks noChangeArrowheads="1"/>
            </p:cNvSpPr>
            <p:nvPr/>
          </p:nvSpPr>
          <p:spPr bwMode="auto">
            <a:xfrm>
              <a:off x="4611532" y="3526199"/>
              <a:ext cx="270030" cy="369332"/>
            </a:xfrm>
            <a:prstGeom prst="rect">
              <a:avLst/>
            </a:prstGeom>
            <a:noFill/>
            <a:ln w="9525">
              <a:noFill/>
              <a:miter lim="800000"/>
              <a:headEnd/>
              <a:tailEnd/>
            </a:ln>
          </p:spPr>
          <p:txBody>
            <a:bodyPr wrap="none" lIns="0" tIns="0" rIns="0" bIns="0">
              <a:spAutoFit/>
            </a:bodyPr>
            <a:lstStyle/>
            <a:p>
              <a:pPr algn="r"/>
              <a:r>
                <a:rPr lang="en-US" sz="2400" b="1" i="1" dirty="0">
                  <a:latin typeface="Arial"/>
                  <a:cs typeface="Arial"/>
                </a:rPr>
                <a:t>P</a:t>
              </a:r>
            </a:p>
          </p:txBody>
        </p:sp>
        <p:sp>
          <p:nvSpPr>
            <p:cNvPr id="11278" name="Line 2"/>
            <p:cNvSpPr>
              <a:spLocks noChangeShapeType="1"/>
            </p:cNvSpPr>
            <p:nvPr/>
          </p:nvSpPr>
          <p:spPr bwMode="auto">
            <a:xfrm flipH="1">
              <a:off x="4967287" y="3703999"/>
              <a:ext cx="1143000" cy="0"/>
            </a:xfrm>
            <a:prstGeom prst="line">
              <a:avLst/>
            </a:prstGeom>
            <a:noFill/>
            <a:ln w="9525">
              <a:solidFill>
                <a:schemeClr val="tx1"/>
              </a:solidFill>
              <a:prstDash val="lgDash"/>
              <a:round/>
              <a:headEnd/>
              <a:tailEnd/>
            </a:ln>
          </p:spPr>
          <p:txBody>
            <a:bodyPr/>
            <a:lstStyle/>
            <a:p>
              <a:endParaRPr lang="en-US" dirty="0">
                <a:latin typeface="Arial"/>
                <a:cs typeface="Arial"/>
              </a:endParaRPr>
            </a:p>
          </p:txBody>
        </p:sp>
      </p:grpSp>
      <p:grpSp>
        <p:nvGrpSpPr>
          <p:cNvPr id="9" name="Group 30"/>
          <p:cNvGrpSpPr>
            <a:grpSpLocks/>
          </p:cNvGrpSpPr>
          <p:nvPr/>
        </p:nvGrpSpPr>
        <p:grpSpPr bwMode="auto">
          <a:xfrm>
            <a:off x="5153025" y="3232512"/>
            <a:ext cx="2714625" cy="1368426"/>
            <a:chOff x="3133" y="2366"/>
            <a:chExt cx="1710" cy="862"/>
          </a:xfrm>
        </p:grpSpPr>
        <p:sp>
          <p:nvSpPr>
            <p:cNvPr id="11285" name="Line 18"/>
            <p:cNvSpPr>
              <a:spLocks noChangeShapeType="1"/>
            </p:cNvSpPr>
            <p:nvPr/>
          </p:nvSpPr>
          <p:spPr bwMode="auto">
            <a:xfrm>
              <a:off x="3133" y="2366"/>
              <a:ext cx="1488" cy="741"/>
            </a:xfrm>
            <a:prstGeom prst="line">
              <a:avLst/>
            </a:prstGeom>
            <a:noFill/>
            <a:ln w="38100">
              <a:solidFill>
                <a:srgbClr val="333399"/>
              </a:solidFill>
              <a:round/>
              <a:headEnd/>
              <a:tailEnd/>
            </a:ln>
          </p:spPr>
          <p:txBody>
            <a:bodyPr/>
            <a:lstStyle/>
            <a:p>
              <a:endParaRPr lang="en-US" dirty="0">
                <a:latin typeface="Arial"/>
                <a:cs typeface="Arial"/>
              </a:endParaRPr>
            </a:p>
          </p:txBody>
        </p:sp>
        <p:sp>
          <p:nvSpPr>
            <p:cNvPr id="11286" name="Text Box 19"/>
            <p:cNvSpPr txBox="1">
              <a:spLocks noChangeArrowheads="1"/>
            </p:cNvSpPr>
            <p:nvPr/>
          </p:nvSpPr>
          <p:spPr bwMode="auto">
            <a:xfrm>
              <a:off x="4569" y="2995"/>
              <a:ext cx="274" cy="233"/>
            </a:xfrm>
            <a:prstGeom prst="rect">
              <a:avLst/>
            </a:prstGeom>
            <a:noFill/>
            <a:ln w="9525">
              <a:noFill/>
              <a:miter lim="800000"/>
              <a:headEnd/>
              <a:tailEnd/>
            </a:ln>
          </p:spPr>
          <p:txBody>
            <a:bodyPr lIns="0" tIns="0" rIns="0" bIns="0">
              <a:spAutoFit/>
            </a:bodyPr>
            <a:lstStyle/>
            <a:p>
              <a:pPr algn="ctr">
                <a:spcBef>
                  <a:spcPct val="50000"/>
                </a:spcBef>
              </a:pPr>
              <a:r>
                <a:rPr lang="en-US" sz="2400" i="1" dirty="0">
                  <a:latin typeface="Arial"/>
                  <a:cs typeface="Arial"/>
                </a:rPr>
                <a:t>D</a:t>
              </a:r>
            </a:p>
          </p:txBody>
        </p:sp>
      </p:grpSp>
      <p:grpSp>
        <p:nvGrpSpPr>
          <p:cNvPr id="10" name="Group 31"/>
          <p:cNvGrpSpPr>
            <a:grpSpLocks/>
          </p:cNvGrpSpPr>
          <p:nvPr/>
        </p:nvGrpSpPr>
        <p:grpSpPr bwMode="auto">
          <a:xfrm>
            <a:off x="5199062" y="3596050"/>
            <a:ext cx="2346325" cy="1443038"/>
            <a:chOff x="3162" y="2595"/>
            <a:chExt cx="1478" cy="909"/>
          </a:xfrm>
        </p:grpSpPr>
        <p:sp>
          <p:nvSpPr>
            <p:cNvPr id="11283" name="Line 20"/>
            <p:cNvSpPr>
              <a:spLocks noChangeShapeType="1"/>
            </p:cNvSpPr>
            <p:nvPr/>
          </p:nvSpPr>
          <p:spPr bwMode="auto">
            <a:xfrm>
              <a:off x="3162" y="2595"/>
              <a:ext cx="1124" cy="791"/>
            </a:xfrm>
            <a:prstGeom prst="line">
              <a:avLst/>
            </a:prstGeom>
            <a:noFill/>
            <a:ln w="38100">
              <a:solidFill>
                <a:srgbClr val="CC0000"/>
              </a:solidFill>
              <a:round/>
              <a:headEnd/>
              <a:tailEnd/>
            </a:ln>
          </p:spPr>
          <p:txBody>
            <a:bodyPr/>
            <a:lstStyle/>
            <a:p>
              <a:endParaRPr lang="en-US" dirty="0">
                <a:latin typeface="Arial"/>
                <a:cs typeface="Arial"/>
              </a:endParaRPr>
            </a:p>
          </p:txBody>
        </p:sp>
        <p:sp>
          <p:nvSpPr>
            <p:cNvPr id="11284" name="Text Box 21"/>
            <p:cNvSpPr txBox="1">
              <a:spLocks noChangeArrowheads="1"/>
            </p:cNvSpPr>
            <p:nvPr/>
          </p:nvSpPr>
          <p:spPr bwMode="auto">
            <a:xfrm>
              <a:off x="4266" y="3271"/>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dirty="0">
                  <a:latin typeface="Arial"/>
                  <a:cs typeface="Arial"/>
                </a:rPr>
                <a:t>MR</a:t>
              </a:r>
            </a:p>
          </p:txBody>
        </p:sp>
      </p:grpSp>
      <p:grpSp>
        <p:nvGrpSpPr>
          <p:cNvPr id="15" name="Group 14"/>
          <p:cNvGrpSpPr/>
          <p:nvPr/>
        </p:nvGrpSpPr>
        <p:grpSpPr>
          <a:xfrm>
            <a:off x="5865812" y="4175486"/>
            <a:ext cx="517525" cy="1287463"/>
            <a:chOff x="5865812" y="4175486"/>
            <a:chExt cx="517525" cy="1287463"/>
          </a:xfrm>
        </p:grpSpPr>
        <p:sp>
          <p:nvSpPr>
            <p:cNvPr id="11297" name="Line 6"/>
            <p:cNvSpPr>
              <a:spLocks noChangeShapeType="1"/>
            </p:cNvSpPr>
            <p:nvPr/>
          </p:nvSpPr>
          <p:spPr bwMode="auto">
            <a:xfrm flipH="1">
              <a:off x="6107111" y="4231049"/>
              <a:ext cx="3175" cy="811211"/>
            </a:xfrm>
            <a:prstGeom prst="line">
              <a:avLst/>
            </a:prstGeom>
            <a:noFill/>
            <a:ln w="9525">
              <a:solidFill>
                <a:schemeClr val="tx1"/>
              </a:solidFill>
              <a:prstDash val="lgDash"/>
              <a:round/>
              <a:headEnd/>
              <a:tailEnd/>
            </a:ln>
          </p:spPr>
          <p:txBody>
            <a:bodyPr/>
            <a:lstStyle/>
            <a:p>
              <a:endParaRPr lang="en-US" dirty="0">
                <a:latin typeface="Arial"/>
                <a:cs typeface="Arial"/>
              </a:endParaRPr>
            </a:p>
          </p:txBody>
        </p:sp>
        <p:sp>
          <p:nvSpPr>
            <p:cNvPr id="11274" name="Text Box 22"/>
            <p:cNvSpPr txBox="1">
              <a:spLocks noChangeArrowheads="1"/>
            </p:cNvSpPr>
            <p:nvPr/>
          </p:nvSpPr>
          <p:spPr bwMode="auto">
            <a:xfrm>
              <a:off x="5865812" y="5005749"/>
              <a:ext cx="517525" cy="457200"/>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p>
          </p:txBody>
        </p:sp>
        <p:sp>
          <p:nvSpPr>
            <p:cNvPr id="11281" name="Oval 29"/>
            <p:cNvSpPr>
              <a:spLocks noChangeAspect="1" noChangeArrowheads="1"/>
            </p:cNvSpPr>
            <p:nvPr/>
          </p:nvSpPr>
          <p:spPr bwMode="auto">
            <a:xfrm>
              <a:off x="6042025" y="4175486"/>
              <a:ext cx="119062" cy="117475"/>
            </a:xfrm>
            <a:prstGeom prst="ellipse">
              <a:avLst/>
            </a:prstGeom>
            <a:solidFill>
              <a:srgbClr val="000000"/>
            </a:solidFill>
            <a:ln w="9525">
              <a:noFill/>
              <a:prstDash val="dash"/>
              <a:round/>
              <a:headEnd/>
              <a:tailEnd/>
            </a:ln>
          </p:spPr>
          <p:txBody>
            <a:bodyPr wrap="none" anchor="ctr"/>
            <a:lstStyle/>
            <a:p>
              <a:endParaRPr lang="en-US" dirty="0">
                <a:latin typeface="Arial"/>
                <a:cs typeface="Arial"/>
              </a:endParaRPr>
            </a:p>
          </p:txBody>
        </p:sp>
      </p:grpSp>
      <p:sp>
        <p:nvSpPr>
          <p:cNvPr id="11282"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dirty="0">
                <a:latin typeface="Tahoma" pitchFamily="34" charset="0"/>
                <a:cs typeface="Arial" charset="0"/>
              </a:rPr>
              <a:t>0</a:t>
            </a:r>
          </a:p>
        </p:txBody>
      </p:sp>
      <p:sp>
        <p:nvSpPr>
          <p:cNvPr id="41" name="Line 6"/>
          <p:cNvSpPr>
            <a:spLocks noChangeShapeType="1"/>
          </p:cNvSpPr>
          <p:nvPr/>
        </p:nvSpPr>
        <p:spPr bwMode="auto">
          <a:xfrm>
            <a:off x="6107112" y="3208322"/>
            <a:ext cx="0" cy="1025901"/>
          </a:xfrm>
          <a:prstGeom prst="line">
            <a:avLst/>
          </a:prstGeom>
          <a:noFill/>
          <a:ln w="9525">
            <a:solidFill>
              <a:schemeClr val="tx1"/>
            </a:solidFill>
            <a:prstDash val="lgDash"/>
            <a:round/>
            <a:headEnd/>
            <a:tailEnd/>
          </a:ln>
        </p:spPr>
        <p:txBody>
          <a:bodyPr/>
          <a:lstStyle/>
          <a:p>
            <a:endParaRPr lang="en-US" dirty="0">
              <a:latin typeface="Arial"/>
              <a:cs typeface="Arial"/>
            </a:endParaRPr>
          </a:p>
        </p:txBody>
      </p:sp>
      <p:sp>
        <p:nvSpPr>
          <p:cNvPr id="4" name="Footer Placeholder 3">
            <a:extLst>
              <a:ext uri="{FF2B5EF4-FFF2-40B4-BE49-F238E27FC236}">
                <a16:creationId xmlns:a16="http://schemas.microsoft.com/office/drawing/2014/main" id="{288E860A-5B2F-58EA-8F86-4F7ECBB454F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213371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0056">
                                            <p:txEl>
                                              <p:pRg st="0" end="0"/>
                                            </p:txEl>
                                          </p:spTgt>
                                        </p:tgtEl>
                                        <p:attrNameLst>
                                          <p:attrName>style.visibility</p:attrName>
                                        </p:attrNameLst>
                                      </p:cBhvr>
                                      <p:to>
                                        <p:strVal val="visible"/>
                                      </p:to>
                                    </p:set>
                                    <p:animEffect transition="in" filter="wipe(left)">
                                      <p:cBhvr>
                                        <p:cTn id="7" dur="500"/>
                                        <p:tgtEl>
                                          <p:spTgt spid="1300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1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down)">
                                      <p:cBhvr>
                                        <p:cTn id="17" dur="1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0056">
                                            <p:txEl>
                                              <p:pRg st="1" end="1"/>
                                            </p:txEl>
                                          </p:spTgt>
                                        </p:tgtEl>
                                        <p:attrNameLst>
                                          <p:attrName>style.visibility</p:attrName>
                                        </p:attrNameLst>
                                      </p:cBhvr>
                                      <p:to>
                                        <p:strVal val="visible"/>
                                      </p:to>
                                    </p:set>
                                    <p:animEffect transition="in" filter="wipe(left)">
                                      <p:cBhvr>
                                        <p:cTn id="32" dur="500"/>
                                        <p:tgtEl>
                                          <p:spTgt spid="13005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130056">
                                            <p:txEl>
                                              <p:pRg st="2" end="2"/>
                                            </p:txEl>
                                          </p:spTgt>
                                        </p:tgtEl>
                                        <p:attrNameLst>
                                          <p:attrName>style.visibility</p:attrName>
                                        </p:attrNameLst>
                                      </p:cBhvr>
                                      <p:to>
                                        <p:strVal val="visible"/>
                                      </p:to>
                                    </p:set>
                                    <p:animEffect transition="in" filter="wipe(left)">
                                      <p:cBhvr>
                                        <p:cTn id="41" dur="500"/>
                                        <p:tgtEl>
                                          <p:spTgt spid="13005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6" grpId="0" uiExpand="1" build="p"/>
      <p:bldP spid="4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wrap="square" anchor="ctr"/>
          <a:lstStyle/>
          <a:p>
            <a:r>
              <a:rPr lang="en-US" altLang="en-US" dirty="0"/>
              <a:t>The Long-Run Equilibrium</a:t>
            </a:r>
          </a:p>
        </p:txBody>
      </p:sp>
      <p:sp>
        <p:nvSpPr>
          <p:cNvPr id="16387" name="Content Placeholder 2"/>
          <p:cNvSpPr>
            <a:spLocks noGrp="1"/>
          </p:cNvSpPr>
          <p:nvPr>
            <p:ph idx="1"/>
          </p:nvPr>
        </p:nvSpPr>
        <p:spPr>
          <a:prstGeom prst="rect">
            <a:avLst/>
          </a:prstGeom>
        </p:spPr>
        <p:txBody>
          <a:bodyPr/>
          <a:lstStyle/>
          <a:p>
            <a:r>
              <a:rPr lang="en-US" altLang="en-US" sz="3200" dirty="0"/>
              <a:t>If monopolistically competitive firms are making profit in short run</a:t>
            </a:r>
          </a:p>
          <a:p>
            <a:pPr lvl="1"/>
            <a:r>
              <a:rPr lang="en-US" altLang="en-US" sz="2800" dirty="0"/>
              <a:t>New firms: incentive to enter the market</a:t>
            </a:r>
          </a:p>
          <a:p>
            <a:pPr lvl="1"/>
            <a:r>
              <a:rPr lang="en-US" altLang="en-US" sz="2800" dirty="0"/>
              <a:t>Increase number of products</a:t>
            </a:r>
          </a:p>
          <a:p>
            <a:pPr lvl="1"/>
            <a:r>
              <a:rPr lang="en-US" altLang="en-US" sz="2800" dirty="0"/>
              <a:t>Reduces demand faced by each firm</a:t>
            </a:r>
          </a:p>
          <a:p>
            <a:pPr lvl="2"/>
            <a:r>
              <a:rPr lang="en-US" altLang="en-US" dirty="0"/>
              <a:t>Demand curve shifts left; prices fall </a:t>
            </a:r>
          </a:p>
          <a:p>
            <a:pPr lvl="1"/>
            <a:r>
              <a:rPr lang="en-US" altLang="en-US" sz="2800" dirty="0"/>
              <a:t>Each firm’s profit declines to zero </a:t>
            </a:r>
          </a:p>
          <a:p>
            <a:r>
              <a:rPr lang="en-US" altLang="en-US" sz="3200" dirty="0"/>
              <a:t>If losses in the short run:</a:t>
            </a:r>
          </a:p>
          <a:p>
            <a:pPr lvl="1"/>
            <a:r>
              <a:rPr lang="en-US" altLang="en-US" sz="2800" dirty="0"/>
              <a:t>Some firms exit the market, remaining firms enjoy higher demand and prices</a:t>
            </a:r>
          </a:p>
        </p:txBody>
      </p:sp>
      <p:sp>
        <p:nvSpPr>
          <p:cNvPr id="16389"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067AFEF9-C98B-4592-A679-D5091C43D0CB}" type="slidenum">
              <a:rPr lang="en-US" altLang="en-US" sz="1200" smtClean="0">
                <a:solidFill>
                  <a:srgbClr val="002060"/>
                </a:solidFill>
              </a:rPr>
              <a:pPr eaLnBrk="1" hangingPunct="1"/>
              <a:t>11</a:t>
            </a:fld>
            <a:endParaRPr lang="en-US" altLang="en-US" sz="1200" dirty="0">
              <a:solidFill>
                <a:srgbClr val="002060"/>
              </a:solidFill>
            </a:endParaRPr>
          </a:p>
        </p:txBody>
      </p:sp>
      <p:sp>
        <p:nvSpPr>
          <p:cNvPr id="2" name="Footer Placeholder 1">
            <a:extLst>
              <a:ext uri="{FF2B5EF4-FFF2-40B4-BE49-F238E27FC236}">
                <a16:creationId xmlns:a16="http://schemas.microsoft.com/office/drawing/2014/main" id="{FFA13B1E-3F26-DC05-0433-C0C80DBE7CA4}"/>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404016844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8" name="Rectangle 6"/>
          <p:cNvSpPr>
            <a:spLocks noGrp="1" noChangeArrowheads="1"/>
          </p:cNvSpPr>
          <p:nvPr>
            <p:ph type="title"/>
          </p:nvPr>
        </p:nvSpPr>
        <p:spPr/>
        <p:txBody>
          <a:bodyPr>
            <a:normAutofit/>
          </a:bodyPr>
          <a:lstStyle/>
          <a:p>
            <a:pPr eaLnBrk="1" hangingPunct="1"/>
            <a:r>
              <a:rPr lang="en-US" dirty="0">
                <a:solidFill>
                  <a:srgbClr val="AE1221"/>
                </a:solidFill>
              </a:rPr>
              <a:t>EXAMPLE 2: </a:t>
            </a:r>
            <a:r>
              <a:rPr lang="en-US" dirty="0">
                <a:solidFill>
                  <a:schemeClr val="tx1"/>
                </a:solidFill>
              </a:rPr>
              <a:t>Long-run equilibrium</a:t>
            </a:r>
          </a:p>
        </p:txBody>
      </p:sp>
      <p:sp>
        <p:nvSpPr>
          <p:cNvPr id="9" name="Slide Number Placeholder 8"/>
          <p:cNvSpPr>
            <a:spLocks noGrp="1"/>
          </p:cNvSpPr>
          <p:nvPr>
            <p:ph type="sldNum" sz="quarter" idx="10"/>
          </p:nvPr>
        </p:nvSpPr>
        <p:spPr/>
        <p:txBody>
          <a:bodyPr/>
          <a:lstStyle/>
          <a:p>
            <a:pPr>
              <a:defRPr/>
            </a:pPr>
            <a:fld id="{073C29DC-2178-4274-9150-45F8EBD31C2D}" type="slidenum">
              <a:rPr lang="en-US" smtClean="0"/>
              <a:pPr>
                <a:defRPr/>
              </a:pPr>
              <a:t>12</a:t>
            </a:fld>
            <a:endParaRPr lang="en-US" dirty="0"/>
          </a:p>
        </p:txBody>
      </p:sp>
      <p:sp>
        <p:nvSpPr>
          <p:cNvPr id="128007" name="Rectangle 7"/>
          <p:cNvSpPr>
            <a:spLocks noGrp="1" noChangeArrowheads="1"/>
          </p:cNvSpPr>
          <p:nvPr>
            <p:ph idx="12"/>
          </p:nvPr>
        </p:nvSpPr>
        <p:spPr>
          <a:xfrm>
            <a:off x="228603" y="990961"/>
            <a:ext cx="3365497" cy="5516195"/>
          </a:xfrm>
        </p:spPr>
        <p:txBody>
          <a:bodyPr>
            <a:normAutofit/>
          </a:bodyPr>
          <a:lstStyle/>
          <a:p>
            <a:pPr marL="0" indent="0" eaLnBrk="1" hangingPunct="1">
              <a:spcBef>
                <a:spcPct val="50000"/>
              </a:spcBef>
              <a:buFont typeface="Wingdings" pitchFamily="2" charset="2"/>
              <a:buNone/>
            </a:pPr>
            <a:r>
              <a:rPr lang="en-US" sz="2800" dirty="0"/>
              <a:t>Entry and exit occurs until: </a:t>
            </a:r>
          </a:p>
          <a:p>
            <a:pPr marL="0" indent="0" eaLnBrk="1" hangingPunct="1">
              <a:spcBef>
                <a:spcPct val="50000"/>
              </a:spcBef>
              <a:buFont typeface="Wingdings" pitchFamily="2" charset="2"/>
              <a:buNone/>
            </a:pPr>
            <a:r>
              <a:rPr lang="en-US" sz="2800" b="1" i="1" dirty="0">
                <a:solidFill>
                  <a:srgbClr val="C00000"/>
                </a:solidFill>
              </a:rPr>
              <a:t>P</a:t>
            </a:r>
            <a:r>
              <a:rPr lang="en-US" sz="2800" dirty="0">
                <a:solidFill>
                  <a:srgbClr val="C00000"/>
                </a:solidFill>
              </a:rPr>
              <a:t> = </a:t>
            </a:r>
            <a:r>
              <a:rPr lang="en-US" sz="2800" b="1" i="1" dirty="0">
                <a:solidFill>
                  <a:srgbClr val="C00000"/>
                </a:solidFill>
              </a:rPr>
              <a:t>ATC</a:t>
            </a:r>
            <a:r>
              <a:rPr lang="en-US" sz="2800" dirty="0">
                <a:solidFill>
                  <a:srgbClr val="C00000"/>
                </a:solidFill>
              </a:rPr>
              <a:t> </a:t>
            </a:r>
            <a:r>
              <a:rPr lang="en-US" sz="2800" dirty="0"/>
              <a:t>and </a:t>
            </a:r>
            <a:br>
              <a:rPr lang="en-US" sz="2800" dirty="0"/>
            </a:br>
            <a:r>
              <a:rPr lang="en-US" sz="2800" dirty="0"/>
              <a:t>profit = zero.  </a:t>
            </a:r>
          </a:p>
          <a:p>
            <a:pPr eaLnBrk="1" hangingPunct="1">
              <a:spcBef>
                <a:spcPct val="50000"/>
              </a:spcBef>
            </a:pPr>
            <a:r>
              <a:rPr lang="en-US" sz="2800" dirty="0">
                <a:solidFill>
                  <a:srgbClr val="4E519E"/>
                </a:solidFill>
              </a:rPr>
              <a:t>Charges a markup of price over marginal cost </a:t>
            </a:r>
          </a:p>
          <a:p>
            <a:pPr eaLnBrk="1" hangingPunct="1">
              <a:spcBef>
                <a:spcPct val="50000"/>
              </a:spcBef>
            </a:pPr>
            <a:r>
              <a:rPr lang="en-US" sz="2800" dirty="0">
                <a:solidFill>
                  <a:srgbClr val="4E519E"/>
                </a:solidFill>
              </a:rPr>
              <a:t>Does not produce at efficient scale (minimum </a:t>
            </a:r>
            <a:r>
              <a:rPr lang="en-US" sz="2800" b="1" i="1" dirty="0">
                <a:solidFill>
                  <a:srgbClr val="4E519E"/>
                </a:solidFill>
              </a:rPr>
              <a:t>ATC</a:t>
            </a:r>
            <a:r>
              <a:rPr lang="en-US" sz="2800" dirty="0">
                <a:solidFill>
                  <a:srgbClr val="4E519E"/>
                </a:solidFill>
              </a:rPr>
              <a:t>) </a:t>
            </a:r>
            <a:endParaRPr lang="en-US" sz="2800" b="1" i="1" dirty="0">
              <a:solidFill>
                <a:srgbClr val="4E519E"/>
              </a:solidFill>
            </a:endParaRPr>
          </a:p>
        </p:txBody>
      </p:sp>
      <p:grpSp>
        <p:nvGrpSpPr>
          <p:cNvPr id="3" name="Group 8"/>
          <p:cNvGrpSpPr>
            <a:grpSpLocks/>
          </p:cNvGrpSpPr>
          <p:nvPr/>
        </p:nvGrpSpPr>
        <p:grpSpPr bwMode="auto">
          <a:xfrm>
            <a:off x="3352800" y="1066800"/>
            <a:ext cx="5715069" cy="3814551"/>
            <a:chOff x="1579" y="1014"/>
            <a:chExt cx="3650" cy="2600"/>
          </a:xfrm>
        </p:grpSpPr>
        <p:grpSp>
          <p:nvGrpSpPr>
            <p:cNvPr id="4" name="Group 9"/>
            <p:cNvGrpSpPr>
              <a:grpSpLocks/>
            </p:cNvGrpSpPr>
            <p:nvPr/>
          </p:nvGrpSpPr>
          <p:grpSpPr bwMode="auto">
            <a:xfrm>
              <a:off x="2591" y="1080"/>
              <a:ext cx="2262" cy="2284"/>
              <a:chOff x="1489" y="785"/>
              <a:chExt cx="3650" cy="2492"/>
            </a:xfrm>
          </p:grpSpPr>
          <p:sp>
            <p:nvSpPr>
              <p:cNvPr id="13345" name="Line 10"/>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dirty="0">
                  <a:latin typeface="Arial"/>
                  <a:cs typeface="Arial"/>
                </a:endParaRPr>
              </a:p>
            </p:txBody>
          </p:sp>
          <p:sp>
            <p:nvSpPr>
              <p:cNvPr id="13346" name="Line 11"/>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dirty="0">
                  <a:latin typeface="Arial"/>
                  <a:cs typeface="Arial"/>
                </a:endParaRPr>
              </a:p>
            </p:txBody>
          </p:sp>
        </p:grpSp>
        <p:sp>
          <p:nvSpPr>
            <p:cNvPr id="13343" name="Text Box 12"/>
            <p:cNvSpPr txBox="1">
              <a:spLocks noChangeArrowheads="1"/>
            </p:cNvSpPr>
            <p:nvPr/>
          </p:nvSpPr>
          <p:spPr bwMode="auto">
            <a:xfrm>
              <a:off x="4448" y="3362"/>
              <a:ext cx="781" cy="252"/>
            </a:xfrm>
            <a:prstGeom prst="rect">
              <a:avLst/>
            </a:prstGeom>
            <a:noFill/>
            <a:ln w="9525">
              <a:noFill/>
              <a:miter lim="800000"/>
              <a:headEnd/>
              <a:tailEnd/>
            </a:ln>
          </p:spPr>
          <p:txBody>
            <a:bodyPr lIns="0" tIns="0" rIns="0" bIns="0">
              <a:spAutoFit/>
            </a:bodyPr>
            <a:lstStyle/>
            <a:p>
              <a:pPr algn="r">
                <a:spcBef>
                  <a:spcPct val="50000"/>
                </a:spcBef>
              </a:pPr>
              <a:r>
                <a:rPr lang="en-US" sz="2400" dirty="0">
                  <a:latin typeface="Arial"/>
                  <a:cs typeface="Arial"/>
                </a:rPr>
                <a:t>Quantity</a:t>
              </a:r>
            </a:p>
          </p:txBody>
        </p:sp>
        <p:sp>
          <p:nvSpPr>
            <p:cNvPr id="13344" name="Text Box 13"/>
            <p:cNvSpPr txBox="1">
              <a:spLocks noChangeArrowheads="1"/>
            </p:cNvSpPr>
            <p:nvPr/>
          </p:nvSpPr>
          <p:spPr bwMode="auto">
            <a:xfrm>
              <a:off x="1579" y="1014"/>
              <a:ext cx="1001" cy="312"/>
            </a:xfrm>
            <a:prstGeom prst="rect">
              <a:avLst/>
            </a:prstGeom>
            <a:noFill/>
            <a:ln w="9525">
              <a:noFill/>
              <a:miter lim="800000"/>
              <a:headEnd/>
              <a:tailEnd/>
            </a:ln>
          </p:spPr>
          <p:txBody>
            <a:bodyPr>
              <a:spAutoFit/>
            </a:bodyPr>
            <a:lstStyle/>
            <a:p>
              <a:pPr algn="r">
                <a:spcBef>
                  <a:spcPct val="50000"/>
                </a:spcBef>
              </a:pPr>
              <a:r>
                <a:rPr lang="en-US" sz="2400" dirty="0">
                  <a:latin typeface="Arial"/>
                  <a:cs typeface="Arial"/>
                </a:rPr>
                <a:t>Price</a:t>
              </a:r>
            </a:p>
          </p:txBody>
        </p:sp>
      </p:grpSp>
      <p:grpSp>
        <p:nvGrpSpPr>
          <p:cNvPr id="5" name="Group 14"/>
          <p:cNvGrpSpPr>
            <a:grpSpLocks/>
          </p:cNvGrpSpPr>
          <p:nvPr/>
        </p:nvGrpSpPr>
        <p:grpSpPr bwMode="auto">
          <a:xfrm>
            <a:off x="5307013" y="762000"/>
            <a:ext cx="3346450" cy="2127250"/>
            <a:chOff x="2859" y="931"/>
            <a:chExt cx="2108" cy="1340"/>
          </a:xfrm>
        </p:grpSpPr>
        <p:sp>
          <p:nvSpPr>
            <p:cNvPr id="13340" name="Arc 15"/>
            <p:cNvSpPr>
              <a:spLocks/>
            </p:cNvSpPr>
            <p:nvPr/>
          </p:nvSpPr>
          <p:spPr bwMode="auto">
            <a:xfrm flipH="1" flipV="1">
              <a:off x="2859" y="931"/>
              <a:ext cx="1759" cy="1340"/>
            </a:xfrm>
            <a:custGeom>
              <a:avLst/>
              <a:gdLst>
                <a:gd name="T0" fmla="*/ 0 w 33610"/>
                <a:gd name="T1" fmla="*/ 0 h 21600"/>
                <a:gd name="T2" fmla="*/ 0 w 33610"/>
                <a:gd name="T3" fmla="*/ 0 h 21600"/>
                <a:gd name="T4" fmla="*/ 0 w 33610"/>
                <a:gd name="T5" fmla="*/ 0 h 21600"/>
                <a:gd name="T6" fmla="*/ 0 60000 65536"/>
                <a:gd name="T7" fmla="*/ 0 60000 65536"/>
                <a:gd name="T8" fmla="*/ 0 60000 65536"/>
                <a:gd name="T9" fmla="*/ 0 w 33610"/>
                <a:gd name="T10" fmla="*/ 0 h 21600"/>
                <a:gd name="T11" fmla="*/ 33610 w 33610"/>
                <a:gd name="T12" fmla="*/ 21600 h 21600"/>
              </a:gdLst>
              <a:ahLst/>
              <a:cxnLst>
                <a:cxn ang="T6">
                  <a:pos x="T0" y="T1"/>
                </a:cxn>
                <a:cxn ang="T7">
                  <a:pos x="T2" y="T3"/>
                </a:cxn>
                <a:cxn ang="T8">
                  <a:pos x="T4" y="T5"/>
                </a:cxn>
              </a:cxnLst>
              <a:rect l="T9" t="T10" r="T11" b="T12"/>
              <a:pathLst>
                <a:path w="33610" h="21600" fill="none" extrusionOk="0">
                  <a:moveTo>
                    <a:pt x="0" y="6309"/>
                  </a:moveTo>
                  <a:cubicBezTo>
                    <a:pt x="4049" y="2268"/>
                    <a:pt x="9535" y="-1"/>
                    <a:pt x="15256" y="0"/>
                  </a:cubicBezTo>
                  <a:cubicBezTo>
                    <a:pt x="22728" y="0"/>
                    <a:pt x="29669" y="3861"/>
                    <a:pt x="33609" y="10211"/>
                  </a:cubicBezTo>
                </a:path>
                <a:path w="33610" h="21600" stroke="0" extrusionOk="0">
                  <a:moveTo>
                    <a:pt x="0" y="6309"/>
                  </a:moveTo>
                  <a:cubicBezTo>
                    <a:pt x="4049" y="2268"/>
                    <a:pt x="9535" y="-1"/>
                    <a:pt x="15256" y="0"/>
                  </a:cubicBezTo>
                  <a:cubicBezTo>
                    <a:pt x="22728" y="0"/>
                    <a:pt x="29669" y="3861"/>
                    <a:pt x="33609" y="10211"/>
                  </a:cubicBezTo>
                  <a:lnTo>
                    <a:pt x="15256" y="21600"/>
                  </a:lnTo>
                  <a:close/>
                </a:path>
              </a:pathLst>
            </a:custGeom>
            <a:noFill/>
            <a:ln w="38100">
              <a:solidFill>
                <a:srgbClr val="333399"/>
              </a:solidFill>
              <a:round/>
              <a:headEnd/>
              <a:tailEnd/>
            </a:ln>
          </p:spPr>
          <p:txBody>
            <a:bodyPr wrap="none" anchor="ctr"/>
            <a:lstStyle/>
            <a:p>
              <a:endParaRPr lang="en-US" dirty="0">
                <a:latin typeface="Arial"/>
                <a:cs typeface="Arial"/>
              </a:endParaRPr>
            </a:p>
          </p:txBody>
        </p:sp>
        <p:sp>
          <p:nvSpPr>
            <p:cNvPr id="13341" name="Text Box 16"/>
            <p:cNvSpPr txBox="1">
              <a:spLocks noChangeArrowheads="1"/>
            </p:cNvSpPr>
            <p:nvPr/>
          </p:nvSpPr>
          <p:spPr bwMode="auto">
            <a:xfrm>
              <a:off x="4444" y="1659"/>
              <a:ext cx="523" cy="233"/>
            </a:xfrm>
            <a:prstGeom prst="rect">
              <a:avLst/>
            </a:prstGeom>
            <a:noFill/>
            <a:ln w="9525">
              <a:noFill/>
              <a:miter lim="800000"/>
              <a:headEnd/>
              <a:tailEnd/>
            </a:ln>
          </p:spPr>
          <p:txBody>
            <a:bodyPr lIns="0" tIns="0" rIns="0" bIns="0">
              <a:spAutoFit/>
            </a:bodyPr>
            <a:lstStyle/>
            <a:p>
              <a:pPr algn="ctr">
                <a:spcBef>
                  <a:spcPct val="50000"/>
                </a:spcBef>
              </a:pPr>
              <a:r>
                <a:rPr lang="en-US" sz="2400" i="1" dirty="0">
                  <a:latin typeface="Arial"/>
                  <a:cs typeface="Arial"/>
                </a:rPr>
                <a:t>ATC</a:t>
              </a:r>
            </a:p>
          </p:txBody>
        </p:sp>
      </p:grpSp>
      <p:sp>
        <p:nvSpPr>
          <p:cNvPr id="13322" name="Line 17"/>
          <p:cNvSpPr>
            <a:spLocks noChangeShapeType="1"/>
          </p:cNvSpPr>
          <p:nvPr/>
        </p:nvSpPr>
        <p:spPr bwMode="auto">
          <a:xfrm>
            <a:off x="5137150" y="2224087"/>
            <a:ext cx="2755900" cy="1420813"/>
          </a:xfrm>
          <a:prstGeom prst="line">
            <a:avLst/>
          </a:prstGeom>
          <a:noFill/>
          <a:ln w="38100">
            <a:solidFill>
              <a:srgbClr val="333399"/>
            </a:solidFill>
            <a:round/>
            <a:headEnd/>
            <a:tailEnd/>
          </a:ln>
        </p:spPr>
        <p:txBody>
          <a:bodyPr/>
          <a:lstStyle/>
          <a:p>
            <a:endParaRPr lang="en-US" dirty="0">
              <a:latin typeface="Arial"/>
              <a:cs typeface="Arial"/>
            </a:endParaRPr>
          </a:p>
        </p:txBody>
      </p:sp>
      <p:sp>
        <p:nvSpPr>
          <p:cNvPr id="13323" name="Text Box 18"/>
          <p:cNvSpPr txBox="1">
            <a:spLocks noChangeArrowheads="1"/>
          </p:cNvSpPr>
          <p:nvPr/>
        </p:nvSpPr>
        <p:spPr bwMode="auto">
          <a:xfrm>
            <a:off x="7808913" y="3532187"/>
            <a:ext cx="434975" cy="369332"/>
          </a:xfrm>
          <a:prstGeom prst="rect">
            <a:avLst/>
          </a:prstGeom>
          <a:noFill/>
          <a:ln w="9525">
            <a:noFill/>
            <a:miter lim="800000"/>
            <a:headEnd/>
            <a:tailEnd/>
          </a:ln>
        </p:spPr>
        <p:txBody>
          <a:bodyPr lIns="0" tIns="0" rIns="0" bIns="0">
            <a:spAutoFit/>
          </a:bodyPr>
          <a:lstStyle/>
          <a:p>
            <a:pPr algn="ctr">
              <a:spcBef>
                <a:spcPct val="50000"/>
              </a:spcBef>
            </a:pPr>
            <a:r>
              <a:rPr lang="en-US" sz="2400" i="1" dirty="0">
                <a:latin typeface="Arial"/>
                <a:cs typeface="Arial"/>
              </a:rPr>
              <a:t>D</a:t>
            </a:r>
          </a:p>
        </p:txBody>
      </p:sp>
      <p:sp>
        <p:nvSpPr>
          <p:cNvPr id="13324" name="Line 19"/>
          <p:cNvSpPr>
            <a:spLocks noChangeShapeType="1"/>
          </p:cNvSpPr>
          <p:nvPr/>
        </p:nvSpPr>
        <p:spPr bwMode="auto">
          <a:xfrm>
            <a:off x="5100638" y="2590800"/>
            <a:ext cx="1450975" cy="1539875"/>
          </a:xfrm>
          <a:prstGeom prst="line">
            <a:avLst/>
          </a:prstGeom>
          <a:noFill/>
          <a:ln w="38100">
            <a:solidFill>
              <a:srgbClr val="CC0000"/>
            </a:solidFill>
            <a:round/>
            <a:headEnd/>
            <a:tailEnd/>
          </a:ln>
        </p:spPr>
        <p:txBody>
          <a:bodyPr/>
          <a:lstStyle/>
          <a:p>
            <a:endParaRPr lang="en-US" dirty="0">
              <a:latin typeface="Arial"/>
              <a:cs typeface="Arial"/>
            </a:endParaRPr>
          </a:p>
        </p:txBody>
      </p:sp>
      <p:sp>
        <p:nvSpPr>
          <p:cNvPr id="13325" name="Text Box 20"/>
          <p:cNvSpPr txBox="1">
            <a:spLocks noChangeArrowheads="1"/>
          </p:cNvSpPr>
          <p:nvPr/>
        </p:nvSpPr>
        <p:spPr bwMode="auto">
          <a:xfrm>
            <a:off x="6243444" y="4129615"/>
            <a:ext cx="593725" cy="369332"/>
          </a:xfrm>
          <a:prstGeom prst="rect">
            <a:avLst/>
          </a:prstGeom>
          <a:noFill/>
          <a:ln w="9525">
            <a:noFill/>
            <a:miter lim="800000"/>
            <a:headEnd/>
            <a:tailEnd/>
          </a:ln>
        </p:spPr>
        <p:txBody>
          <a:bodyPr lIns="0" tIns="0" rIns="0" bIns="0">
            <a:spAutoFit/>
          </a:bodyPr>
          <a:lstStyle/>
          <a:p>
            <a:pPr algn="ctr">
              <a:spcBef>
                <a:spcPct val="50000"/>
              </a:spcBef>
            </a:pPr>
            <a:r>
              <a:rPr lang="en-US" sz="2400" i="1" dirty="0">
                <a:latin typeface="Arial"/>
                <a:cs typeface="Arial"/>
              </a:rPr>
              <a:t>MR</a:t>
            </a:r>
          </a:p>
        </p:txBody>
      </p:sp>
      <p:sp>
        <p:nvSpPr>
          <p:cNvPr id="13326" name="Text Box 21"/>
          <p:cNvSpPr txBox="1">
            <a:spLocks noChangeArrowheads="1"/>
          </p:cNvSpPr>
          <p:nvPr/>
        </p:nvSpPr>
        <p:spPr bwMode="auto">
          <a:xfrm>
            <a:off x="5832475" y="4479925"/>
            <a:ext cx="517525" cy="457200"/>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p>
        </p:txBody>
      </p:sp>
      <p:grpSp>
        <p:nvGrpSpPr>
          <p:cNvPr id="6" name="Group 24"/>
          <p:cNvGrpSpPr>
            <a:grpSpLocks/>
          </p:cNvGrpSpPr>
          <p:nvPr/>
        </p:nvGrpSpPr>
        <p:grpSpPr bwMode="auto">
          <a:xfrm>
            <a:off x="3276600" y="350838"/>
            <a:ext cx="4600575" cy="3687762"/>
            <a:chOff x="1591" y="691"/>
            <a:chExt cx="2898" cy="2323"/>
          </a:xfrm>
        </p:grpSpPr>
        <p:sp>
          <p:nvSpPr>
            <p:cNvPr id="13338" name="Text Box 25"/>
            <p:cNvSpPr txBox="1">
              <a:spLocks noChangeArrowheads="1"/>
            </p:cNvSpPr>
            <p:nvPr/>
          </p:nvSpPr>
          <p:spPr bwMode="auto">
            <a:xfrm>
              <a:off x="4118" y="1342"/>
              <a:ext cx="371" cy="233"/>
            </a:xfrm>
            <a:prstGeom prst="rect">
              <a:avLst/>
            </a:prstGeom>
            <a:noFill/>
            <a:ln w="9525">
              <a:noFill/>
              <a:miter lim="800000"/>
              <a:headEnd/>
              <a:tailEnd/>
            </a:ln>
          </p:spPr>
          <p:txBody>
            <a:bodyPr lIns="0" tIns="0" rIns="0" bIns="0">
              <a:spAutoFit/>
            </a:bodyPr>
            <a:lstStyle/>
            <a:p>
              <a:pPr algn="ctr">
                <a:spcBef>
                  <a:spcPct val="50000"/>
                </a:spcBef>
              </a:pPr>
              <a:r>
                <a:rPr lang="en-US" sz="2400" i="1" dirty="0">
                  <a:latin typeface="Arial"/>
                  <a:cs typeface="Arial"/>
                </a:rPr>
                <a:t>MC</a:t>
              </a:r>
            </a:p>
          </p:txBody>
        </p:sp>
        <p:sp>
          <p:nvSpPr>
            <p:cNvPr id="13339" name="Arc 26"/>
            <p:cNvSpPr>
              <a:spLocks/>
            </p:cNvSpPr>
            <p:nvPr/>
          </p:nvSpPr>
          <p:spPr bwMode="auto">
            <a:xfrm flipV="1">
              <a:off x="1591" y="691"/>
              <a:ext cx="2653" cy="2323"/>
            </a:xfrm>
            <a:custGeom>
              <a:avLst/>
              <a:gdLst>
                <a:gd name="T0" fmla="*/ 0 w 20469"/>
                <a:gd name="T1" fmla="*/ 0 h 18502"/>
                <a:gd name="T2" fmla="*/ 0 w 20469"/>
                <a:gd name="T3" fmla="*/ 0 h 18502"/>
                <a:gd name="T4" fmla="*/ 0 w 20469"/>
                <a:gd name="T5" fmla="*/ 0 h 18502"/>
                <a:gd name="T6" fmla="*/ 0 60000 65536"/>
                <a:gd name="T7" fmla="*/ 0 60000 65536"/>
                <a:gd name="T8" fmla="*/ 0 60000 65536"/>
                <a:gd name="T9" fmla="*/ 0 w 20469"/>
                <a:gd name="T10" fmla="*/ 0 h 18502"/>
                <a:gd name="T11" fmla="*/ 20469 w 20469"/>
                <a:gd name="T12" fmla="*/ 18502 h 18502"/>
              </a:gdLst>
              <a:ahLst/>
              <a:cxnLst>
                <a:cxn ang="T6">
                  <a:pos x="T0" y="T1"/>
                </a:cxn>
                <a:cxn ang="T7">
                  <a:pos x="T2" y="T3"/>
                </a:cxn>
                <a:cxn ang="T8">
                  <a:pos x="T4" y="T5"/>
                </a:cxn>
              </a:cxnLst>
              <a:rect l="T9" t="T10" r="T11" b="T12"/>
              <a:pathLst>
                <a:path w="20469" h="18502" fill="none" extrusionOk="0">
                  <a:moveTo>
                    <a:pt x="11146" y="-1"/>
                  </a:moveTo>
                  <a:cubicBezTo>
                    <a:pt x="15530" y="2641"/>
                    <a:pt x="18834" y="6753"/>
                    <a:pt x="20468" y="11604"/>
                  </a:cubicBezTo>
                </a:path>
                <a:path w="20469" h="18502" stroke="0" extrusionOk="0">
                  <a:moveTo>
                    <a:pt x="11146" y="-1"/>
                  </a:moveTo>
                  <a:cubicBezTo>
                    <a:pt x="15530" y="2641"/>
                    <a:pt x="18834" y="6753"/>
                    <a:pt x="20468" y="11604"/>
                  </a:cubicBezTo>
                  <a:lnTo>
                    <a:pt x="0" y="18502"/>
                  </a:lnTo>
                  <a:close/>
                </a:path>
              </a:pathLst>
            </a:custGeom>
            <a:noFill/>
            <a:ln w="38100">
              <a:solidFill>
                <a:srgbClr val="CC0000"/>
              </a:solidFill>
              <a:round/>
              <a:headEnd/>
              <a:tailEnd/>
            </a:ln>
          </p:spPr>
          <p:txBody>
            <a:bodyPr wrap="none" anchor="ctr"/>
            <a:lstStyle/>
            <a:p>
              <a:endParaRPr lang="en-US" dirty="0">
                <a:latin typeface="Arial"/>
                <a:cs typeface="Arial"/>
              </a:endParaRPr>
            </a:p>
          </p:txBody>
        </p:sp>
      </p:grpSp>
      <p:sp>
        <p:nvSpPr>
          <p:cNvPr id="13328" name="Oval 27"/>
          <p:cNvSpPr>
            <a:spLocks noChangeAspect="1" noChangeArrowheads="1"/>
          </p:cNvSpPr>
          <p:nvPr/>
        </p:nvSpPr>
        <p:spPr bwMode="auto">
          <a:xfrm>
            <a:off x="6057900" y="3614737"/>
            <a:ext cx="119063" cy="117475"/>
          </a:xfrm>
          <a:prstGeom prst="ellipse">
            <a:avLst/>
          </a:prstGeom>
          <a:solidFill>
            <a:srgbClr val="000000"/>
          </a:solidFill>
          <a:ln w="9525">
            <a:noFill/>
            <a:prstDash val="dash"/>
            <a:round/>
            <a:headEnd/>
            <a:tailEnd/>
          </a:ln>
        </p:spPr>
        <p:txBody>
          <a:bodyPr wrap="none" anchor="ctr"/>
          <a:lstStyle/>
          <a:p>
            <a:endParaRPr lang="en-US" dirty="0">
              <a:latin typeface="Arial"/>
              <a:cs typeface="Arial"/>
            </a:endParaRPr>
          </a:p>
        </p:txBody>
      </p:sp>
      <p:sp>
        <p:nvSpPr>
          <p:cNvPr id="13329" name="Oval 28"/>
          <p:cNvSpPr>
            <a:spLocks noChangeAspect="1" noChangeArrowheads="1"/>
          </p:cNvSpPr>
          <p:nvPr/>
        </p:nvSpPr>
        <p:spPr bwMode="auto">
          <a:xfrm>
            <a:off x="6056313" y="2659062"/>
            <a:ext cx="119062" cy="117475"/>
          </a:xfrm>
          <a:prstGeom prst="ellipse">
            <a:avLst/>
          </a:prstGeom>
          <a:solidFill>
            <a:srgbClr val="000000"/>
          </a:solidFill>
          <a:ln w="9525">
            <a:noFill/>
            <a:prstDash val="dash"/>
            <a:round/>
            <a:headEnd/>
            <a:tailEnd/>
          </a:ln>
        </p:spPr>
        <p:txBody>
          <a:bodyPr wrap="none" anchor="ctr"/>
          <a:lstStyle/>
          <a:p>
            <a:endParaRPr lang="en-US" dirty="0">
              <a:latin typeface="Arial"/>
              <a:cs typeface="Arial"/>
            </a:endParaRPr>
          </a:p>
        </p:txBody>
      </p:sp>
      <p:grpSp>
        <p:nvGrpSpPr>
          <p:cNvPr id="11" name="Group 10"/>
          <p:cNvGrpSpPr/>
          <p:nvPr/>
        </p:nvGrpSpPr>
        <p:grpSpPr>
          <a:xfrm>
            <a:off x="3427413" y="2419350"/>
            <a:ext cx="2693987" cy="2079625"/>
            <a:chOff x="3613150" y="2945174"/>
            <a:chExt cx="2693987" cy="2079625"/>
          </a:xfrm>
        </p:grpSpPr>
        <p:grpSp>
          <p:nvGrpSpPr>
            <p:cNvPr id="2" name="Group 3"/>
            <p:cNvGrpSpPr>
              <a:grpSpLocks/>
            </p:cNvGrpSpPr>
            <p:nvPr/>
          </p:nvGrpSpPr>
          <p:grpSpPr bwMode="auto">
            <a:xfrm>
              <a:off x="5133975" y="3248386"/>
              <a:ext cx="1173162" cy="1776413"/>
              <a:chOff x="357" y="2450"/>
              <a:chExt cx="795" cy="646"/>
            </a:xfrm>
          </p:grpSpPr>
          <p:sp>
            <p:nvSpPr>
              <p:cNvPr id="13347" name="Line 4"/>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dirty="0">
                  <a:latin typeface="Arial"/>
                  <a:cs typeface="Arial"/>
                </a:endParaRPr>
              </a:p>
            </p:txBody>
          </p:sp>
          <p:sp>
            <p:nvSpPr>
              <p:cNvPr id="13348" name="Line 5"/>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dirty="0">
                  <a:latin typeface="Arial"/>
                  <a:cs typeface="Arial"/>
                </a:endParaRPr>
              </a:p>
            </p:txBody>
          </p:sp>
        </p:grpSp>
        <p:sp>
          <p:nvSpPr>
            <p:cNvPr id="13331" name="Rectangle 30"/>
            <p:cNvSpPr>
              <a:spLocks noChangeArrowheads="1"/>
            </p:cNvSpPr>
            <p:nvPr/>
          </p:nvSpPr>
          <p:spPr bwMode="auto">
            <a:xfrm>
              <a:off x="3613150" y="2945174"/>
              <a:ext cx="1208087" cy="369332"/>
            </a:xfrm>
            <a:prstGeom prst="rect">
              <a:avLst/>
            </a:prstGeom>
            <a:noFill/>
            <a:ln w="9525">
              <a:noFill/>
              <a:miter lim="800000"/>
              <a:headEnd/>
              <a:tailEnd/>
            </a:ln>
          </p:spPr>
          <p:txBody>
            <a:bodyPr lIns="0" tIns="0" rIns="0" bIns="0">
              <a:spAutoFit/>
            </a:bodyPr>
            <a:lstStyle/>
            <a:p>
              <a:pPr algn="r"/>
              <a:r>
                <a:rPr lang="en-US" sz="2400" i="1" dirty="0">
                  <a:latin typeface="Arial"/>
                  <a:cs typeface="Arial"/>
                </a:rPr>
                <a:t>P = ATC</a:t>
              </a:r>
            </a:p>
          </p:txBody>
        </p:sp>
        <p:sp>
          <p:nvSpPr>
            <p:cNvPr id="13332" name="Line 33"/>
            <p:cNvSpPr>
              <a:spLocks noChangeShapeType="1"/>
            </p:cNvSpPr>
            <p:nvPr/>
          </p:nvSpPr>
          <p:spPr bwMode="auto">
            <a:xfrm>
              <a:off x="4843462" y="3142024"/>
              <a:ext cx="238125" cy="104775"/>
            </a:xfrm>
            <a:prstGeom prst="line">
              <a:avLst/>
            </a:prstGeom>
            <a:noFill/>
            <a:ln w="9525">
              <a:solidFill>
                <a:schemeClr val="tx1"/>
              </a:solidFill>
              <a:round/>
              <a:headEnd/>
              <a:tailEnd/>
            </a:ln>
          </p:spPr>
          <p:txBody>
            <a:bodyPr/>
            <a:lstStyle/>
            <a:p>
              <a:endParaRPr lang="en-US" dirty="0">
                <a:latin typeface="Arial"/>
                <a:cs typeface="Arial"/>
              </a:endParaRPr>
            </a:p>
          </p:txBody>
        </p:sp>
      </p:grpSp>
      <p:grpSp>
        <p:nvGrpSpPr>
          <p:cNvPr id="10" name="Group 9"/>
          <p:cNvGrpSpPr/>
          <p:nvPr/>
        </p:nvGrpSpPr>
        <p:grpSpPr>
          <a:xfrm>
            <a:off x="4205288" y="3673475"/>
            <a:ext cx="1912937" cy="515382"/>
            <a:chOff x="4391025" y="4199299"/>
            <a:chExt cx="1912937" cy="515382"/>
          </a:xfrm>
        </p:grpSpPr>
        <p:sp>
          <p:nvSpPr>
            <p:cNvPr id="13316" name="Line 31"/>
            <p:cNvSpPr>
              <a:spLocks noChangeShapeType="1"/>
            </p:cNvSpPr>
            <p:nvPr/>
          </p:nvSpPr>
          <p:spPr bwMode="auto">
            <a:xfrm flipH="1">
              <a:off x="5121275" y="4199299"/>
              <a:ext cx="1182687" cy="0"/>
            </a:xfrm>
            <a:prstGeom prst="line">
              <a:avLst/>
            </a:prstGeom>
            <a:noFill/>
            <a:ln w="9525">
              <a:solidFill>
                <a:schemeClr val="tx1"/>
              </a:solidFill>
              <a:prstDash val="lgDash"/>
              <a:round/>
              <a:headEnd/>
              <a:tailEnd/>
            </a:ln>
          </p:spPr>
          <p:txBody>
            <a:bodyPr/>
            <a:lstStyle/>
            <a:p>
              <a:endParaRPr lang="en-US" dirty="0">
                <a:latin typeface="Arial"/>
                <a:cs typeface="Arial"/>
              </a:endParaRPr>
            </a:p>
          </p:txBody>
        </p:sp>
        <p:sp>
          <p:nvSpPr>
            <p:cNvPr id="13330" name="Rectangle 29"/>
            <p:cNvSpPr>
              <a:spLocks noChangeArrowheads="1"/>
            </p:cNvSpPr>
            <p:nvPr/>
          </p:nvSpPr>
          <p:spPr bwMode="auto">
            <a:xfrm>
              <a:off x="4391025" y="4345349"/>
              <a:ext cx="565150" cy="369332"/>
            </a:xfrm>
            <a:prstGeom prst="rect">
              <a:avLst/>
            </a:prstGeom>
            <a:noFill/>
            <a:ln w="9525">
              <a:noFill/>
              <a:miter lim="800000"/>
              <a:headEnd/>
              <a:tailEnd/>
            </a:ln>
          </p:spPr>
          <p:txBody>
            <a:bodyPr lIns="0" tIns="0" rIns="0" bIns="0">
              <a:spAutoFit/>
            </a:bodyPr>
            <a:lstStyle/>
            <a:p>
              <a:pPr algn="r"/>
              <a:r>
                <a:rPr lang="en-US" sz="2400" i="1" dirty="0">
                  <a:latin typeface="Arial"/>
                  <a:cs typeface="Arial"/>
                </a:rPr>
                <a:t>MC</a:t>
              </a:r>
            </a:p>
          </p:txBody>
        </p:sp>
        <p:sp>
          <p:nvSpPr>
            <p:cNvPr id="13333" name="Line 34"/>
            <p:cNvSpPr>
              <a:spLocks noChangeShapeType="1"/>
            </p:cNvSpPr>
            <p:nvPr/>
          </p:nvSpPr>
          <p:spPr bwMode="auto">
            <a:xfrm flipH="1">
              <a:off x="4929187" y="4210411"/>
              <a:ext cx="160338" cy="193675"/>
            </a:xfrm>
            <a:prstGeom prst="line">
              <a:avLst/>
            </a:prstGeom>
            <a:noFill/>
            <a:ln w="9525">
              <a:solidFill>
                <a:schemeClr val="tx1"/>
              </a:solidFill>
              <a:round/>
              <a:headEnd/>
              <a:tailEnd/>
            </a:ln>
          </p:spPr>
          <p:txBody>
            <a:bodyPr/>
            <a:lstStyle/>
            <a:p>
              <a:endParaRPr lang="en-US" dirty="0">
                <a:latin typeface="Arial"/>
                <a:cs typeface="Arial"/>
              </a:endParaRPr>
            </a:p>
          </p:txBody>
        </p:sp>
      </p:grpSp>
      <p:grpSp>
        <p:nvGrpSpPr>
          <p:cNvPr id="7" name="Group 36"/>
          <p:cNvGrpSpPr>
            <a:grpSpLocks/>
          </p:cNvGrpSpPr>
          <p:nvPr/>
        </p:nvGrpSpPr>
        <p:grpSpPr bwMode="auto">
          <a:xfrm>
            <a:off x="3430588" y="2740025"/>
            <a:ext cx="1423987" cy="936625"/>
            <a:chOff x="2069" y="2387"/>
            <a:chExt cx="897" cy="590"/>
          </a:xfrm>
        </p:grpSpPr>
        <p:sp>
          <p:nvSpPr>
            <p:cNvPr id="13336" name="AutoShape 32"/>
            <p:cNvSpPr>
              <a:spLocks/>
            </p:cNvSpPr>
            <p:nvPr/>
          </p:nvSpPr>
          <p:spPr bwMode="auto">
            <a:xfrm>
              <a:off x="2849" y="2387"/>
              <a:ext cx="117" cy="590"/>
            </a:xfrm>
            <a:prstGeom prst="leftBrace">
              <a:avLst>
                <a:gd name="adj1" fmla="val 42023"/>
                <a:gd name="adj2" fmla="val 50000"/>
              </a:avLst>
            </a:prstGeom>
            <a:noFill/>
            <a:ln w="28575">
              <a:solidFill>
                <a:srgbClr val="4E519E"/>
              </a:solidFill>
              <a:round/>
              <a:headEnd/>
              <a:tailEnd/>
            </a:ln>
          </p:spPr>
          <p:txBody>
            <a:bodyPr wrap="none" anchor="ctr"/>
            <a:lstStyle/>
            <a:p>
              <a:endParaRPr lang="en-US" dirty="0">
                <a:latin typeface="Arial"/>
                <a:cs typeface="Arial"/>
              </a:endParaRPr>
            </a:p>
          </p:txBody>
        </p:sp>
        <p:sp>
          <p:nvSpPr>
            <p:cNvPr id="13337" name="Rectangle 35"/>
            <p:cNvSpPr>
              <a:spLocks noChangeArrowheads="1"/>
            </p:cNvSpPr>
            <p:nvPr/>
          </p:nvSpPr>
          <p:spPr bwMode="auto">
            <a:xfrm>
              <a:off x="2069" y="2538"/>
              <a:ext cx="761" cy="288"/>
            </a:xfrm>
            <a:prstGeom prst="rect">
              <a:avLst/>
            </a:prstGeom>
            <a:solidFill>
              <a:srgbClr val="E3F0FA"/>
            </a:solidFill>
            <a:ln w="9525">
              <a:solidFill>
                <a:srgbClr val="E3F0FA"/>
              </a:solidFill>
              <a:miter lim="800000"/>
              <a:headEnd/>
              <a:tailEnd/>
            </a:ln>
          </p:spPr>
          <p:txBody>
            <a:bodyPr>
              <a:spAutoFit/>
            </a:bodyPr>
            <a:lstStyle/>
            <a:p>
              <a:pPr algn="ctr"/>
              <a:r>
                <a:rPr lang="en-US" sz="2400" dirty="0">
                  <a:solidFill>
                    <a:srgbClr val="4E519E"/>
                  </a:solidFill>
                  <a:latin typeface="Arial"/>
                  <a:cs typeface="Arial"/>
                </a:rPr>
                <a:t>markup</a:t>
              </a:r>
            </a:p>
          </p:txBody>
        </p:sp>
      </p:grpSp>
      <p:sp>
        <p:nvSpPr>
          <p:cNvPr id="13335"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dirty="0">
                <a:latin typeface="Tahoma" pitchFamily="34" charset="0"/>
                <a:cs typeface="Arial" charset="0"/>
              </a:rPr>
              <a:t>0</a:t>
            </a:r>
          </a:p>
        </p:txBody>
      </p:sp>
      <p:sp>
        <p:nvSpPr>
          <p:cNvPr id="8" name="Footer Placeholder 7">
            <a:extLst>
              <a:ext uri="{FF2B5EF4-FFF2-40B4-BE49-F238E27FC236}">
                <a16:creationId xmlns:a16="http://schemas.microsoft.com/office/drawing/2014/main" id="{950B2EF8-66F4-1834-779D-B551FA114696}"/>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40" name="Group 36">
            <a:extLst>
              <a:ext uri="{FF2B5EF4-FFF2-40B4-BE49-F238E27FC236}">
                <a16:creationId xmlns:a16="http://schemas.microsoft.com/office/drawing/2014/main" id="{540C8F5A-2A7A-425A-AF46-AC6D1095F3E7}"/>
              </a:ext>
            </a:extLst>
          </p:cNvPr>
          <p:cNvGrpSpPr>
            <a:grpSpLocks/>
          </p:cNvGrpSpPr>
          <p:nvPr/>
        </p:nvGrpSpPr>
        <p:grpSpPr bwMode="auto">
          <a:xfrm>
            <a:off x="5334000" y="5408611"/>
            <a:ext cx="2338386" cy="687389"/>
            <a:chOff x="2593" y="2664"/>
            <a:chExt cx="1473" cy="433"/>
          </a:xfrm>
        </p:grpSpPr>
        <p:sp>
          <p:nvSpPr>
            <p:cNvPr id="41" name="AutoShape 32">
              <a:extLst>
                <a:ext uri="{FF2B5EF4-FFF2-40B4-BE49-F238E27FC236}">
                  <a16:creationId xmlns:a16="http://schemas.microsoft.com/office/drawing/2014/main" id="{AB0EF8B8-66B3-CBD5-ED7D-7DCE10EA8D1B}"/>
                </a:ext>
              </a:extLst>
            </p:cNvPr>
            <p:cNvSpPr>
              <a:spLocks/>
            </p:cNvSpPr>
            <p:nvPr/>
          </p:nvSpPr>
          <p:spPr bwMode="auto">
            <a:xfrm rot="16200000">
              <a:off x="3269" y="2481"/>
              <a:ext cx="117" cy="484"/>
            </a:xfrm>
            <a:prstGeom prst="leftBrace">
              <a:avLst>
                <a:gd name="adj1" fmla="val 42023"/>
                <a:gd name="adj2" fmla="val 50000"/>
              </a:avLst>
            </a:prstGeom>
            <a:noFill/>
            <a:ln w="28575">
              <a:solidFill>
                <a:srgbClr val="4E519E"/>
              </a:solidFill>
              <a:round/>
              <a:headEnd/>
              <a:tailEnd/>
            </a:ln>
          </p:spPr>
          <p:txBody>
            <a:bodyPr wrap="none" anchor="ctr"/>
            <a:lstStyle/>
            <a:p>
              <a:endParaRPr lang="en-US" dirty="0">
                <a:latin typeface="Arial"/>
                <a:cs typeface="Arial"/>
              </a:endParaRPr>
            </a:p>
          </p:txBody>
        </p:sp>
        <p:sp>
          <p:nvSpPr>
            <p:cNvPr id="42" name="Rectangle 35">
              <a:extLst>
                <a:ext uri="{FF2B5EF4-FFF2-40B4-BE49-F238E27FC236}">
                  <a16:creationId xmlns:a16="http://schemas.microsoft.com/office/drawing/2014/main" id="{2268F5CA-D6FD-7EE8-58EF-8FE80BADCE42}"/>
                </a:ext>
              </a:extLst>
            </p:cNvPr>
            <p:cNvSpPr>
              <a:spLocks noChangeArrowheads="1"/>
            </p:cNvSpPr>
            <p:nvPr/>
          </p:nvSpPr>
          <p:spPr bwMode="auto">
            <a:xfrm>
              <a:off x="2593" y="2806"/>
              <a:ext cx="1473" cy="291"/>
            </a:xfrm>
            <a:prstGeom prst="rect">
              <a:avLst/>
            </a:prstGeom>
            <a:solidFill>
              <a:srgbClr val="E3F0FA"/>
            </a:solidFill>
            <a:ln w="9525">
              <a:solidFill>
                <a:srgbClr val="E3F0FA"/>
              </a:solidFill>
              <a:miter lim="800000"/>
              <a:headEnd/>
              <a:tailEnd/>
            </a:ln>
          </p:spPr>
          <p:txBody>
            <a:bodyPr wrap="square">
              <a:spAutoFit/>
            </a:bodyPr>
            <a:lstStyle/>
            <a:p>
              <a:pPr algn="ctr"/>
              <a:r>
                <a:rPr lang="en-US" sz="2400" dirty="0">
                  <a:solidFill>
                    <a:srgbClr val="4E519E"/>
                  </a:solidFill>
                  <a:latin typeface="Arial"/>
                  <a:cs typeface="Arial"/>
                </a:rPr>
                <a:t>excess capacity</a:t>
              </a:r>
            </a:p>
          </p:txBody>
        </p:sp>
      </p:grpSp>
      <p:grpSp>
        <p:nvGrpSpPr>
          <p:cNvPr id="12" name="Group 11">
            <a:extLst>
              <a:ext uri="{FF2B5EF4-FFF2-40B4-BE49-F238E27FC236}">
                <a16:creationId xmlns:a16="http://schemas.microsoft.com/office/drawing/2014/main" id="{61E10FCA-D065-7BB4-B1B7-B43367CB9F4E}"/>
              </a:ext>
            </a:extLst>
          </p:cNvPr>
          <p:cNvGrpSpPr/>
          <p:nvPr/>
        </p:nvGrpSpPr>
        <p:grpSpPr>
          <a:xfrm>
            <a:off x="6400800" y="2889250"/>
            <a:ext cx="1727151" cy="2565667"/>
            <a:chOff x="6400800" y="2889250"/>
            <a:chExt cx="1727151" cy="2565667"/>
          </a:xfrm>
        </p:grpSpPr>
        <p:sp>
          <p:nvSpPr>
            <p:cNvPr id="43" name="Line 5">
              <a:extLst>
                <a:ext uri="{FF2B5EF4-FFF2-40B4-BE49-F238E27FC236}">
                  <a16:creationId xmlns:a16="http://schemas.microsoft.com/office/drawing/2014/main" id="{BF56F78B-E736-D5A6-2B75-88C621840E48}"/>
                </a:ext>
              </a:extLst>
            </p:cNvPr>
            <p:cNvSpPr>
              <a:spLocks noChangeShapeType="1"/>
            </p:cNvSpPr>
            <p:nvPr/>
          </p:nvSpPr>
          <p:spPr bwMode="auto">
            <a:xfrm>
              <a:off x="6855142" y="2889250"/>
              <a:ext cx="29846" cy="2565667"/>
            </a:xfrm>
            <a:prstGeom prst="line">
              <a:avLst/>
            </a:prstGeom>
            <a:noFill/>
            <a:ln w="9525">
              <a:solidFill>
                <a:schemeClr val="tx1"/>
              </a:solidFill>
              <a:prstDash val="lgDash"/>
              <a:round/>
              <a:headEnd/>
              <a:tailEnd/>
            </a:ln>
          </p:spPr>
          <p:txBody>
            <a:bodyPr/>
            <a:lstStyle/>
            <a:p>
              <a:endParaRPr lang="en-US" dirty="0">
                <a:latin typeface="Arial"/>
                <a:cs typeface="Arial"/>
              </a:endParaRPr>
            </a:p>
          </p:txBody>
        </p:sp>
        <p:sp>
          <p:nvSpPr>
            <p:cNvPr id="44" name="Text Box 21">
              <a:extLst>
                <a:ext uri="{FF2B5EF4-FFF2-40B4-BE49-F238E27FC236}">
                  <a16:creationId xmlns:a16="http://schemas.microsoft.com/office/drawing/2014/main" id="{76CAAE0C-2882-E5CC-D4CB-F2062BB4F438}"/>
                </a:ext>
              </a:extLst>
            </p:cNvPr>
            <p:cNvSpPr txBox="1">
              <a:spLocks noChangeArrowheads="1"/>
            </p:cNvSpPr>
            <p:nvPr/>
          </p:nvSpPr>
          <p:spPr bwMode="auto">
            <a:xfrm>
              <a:off x="6400800" y="4876800"/>
              <a:ext cx="1727151" cy="400110"/>
            </a:xfrm>
            <a:prstGeom prst="rect">
              <a:avLst/>
            </a:prstGeom>
            <a:solidFill>
              <a:schemeClr val="bg1"/>
            </a:solidFill>
            <a:ln w="9525">
              <a:noFill/>
              <a:miter lim="800000"/>
              <a:headEnd/>
              <a:tailEnd/>
            </a:ln>
          </p:spPr>
          <p:txBody>
            <a:bodyPr wrap="square">
              <a:spAutoFit/>
            </a:bodyPr>
            <a:lstStyle/>
            <a:p>
              <a:pPr algn="ctr">
                <a:spcBef>
                  <a:spcPct val="50000"/>
                </a:spcBef>
              </a:pPr>
              <a:r>
                <a:rPr lang="en-US" sz="2000" dirty="0">
                  <a:solidFill>
                    <a:srgbClr val="4E519E"/>
                  </a:solidFill>
                  <a:latin typeface="Arial"/>
                  <a:cs typeface="Arial"/>
                </a:rPr>
                <a:t>efficient scale</a:t>
              </a:r>
            </a:p>
          </p:txBody>
        </p:sp>
      </p:grpSp>
      <p:sp>
        <p:nvSpPr>
          <p:cNvPr id="45" name="Line 5">
            <a:extLst>
              <a:ext uri="{FF2B5EF4-FFF2-40B4-BE49-F238E27FC236}">
                <a16:creationId xmlns:a16="http://schemas.microsoft.com/office/drawing/2014/main" id="{D697D105-1F74-9AA4-2FB7-1270A480EE0A}"/>
              </a:ext>
            </a:extLst>
          </p:cNvPr>
          <p:cNvSpPr>
            <a:spLocks noChangeShapeType="1"/>
          </p:cNvSpPr>
          <p:nvPr/>
        </p:nvSpPr>
        <p:spPr bwMode="auto">
          <a:xfrm>
            <a:off x="6118226" y="4898460"/>
            <a:ext cx="0" cy="575238"/>
          </a:xfrm>
          <a:prstGeom prst="line">
            <a:avLst/>
          </a:prstGeom>
          <a:noFill/>
          <a:ln w="9525">
            <a:solidFill>
              <a:schemeClr val="tx1"/>
            </a:solidFill>
            <a:prstDash val="lgDash"/>
            <a:round/>
            <a:headEnd/>
            <a:tailEnd/>
          </a:ln>
        </p:spPr>
        <p:txBody>
          <a:bodyPr/>
          <a:lstStyle/>
          <a:p>
            <a:endParaRPr lang="en-US" dirty="0">
              <a:latin typeface="Arial"/>
              <a:cs typeface="Arial"/>
            </a:endParaRPr>
          </a:p>
        </p:txBody>
      </p:sp>
    </p:spTree>
    <p:extLst>
      <p:ext uri="{BB962C8B-B14F-4D97-AF65-F5344CB8AC3E}">
        <p14:creationId xmlns:p14="http://schemas.microsoft.com/office/powerpoint/2010/main" val="105000200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8007">
                                            <p:txEl>
                                              <p:pRg st="0" end="0"/>
                                            </p:txEl>
                                          </p:spTgt>
                                        </p:tgtEl>
                                        <p:attrNameLst>
                                          <p:attrName>style.visibility</p:attrName>
                                        </p:attrNameLst>
                                      </p:cBhvr>
                                      <p:to>
                                        <p:strVal val="visible"/>
                                      </p:to>
                                    </p:set>
                                    <p:animEffect transition="in" filter="wipe(left)">
                                      <p:cBhvr>
                                        <p:cTn id="7" dur="500"/>
                                        <p:tgtEl>
                                          <p:spTgt spid="128007">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8007">
                                            <p:txEl>
                                              <p:pRg st="1" end="1"/>
                                            </p:txEl>
                                          </p:spTgt>
                                        </p:tgtEl>
                                        <p:attrNameLst>
                                          <p:attrName>style.visibility</p:attrName>
                                        </p:attrNameLst>
                                      </p:cBhvr>
                                      <p:to>
                                        <p:strVal val="visible"/>
                                      </p:to>
                                    </p:set>
                                    <p:animEffect transition="in" filter="wipe(left)">
                                      <p:cBhvr>
                                        <p:cTn id="11" dur="500"/>
                                        <p:tgtEl>
                                          <p:spTgt spid="128007">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8007">
                                            <p:txEl>
                                              <p:pRg st="2" end="2"/>
                                            </p:txEl>
                                          </p:spTgt>
                                        </p:tgtEl>
                                        <p:attrNameLst>
                                          <p:attrName>style.visibility</p:attrName>
                                        </p:attrNameLst>
                                      </p:cBhvr>
                                      <p:to>
                                        <p:strVal val="visible"/>
                                      </p:to>
                                    </p:set>
                                    <p:animEffect transition="in" filter="wipe(left)">
                                      <p:cBhvr>
                                        <p:cTn id="16" dur="500"/>
                                        <p:tgtEl>
                                          <p:spTgt spid="128007">
                                            <p:txEl>
                                              <p:pRg st="2" end="2"/>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28007">
                                            <p:txEl>
                                              <p:pRg st="3" end="3"/>
                                            </p:txEl>
                                          </p:spTgt>
                                        </p:tgtEl>
                                        <p:attrNameLst>
                                          <p:attrName>style.visibility</p:attrName>
                                        </p:attrNameLst>
                                      </p:cBhvr>
                                      <p:to>
                                        <p:strVal val="visible"/>
                                      </p:to>
                                    </p:set>
                                    <p:animEffect transition="in" filter="wipe(left)">
                                      <p:cBhvr>
                                        <p:cTn id="25" dur="500"/>
                                        <p:tgtEl>
                                          <p:spTgt spid="128007">
                                            <p:txEl>
                                              <p:pRg st="3" end="3"/>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wipe(left)">
                                      <p:cBhvr>
                                        <p:cTn id="34" dur="500"/>
                                        <p:tgtEl>
                                          <p:spTgt spid="45"/>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wipe(left)">
                                      <p:cBhvr>
                                        <p:cTn id="3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7" grpId="0" uiExpand="1" build="p" bldLvl="5"/>
      <p:bldP spid="4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wrap="square" anchor="ctr"/>
          <a:lstStyle/>
          <a:p>
            <a:r>
              <a:rPr lang="en-US" dirty="0"/>
              <a:t>Monopolistic vs. Perfect Competition</a:t>
            </a:r>
            <a:endParaRPr lang="en-US" altLang="en-US" dirty="0"/>
          </a:p>
        </p:txBody>
      </p:sp>
      <p:sp>
        <p:nvSpPr>
          <p:cNvPr id="19459" name="Content Placeholder 2"/>
          <p:cNvSpPr>
            <a:spLocks noGrp="1"/>
          </p:cNvSpPr>
          <p:nvPr>
            <p:ph idx="1"/>
          </p:nvPr>
        </p:nvSpPr>
        <p:spPr>
          <a:prstGeom prst="rect">
            <a:avLst/>
          </a:prstGeom>
        </p:spPr>
        <p:txBody>
          <a:bodyPr/>
          <a:lstStyle/>
          <a:p>
            <a:r>
              <a:rPr lang="en-US" altLang="en-US" dirty="0"/>
              <a:t>Monopolistic competition in long-run</a:t>
            </a:r>
          </a:p>
          <a:p>
            <a:pPr lvl="1">
              <a:buFont typeface="Arial" panose="020B0604020202020204" pitchFamily="34" charset="0"/>
              <a:buChar char="•"/>
            </a:pPr>
            <a:r>
              <a:rPr lang="en-US" altLang="en-US" u="sng" dirty="0">
                <a:solidFill>
                  <a:srgbClr val="4E519E"/>
                </a:solidFill>
              </a:rPr>
              <a:t>Excess capacity</a:t>
            </a:r>
            <a:r>
              <a:rPr lang="en-US" altLang="en-US" dirty="0">
                <a:solidFill>
                  <a:srgbClr val="4E519E"/>
                </a:solidFill>
              </a:rPr>
              <a:t>: </a:t>
            </a:r>
            <a:r>
              <a:rPr lang="en-US" altLang="en-US" dirty="0"/>
              <a:t>quantity is not at minimum </a:t>
            </a:r>
            <a:r>
              <a:rPr lang="en-US" altLang="en-US" b="1" i="1" dirty="0"/>
              <a:t>ATC</a:t>
            </a:r>
            <a:r>
              <a:rPr lang="en-US" altLang="en-US" dirty="0"/>
              <a:t> (it is on the downward-sloping portion of </a:t>
            </a:r>
            <a:r>
              <a:rPr lang="en-US" altLang="en-US" b="1" i="1" dirty="0"/>
              <a:t>ATC</a:t>
            </a:r>
            <a:r>
              <a:rPr lang="en-US" altLang="en-US" dirty="0"/>
              <a:t>)</a:t>
            </a:r>
          </a:p>
          <a:p>
            <a:pPr lvl="1">
              <a:buFont typeface="Arial" panose="020B0604020202020204" pitchFamily="34" charset="0"/>
              <a:buChar char="•"/>
            </a:pPr>
            <a:r>
              <a:rPr lang="en-US" altLang="en-US" u="sng" dirty="0">
                <a:solidFill>
                  <a:srgbClr val="4E519E"/>
                </a:solidFill>
              </a:rPr>
              <a:t>Markup over marginal cost</a:t>
            </a:r>
            <a:r>
              <a:rPr lang="en-US" altLang="en-US" dirty="0">
                <a:solidFill>
                  <a:srgbClr val="4E519E"/>
                </a:solidFill>
              </a:rPr>
              <a:t>: </a:t>
            </a:r>
            <a:r>
              <a:rPr lang="en-US" altLang="en-US" b="1" i="1" dirty="0"/>
              <a:t>P</a:t>
            </a:r>
            <a:r>
              <a:rPr lang="en-US" altLang="en-US" dirty="0"/>
              <a:t> &gt; </a:t>
            </a:r>
            <a:r>
              <a:rPr lang="en-US" altLang="en-US" b="1" i="1" dirty="0"/>
              <a:t>MC</a:t>
            </a:r>
          </a:p>
          <a:p>
            <a:r>
              <a:rPr lang="en-US" altLang="en-US" dirty="0"/>
              <a:t>Perfect competition</a:t>
            </a:r>
          </a:p>
          <a:p>
            <a:pPr lvl="1">
              <a:buFont typeface="Arial" panose="020B0604020202020204" pitchFamily="34" charset="0"/>
              <a:buChar char="•"/>
            </a:pPr>
            <a:r>
              <a:rPr lang="en-US" altLang="en-US" dirty="0"/>
              <a:t>Quantity: at minimum </a:t>
            </a:r>
            <a:r>
              <a:rPr lang="en-US" altLang="en-US" b="1" i="1" dirty="0"/>
              <a:t>ATC</a:t>
            </a:r>
            <a:r>
              <a:rPr lang="en-US" altLang="en-US" dirty="0"/>
              <a:t> </a:t>
            </a:r>
            <a:r>
              <a:rPr lang="en-US" altLang="en-US" dirty="0">
                <a:solidFill>
                  <a:srgbClr val="4E519E"/>
                </a:solidFill>
              </a:rPr>
              <a:t>(</a:t>
            </a:r>
            <a:r>
              <a:rPr lang="en-US" altLang="en-US" u="sng" dirty="0">
                <a:solidFill>
                  <a:srgbClr val="4E519E"/>
                </a:solidFill>
              </a:rPr>
              <a:t>efficient scale</a:t>
            </a:r>
            <a:r>
              <a:rPr lang="en-US" altLang="en-US" dirty="0">
                <a:solidFill>
                  <a:srgbClr val="4E519E"/>
                </a:solidFill>
              </a:rPr>
              <a:t>)</a:t>
            </a:r>
          </a:p>
          <a:p>
            <a:pPr lvl="1">
              <a:buFont typeface="Arial" panose="020B0604020202020204" pitchFamily="34" charset="0"/>
              <a:buChar char="•"/>
            </a:pPr>
            <a:r>
              <a:rPr lang="en-US" altLang="en-US" b="1" i="1" dirty="0"/>
              <a:t>P</a:t>
            </a:r>
            <a:r>
              <a:rPr lang="en-US" altLang="en-US" dirty="0"/>
              <a:t> = </a:t>
            </a:r>
            <a:r>
              <a:rPr lang="en-US" altLang="en-US" b="1" i="1" dirty="0"/>
              <a:t>MC </a:t>
            </a:r>
          </a:p>
          <a:p>
            <a:endParaRPr lang="en-US" altLang="en-US" dirty="0"/>
          </a:p>
          <a:p>
            <a:endParaRPr lang="en-US" altLang="en-US" dirty="0"/>
          </a:p>
        </p:txBody>
      </p:sp>
      <p:sp>
        <p:nvSpPr>
          <p:cNvPr id="19461"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2C57FFDF-35E9-476A-AC26-C50AD996A1EA}" type="slidenum">
              <a:rPr lang="en-US" altLang="en-US" sz="1200" smtClean="0">
                <a:solidFill>
                  <a:srgbClr val="002060"/>
                </a:solidFill>
              </a:rPr>
              <a:pPr eaLnBrk="1" hangingPunct="1"/>
              <a:t>13</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B760DBE8-7740-2375-4C8E-44812C4B8828}"/>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42065567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wrap="square" anchor="ctr"/>
          <a:lstStyle/>
          <a:p>
            <a:r>
              <a:rPr lang="en-US" altLang="en-US" dirty="0"/>
              <a:t>The Welfare of Society – 1 </a:t>
            </a:r>
          </a:p>
        </p:txBody>
      </p:sp>
      <p:sp>
        <p:nvSpPr>
          <p:cNvPr id="21507" name="Content Placeholder 2"/>
          <p:cNvSpPr>
            <a:spLocks noGrp="1"/>
          </p:cNvSpPr>
          <p:nvPr>
            <p:ph idx="1"/>
          </p:nvPr>
        </p:nvSpPr>
        <p:spPr>
          <a:prstGeom prst="rect">
            <a:avLst/>
          </a:prstGeom>
        </p:spPr>
        <p:txBody>
          <a:bodyPr/>
          <a:lstStyle/>
          <a:p>
            <a:r>
              <a:rPr lang="en-US" altLang="en-US" dirty="0"/>
              <a:t>Monopolistically competitive markets </a:t>
            </a:r>
          </a:p>
          <a:p>
            <a:pPr lvl="1"/>
            <a:r>
              <a:rPr lang="en-US" altLang="en-US" dirty="0"/>
              <a:t>Do not have all the desirable welfare properties of perfectly competitive markets </a:t>
            </a:r>
          </a:p>
          <a:p>
            <a:r>
              <a:rPr lang="en-US" altLang="en-US" dirty="0"/>
              <a:t>Sources of inefficiency</a:t>
            </a:r>
          </a:p>
          <a:p>
            <a:pPr lvl="1"/>
            <a:r>
              <a:rPr lang="en-US" altLang="en-US" dirty="0"/>
              <a:t>Markup of price over marginal cost</a:t>
            </a:r>
          </a:p>
          <a:p>
            <a:pPr lvl="1"/>
            <a:r>
              <a:rPr lang="en-US" altLang="en-US" dirty="0"/>
              <a:t>Too much or too little entry (number of firms in the market)</a:t>
            </a:r>
          </a:p>
          <a:p>
            <a:pPr lvl="2"/>
            <a:r>
              <a:rPr lang="en-US" altLang="en-US" dirty="0">
                <a:solidFill>
                  <a:srgbClr val="4E519E"/>
                </a:solidFill>
              </a:rPr>
              <a:t>Product-variety externality  </a:t>
            </a:r>
          </a:p>
          <a:p>
            <a:pPr lvl="2"/>
            <a:r>
              <a:rPr lang="en-US" altLang="en-US" dirty="0">
                <a:solidFill>
                  <a:srgbClr val="4E519E"/>
                </a:solidFill>
              </a:rPr>
              <a:t>Business-stealing externality</a:t>
            </a:r>
          </a:p>
          <a:p>
            <a:endParaRPr lang="en-US" altLang="en-US" dirty="0"/>
          </a:p>
          <a:p>
            <a:endParaRPr lang="en-US" altLang="en-US" dirty="0"/>
          </a:p>
        </p:txBody>
      </p:sp>
      <p:sp>
        <p:nvSpPr>
          <p:cNvPr id="21509"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8FB41587-71DF-4787-B1F9-2C65508293C2}" type="slidenum">
              <a:rPr lang="en-US" altLang="en-US" sz="1200" smtClean="0">
                <a:solidFill>
                  <a:srgbClr val="002060"/>
                </a:solidFill>
              </a:rPr>
              <a:pPr eaLnBrk="1" hangingPunct="1"/>
              <a:t>14</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6C521035-C59A-E95E-57BD-40F2CEE055FE}"/>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45267518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dirty="0"/>
              <a:t>The Welfare of Society – 2 </a:t>
            </a:r>
          </a:p>
        </p:txBody>
      </p:sp>
      <p:sp>
        <p:nvSpPr>
          <p:cNvPr id="12291" name="Content Placeholder 2"/>
          <p:cNvSpPr>
            <a:spLocks noGrp="1"/>
          </p:cNvSpPr>
          <p:nvPr>
            <p:ph idx="1"/>
          </p:nvPr>
        </p:nvSpPr>
        <p:spPr>
          <a:prstGeom prst="rect">
            <a:avLst/>
          </a:prstGeom>
        </p:spPr>
        <p:txBody>
          <a:bodyPr/>
          <a:lstStyle/>
          <a:p>
            <a:r>
              <a:rPr lang="en-US" altLang="en-US" sz="3200" dirty="0"/>
              <a:t>Markup, </a:t>
            </a:r>
            <a:r>
              <a:rPr lang="en-US" altLang="en-US" sz="3200" b="1" i="1" dirty="0"/>
              <a:t>P</a:t>
            </a:r>
            <a:r>
              <a:rPr lang="en-US" altLang="en-US" sz="3200" dirty="0"/>
              <a:t> &gt; </a:t>
            </a:r>
            <a:r>
              <a:rPr lang="en-US" altLang="en-US" sz="3200" b="1" i="1" dirty="0"/>
              <a:t>MC</a:t>
            </a:r>
          </a:p>
          <a:p>
            <a:pPr lvl="1"/>
            <a:r>
              <a:rPr lang="en-US" altLang="en-US" dirty="0"/>
              <a:t>Market quantity &lt; socially efficient quantity</a:t>
            </a:r>
          </a:p>
          <a:p>
            <a:pPr lvl="2"/>
            <a:r>
              <a:rPr lang="en-US" altLang="en-US" dirty="0"/>
              <a:t>Deadweight loss of monopoly pricing</a:t>
            </a:r>
          </a:p>
          <a:p>
            <a:r>
              <a:rPr lang="en-US" altLang="en-US" sz="3200" dirty="0"/>
              <a:t>The product-variety externality:</a:t>
            </a:r>
          </a:p>
          <a:p>
            <a:pPr lvl="1"/>
            <a:r>
              <a:rPr lang="en-US" altLang="en-US" dirty="0"/>
              <a:t>Consumers get extra surplus from the introduction of new products</a:t>
            </a:r>
          </a:p>
          <a:p>
            <a:r>
              <a:rPr lang="en-US" altLang="en-US" sz="3200" dirty="0"/>
              <a:t>The business-stealing externality:  </a:t>
            </a:r>
          </a:p>
          <a:p>
            <a:pPr lvl="1"/>
            <a:r>
              <a:rPr lang="en-US" altLang="en-US" dirty="0"/>
              <a:t>Losses incurred by existing firms when new firms enter market</a:t>
            </a:r>
          </a:p>
          <a:p>
            <a:endParaRPr lang="en-US" altLang="en-US" dirty="0"/>
          </a:p>
        </p:txBody>
      </p:sp>
      <p:sp>
        <p:nvSpPr>
          <p:cNvPr id="12293"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07DCB4F7-9525-4AEF-A246-48CD67094012}" type="slidenum">
              <a:rPr lang="en-US" altLang="en-US" sz="1200" smtClean="0">
                <a:solidFill>
                  <a:srgbClr val="002060"/>
                </a:solidFill>
              </a:rPr>
              <a:pPr eaLnBrk="1" hangingPunct="1"/>
              <a:t>15</a:t>
            </a:fld>
            <a:endParaRPr lang="en-US" altLang="en-US" sz="1200" dirty="0">
              <a:solidFill>
                <a:srgbClr val="002060"/>
              </a:solidFill>
            </a:endParaRPr>
          </a:p>
        </p:txBody>
      </p:sp>
      <p:sp>
        <p:nvSpPr>
          <p:cNvPr id="2" name="Footer Placeholder 1">
            <a:extLst>
              <a:ext uri="{FF2B5EF4-FFF2-40B4-BE49-F238E27FC236}">
                <a16:creationId xmlns:a16="http://schemas.microsoft.com/office/drawing/2014/main" id="{A254137A-C76D-4959-3721-C90A5B54B52B}"/>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14582559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chemeClr val="tx1"/>
                </a:solidFill>
              </a:rPr>
              <a:t>Active Learning 2: </a:t>
            </a:r>
            <a:r>
              <a:rPr lang="en-US" sz="3600" dirty="0">
                <a:solidFill>
                  <a:srgbClr val="AE1221"/>
                </a:solidFill>
              </a:rPr>
              <a:t>Advertising</a:t>
            </a:r>
            <a:endParaRPr lang="en-US" sz="3600" dirty="0"/>
          </a:p>
        </p:txBody>
      </p:sp>
      <p:sp>
        <p:nvSpPr>
          <p:cNvPr id="3" name="Content Placeholder 2"/>
          <p:cNvSpPr>
            <a:spLocks noGrp="1"/>
          </p:cNvSpPr>
          <p:nvPr>
            <p:ph idx="1"/>
          </p:nvPr>
        </p:nvSpPr>
        <p:spPr>
          <a:prstGeom prst="rect">
            <a:avLst/>
          </a:prstGeom>
        </p:spPr>
        <p:txBody>
          <a:bodyPr>
            <a:normAutofit/>
          </a:bodyPr>
          <a:lstStyle/>
          <a:p>
            <a:pPr marL="514350" indent="-514350">
              <a:buClr>
                <a:srgbClr val="C00000"/>
              </a:buClr>
              <a:buFont typeface="+mj-lt"/>
              <a:buAutoNum type="alphaUcPeriod"/>
            </a:pPr>
            <a:r>
              <a:rPr lang="en-US" dirty="0">
                <a:solidFill>
                  <a:schemeClr val="tx1"/>
                </a:solidFill>
              </a:rPr>
              <a:t>So far, we have studied three market structures:  perfect competition, monopoly, and monopolistic competition. In each of these, would you expect to see firms spending money to advertise their products?  Why or why not?  </a:t>
            </a:r>
          </a:p>
          <a:p>
            <a:pPr marL="514350" indent="-514350">
              <a:buClr>
                <a:srgbClr val="C00000"/>
              </a:buClr>
              <a:buFont typeface="+mj-lt"/>
              <a:buAutoNum type="alphaUcPeriod"/>
            </a:pPr>
            <a:r>
              <a:rPr lang="en-US" dirty="0">
                <a:solidFill>
                  <a:schemeClr val="tx1"/>
                </a:solidFill>
              </a:rPr>
              <a:t>Is advertising good or bad from society’s viewpoint?  Try to think of at least one “pro” and “con.”</a:t>
            </a:r>
          </a:p>
          <a:p>
            <a:pPr marL="514350" indent="-514350">
              <a:buClr>
                <a:srgbClr val="C00000"/>
              </a:buClr>
              <a:buFont typeface="+mj-lt"/>
              <a:buAutoNum type="alphaUcPeriod"/>
            </a:pPr>
            <a:endParaRPr lang="en-US" dirty="0">
              <a:solidFill>
                <a:schemeClr val="tx1"/>
              </a:solidFill>
            </a:endParaRP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16</a:t>
            </a:fld>
            <a:endParaRPr lang="en-US"/>
          </a:p>
        </p:txBody>
      </p:sp>
      <p:sp>
        <p:nvSpPr>
          <p:cNvPr id="5" name="Footer Placeholder 4">
            <a:extLst>
              <a:ext uri="{FF2B5EF4-FFF2-40B4-BE49-F238E27FC236}">
                <a16:creationId xmlns:a16="http://schemas.microsoft.com/office/drawing/2014/main" id="{0720B0ED-13EC-E275-BB45-D883F5307210}"/>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56549694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wrap="square" anchor="ctr"/>
          <a:lstStyle/>
          <a:p>
            <a:r>
              <a:rPr lang="en-US" altLang="en-US" dirty="0"/>
              <a:t>Advertising</a:t>
            </a:r>
          </a:p>
        </p:txBody>
      </p:sp>
      <p:sp>
        <p:nvSpPr>
          <p:cNvPr id="22531" name="Content Placeholder 2"/>
          <p:cNvSpPr>
            <a:spLocks noGrp="1"/>
          </p:cNvSpPr>
          <p:nvPr>
            <p:ph idx="1"/>
          </p:nvPr>
        </p:nvSpPr>
        <p:spPr>
          <a:prstGeom prst="rect">
            <a:avLst/>
          </a:prstGeom>
        </p:spPr>
        <p:txBody>
          <a:bodyPr/>
          <a:lstStyle/>
          <a:p>
            <a:r>
              <a:rPr lang="en-US" altLang="en-US" dirty="0"/>
              <a:t>Incentive to advertise</a:t>
            </a:r>
          </a:p>
          <a:p>
            <a:pPr lvl="1"/>
            <a:r>
              <a:rPr lang="en-US" altLang="en-US" dirty="0"/>
              <a:t>When firms sell differentiated products and charge prices above marginal cost</a:t>
            </a:r>
          </a:p>
          <a:p>
            <a:pPr lvl="1"/>
            <a:r>
              <a:rPr lang="en-US" altLang="en-US" dirty="0"/>
              <a:t>Advertise to attract more buyers</a:t>
            </a:r>
          </a:p>
          <a:p>
            <a:r>
              <a:rPr lang="en-US" altLang="en-US" dirty="0"/>
              <a:t>Advertising spending</a:t>
            </a:r>
          </a:p>
          <a:p>
            <a:pPr lvl="1"/>
            <a:r>
              <a:rPr lang="en-US" altLang="en-US" dirty="0"/>
              <a:t>Highly differentiated goods: 10-20% of revenue</a:t>
            </a:r>
          </a:p>
          <a:p>
            <a:pPr lvl="1"/>
            <a:r>
              <a:rPr lang="en-US" altLang="en-US" dirty="0"/>
              <a:t>Industrial products: little advertising</a:t>
            </a:r>
          </a:p>
          <a:p>
            <a:pPr lvl="1"/>
            <a:r>
              <a:rPr lang="en-US" altLang="en-US" dirty="0"/>
              <a:t>Homogenous products: no advertising</a:t>
            </a:r>
          </a:p>
        </p:txBody>
      </p:sp>
      <p:sp>
        <p:nvSpPr>
          <p:cNvPr id="22533"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23824A69-AED5-41D1-915D-3EEEB8DEB490}" type="slidenum">
              <a:rPr lang="en-US" altLang="en-US" sz="1200" smtClean="0">
                <a:solidFill>
                  <a:srgbClr val="002060"/>
                </a:solidFill>
              </a:rPr>
              <a:pPr eaLnBrk="1" hangingPunct="1"/>
              <a:t>17</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E2349F66-8574-1EEB-20C8-B66447CCCAE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65499071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wrap="square" anchor="ctr"/>
          <a:lstStyle/>
          <a:p>
            <a:r>
              <a:rPr lang="en-US" dirty="0"/>
              <a:t>The Critique of Advertising</a:t>
            </a:r>
            <a:endParaRPr lang="en-US" altLang="en-US" dirty="0"/>
          </a:p>
        </p:txBody>
      </p:sp>
      <p:sp>
        <p:nvSpPr>
          <p:cNvPr id="24579" name="Content Placeholder 2"/>
          <p:cNvSpPr>
            <a:spLocks noGrp="1"/>
          </p:cNvSpPr>
          <p:nvPr>
            <p:ph idx="1"/>
          </p:nvPr>
        </p:nvSpPr>
        <p:spPr>
          <a:prstGeom prst="rect">
            <a:avLst/>
          </a:prstGeom>
        </p:spPr>
        <p:txBody>
          <a:bodyPr/>
          <a:lstStyle/>
          <a:p>
            <a:r>
              <a:rPr lang="en-US" altLang="en-US" sz="3200" dirty="0"/>
              <a:t>Firms advertise to manipulate people’s tastes</a:t>
            </a:r>
          </a:p>
          <a:p>
            <a:pPr lvl="1"/>
            <a:r>
              <a:rPr lang="en-US" altLang="en-US" sz="3000" dirty="0"/>
              <a:t>Is psychological rather than informational</a:t>
            </a:r>
          </a:p>
          <a:p>
            <a:pPr lvl="2"/>
            <a:r>
              <a:rPr lang="en-US" altLang="en-US" dirty="0"/>
              <a:t>Creates a desire that otherwise might not exist</a:t>
            </a:r>
          </a:p>
          <a:p>
            <a:r>
              <a:rPr lang="en-US" altLang="en-US" sz="3200" dirty="0"/>
              <a:t>Advertising impedes competition</a:t>
            </a:r>
          </a:p>
          <a:p>
            <a:pPr lvl="1"/>
            <a:r>
              <a:rPr lang="en-US" altLang="en-US" sz="3000" dirty="0"/>
              <a:t>Increase perception of product differentiation</a:t>
            </a:r>
          </a:p>
          <a:p>
            <a:pPr lvl="2"/>
            <a:r>
              <a:rPr lang="en-US" altLang="en-US" dirty="0"/>
              <a:t>Foster brand loyalty; higher markups</a:t>
            </a:r>
          </a:p>
          <a:p>
            <a:pPr lvl="2"/>
            <a:r>
              <a:rPr lang="en-US" altLang="en-US" dirty="0"/>
              <a:t>Makes buyers less concerned with price differences among similar goods</a:t>
            </a:r>
          </a:p>
        </p:txBody>
      </p:sp>
      <p:sp>
        <p:nvSpPr>
          <p:cNvPr id="24581"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43E090C3-E11E-49BE-A02E-823548B24F5B}" type="slidenum">
              <a:rPr lang="en-US" altLang="en-US" sz="1200" smtClean="0">
                <a:solidFill>
                  <a:srgbClr val="002060"/>
                </a:solidFill>
              </a:rPr>
              <a:pPr eaLnBrk="1" hangingPunct="1"/>
              <a:t>18</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F80A2DCC-AE5F-350E-8C1F-0C4515E02ECD}"/>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69042457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wrap="square" anchor="ctr"/>
          <a:lstStyle/>
          <a:p>
            <a:r>
              <a:rPr lang="en-US" dirty="0"/>
              <a:t>The Defense of Advertising</a:t>
            </a:r>
            <a:endParaRPr lang="en-US" altLang="en-US" dirty="0"/>
          </a:p>
        </p:txBody>
      </p:sp>
      <p:sp>
        <p:nvSpPr>
          <p:cNvPr id="25603" name="Content Placeholder 2"/>
          <p:cNvSpPr>
            <a:spLocks noGrp="1"/>
          </p:cNvSpPr>
          <p:nvPr>
            <p:ph idx="1"/>
          </p:nvPr>
        </p:nvSpPr>
        <p:spPr>
          <a:prstGeom prst="rect">
            <a:avLst/>
          </a:prstGeom>
        </p:spPr>
        <p:txBody>
          <a:bodyPr/>
          <a:lstStyle/>
          <a:p>
            <a:r>
              <a:rPr lang="en-US" altLang="en-US" sz="3200" dirty="0"/>
              <a:t>The defense of advertising</a:t>
            </a:r>
          </a:p>
          <a:p>
            <a:pPr lvl="1"/>
            <a:r>
              <a:rPr lang="en-US" altLang="en-US" sz="3000" dirty="0"/>
              <a:t>It provides useful information to buyers</a:t>
            </a:r>
          </a:p>
          <a:p>
            <a:pPr lvl="1"/>
            <a:r>
              <a:rPr lang="en-US" altLang="en-US" sz="3000" dirty="0"/>
              <a:t>Informed customers make better choices</a:t>
            </a:r>
          </a:p>
          <a:p>
            <a:pPr lvl="1"/>
            <a:r>
              <a:rPr lang="en-US" altLang="en-US" sz="3000" dirty="0"/>
              <a:t>Advertising promotes competition and reduces market power</a:t>
            </a:r>
          </a:p>
          <a:p>
            <a:r>
              <a:rPr lang="en-US" altLang="en-US" sz="3200" dirty="0"/>
              <a:t>Case studies:</a:t>
            </a:r>
            <a:r>
              <a:rPr lang="en-US" altLang="en-US" dirty="0"/>
              <a:t>  </a:t>
            </a:r>
          </a:p>
          <a:p>
            <a:pPr lvl="1"/>
            <a:r>
              <a:rPr lang="en-US" altLang="en-US" sz="2800" dirty="0"/>
              <a:t>Eyeglasses: more expensive in states  that prohibited advertising </a:t>
            </a:r>
          </a:p>
          <a:p>
            <a:pPr lvl="1"/>
            <a:r>
              <a:rPr lang="en-US" altLang="en-US" sz="2800" dirty="0"/>
              <a:t>Liquor: about 20% cheaper after advertising was allowed</a:t>
            </a:r>
          </a:p>
        </p:txBody>
      </p:sp>
      <p:sp>
        <p:nvSpPr>
          <p:cNvPr id="2560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5637D494-9F45-4777-9DA3-D7E8D864FD3B}" type="slidenum">
              <a:rPr lang="en-US" altLang="en-US" sz="1200" smtClean="0">
                <a:solidFill>
                  <a:srgbClr val="002060"/>
                </a:solidFill>
              </a:rPr>
              <a:pPr eaLnBrk="1" hangingPunct="1"/>
              <a:t>19</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E1B0F192-D8BF-79D6-8B4B-588EBBE5D79B}"/>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40776946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wrap="square" anchor="ctr"/>
          <a:lstStyle/>
          <a:p>
            <a:r>
              <a:rPr lang="en-US" altLang="en-US" dirty="0"/>
              <a:t>Advertising as a Signal of Quality</a:t>
            </a:r>
          </a:p>
        </p:txBody>
      </p:sp>
      <p:sp>
        <p:nvSpPr>
          <p:cNvPr id="2" name="Content Placeholder 2"/>
          <p:cNvSpPr>
            <a:spLocks noGrp="1"/>
          </p:cNvSpPr>
          <p:nvPr>
            <p:ph idx="1"/>
          </p:nvPr>
        </p:nvSpPr>
        <p:spPr>
          <a:prstGeom prst="rect">
            <a:avLst/>
          </a:prstGeom>
        </p:spPr>
        <p:txBody>
          <a:bodyPr/>
          <a:lstStyle/>
          <a:p>
            <a:pPr>
              <a:defRPr/>
            </a:pPr>
            <a:r>
              <a:rPr lang="en-US" dirty="0"/>
              <a:t>Advertising  </a:t>
            </a:r>
          </a:p>
          <a:p>
            <a:pPr lvl="1">
              <a:defRPr/>
            </a:pPr>
            <a:r>
              <a:rPr lang="en-US" dirty="0"/>
              <a:t>Even if contains little apparent information</a:t>
            </a:r>
          </a:p>
          <a:p>
            <a:pPr lvl="1">
              <a:defRPr/>
            </a:pPr>
            <a:r>
              <a:rPr lang="en-US" dirty="0"/>
              <a:t>The real information offered is a signal</a:t>
            </a:r>
          </a:p>
          <a:p>
            <a:pPr lvl="1">
              <a:defRPr/>
            </a:pPr>
            <a:r>
              <a:rPr lang="en-US" dirty="0"/>
              <a:t>The willingness to spend large amount of money is a signal about the quality of the product</a:t>
            </a:r>
          </a:p>
          <a:p>
            <a:pPr lvl="1">
              <a:defRPr/>
            </a:pPr>
            <a:r>
              <a:rPr lang="en-US" dirty="0"/>
              <a:t>Content of advertising = irrelevant</a:t>
            </a:r>
          </a:p>
        </p:txBody>
      </p:sp>
      <p:sp>
        <p:nvSpPr>
          <p:cNvPr id="29701"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6A9ED127-FE30-4024-BA2A-4021C188D391}" type="slidenum">
              <a:rPr lang="en-US" altLang="en-US" sz="1200" smtClean="0">
                <a:solidFill>
                  <a:srgbClr val="002060"/>
                </a:solidFill>
              </a:rPr>
              <a:pPr eaLnBrk="1" hangingPunct="1"/>
              <a:t>20</a:t>
            </a:fld>
            <a:endParaRPr lang="en-US" altLang="en-US" sz="1200">
              <a:solidFill>
                <a:srgbClr val="002060"/>
              </a:solidFill>
            </a:endParaRPr>
          </a:p>
        </p:txBody>
      </p:sp>
      <p:sp>
        <p:nvSpPr>
          <p:cNvPr id="3" name="Footer Placeholder 2">
            <a:extLst>
              <a:ext uri="{FF2B5EF4-FFF2-40B4-BE49-F238E27FC236}">
                <a16:creationId xmlns:a16="http://schemas.microsoft.com/office/drawing/2014/main" id="{889AE035-C47B-5D7A-FECE-6346240DDCA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82262797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 </a:t>
            </a:r>
            <a:r>
              <a:rPr lang="en-US" dirty="0">
                <a:solidFill>
                  <a:schemeClr val="tx1"/>
                </a:solidFill>
              </a:rPr>
              <a:t>To advertise or not to advertise?</a:t>
            </a:r>
          </a:p>
        </p:txBody>
      </p:sp>
      <p:sp>
        <p:nvSpPr>
          <p:cNvPr id="3" name="Content Placeholder 2"/>
          <p:cNvSpPr>
            <a:spLocks noGrp="1"/>
          </p:cNvSpPr>
          <p:nvPr>
            <p:ph idx="1"/>
          </p:nvPr>
        </p:nvSpPr>
        <p:spPr/>
        <p:txBody>
          <a:bodyPr>
            <a:noAutofit/>
          </a:bodyPr>
          <a:lstStyle/>
          <a:p>
            <a:pPr marL="0" indent="0">
              <a:buNone/>
            </a:pPr>
            <a:r>
              <a:rPr lang="en-US" sz="2800" dirty="0">
                <a:solidFill>
                  <a:srgbClr val="4E519E"/>
                </a:solidFill>
              </a:rPr>
              <a:t>Colgate and Crest each developed a new whitening toothpaste formula. Each tube of toothpaste will sell for $5. Assume </a:t>
            </a:r>
            <a:r>
              <a:rPr lang="en-US" sz="2800" b="1" i="1" dirty="0">
                <a:solidFill>
                  <a:srgbClr val="4E519E"/>
                </a:solidFill>
              </a:rPr>
              <a:t>MC</a:t>
            </a:r>
            <a:r>
              <a:rPr lang="en-US" sz="2800" dirty="0">
                <a:solidFill>
                  <a:srgbClr val="4E519E"/>
                </a:solidFill>
              </a:rPr>
              <a:t> = 0. </a:t>
            </a:r>
          </a:p>
          <a:p>
            <a:pPr marL="0" indent="0">
              <a:buNone/>
            </a:pPr>
            <a:r>
              <a:rPr lang="en-US" sz="2800" dirty="0">
                <a:solidFill>
                  <a:srgbClr val="4E519E"/>
                </a:solidFill>
              </a:rPr>
              <a:t>If a company runs an advertisement, it will bring 500,000 new consumers (for this brand). If people are happy with the purchase, they will continue to buy 1 tube of toothpaste each month. The cost of the ad is $8 million.</a:t>
            </a:r>
          </a:p>
          <a:p>
            <a:pPr marL="0" indent="0">
              <a:buNone/>
            </a:pPr>
            <a:r>
              <a:rPr lang="en-US" sz="2800" dirty="0">
                <a:solidFill>
                  <a:srgbClr val="4E519E"/>
                </a:solidFill>
              </a:rPr>
              <a:t>Assume Colgate knows their toothpaste has a bad taste, while Crest knows their toothpaste is just right.</a:t>
            </a:r>
          </a:p>
          <a:p>
            <a:pPr>
              <a:buClr>
                <a:srgbClr val="C00000"/>
              </a:buClr>
            </a:pPr>
            <a:r>
              <a:rPr lang="en-US" dirty="0">
                <a:solidFill>
                  <a:schemeClr val="tx1"/>
                </a:solidFill>
              </a:rPr>
              <a:t>Which firm should advertise and why? </a:t>
            </a:r>
          </a:p>
          <a:p>
            <a:endParaRPr lang="en-US" sz="2800" dirty="0">
              <a:solidFill>
                <a:srgbClr val="002060"/>
              </a:solidFill>
            </a:endParaRP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21</a:t>
            </a:fld>
            <a:endParaRPr lang="en-US"/>
          </a:p>
        </p:txBody>
      </p:sp>
      <p:sp>
        <p:nvSpPr>
          <p:cNvPr id="5" name="Footer Placeholder 4">
            <a:extLst>
              <a:ext uri="{FF2B5EF4-FFF2-40B4-BE49-F238E27FC236}">
                <a16:creationId xmlns:a16="http://schemas.microsoft.com/office/drawing/2014/main" id="{F2803379-3D72-892B-347A-12D882E1A638}"/>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10718532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3: Solutions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22</a:t>
            </a:fld>
            <a:endParaRPr lang="en-US"/>
          </a:p>
        </p:txBody>
      </p:sp>
      <p:sp>
        <p:nvSpPr>
          <p:cNvPr id="3" name="Content Placeholder 2"/>
          <p:cNvSpPr>
            <a:spLocks noGrp="1"/>
          </p:cNvSpPr>
          <p:nvPr>
            <p:ph idx="12"/>
          </p:nvPr>
        </p:nvSpPr>
        <p:spPr>
          <a:xfrm>
            <a:off x="381000" y="914400"/>
            <a:ext cx="8518947" cy="5257800"/>
          </a:xfrm>
        </p:spPr>
        <p:txBody>
          <a:bodyPr>
            <a:noAutofit/>
          </a:bodyPr>
          <a:lstStyle/>
          <a:p>
            <a:pPr marL="0" indent="0">
              <a:buNone/>
            </a:pPr>
            <a:r>
              <a:rPr lang="en-US" sz="2800" dirty="0"/>
              <a:t>If Colgate advertises, cost = $8 million</a:t>
            </a:r>
          </a:p>
          <a:p>
            <a:r>
              <a:rPr lang="en-US" sz="2800" dirty="0"/>
              <a:t>Benefit = $5×500,000 (no repeat customers)</a:t>
            </a:r>
          </a:p>
          <a:p>
            <a:r>
              <a:rPr lang="en-US" sz="2800" dirty="0"/>
              <a:t>Profit = $2.5 million – $8 million = – $5.5 million</a:t>
            </a:r>
          </a:p>
          <a:p>
            <a:r>
              <a:rPr lang="en-US" sz="2800" dirty="0"/>
              <a:t>Do not advertise!</a:t>
            </a:r>
          </a:p>
          <a:p>
            <a:pPr marL="0" indent="0">
              <a:buNone/>
            </a:pPr>
            <a:r>
              <a:rPr lang="en-US" sz="2800" dirty="0">
                <a:solidFill>
                  <a:srgbClr val="4E519E"/>
                </a:solidFill>
              </a:rPr>
              <a:t>If Crest advertises, cost = $8 million</a:t>
            </a:r>
          </a:p>
          <a:p>
            <a:r>
              <a:rPr lang="en-US" sz="2800" dirty="0">
                <a:solidFill>
                  <a:srgbClr val="4E519E"/>
                </a:solidFill>
              </a:rPr>
              <a:t>Benefit = $5×500,000×12 months</a:t>
            </a:r>
          </a:p>
          <a:p>
            <a:pPr lvl="1"/>
            <a:r>
              <a:rPr lang="en-US" sz="2800" dirty="0">
                <a:solidFill>
                  <a:srgbClr val="4E519E"/>
                </a:solidFill>
              </a:rPr>
              <a:t>Because the toothpaste tastes just right, Crest gets repeat customers</a:t>
            </a:r>
          </a:p>
          <a:p>
            <a:r>
              <a:rPr lang="en-US" sz="2800" dirty="0">
                <a:solidFill>
                  <a:srgbClr val="4E519E"/>
                </a:solidFill>
              </a:rPr>
              <a:t>Profit = $30 million – $8 million = $22 million</a:t>
            </a:r>
          </a:p>
          <a:p>
            <a:r>
              <a:rPr lang="en-US" sz="2800" dirty="0">
                <a:solidFill>
                  <a:srgbClr val="4E519E"/>
                </a:solidFill>
              </a:rPr>
              <a:t>Advertise!</a:t>
            </a:r>
          </a:p>
          <a:p>
            <a:endParaRPr lang="en-US" sz="2800" dirty="0"/>
          </a:p>
        </p:txBody>
      </p:sp>
      <p:sp>
        <p:nvSpPr>
          <p:cNvPr id="5" name="Footer Placeholder 4">
            <a:extLst>
              <a:ext uri="{FF2B5EF4-FFF2-40B4-BE49-F238E27FC236}">
                <a16:creationId xmlns:a16="http://schemas.microsoft.com/office/drawing/2014/main" id="{E08F3EDC-B3C5-8E28-8273-230B9D0958E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8842436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wrap="square" anchor="ctr"/>
          <a:lstStyle/>
          <a:p>
            <a:r>
              <a:rPr lang="en-US" dirty="0"/>
              <a:t>Brand Names – 1 </a:t>
            </a:r>
            <a:endParaRPr lang="en-US" altLang="en-US" dirty="0"/>
          </a:p>
        </p:txBody>
      </p:sp>
      <p:sp>
        <p:nvSpPr>
          <p:cNvPr id="30723" name="Content Placeholder 2"/>
          <p:cNvSpPr>
            <a:spLocks noGrp="1"/>
          </p:cNvSpPr>
          <p:nvPr>
            <p:ph idx="1"/>
          </p:nvPr>
        </p:nvSpPr>
        <p:spPr>
          <a:prstGeom prst="rect">
            <a:avLst/>
          </a:prstGeom>
        </p:spPr>
        <p:txBody>
          <a:bodyPr/>
          <a:lstStyle/>
          <a:p>
            <a:r>
              <a:rPr lang="en-US" altLang="en-US" dirty="0"/>
              <a:t>In many markets, brand name products coexist with generic ones.  </a:t>
            </a:r>
          </a:p>
          <a:p>
            <a:r>
              <a:rPr lang="en-US" altLang="en-US" dirty="0"/>
              <a:t>Brand names</a:t>
            </a:r>
          </a:p>
          <a:p>
            <a:pPr lvl="1"/>
            <a:r>
              <a:rPr lang="en-US" altLang="en-US" dirty="0"/>
              <a:t>Spend more on advertising and charge higher prices than generic substitutes</a:t>
            </a:r>
          </a:p>
          <a:p>
            <a:r>
              <a:rPr lang="en-US" altLang="en-US" dirty="0"/>
              <a:t>As with advertising, there is disagreement about the economics of brand names…</a:t>
            </a:r>
          </a:p>
        </p:txBody>
      </p:sp>
      <p:sp>
        <p:nvSpPr>
          <p:cNvPr id="3072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7C25EC6C-4343-4AD8-9ACC-9AE4FD87DFCD}" type="slidenum">
              <a:rPr lang="en-US" altLang="en-US" sz="1200" smtClean="0">
                <a:solidFill>
                  <a:srgbClr val="002060"/>
                </a:solidFill>
              </a:rPr>
              <a:pPr eaLnBrk="1" hangingPunct="1"/>
              <a:t>23</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846A0021-53A6-03A5-D98F-FB1E7909F867}"/>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25141118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wrap="square" anchor="ctr"/>
          <a:lstStyle/>
          <a:p>
            <a:r>
              <a:rPr lang="en-US" dirty="0"/>
              <a:t>Brand Names – 2 </a:t>
            </a:r>
            <a:endParaRPr lang="en-US" altLang="en-US" dirty="0"/>
          </a:p>
        </p:txBody>
      </p:sp>
      <p:sp>
        <p:nvSpPr>
          <p:cNvPr id="31747" name="Content Placeholder 2"/>
          <p:cNvSpPr>
            <a:spLocks noGrp="1"/>
          </p:cNvSpPr>
          <p:nvPr>
            <p:ph idx="1"/>
          </p:nvPr>
        </p:nvSpPr>
        <p:spPr>
          <a:prstGeom prst="rect">
            <a:avLst/>
          </a:prstGeom>
        </p:spPr>
        <p:txBody>
          <a:bodyPr/>
          <a:lstStyle/>
          <a:p>
            <a:r>
              <a:rPr lang="en-US" altLang="en-US" dirty="0"/>
              <a:t>Critics of brand names</a:t>
            </a:r>
          </a:p>
          <a:p>
            <a:pPr lvl="1"/>
            <a:r>
              <a:rPr lang="en-US" altLang="en-US" dirty="0"/>
              <a:t>Products are not differentiated</a:t>
            </a:r>
          </a:p>
          <a:p>
            <a:pPr lvl="1"/>
            <a:r>
              <a:rPr lang="en-US" altLang="en-US" dirty="0"/>
              <a:t>Irrationality: consumers are willing to pay more for brand names</a:t>
            </a:r>
          </a:p>
          <a:p>
            <a:r>
              <a:rPr lang="en-US" altLang="en-US" dirty="0"/>
              <a:t>Defenders of brand names</a:t>
            </a:r>
          </a:p>
          <a:p>
            <a:pPr lvl="1"/>
            <a:r>
              <a:rPr lang="en-US" altLang="en-US" dirty="0"/>
              <a:t>Consumers get information about quality</a:t>
            </a:r>
          </a:p>
          <a:p>
            <a:pPr lvl="1"/>
            <a:r>
              <a:rPr lang="en-US" altLang="en-US" dirty="0"/>
              <a:t>Firms have an incentive to maintain high quality to protect the reputation of their brand name</a:t>
            </a:r>
          </a:p>
          <a:p>
            <a:pPr lvl="2"/>
            <a:endParaRPr lang="en-US" altLang="en-US" dirty="0"/>
          </a:p>
        </p:txBody>
      </p:sp>
      <p:sp>
        <p:nvSpPr>
          <p:cNvPr id="31749"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AB1B59FA-4CEC-413C-8850-C0D160823867}" type="slidenum">
              <a:rPr lang="en-US" altLang="en-US" sz="1200" smtClean="0">
                <a:solidFill>
                  <a:srgbClr val="002060"/>
                </a:solidFill>
              </a:rPr>
              <a:pPr eaLnBrk="1" hangingPunct="1"/>
              <a:t>24</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7622B6E2-F11F-1A46-564A-08D82F7C095C}"/>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41218433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 – 1 </a:t>
            </a:r>
            <a:endParaRPr lang="en-US" dirty="0"/>
          </a:p>
        </p:txBody>
      </p:sp>
      <p:sp>
        <p:nvSpPr>
          <p:cNvPr id="6" name="Content Placeholder 5"/>
          <p:cNvSpPr>
            <a:spLocks noGrp="1"/>
          </p:cNvSpPr>
          <p:nvPr>
            <p:ph idx="1"/>
          </p:nvPr>
        </p:nvSpPr>
        <p:spPr>
          <a:xfrm>
            <a:off x="228600" y="688622"/>
            <a:ext cx="8763000" cy="5788378"/>
          </a:xfrm>
        </p:spPr>
        <p:txBody>
          <a:bodyPr/>
          <a:lstStyle/>
          <a:p>
            <a:pPr marL="0" indent="0">
              <a:buNone/>
            </a:pPr>
            <a:r>
              <a:rPr lang="en-US" sz="3000" dirty="0"/>
              <a:t>	You are watching the Super Bowl and during a commercial break you see an ad featuring LeBron James. In the ad, LeBron James does nothing but shoot basketballs. He never speaks. There is no written copy. At the end of the advertisement, the Nike “swoosh” appears on the screen along with the words “Nike” and “LeBron James Signature Basketball Shoes.” You read in a newspaper that LeBron James received $40 million to be the spokesperson for Nike basketball shoes.</a:t>
            </a:r>
          </a:p>
        </p:txBody>
      </p:sp>
      <p:sp>
        <p:nvSpPr>
          <p:cNvPr id="4" name="Slide Number Placeholder 3"/>
          <p:cNvSpPr>
            <a:spLocks noGrp="1"/>
          </p:cNvSpPr>
          <p:nvPr>
            <p:ph type="sldNum" sz="quarter" idx="10"/>
          </p:nvPr>
        </p:nvSpPr>
        <p:spPr/>
        <p:txBody>
          <a:bodyPr/>
          <a:lstStyle/>
          <a:p>
            <a:pPr>
              <a:defRPr/>
            </a:pPr>
            <a:fld id="{F9168CB8-64E8-4A17-9AA1-DC0C06686103}" type="slidenum">
              <a:rPr lang="en-US" smtClean="0"/>
              <a:pPr>
                <a:defRPr/>
              </a:pPr>
              <a:t>25</a:t>
            </a:fld>
            <a:endParaRPr lang="en-US" dirty="0"/>
          </a:p>
        </p:txBody>
      </p:sp>
    </p:spTree>
    <p:extLst>
      <p:ext uri="{BB962C8B-B14F-4D97-AF65-F5344CB8AC3E}">
        <p14:creationId xmlns:p14="http://schemas.microsoft.com/office/powerpoint/2010/main" val="4737593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 – 2 </a:t>
            </a:r>
            <a:endParaRPr lang="en-US" dirty="0"/>
          </a:p>
        </p:txBody>
      </p:sp>
      <p:sp>
        <p:nvSpPr>
          <p:cNvPr id="6" name="Content Placeholder 5"/>
          <p:cNvSpPr>
            <a:spLocks noGrp="1"/>
          </p:cNvSpPr>
          <p:nvPr>
            <p:ph idx="1"/>
          </p:nvPr>
        </p:nvSpPr>
        <p:spPr>
          <a:xfrm>
            <a:off x="228600" y="914400"/>
            <a:ext cx="8763000" cy="5562600"/>
          </a:xfrm>
        </p:spPr>
        <p:txBody>
          <a:bodyPr/>
          <a:lstStyle/>
          <a:p>
            <a:pPr marL="514350" indent="-514350">
              <a:buClr>
                <a:srgbClr val="AE1221"/>
              </a:buClr>
              <a:buFont typeface="+mj-lt"/>
              <a:buAutoNum type="alphaUcPeriod"/>
            </a:pPr>
            <a:r>
              <a:rPr lang="en-US" sz="2800" dirty="0">
                <a:solidFill>
                  <a:schemeClr val="tx1"/>
                </a:solidFill>
              </a:rPr>
              <a:t>While watching, a friend says, “What a waste of society’s resources. I didn’t learn anything about Nike basketball shoes from that ad. I think there should be government regulations requiring ads to be informative in some way.” What have you learned from this ad?</a:t>
            </a:r>
          </a:p>
          <a:p>
            <a:pPr marL="514350" indent="-514350">
              <a:buClr>
                <a:srgbClr val="AE1221"/>
              </a:buClr>
              <a:buFont typeface="+mj-lt"/>
              <a:buAutoNum type="alphaUcPeriod"/>
            </a:pPr>
            <a:r>
              <a:rPr lang="en-US" sz="2800" dirty="0">
                <a:solidFill>
                  <a:schemeClr val="tx1"/>
                </a:solidFill>
              </a:rPr>
              <a:t>Did the use of the Nike name and the Nike “swoosh” provide any information? Explain.</a:t>
            </a:r>
          </a:p>
          <a:p>
            <a:pPr marL="514350" indent="-514350">
              <a:buClr>
                <a:srgbClr val="AE1221"/>
              </a:buClr>
              <a:buFont typeface="+mj-lt"/>
              <a:buAutoNum type="alphaUcPeriod"/>
            </a:pPr>
            <a:r>
              <a:rPr lang="en-US" sz="2800" dirty="0">
                <a:solidFill>
                  <a:schemeClr val="tx1"/>
                </a:solidFill>
              </a:rPr>
              <a:t>In general, does advertising tend to decrease competition and raise prices to consumers or increase competition and reduce prices to consumers? Why?</a:t>
            </a:r>
          </a:p>
          <a:p>
            <a:pPr marL="514350" indent="-514350">
              <a:buClr>
                <a:srgbClr val="AE1221"/>
              </a:buClr>
              <a:buFont typeface="+mj-lt"/>
              <a:buAutoNum type="alphaUcPeriod"/>
            </a:pPr>
            <a:endParaRPr lang="en-US" sz="2800" dirty="0">
              <a:solidFill>
                <a:schemeClr val="tx1"/>
              </a:solidFill>
            </a:endParaRPr>
          </a:p>
        </p:txBody>
      </p:sp>
      <p:sp>
        <p:nvSpPr>
          <p:cNvPr id="4" name="Slide Number Placeholder 3"/>
          <p:cNvSpPr>
            <a:spLocks noGrp="1"/>
          </p:cNvSpPr>
          <p:nvPr>
            <p:ph type="sldNum" sz="quarter" idx="10"/>
          </p:nvPr>
        </p:nvSpPr>
        <p:spPr/>
        <p:txBody>
          <a:bodyPr/>
          <a:lstStyle/>
          <a:p>
            <a:pPr>
              <a:defRPr/>
            </a:pPr>
            <a:fld id="{F9168CB8-64E8-4A17-9AA1-DC0C06686103}" type="slidenum">
              <a:rPr lang="en-US" smtClean="0"/>
              <a:pPr>
                <a:defRPr/>
              </a:pPr>
              <a:t>26</a:t>
            </a:fld>
            <a:endParaRPr lang="en-US" dirty="0"/>
          </a:p>
        </p:txBody>
      </p:sp>
    </p:spTree>
    <p:extLst>
      <p:ext uri="{BB962C8B-B14F-4D97-AF65-F5344CB8AC3E}">
        <p14:creationId xmlns:p14="http://schemas.microsoft.com/office/powerpoint/2010/main" val="21153177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000" dirty="0">
                <a:solidFill>
                  <a:srgbClr val="AE1221"/>
                </a:solidFill>
              </a:rPr>
              <a:t>Monopolistically competitive market</a:t>
            </a:r>
            <a:r>
              <a:rPr lang="en-US" sz="3000" dirty="0"/>
              <a:t>: many firms, differentiated products, and free entry and exit.</a:t>
            </a:r>
          </a:p>
          <a:p>
            <a:r>
              <a:rPr lang="en-US" sz="3000" dirty="0">
                <a:solidFill>
                  <a:srgbClr val="AE1221"/>
                </a:solidFill>
              </a:rPr>
              <a:t>Inefficiencies</a:t>
            </a:r>
            <a:r>
              <a:rPr lang="en-US" sz="3000" dirty="0"/>
              <a:t>:</a:t>
            </a:r>
          </a:p>
          <a:p>
            <a:pPr lvl="1"/>
            <a:r>
              <a:rPr lang="en-US" sz="2800" dirty="0"/>
              <a:t>Deadweight loss caused by markup of price over marginal cost</a:t>
            </a:r>
          </a:p>
          <a:p>
            <a:pPr lvl="1"/>
            <a:r>
              <a:rPr lang="en-US" sz="2800" dirty="0"/>
              <a:t>Number of firms (and thus the variety of products) can be too large or too small. </a:t>
            </a:r>
          </a:p>
          <a:p>
            <a:pPr lvl="1"/>
            <a:r>
              <a:rPr lang="en-US" sz="2800" dirty="0"/>
              <a:t>The ability of policymakers to correct these inefficiencies is limited.</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27</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9B1B43FB-C8F9-A7E8-F1E4-41561C22DDBF}"/>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70326594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000" dirty="0">
                <a:solidFill>
                  <a:srgbClr val="AE1221"/>
                </a:solidFill>
              </a:rPr>
              <a:t>LR equilibrium   </a:t>
            </a:r>
          </a:p>
          <a:p>
            <a:pPr lvl="1"/>
            <a:r>
              <a:rPr lang="en-US" sz="2800" dirty="0"/>
              <a:t>Each firm has excess capacity (Q is on the downward-sloping portion of the ATC curve)</a:t>
            </a:r>
          </a:p>
          <a:p>
            <a:pPr lvl="1"/>
            <a:r>
              <a:rPr lang="en-US" sz="2800" dirty="0"/>
              <a:t>Each firm charges a price above marginal cost.</a:t>
            </a:r>
          </a:p>
          <a:p>
            <a:r>
              <a:rPr lang="en-US" sz="3000" dirty="0">
                <a:solidFill>
                  <a:srgbClr val="AE1221"/>
                </a:solidFill>
              </a:rPr>
              <a:t>Product differentiation</a:t>
            </a:r>
            <a:r>
              <a:rPr lang="en-US" sz="3000" dirty="0"/>
              <a:t>: advertising and brand names</a:t>
            </a:r>
          </a:p>
          <a:p>
            <a:pPr lvl="1"/>
            <a:r>
              <a:rPr lang="en-US" sz="2800" dirty="0"/>
              <a:t>Critics: manipulate consumers’ tastes and reduce competition. </a:t>
            </a:r>
          </a:p>
          <a:p>
            <a:pPr lvl="1"/>
            <a:r>
              <a:rPr lang="en-US" sz="2800" dirty="0"/>
              <a:t>Defenders: inform consumers and compete more vigorously on price and product quality.</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28</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1D96C8DD-87D5-4280-B43D-BCDA9751A3F0}"/>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420620936"/>
      </p:ext>
    </p:extLst>
  </p:cSld>
  <p:clrMapOvr>
    <a:masterClrMapping/>
  </p:clrMapOvr>
  <p:transition/>
</p:sld>
</file>

<file path=ppt/theme/theme1.xml><?xml version="1.0" encoding="utf-8"?>
<a:theme xmlns:a="http://schemas.openxmlformats.org/drawingml/2006/main" name="1_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or Ex">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hink-Pair-Share">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41763</TotalTime>
  <Words>4815</Words>
  <Application>Microsoft Office PowerPoint</Application>
  <PresentationFormat>On-screen Show (4:3)</PresentationFormat>
  <Paragraphs>454</Paragraphs>
  <Slides>28</Slides>
  <Notes>28</Notes>
  <HiddenSlides>0</HiddenSlides>
  <MMClips>0</MMClips>
  <ScaleCrop>false</ScaleCrop>
  <HeadingPairs>
    <vt:vector size="6" baseType="variant">
      <vt:variant>
        <vt:lpstr>Fonts Used</vt:lpstr>
      </vt:variant>
      <vt:variant>
        <vt:i4>7</vt:i4>
      </vt:variant>
      <vt:variant>
        <vt:lpstr>Theme</vt:lpstr>
      </vt:variant>
      <vt:variant>
        <vt:i4>10</vt:i4>
      </vt:variant>
      <vt:variant>
        <vt:lpstr>Slide Titles</vt:lpstr>
      </vt:variant>
      <vt:variant>
        <vt:i4>28</vt:i4>
      </vt:variant>
    </vt:vector>
  </HeadingPairs>
  <TitlesOfParts>
    <vt:vector size="45" baseType="lpstr">
      <vt:lpstr>Arial</vt:lpstr>
      <vt:lpstr>Calibri</vt:lpstr>
      <vt:lpstr>Cambria</vt:lpstr>
      <vt:lpstr>Georgia</vt:lpstr>
      <vt:lpstr>Sabon-Bold</vt:lpstr>
      <vt:lpstr>Tahoma</vt:lpstr>
      <vt:lpstr>Wingdings</vt:lpstr>
      <vt:lpstr>1_Chapter title</vt:lpstr>
      <vt:lpstr>Intro / Summary</vt:lpstr>
      <vt:lpstr>Chapter content</vt:lpstr>
      <vt:lpstr>Figure</vt:lpstr>
      <vt:lpstr>Table</vt:lpstr>
      <vt:lpstr>ActiveLearning or Ex</vt:lpstr>
      <vt:lpstr>Case study</vt:lpstr>
      <vt:lpstr>Think-Pair-Share</vt:lpstr>
      <vt:lpstr>Ask Experts</vt:lpstr>
      <vt:lpstr>Appendix</vt:lpstr>
      <vt:lpstr>PowerPoint Presentation</vt:lpstr>
      <vt:lpstr>IN THIS CHAPTER</vt:lpstr>
      <vt:lpstr>Introduction </vt:lpstr>
      <vt:lpstr>Oligopoly </vt:lpstr>
      <vt:lpstr>Monopolistic Competition</vt:lpstr>
      <vt:lpstr>Comparisons </vt:lpstr>
      <vt:lpstr>The Four Types of Market Structure</vt:lpstr>
      <vt:lpstr>Short Run Equilibrium</vt:lpstr>
      <vt:lpstr>EXAMPLE 1: Short-run equilibrium</vt:lpstr>
      <vt:lpstr>Active Learning 1: Profit or loss in SR?</vt:lpstr>
      <vt:lpstr>The Long-Run Equilibrium</vt:lpstr>
      <vt:lpstr>EXAMPLE 2: Long-run equilibrium</vt:lpstr>
      <vt:lpstr>Monopolistic vs. Perfect Competition</vt:lpstr>
      <vt:lpstr>The Welfare of Society – 1 </vt:lpstr>
      <vt:lpstr>The Welfare of Society – 2 </vt:lpstr>
      <vt:lpstr>Active Learning 2: Advertising</vt:lpstr>
      <vt:lpstr>Advertising</vt:lpstr>
      <vt:lpstr>The Critique of Advertising</vt:lpstr>
      <vt:lpstr>The Defense of Advertising</vt:lpstr>
      <vt:lpstr>Advertising as a Signal of Quality</vt:lpstr>
      <vt:lpstr>EXAMPLE 3: To advertise or not to advertise?</vt:lpstr>
      <vt:lpstr>EXAMPLE 3: Solutions</vt:lpstr>
      <vt:lpstr>Brand Names – 1 </vt:lpstr>
      <vt:lpstr>Brand Names – 2 </vt:lpstr>
      <vt:lpstr>THINK-PAIR-SHARE – 1 </vt:lpstr>
      <vt:lpstr>THINK-PAIR-SHARE – 2 </vt:lpstr>
      <vt:lpstr>CHAPTER IN A NUTSHELL</vt:lpstr>
      <vt:lpstr>CHAPTER IN A NUTSHELL</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Vaithianathan, Pranitha</cp:lastModifiedBy>
  <cp:revision>1472</cp:revision>
  <cp:lastPrinted>2019-05-14T19:06:14Z</cp:lastPrinted>
  <dcterms:created xsi:type="dcterms:W3CDTF">2016-03-16T19:41:09Z</dcterms:created>
  <dcterms:modified xsi:type="dcterms:W3CDTF">2026-01-20T15:24:02Z</dcterms:modified>
</cp:coreProperties>
</file>